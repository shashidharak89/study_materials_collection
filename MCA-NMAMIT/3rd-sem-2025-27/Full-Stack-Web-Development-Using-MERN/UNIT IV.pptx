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410" r:id="rId6"/>
    <p:sldId id="411" r:id="rId7"/>
    <p:sldId id="412" r:id="rId8"/>
    <p:sldId id="413" r:id="rId9"/>
    <p:sldId id="414" r:id="rId10"/>
    <p:sldId id="415" r:id="rId11"/>
    <p:sldId id="416" r:id="rId12"/>
    <p:sldId id="417" r:id="rId13"/>
    <p:sldId id="418" r:id="rId14"/>
    <p:sldId id="419" r:id="rId15"/>
    <p:sldId id="420" r:id="rId16"/>
    <p:sldId id="421" r:id="rId17"/>
    <p:sldId id="422" r:id="rId18"/>
    <p:sldId id="423" r:id="rId19"/>
    <p:sldId id="424" r:id="rId20"/>
    <p:sldId id="425" r:id="rId21"/>
    <p:sldId id="455" r:id="rId22"/>
    <p:sldId id="487" r:id="rId23"/>
    <p:sldId id="426" r:id="rId24"/>
    <p:sldId id="427" r:id="rId25"/>
    <p:sldId id="428" r:id="rId26"/>
    <p:sldId id="429" r:id="rId27"/>
    <p:sldId id="430" r:id="rId28"/>
    <p:sldId id="431" r:id="rId29"/>
    <p:sldId id="432" r:id="rId30"/>
    <p:sldId id="433" r:id="rId31"/>
    <p:sldId id="434" r:id="rId32"/>
    <p:sldId id="435" r:id="rId33"/>
    <p:sldId id="436" r:id="rId34"/>
    <p:sldId id="437" r:id="rId35"/>
    <p:sldId id="438" r:id="rId36"/>
    <p:sldId id="439" r:id="rId37"/>
    <p:sldId id="440" r:id="rId38"/>
    <p:sldId id="441" r:id="rId39"/>
    <p:sldId id="442" r:id="rId40"/>
    <p:sldId id="443" r:id="rId41"/>
    <p:sldId id="444" r:id="rId42"/>
    <p:sldId id="445" r:id="rId43"/>
    <p:sldId id="446" r:id="rId44"/>
    <p:sldId id="447" r:id="rId45"/>
    <p:sldId id="448" r:id="rId46"/>
    <p:sldId id="449" r:id="rId47"/>
    <p:sldId id="450" r:id="rId48"/>
    <p:sldId id="451" r:id="rId49"/>
    <p:sldId id="452" r:id="rId50"/>
    <p:sldId id="453" r:id="rId51"/>
    <p:sldId id="454" r:id="rId52"/>
    <p:sldId id="456" r:id="rId53"/>
    <p:sldId id="457" r:id="rId54"/>
    <p:sldId id="458" r:id="rId55"/>
    <p:sldId id="459" r:id="rId56"/>
    <p:sldId id="460" r:id="rId57"/>
    <p:sldId id="461" r:id="rId58"/>
    <p:sldId id="462" r:id="rId59"/>
    <p:sldId id="463" r:id="rId60"/>
    <p:sldId id="464" r:id="rId61"/>
    <p:sldId id="465" r:id="rId62"/>
    <p:sldId id="466" r:id="rId63"/>
    <p:sldId id="467" r:id="rId64"/>
    <p:sldId id="468" r:id="rId65"/>
    <p:sldId id="469" r:id="rId66"/>
    <p:sldId id="470" r:id="rId67"/>
    <p:sldId id="471" r:id="rId68"/>
    <p:sldId id="472" r:id="rId69"/>
    <p:sldId id="473" r:id="rId70"/>
    <p:sldId id="474" r:id="rId71"/>
    <p:sldId id="475" r:id="rId72"/>
    <p:sldId id="476" r:id="rId73"/>
    <p:sldId id="477" r:id="rId74"/>
    <p:sldId id="478" r:id="rId75"/>
    <p:sldId id="479" r:id="rId76"/>
    <p:sldId id="480" r:id="rId77"/>
    <p:sldId id="481" r:id="rId78"/>
    <p:sldId id="482" r:id="rId79"/>
    <p:sldId id="483"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519" autoAdjust="0"/>
    <p:restoredTop sz="94660"/>
  </p:normalViewPr>
  <p:slideViewPr>
    <p:cSldViewPr snapToGrid="0">
      <p:cViewPr varScale="1">
        <p:scale>
          <a:sx n="81" d="100"/>
          <a:sy n="81" d="100"/>
        </p:scale>
        <p:origin x="86"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10/4/2026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10/4/2026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10/4/2026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10/4/2026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10/4/2026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10/4/2026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10/4/2026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10/4/2026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10/4/2026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10/4/2026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10/4/2026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10/4/2026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localhost:3000/graphql"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8000" dirty="0"/>
              <a:t>UNIT IV</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dirty="0">
                <a:solidFill>
                  <a:schemeClr val="tx1">
                    <a:lumMod val="85000"/>
                    <a:lumOff val="15000"/>
                  </a:schemeClr>
                </a:solidFill>
              </a:rPr>
              <a:t>Roshan d </a:t>
            </a:r>
            <a:r>
              <a:rPr lang="en-US" dirty="0" err="1">
                <a:solidFill>
                  <a:schemeClr val="tx1">
                    <a:lumMod val="85000"/>
                    <a:lumOff val="15000"/>
                  </a:schemeClr>
                </a:solidFill>
              </a:rPr>
              <a:t>suvaris</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FF168-494B-ACB9-1D34-CF11FE915AE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8320ADF-FEB7-F0B5-A04B-3BB28468E3A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None/>
            </a:pPr>
            <a:r>
              <a:rPr lang="en-IN" b="1" dirty="0"/>
              <a:t>Express and </a:t>
            </a:r>
            <a:r>
              <a:rPr lang="en-IN" b="1" dirty="0" err="1"/>
              <a:t>GraphQL</a:t>
            </a:r>
            <a:endParaRPr lang="en-IN" b="1" dirty="0"/>
          </a:p>
          <a:p>
            <a:pPr>
              <a:buNone/>
            </a:pPr>
            <a:r>
              <a:rPr lang="en-IN" b="1" dirty="0"/>
              <a:t>1. Introduction</a:t>
            </a:r>
          </a:p>
          <a:p>
            <a:pPr marL="342900" lvl="0" indent="-342900">
              <a:buFont typeface="Arial" panose="020B0604020202020204" pitchFamily="34" charset="0"/>
              <a:buChar char="•"/>
            </a:pPr>
            <a:r>
              <a:rPr lang="en-IN" dirty="0"/>
              <a:t>React provides the </a:t>
            </a:r>
            <a:r>
              <a:rPr lang="en-IN" b="1" dirty="0"/>
              <a:t>front-end user interface</a:t>
            </a:r>
            <a:r>
              <a:rPr lang="en-IN" dirty="0"/>
              <a:t>.</a:t>
            </a:r>
          </a:p>
          <a:p>
            <a:pPr marL="342900" lvl="0" indent="-342900">
              <a:buFont typeface="Arial" panose="020B0604020202020204" pitchFamily="34" charset="0"/>
              <a:buChar char="•"/>
            </a:pPr>
            <a:r>
              <a:rPr lang="en-IN" dirty="0"/>
              <a:t>Express and Node.js are used to provide the </a:t>
            </a:r>
            <a:r>
              <a:rPr lang="en-IN" b="1" dirty="0"/>
              <a:t>back-end server</a:t>
            </a:r>
            <a:r>
              <a:rPr lang="en-IN" dirty="0"/>
              <a:t>.</a:t>
            </a:r>
          </a:p>
          <a:p>
            <a:pPr marL="342900" lvl="0" indent="-342900">
              <a:buFont typeface="Arial" panose="020B0604020202020204" pitchFamily="34" charset="0"/>
              <a:buChar char="•"/>
            </a:pPr>
            <a:r>
              <a:rPr lang="en-IN" dirty="0"/>
              <a:t>Earlier, the Express server served only static content such as </a:t>
            </a:r>
            <a:r>
              <a:rPr lang="en-IN" dirty="0">
                <a:latin typeface="Courier New" panose="02070309020205020404" pitchFamily="49" charset="0"/>
              </a:rPr>
              <a:t>index.html</a:t>
            </a:r>
            <a:r>
              <a:rPr lang="en-IN" dirty="0"/>
              <a:t>.</a:t>
            </a:r>
          </a:p>
          <a:p>
            <a:pPr marL="342900" lvl="0" indent="-342900">
              <a:buFont typeface="Arial" panose="020B0604020202020204" pitchFamily="34" charset="0"/>
              <a:buChar char="•"/>
            </a:pPr>
            <a:r>
              <a:rPr lang="en-IN" dirty="0"/>
              <a:t>Now, the application can:</a:t>
            </a:r>
          </a:p>
          <a:p>
            <a:pPr marL="742950" lvl="1" indent="-285750">
              <a:buFont typeface="Arial" panose="020B0604020202020204" pitchFamily="34" charset="0"/>
              <a:buChar char="•"/>
            </a:pPr>
            <a:r>
              <a:rPr lang="en-IN" dirty="0"/>
              <a:t>Fetch data from the server using APIs.</a:t>
            </a:r>
          </a:p>
          <a:p>
            <a:pPr marL="742950" lvl="1" indent="-285750">
              <a:buFont typeface="Arial" panose="020B0604020202020204" pitchFamily="34" charset="0"/>
              <a:buChar char="•"/>
            </a:pPr>
            <a:r>
              <a:rPr lang="en-IN" dirty="0"/>
              <a:t>Store data through APIs.</a:t>
            </a:r>
          </a:p>
          <a:p>
            <a:pPr marL="742950" lvl="1" indent="-285750">
              <a:buFont typeface="Arial" panose="020B0604020202020204" pitchFamily="34" charset="0"/>
              <a:buChar char="•"/>
            </a:pPr>
            <a:r>
              <a:rPr lang="en-IN" dirty="0"/>
              <a:t>Replace hard-coded data in the browser with server-provided data.</a:t>
            </a:r>
          </a:p>
          <a:p>
            <a:pPr marL="342900" lvl="0" indent="-342900">
              <a:buFont typeface="Arial" panose="020B0604020202020204" pitchFamily="34" charset="0"/>
              <a:buChar char="•"/>
            </a:pPr>
            <a:r>
              <a:rPr lang="en-IN" dirty="0"/>
              <a:t>Both </a:t>
            </a:r>
            <a:r>
              <a:rPr lang="en-IN" b="1" dirty="0"/>
              <a:t>front-end and back-end code</a:t>
            </a:r>
            <a:r>
              <a:rPr lang="en-IN" dirty="0"/>
              <a:t> need to be modified to implement and consume APIs.</a:t>
            </a:r>
          </a:p>
          <a:p>
            <a:pPr marL="342900" lvl="0" indent="-342900">
              <a:buFont typeface="Arial" panose="020B0604020202020204" pitchFamily="34" charset="0"/>
              <a:buChar char="•"/>
            </a:pPr>
            <a:r>
              <a:rPr lang="en-IN" dirty="0"/>
              <a:t>Initially, data can be maintained in a </a:t>
            </a:r>
            <a:r>
              <a:rPr lang="en-IN" b="1" dirty="0"/>
              <a:t>simulated database in server memory</a:t>
            </a:r>
            <a:r>
              <a:rPr lang="en-IN" dirty="0"/>
              <a:t>.</a:t>
            </a:r>
          </a:p>
        </p:txBody>
      </p:sp>
    </p:spTree>
    <p:extLst>
      <p:ext uri="{BB962C8B-B14F-4D97-AF65-F5344CB8AC3E}">
        <p14:creationId xmlns:p14="http://schemas.microsoft.com/office/powerpoint/2010/main" val="110086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795DB-F51C-310B-F205-840B74E083F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461C510-7D47-6101-E5B5-5AE3D4D61F04}"/>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None/>
            </a:pPr>
            <a:r>
              <a:rPr lang="en-IN" b="1" dirty="0"/>
              <a:t>2. Express</a:t>
            </a:r>
          </a:p>
          <a:p>
            <a:pPr>
              <a:buNone/>
            </a:pPr>
            <a:r>
              <a:rPr lang="en-IN" b="1" dirty="0"/>
              <a:t>What is Express?</a:t>
            </a:r>
          </a:p>
          <a:p>
            <a:pPr marL="342900" lvl="0" indent="-342900">
              <a:buFont typeface="Arial" panose="020B0604020202020204" pitchFamily="34" charset="0"/>
              <a:buChar char="•"/>
            </a:pPr>
            <a:r>
              <a:rPr lang="en-IN" dirty="0"/>
              <a:t>Express is a </a:t>
            </a:r>
            <a:r>
              <a:rPr lang="en-IN" b="1" dirty="0"/>
              <a:t>minimal and flexible web application framework</a:t>
            </a:r>
            <a:r>
              <a:rPr lang="en-IN" dirty="0"/>
              <a:t> for Node.js.</a:t>
            </a:r>
          </a:p>
          <a:p>
            <a:pPr marL="342900" lvl="0" indent="-342900">
              <a:buFont typeface="Arial" panose="020B0604020202020204" pitchFamily="34" charset="0"/>
              <a:buChar char="•"/>
            </a:pPr>
            <a:r>
              <a:rPr lang="en-IN" dirty="0"/>
              <a:t>It can do much more than serving static files.</a:t>
            </a:r>
          </a:p>
          <a:p>
            <a:pPr marL="342900" lvl="0" indent="-342900">
              <a:buFont typeface="Arial" panose="020B0604020202020204" pitchFamily="34" charset="0"/>
              <a:buChar char="•"/>
            </a:pPr>
            <a:r>
              <a:rPr lang="en-IN" dirty="0"/>
              <a:t>Express itself provides minimal functionality.</a:t>
            </a:r>
          </a:p>
          <a:p>
            <a:pPr marL="342900" lvl="0" indent="-342900">
              <a:buFont typeface="Arial" panose="020B0604020202020204" pitchFamily="34" charset="0"/>
              <a:buChar char="•"/>
            </a:pPr>
            <a:r>
              <a:rPr lang="en-IN" dirty="0"/>
              <a:t>It depends on </a:t>
            </a:r>
            <a:r>
              <a:rPr lang="en-IN" b="1" dirty="0"/>
              <a:t>middleware</a:t>
            </a:r>
            <a:r>
              <a:rPr lang="en-IN" dirty="0"/>
              <a:t> to provide additional functionality required by applications.</a:t>
            </a:r>
          </a:p>
          <a:p>
            <a:pPr marL="342900" lvl="0" indent="-342900">
              <a:buFont typeface="Arial" panose="020B0604020202020204" pitchFamily="34" charset="0"/>
              <a:buChar char="•"/>
            </a:pPr>
            <a:r>
              <a:rPr lang="en-IN" dirty="0"/>
              <a:t>Express provides important features such as:</a:t>
            </a:r>
          </a:p>
          <a:p>
            <a:pPr marL="742950" lvl="1" indent="-285750">
              <a:buFont typeface="Arial" panose="020B0604020202020204" pitchFamily="34" charset="0"/>
              <a:buChar char="•"/>
            </a:pPr>
            <a:r>
              <a:rPr lang="en-IN" dirty="0"/>
              <a:t>Routing</a:t>
            </a:r>
          </a:p>
          <a:p>
            <a:pPr marL="742950" lvl="1" indent="-285750">
              <a:buFont typeface="Arial" panose="020B0604020202020204" pitchFamily="34" charset="0"/>
              <a:buChar char="•"/>
            </a:pPr>
            <a:r>
              <a:rPr lang="en-IN" dirty="0"/>
              <a:t>Request handling</a:t>
            </a:r>
          </a:p>
          <a:p>
            <a:pPr marL="742950" lvl="1" indent="-285750">
              <a:buFont typeface="Arial" panose="020B0604020202020204" pitchFamily="34" charset="0"/>
              <a:buChar char="•"/>
            </a:pPr>
            <a:r>
              <a:rPr lang="en-IN" dirty="0"/>
              <a:t>Response handling</a:t>
            </a:r>
          </a:p>
          <a:p>
            <a:pPr marL="742950" lvl="1" indent="-285750">
              <a:buFont typeface="Arial" panose="020B0604020202020204" pitchFamily="34" charset="0"/>
              <a:buChar char="•"/>
            </a:pPr>
            <a:r>
              <a:rPr lang="en-IN" dirty="0"/>
              <a:t>Middleware</a:t>
            </a:r>
          </a:p>
          <a:p>
            <a:pPr marL="742950" lvl="1" indent="-285750">
              <a:buFont typeface="Arial" panose="020B0604020202020204" pitchFamily="34" charset="0"/>
              <a:buChar char="•"/>
            </a:pPr>
            <a:r>
              <a:rPr lang="en-IN" dirty="0"/>
              <a:t>API development</a:t>
            </a:r>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116000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EE7A1-5BE5-95F0-6593-1D3D2B7EAA18}"/>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FDA3891-F08F-E8E6-F6DE-C413A9C1261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3. Routing in Express</a:t>
            </a:r>
          </a:p>
          <a:p>
            <a:pPr lvl="1">
              <a:buFont typeface="Arial" panose="020B0604020202020204" pitchFamily="34" charset="0"/>
              <a:buChar char="•"/>
            </a:pPr>
            <a:r>
              <a:rPr lang="en-IN" sz="1600" dirty="0"/>
              <a:t>At the heart of Express is a router, which essentially takes a client request, matches it against any routes that are present, and executes the handler function that is associated with that route. The handler function is expected to generate the appropriate response.</a:t>
            </a:r>
          </a:p>
          <a:p>
            <a:pPr lvl="1"/>
            <a:r>
              <a:rPr lang="en-IN" dirty="0"/>
              <a:t>A route specification contains:</a:t>
            </a:r>
          </a:p>
          <a:p>
            <a:pPr lvl="2"/>
            <a:r>
              <a:rPr lang="en-IN" sz="1600" b="1" dirty="0"/>
              <a:t>HTTP method</a:t>
            </a:r>
            <a:r>
              <a:rPr lang="en-IN" sz="1600" dirty="0"/>
              <a:t> – GET, POST, etc.</a:t>
            </a:r>
          </a:p>
          <a:p>
            <a:pPr lvl="2"/>
            <a:r>
              <a:rPr lang="en-IN" sz="1600" b="1" dirty="0"/>
              <a:t>Path specification</a:t>
            </a:r>
            <a:r>
              <a:rPr lang="en-IN" sz="1600" dirty="0"/>
              <a:t> – URL pattern.</a:t>
            </a:r>
          </a:p>
          <a:p>
            <a:pPr lvl="2"/>
            <a:r>
              <a:rPr lang="en-IN" sz="1600" b="1" dirty="0"/>
              <a:t>Route handler</a:t>
            </a:r>
            <a:r>
              <a:rPr lang="en-IN" sz="1600" dirty="0"/>
              <a:t> – function that processes the request.</a:t>
            </a:r>
          </a:p>
          <a:p>
            <a:pPr lvl="1"/>
            <a:r>
              <a:rPr lang="en-IN" sz="2000" b="1" dirty="0"/>
              <a:t>Basic Structure</a:t>
            </a:r>
          </a:p>
          <a:p>
            <a:pPr lvl="2"/>
            <a:r>
              <a:rPr lang="en-IN" sz="1600" dirty="0" err="1"/>
              <a:t>app.get</a:t>
            </a:r>
            <a:r>
              <a:rPr lang="en-IN" sz="1600" dirty="0"/>
              <a:t>('/hello', (</a:t>
            </a:r>
            <a:r>
              <a:rPr lang="en-IN" sz="1600" dirty="0" err="1"/>
              <a:t>req</a:t>
            </a:r>
            <a:r>
              <a:rPr lang="en-IN" sz="1600" dirty="0"/>
              <a:t>, res) =&gt; {</a:t>
            </a:r>
          </a:p>
          <a:p>
            <a:pPr lvl="2"/>
            <a:r>
              <a:rPr lang="en-IN" sz="1600" dirty="0"/>
              <a:t>  </a:t>
            </a:r>
            <a:r>
              <a:rPr lang="en-IN" sz="1600" dirty="0" err="1"/>
              <a:t>res.send</a:t>
            </a:r>
            <a:r>
              <a:rPr lang="en-IN" sz="1600" dirty="0"/>
              <a:t>('Hello World!');</a:t>
            </a:r>
          </a:p>
          <a:p>
            <a:pPr lvl="2"/>
            <a:r>
              <a:rPr lang="en-IN" sz="1600" dirty="0"/>
              <a:t>});</a:t>
            </a:r>
          </a:p>
          <a:p>
            <a:pPr lvl="1">
              <a:buFont typeface="Arial" panose="020B0604020202020204" pitchFamily="34" charset="0"/>
              <a:buChar char="•"/>
            </a:pPr>
            <a:endParaRPr lang="en-US" sz="1600" dirty="0"/>
          </a:p>
          <a:p>
            <a:pPr lvl="1"/>
            <a:r>
              <a:rPr lang="en-IN" b="1" dirty="0" err="1"/>
              <a:t>app.get</a:t>
            </a:r>
            <a:r>
              <a:rPr lang="en-IN" b="1" dirty="0"/>
              <a:t>() </a:t>
            </a:r>
            <a:r>
              <a:rPr lang="en-IN" dirty="0"/>
              <a:t>→ specifies the HTTP method.</a:t>
            </a:r>
          </a:p>
          <a:p>
            <a:pPr lvl="1"/>
            <a:r>
              <a:rPr lang="en-IN" b="1" dirty="0"/>
              <a:t>/hello </a:t>
            </a:r>
            <a:r>
              <a:rPr lang="en-IN" dirty="0"/>
              <a:t>→ specifies the URL path.</a:t>
            </a:r>
          </a:p>
          <a:p>
            <a:pPr lvl="1"/>
            <a:r>
              <a:rPr lang="en-IN" b="1" dirty="0"/>
              <a:t>(</a:t>
            </a:r>
            <a:r>
              <a:rPr lang="en-IN" b="1" dirty="0" err="1"/>
              <a:t>req</a:t>
            </a:r>
            <a:r>
              <a:rPr lang="en-IN" b="1" dirty="0"/>
              <a:t>, res) </a:t>
            </a:r>
            <a:r>
              <a:rPr lang="en-IN" dirty="0"/>
              <a:t>→ request and response objects.</a:t>
            </a:r>
          </a:p>
          <a:p>
            <a:pPr lvl="1"/>
            <a:r>
              <a:rPr lang="en-IN" b="1" dirty="0" err="1"/>
              <a:t>res.send</a:t>
            </a:r>
            <a:r>
              <a:rPr lang="en-IN" b="1" dirty="0"/>
              <a:t>() </a:t>
            </a:r>
            <a:r>
              <a:rPr lang="en-IN" dirty="0"/>
              <a:t>→ sends the response to the client.</a:t>
            </a:r>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4010279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8935C-0DCC-5608-FD0E-D2139EDC4BD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E4E8DD7-62D2-47F9-DEBC-ABE74CE56E3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4. Request Matching</a:t>
            </a:r>
          </a:p>
          <a:p>
            <a:pPr lvl="2" algn="just">
              <a:buFont typeface="Arial" panose="020B0604020202020204" pitchFamily="34" charset="0"/>
              <a:buChar char="•"/>
            </a:pPr>
            <a:r>
              <a:rPr lang="en-IN" sz="1400" dirty="0"/>
              <a:t>When a request is received, the first thing that Express does is match the request to one of the routes. </a:t>
            </a:r>
          </a:p>
          <a:p>
            <a:pPr lvl="2" algn="just">
              <a:buFont typeface="Arial" panose="020B0604020202020204" pitchFamily="34" charset="0"/>
              <a:buChar char="•"/>
            </a:pPr>
            <a:r>
              <a:rPr lang="en-IN" sz="1400" dirty="0"/>
              <a:t>The request method is matched against the route’s method. In the previous example, the </a:t>
            </a:r>
            <a:r>
              <a:rPr lang="en-IN" sz="1400" dirty="0">
                <a:solidFill>
                  <a:srgbClr val="FF0000"/>
                </a:solidFill>
              </a:rPr>
              <a:t>route’s method is get() </a:t>
            </a:r>
            <a:r>
              <a:rPr lang="en-IN" sz="1400" dirty="0"/>
              <a:t>so any HTTP request using the GET method will match it. </a:t>
            </a:r>
          </a:p>
          <a:p>
            <a:pPr lvl="2" algn="just">
              <a:buFont typeface="Arial" panose="020B0604020202020204" pitchFamily="34" charset="0"/>
              <a:buChar char="•"/>
            </a:pPr>
            <a:r>
              <a:rPr lang="en-IN" sz="1400" dirty="0"/>
              <a:t>Further, the request URL is matched with the </a:t>
            </a:r>
            <a:r>
              <a:rPr lang="en-IN" sz="1400" dirty="0">
                <a:solidFill>
                  <a:srgbClr val="FF0000"/>
                </a:solidFill>
              </a:rPr>
              <a:t>path specification</a:t>
            </a:r>
            <a:r>
              <a:rPr lang="en-IN" sz="1400" dirty="0"/>
              <a:t>, the first argument in the route, which is </a:t>
            </a:r>
            <a:r>
              <a:rPr lang="en-IN" sz="1400" dirty="0">
                <a:solidFill>
                  <a:srgbClr val="FF0000"/>
                </a:solidFill>
              </a:rPr>
              <a:t>/hello</a:t>
            </a:r>
            <a:r>
              <a:rPr lang="en-IN" sz="1400" dirty="0"/>
              <a:t>. When a HTTP request matches this specification, the handler function is called. </a:t>
            </a:r>
          </a:p>
          <a:p>
            <a:pPr lvl="2" algn="just">
              <a:buFont typeface="Arial" panose="020B0604020202020204" pitchFamily="34" charset="0"/>
              <a:buChar char="•"/>
            </a:pPr>
            <a:r>
              <a:rPr lang="en-IN" sz="1400" dirty="0"/>
              <a:t>The route’s method and path need not be specific. If you want to match all HTTP methods, you could write </a:t>
            </a:r>
            <a:r>
              <a:rPr lang="en-IN" sz="1400" dirty="0" err="1"/>
              <a:t>app.all</a:t>
            </a:r>
            <a:r>
              <a:rPr lang="en-IN" sz="1400" dirty="0"/>
              <a:t>(). </a:t>
            </a:r>
          </a:p>
          <a:p>
            <a:pPr lvl="2" algn="just">
              <a:buFont typeface="Arial" panose="020B0604020202020204" pitchFamily="34" charset="0"/>
              <a:buChar char="•"/>
            </a:pPr>
            <a:r>
              <a:rPr lang="en-IN" sz="1400" dirty="0"/>
              <a:t>If you needed to match multiple paths, you could pass in an array of paths, or even a regular expression like '/*.do' will match any request ending with the extension .do. </a:t>
            </a:r>
          </a:p>
          <a:p>
            <a:pPr algn="just">
              <a:buFont typeface="Arial" panose="020B0604020202020204" pitchFamily="34" charset="0"/>
              <a:buChar char="•"/>
            </a:pPr>
            <a:r>
              <a:rPr lang="en-IN" sz="2000" dirty="0"/>
              <a:t>5. Route Parameters</a:t>
            </a:r>
          </a:p>
          <a:p>
            <a:pPr lvl="2" algn="just">
              <a:buFont typeface="Arial" panose="020B0604020202020204" pitchFamily="34" charset="0"/>
              <a:buChar char="•"/>
            </a:pPr>
            <a:r>
              <a:rPr lang="en-IN" sz="1600" b="1" dirty="0"/>
              <a:t>Route parameters</a:t>
            </a:r>
            <a:r>
              <a:rPr lang="en-IN" sz="1600" dirty="0"/>
              <a:t> are named segments in a URL path that represent dynamic values.</a:t>
            </a:r>
          </a:p>
          <a:p>
            <a:pPr lvl="3" algn="just">
              <a:buFont typeface="Arial" panose="020B0604020202020204" pitchFamily="34" charset="0"/>
              <a:buChar char="•"/>
            </a:pPr>
            <a:r>
              <a:rPr lang="en-IN" sz="1600" dirty="0" err="1"/>
              <a:t>app.get</a:t>
            </a:r>
            <a:r>
              <a:rPr lang="en-IN" sz="1600" dirty="0"/>
              <a:t>('/customers/:</a:t>
            </a:r>
            <a:r>
              <a:rPr lang="en-IN" sz="1600" dirty="0" err="1"/>
              <a:t>customerId</a:t>
            </a:r>
            <a:r>
              <a:rPr lang="en-IN" sz="1600" dirty="0"/>
              <a:t>', ...);</a:t>
            </a:r>
          </a:p>
          <a:p>
            <a:pPr lvl="2" algn="just">
              <a:buFont typeface="Arial" panose="020B0604020202020204" pitchFamily="34" charset="0"/>
              <a:buChar char="•"/>
            </a:pPr>
            <a:r>
              <a:rPr lang="en-IN" sz="1600" dirty="0"/>
              <a:t>Here </a:t>
            </a:r>
            <a:r>
              <a:rPr lang="en-IN" sz="1400" i="1" dirty="0" err="1"/>
              <a:t>customerId</a:t>
            </a:r>
            <a:r>
              <a:rPr lang="en-IN" sz="1600" dirty="0"/>
              <a:t> is route parameter</a:t>
            </a:r>
          </a:p>
          <a:p>
            <a:pPr lvl="2" algn="just">
              <a:buFont typeface="Arial" panose="020B0604020202020204" pitchFamily="34" charset="0"/>
              <a:buChar char="•"/>
            </a:pPr>
            <a:r>
              <a:rPr lang="en-IN" sz="1600" dirty="0"/>
              <a:t>The URL /customers/1234 will match the route specification, and so will /customers/4567. In either case, the customer ID will be captured and supplied to the handler function as part of the request in req. params, with the name of the parameter as the key.</a:t>
            </a:r>
          </a:p>
          <a:p>
            <a:pPr lvl="2"/>
            <a:r>
              <a:rPr lang="en-IN" b="1" dirty="0"/>
              <a:t>Example</a:t>
            </a:r>
          </a:p>
          <a:p>
            <a:pPr lvl="2"/>
            <a:r>
              <a:rPr lang="en-IN" dirty="0" err="1"/>
              <a:t>app.get</a:t>
            </a:r>
            <a:r>
              <a:rPr lang="en-IN" dirty="0"/>
              <a:t>('/customers/:</a:t>
            </a:r>
            <a:r>
              <a:rPr lang="en-IN" dirty="0" err="1"/>
              <a:t>customerId</a:t>
            </a:r>
            <a:r>
              <a:rPr lang="en-IN" dirty="0"/>
              <a:t>', (</a:t>
            </a:r>
            <a:r>
              <a:rPr lang="en-IN" dirty="0" err="1"/>
              <a:t>req</a:t>
            </a:r>
            <a:r>
              <a:rPr lang="en-IN" dirty="0"/>
              <a:t>, res) =&gt; {</a:t>
            </a:r>
          </a:p>
          <a:p>
            <a:pPr lvl="2"/>
            <a:r>
              <a:rPr lang="en-IN" dirty="0"/>
              <a:t>  </a:t>
            </a:r>
            <a:r>
              <a:rPr lang="en-IN" dirty="0" err="1"/>
              <a:t>res.send</a:t>
            </a:r>
            <a:r>
              <a:rPr lang="en-IN" dirty="0"/>
              <a:t>(</a:t>
            </a:r>
            <a:r>
              <a:rPr lang="en-IN" dirty="0" err="1">
                <a:solidFill>
                  <a:srgbClr val="FF0000"/>
                </a:solidFill>
              </a:rPr>
              <a:t>req.params.customerId</a:t>
            </a:r>
            <a:r>
              <a:rPr lang="en-IN" dirty="0"/>
              <a:t>);</a:t>
            </a:r>
          </a:p>
          <a:p>
            <a:pPr lvl="2"/>
            <a:r>
              <a:rPr lang="en-IN" dirty="0"/>
              <a:t>});</a:t>
            </a:r>
          </a:p>
          <a:p>
            <a:pPr lvl="2" algn="just">
              <a:buFont typeface="Arial" panose="020B0604020202020204" pitchFamily="34" charset="0"/>
              <a:buChar char="•"/>
            </a:pPr>
            <a:endParaRPr lang="en-IN" sz="1600" dirty="0"/>
          </a:p>
          <a:p>
            <a:pPr lvl="1" algn="just">
              <a:buFont typeface="Arial" panose="020B0604020202020204" pitchFamily="34" charset="0"/>
              <a:buChar char="•"/>
            </a:pPr>
            <a:endParaRPr lang="en-IN" sz="1800" dirty="0"/>
          </a:p>
          <a:p>
            <a:pPr lvl="1" algn="just">
              <a:buFont typeface="Arial" panose="020B0604020202020204" pitchFamily="34" charset="0"/>
              <a:buChar char="•"/>
            </a:pPr>
            <a:endParaRPr lang="en-IN" sz="1800" dirty="0"/>
          </a:p>
        </p:txBody>
      </p:sp>
    </p:spTree>
    <p:extLst>
      <p:ext uri="{BB962C8B-B14F-4D97-AF65-F5344CB8AC3E}">
        <p14:creationId xmlns:p14="http://schemas.microsoft.com/office/powerpoint/2010/main" val="635058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2F1D6-9025-0BF4-E77B-B3DE0BC5730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E10E10E-76DE-9BF7-7B63-7072D44D887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6. Route Lookup</a:t>
            </a:r>
          </a:p>
          <a:p>
            <a:pPr lvl="1"/>
            <a:r>
              <a:rPr lang="en-IN" dirty="0"/>
              <a:t>Express can have multiple routes.</a:t>
            </a:r>
          </a:p>
          <a:p>
            <a:pPr lvl="1"/>
            <a:r>
              <a:rPr lang="en-IN" dirty="0"/>
              <a:t>Routes are checked in the </a:t>
            </a:r>
            <a:r>
              <a:rPr lang="en-IN" b="1" dirty="0"/>
              <a:t>order in which they are defined</a:t>
            </a:r>
            <a:r>
              <a:rPr lang="en-IN" dirty="0"/>
              <a:t>.</a:t>
            </a:r>
          </a:p>
          <a:p>
            <a:pPr lvl="1"/>
            <a:r>
              <a:rPr lang="en-IN" dirty="0"/>
              <a:t>Express does not search for the "best" matching route.</a:t>
            </a:r>
          </a:p>
          <a:p>
            <a:pPr lvl="1"/>
            <a:r>
              <a:rPr lang="en-IN" dirty="0"/>
              <a:t>The </a:t>
            </a:r>
            <a:r>
              <a:rPr lang="en-IN" b="1" dirty="0"/>
              <a:t>first matching route</a:t>
            </a:r>
            <a:r>
              <a:rPr lang="en-IN" dirty="0"/>
              <a:t> is used.</a:t>
            </a:r>
          </a:p>
          <a:p>
            <a:pPr lvl="1"/>
            <a:endParaRPr lang="en-IN" dirty="0"/>
          </a:p>
          <a:p>
            <a:pPr lvl="1"/>
            <a:r>
              <a:rPr lang="en-IN" dirty="0">
                <a:solidFill>
                  <a:srgbClr val="FF0000"/>
                </a:solidFill>
              </a:rPr>
              <a:t>More specific </a:t>
            </a:r>
            <a:r>
              <a:rPr lang="en-IN" dirty="0"/>
              <a:t>routes should be placed </a:t>
            </a:r>
            <a:r>
              <a:rPr lang="en-IN" b="1" dirty="0"/>
              <a:t>before generic routes</a:t>
            </a:r>
            <a:r>
              <a:rPr lang="en-IN" dirty="0"/>
              <a:t>.</a:t>
            </a:r>
          </a:p>
          <a:p>
            <a:pPr lvl="1"/>
            <a:r>
              <a:rPr lang="en-IN" dirty="0"/>
              <a:t>Example:</a:t>
            </a:r>
          </a:p>
          <a:p>
            <a:pPr lvl="1"/>
            <a:r>
              <a:rPr lang="en-IN" dirty="0"/>
              <a:t>/</a:t>
            </a:r>
            <a:r>
              <a:rPr lang="en-IN" dirty="0" err="1"/>
              <a:t>api</a:t>
            </a:r>
            <a:r>
              <a:rPr lang="en-IN" dirty="0"/>
              <a:t>/issues</a:t>
            </a:r>
          </a:p>
          <a:p>
            <a:pPr lvl="1"/>
            <a:r>
              <a:rPr lang="en-IN" dirty="0"/>
              <a:t>should be defined before a </a:t>
            </a:r>
            <a:r>
              <a:rPr lang="en-IN" dirty="0">
                <a:solidFill>
                  <a:srgbClr val="FF0000"/>
                </a:solidFill>
              </a:rPr>
              <a:t>generic route </a:t>
            </a:r>
            <a:r>
              <a:rPr lang="en-IN" dirty="0"/>
              <a:t>such as:</a:t>
            </a:r>
          </a:p>
          <a:p>
            <a:pPr lvl="1"/>
            <a:r>
              <a:rPr lang="en-IN" dirty="0"/>
              <a:t>/</a:t>
            </a:r>
            <a:r>
              <a:rPr lang="en-IN" dirty="0" err="1"/>
              <a:t>api</a:t>
            </a:r>
            <a:r>
              <a:rPr lang="en-IN" dirty="0"/>
              <a:t>/*</a:t>
            </a:r>
          </a:p>
          <a:p>
            <a:pPr lvl="1"/>
            <a:endParaRPr lang="en-IN" dirty="0"/>
          </a:p>
          <a:p>
            <a:pPr lvl="1"/>
            <a:r>
              <a:rPr lang="en-IN" dirty="0"/>
              <a:t>This prevents the generic route from handling a request that should have been handled by a specific route.</a:t>
            </a:r>
          </a:p>
          <a:p>
            <a:pPr lvl="1"/>
            <a:endParaRPr lang="en-IN" dirty="0"/>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3759208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F830E-901A-6768-396A-EA3901B92BE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1D2CFE7-0F08-BE9F-18CE-DA299750305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000" dirty="0"/>
              <a:t>Handler Function</a:t>
            </a:r>
          </a:p>
          <a:p>
            <a:pPr lvl="1" algn="just">
              <a:buFont typeface="Arial" panose="020B0604020202020204" pitchFamily="34" charset="0"/>
              <a:buChar char="•"/>
            </a:pPr>
            <a:r>
              <a:rPr lang="en-IN" sz="1800" dirty="0"/>
              <a:t>Once a route is matched, the handler function is called, which in the previous example was an anonymous function supplied to the route setup function. </a:t>
            </a:r>
          </a:p>
          <a:p>
            <a:pPr lvl="1" algn="just">
              <a:buFont typeface="Arial" panose="020B0604020202020204" pitchFamily="34" charset="0"/>
              <a:buChar char="•"/>
            </a:pPr>
            <a:r>
              <a:rPr lang="en-IN" sz="1800" dirty="0"/>
              <a:t>The parameters passed to the handler are a request object and a response object. The handler function is not expected to return any value. </a:t>
            </a:r>
          </a:p>
          <a:p>
            <a:pPr lvl="1" algn="just">
              <a:buFont typeface="Arial" panose="020B0604020202020204" pitchFamily="34" charset="0"/>
              <a:buChar char="•"/>
            </a:pPr>
            <a:r>
              <a:rPr lang="en-IN" sz="1800" dirty="0"/>
              <a:t>But it can inspect the request object and send out a response as part of the response object based on the request parameters.</a:t>
            </a:r>
          </a:p>
          <a:p>
            <a:pPr lvl="1" algn="just">
              <a:buFont typeface="Arial" panose="020B0604020202020204" pitchFamily="34" charset="0"/>
              <a:buChar char="•"/>
            </a:pPr>
            <a:endParaRPr lang="en-IN" sz="1800" dirty="0"/>
          </a:p>
          <a:p>
            <a:pPr lvl="1"/>
            <a:r>
              <a:rPr lang="en-IN" b="1" dirty="0"/>
              <a:t>Request Object</a:t>
            </a:r>
          </a:p>
          <a:p>
            <a:pPr lvl="1"/>
            <a:r>
              <a:rPr lang="en-IN" dirty="0"/>
              <a:t>Used to inspect information about the incoming request.</a:t>
            </a:r>
          </a:p>
          <a:p>
            <a:pPr lvl="1"/>
            <a:r>
              <a:rPr lang="en-IN" b="1" dirty="0"/>
              <a:t>Response Object</a:t>
            </a:r>
          </a:p>
          <a:p>
            <a:pPr lvl="1"/>
            <a:r>
              <a:rPr lang="en-IN" dirty="0"/>
              <a:t>Used to construct and send the response.</a:t>
            </a:r>
          </a:p>
          <a:p>
            <a:pPr lvl="1" algn="just">
              <a:buFont typeface="Arial" panose="020B0604020202020204" pitchFamily="34" charset="0"/>
              <a:buChar char="•"/>
            </a:pPr>
            <a:endParaRPr lang="en-US" sz="1600" dirty="0"/>
          </a:p>
        </p:txBody>
      </p:sp>
    </p:spTree>
    <p:extLst>
      <p:ext uri="{BB962C8B-B14F-4D97-AF65-F5344CB8AC3E}">
        <p14:creationId xmlns:p14="http://schemas.microsoft.com/office/powerpoint/2010/main" val="1691233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4BF7B-C3FD-A43E-F636-5C835ADD656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F638DC5-16FA-D6A0-3DDD-004F4EE2A91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000" dirty="0"/>
              <a:t>Request Object</a:t>
            </a:r>
          </a:p>
          <a:p>
            <a:pPr lvl="1">
              <a:buFont typeface="Arial" panose="020B0604020202020204" pitchFamily="34" charset="0"/>
              <a:buChar char="•"/>
            </a:pPr>
            <a:r>
              <a:rPr lang="en-IN" sz="1800" dirty="0"/>
              <a:t>Any aspect of the request can be inspected using the request object’s </a:t>
            </a:r>
            <a:r>
              <a:rPr lang="en-IN" sz="1800" dirty="0">
                <a:solidFill>
                  <a:srgbClr val="FF0000"/>
                </a:solidFill>
              </a:rPr>
              <a:t>properties and methods</a:t>
            </a:r>
            <a:r>
              <a:rPr lang="en-IN" sz="1800" dirty="0"/>
              <a:t>. A few important and useful properties and methods are listed here:</a:t>
            </a:r>
          </a:p>
          <a:p>
            <a:pPr lvl="2">
              <a:buFont typeface="Arial" panose="020B0604020202020204" pitchFamily="34" charset="0"/>
              <a:buChar char="•"/>
            </a:pPr>
            <a:r>
              <a:rPr lang="en-IN" sz="1600" b="1" dirty="0" err="1">
                <a:solidFill>
                  <a:srgbClr val="FF0000"/>
                </a:solidFill>
              </a:rPr>
              <a:t>req.params</a:t>
            </a:r>
            <a:r>
              <a:rPr lang="en-IN" sz="1600" b="1" dirty="0">
                <a:solidFill>
                  <a:srgbClr val="FF0000"/>
                </a:solidFill>
              </a:rPr>
              <a:t>: </a:t>
            </a:r>
            <a:r>
              <a:rPr lang="en-IN" sz="1600" dirty="0"/>
              <a:t>This is an object containing properties mapped to the named route parameters as you saw in the example that used :</a:t>
            </a:r>
            <a:r>
              <a:rPr lang="en-IN" sz="1600" dirty="0" err="1"/>
              <a:t>customerId</a:t>
            </a:r>
            <a:r>
              <a:rPr lang="en-IN" sz="1600" dirty="0"/>
              <a:t>. The property’s key will be the name of the route parameter (</a:t>
            </a:r>
            <a:r>
              <a:rPr lang="en-IN" sz="1600" dirty="0" err="1"/>
              <a:t>customerId</a:t>
            </a:r>
            <a:r>
              <a:rPr lang="en-IN" sz="1600" dirty="0"/>
              <a:t> in this case) and the value will be the actual string sent as part of the HTTP request.</a:t>
            </a:r>
          </a:p>
          <a:p>
            <a:pPr lvl="2">
              <a:buFont typeface="Arial" panose="020B0604020202020204" pitchFamily="34" charset="0"/>
              <a:buChar char="•"/>
            </a:pPr>
            <a:r>
              <a:rPr lang="en-IN" sz="1600" b="1" dirty="0" err="1">
                <a:solidFill>
                  <a:srgbClr val="FF0000"/>
                </a:solidFill>
              </a:rPr>
              <a:t>req.query</a:t>
            </a:r>
            <a:r>
              <a:rPr lang="en-IN" sz="1600" b="1" dirty="0">
                <a:solidFill>
                  <a:srgbClr val="FF0000"/>
                </a:solidFill>
              </a:rPr>
              <a:t>: </a:t>
            </a:r>
            <a:r>
              <a:rPr lang="en-IN" sz="1600" dirty="0"/>
              <a:t>This holds a parsed query string. It’s an object with keys as the query string parameters and values as the query string values.</a:t>
            </a:r>
          </a:p>
          <a:p>
            <a:pPr lvl="3"/>
            <a:r>
              <a:rPr lang="en-IN" sz="1400" dirty="0"/>
              <a:t>Example:  /</a:t>
            </a:r>
            <a:r>
              <a:rPr lang="en-IN" sz="1400" dirty="0" err="1"/>
              <a:t>issues?status</a:t>
            </a:r>
            <a:r>
              <a:rPr lang="en-IN" sz="1400" dirty="0"/>
              <a:t>=closed</a:t>
            </a:r>
          </a:p>
          <a:p>
            <a:pPr marL="566928" lvl="3" indent="0" algn="just">
              <a:buNone/>
            </a:pPr>
            <a:r>
              <a:rPr lang="en-IN" sz="1600" dirty="0"/>
              <a:t>Multiple keys with the same name are converted to arrays, and keys with a square bracket notation result in nested objects (e.g., order[status]=closed can be accessed as </a:t>
            </a:r>
            <a:r>
              <a:rPr lang="en-IN" sz="1600" dirty="0" err="1"/>
              <a:t>req.query.order</a:t>
            </a:r>
            <a:r>
              <a:rPr lang="en-IN" sz="1600" dirty="0"/>
              <a:t>. status).</a:t>
            </a:r>
          </a:p>
          <a:p>
            <a:pPr lvl="2" algn="just">
              <a:buFont typeface="Arial" panose="020B0604020202020204" pitchFamily="34" charset="0"/>
              <a:buChar char="•"/>
            </a:pPr>
            <a:r>
              <a:rPr lang="en-IN" sz="1600" b="1" dirty="0" err="1">
                <a:solidFill>
                  <a:srgbClr val="FF0000"/>
                </a:solidFill>
              </a:rPr>
              <a:t>req.header</a:t>
            </a:r>
            <a:r>
              <a:rPr lang="en-IN" sz="1600" b="1" dirty="0">
                <a:solidFill>
                  <a:srgbClr val="FF0000"/>
                </a:solidFill>
              </a:rPr>
              <a:t>, </a:t>
            </a:r>
            <a:r>
              <a:rPr lang="en-IN" sz="1600" b="1" dirty="0" err="1">
                <a:solidFill>
                  <a:srgbClr val="FF0000"/>
                </a:solidFill>
              </a:rPr>
              <a:t>req.get</a:t>
            </a:r>
            <a:r>
              <a:rPr lang="en-IN" sz="1600" b="1" dirty="0">
                <a:solidFill>
                  <a:srgbClr val="FF0000"/>
                </a:solidFill>
              </a:rPr>
              <a:t>(header): </a:t>
            </a:r>
            <a:r>
              <a:rPr lang="en-IN" sz="1600" dirty="0"/>
              <a:t>The get method gives access to any header in the request. The header property is an object with all headers stored as key-value pairs.</a:t>
            </a:r>
          </a:p>
          <a:p>
            <a:pPr marL="566928" lvl="3" indent="0">
              <a:buNone/>
            </a:pPr>
            <a:r>
              <a:rPr lang="en-IN" dirty="0"/>
              <a:t>Example: </a:t>
            </a:r>
            <a:r>
              <a:rPr lang="en-IN" dirty="0" err="1"/>
              <a:t>req.get</a:t>
            </a:r>
            <a:r>
              <a:rPr lang="en-IN" dirty="0"/>
              <a:t>('Accept')</a:t>
            </a:r>
          </a:p>
          <a:p>
            <a:pPr lvl="2" algn="just">
              <a:buFont typeface="Arial" panose="020B0604020202020204" pitchFamily="34" charset="0"/>
              <a:buChar char="•"/>
            </a:pPr>
            <a:r>
              <a:rPr lang="en-IN" sz="1600" b="1" dirty="0" err="1">
                <a:solidFill>
                  <a:srgbClr val="FF0000"/>
                </a:solidFill>
              </a:rPr>
              <a:t>req.path</a:t>
            </a:r>
            <a:r>
              <a:rPr lang="en-IN" sz="1600" b="1" dirty="0">
                <a:solidFill>
                  <a:srgbClr val="FF0000"/>
                </a:solidFill>
              </a:rPr>
              <a:t>: </a:t>
            </a:r>
            <a:r>
              <a:rPr lang="en-IN" sz="1600" dirty="0"/>
              <a:t>This contains the path part of the URL, that is, everything up to any ? that starts the query string. Usually, the path is part of the route specification, but if the path is a pattern that can match different URLs, you can use this property to get the actual path that was received in the request.</a:t>
            </a:r>
          </a:p>
          <a:p>
            <a:pPr marL="566928" lvl="3" indent="0">
              <a:buNone/>
            </a:pPr>
            <a:r>
              <a:rPr lang="en-IN" dirty="0"/>
              <a:t>Example: /</a:t>
            </a:r>
            <a:r>
              <a:rPr lang="en-IN" dirty="0" err="1"/>
              <a:t>issues?status</a:t>
            </a:r>
            <a:r>
              <a:rPr lang="en-IN" dirty="0"/>
              <a:t>=closed</a:t>
            </a:r>
          </a:p>
          <a:p>
            <a:pPr marL="566928" lvl="3" indent="0">
              <a:buNone/>
            </a:pPr>
            <a:r>
              <a:rPr lang="en-IN" dirty="0"/>
              <a:t>The path is: /issues</a:t>
            </a:r>
          </a:p>
          <a:p>
            <a:pPr lvl="2" algn="just">
              <a:buFont typeface="Arial" panose="020B0604020202020204" pitchFamily="34" charset="0"/>
              <a:buChar char="•"/>
            </a:pPr>
            <a:endParaRPr lang="en-IN" sz="1600" dirty="0"/>
          </a:p>
          <a:p>
            <a:pPr lvl="2" algn="just">
              <a:buFont typeface="Arial" panose="020B0604020202020204" pitchFamily="34" charset="0"/>
              <a:buChar char="•"/>
            </a:pPr>
            <a:endParaRPr lang="en-IN" sz="1600" dirty="0"/>
          </a:p>
          <a:p>
            <a:pPr lvl="2" algn="just">
              <a:buFont typeface="Arial" panose="020B0604020202020204" pitchFamily="34" charset="0"/>
              <a:buChar char="•"/>
            </a:pPr>
            <a:endParaRPr lang="en-IN" sz="1600" dirty="0"/>
          </a:p>
          <a:p>
            <a:pPr lvl="2" algn="just">
              <a:buFont typeface="Arial" panose="020B0604020202020204" pitchFamily="34" charset="0"/>
              <a:buChar char="•"/>
            </a:pPr>
            <a:endParaRPr lang="en-IN" sz="1600" dirty="0"/>
          </a:p>
          <a:p>
            <a:pPr lvl="2" algn="just">
              <a:buFont typeface="Arial" panose="020B0604020202020204" pitchFamily="34" charset="0"/>
              <a:buChar char="•"/>
            </a:pPr>
            <a:endParaRPr lang="en-IN" sz="1600" dirty="0"/>
          </a:p>
          <a:p>
            <a:pPr lvl="2" algn="just">
              <a:buFont typeface="Arial" panose="020B0604020202020204" pitchFamily="34" charset="0"/>
              <a:buChar char="•"/>
            </a:pPr>
            <a:endParaRPr lang="en-IN" sz="1600" dirty="0"/>
          </a:p>
          <a:p>
            <a:pPr lvl="2">
              <a:buFont typeface="Arial" panose="020B0604020202020204" pitchFamily="34" charset="0"/>
              <a:buChar char="•"/>
            </a:pPr>
            <a:endParaRPr lang="en-IN" sz="1400" dirty="0"/>
          </a:p>
          <a:p>
            <a:pPr lvl="2">
              <a:buFont typeface="Arial" panose="020B0604020202020204" pitchFamily="34" charset="0"/>
              <a:buChar char="•"/>
            </a:pPr>
            <a:endParaRPr lang="en-US" sz="1400" dirty="0"/>
          </a:p>
        </p:txBody>
      </p:sp>
    </p:spTree>
    <p:extLst>
      <p:ext uri="{BB962C8B-B14F-4D97-AF65-F5344CB8AC3E}">
        <p14:creationId xmlns:p14="http://schemas.microsoft.com/office/powerpoint/2010/main" val="3373060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A8A63-2ECD-39EB-4E55-7AF2F456F09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730CE7C-A317-6E75-C7AD-A66AE621328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lgn="just">
              <a:buFont typeface="Arial" panose="020B0604020202020204" pitchFamily="34" charset="0"/>
              <a:buChar char="•"/>
            </a:pPr>
            <a:r>
              <a:rPr lang="en-IN" sz="1600" b="1" dirty="0">
                <a:solidFill>
                  <a:srgbClr val="FF0000"/>
                </a:solidFill>
              </a:rPr>
              <a:t>req.url, </a:t>
            </a:r>
            <a:r>
              <a:rPr lang="en-IN" sz="1600" b="1" dirty="0" err="1">
                <a:solidFill>
                  <a:srgbClr val="FF0000"/>
                </a:solidFill>
              </a:rPr>
              <a:t>req.originalURL</a:t>
            </a:r>
            <a:r>
              <a:rPr lang="en-IN" sz="1600" b="1" dirty="0">
                <a:solidFill>
                  <a:srgbClr val="FF0000"/>
                </a:solidFill>
              </a:rPr>
              <a:t>: </a:t>
            </a:r>
            <a:r>
              <a:rPr lang="en-IN" sz="1600" dirty="0"/>
              <a:t>These properties contain the complete URL, including the query string. Note that if you have any middleware that modifies the request URL, </a:t>
            </a:r>
            <a:r>
              <a:rPr lang="en-IN" sz="1600" dirty="0" err="1"/>
              <a:t>originalURL</a:t>
            </a:r>
            <a:r>
              <a:rPr lang="en-IN" sz="1600" dirty="0"/>
              <a:t> will hold the URL as it was received, before the modification.</a:t>
            </a:r>
          </a:p>
          <a:p>
            <a:pPr lvl="2" algn="just">
              <a:buFont typeface="Arial" panose="020B0604020202020204" pitchFamily="34" charset="0"/>
              <a:buChar char="•"/>
            </a:pPr>
            <a:r>
              <a:rPr lang="en-IN" sz="1200" dirty="0"/>
              <a:t>Example: /</a:t>
            </a:r>
            <a:r>
              <a:rPr lang="en-IN" sz="1200" dirty="0" err="1"/>
              <a:t>issues?status</a:t>
            </a:r>
            <a:r>
              <a:rPr lang="en-IN" sz="1200" dirty="0"/>
              <a:t>=closed</a:t>
            </a:r>
          </a:p>
          <a:p>
            <a:pPr lvl="2" algn="just">
              <a:buFont typeface="Arial" panose="020B0604020202020204" pitchFamily="34" charset="0"/>
              <a:buChar char="•"/>
            </a:pPr>
            <a:endParaRPr lang="en-US" sz="1200" dirty="0"/>
          </a:p>
          <a:p>
            <a:pPr lvl="1" algn="just">
              <a:buFont typeface="Arial" panose="020B0604020202020204" pitchFamily="34" charset="0"/>
              <a:buChar char="•"/>
            </a:pPr>
            <a:r>
              <a:rPr lang="en-IN" sz="1600" b="1" dirty="0" err="1">
                <a:solidFill>
                  <a:srgbClr val="FF0000"/>
                </a:solidFill>
              </a:rPr>
              <a:t>req.body</a:t>
            </a:r>
            <a:r>
              <a:rPr lang="en-IN" sz="1600" b="1" dirty="0">
                <a:solidFill>
                  <a:srgbClr val="FF0000"/>
                </a:solidFill>
              </a:rPr>
              <a:t>: </a:t>
            </a:r>
            <a:r>
              <a:rPr lang="en-IN" sz="1600" dirty="0"/>
              <a:t>This contains the body of the request, valid for POST, PUT, and PATCH requests. Note that the body is not available (</a:t>
            </a:r>
            <a:r>
              <a:rPr lang="en-IN" sz="1600" dirty="0" err="1"/>
              <a:t>req.body</a:t>
            </a:r>
            <a:r>
              <a:rPr lang="en-IN" sz="1600" dirty="0"/>
              <a:t> will be undefined) unless a middleware is installed to read and optionally interpret or parse the body.</a:t>
            </a:r>
            <a:endParaRPr lang="en-US" sz="1600" dirty="0"/>
          </a:p>
          <a:p>
            <a:pPr lvl="1" algn="just">
              <a:buFont typeface="Arial" panose="020B0604020202020204" pitchFamily="34" charset="0"/>
              <a:buChar char="•"/>
            </a:pPr>
            <a:endParaRPr lang="en-US" sz="1600" dirty="0"/>
          </a:p>
          <a:p>
            <a:pPr lvl="1" algn="just">
              <a:buFont typeface="Arial" panose="020B0604020202020204" pitchFamily="34" charset="0"/>
              <a:buChar char="•"/>
            </a:pPr>
            <a:endParaRPr lang="en-US" sz="1600" dirty="0"/>
          </a:p>
        </p:txBody>
      </p:sp>
    </p:spTree>
    <p:extLst>
      <p:ext uri="{BB962C8B-B14F-4D97-AF65-F5344CB8AC3E}">
        <p14:creationId xmlns:p14="http://schemas.microsoft.com/office/powerpoint/2010/main" val="2512938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650AE-6119-F7BA-9D34-5467BA52DF3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0AFCD35-403C-C8B6-8265-E55B2E2390B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b="1" dirty="0"/>
              <a:t>Express Response Object</a:t>
            </a:r>
          </a:p>
          <a:p>
            <a:pPr lvl="1">
              <a:buFont typeface="Arial" panose="020B0604020202020204" pitchFamily="34" charset="0"/>
              <a:buChar char="•"/>
            </a:pPr>
            <a:r>
              <a:rPr lang="en-IN" sz="1600" dirty="0"/>
              <a:t>The response object is used to construct and send a response. Note that if no response is sent, the client is left waiting.</a:t>
            </a:r>
          </a:p>
          <a:p>
            <a:pPr lvl="2" algn="just">
              <a:buFont typeface="Arial" panose="020B0604020202020204" pitchFamily="34" charset="0"/>
              <a:buChar char="•"/>
            </a:pPr>
            <a:r>
              <a:rPr lang="en-IN" sz="1600" b="1" dirty="0" err="1">
                <a:solidFill>
                  <a:srgbClr val="FF0000"/>
                </a:solidFill>
              </a:rPr>
              <a:t>res.send</a:t>
            </a:r>
            <a:r>
              <a:rPr lang="en-IN" sz="1600" b="1" dirty="0">
                <a:solidFill>
                  <a:srgbClr val="FF0000"/>
                </a:solidFill>
              </a:rPr>
              <a:t>(body): </a:t>
            </a:r>
            <a:r>
              <a:rPr lang="en-IN" sz="1600" dirty="0"/>
              <a:t>Used to send a response to the client. Objects and arrays are automatically converted to JSON. </a:t>
            </a:r>
          </a:p>
          <a:p>
            <a:pPr marL="384048" lvl="2" indent="0" algn="just">
              <a:buNone/>
            </a:pPr>
            <a:r>
              <a:rPr lang="en-IN" sz="1600" dirty="0"/>
              <a:t>	</a:t>
            </a:r>
            <a:r>
              <a:rPr lang="en-IN" sz="1600" dirty="0" err="1"/>
              <a:t>res.send</a:t>
            </a:r>
            <a:r>
              <a:rPr lang="en-IN" sz="1600" dirty="0"/>
              <a:t>('Hello World!’);</a:t>
            </a:r>
          </a:p>
          <a:p>
            <a:pPr lvl="2" algn="just">
              <a:buFont typeface="Arial" panose="020B0604020202020204" pitchFamily="34" charset="0"/>
              <a:buChar char="•"/>
            </a:pPr>
            <a:endParaRPr lang="en-IN" sz="1600" b="1" dirty="0">
              <a:solidFill>
                <a:srgbClr val="FF0000"/>
              </a:solidFill>
            </a:endParaRPr>
          </a:p>
          <a:p>
            <a:pPr lvl="2" algn="just">
              <a:buFont typeface="Arial" panose="020B0604020202020204" pitchFamily="34" charset="0"/>
              <a:buChar char="•"/>
            </a:pPr>
            <a:r>
              <a:rPr lang="en-IN" sz="1600" b="1" dirty="0" err="1">
                <a:solidFill>
                  <a:srgbClr val="FF0000"/>
                </a:solidFill>
              </a:rPr>
              <a:t>res.status</a:t>
            </a:r>
            <a:r>
              <a:rPr lang="en-IN" sz="1600" b="1" dirty="0">
                <a:solidFill>
                  <a:srgbClr val="FF0000"/>
                </a:solidFill>
              </a:rPr>
              <a:t>(code): </a:t>
            </a:r>
            <a:r>
              <a:rPr lang="en-IN" sz="1600" dirty="0"/>
              <a:t>This sets the response status code. If not set, it is defaulted to 200 OK. One common way of sending an error is by combining the status() and send() methods in a single call like </a:t>
            </a:r>
            <a:r>
              <a:rPr lang="en-IN" sz="1600" dirty="0" err="1"/>
              <a:t>res.status</a:t>
            </a:r>
            <a:r>
              <a:rPr lang="en-IN" sz="1600" dirty="0"/>
              <a:t>(403).send("Access Denied"). </a:t>
            </a:r>
          </a:p>
          <a:p>
            <a:pPr marL="566928" lvl="3" indent="0">
              <a:buNone/>
            </a:pPr>
            <a:r>
              <a:rPr lang="en-IN" dirty="0"/>
              <a:t>Example: </a:t>
            </a:r>
            <a:r>
              <a:rPr lang="en-IN" dirty="0" err="1"/>
              <a:t>res.status</a:t>
            </a:r>
            <a:r>
              <a:rPr lang="en-IN" dirty="0"/>
              <a:t>(403).send('Access Denied');</a:t>
            </a:r>
          </a:p>
          <a:p>
            <a:pPr lvl="2" algn="just">
              <a:buFont typeface="Arial" panose="020B0604020202020204" pitchFamily="34" charset="0"/>
              <a:buChar char="•"/>
            </a:pPr>
            <a:endParaRPr lang="en-IN" sz="1600" dirty="0"/>
          </a:p>
          <a:p>
            <a:pPr lvl="2" algn="just">
              <a:buFont typeface="Arial" panose="020B0604020202020204" pitchFamily="34" charset="0"/>
              <a:buChar char="•"/>
            </a:pPr>
            <a:r>
              <a:rPr lang="en-IN" sz="1600" b="1" dirty="0" err="1">
                <a:solidFill>
                  <a:srgbClr val="FF0000"/>
                </a:solidFill>
              </a:rPr>
              <a:t>res.json</a:t>
            </a:r>
            <a:r>
              <a:rPr lang="en-IN" sz="1600" b="1" dirty="0">
                <a:solidFill>
                  <a:srgbClr val="FF0000"/>
                </a:solidFill>
              </a:rPr>
              <a:t>(object): </a:t>
            </a:r>
            <a:r>
              <a:rPr lang="en-IN" sz="1600" dirty="0"/>
              <a:t>This is the same as </a:t>
            </a:r>
            <a:r>
              <a:rPr lang="en-IN" sz="1600" dirty="0" err="1"/>
              <a:t>res.send</a:t>
            </a:r>
            <a:r>
              <a:rPr lang="en-IN" sz="1600" dirty="0"/>
              <a:t>(), except that this method forces conversion of the parameter passed into a JSON, whereas </a:t>
            </a:r>
            <a:r>
              <a:rPr lang="en-IN" sz="1600" dirty="0" err="1"/>
              <a:t>res.send</a:t>
            </a:r>
            <a:r>
              <a:rPr lang="en-IN" sz="1600" dirty="0"/>
              <a:t>() may treat some parameters like null differently. It also makes the code readable and explicit, stating that you are indeed sending out a JSON. </a:t>
            </a:r>
          </a:p>
          <a:p>
            <a:pPr marL="566928" lvl="3" indent="0">
              <a:buNone/>
            </a:pPr>
            <a:r>
              <a:rPr lang="en-IN" dirty="0"/>
              <a:t>Example:</a:t>
            </a:r>
          </a:p>
          <a:p>
            <a:pPr marL="566928" lvl="3" indent="0">
              <a:buNone/>
            </a:pPr>
            <a:r>
              <a:rPr lang="en-IN" dirty="0" err="1"/>
              <a:t>res.json</a:t>
            </a:r>
            <a:r>
              <a:rPr lang="en-IN" dirty="0"/>
              <a:t>({</a:t>
            </a:r>
          </a:p>
          <a:p>
            <a:pPr marL="566928" lvl="3" indent="0">
              <a:buNone/>
            </a:pPr>
            <a:r>
              <a:rPr lang="en-IN" dirty="0"/>
              <a:t>  name: 'Roshan',</a:t>
            </a:r>
          </a:p>
          <a:p>
            <a:pPr marL="566928" lvl="3" indent="0">
              <a:buNone/>
            </a:pPr>
            <a:r>
              <a:rPr lang="en-IN" dirty="0"/>
              <a:t>  course: 'MCA'</a:t>
            </a:r>
          </a:p>
          <a:p>
            <a:pPr marL="566928" lvl="3" indent="0">
              <a:buNone/>
            </a:pPr>
            <a:r>
              <a:rPr lang="en-IN" dirty="0"/>
              <a:t>});</a:t>
            </a:r>
          </a:p>
          <a:p>
            <a:pPr lvl="2" algn="just">
              <a:buFont typeface="Arial" panose="020B0604020202020204" pitchFamily="34" charset="0"/>
              <a:buChar char="•"/>
            </a:pPr>
            <a:r>
              <a:rPr lang="en-IN" sz="1600" b="1" dirty="0" err="1">
                <a:solidFill>
                  <a:srgbClr val="FF0000"/>
                </a:solidFill>
              </a:rPr>
              <a:t>res.sendFile</a:t>
            </a:r>
            <a:r>
              <a:rPr lang="en-IN" sz="1600" b="1" dirty="0">
                <a:solidFill>
                  <a:srgbClr val="FF0000"/>
                </a:solidFill>
              </a:rPr>
              <a:t>(path): </a:t>
            </a:r>
            <a:r>
              <a:rPr lang="en-IN" sz="1600" dirty="0"/>
              <a:t>This responds with the contents of the file at path. The content type of the response is guessed using the extension of the file.</a:t>
            </a:r>
          </a:p>
          <a:p>
            <a:pPr marL="384048" lvl="2" indent="0" algn="just">
              <a:buNone/>
            </a:pPr>
            <a:r>
              <a:rPr lang="en-IN" sz="1600" dirty="0"/>
              <a:t>	Example : </a:t>
            </a:r>
            <a:r>
              <a:rPr lang="en-IN" sz="1600" dirty="0" err="1"/>
              <a:t>res.sendFile</a:t>
            </a:r>
            <a:r>
              <a:rPr lang="en-IN" sz="1600" dirty="0"/>
              <a:t>('/path/to/index.html');</a:t>
            </a:r>
            <a:endParaRPr lang="en-US" sz="1600" dirty="0"/>
          </a:p>
        </p:txBody>
      </p:sp>
    </p:spTree>
    <p:extLst>
      <p:ext uri="{BB962C8B-B14F-4D97-AF65-F5344CB8AC3E}">
        <p14:creationId xmlns:p14="http://schemas.microsoft.com/office/powerpoint/2010/main" val="2429619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E42FF-440C-A332-7873-5E7554D1D2D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843A487-D587-6AE3-ECA0-33385BB6F3C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Middleware</a:t>
            </a:r>
          </a:p>
          <a:p>
            <a:pPr lvl="1" algn="just">
              <a:buFont typeface="Arial" panose="020B0604020202020204" pitchFamily="34" charset="0"/>
              <a:buChar char="•"/>
            </a:pPr>
            <a:r>
              <a:rPr lang="en-IN" sz="1600" dirty="0"/>
              <a:t>Express is a web framework that has minimal functionality of its own. An Express application is essentially a series of middleware function calls. </a:t>
            </a:r>
          </a:p>
          <a:p>
            <a:pPr lvl="1" algn="just">
              <a:buFont typeface="Arial" panose="020B0604020202020204" pitchFamily="34" charset="0"/>
              <a:buChar char="•"/>
            </a:pPr>
            <a:r>
              <a:rPr lang="en-IN" sz="1600" dirty="0"/>
              <a:t>In fact, the Router itself is nothing but a middleware function. </a:t>
            </a:r>
          </a:p>
          <a:p>
            <a:pPr lvl="1" algn="just">
              <a:buFont typeface="Arial" panose="020B0604020202020204" pitchFamily="34" charset="0"/>
              <a:buChar char="•"/>
            </a:pPr>
            <a:r>
              <a:rPr lang="en-IN" sz="1600" dirty="0"/>
              <a:t>The distinction is that </a:t>
            </a:r>
            <a:r>
              <a:rPr lang="en-IN" sz="1600" dirty="0">
                <a:solidFill>
                  <a:srgbClr val="FF0000"/>
                </a:solidFill>
              </a:rPr>
              <a:t>middleware</a:t>
            </a:r>
            <a:r>
              <a:rPr lang="en-IN" sz="1600" dirty="0"/>
              <a:t> usually works on </a:t>
            </a:r>
            <a:r>
              <a:rPr lang="en-IN" sz="1600" dirty="0">
                <a:solidFill>
                  <a:srgbClr val="FF0000"/>
                </a:solidFill>
              </a:rPr>
              <a:t>generic handling of requests</a:t>
            </a:r>
            <a:r>
              <a:rPr lang="en-IN" sz="1600" dirty="0"/>
              <a:t> and/or things that need to be done for all or most requests, but not necessarily be the last in the chain, that sends out a response. </a:t>
            </a:r>
          </a:p>
          <a:p>
            <a:pPr lvl="1" algn="just">
              <a:buFont typeface="Arial" panose="020B0604020202020204" pitchFamily="34" charset="0"/>
              <a:buChar char="•"/>
            </a:pPr>
            <a:r>
              <a:rPr lang="en-IN" sz="1600" dirty="0"/>
              <a:t>A </a:t>
            </a:r>
            <a:r>
              <a:rPr lang="en-IN" sz="1600" dirty="0">
                <a:solidFill>
                  <a:srgbClr val="FF0000"/>
                </a:solidFill>
              </a:rPr>
              <a:t>route</a:t>
            </a:r>
            <a:r>
              <a:rPr lang="en-IN" sz="1600" dirty="0"/>
              <a:t>, on the other hand, is meant to be used for a </a:t>
            </a:r>
            <a:r>
              <a:rPr lang="en-IN" sz="1600" dirty="0">
                <a:solidFill>
                  <a:srgbClr val="FF0000"/>
                </a:solidFill>
              </a:rPr>
              <a:t>specific </a:t>
            </a:r>
            <a:r>
              <a:rPr lang="en-IN" sz="1600" dirty="0" err="1">
                <a:solidFill>
                  <a:srgbClr val="FF0000"/>
                </a:solidFill>
              </a:rPr>
              <a:t>path+method</a:t>
            </a:r>
            <a:r>
              <a:rPr lang="en-IN" sz="1600" dirty="0">
                <a:solidFill>
                  <a:srgbClr val="FF0000"/>
                </a:solidFill>
              </a:rPr>
              <a:t> </a:t>
            </a:r>
            <a:r>
              <a:rPr lang="en-IN" sz="1600" dirty="0"/>
              <a:t>combination and is expected to send out a response.</a:t>
            </a:r>
          </a:p>
          <a:p>
            <a:pPr lvl="1" algn="just">
              <a:buFont typeface="Arial" panose="020B0604020202020204" pitchFamily="34" charset="0"/>
              <a:buChar char="•"/>
            </a:pPr>
            <a:endParaRPr lang="en-IN" sz="1600" dirty="0"/>
          </a:p>
          <a:p>
            <a:pPr lvl="1" algn="just">
              <a:buFont typeface="Arial" panose="020B0604020202020204" pitchFamily="34" charset="0"/>
              <a:buChar char="•"/>
            </a:pPr>
            <a:r>
              <a:rPr lang="en-IN" sz="1600" dirty="0"/>
              <a:t>Middleware functions are those that have access to the request object (</a:t>
            </a:r>
            <a:r>
              <a:rPr lang="en-IN" sz="1600" dirty="0" err="1"/>
              <a:t>req</a:t>
            </a:r>
            <a:r>
              <a:rPr lang="en-IN" sz="1600" dirty="0"/>
              <a:t>), the response object (res), and the next middleware function in the application’s request-response cycle. </a:t>
            </a:r>
          </a:p>
          <a:p>
            <a:pPr lvl="1" algn="just">
              <a:buFont typeface="Arial" panose="020B0604020202020204" pitchFamily="34" charset="0"/>
              <a:buChar char="•"/>
            </a:pPr>
            <a:r>
              <a:rPr lang="en-IN" sz="1600" dirty="0"/>
              <a:t>The next middleware function is commonly denoted by a variable named next.</a:t>
            </a:r>
          </a:p>
          <a:p>
            <a:pPr lvl="1" algn="just">
              <a:buFont typeface="Arial" panose="020B0604020202020204" pitchFamily="34" charset="0"/>
              <a:buChar char="•"/>
            </a:pPr>
            <a:r>
              <a:rPr lang="en-IN" sz="1600" dirty="0"/>
              <a:t>We used one middleware called </a:t>
            </a:r>
            <a:r>
              <a:rPr lang="en-IN" sz="1600" dirty="0" err="1">
                <a:solidFill>
                  <a:srgbClr val="FF0000"/>
                </a:solidFill>
              </a:rPr>
              <a:t>express.static</a:t>
            </a:r>
            <a:r>
              <a:rPr lang="en-IN" sz="1600" dirty="0">
                <a:solidFill>
                  <a:srgbClr val="FF0000"/>
                </a:solidFill>
              </a:rPr>
              <a:t> </a:t>
            </a:r>
            <a:r>
              <a:rPr lang="en-IN" sz="1600" dirty="0"/>
              <a:t>in the Hello World example, to serve static files.</a:t>
            </a:r>
          </a:p>
          <a:p>
            <a:pPr lvl="1" algn="just">
              <a:buFont typeface="Arial" panose="020B0604020202020204" pitchFamily="34" charset="0"/>
              <a:buChar char="•"/>
            </a:pPr>
            <a:endParaRPr lang="en-IN" sz="1600" dirty="0"/>
          </a:p>
          <a:p>
            <a:pPr lvl="1" algn="just">
              <a:buFont typeface="Arial" panose="020B0604020202020204" pitchFamily="34" charset="0"/>
              <a:buChar char="•"/>
            </a:pPr>
            <a:r>
              <a:rPr lang="en-IN" sz="1600" dirty="0"/>
              <a:t>Middleware can be at the </a:t>
            </a:r>
            <a:r>
              <a:rPr lang="en-IN" sz="1600" dirty="0">
                <a:solidFill>
                  <a:srgbClr val="FF0000"/>
                </a:solidFill>
              </a:rPr>
              <a:t>application level</a:t>
            </a:r>
            <a:r>
              <a:rPr lang="en-IN" sz="1600" dirty="0"/>
              <a:t> (applies to all requests) or at a specific </a:t>
            </a:r>
            <a:r>
              <a:rPr lang="en-IN" sz="1600" dirty="0">
                <a:solidFill>
                  <a:srgbClr val="FF0000"/>
                </a:solidFill>
              </a:rPr>
              <a:t>path level </a:t>
            </a:r>
            <a:r>
              <a:rPr lang="en-IN" sz="1600" dirty="0"/>
              <a:t>(applies to specific request path patterns).</a:t>
            </a:r>
          </a:p>
          <a:p>
            <a:pPr lvl="1" algn="just">
              <a:buFont typeface="Arial" panose="020B0604020202020204" pitchFamily="34" charset="0"/>
              <a:buChar char="•"/>
            </a:pPr>
            <a:r>
              <a:rPr lang="en-IN" sz="1600" dirty="0"/>
              <a:t>The way to use a middleware at the application level is to simply supply the function to the application, like this:</a:t>
            </a:r>
          </a:p>
          <a:p>
            <a:pPr lvl="2" algn="just">
              <a:buFont typeface="Arial" panose="020B0604020202020204" pitchFamily="34" charset="0"/>
              <a:buChar char="•"/>
            </a:pPr>
            <a:r>
              <a:rPr lang="en-IN" sz="1400" dirty="0" err="1"/>
              <a:t>app.use</a:t>
            </a:r>
            <a:r>
              <a:rPr lang="en-IN" sz="1400" dirty="0"/>
              <a:t>(</a:t>
            </a:r>
            <a:r>
              <a:rPr lang="en-IN" sz="1400" dirty="0" err="1"/>
              <a:t>middlewareFunction</a:t>
            </a:r>
            <a:r>
              <a:rPr lang="en-IN" sz="1400" dirty="0"/>
              <a:t>);</a:t>
            </a:r>
          </a:p>
          <a:p>
            <a:pPr lvl="1" algn="just">
              <a:buFont typeface="Arial" panose="020B0604020202020204" pitchFamily="34" charset="0"/>
              <a:buChar char="•"/>
            </a:pPr>
            <a:r>
              <a:rPr lang="en-IN" sz="1600" dirty="0"/>
              <a:t>Middleware can also be applied only to a specific URL path.</a:t>
            </a:r>
          </a:p>
          <a:p>
            <a:pPr lvl="2" algn="just">
              <a:buFont typeface="Arial" panose="020B0604020202020204" pitchFamily="34" charset="0"/>
              <a:buChar char="•"/>
            </a:pPr>
            <a:r>
              <a:rPr lang="en-IN" sz="1400" dirty="0" err="1"/>
              <a:t>app.use</a:t>
            </a:r>
            <a:r>
              <a:rPr lang="en-IN" sz="1400" dirty="0"/>
              <a:t>('/public', </a:t>
            </a:r>
            <a:r>
              <a:rPr lang="en-IN" sz="1400" dirty="0" err="1"/>
              <a:t>express.static</a:t>
            </a:r>
            <a:r>
              <a:rPr lang="en-IN" sz="1400" dirty="0"/>
              <a:t>('public'));</a:t>
            </a:r>
            <a:endParaRPr lang="en-US" sz="1400" dirty="0"/>
          </a:p>
        </p:txBody>
      </p:sp>
    </p:spTree>
    <p:extLst>
      <p:ext uri="{BB962C8B-B14F-4D97-AF65-F5344CB8AC3E}">
        <p14:creationId xmlns:p14="http://schemas.microsoft.com/office/powerpoint/2010/main" val="2736611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21A5B-1529-CA67-D8A0-6616A3689C5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A7301E7-85E8-B724-7F4E-8D1D2331218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REST API</a:t>
            </a:r>
          </a:p>
          <a:p>
            <a:pPr lvl="1">
              <a:buFont typeface="Arial" panose="020B0604020202020204" pitchFamily="34" charset="0"/>
              <a:buChar char="•"/>
            </a:pPr>
            <a:r>
              <a:rPr lang="en-IN" sz="1600" dirty="0"/>
              <a:t>REST (</a:t>
            </a:r>
            <a:r>
              <a:rPr lang="en-IN" sz="1600" dirty="0">
                <a:solidFill>
                  <a:srgbClr val="FF0000"/>
                </a:solidFill>
              </a:rPr>
              <a:t>Re</a:t>
            </a:r>
            <a:r>
              <a:rPr lang="en-IN" sz="1600" dirty="0"/>
              <a:t>presentational </a:t>
            </a:r>
            <a:r>
              <a:rPr lang="en-IN" sz="1600" dirty="0">
                <a:solidFill>
                  <a:srgbClr val="FF0000"/>
                </a:solidFill>
              </a:rPr>
              <a:t>S</a:t>
            </a:r>
            <a:r>
              <a:rPr lang="en-IN" sz="1600" dirty="0"/>
              <a:t>tate </a:t>
            </a:r>
            <a:r>
              <a:rPr lang="en-IN" sz="1600" dirty="0">
                <a:solidFill>
                  <a:srgbClr val="FF0000"/>
                </a:solidFill>
              </a:rPr>
              <a:t>T</a:t>
            </a:r>
            <a:r>
              <a:rPr lang="en-IN" sz="1600" dirty="0"/>
              <a:t>ransfer) is an architectural pattern for application programming interfaces (APIs). </a:t>
            </a:r>
          </a:p>
          <a:p>
            <a:pPr lvl="1" algn="just">
              <a:buFont typeface="Arial" panose="020B0604020202020204" pitchFamily="34" charset="0"/>
              <a:buChar char="•"/>
            </a:pPr>
            <a:r>
              <a:rPr lang="en-IN" sz="1600" dirty="0"/>
              <a:t>There are other older patterns such as SOAP and XMLRPC, but of late, the REST pattern has gained popularity.</a:t>
            </a:r>
          </a:p>
          <a:p>
            <a:pPr lvl="1" algn="just">
              <a:buFont typeface="Arial" panose="020B0604020202020204" pitchFamily="34" charset="0"/>
              <a:buChar char="•"/>
            </a:pPr>
            <a:r>
              <a:rPr lang="en-IN" sz="1600" dirty="0"/>
              <a:t>Since the APIs in the Issue Tracker application are only for internal consumption, we could use any API pattern or even invent our own.</a:t>
            </a:r>
          </a:p>
          <a:p>
            <a:pPr lvl="1" algn="just">
              <a:buFont typeface="Arial" panose="020B0604020202020204" pitchFamily="34" charset="0"/>
              <a:buChar char="•"/>
            </a:pPr>
            <a:r>
              <a:rPr lang="en-IN" sz="1600" dirty="0"/>
              <a:t>REST pattern is one of the more popular choices due to its simplicity and small number of constructs.</a:t>
            </a:r>
          </a:p>
          <a:p>
            <a:pPr lvl="1" algn="just">
              <a:buFont typeface="Arial" panose="020B0604020202020204" pitchFamily="34" charset="0"/>
              <a:buChar char="•"/>
            </a:pPr>
            <a:endParaRPr lang="en-IN" sz="1600" dirty="0"/>
          </a:p>
          <a:p>
            <a:pPr lvl="1" algn="just">
              <a:buFont typeface="Arial" panose="020B0604020202020204" pitchFamily="34" charset="0"/>
              <a:buChar char="•"/>
            </a:pPr>
            <a:r>
              <a:rPr lang="en-IN" sz="2000" b="1" dirty="0"/>
              <a:t>Resource Based</a:t>
            </a:r>
          </a:p>
          <a:p>
            <a:pPr lvl="2" algn="just">
              <a:buFont typeface="Arial" panose="020B0604020202020204" pitchFamily="34" charset="0"/>
              <a:buChar char="•"/>
            </a:pPr>
            <a:r>
              <a:rPr lang="en-IN" sz="1600" dirty="0"/>
              <a:t>The APIs are resource-based (as opposed to action-based).</a:t>
            </a:r>
          </a:p>
          <a:p>
            <a:pPr lvl="2" algn="just">
              <a:buFont typeface="Arial" panose="020B0604020202020204" pitchFamily="34" charset="0"/>
              <a:buChar char="•"/>
            </a:pPr>
            <a:r>
              <a:rPr lang="en-IN" sz="1600" dirty="0"/>
              <a:t> There are no API names in the conventional sense, because APIs are formed by a combination of resources and actions.</a:t>
            </a:r>
          </a:p>
          <a:p>
            <a:pPr lvl="2" algn="just">
              <a:buFont typeface="Arial" panose="020B0604020202020204" pitchFamily="34" charset="0"/>
              <a:buChar char="•"/>
            </a:pPr>
            <a:r>
              <a:rPr lang="en-IN" sz="1600" dirty="0"/>
              <a:t>There are really only resource names called endpoints.</a:t>
            </a:r>
          </a:p>
          <a:p>
            <a:pPr lvl="2" algn="just">
              <a:buFont typeface="Arial" panose="020B0604020202020204" pitchFamily="34" charset="0"/>
              <a:buChar char="•"/>
            </a:pPr>
            <a:r>
              <a:rPr lang="en-IN" sz="1600" dirty="0"/>
              <a:t>Resources are accessed based on a Uniform Resource Identifier (URI), also known as an endpoint. </a:t>
            </a:r>
          </a:p>
          <a:p>
            <a:pPr lvl="2" algn="just">
              <a:buFont typeface="Arial" panose="020B0604020202020204" pitchFamily="34" charset="0"/>
              <a:buChar char="•"/>
            </a:pPr>
            <a:r>
              <a:rPr lang="en-IN" sz="1600" dirty="0"/>
              <a:t>You typically use two URIs per resource: one for the collection (like /customers) and one for an individual object (like /customers/1234), where 1234 uniquely identifies a customer.</a:t>
            </a:r>
          </a:p>
          <a:p>
            <a:pPr lvl="2" algn="just">
              <a:buFont typeface="Arial" panose="020B0604020202020204" pitchFamily="34" charset="0"/>
              <a:buChar char="•"/>
            </a:pPr>
            <a:endParaRPr lang="en-US" sz="1600" dirty="0"/>
          </a:p>
        </p:txBody>
      </p:sp>
    </p:spTree>
    <p:extLst>
      <p:ext uri="{BB962C8B-B14F-4D97-AF65-F5344CB8AC3E}">
        <p14:creationId xmlns:p14="http://schemas.microsoft.com/office/powerpoint/2010/main" val="531172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46D9E-93E8-BD5D-C7BC-9A2F61F7A0B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9585D8D8-B9A6-A067-84C1-46AF1990F3E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HTTP Methods as Actions</a:t>
            </a:r>
          </a:p>
          <a:p>
            <a:pPr lvl="1">
              <a:buFont typeface="Arial" panose="020B0604020202020204" pitchFamily="34" charset="0"/>
              <a:buChar char="•"/>
            </a:pPr>
            <a:r>
              <a:rPr lang="en-IN" sz="1600" dirty="0"/>
              <a:t>To access and manipulate resources, you use HTTP methods.</a:t>
            </a:r>
          </a:p>
          <a:p>
            <a:pPr lvl="1">
              <a:buFont typeface="Arial" panose="020B0604020202020204" pitchFamily="34" charset="0"/>
              <a:buChar char="•"/>
            </a:pPr>
            <a:r>
              <a:rPr lang="en-IN" sz="1600" dirty="0"/>
              <a:t>While resources were nouns, the HTTP methods are verbs that operate on them. They map to CRUD (Create, Read, Update, Delete) operations on the resource.</a:t>
            </a:r>
            <a:endParaRPr lang="en-US" sz="1600" dirty="0"/>
          </a:p>
        </p:txBody>
      </p:sp>
      <p:pic>
        <p:nvPicPr>
          <p:cNvPr id="3" name="Picture 2">
            <a:extLst>
              <a:ext uri="{FF2B5EF4-FFF2-40B4-BE49-F238E27FC236}">
                <a16:creationId xmlns:a16="http://schemas.microsoft.com/office/drawing/2014/main" id="{1E62110B-4C1A-39FB-B68C-03E146BB084E}"/>
              </a:ext>
            </a:extLst>
          </p:cNvPr>
          <p:cNvPicPr>
            <a:picLocks noChangeAspect="1"/>
          </p:cNvPicPr>
          <p:nvPr/>
        </p:nvPicPr>
        <p:blipFill>
          <a:blip r:embed="rId2"/>
          <a:stretch>
            <a:fillRect/>
          </a:stretch>
        </p:blipFill>
        <p:spPr>
          <a:xfrm>
            <a:off x="1819821" y="1692383"/>
            <a:ext cx="7948349" cy="3825572"/>
          </a:xfrm>
          <a:prstGeom prst="rect">
            <a:avLst/>
          </a:prstGeom>
        </p:spPr>
      </p:pic>
    </p:spTree>
    <p:extLst>
      <p:ext uri="{BB962C8B-B14F-4D97-AF65-F5344CB8AC3E}">
        <p14:creationId xmlns:p14="http://schemas.microsoft.com/office/powerpoint/2010/main" val="683619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53591-76A9-114B-3F2B-47F5EAB50C8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C61051C-6497-3CCB-E98B-1975686915E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Some other operations such as DELETE and PUT in the collection may also be used to delete and modify the entire collection in one shot, but this is not common usage. </a:t>
            </a:r>
          </a:p>
          <a:p>
            <a:pPr>
              <a:buFont typeface="Arial" panose="020B0604020202020204" pitchFamily="34" charset="0"/>
              <a:buChar char="•"/>
            </a:pPr>
            <a:r>
              <a:rPr lang="en-IN" sz="1800" dirty="0"/>
              <a:t>HEAD and OPTIONS are also valid verbs that give out information about the resources rather than actual data. They are used mainly for APIs that are externally exposed and consumed by many different clients.</a:t>
            </a:r>
          </a:p>
          <a:p>
            <a:pPr>
              <a:buFont typeface="Arial" panose="020B0604020202020204" pitchFamily="34" charset="0"/>
              <a:buChar char="•"/>
            </a:pPr>
            <a:r>
              <a:rPr lang="en-IN" sz="1800" dirty="0"/>
              <a:t>HTTP method and operation mapping are well mapped and specified, REST by itself lays down no rules for the following:</a:t>
            </a:r>
          </a:p>
          <a:p>
            <a:pPr lvl="1">
              <a:buFont typeface="Arial" panose="020B0604020202020204" pitchFamily="34" charset="0"/>
              <a:buChar char="•"/>
            </a:pPr>
            <a:r>
              <a:rPr lang="en-IN" sz="1600" dirty="0"/>
              <a:t>• Filtering, sorting, and paginating a list of objects. The query string is commonly used in an implementation-specific way to specify these. </a:t>
            </a:r>
          </a:p>
          <a:p>
            <a:pPr lvl="1">
              <a:buFont typeface="Arial" panose="020B0604020202020204" pitchFamily="34" charset="0"/>
              <a:buChar char="•"/>
            </a:pPr>
            <a:r>
              <a:rPr lang="en-IN" sz="1600" dirty="0"/>
              <a:t>• Specifying which fields to return in a READ operation. </a:t>
            </a:r>
          </a:p>
          <a:p>
            <a:pPr lvl="1">
              <a:buFont typeface="Arial" panose="020B0604020202020204" pitchFamily="34" charset="0"/>
              <a:buChar char="•"/>
            </a:pPr>
            <a:r>
              <a:rPr lang="en-IN" sz="1600" dirty="0"/>
              <a:t>• If there are embedded objects, specifying which of those to expand in a READ operation. </a:t>
            </a:r>
          </a:p>
          <a:p>
            <a:pPr lvl="1">
              <a:buFont typeface="Arial" panose="020B0604020202020204" pitchFamily="34" charset="0"/>
              <a:buChar char="•"/>
            </a:pPr>
            <a:r>
              <a:rPr lang="en-IN" sz="1600" dirty="0"/>
              <a:t>• Specifying which fields to modify in a PATCH operation. </a:t>
            </a:r>
          </a:p>
          <a:p>
            <a:pPr lvl="1">
              <a:buFont typeface="Arial" panose="020B0604020202020204" pitchFamily="34" charset="0"/>
              <a:buChar char="•"/>
            </a:pPr>
            <a:r>
              <a:rPr lang="en-IN" sz="1600" dirty="0"/>
              <a:t>• Representation of objects. You are free to use JSON, XML, or any other representation for the objects in both READ and WRITE operations.</a:t>
            </a:r>
          </a:p>
          <a:p>
            <a:pPr>
              <a:buFont typeface="Arial" panose="020B0604020202020204" pitchFamily="34" charset="0"/>
              <a:buChar char="•"/>
            </a:pPr>
            <a:endParaRPr lang="en-IN" sz="1800" dirty="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880174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96DF5-A713-A529-6A7A-424EA527C87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9D1F1D09-10E5-01E5-F8D5-FB6C22701D3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err="1"/>
              <a:t>GraphQL</a:t>
            </a:r>
            <a:endParaRPr lang="en-US" sz="2000" dirty="0"/>
          </a:p>
          <a:p>
            <a:pPr lvl="1">
              <a:buFont typeface="Arial" panose="020B0604020202020204" pitchFamily="34" charset="0"/>
              <a:buChar char="•"/>
            </a:pPr>
            <a:r>
              <a:rPr lang="en-IN" sz="1600" dirty="0"/>
              <a:t>Although the REST paradigm is quite useful in making APIs predictable, the shortcomings discussed previously have made it hard to use it when different clients access the same set of APIs. </a:t>
            </a:r>
          </a:p>
          <a:p>
            <a:pPr lvl="1">
              <a:buFont typeface="Arial" panose="020B0604020202020204" pitchFamily="34" charset="0"/>
              <a:buChar char="•"/>
            </a:pPr>
            <a:r>
              <a:rPr lang="en-IN" sz="1600" dirty="0"/>
              <a:t>For example, how an object is displayed in a mobile application and the same is displayed in a desktop browser can be quite different</a:t>
            </a:r>
          </a:p>
        </p:txBody>
      </p:sp>
    </p:spTree>
    <p:extLst>
      <p:ext uri="{BB962C8B-B14F-4D97-AF65-F5344CB8AC3E}">
        <p14:creationId xmlns:p14="http://schemas.microsoft.com/office/powerpoint/2010/main" val="929487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66DF2-2994-52AF-7183-E89511CFF7D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39D8402-B205-9FF4-A4A5-D12F0F74227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2000" dirty="0" err="1"/>
              <a:t>GraphQL</a:t>
            </a:r>
            <a:r>
              <a:rPr lang="en-IN" sz="2000" dirty="0"/>
              <a:t> is a far more elaborate specification, with the following salient features.</a:t>
            </a:r>
          </a:p>
          <a:p>
            <a:pPr lvl="1"/>
            <a:r>
              <a:rPr lang="en-IN" sz="1800" dirty="0"/>
              <a:t>Field Specification</a:t>
            </a:r>
          </a:p>
          <a:p>
            <a:pPr lvl="2" algn="just"/>
            <a:r>
              <a:rPr lang="en-IN" sz="1600" dirty="0"/>
              <a:t>Unlike REST APIs, where you have little control on what the server returns as part of an object, in </a:t>
            </a:r>
            <a:r>
              <a:rPr lang="en-IN" sz="1600" dirty="0" err="1"/>
              <a:t>GraphQL</a:t>
            </a:r>
            <a:r>
              <a:rPr lang="en-IN" sz="1600" dirty="0"/>
              <a:t>, the properties of an object that need to be returned must be specified. </a:t>
            </a:r>
          </a:p>
          <a:p>
            <a:pPr lvl="2" algn="just"/>
            <a:r>
              <a:rPr lang="en-IN" sz="1600" dirty="0"/>
              <a:t>Specifying no fields of an object would, in a REST API, return the entire object. In contrast, in a </a:t>
            </a:r>
            <a:r>
              <a:rPr lang="en-IN" sz="1600" dirty="0" err="1"/>
              <a:t>GraphQL</a:t>
            </a:r>
            <a:r>
              <a:rPr lang="en-IN" sz="1600" dirty="0"/>
              <a:t> query, it is invalid to request nothing.</a:t>
            </a:r>
          </a:p>
          <a:p>
            <a:pPr lvl="2" algn="just"/>
            <a:r>
              <a:rPr lang="en-IN" sz="1600" dirty="0"/>
              <a:t>This lets the client control the amount of data that is transferred over the network, making it more efficient, especially for lighter front-ends such as mobile applications. </a:t>
            </a:r>
          </a:p>
          <a:p>
            <a:pPr lvl="1" algn="just"/>
            <a:r>
              <a:rPr lang="en-IN" sz="2000" dirty="0"/>
              <a:t>Graph Based</a:t>
            </a:r>
          </a:p>
          <a:p>
            <a:pPr lvl="2" algn="just"/>
            <a:r>
              <a:rPr lang="en-IN" sz="1600" dirty="0"/>
              <a:t>REST APIs were resource based, whereas </a:t>
            </a:r>
            <a:r>
              <a:rPr lang="en-IN" sz="1600" dirty="0" err="1"/>
              <a:t>GraphQL</a:t>
            </a:r>
            <a:r>
              <a:rPr lang="en-IN" sz="1600" dirty="0"/>
              <a:t> is graph based. This means that relationships between objects are naturally handled in </a:t>
            </a:r>
            <a:r>
              <a:rPr lang="en-IN" sz="1600" dirty="0" err="1"/>
              <a:t>GraphQL</a:t>
            </a:r>
            <a:r>
              <a:rPr lang="en-IN" sz="1600" dirty="0"/>
              <a:t> APIs.</a:t>
            </a:r>
          </a:p>
          <a:p>
            <a:pPr lvl="1" algn="just"/>
            <a:r>
              <a:rPr lang="en-IN" sz="2000" dirty="0"/>
              <a:t>Single Endpoint</a:t>
            </a:r>
          </a:p>
          <a:p>
            <a:pPr lvl="2" algn="just"/>
            <a:r>
              <a:rPr lang="en-IN" sz="1600" dirty="0" err="1"/>
              <a:t>GraphQL</a:t>
            </a:r>
            <a:r>
              <a:rPr lang="en-IN" sz="1600" dirty="0"/>
              <a:t> API servers have a single endpoint in contrast to one endpoint per resource in REST. </a:t>
            </a:r>
          </a:p>
          <a:p>
            <a:pPr lvl="2" algn="just"/>
            <a:r>
              <a:rPr lang="en-IN" sz="1600" dirty="0"/>
              <a:t>The name of the resource(s) or field(s) being accessed is supplied as part of the query itself. </a:t>
            </a:r>
          </a:p>
          <a:p>
            <a:pPr lvl="2" algn="just"/>
            <a:r>
              <a:rPr lang="en-IN" sz="1600" dirty="0"/>
              <a:t>This makes it possible to use a single query for all the data that is required by a client. </a:t>
            </a:r>
          </a:p>
          <a:p>
            <a:pPr lvl="2" algn="just"/>
            <a:r>
              <a:rPr lang="en-IN" sz="1600" dirty="0"/>
              <a:t>Due to the graph-based nature of the query, all related objects can be retrieved as part of a query for one object. </a:t>
            </a:r>
          </a:p>
          <a:p>
            <a:pPr lvl="2" algn="just"/>
            <a:r>
              <a:rPr lang="en-IN" sz="1600" dirty="0"/>
              <a:t>Not only that, even unrelated objects can be queried in a single call to the API server.</a:t>
            </a:r>
          </a:p>
          <a:p>
            <a:pPr lvl="1"/>
            <a:endParaRPr lang="en-IN" sz="1800" dirty="0"/>
          </a:p>
          <a:p>
            <a:pPr lvl="1"/>
            <a:endParaRPr lang="en-IN" sz="1800" dirty="0"/>
          </a:p>
          <a:p>
            <a:pPr lvl="1"/>
            <a:endParaRPr lang="en-IN" sz="1800" dirty="0"/>
          </a:p>
          <a:p>
            <a:pPr lvl="1"/>
            <a:endParaRPr lang="en-IN" sz="1800" dirty="0"/>
          </a:p>
          <a:p>
            <a:pPr lvl="1"/>
            <a:endParaRPr lang="en-IN" sz="1800" dirty="0"/>
          </a:p>
          <a:p>
            <a:pPr lvl="1"/>
            <a:endParaRPr lang="en-IN" sz="1800" dirty="0"/>
          </a:p>
          <a:p>
            <a:pPr lvl="1"/>
            <a:endParaRPr lang="en-US" sz="1800" dirty="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4009458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7F9E3-FA34-6B22-05B5-2838A380098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FA757E2-6D79-1668-3D34-5F1F1FBA5BA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Strongly Typed</a:t>
            </a:r>
          </a:p>
          <a:p>
            <a:pPr lvl="1">
              <a:buFont typeface="Arial" panose="020B0604020202020204" pitchFamily="34" charset="0"/>
              <a:buChar char="•"/>
            </a:pPr>
            <a:r>
              <a:rPr lang="en-IN" sz="1600" dirty="0" err="1"/>
              <a:t>GraphQL</a:t>
            </a:r>
            <a:r>
              <a:rPr lang="en-IN" sz="1600" dirty="0"/>
              <a:t> is a strongly typed query language. </a:t>
            </a:r>
          </a:p>
          <a:p>
            <a:pPr lvl="1">
              <a:buFont typeface="Arial" panose="020B0604020202020204" pitchFamily="34" charset="0"/>
              <a:buChar char="•"/>
            </a:pPr>
            <a:r>
              <a:rPr lang="en-IN" sz="1600" dirty="0"/>
              <a:t>All fields and arguments have a type against which both queries and results can be validated and give descriptive error messages. </a:t>
            </a:r>
          </a:p>
          <a:p>
            <a:pPr lvl="1">
              <a:buFont typeface="Arial" panose="020B0604020202020204" pitchFamily="34" charset="0"/>
              <a:buChar char="•"/>
            </a:pPr>
            <a:r>
              <a:rPr lang="en-IN" sz="1600" dirty="0"/>
              <a:t>In addition to types, it is also possible to specify which fields and arguments are required and which others are optional. All this is done using the </a:t>
            </a:r>
            <a:r>
              <a:rPr lang="en-IN" sz="1600" dirty="0" err="1"/>
              <a:t>GraphQL</a:t>
            </a:r>
            <a:r>
              <a:rPr lang="en-IN" sz="1600" dirty="0"/>
              <a:t> schema language.</a:t>
            </a:r>
          </a:p>
          <a:p>
            <a:pPr lvl="1">
              <a:buFont typeface="Arial" panose="020B0604020202020204" pitchFamily="34" charset="0"/>
              <a:buChar char="•"/>
            </a:pPr>
            <a:r>
              <a:rPr lang="en-IN" sz="1600" dirty="0"/>
              <a:t>The advantage of a strongly typed system is that it prevents errors.</a:t>
            </a:r>
          </a:p>
          <a:p>
            <a:pPr>
              <a:buFont typeface="Arial" panose="020B0604020202020204" pitchFamily="34" charset="0"/>
              <a:buChar char="•"/>
            </a:pPr>
            <a:r>
              <a:rPr lang="en-IN" sz="1800" dirty="0"/>
              <a:t>Introspection</a:t>
            </a:r>
          </a:p>
          <a:p>
            <a:pPr lvl="1">
              <a:buFont typeface="Arial" panose="020B0604020202020204" pitchFamily="34" charset="0"/>
              <a:buChar char="•"/>
            </a:pPr>
            <a:r>
              <a:rPr lang="en-IN" sz="1600" dirty="0"/>
              <a:t>A </a:t>
            </a:r>
            <a:r>
              <a:rPr lang="en-IN" sz="1600" dirty="0" err="1"/>
              <a:t>GraphQL</a:t>
            </a:r>
            <a:r>
              <a:rPr lang="en-IN" sz="1600" dirty="0"/>
              <a:t> server can be queried for the types it supports. </a:t>
            </a:r>
          </a:p>
          <a:p>
            <a:pPr lvl="1">
              <a:buFont typeface="Arial" panose="020B0604020202020204" pitchFamily="34" charset="0"/>
              <a:buChar char="•"/>
            </a:pPr>
            <a:r>
              <a:rPr lang="en-IN" sz="1600" dirty="0"/>
              <a:t>This creates a powerful platform for tools and client software to build atop this information. </a:t>
            </a:r>
          </a:p>
          <a:p>
            <a:pPr lvl="1">
              <a:buFont typeface="Arial" panose="020B0604020202020204" pitchFamily="34" charset="0"/>
              <a:buChar char="•"/>
            </a:pPr>
            <a:r>
              <a:rPr lang="en-IN" sz="1600" dirty="0"/>
              <a:t>This includes code-generation utilities in statically typed languages and explorers that let developers test and learn an API set quickly, without grepping the codebase or wrangling with </a:t>
            </a:r>
            <a:r>
              <a:rPr lang="en-IN" sz="1600" dirty="0" err="1"/>
              <a:t>cURL</a:t>
            </a:r>
            <a:r>
              <a:rPr lang="en-IN" sz="1600" dirty="0"/>
              <a:t>.</a:t>
            </a:r>
          </a:p>
          <a:p>
            <a:pPr>
              <a:buFont typeface="Arial" panose="020B0604020202020204" pitchFamily="34" charset="0"/>
              <a:buChar char="•"/>
            </a:pPr>
            <a:r>
              <a:rPr lang="en-IN" sz="1800" dirty="0"/>
              <a:t>Libraries </a:t>
            </a:r>
          </a:p>
          <a:p>
            <a:pPr lvl="1">
              <a:buFont typeface="Arial" panose="020B0604020202020204" pitchFamily="34" charset="0"/>
              <a:buChar char="•"/>
            </a:pPr>
            <a:r>
              <a:rPr lang="en-IN" sz="1600" dirty="0"/>
              <a:t>Parsing and dealing with the type system language (also called the </a:t>
            </a:r>
            <a:r>
              <a:rPr lang="en-IN" sz="1600" dirty="0" err="1"/>
              <a:t>GraphQL</a:t>
            </a:r>
            <a:r>
              <a:rPr lang="en-IN" sz="1600" dirty="0"/>
              <a:t> Schema Language) as well as the query language is hard to do on your own. </a:t>
            </a:r>
          </a:p>
          <a:p>
            <a:pPr lvl="1">
              <a:buFont typeface="Arial" panose="020B0604020202020204" pitchFamily="34" charset="0"/>
              <a:buChar char="•"/>
            </a:pPr>
            <a:r>
              <a:rPr lang="en-IN" sz="1600" dirty="0"/>
              <a:t>Fortunately, there are tools and libraries available in most languages for this purpose. </a:t>
            </a:r>
          </a:p>
          <a:p>
            <a:pPr lvl="1">
              <a:buFont typeface="Arial" panose="020B0604020202020204" pitchFamily="34" charset="0"/>
              <a:buChar char="•"/>
            </a:pPr>
            <a:r>
              <a:rPr lang="en-IN" sz="1600" dirty="0"/>
              <a:t>For JavaScript on the back-end, there is a reference implementation of </a:t>
            </a:r>
            <a:r>
              <a:rPr lang="en-IN" sz="1600" dirty="0" err="1"/>
              <a:t>GraphQL</a:t>
            </a:r>
            <a:r>
              <a:rPr lang="en-IN" sz="1600" dirty="0"/>
              <a:t> called GraphQL.js. </a:t>
            </a:r>
          </a:p>
          <a:p>
            <a:pPr lvl="1">
              <a:buFont typeface="Arial" panose="020B0604020202020204" pitchFamily="34" charset="0"/>
              <a:buChar char="•"/>
            </a:pPr>
            <a:r>
              <a:rPr lang="en-IN" sz="1600" dirty="0"/>
              <a:t>To tie this to Express and enable HTTP requests to be the transport mechanism for the API calls, there is a package called express-</a:t>
            </a:r>
            <a:r>
              <a:rPr lang="en-IN" sz="1600" dirty="0" err="1"/>
              <a:t>graphql</a:t>
            </a:r>
            <a:r>
              <a:rPr lang="en-IN" sz="1600" dirty="0"/>
              <a:t>.</a:t>
            </a:r>
          </a:p>
          <a:p>
            <a:pPr lvl="1">
              <a:buFont typeface="Arial" panose="020B0604020202020204" pitchFamily="34" charset="0"/>
              <a:buChar char="•"/>
            </a:pPr>
            <a:endParaRPr lang="en-IN" sz="1600" dirty="0"/>
          </a:p>
          <a:p>
            <a:pPr lvl="1">
              <a:buFont typeface="Arial" panose="020B0604020202020204" pitchFamily="34" charset="0"/>
              <a:buChar char="•"/>
            </a:pPr>
            <a:endParaRPr lang="en-IN" sz="1600" dirty="0"/>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4011292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CB724-96E9-8F17-593D-254BCF576F1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4561BB1-B959-1AAD-1EBD-5BDC0AA22E3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000" dirty="0"/>
              <a:t>REST API and </a:t>
            </a:r>
            <a:r>
              <a:rPr lang="en-IN" sz="2000" dirty="0" err="1"/>
              <a:t>GraphQL</a:t>
            </a:r>
            <a:endParaRPr lang="en-IN" sz="2000" dirty="0"/>
          </a:p>
          <a:p>
            <a:r>
              <a:rPr lang="en-IN" dirty="0"/>
              <a:t>REST API and </a:t>
            </a:r>
            <a:r>
              <a:rPr lang="en-IN" dirty="0" err="1"/>
              <a:t>GraphQL</a:t>
            </a:r>
            <a:r>
              <a:rPr lang="en-IN" dirty="0"/>
              <a:t> are two approaches used by client applications to communicate with a server and exchange data.</a:t>
            </a:r>
          </a:p>
          <a:p>
            <a:pPr lvl="1"/>
            <a:r>
              <a:rPr lang="en-IN" dirty="0"/>
              <a:t>REST API: Uses multiple endpoints to access different resources.</a:t>
            </a:r>
          </a:p>
          <a:p>
            <a:pPr lvl="1"/>
            <a:r>
              <a:rPr lang="en-IN" dirty="0" err="1"/>
              <a:t>GraphQL</a:t>
            </a:r>
            <a:r>
              <a:rPr lang="en-IN" dirty="0"/>
              <a:t>: Uses a query language that allows the client to request specific data, commonly through a single endpoint.</a:t>
            </a:r>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3717469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D7E4B-B356-D252-3AA0-B988C08B707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0AED644-8D45-F202-19D0-0B33C5488C0B}"/>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pic>
        <p:nvPicPr>
          <p:cNvPr id="17" name="Picture 16">
            <a:extLst>
              <a:ext uri="{FF2B5EF4-FFF2-40B4-BE49-F238E27FC236}">
                <a16:creationId xmlns:a16="http://schemas.microsoft.com/office/drawing/2014/main" id="{D7FCF680-C2EE-7384-DDFA-435509D25DC5}"/>
              </a:ext>
            </a:extLst>
          </p:cNvPr>
          <p:cNvPicPr>
            <a:picLocks noChangeAspect="1"/>
          </p:cNvPicPr>
          <p:nvPr/>
        </p:nvPicPr>
        <p:blipFill>
          <a:blip r:embed="rId2"/>
          <a:stretch>
            <a:fillRect/>
          </a:stretch>
        </p:blipFill>
        <p:spPr>
          <a:xfrm>
            <a:off x="388690" y="343948"/>
            <a:ext cx="10423854" cy="5819985"/>
          </a:xfrm>
          <a:prstGeom prst="rect">
            <a:avLst/>
          </a:prstGeom>
        </p:spPr>
      </p:pic>
    </p:spTree>
    <p:extLst>
      <p:ext uri="{BB962C8B-B14F-4D97-AF65-F5344CB8AC3E}">
        <p14:creationId xmlns:p14="http://schemas.microsoft.com/office/powerpoint/2010/main" val="3029370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E6C06-E314-BCE7-6C24-53E2264B908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B15B9C7-4ADC-EFD3-80B8-64B46AF3D1E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2000" b="1" dirty="0"/>
              <a:t>The List API</a:t>
            </a:r>
          </a:p>
          <a:p>
            <a:pPr lvl="1"/>
            <a:r>
              <a:rPr lang="en-IN" sz="1800" b="1" dirty="0" err="1"/>
              <a:t>GraphQL</a:t>
            </a:r>
            <a:r>
              <a:rPr lang="en-IN" sz="1800" b="1" dirty="0"/>
              <a:t> Issue Tracker</a:t>
            </a:r>
          </a:p>
          <a:p>
            <a:pPr lvl="2"/>
            <a:r>
              <a:rPr lang="en-IN" sz="1800" dirty="0"/>
              <a:t>Implement an API to fetch a list of issues.</a:t>
            </a:r>
          </a:p>
          <a:p>
            <a:pPr lvl="2"/>
            <a:r>
              <a:rPr lang="en-IN" sz="1800" dirty="0"/>
              <a:t>Define the </a:t>
            </a:r>
            <a:r>
              <a:rPr lang="en-IN" sz="1800" dirty="0" err="1"/>
              <a:t>GraphQL</a:t>
            </a:r>
            <a:r>
              <a:rPr lang="en-IN" sz="1800" dirty="0"/>
              <a:t> Issue type.</a:t>
            </a:r>
          </a:p>
          <a:p>
            <a:pPr lvl="2"/>
            <a:r>
              <a:rPr lang="en-IN" sz="1800" dirty="0"/>
              <a:t>Add an </a:t>
            </a:r>
            <a:r>
              <a:rPr lang="en-IN" sz="1800" dirty="0" err="1"/>
              <a:t>issueList</a:t>
            </a:r>
            <a:r>
              <a:rPr lang="en-IN" sz="1800" dirty="0"/>
              <a:t> field to the Query.</a:t>
            </a:r>
          </a:p>
          <a:p>
            <a:pPr lvl="2"/>
            <a:r>
              <a:rPr lang="en-IN" sz="1800" dirty="0"/>
              <a:t>Create a resolver for </a:t>
            </a:r>
            <a:r>
              <a:rPr lang="en-IN" sz="1800" dirty="0" err="1"/>
              <a:t>issueList</a:t>
            </a:r>
            <a:r>
              <a:rPr lang="en-IN" sz="1800" dirty="0"/>
              <a:t>.</a:t>
            </a:r>
          </a:p>
          <a:p>
            <a:pPr lvl="2"/>
            <a:r>
              <a:rPr lang="en-IN" sz="1800" dirty="0"/>
              <a:t>Test the API using </a:t>
            </a:r>
            <a:r>
              <a:rPr lang="en-IN" sz="1800" dirty="0" err="1"/>
              <a:t>GraphQL</a:t>
            </a:r>
            <a:r>
              <a:rPr lang="en-IN" sz="1800" dirty="0"/>
              <a:t> Playground.</a:t>
            </a:r>
          </a:p>
          <a:p>
            <a:pPr lvl="1"/>
            <a:endParaRPr lang="en-IN" sz="1800" b="1" dirty="0"/>
          </a:p>
          <a:p>
            <a:pPr lvl="1"/>
            <a:r>
              <a:rPr lang="en-IN" sz="1800" b="1" dirty="0"/>
              <a:t>Objective of the List API</a:t>
            </a:r>
          </a:p>
          <a:p>
            <a:pPr lvl="2"/>
            <a:r>
              <a:rPr lang="en-IN" sz="1800" dirty="0"/>
              <a:t>The next step in the Issue Tracker application is to implement an API for fetching issues.</a:t>
            </a:r>
          </a:p>
          <a:p>
            <a:pPr lvl="2"/>
            <a:r>
              <a:rPr lang="en-IN" sz="1800" dirty="0"/>
              <a:t>The API will return a </a:t>
            </a:r>
            <a:r>
              <a:rPr lang="en-IN" sz="1800" b="1" dirty="0"/>
              <a:t>list of issues</a:t>
            </a:r>
            <a:r>
              <a:rPr lang="en-IN" sz="1800" dirty="0"/>
              <a:t>.</a:t>
            </a:r>
          </a:p>
          <a:p>
            <a:pPr lvl="2"/>
            <a:r>
              <a:rPr lang="en-IN" sz="1800" dirty="0"/>
              <a:t>The API will first be tested using </a:t>
            </a:r>
            <a:r>
              <a:rPr lang="en-IN" sz="1800" b="1" dirty="0" err="1"/>
              <a:t>GraphQL</a:t>
            </a:r>
            <a:r>
              <a:rPr lang="en-IN" sz="1800" b="1" dirty="0"/>
              <a:t> Playground</a:t>
            </a:r>
            <a:r>
              <a:rPr lang="en-IN" sz="1800" dirty="0"/>
              <a:t>.</a:t>
            </a:r>
          </a:p>
          <a:p>
            <a:pPr lvl="2"/>
            <a:r>
              <a:rPr lang="en-IN" sz="1800" dirty="0"/>
              <a:t>Later, the front-end will be modified to use this API.</a:t>
            </a:r>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36590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4F313-359D-AB24-214D-1EE3CB09D6A8}"/>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04EE946-7B2A-A87E-F013-D044306A7DE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The next thing we’ll do is implement an API to fetch a list of issues. </a:t>
            </a:r>
          </a:p>
          <a:p>
            <a:pPr>
              <a:buFont typeface="Arial" panose="020B0604020202020204" pitchFamily="34" charset="0"/>
              <a:buChar char="•"/>
            </a:pPr>
            <a:r>
              <a:rPr lang="en-IN" sz="1800" dirty="0"/>
              <a:t>Let’s start by modifying the schema to define a custom type called Issue. It should contain all the fields of the issue object</a:t>
            </a:r>
          </a:p>
          <a:p>
            <a:pPr>
              <a:buFont typeface="Arial" panose="020B0604020202020204" pitchFamily="34" charset="0"/>
              <a:buChar char="•"/>
            </a:pPr>
            <a:r>
              <a:rPr lang="en-IN" sz="1800" dirty="0"/>
              <a:t>But since there is no scalar type to denote a date in </a:t>
            </a:r>
            <a:r>
              <a:rPr lang="en-IN" sz="1800" dirty="0" err="1"/>
              <a:t>GraphQL</a:t>
            </a:r>
            <a:r>
              <a:rPr lang="en-IN" sz="1800" dirty="0"/>
              <a:t>, let’s use a string type for the time being.</a:t>
            </a:r>
          </a:p>
          <a:p>
            <a:pPr>
              <a:buFont typeface="Arial" panose="020B0604020202020204" pitchFamily="34" charset="0"/>
              <a:buChar char="•"/>
            </a:pPr>
            <a:r>
              <a:rPr lang="en-IN" sz="1800" dirty="0"/>
              <a:t>So, the type will have integers and strings, some of which are optional. Here’s the partial schema code for the new type:</a:t>
            </a:r>
          </a:p>
          <a:p>
            <a:pPr marL="384048" lvl="2" indent="0">
              <a:spcBef>
                <a:spcPts val="0"/>
              </a:spcBef>
              <a:spcAft>
                <a:spcPts val="0"/>
              </a:spcAft>
              <a:buNone/>
            </a:pPr>
            <a:r>
              <a:rPr lang="en-US" sz="1600" dirty="0"/>
              <a:t>...</a:t>
            </a:r>
          </a:p>
          <a:p>
            <a:pPr marL="384048" lvl="2" indent="0">
              <a:spcBef>
                <a:spcPts val="0"/>
              </a:spcBef>
              <a:spcAft>
                <a:spcPts val="0"/>
              </a:spcAft>
              <a:buNone/>
            </a:pPr>
            <a:r>
              <a:rPr lang="en-US" sz="1600" dirty="0"/>
              <a:t>type Issue {</a:t>
            </a:r>
          </a:p>
          <a:p>
            <a:pPr marL="384048" lvl="2" indent="0">
              <a:spcBef>
                <a:spcPts val="0"/>
              </a:spcBef>
              <a:spcAft>
                <a:spcPts val="0"/>
              </a:spcAft>
              <a:buNone/>
            </a:pPr>
            <a:r>
              <a:rPr lang="en-US" sz="1600" dirty="0"/>
              <a:t>id: Int!</a:t>
            </a:r>
          </a:p>
          <a:p>
            <a:pPr marL="384048" lvl="2" indent="0">
              <a:spcBef>
                <a:spcPts val="0"/>
              </a:spcBef>
              <a:spcAft>
                <a:spcPts val="0"/>
              </a:spcAft>
              <a:buNone/>
            </a:pPr>
            <a:r>
              <a:rPr lang="en-US" sz="1600" dirty="0"/>
              <a:t>...</a:t>
            </a:r>
          </a:p>
          <a:p>
            <a:pPr marL="384048" lvl="2" indent="0">
              <a:spcBef>
                <a:spcPts val="0"/>
              </a:spcBef>
              <a:spcAft>
                <a:spcPts val="0"/>
              </a:spcAft>
              <a:buNone/>
            </a:pPr>
            <a:r>
              <a:rPr lang="en-US" sz="1600" dirty="0"/>
              <a:t>due: String</a:t>
            </a:r>
          </a:p>
          <a:p>
            <a:pPr marL="384048" lvl="2" indent="0">
              <a:spcBef>
                <a:spcPts val="0"/>
              </a:spcBef>
              <a:spcAft>
                <a:spcPts val="0"/>
              </a:spcAft>
              <a:buNone/>
            </a:pPr>
            <a:r>
              <a:rPr lang="en-US" sz="1600" dirty="0"/>
              <a:t>}</a:t>
            </a:r>
          </a:p>
          <a:p>
            <a:pPr marL="384048" lvl="2" indent="0">
              <a:spcBef>
                <a:spcPts val="0"/>
              </a:spcBef>
              <a:spcAft>
                <a:spcPts val="0"/>
              </a:spcAft>
              <a:buNone/>
            </a:pPr>
            <a:r>
              <a:rPr lang="en-US" sz="1600" dirty="0"/>
              <a:t>...</a:t>
            </a:r>
          </a:p>
          <a:p>
            <a:pPr marL="384048" lvl="2" indent="0">
              <a:spcBef>
                <a:spcPts val="0"/>
              </a:spcBef>
              <a:spcAft>
                <a:spcPts val="0"/>
              </a:spcAft>
              <a:buNone/>
            </a:pPr>
            <a:endParaRPr lang="en-US" sz="1600" dirty="0"/>
          </a:p>
          <a:p>
            <a:pPr marL="384048" lvl="2" indent="0">
              <a:spcBef>
                <a:spcPts val="0"/>
              </a:spcBef>
              <a:spcAft>
                <a:spcPts val="0"/>
              </a:spcAft>
              <a:buNone/>
            </a:pPr>
            <a:endParaRPr lang="en-US" sz="1200" dirty="0"/>
          </a:p>
        </p:txBody>
      </p:sp>
    </p:spTree>
    <p:extLst>
      <p:ext uri="{BB962C8B-B14F-4D97-AF65-F5344CB8AC3E}">
        <p14:creationId xmlns:p14="http://schemas.microsoft.com/office/powerpoint/2010/main" val="2013114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2D8D5-2AC3-9996-1C1D-C3406F6FE2E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CC4942E-1050-38E6-12D0-FEB7214BBFC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Continued…</a:t>
            </a:r>
          </a:p>
          <a:p>
            <a:pPr lvl="1">
              <a:buFont typeface="Arial" panose="020B0604020202020204" pitchFamily="34" charset="0"/>
              <a:buChar char="•"/>
            </a:pPr>
            <a:r>
              <a:rPr lang="en-IN" sz="1600" dirty="0"/>
              <a:t>let’s add a new field under </a:t>
            </a:r>
            <a:r>
              <a:rPr lang="en-IN" sz="1600" dirty="0">
                <a:solidFill>
                  <a:srgbClr val="FF0000"/>
                </a:solidFill>
              </a:rPr>
              <a:t>Query</a:t>
            </a:r>
            <a:r>
              <a:rPr lang="en-IN" sz="1600" dirty="0"/>
              <a:t> to return a list of issues. </a:t>
            </a:r>
          </a:p>
          <a:p>
            <a:pPr lvl="1">
              <a:buFont typeface="Arial" panose="020B0604020202020204" pitchFamily="34" charset="0"/>
              <a:buChar char="•"/>
            </a:pPr>
            <a:r>
              <a:rPr lang="en-IN" sz="1600" dirty="0"/>
              <a:t>The </a:t>
            </a:r>
            <a:r>
              <a:rPr lang="en-IN" sz="1600" dirty="0" err="1"/>
              <a:t>GraphQL</a:t>
            </a:r>
            <a:r>
              <a:rPr lang="en-IN" sz="1600" dirty="0"/>
              <a:t> way to specify a list of another type is to enclose it within square brackets. </a:t>
            </a:r>
          </a:p>
          <a:p>
            <a:pPr lvl="1">
              <a:buFont typeface="Arial" panose="020B0604020202020204" pitchFamily="34" charset="0"/>
              <a:buChar char="•"/>
            </a:pPr>
            <a:r>
              <a:rPr lang="en-IN" sz="1600" dirty="0"/>
              <a:t>We could use </a:t>
            </a:r>
            <a:r>
              <a:rPr lang="en-IN" sz="1600" dirty="0">
                <a:solidFill>
                  <a:srgbClr val="FF0000"/>
                </a:solidFill>
              </a:rPr>
              <a:t>[Issue] </a:t>
            </a:r>
            <a:r>
              <a:rPr lang="en-IN" sz="1600" dirty="0"/>
              <a:t>as the type for the field, which we will call </a:t>
            </a:r>
            <a:r>
              <a:rPr lang="en-IN" sz="1600" dirty="0" err="1"/>
              <a:t>issueList</a:t>
            </a:r>
            <a:r>
              <a:rPr lang="en-IN" sz="1600" dirty="0"/>
              <a:t>. </a:t>
            </a:r>
          </a:p>
          <a:p>
            <a:pPr lvl="1">
              <a:buFont typeface="Arial" panose="020B0604020202020204" pitchFamily="34" charset="0"/>
              <a:buChar char="•"/>
            </a:pPr>
            <a:r>
              <a:rPr lang="en-IN" sz="1600" dirty="0"/>
              <a:t>But we need to say not only that the return value is mandatory, but also that each element in the list cannot be null. </a:t>
            </a:r>
          </a:p>
          <a:p>
            <a:pPr lvl="1">
              <a:buFont typeface="Arial" panose="020B0604020202020204" pitchFamily="34" charset="0"/>
              <a:buChar char="•"/>
            </a:pPr>
            <a:r>
              <a:rPr lang="en-IN" sz="1600" dirty="0"/>
              <a:t>So, we have to add the exclamation mark after Issue as well as after the array type, as in [Issue!]!.</a:t>
            </a:r>
          </a:p>
          <a:p>
            <a:pPr lvl="1">
              <a:buFont typeface="Arial" panose="020B0604020202020204" pitchFamily="34" charset="0"/>
              <a:buChar char="•"/>
            </a:pPr>
            <a:r>
              <a:rPr lang="en-IN" sz="1600" dirty="0"/>
              <a:t>The way to add comments in the schema is using the # character at the beginning of a line.</a:t>
            </a:r>
          </a:p>
          <a:p>
            <a:pPr marL="749808" lvl="4" indent="0">
              <a:spcBef>
                <a:spcPts val="0"/>
              </a:spcBef>
              <a:spcAft>
                <a:spcPts val="0"/>
              </a:spcAft>
              <a:buNone/>
            </a:pPr>
            <a:r>
              <a:rPr lang="en-US" sz="1400" dirty="0"/>
              <a:t>type Issue {</a:t>
            </a:r>
          </a:p>
          <a:p>
            <a:pPr marL="749808" lvl="4" indent="0">
              <a:spcBef>
                <a:spcPts val="0"/>
              </a:spcBef>
              <a:spcAft>
                <a:spcPts val="0"/>
              </a:spcAft>
              <a:buNone/>
            </a:pPr>
            <a:r>
              <a:rPr lang="en-US" sz="1400" dirty="0"/>
              <a:t>	id: Int!</a:t>
            </a:r>
          </a:p>
          <a:p>
            <a:pPr marL="749808" lvl="4" indent="0">
              <a:spcBef>
                <a:spcPts val="0"/>
              </a:spcBef>
              <a:spcAft>
                <a:spcPts val="0"/>
              </a:spcAft>
              <a:buNone/>
            </a:pPr>
            <a:r>
              <a:rPr lang="en-US" sz="1400" dirty="0"/>
              <a:t>	title: String!</a:t>
            </a:r>
          </a:p>
          <a:p>
            <a:pPr marL="749808" lvl="4" indent="0">
              <a:spcBef>
                <a:spcPts val="0"/>
              </a:spcBef>
              <a:spcAft>
                <a:spcPts val="0"/>
              </a:spcAft>
              <a:buNone/>
            </a:pPr>
            <a:r>
              <a:rPr lang="en-US" sz="1400" dirty="0"/>
              <a:t>	status: String!</a:t>
            </a:r>
          </a:p>
          <a:p>
            <a:pPr marL="749808" lvl="4" indent="0">
              <a:spcBef>
                <a:spcPts val="0"/>
              </a:spcBef>
              <a:spcAft>
                <a:spcPts val="0"/>
              </a:spcAft>
              <a:buNone/>
            </a:pPr>
            <a:r>
              <a:rPr lang="en-US" sz="1400" dirty="0"/>
              <a:t>	owner: String</a:t>
            </a:r>
          </a:p>
          <a:p>
            <a:pPr marL="749808" lvl="4" indent="0">
              <a:spcBef>
                <a:spcPts val="0"/>
              </a:spcBef>
              <a:spcAft>
                <a:spcPts val="0"/>
              </a:spcAft>
              <a:buNone/>
            </a:pPr>
            <a:r>
              <a:rPr lang="en-US" sz="1400" dirty="0"/>
              <a:t>	effort: Int</a:t>
            </a:r>
          </a:p>
          <a:p>
            <a:pPr marL="749808" lvl="4" indent="0">
              <a:spcBef>
                <a:spcPts val="0"/>
              </a:spcBef>
              <a:spcAft>
                <a:spcPts val="0"/>
              </a:spcAft>
              <a:buNone/>
            </a:pPr>
            <a:r>
              <a:rPr lang="en-US" sz="1400" dirty="0"/>
              <a:t>	created: String!</a:t>
            </a:r>
          </a:p>
          <a:p>
            <a:pPr marL="749808" lvl="4" indent="0">
              <a:spcBef>
                <a:spcPts val="0"/>
              </a:spcBef>
              <a:spcAft>
                <a:spcPts val="0"/>
              </a:spcAft>
              <a:buNone/>
            </a:pPr>
            <a:r>
              <a:rPr lang="en-US" sz="1400" dirty="0"/>
              <a:t>	due: String</a:t>
            </a:r>
          </a:p>
          <a:p>
            <a:pPr marL="749808" lvl="4" indent="0">
              <a:spcBef>
                <a:spcPts val="0"/>
              </a:spcBef>
              <a:spcAft>
                <a:spcPts val="0"/>
              </a:spcAft>
              <a:buNone/>
            </a:pPr>
            <a:r>
              <a:rPr lang="en-US" sz="1400" dirty="0"/>
              <a:t>}</a:t>
            </a:r>
          </a:p>
          <a:p>
            <a:pPr marL="749808" lvl="4" indent="0">
              <a:spcBef>
                <a:spcPts val="0"/>
              </a:spcBef>
              <a:spcAft>
                <a:spcPts val="0"/>
              </a:spcAft>
              <a:buNone/>
            </a:pPr>
            <a:r>
              <a:rPr lang="en-US" sz="1400" dirty="0"/>
              <a:t>##### Top level declarations</a:t>
            </a:r>
          </a:p>
          <a:p>
            <a:pPr marL="749808" lvl="4" indent="0">
              <a:spcBef>
                <a:spcPts val="0"/>
              </a:spcBef>
              <a:spcAft>
                <a:spcPts val="0"/>
              </a:spcAft>
              <a:buNone/>
            </a:pPr>
            <a:r>
              <a:rPr lang="en-US" sz="1400" dirty="0"/>
              <a:t>type Query {</a:t>
            </a:r>
          </a:p>
          <a:p>
            <a:pPr marL="749808" lvl="4" indent="0">
              <a:spcBef>
                <a:spcPts val="0"/>
              </a:spcBef>
              <a:spcAft>
                <a:spcPts val="0"/>
              </a:spcAft>
              <a:buNone/>
            </a:pPr>
            <a:r>
              <a:rPr lang="en-US" sz="1400" dirty="0"/>
              <a:t>	about: String!</a:t>
            </a:r>
          </a:p>
          <a:p>
            <a:pPr marL="749808" lvl="4" indent="0">
              <a:spcBef>
                <a:spcPts val="0"/>
              </a:spcBef>
              <a:spcAft>
                <a:spcPts val="0"/>
              </a:spcAft>
              <a:buNone/>
            </a:pPr>
            <a:r>
              <a:rPr lang="en-US" sz="1400" dirty="0"/>
              <a:t>	</a:t>
            </a:r>
            <a:r>
              <a:rPr lang="en-US" sz="1400" b="1" dirty="0" err="1"/>
              <a:t>issueList</a:t>
            </a:r>
            <a:r>
              <a:rPr lang="en-US" sz="1400" b="1" dirty="0"/>
              <a:t>: [Issue!]!</a:t>
            </a:r>
          </a:p>
          <a:p>
            <a:pPr marL="749808" lvl="4" indent="0">
              <a:spcBef>
                <a:spcPts val="0"/>
              </a:spcBef>
              <a:spcAft>
                <a:spcPts val="0"/>
              </a:spcAft>
              <a:buNone/>
            </a:pPr>
            <a:r>
              <a:rPr lang="en-US" sz="1400" dirty="0"/>
              <a:t>}</a:t>
            </a:r>
          </a:p>
          <a:p>
            <a:pPr marL="749808" lvl="4" indent="0">
              <a:spcBef>
                <a:spcPts val="0"/>
              </a:spcBef>
              <a:spcAft>
                <a:spcPts val="0"/>
              </a:spcAft>
              <a:buNone/>
            </a:pPr>
            <a:r>
              <a:rPr lang="en-US" sz="1400" dirty="0"/>
              <a:t>type Mutation {</a:t>
            </a:r>
          </a:p>
          <a:p>
            <a:pPr marL="749808" lvl="4" indent="0">
              <a:spcBef>
                <a:spcPts val="0"/>
              </a:spcBef>
              <a:spcAft>
                <a:spcPts val="0"/>
              </a:spcAft>
              <a:buNone/>
            </a:pPr>
            <a:r>
              <a:rPr lang="en-US" sz="1400" dirty="0"/>
              <a:t>	</a:t>
            </a:r>
            <a:r>
              <a:rPr lang="en-US" sz="1400" dirty="0" err="1"/>
              <a:t>setAboutMessage</a:t>
            </a:r>
            <a:r>
              <a:rPr lang="en-US" sz="1400" dirty="0"/>
              <a:t>(message: String!): String</a:t>
            </a:r>
          </a:p>
          <a:p>
            <a:pPr marL="749808" lvl="4" indent="0">
              <a:spcBef>
                <a:spcPts val="0"/>
              </a:spcBef>
              <a:spcAft>
                <a:spcPts val="0"/>
              </a:spcAft>
              <a:buNone/>
            </a:pPr>
            <a:r>
              <a:rPr lang="en-US" sz="1400" dirty="0"/>
              <a:t>}</a:t>
            </a:r>
          </a:p>
        </p:txBody>
      </p:sp>
    </p:spTree>
    <p:extLst>
      <p:ext uri="{BB962C8B-B14F-4D97-AF65-F5344CB8AC3E}">
        <p14:creationId xmlns:p14="http://schemas.microsoft.com/office/powerpoint/2010/main" val="2389005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FF052-B63F-66E8-A9F5-D336FC131E6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CBC4AAB-7280-EB82-6DC5-0F473CA8059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600" dirty="0"/>
              <a:t>In the server code, we need to add a </a:t>
            </a:r>
            <a:r>
              <a:rPr lang="en-IN" sz="1600" dirty="0">
                <a:solidFill>
                  <a:srgbClr val="FF0000"/>
                </a:solidFill>
              </a:rPr>
              <a:t>resolver</a:t>
            </a:r>
            <a:r>
              <a:rPr lang="en-IN" sz="1600" dirty="0"/>
              <a:t> under </a:t>
            </a:r>
            <a:r>
              <a:rPr lang="en-IN" sz="1600" dirty="0">
                <a:solidFill>
                  <a:srgbClr val="FF0000"/>
                </a:solidFill>
              </a:rPr>
              <a:t>Query</a:t>
            </a:r>
            <a:r>
              <a:rPr lang="en-IN" sz="1600" dirty="0"/>
              <a:t> for the new field, which points to a function. </a:t>
            </a:r>
          </a:p>
          <a:p>
            <a:pPr lvl="1">
              <a:buFont typeface="Arial" panose="020B0604020202020204" pitchFamily="34" charset="0"/>
              <a:buChar char="•"/>
            </a:pPr>
            <a:r>
              <a:rPr lang="en-IN" sz="1600" dirty="0"/>
              <a:t>We’ll also have an array of issues (a copy of what we have in the front-end code) that is a stand-in for a database.</a:t>
            </a:r>
          </a:p>
          <a:p>
            <a:pPr lvl="1">
              <a:buFont typeface="Arial" panose="020B0604020202020204" pitchFamily="34" charset="0"/>
              <a:buChar char="•"/>
            </a:pPr>
            <a:r>
              <a:rPr lang="en-IN" sz="1600" dirty="0"/>
              <a:t>We can immediately return this array from the resolver. </a:t>
            </a:r>
          </a:p>
          <a:p>
            <a:pPr lvl="1">
              <a:buFont typeface="Arial" panose="020B0604020202020204" pitchFamily="34" charset="0"/>
              <a:buChar char="•"/>
            </a:pPr>
            <a:r>
              <a:rPr lang="en-IN" sz="1600" dirty="0"/>
              <a:t>The function could be in-place like that for the about field, but knowing that we’ll expand this function to do more than just return a hard-coded array, </a:t>
            </a:r>
          </a:p>
          <a:p>
            <a:pPr lvl="1">
              <a:buFont typeface="Arial" panose="020B0604020202020204" pitchFamily="34" charset="0"/>
              <a:buChar char="•"/>
            </a:pPr>
            <a:r>
              <a:rPr lang="en-IN" sz="1600" dirty="0"/>
              <a:t>let’s create a separate function called </a:t>
            </a:r>
            <a:r>
              <a:rPr lang="en-IN" sz="1600" dirty="0" err="1">
                <a:solidFill>
                  <a:srgbClr val="FF0000"/>
                </a:solidFill>
              </a:rPr>
              <a:t>issueList</a:t>
            </a:r>
            <a:r>
              <a:rPr lang="en-IN" sz="1600" dirty="0"/>
              <a:t> for it.</a:t>
            </a:r>
          </a:p>
          <a:p>
            <a:pPr lvl="1">
              <a:buFont typeface="Arial" panose="020B0604020202020204" pitchFamily="34" charset="0"/>
              <a:buChar char="•"/>
            </a:pPr>
            <a:endParaRPr lang="en-IN" sz="1600" dirty="0"/>
          </a:p>
          <a:p>
            <a:pPr lvl="1">
              <a:buFont typeface="Arial" panose="020B0604020202020204" pitchFamily="34" charset="0"/>
              <a:buChar char="•"/>
            </a:pPr>
            <a:r>
              <a:rPr lang="en-US" sz="1600" dirty="0">
                <a:solidFill>
                  <a:srgbClr val="FF0000"/>
                </a:solidFill>
              </a:rPr>
              <a:t>server.js: </a:t>
            </a:r>
            <a:r>
              <a:rPr lang="en-US" sz="1600" dirty="0"/>
              <a:t>Changes for </a:t>
            </a:r>
            <a:r>
              <a:rPr lang="en-US" sz="1600" dirty="0" err="1"/>
              <a:t>issueList</a:t>
            </a:r>
            <a:r>
              <a:rPr lang="en-US" sz="1600" dirty="0"/>
              <a:t> Query Field</a:t>
            </a:r>
          </a:p>
          <a:p>
            <a:pPr marL="201168" lvl="1" indent="0">
              <a:spcBef>
                <a:spcPts val="0"/>
              </a:spcBef>
              <a:spcAft>
                <a:spcPts val="0"/>
              </a:spcAft>
              <a:buNone/>
            </a:pPr>
            <a:r>
              <a:rPr lang="en-US" sz="1600" dirty="0"/>
              <a:t>...</a:t>
            </a:r>
          </a:p>
          <a:p>
            <a:pPr marL="201168" lvl="1" indent="0">
              <a:spcBef>
                <a:spcPts val="0"/>
              </a:spcBef>
              <a:spcAft>
                <a:spcPts val="0"/>
              </a:spcAft>
              <a:buNone/>
            </a:pPr>
            <a:r>
              <a:rPr lang="en-US" sz="1600" b="1" dirty="0"/>
              <a:t>let </a:t>
            </a:r>
            <a:r>
              <a:rPr lang="en-US" sz="1600" b="1" dirty="0" err="1"/>
              <a:t>aboutMessage</a:t>
            </a:r>
            <a:r>
              <a:rPr lang="en-US" sz="1600" b="1" dirty="0"/>
              <a:t> = "Issue Tracker API v1.0";</a:t>
            </a:r>
          </a:p>
          <a:p>
            <a:pPr marL="201168" lvl="1" indent="0">
              <a:spcBef>
                <a:spcPts val="0"/>
              </a:spcBef>
              <a:spcAft>
                <a:spcPts val="0"/>
              </a:spcAft>
              <a:buNone/>
            </a:pPr>
            <a:r>
              <a:rPr lang="en-US" sz="1600" b="1" dirty="0"/>
              <a:t>    const </a:t>
            </a:r>
            <a:r>
              <a:rPr lang="en-US" sz="1600" b="1" dirty="0" err="1"/>
              <a:t>issuesDB</a:t>
            </a:r>
            <a:r>
              <a:rPr lang="en-US" sz="1600" b="1" dirty="0"/>
              <a:t> = [</a:t>
            </a:r>
          </a:p>
          <a:p>
            <a:pPr marL="201168" lvl="1" indent="0">
              <a:spcBef>
                <a:spcPts val="0"/>
              </a:spcBef>
              <a:spcAft>
                <a:spcPts val="0"/>
              </a:spcAft>
              <a:buNone/>
            </a:pPr>
            <a:r>
              <a:rPr lang="en-US" sz="1600" b="1" dirty="0"/>
              <a:t>    {</a:t>
            </a:r>
          </a:p>
          <a:p>
            <a:pPr marL="201168" lvl="1" indent="0">
              <a:spcBef>
                <a:spcPts val="0"/>
              </a:spcBef>
              <a:spcAft>
                <a:spcPts val="0"/>
              </a:spcAft>
              <a:buNone/>
            </a:pPr>
            <a:r>
              <a:rPr lang="en-US" sz="1600" b="1" dirty="0"/>
              <a:t>	id: 1, status: 'New', owner: 'Ravan', effort: 5,</a:t>
            </a:r>
          </a:p>
          <a:p>
            <a:pPr marL="201168" lvl="1" indent="0">
              <a:spcBef>
                <a:spcPts val="0"/>
              </a:spcBef>
              <a:spcAft>
                <a:spcPts val="0"/>
              </a:spcAft>
              <a:buNone/>
            </a:pPr>
            <a:r>
              <a:rPr lang="en-US" sz="1600" b="1" dirty="0"/>
              <a:t>	created: new Date('2019-01-15'), due: undefined,</a:t>
            </a:r>
          </a:p>
          <a:p>
            <a:pPr marL="201168" lvl="1" indent="0">
              <a:spcBef>
                <a:spcPts val="0"/>
              </a:spcBef>
              <a:spcAft>
                <a:spcPts val="0"/>
              </a:spcAft>
              <a:buNone/>
            </a:pPr>
            <a:r>
              <a:rPr lang="en-US" sz="1600" b="1" dirty="0"/>
              <a:t>	title: 'Error in console when clicking Add’,</a:t>
            </a:r>
          </a:p>
          <a:p>
            <a:pPr marL="201168" lvl="1" indent="0">
              <a:spcBef>
                <a:spcPts val="0"/>
              </a:spcBef>
              <a:spcAft>
                <a:spcPts val="0"/>
              </a:spcAft>
              <a:buNone/>
            </a:pPr>
            <a:r>
              <a:rPr lang="en-US" sz="1600" b="1" dirty="0"/>
              <a:t>    },</a:t>
            </a:r>
          </a:p>
          <a:p>
            <a:pPr marL="201168" lvl="1" indent="0">
              <a:spcBef>
                <a:spcPts val="0"/>
              </a:spcBef>
              <a:spcAft>
                <a:spcPts val="0"/>
              </a:spcAft>
              <a:buNone/>
            </a:pPr>
            <a:r>
              <a:rPr lang="en-US" sz="1600" b="1" dirty="0"/>
              <a:t>    {</a:t>
            </a:r>
          </a:p>
          <a:p>
            <a:pPr marL="201168" lvl="1" indent="0">
              <a:spcBef>
                <a:spcPts val="0"/>
              </a:spcBef>
              <a:spcAft>
                <a:spcPts val="0"/>
              </a:spcAft>
              <a:buNone/>
            </a:pPr>
            <a:r>
              <a:rPr lang="en-US" sz="1600" b="1" dirty="0"/>
              <a:t>	id: 2, status: 'Assigned', owner: 'Eddie', effort: 14,</a:t>
            </a:r>
          </a:p>
          <a:p>
            <a:pPr marL="201168" lvl="1" indent="0">
              <a:spcBef>
                <a:spcPts val="0"/>
              </a:spcBef>
              <a:spcAft>
                <a:spcPts val="0"/>
              </a:spcAft>
              <a:buNone/>
            </a:pPr>
            <a:r>
              <a:rPr lang="en-US" sz="1600" b="1" dirty="0"/>
              <a:t>	created: new Date('2019-01-16'), due: new Date('2019-02-01’),</a:t>
            </a:r>
          </a:p>
          <a:p>
            <a:pPr marL="201168" lvl="1" indent="0">
              <a:spcBef>
                <a:spcPts val="0"/>
              </a:spcBef>
              <a:spcAft>
                <a:spcPts val="0"/>
              </a:spcAft>
              <a:buNone/>
            </a:pPr>
            <a:r>
              <a:rPr lang="en-US" sz="1600" b="1" dirty="0"/>
              <a:t>	title: 'Missing bottom border on panel’,</a:t>
            </a:r>
          </a:p>
          <a:p>
            <a:pPr marL="201168" lvl="1" indent="0">
              <a:spcBef>
                <a:spcPts val="0"/>
              </a:spcBef>
              <a:spcAft>
                <a:spcPts val="0"/>
              </a:spcAft>
              <a:buNone/>
            </a:pPr>
            <a:r>
              <a:rPr lang="en-US" sz="1600" b="1" dirty="0"/>
              <a:t>    },</a:t>
            </a:r>
          </a:p>
          <a:p>
            <a:pPr marL="201168" lvl="1" indent="0">
              <a:spcBef>
                <a:spcPts val="0"/>
              </a:spcBef>
              <a:spcAft>
                <a:spcPts val="0"/>
              </a:spcAft>
              <a:buNone/>
            </a:pPr>
            <a:r>
              <a:rPr lang="en-US" sz="1600" b="1" dirty="0"/>
              <a:t>];</a:t>
            </a:r>
          </a:p>
          <a:p>
            <a:pPr lvl="1">
              <a:spcBef>
                <a:spcPts val="0"/>
              </a:spcBef>
              <a:spcAft>
                <a:spcPts val="0"/>
              </a:spcAft>
              <a:buFont typeface="Arial" panose="020B0604020202020204" pitchFamily="34" charset="0"/>
              <a:buChar char="•"/>
            </a:pPr>
            <a:endParaRPr lang="en-US" sz="1600" dirty="0"/>
          </a:p>
        </p:txBody>
      </p:sp>
      <p:sp>
        <p:nvSpPr>
          <p:cNvPr id="2" name="TextBox 1">
            <a:extLst>
              <a:ext uri="{FF2B5EF4-FFF2-40B4-BE49-F238E27FC236}">
                <a16:creationId xmlns:a16="http://schemas.microsoft.com/office/drawing/2014/main" id="{C3ABB242-797A-D63E-BE1F-27879404442F}"/>
              </a:ext>
            </a:extLst>
          </p:cNvPr>
          <p:cNvSpPr txBox="1"/>
          <p:nvPr/>
        </p:nvSpPr>
        <p:spPr>
          <a:xfrm>
            <a:off x="6484689" y="2482178"/>
            <a:ext cx="4974671" cy="4031873"/>
          </a:xfrm>
          <a:prstGeom prst="rect">
            <a:avLst/>
          </a:prstGeom>
          <a:noFill/>
        </p:spPr>
        <p:txBody>
          <a:bodyPr wrap="square" rtlCol="0">
            <a:spAutoFit/>
          </a:bodyPr>
          <a:lstStyle/>
          <a:p>
            <a:pPr lvl="1">
              <a:spcBef>
                <a:spcPts val="0"/>
              </a:spcBef>
              <a:spcAft>
                <a:spcPts val="0"/>
              </a:spcAft>
            </a:pPr>
            <a:r>
              <a:rPr lang="en-US" sz="1600" dirty="0"/>
              <a:t>const resolvers = {</a:t>
            </a:r>
          </a:p>
          <a:p>
            <a:pPr lvl="1">
              <a:spcBef>
                <a:spcPts val="0"/>
              </a:spcBef>
              <a:spcAft>
                <a:spcPts val="0"/>
              </a:spcAft>
            </a:pPr>
            <a:r>
              <a:rPr lang="en-US" sz="1600" dirty="0"/>
              <a:t>	Query: {</a:t>
            </a:r>
          </a:p>
          <a:p>
            <a:pPr lvl="1">
              <a:spcBef>
                <a:spcPts val="0"/>
              </a:spcBef>
              <a:spcAft>
                <a:spcPts val="0"/>
              </a:spcAft>
            </a:pPr>
            <a:r>
              <a:rPr lang="en-US" sz="1600" dirty="0"/>
              <a:t>		about: () =&gt; </a:t>
            </a:r>
            <a:r>
              <a:rPr lang="en-US" sz="1600" dirty="0" err="1"/>
              <a:t>aboutMessage</a:t>
            </a:r>
            <a:r>
              <a:rPr lang="en-US" sz="1600" dirty="0"/>
              <a:t>,</a:t>
            </a:r>
          </a:p>
          <a:p>
            <a:pPr lvl="1">
              <a:spcBef>
                <a:spcPts val="0"/>
              </a:spcBef>
              <a:spcAft>
                <a:spcPts val="0"/>
              </a:spcAft>
            </a:pPr>
            <a:r>
              <a:rPr lang="en-US" sz="1600" dirty="0"/>
              <a:t>		</a:t>
            </a:r>
            <a:r>
              <a:rPr lang="en-US" sz="1600" b="1" dirty="0" err="1"/>
              <a:t>issueList</a:t>
            </a:r>
            <a:r>
              <a:rPr lang="en-US" sz="1600" b="1" dirty="0"/>
              <a:t>,</a:t>
            </a:r>
          </a:p>
          <a:p>
            <a:pPr lvl="1">
              <a:spcBef>
                <a:spcPts val="0"/>
              </a:spcBef>
              <a:spcAft>
                <a:spcPts val="0"/>
              </a:spcAft>
            </a:pPr>
            <a:r>
              <a:rPr lang="en-US" sz="1600" dirty="0"/>
              <a:t>	},</a:t>
            </a:r>
          </a:p>
          <a:p>
            <a:pPr lvl="1">
              <a:spcBef>
                <a:spcPts val="0"/>
              </a:spcBef>
              <a:spcAft>
                <a:spcPts val="0"/>
              </a:spcAft>
            </a:pPr>
            <a:r>
              <a:rPr lang="en-US" sz="1600" dirty="0"/>
              <a:t>	Mutation: {</a:t>
            </a:r>
          </a:p>
          <a:p>
            <a:pPr lvl="1">
              <a:spcBef>
                <a:spcPts val="0"/>
              </a:spcBef>
              <a:spcAft>
                <a:spcPts val="0"/>
              </a:spcAft>
            </a:pPr>
            <a:r>
              <a:rPr lang="en-US" sz="1600" dirty="0"/>
              <a:t>		</a:t>
            </a:r>
            <a:r>
              <a:rPr lang="en-US" sz="1600" dirty="0" err="1"/>
              <a:t>setAboutMessage</a:t>
            </a:r>
            <a:r>
              <a:rPr lang="en-US" sz="1600" dirty="0"/>
              <a:t>,</a:t>
            </a:r>
          </a:p>
          <a:p>
            <a:pPr lvl="1">
              <a:spcBef>
                <a:spcPts val="0"/>
              </a:spcBef>
              <a:spcAft>
                <a:spcPts val="0"/>
              </a:spcAft>
            </a:pPr>
            <a:r>
              <a:rPr lang="en-US" sz="1600" dirty="0"/>
              <a:t>	},</a:t>
            </a:r>
          </a:p>
          <a:p>
            <a:pPr lvl="1">
              <a:spcBef>
                <a:spcPts val="0"/>
              </a:spcBef>
              <a:spcAft>
                <a:spcPts val="0"/>
              </a:spcAft>
            </a:pPr>
            <a:r>
              <a:rPr lang="en-US" sz="1600" dirty="0"/>
              <a:t>};</a:t>
            </a:r>
          </a:p>
          <a:p>
            <a:pPr lvl="1">
              <a:spcBef>
                <a:spcPts val="0"/>
              </a:spcBef>
              <a:spcAft>
                <a:spcPts val="0"/>
              </a:spcAft>
            </a:pPr>
            <a:r>
              <a:rPr lang="en-US" sz="1600" dirty="0"/>
              <a:t>function </a:t>
            </a:r>
            <a:r>
              <a:rPr lang="en-US" sz="1600" dirty="0" err="1"/>
              <a:t>setAboutMessage</a:t>
            </a:r>
            <a:r>
              <a:rPr lang="en-US" sz="1600" dirty="0"/>
              <a:t>(_, { message }) {</a:t>
            </a:r>
          </a:p>
          <a:p>
            <a:pPr lvl="1">
              <a:spcBef>
                <a:spcPts val="0"/>
              </a:spcBef>
              <a:spcAft>
                <a:spcPts val="0"/>
              </a:spcAft>
            </a:pPr>
            <a:r>
              <a:rPr lang="en-US" sz="1600" dirty="0"/>
              <a:t>	return </a:t>
            </a:r>
            <a:r>
              <a:rPr lang="en-US" sz="1600" dirty="0" err="1"/>
              <a:t>aboutMessage</a:t>
            </a:r>
            <a:r>
              <a:rPr lang="en-US" sz="1600" dirty="0"/>
              <a:t> = message;</a:t>
            </a:r>
          </a:p>
          <a:p>
            <a:pPr lvl="1">
              <a:spcBef>
                <a:spcPts val="0"/>
              </a:spcBef>
              <a:spcAft>
                <a:spcPts val="0"/>
              </a:spcAft>
            </a:pPr>
            <a:r>
              <a:rPr lang="en-US" sz="1600" dirty="0"/>
              <a:t>}</a:t>
            </a:r>
          </a:p>
          <a:p>
            <a:pPr lvl="1">
              <a:spcBef>
                <a:spcPts val="0"/>
              </a:spcBef>
              <a:spcAft>
                <a:spcPts val="0"/>
              </a:spcAft>
            </a:pPr>
            <a:r>
              <a:rPr lang="en-US" sz="1600" b="1" dirty="0"/>
              <a:t>function </a:t>
            </a:r>
            <a:r>
              <a:rPr lang="en-US" sz="1600" b="1" dirty="0" err="1"/>
              <a:t>issueList</a:t>
            </a:r>
            <a:r>
              <a:rPr lang="en-US" sz="1600" b="1" dirty="0"/>
              <a:t>() {</a:t>
            </a:r>
          </a:p>
          <a:p>
            <a:pPr lvl="1">
              <a:spcBef>
                <a:spcPts val="0"/>
              </a:spcBef>
              <a:spcAft>
                <a:spcPts val="0"/>
              </a:spcAft>
            </a:pPr>
            <a:r>
              <a:rPr lang="en-US" sz="1600" b="1" dirty="0"/>
              <a:t>return </a:t>
            </a:r>
            <a:r>
              <a:rPr lang="en-US" sz="1600" b="1" dirty="0" err="1"/>
              <a:t>issuesDB</a:t>
            </a:r>
            <a:r>
              <a:rPr lang="en-US" sz="1600" b="1" dirty="0"/>
              <a:t>;</a:t>
            </a:r>
          </a:p>
          <a:p>
            <a:pPr lvl="1">
              <a:spcBef>
                <a:spcPts val="0"/>
              </a:spcBef>
              <a:spcAft>
                <a:spcPts val="0"/>
              </a:spcAft>
            </a:pPr>
            <a:r>
              <a:rPr lang="en-US" sz="1600" b="1" dirty="0"/>
              <a:t>}</a:t>
            </a:r>
          </a:p>
          <a:p>
            <a:pPr lvl="1">
              <a:spcBef>
                <a:spcPts val="0"/>
              </a:spcBef>
              <a:spcAft>
                <a:spcPts val="0"/>
              </a:spcAft>
            </a:pPr>
            <a:r>
              <a:rPr lang="en-US" sz="1600" dirty="0"/>
              <a:t>...</a:t>
            </a:r>
            <a:endParaRPr lang="en-IN" dirty="0"/>
          </a:p>
        </p:txBody>
      </p:sp>
    </p:spTree>
    <p:extLst>
      <p:ext uri="{BB962C8B-B14F-4D97-AF65-F5344CB8AC3E}">
        <p14:creationId xmlns:p14="http://schemas.microsoft.com/office/powerpoint/2010/main" val="3528882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F5A4C-AA2C-6A93-1BE6-F771DEC224C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72CCE16-F24C-C84F-A637-B1CC349A3B7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lgn="just">
              <a:buFont typeface="Arial" panose="020B0604020202020204" pitchFamily="34" charset="0"/>
              <a:buChar char="•"/>
            </a:pPr>
            <a:r>
              <a:rPr lang="en-IN" sz="1600" dirty="0"/>
              <a:t>To test this in the Playground, you will need to run a query that specifies the </a:t>
            </a:r>
            <a:r>
              <a:rPr lang="en-IN" sz="1600" dirty="0" err="1"/>
              <a:t>issueList</a:t>
            </a:r>
            <a:r>
              <a:rPr lang="en-IN" sz="1600" dirty="0"/>
              <a:t> field, with subfields. </a:t>
            </a:r>
          </a:p>
          <a:p>
            <a:pPr lvl="1" algn="just">
              <a:buFont typeface="Arial" panose="020B0604020202020204" pitchFamily="34" charset="0"/>
              <a:buChar char="•"/>
            </a:pPr>
            <a:r>
              <a:rPr lang="en-IN" sz="1600" dirty="0"/>
              <a:t>But first, a refresh of the browser is needed so that the Playground has the latest schema and doesn’t show errors when you type the query.</a:t>
            </a:r>
          </a:p>
          <a:p>
            <a:pPr lvl="1" algn="just">
              <a:buFont typeface="Arial" panose="020B0604020202020204" pitchFamily="34" charset="0"/>
              <a:buChar char="•"/>
            </a:pPr>
            <a:endParaRPr lang="en-IN" sz="1600" dirty="0"/>
          </a:p>
          <a:p>
            <a:pPr lvl="1" algn="just">
              <a:buFont typeface="Arial" panose="020B0604020202020204" pitchFamily="34" charset="0"/>
              <a:buChar char="•"/>
            </a:pPr>
            <a:r>
              <a:rPr lang="en-IN" sz="1600" dirty="0"/>
              <a:t>The array itself need not be expanded in the query. </a:t>
            </a:r>
          </a:p>
          <a:p>
            <a:pPr lvl="1" algn="just">
              <a:buFont typeface="Arial" panose="020B0604020202020204" pitchFamily="34" charset="0"/>
              <a:buChar char="•"/>
            </a:pPr>
            <a:r>
              <a:rPr lang="en-IN" sz="1600" dirty="0"/>
              <a:t>It is implicit (due to the schema specification) that </a:t>
            </a:r>
            <a:r>
              <a:rPr lang="en-IN" sz="1600" dirty="0" err="1"/>
              <a:t>issueList</a:t>
            </a:r>
            <a:r>
              <a:rPr lang="en-IN" sz="1600" dirty="0"/>
              <a:t> returns an array, and therefore, subfields of the field are automatically expanded within the array. </a:t>
            </a:r>
          </a:p>
          <a:p>
            <a:pPr lvl="1" algn="just">
              <a:buFont typeface="Arial" panose="020B0604020202020204" pitchFamily="34" charset="0"/>
              <a:buChar char="•"/>
            </a:pPr>
            <a:r>
              <a:rPr lang="en-IN" sz="1600" dirty="0"/>
              <a:t>Here is one such query that you can run to test the </a:t>
            </a:r>
            <a:r>
              <a:rPr lang="en-IN" sz="1600" dirty="0" err="1"/>
              <a:t>issueList</a:t>
            </a:r>
            <a:r>
              <a:rPr lang="en-IN" sz="1600" dirty="0"/>
              <a:t> field:</a:t>
            </a:r>
          </a:p>
          <a:p>
            <a:pPr marL="566928" lvl="3" indent="0" algn="just">
              <a:buNone/>
            </a:pPr>
            <a:r>
              <a:rPr lang="en-US" sz="1600" dirty="0"/>
              <a:t>query {</a:t>
            </a:r>
          </a:p>
          <a:p>
            <a:pPr marL="566928" lvl="3" indent="0" algn="just">
              <a:buNone/>
            </a:pPr>
            <a:r>
              <a:rPr lang="en-US" sz="1600" dirty="0"/>
              <a:t>	</a:t>
            </a:r>
            <a:r>
              <a:rPr lang="en-US" sz="1600" dirty="0" err="1"/>
              <a:t>issueList</a:t>
            </a:r>
            <a:r>
              <a:rPr lang="en-US" sz="1600" dirty="0"/>
              <a:t> {</a:t>
            </a:r>
          </a:p>
          <a:p>
            <a:pPr marL="566928" lvl="3" indent="0" algn="just">
              <a:buNone/>
            </a:pPr>
            <a:r>
              <a:rPr lang="en-US" sz="1600" dirty="0"/>
              <a:t>		id</a:t>
            </a:r>
          </a:p>
          <a:p>
            <a:pPr marL="566928" lvl="3" indent="0" algn="just">
              <a:buNone/>
            </a:pPr>
            <a:r>
              <a:rPr lang="en-US" sz="1600" dirty="0"/>
              <a:t>		title</a:t>
            </a:r>
          </a:p>
          <a:p>
            <a:pPr marL="566928" lvl="3" indent="0" algn="just">
              <a:buNone/>
            </a:pPr>
            <a:r>
              <a:rPr lang="en-US" sz="1600" dirty="0"/>
              <a:t>		created</a:t>
            </a:r>
          </a:p>
          <a:p>
            <a:pPr marL="566928" lvl="3" indent="0" algn="just">
              <a:buNone/>
            </a:pPr>
            <a:r>
              <a:rPr lang="en-US" sz="1600" dirty="0"/>
              <a:t>	}</a:t>
            </a:r>
          </a:p>
          <a:p>
            <a:pPr marL="566928" lvl="3" indent="0" algn="just">
              <a:buNone/>
            </a:pPr>
            <a:r>
              <a:rPr lang="en-US" sz="1600" dirty="0"/>
              <a:t>}</a:t>
            </a:r>
            <a:endParaRPr lang="en-US" sz="1200" dirty="0"/>
          </a:p>
        </p:txBody>
      </p:sp>
      <p:pic>
        <p:nvPicPr>
          <p:cNvPr id="3" name="Picture 2">
            <a:extLst>
              <a:ext uri="{FF2B5EF4-FFF2-40B4-BE49-F238E27FC236}">
                <a16:creationId xmlns:a16="http://schemas.microsoft.com/office/drawing/2014/main" id="{6A022E3F-EB51-6829-8741-84B1F004D2CE}"/>
              </a:ext>
            </a:extLst>
          </p:cNvPr>
          <p:cNvPicPr>
            <a:picLocks noChangeAspect="1"/>
          </p:cNvPicPr>
          <p:nvPr/>
        </p:nvPicPr>
        <p:blipFill>
          <a:blip r:embed="rId2"/>
          <a:stretch>
            <a:fillRect/>
          </a:stretch>
        </p:blipFill>
        <p:spPr>
          <a:xfrm>
            <a:off x="6389132" y="3363985"/>
            <a:ext cx="4689696" cy="2739630"/>
          </a:xfrm>
          <a:prstGeom prst="rect">
            <a:avLst/>
          </a:prstGeom>
        </p:spPr>
      </p:pic>
    </p:spTree>
    <p:extLst>
      <p:ext uri="{BB962C8B-B14F-4D97-AF65-F5344CB8AC3E}">
        <p14:creationId xmlns:p14="http://schemas.microsoft.com/office/powerpoint/2010/main" val="1368806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1A775-7EBD-F9C1-4759-6A3FDB2939D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6FE59EB-0193-E12E-F936-7C66E907C68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Full program and Execution using LIST API</a:t>
            </a:r>
          </a:p>
          <a:p>
            <a:pPr lvl="1">
              <a:buFont typeface="Arial" panose="020B0604020202020204" pitchFamily="34" charset="0"/>
              <a:buChar char="•"/>
            </a:pPr>
            <a:r>
              <a:rPr lang="en-US" sz="1600" dirty="0"/>
              <a:t>Folder structure</a:t>
            </a:r>
          </a:p>
          <a:p>
            <a:pPr lvl="1">
              <a:buFont typeface="Arial" panose="020B0604020202020204" pitchFamily="34" charset="0"/>
              <a:buChar char="•"/>
            </a:pPr>
            <a:endParaRPr lang="en-US" sz="1600" dirty="0"/>
          </a:p>
          <a:p>
            <a:pPr lvl="1">
              <a:buFont typeface="Arial" panose="020B0604020202020204" pitchFamily="34" charset="0"/>
              <a:buChar char="•"/>
            </a:pPr>
            <a:endParaRPr lang="en-US" sz="1600" dirty="0"/>
          </a:p>
          <a:p>
            <a:pPr marL="201168" lvl="1" indent="0">
              <a:buNone/>
            </a:pPr>
            <a:endParaRPr lang="en-US" sz="1600" dirty="0"/>
          </a:p>
          <a:p>
            <a:pPr lvl="1">
              <a:buFont typeface="Arial" panose="020B0604020202020204" pitchFamily="34" charset="0"/>
              <a:buChar char="•"/>
            </a:pPr>
            <a:r>
              <a:rPr lang="en-IN" sz="1600" dirty="0">
                <a:solidFill>
                  <a:srgbClr val="FF0000"/>
                </a:solidFill>
              </a:rPr>
              <a:t>1. </a:t>
            </a:r>
            <a:r>
              <a:rPr lang="en-IN" sz="1600" dirty="0"/>
              <a:t>Create a file named: </a:t>
            </a:r>
            <a:r>
              <a:rPr lang="en-IN" sz="1600" dirty="0" err="1"/>
              <a:t>package.json</a:t>
            </a:r>
            <a:r>
              <a:rPr lang="en-IN" sz="1600" dirty="0"/>
              <a:t> with the following content</a:t>
            </a:r>
          </a:p>
          <a:p>
            <a:pPr marL="566928" lvl="3" indent="0">
              <a:buNone/>
            </a:pPr>
            <a:r>
              <a:rPr lang="en-US" sz="1400" dirty="0"/>
              <a:t>{</a:t>
            </a:r>
          </a:p>
          <a:p>
            <a:pPr marL="566928" lvl="3" indent="0">
              <a:buNone/>
            </a:pPr>
            <a:r>
              <a:rPr lang="en-US" sz="1400" dirty="0"/>
              <a:t>  "name": "</a:t>
            </a:r>
            <a:r>
              <a:rPr lang="en-US" sz="1400" dirty="0" err="1"/>
              <a:t>graphql</a:t>
            </a:r>
            <a:r>
              <a:rPr lang="en-US" sz="1400" dirty="0"/>
              <a:t>-list-</a:t>
            </a:r>
            <a:r>
              <a:rPr lang="en-US" sz="1400" dirty="0" err="1"/>
              <a:t>api</a:t>
            </a:r>
            <a:r>
              <a:rPr lang="en-US" sz="1400" dirty="0"/>
              <a:t>",</a:t>
            </a:r>
          </a:p>
          <a:p>
            <a:pPr marL="566928" lvl="3" indent="0">
              <a:buNone/>
            </a:pPr>
            <a:r>
              <a:rPr lang="en-US" sz="1400" dirty="0"/>
              <a:t>  "version": "1.0.0",</a:t>
            </a:r>
          </a:p>
          <a:p>
            <a:pPr marL="566928" lvl="3" indent="0">
              <a:buNone/>
            </a:pPr>
            <a:r>
              <a:rPr lang="en-US" sz="1400" dirty="0"/>
              <a:t>  "description": "</a:t>
            </a:r>
            <a:r>
              <a:rPr lang="en-US" sz="1400" dirty="0" err="1"/>
              <a:t>GraphQL</a:t>
            </a:r>
            <a:r>
              <a:rPr lang="en-US" sz="1400" dirty="0"/>
              <a:t> Issue Tracker List API",</a:t>
            </a:r>
          </a:p>
          <a:p>
            <a:pPr marL="566928" lvl="3" indent="0">
              <a:buNone/>
            </a:pPr>
            <a:r>
              <a:rPr lang="en-US" sz="1400" dirty="0"/>
              <a:t>  "main": "server.js",</a:t>
            </a:r>
          </a:p>
          <a:p>
            <a:pPr marL="566928" lvl="3" indent="0">
              <a:buNone/>
            </a:pPr>
            <a:r>
              <a:rPr lang="en-US" sz="1400" dirty="0"/>
              <a:t>  "scripts": {</a:t>
            </a:r>
          </a:p>
          <a:p>
            <a:pPr marL="566928" lvl="3" indent="0">
              <a:buNone/>
            </a:pPr>
            <a:r>
              <a:rPr lang="en-US" sz="1400" dirty="0"/>
              <a:t>    "start": "node server.js"</a:t>
            </a:r>
          </a:p>
          <a:p>
            <a:pPr marL="566928" lvl="3" indent="0">
              <a:buNone/>
            </a:pPr>
            <a:r>
              <a:rPr lang="en-US" sz="1400" dirty="0"/>
              <a:t>  },</a:t>
            </a:r>
          </a:p>
          <a:p>
            <a:pPr marL="566928" lvl="3" indent="0">
              <a:buNone/>
            </a:pPr>
            <a:r>
              <a:rPr lang="en-US" sz="1400" dirty="0"/>
              <a:t>  "dependencies": {</a:t>
            </a:r>
          </a:p>
          <a:p>
            <a:pPr marL="566928" lvl="3" indent="0">
              <a:buNone/>
            </a:pPr>
            <a:r>
              <a:rPr lang="en-US" sz="1400" dirty="0"/>
              <a:t>    "express": "^4.18.2",</a:t>
            </a:r>
          </a:p>
          <a:p>
            <a:pPr marL="566928" lvl="3" indent="0">
              <a:buNone/>
            </a:pPr>
            <a:r>
              <a:rPr lang="en-US" sz="1400" dirty="0"/>
              <a:t>    "express-</a:t>
            </a:r>
            <a:r>
              <a:rPr lang="en-US" sz="1400" dirty="0" err="1"/>
              <a:t>graphql</a:t>
            </a:r>
            <a:r>
              <a:rPr lang="en-US" sz="1400" dirty="0"/>
              <a:t>": "^0.12.0",</a:t>
            </a:r>
          </a:p>
          <a:p>
            <a:pPr marL="566928" lvl="3" indent="0">
              <a:buNone/>
            </a:pPr>
            <a:r>
              <a:rPr lang="en-US" sz="1400" dirty="0"/>
              <a:t>    "</a:t>
            </a:r>
            <a:r>
              <a:rPr lang="en-US" sz="1400" dirty="0" err="1"/>
              <a:t>graphql</a:t>
            </a:r>
            <a:r>
              <a:rPr lang="en-US" sz="1400" dirty="0"/>
              <a:t>": "^15.8.0"</a:t>
            </a:r>
          </a:p>
          <a:p>
            <a:pPr marL="566928" lvl="3" indent="0">
              <a:buNone/>
            </a:pPr>
            <a:r>
              <a:rPr lang="en-US" sz="1400" dirty="0"/>
              <a:t>  }</a:t>
            </a:r>
          </a:p>
          <a:p>
            <a:pPr marL="566928" lvl="3" indent="0">
              <a:buNone/>
            </a:pPr>
            <a:r>
              <a:rPr lang="en-US" sz="1400" dirty="0"/>
              <a:t>}</a:t>
            </a:r>
            <a:endParaRPr lang="en-US" sz="1200" dirty="0"/>
          </a:p>
        </p:txBody>
      </p:sp>
      <p:pic>
        <p:nvPicPr>
          <p:cNvPr id="3" name="Picture 2">
            <a:extLst>
              <a:ext uri="{FF2B5EF4-FFF2-40B4-BE49-F238E27FC236}">
                <a16:creationId xmlns:a16="http://schemas.microsoft.com/office/drawing/2014/main" id="{F0B99A00-9ACB-FA47-B3CC-BC0086EC91AE}"/>
              </a:ext>
            </a:extLst>
          </p:cNvPr>
          <p:cNvPicPr>
            <a:picLocks noChangeAspect="1"/>
          </p:cNvPicPr>
          <p:nvPr/>
        </p:nvPicPr>
        <p:blipFill>
          <a:blip r:embed="rId2"/>
          <a:stretch>
            <a:fillRect/>
          </a:stretch>
        </p:blipFill>
        <p:spPr>
          <a:xfrm>
            <a:off x="2745607" y="741857"/>
            <a:ext cx="2019339" cy="1233533"/>
          </a:xfrm>
          <a:prstGeom prst="rect">
            <a:avLst/>
          </a:prstGeom>
        </p:spPr>
      </p:pic>
    </p:spTree>
    <p:extLst>
      <p:ext uri="{BB962C8B-B14F-4D97-AF65-F5344CB8AC3E}">
        <p14:creationId xmlns:p14="http://schemas.microsoft.com/office/powerpoint/2010/main" val="1307544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26A7B-4D74-5B39-1D52-37077854413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E6EA638-AC1F-E1FF-4FE0-4681EFC3408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solidFill>
                  <a:srgbClr val="FF0000"/>
                </a:solidFill>
              </a:rPr>
              <a:t>2. </a:t>
            </a:r>
            <a:r>
              <a:rPr lang="en-IN" sz="1800" dirty="0"/>
              <a:t>Create </a:t>
            </a:r>
            <a:r>
              <a:rPr lang="en-IN" dirty="0" err="1"/>
              <a:t>schema.graphql</a:t>
            </a:r>
            <a:endParaRPr lang="en-IN" dirty="0"/>
          </a:p>
          <a:p>
            <a:pPr marL="384048" lvl="2" indent="0">
              <a:buNone/>
            </a:pPr>
            <a:r>
              <a:rPr lang="en-US" sz="1400" dirty="0">
                <a:latin typeface="Aptos Narrow" panose="020B0004020202020204" pitchFamily="34" charset="0"/>
              </a:rPr>
              <a:t>type Issue {</a:t>
            </a:r>
          </a:p>
          <a:p>
            <a:pPr marL="384048" lvl="2" indent="0">
              <a:buNone/>
            </a:pPr>
            <a:r>
              <a:rPr lang="en-US" sz="1400" dirty="0">
                <a:latin typeface="Aptos Narrow" panose="020B0004020202020204" pitchFamily="34" charset="0"/>
              </a:rPr>
              <a:t>  	id: Int!</a:t>
            </a:r>
          </a:p>
          <a:p>
            <a:pPr marL="384048" lvl="2" indent="0">
              <a:buNone/>
            </a:pPr>
            <a:r>
              <a:rPr lang="en-US" sz="1400" dirty="0">
                <a:latin typeface="Aptos Narrow" panose="020B0004020202020204" pitchFamily="34" charset="0"/>
              </a:rPr>
              <a:t> 	title: String!</a:t>
            </a:r>
          </a:p>
          <a:p>
            <a:pPr marL="384048" lvl="2" indent="0">
              <a:buNone/>
            </a:pPr>
            <a:r>
              <a:rPr lang="en-US" sz="1400" dirty="0">
                <a:latin typeface="Aptos Narrow" panose="020B0004020202020204" pitchFamily="34" charset="0"/>
              </a:rPr>
              <a:t>  	status: String!</a:t>
            </a:r>
          </a:p>
          <a:p>
            <a:pPr marL="384048" lvl="2" indent="0">
              <a:buNone/>
            </a:pPr>
            <a:r>
              <a:rPr lang="en-US" sz="1400" dirty="0">
                <a:latin typeface="Aptos Narrow" panose="020B0004020202020204" pitchFamily="34" charset="0"/>
              </a:rPr>
              <a:t>  	owner: String</a:t>
            </a:r>
          </a:p>
          <a:p>
            <a:pPr marL="384048" lvl="2" indent="0">
              <a:buNone/>
            </a:pPr>
            <a:r>
              <a:rPr lang="en-US" sz="1400" dirty="0">
                <a:latin typeface="Aptos Narrow" panose="020B0004020202020204" pitchFamily="34" charset="0"/>
              </a:rPr>
              <a:t>  	effort: Int</a:t>
            </a:r>
          </a:p>
          <a:p>
            <a:pPr marL="384048" lvl="2" indent="0">
              <a:buNone/>
            </a:pPr>
            <a:r>
              <a:rPr lang="en-US" sz="1400" dirty="0">
                <a:latin typeface="Aptos Narrow" panose="020B0004020202020204" pitchFamily="34" charset="0"/>
              </a:rPr>
              <a:t> 	 created: String!</a:t>
            </a:r>
          </a:p>
          <a:p>
            <a:pPr marL="384048" lvl="2" indent="0">
              <a:buNone/>
            </a:pPr>
            <a:r>
              <a:rPr lang="en-US" sz="1400" dirty="0">
                <a:latin typeface="Aptos Narrow" panose="020B0004020202020204" pitchFamily="34" charset="0"/>
              </a:rPr>
              <a:t>  	due: String</a:t>
            </a:r>
          </a:p>
          <a:p>
            <a:pPr marL="384048" lvl="2" indent="0">
              <a:buNone/>
            </a:pPr>
            <a:r>
              <a:rPr lang="en-US" sz="1400" dirty="0">
                <a:latin typeface="Aptos Narrow" panose="020B0004020202020204" pitchFamily="34" charset="0"/>
              </a:rPr>
              <a:t>}</a:t>
            </a:r>
          </a:p>
          <a:p>
            <a:pPr marL="384048" lvl="2" indent="0">
              <a:buNone/>
            </a:pPr>
            <a:r>
              <a:rPr lang="en-US" sz="1400" dirty="0">
                <a:latin typeface="Aptos Narrow" panose="020B0004020202020204" pitchFamily="34" charset="0"/>
              </a:rPr>
              <a:t>type Query {</a:t>
            </a:r>
          </a:p>
          <a:p>
            <a:pPr marL="384048" lvl="2" indent="0">
              <a:buNone/>
            </a:pPr>
            <a:r>
              <a:rPr lang="en-US" sz="1400" dirty="0">
                <a:latin typeface="Aptos Narrow" panose="020B0004020202020204" pitchFamily="34" charset="0"/>
              </a:rPr>
              <a:t>  about: String!</a:t>
            </a:r>
          </a:p>
          <a:p>
            <a:pPr marL="384048" lvl="2" indent="0">
              <a:buNone/>
            </a:pPr>
            <a:r>
              <a:rPr lang="en-US" sz="1400" b="1" dirty="0">
                <a:latin typeface="Aptos Narrow" panose="020B0004020202020204" pitchFamily="34" charset="0"/>
              </a:rPr>
              <a:t>  </a:t>
            </a:r>
            <a:r>
              <a:rPr lang="en-US" sz="1400" b="1" dirty="0" err="1">
                <a:latin typeface="Aptos Narrow" panose="020B0004020202020204" pitchFamily="34" charset="0"/>
              </a:rPr>
              <a:t>issueList</a:t>
            </a:r>
            <a:r>
              <a:rPr lang="en-US" sz="1400" b="1" dirty="0">
                <a:latin typeface="Aptos Narrow" panose="020B0004020202020204" pitchFamily="34" charset="0"/>
              </a:rPr>
              <a:t>: [Issue!]!</a:t>
            </a:r>
          </a:p>
          <a:p>
            <a:pPr marL="384048" lvl="2" indent="0">
              <a:buNone/>
            </a:pPr>
            <a:r>
              <a:rPr lang="en-US" sz="1400" dirty="0">
                <a:latin typeface="Aptos Narrow" panose="020B0004020202020204" pitchFamily="34" charset="0"/>
              </a:rPr>
              <a:t>}</a:t>
            </a:r>
          </a:p>
          <a:p>
            <a:pPr marL="384048" lvl="2" indent="0">
              <a:buNone/>
            </a:pPr>
            <a:endParaRPr lang="en-US" sz="1400" dirty="0">
              <a:latin typeface="Aptos Narrow" panose="020B0004020202020204" pitchFamily="34" charset="0"/>
            </a:endParaRPr>
          </a:p>
          <a:p>
            <a:pPr marL="384048" lvl="2" indent="0">
              <a:buNone/>
            </a:pPr>
            <a:r>
              <a:rPr lang="en-US" sz="1400" dirty="0">
                <a:latin typeface="Aptos Narrow" panose="020B0004020202020204" pitchFamily="34" charset="0"/>
              </a:rPr>
              <a:t>type Mutation {</a:t>
            </a:r>
          </a:p>
          <a:p>
            <a:pPr marL="384048" lvl="2" indent="0">
              <a:buNone/>
            </a:pPr>
            <a:r>
              <a:rPr lang="en-US" sz="1400" dirty="0">
                <a:latin typeface="Aptos Narrow" panose="020B0004020202020204" pitchFamily="34" charset="0"/>
              </a:rPr>
              <a:t>  </a:t>
            </a:r>
            <a:r>
              <a:rPr lang="en-US" sz="1400" dirty="0" err="1">
                <a:latin typeface="Aptos Narrow" panose="020B0004020202020204" pitchFamily="34" charset="0"/>
              </a:rPr>
              <a:t>setAboutMessage</a:t>
            </a:r>
            <a:r>
              <a:rPr lang="en-US" sz="1400" dirty="0">
                <a:latin typeface="Aptos Narrow" panose="020B0004020202020204" pitchFamily="34" charset="0"/>
              </a:rPr>
              <a:t>(message: String!): String</a:t>
            </a:r>
          </a:p>
          <a:p>
            <a:pPr marL="384048" lvl="2" indent="0">
              <a:buNone/>
            </a:pPr>
            <a:r>
              <a:rPr lang="en-US" sz="1400" dirty="0"/>
              <a:t>}</a:t>
            </a:r>
          </a:p>
        </p:txBody>
      </p:sp>
    </p:spTree>
    <p:extLst>
      <p:ext uri="{BB962C8B-B14F-4D97-AF65-F5344CB8AC3E}">
        <p14:creationId xmlns:p14="http://schemas.microsoft.com/office/powerpoint/2010/main" val="1659173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B2C5B-758D-72E8-D421-A1BCABF5B1B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A68BF0B-C1B1-E601-2502-311DFE3E813B}"/>
              </a:ext>
            </a:extLst>
          </p:cNvPr>
          <p:cNvSpPr txBox="1">
            <a:spLocks/>
          </p:cNvSpPr>
          <p:nvPr/>
        </p:nvSpPr>
        <p:spPr>
          <a:xfrm>
            <a:off x="410585" y="126462"/>
            <a:ext cx="11370829" cy="6245156"/>
          </a:xfrm>
          <a:prstGeom prst="rect">
            <a:avLst/>
          </a:prstGeom>
        </p:spPr>
        <p:txBody>
          <a:bodyPr wrap="square" numCol="3">
            <a:normAutofit fontScale="85000" lnSpcReduction="20000"/>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3. server.js</a:t>
            </a:r>
          </a:p>
          <a:p>
            <a:pPr marL="201168" lvl="1" indent="0">
              <a:buNone/>
            </a:pPr>
            <a:r>
              <a:rPr lang="en-US" sz="1400" dirty="0"/>
              <a:t>const express = require('</a:t>
            </a:r>
            <a:r>
              <a:rPr lang="en-US" sz="1400" dirty="0" err="1"/>
              <a:t>express'</a:t>
            </a:r>
            <a:r>
              <a:rPr lang="en-US" sz="1400" dirty="0"/>
              <a:t>);</a:t>
            </a:r>
          </a:p>
          <a:p>
            <a:pPr marL="201168" lvl="1" indent="0">
              <a:buNone/>
            </a:pPr>
            <a:r>
              <a:rPr lang="en-US" sz="1400" dirty="0"/>
              <a:t>const { </a:t>
            </a:r>
            <a:r>
              <a:rPr lang="en-US" sz="1400" dirty="0" err="1"/>
              <a:t>graphqlHTTP</a:t>
            </a:r>
            <a:r>
              <a:rPr lang="en-US" sz="1400" dirty="0"/>
              <a:t> } = require('express-</a:t>
            </a:r>
            <a:r>
              <a:rPr lang="en-US" sz="1400" dirty="0" err="1"/>
              <a:t>graphql</a:t>
            </a:r>
            <a:r>
              <a:rPr lang="en-US" sz="1400" dirty="0"/>
              <a:t>');</a:t>
            </a:r>
          </a:p>
          <a:p>
            <a:pPr marL="201168" lvl="1" indent="0">
              <a:buNone/>
            </a:pPr>
            <a:r>
              <a:rPr lang="en-US" sz="1400" dirty="0"/>
              <a:t>const { </a:t>
            </a:r>
            <a:r>
              <a:rPr lang="en-US" sz="1400" dirty="0" err="1"/>
              <a:t>buildSchema</a:t>
            </a:r>
            <a:r>
              <a:rPr lang="en-US" sz="1400" dirty="0"/>
              <a:t> } = require('</a:t>
            </a:r>
            <a:r>
              <a:rPr lang="en-US" sz="1400" dirty="0" err="1"/>
              <a:t>graphql</a:t>
            </a:r>
            <a:r>
              <a:rPr lang="en-US" sz="1400" dirty="0"/>
              <a:t>');</a:t>
            </a:r>
          </a:p>
          <a:p>
            <a:pPr marL="201168" lvl="1" indent="0">
              <a:buNone/>
            </a:pPr>
            <a:r>
              <a:rPr lang="en-US" sz="1400" dirty="0"/>
              <a:t>const fs = require('</a:t>
            </a:r>
            <a:r>
              <a:rPr lang="en-US" sz="1400" dirty="0" err="1"/>
              <a:t>fs'</a:t>
            </a:r>
            <a:r>
              <a:rPr lang="en-US" sz="1400" dirty="0"/>
              <a:t>);</a:t>
            </a:r>
          </a:p>
          <a:p>
            <a:pPr marL="201168" lvl="1" indent="0">
              <a:buNone/>
            </a:pPr>
            <a:r>
              <a:rPr lang="en-US" sz="1400" dirty="0"/>
              <a:t>// Create Express application</a:t>
            </a:r>
          </a:p>
          <a:p>
            <a:pPr marL="201168" lvl="1" indent="0">
              <a:buNone/>
            </a:pPr>
            <a:r>
              <a:rPr lang="en-US" sz="1400" dirty="0"/>
              <a:t>const app = express();</a:t>
            </a:r>
          </a:p>
          <a:p>
            <a:pPr marL="201168" lvl="1" indent="0">
              <a:buNone/>
            </a:pPr>
            <a:endParaRPr lang="en-US" sz="1400" dirty="0"/>
          </a:p>
          <a:p>
            <a:pPr marL="201168" lvl="1" indent="0">
              <a:buNone/>
            </a:pPr>
            <a:r>
              <a:rPr lang="en-US" sz="1400" dirty="0"/>
              <a:t>// Read </a:t>
            </a:r>
            <a:r>
              <a:rPr lang="en-US" sz="1400" dirty="0" err="1"/>
              <a:t>GraphQL</a:t>
            </a:r>
            <a:r>
              <a:rPr lang="en-US" sz="1400" dirty="0"/>
              <a:t> schema</a:t>
            </a:r>
          </a:p>
          <a:p>
            <a:pPr marL="201168" lvl="1" indent="0">
              <a:buNone/>
            </a:pPr>
            <a:r>
              <a:rPr lang="en-US" sz="1400" dirty="0"/>
              <a:t>const </a:t>
            </a:r>
            <a:r>
              <a:rPr lang="en-US" sz="1400" dirty="0" err="1"/>
              <a:t>schemaText</a:t>
            </a:r>
            <a:r>
              <a:rPr lang="en-US" sz="1400" dirty="0"/>
              <a:t> = </a:t>
            </a:r>
            <a:r>
              <a:rPr lang="en-US" sz="1400" dirty="0" err="1"/>
              <a:t>fs.readFileSync</a:t>
            </a:r>
            <a:r>
              <a:rPr lang="en-US" sz="1400" dirty="0"/>
              <a:t>(</a:t>
            </a:r>
          </a:p>
          <a:p>
            <a:pPr marL="201168" lvl="1" indent="0">
              <a:buNone/>
            </a:pPr>
            <a:r>
              <a:rPr lang="en-US" sz="1400" dirty="0"/>
              <a:t>    '</a:t>
            </a:r>
            <a:r>
              <a:rPr lang="en-US" sz="1400" dirty="0" err="1"/>
              <a:t>schema.graphql</a:t>
            </a:r>
            <a:r>
              <a:rPr lang="en-US" sz="1400" dirty="0"/>
              <a:t>',</a:t>
            </a:r>
          </a:p>
          <a:p>
            <a:pPr marL="201168" lvl="1" indent="0">
              <a:buNone/>
            </a:pPr>
            <a:r>
              <a:rPr lang="en-US" sz="1400" dirty="0"/>
              <a:t>    'utf8'</a:t>
            </a:r>
          </a:p>
          <a:p>
            <a:pPr marL="201168" lvl="1" indent="0">
              <a:buNone/>
            </a:pPr>
            <a:r>
              <a:rPr lang="en-US" sz="1400" dirty="0"/>
              <a:t>);</a:t>
            </a:r>
          </a:p>
          <a:p>
            <a:pPr marL="201168" lvl="1" indent="0">
              <a:buNone/>
            </a:pPr>
            <a:endParaRPr lang="en-US" sz="1400" dirty="0"/>
          </a:p>
          <a:p>
            <a:pPr marL="201168" lvl="1" indent="0">
              <a:buNone/>
            </a:pPr>
            <a:r>
              <a:rPr lang="en-US" sz="1400" dirty="0"/>
              <a:t>// Build </a:t>
            </a:r>
            <a:r>
              <a:rPr lang="en-US" sz="1400" dirty="0" err="1"/>
              <a:t>GraphQL</a:t>
            </a:r>
            <a:r>
              <a:rPr lang="en-US" sz="1400" dirty="0"/>
              <a:t> schema</a:t>
            </a:r>
          </a:p>
          <a:p>
            <a:pPr marL="201168" lvl="1" indent="0">
              <a:buNone/>
            </a:pPr>
            <a:r>
              <a:rPr lang="en-US" sz="1400" dirty="0"/>
              <a:t>const schema = </a:t>
            </a:r>
            <a:r>
              <a:rPr lang="en-US" sz="1400" dirty="0" err="1"/>
              <a:t>buildSchema</a:t>
            </a:r>
            <a:r>
              <a:rPr lang="en-US" sz="1400" dirty="0"/>
              <a:t>(</a:t>
            </a:r>
            <a:r>
              <a:rPr lang="en-US" sz="1400" dirty="0" err="1"/>
              <a:t>schemaText</a:t>
            </a:r>
            <a:r>
              <a:rPr lang="en-US" sz="1400" dirty="0"/>
              <a:t>);</a:t>
            </a:r>
          </a:p>
          <a:p>
            <a:pPr marL="201168" lvl="1" indent="0">
              <a:buNone/>
            </a:pPr>
            <a:endParaRPr lang="en-US" sz="1400" dirty="0"/>
          </a:p>
          <a:p>
            <a:pPr marL="201168" lvl="1" indent="0">
              <a:buNone/>
            </a:pPr>
            <a:r>
              <a:rPr lang="en-US" sz="1400" dirty="0"/>
              <a:t>// About message</a:t>
            </a:r>
          </a:p>
          <a:p>
            <a:pPr marL="201168" lvl="1" indent="0">
              <a:buNone/>
            </a:pPr>
            <a:r>
              <a:rPr lang="en-US" sz="1400" dirty="0"/>
              <a:t>let </a:t>
            </a:r>
            <a:r>
              <a:rPr lang="en-US" sz="1400" dirty="0" err="1"/>
              <a:t>aboutMessage</a:t>
            </a:r>
            <a:r>
              <a:rPr lang="en-US" sz="1400" dirty="0"/>
              <a:t> = 'Issue Tracker API v1.0';</a:t>
            </a:r>
          </a:p>
          <a:p>
            <a:pPr marL="201168" lvl="1" indent="0">
              <a:buNone/>
            </a:pPr>
            <a:endParaRPr lang="en-US" sz="1400" dirty="0"/>
          </a:p>
          <a:p>
            <a:pPr marL="201168" lvl="1" indent="0">
              <a:buNone/>
            </a:pPr>
            <a:r>
              <a:rPr lang="en-US" sz="1400" dirty="0"/>
              <a:t>// Temporary database</a:t>
            </a:r>
          </a:p>
          <a:p>
            <a:pPr marL="201168" lvl="1" indent="0">
              <a:buNone/>
            </a:pPr>
            <a:r>
              <a:rPr lang="en-US" sz="1400" dirty="0"/>
              <a:t>const </a:t>
            </a:r>
            <a:r>
              <a:rPr lang="en-US" sz="1400" dirty="0" err="1"/>
              <a:t>issuesDB</a:t>
            </a:r>
            <a:r>
              <a:rPr lang="en-US" sz="1400" dirty="0"/>
              <a:t> = [</a:t>
            </a:r>
          </a:p>
          <a:p>
            <a:pPr marL="201168" lvl="1" indent="0">
              <a:buNone/>
            </a:pPr>
            <a:r>
              <a:rPr lang="en-US" sz="1400" dirty="0"/>
              <a:t>    {</a:t>
            </a:r>
          </a:p>
          <a:p>
            <a:pPr marL="201168" lvl="1" indent="0">
              <a:buNone/>
            </a:pPr>
            <a:r>
              <a:rPr lang="en-US" sz="1400" dirty="0"/>
              <a:t>        id: 1,</a:t>
            </a:r>
          </a:p>
          <a:p>
            <a:pPr marL="201168" lvl="1" indent="0">
              <a:buNone/>
            </a:pPr>
            <a:r>
              <a:rPr lang="en-US" sz="1400" dirty="0"/>
              <a:t>        status: 'New',</a:t>
            </a:r>
          </a:p>
          <a:p>
            <a:pPr marL="201168" lvl="1" indent="0">
              <a:buNone/>
            </a:pPr>
            <a:r>
              <a:rPr lang="en-US" sz="1400" dirty="0"/>
              <a:t>        owner: 'Ravan',</a:t>
            </a:r>
          </a:p>
          <a:p>
            <a:pPr marL="201168" lvl="1" indent="0">
              <a:buNone/>
            </a:pPr>
            <a:r>
              <a:rPr lang="en-US" sz="1400" dirty="0"/>
              <a:t>        effort: 5,</a:t>
            </a:r>
          </a:p>
          <a:p>
            <a:pPr marL="201168" lvl="1" indent="0">
              <a:buNone/>
            </a:pPr>
            <a:r>
              <a:rPr lang="en-US" sz="1400" dirty="0"/>
              <a:t>        created: new Date('2019-01-15'),</a:t>
            </a:r>
          </a:p>
          <a:p>
            <a:pPr marL="201168" lvl="1" indent="0">
              <a:buNone/>
            </a:pPr>
            <a:r>
              <a:rPr lang="en-US" sz="1400" dirty="0"/>
              <a:t>        due: undefined,</a:t>
            </a:r>
          </a:p>
          <a:p>
            <a:pPr marL="201168" lvl="1" indent="0">
              <a:buNone/>
            </a:pPr>
            <a:r>
              <a:rPr lang="en-US" sz="1400" dirty="0"/>
              <a:t>        title: 'Error in console when clicking Add'</a:t>
            </a:r>
          </a:p>
          <a:p>
            <a:pPr marL="201168" lvl="1" indent="0">
              <a:buNone/>
            </a:pPr>
            <a:r>
              <a:rPr lang="en-US" sz="1400" dirty="0"/>
              <a:t>    },</a:t>
            </a:r>
          </a:p>
          <a:p>
            <a:pPr marL="201168" lvl="1" indent="0">
              <a:buNone/>
            </a:pPr>
            <a:r>
              <a:rPr lang="en-US" sz="1400" dirty="0"/>
              <a:t>    {</a:t>
            </a:r>
          </a:p>
          <a:p>
            <a:pPr marL="201168" lvl="1" indent="0">
              <a:buNone/>
            </a:pPr>
            <a:r>
              <a:rPr lang="en-US" sz="1400" dirty="0"/>
              <a:t>        id: 2,</a:t>
            </a:r>
          </a:p>
          <a:p>
            <a:pPr marL="201168" lvl="1" indent="0">
              <a:buNone/>
            </a:pPr>
            <a:r>
              <a:rPr lang="en-US" sz="1400" dirty="0"/>
              <a:t>        status: 'Assigned',</a:t>
            </a:r>
          </a:p>
          <a:p>
            <a:pPr marL="201168" lvl="1" indent="0">
              <a:buNone/>
            </a:pPr>
            <a:r>
              <a:rPr lang="en-US" sz="1400" dirty="0"/>
              <a:t>        owner: 'Eddie',</a:t>
            </a:r>
          </a:p>
          <a:p>
            <a:pPr marL="201168" lvl="1" indent="0">
              <a:buNone/>
            </a:pPr>
            <a:r>
              <a:rPr lang="en-US" sz="1400" dirty="0"/>
              <a:t>        effort: 14,</a:t>
            </a:r>
          </a:p>
          <a:p>
            <a:pPr marL="201168" lvl="1" indent="0">
              <a:buNone/>
            </a:pPr>
            <a:r>
              <a:rPr lang="en-US" sz="1400" dirty="0"/>
              <a:t>        created: new Date('2019-01-16'),</a:t>
            </a:r>
          </a:p>
          <a:p>
            <a:pPr marL="201168" lvl="1" indent="0">
              <a:buNone/>
            </a:pPr>
            <a:r>
              <a:rPr lang="en-US" sz="1400" dirty="0"/>
              <a:t>        due: new Date('2019-02-01'),</a:t>
            </a:r>
          </a:p>
          <a:p>
            <a:pPr marL="201168" lvl="1" indent="0">
              <a:buNone/>
            </a:pPr>
            <a:r>
              <a:rPr lang="en-US" sz="1400" dirty="0"/>
              <a:t>        title: 'Missing bottom border on panel'</a:t>
            </a:r>
          </a:p>
          <a:p>
            <a:pPr marL="201168" lvl="1" indent="0">
              <a:buNone/>
            </a:pPr>
            <a:r>
              <a:rPr lang="en-US" sz="1400" dirty="0"/>
              <a:t>    }</a:t>
            </a:r>
          </a:p>
          <a:p>
            <a:pPr marL="201168" lvl="1" indent="0">
              <a:buNone/>
            </a:pPr>
            <a:r>
              <a:rPr lang="en-US" sz="1400" dirty="0"/>
              <a:t>];</a:t>
            </a:r>
          </a:p>
          <a:p>
            <a:pPr marL="201168" lvl="1" indent="0">
              <a:buNone/>
            </a:pPr>
            <a:endParaRPr lang="en-US" sz="1400" dirty="0"/>
          </a:p>
          <a:p>
            <a:pPr marL="201168" lvl="1" indent="0">
              <a:buNone/>
            </a:pPr>
            <a:r>
              <a:rPr lang="en-US" sz="1400" dirty="0"/>
              <a:t>// Resolver functions</a:t>
            </a:r>
          </a:p>
          <a:p>
            <a:pPr marL="201168" lvl="1" indent="0">
              <a:buNone/>
            </a:pPr>
            <a:r>
              <a:rPr lang="en-US" sz="1400" dirty="0"/>
              <a:t>const root = {</a:t>
            </a:r>
          </a:p>
          <a:p>
            <a:pPr marL="201168" lvl="1" indent="0">
              <a:buNone/>
            </a:pPr>
            <a:r>
              <a:rPr lang="en-US" sz="1400" dirty="0"/>
              <a:t>    // Query: about</a:t>
            </a:r>
          </a:p>
          <a:p>
            <a:pPr marL="201168" lvl="1" indent="0">
              <a:buNone/>
            </a:pPr>
            <a:r>
              <a:rPr lang="en-US" sz="1400" dirty="0"/>
              <a:t>    about: function () {</a:t>
            </a:r>
          </a:p>
          <a:p>
            <a:pPr marL="201168" lvl="1" indent="0">
              <a:buNone/>
            </a:pPr>
            <a:r>
              <a:rPr lang="en-US" sz="1400" dirty="0"/>
              <a:t>        return </a:t>
            </a:r>
            <a:r>
              <a:rPr lang="en-US" sz="1400" dirty="0" err="1"/>
              <a:t>aboutMessage</a:t>
            </a:r>
            <a:r>
              <a:rPr lang="en-US" sz="1400" dirty="0"/>
              <a:t>;</a:t>
            </a:r>
          </a:p>
          <a:p>
            <a:pPr marL="201168" lvl="1" indent="0">
              <a:buNone/>
            </a:pPr>
            <a:r>
              <a:rPr lang="en-US" sz="1400" dirty="0"/>
              <a:t>    },</a:t>
            </a:r>
          </a:p>
          <a:p>
            <a:pPr marL="201168" lvl="1" indent="0">
              <a:buNone/>
            </a:pPr>
            <a:endParaRPr lang="en-US" sz="1400" dirty="0"/>
          </a:p>
          <a:p>
            <a:pPr marL="201168" lvl="1" indent="0">
              <a:buNone/>
            </a:pPr>
            <a:r>
              <a:rPr lang="en-US" sz="1400" dirty="0"/>
              <a:t>    // Query: </a:t>
            </a:r>
            <a:r>
              <a:rPr lang="en-US" sz="1400" dirty="0" err="1"/>
              <a:t>issueList</a:t>
            </a:r>
            <a:endParaRPr lang="en-US" sz="1400" dirty="0"/>
          </a:p>
          <a:p>
            <a:pPr marL="201168" lvl="1" indent="0">
              <a:buNone/>
            </a:pPr>
            <a:r>
              <a:rPr lang="en-US" sz="1400" dirty="0"/>
              <a:t>    </a:t>
            </a:r>
            <a:r>
              <a:rPr lang="en-US" sz="1400" b="1" dirty="0" err="1"/>
              <a:t>issueList</a:t>
            </a:r>
            <a:r>
              <a:rPr lang="en-US" sz="1400" b="1" dirty="0"/>
              <a:t>: function () {</a:t>
            </a:r>
          </a:p>
          <a:p>
            <a:pPr marL="201168" lvl="1" indent="0">
              <a:buNone/>
            </a:pPr>
            <a:r>
              <a:rPr lang="en-US" sz="1400" b="1" dirty="0"/>
              <a:t>        return </a:t>
            </a:r>
            <a:r>
              <a:rPr lang="en-US" sz="1400" b="1" dirty="0" err="1"/>
              <a:t>issuesDB</a:t>
            </a:r>
            <a:r>
              <a:rPr lang="en-US" sz="1400" b="1" dirty="0"/>
              <a:t>;</a:t>
            </a:r>
          </a:p>
          <a:p>
            <a:pPr marL="201168" lvl="1" indent="0">
              <a:buNone/>
            </a:pPr>
            <a:r>
              <a:rPr lang="en-US" sz="1400" b="1" dirty="0"/>
              <a:t>    },</a:t>
            </a:r>
          </a:p>
          <a:p>
            <a:pPr marL="201168" lvl="1" indent="0">
              <a:buNone/>
            </a:pPr>
            <a:r>
              <a:rPr lang="en-US" sz="1400" dirty="0"/>
              <a:t>    // Mutation: </a:t>
            </a:r>
            <a:r>
              <a:rPr lang="en-US" sz="1400" dirty="0" err="1"/>
              <a:t>setAboutMessage</a:t>
            </a:r>
            <a:endParaRPr lang="en-US" sz="1400" dirty="0"/>
          </a:p>
          <a:p>
            <a:pPr marL="201168" lvl="1" indent="0">
              <a:buNone/>
            </a:pPr>
            <a:r>
              <a:rPr lang="en-US" sz="1400" dirty="0"/>
              <a:t>    </a:t>
            </a:r>
            <a:r>
              <a:rPr lang="en-US" sz="1400" dirty="0" err="1"/>
              <a:t>setAboutMessage</a:t>
            </a:r>
            <a:r>
              <a:rPr lang="en-US" sz="1400" dirty="0"/>
              <a:t>: function ({ message }) {</a:t>
            </a:r>
          </a:p>
          <a:p>
            <a:pPr marL="201168" lvl="1" indent="0">
              <a:buNone/>
            </a:pPr>
            <a:r>
              <a:rPr lang="en-US" sz="1400" dirty="0"/>
              <a:t>        </a:t>
            </a:r>
            <a:r>
              <a:rPr lang="en-US" sz="1400" dirty="0" err="1"/>
              <a:t>aboutMessage</a:t>
            </a:r>
            <a:r>
              <a:rPr lang="en-US" sz="1400" dirty="0"/>
              <a:t> = message;</a:t>
            </a:r>
          </a:p>
          <a:p>
            <a:pPr marL="201168" lvl="1" indent="0">
              <a:buNone/>
            </a:pPr>
            <a:r>
              <a:rPr lang="en-US" sz="1400" dirty="0"/>
              <a:t>        return </a:t>
            </a:r>
            <a:r>
              <a:rPr lang="en-US" sz="1400" dirty="0" err="1"/>
              <a:t>aboutMessage</a:t>
            </a:r>
            <a:r>
              <a:rPr lang="en-US" sz="1400" dirty="0"/>
              <a:t>;</a:t>
            </a:r>
          </a:p>
          <a:p>
            <a:pPr marL="201168" lvl="1" indent="0">
              <a:buNone/>
            </a:pPr>
            <a:r>
              <a:rPr lang="en-US" sz="1400" dirty="0"/>
              <a:t>    }</a:t>
            </a:r>
          </a:p>
          <a:p>
            <a:pPr marL="201168" lvl="1" indent="0">
              <a:buNone/>
            </a:pPr>
            <a:r>
              <a:rPr lang="en-US" sz="1400" dirty="0"/>
              <a:t>};</a:t>
            </a:r>
          </a:p>
          <a:p>
            <a:pPr marL="201168" lvl="1" indent="0">
              <a:buNone/>
            </a:pPr>
            <a:endParaRPr lang="en-US" sz="1400" dirty="0"/>
          </a:p>
          <a:p>
            <a:pPr marL="201168" lvl="1" indent="0">
              <a:buNone/>
            </a:pPr>
            <a:r>
              <a:rPr lang="en-US" sz="1400" dirty="0"/>
              <a:t>// </a:t>
            </a:r>
            <a:r>
              <a:rPr lang="en-US" sz="1400" dirty="0" err="1"/>
              <a:t>GraphQL</a:t>
            </a:r>
            <a:r>
              <a:rPr lang="en-US" sz="1400" dirty="0"/>
              <a:t> endpoint</a:t>
            </a:r>
          </a:p>
          <a:p>
            <a:pPr marL="201168" lvl="1" indent="0">
              <a:buNone/>
            </a:pPr>
            <a:r>
              <a:rPr lang="en-US" sz="1400" dirty="0" err="1"/>
              <a:t>app.use</a:t>
            </a:r>
            <a:r>
              <a:rPr lang="en-US" sz="1400" dirty="0"/>
              <a:t>(</a:t>
            </a:r>
          </a:p>
          <a:p>
            <a:pPr marL="201168" lvl="1" indent="0">
              <a:buNone/>
            </a:pPr>
            <a:r>
              <a:rPr lang="en-US" sz="1400" dirty="0"/>
              <a:t>    '/</a:t>
            </a:r>
            <a:r>
              <a:rPr lang="en-US" sz="1400" dirty="0" err="1"/>
              <a:t>graphql</a:t>
            </a:r>
            <a:r>
              <a:rPr lang="en-US" sz="1400" dirty="0"/>
              <a:t>',</a:t>
            </a:r>
          </a:p>
          <a:p>
            <a:pPr marL="201168" lvl="1" indent="0">
              <a:buNone/>
            </a:pPr>
            <a:r>
              <a:rPr lang="en-US" sz="1400" dirty="0"/>
              <a:t>    </a:t>
            </a:r>
            <a:r>
              <a:rPr lang="en-US" sz="1400" dirty="0" err="1"/>
              <a:t>graphqlHTTP</a:t>
            </a:r>
            <a:r>
              <a:rPr lang="en-US" sz="1400" dirty="0"/>
              <a:t>({</a:t>
            </a:r>
          </a:p>
          <a:p>
            <a:pPr marL="201168" lvl="1" indent="0">
              <a:buNone/>
            </a:pPr>
            <a:r>
              <a:rPr lang="en-US" sz="1400" dirty="0"/>
              <a:t>        schema: schema,</a:t>
            </a:r>
          </a:p>
          <a:p>
            <a:pPr marL="201168" lvl="1" indent="0">
              <a:buNone/>
            </a:pPr>
            <a:r>
              <a:rPr lang="en-US" sz="1400" dirty="0"/>
              <a:t>        </a:t>
            </a:r>
            <a:r>
              <a:rPr lang="en-US" sz="1400" dirty="0" err="1"/>
              <a:t>rootValue</a:t>
            </a:r>
            <a:r>
              <a:rPr lang="en-US" sz="1400" dirty="0"/>
              <a:t>: root,</a:t>
            </a:r>
          </a:p>
          <a:p>
            <a:pPr marL="201168" lvl="1" indent="0">
              <a:buNone/>
            </a:pPr>
            <a:r>
              <a:rPr lang="en-US" sz="1400" dirty="0"/>
              <a:t>        </a:t>
            </a:r>
            <a:r>
              <a:rPr lang="en-US" sz="1400" dirty="0" err="1"/>
              <a:t>graphiql</a:t>
            </a:r>
            <a:r>
              <a:rPr lang="en-US" sz="1400" dirty="0"/>
              <a:t>: true</a:t>
            </a:r>
          </a:p>
          <a:p>
            <a:pPr marL="201168" lvl="1" indent="0">
              <a:buNone/>
            </a:pPr>
            <a:r>
              <a:rPr lang="en-US" sz="1400" dirty="0"/>
              <a:t>    })</a:t>
            </a:r>
          </a:p>
          <a:p>
            <a:pPr marL="201168" lvl="1" indent="0">
              <a:buNone/>
            </a:pPr>
            <a:r>
              <a:rPr lang="en-US" sz="1400" dirty="0"/>
              <a:t>);</a:t>
            </a:r>
          </a:p>
          <a:p>
            <a:pPr marL="201168" lvl="1" indent="0">
              <a:buNone/>
            </a:pPr>
            <a:endParaRPr lang="en-US" sz="1400" dirty="0"/>
          </a:p>
          <a:p>
            <a:pPr marL="201168" lvl="1" indent="0">
              <a:buNone/>
            </a:pPr>
            <a:r>
              <a:rPr lang="en-US" sz="1400" dirty="0"/>
              <a:t>// Start server</a:t>
            </a:r>
          </a:p>
          <a:p>
            <a:pPr marL="201168" lvl="1" indent="0">
              <a:buNone/>
            </a:pPr>
            <a:r>
              <a:rPr lang="en-US" sz="1400" dirty="0"/>
              <a:t>const PORT = 3000;</a:t>
            </a:r>
          </a:p>
          <a:p>
            <a:pPr marL="201168" lvl="1" indent="0">
              <a:buNone/>
            </a:pPr>
            <a:endParaRPr lang="en-US" sz="1400" dirty="0"/>
          </a:p>
          <a:p>
            <a:pPr marL="201168" lvl="1" indent="0">
              <a:buNone/>
            </a:pPr>
            <a:r>
              <a:rPr lang="en-US" sz="1400" dirty="0" err="1"/>
              <a:t>app.listen</a:t>
            </a:r>
            <a:r>
              <a:rPr lang="en-US" sz="1400" dirty="0"/>
              <a:t>(PORT, function () {</a:t>
            </a:r>
          </a:p>
          <a:p>
            <a:pPr marL="201168" lvl="1" indent="0">
              <a:buNone/>
            </a:pPr>
            <a:r>
              <a:rPr lang="en-US" sz="1400" dirty="0"/>
              <a:t>    console.log(</a:t>
            </a:r>
          </a:p>
          <a:p>
            <a:pPr marL="201168" lvl="1" indent="0">
              <a:buNone/>
            </a:pPr>
            <a:r>
              <a:rPr lang="en-US" sz="1400" dirty="0"/>
              <a:t>        </a:t>
            </a:r>
            <a:r>
              <a:rPr lang="en-US" sz="1400" dirty="0">
                <a:solidFill>
                  <a:srgbClr val="00B050"/>
                </a:solidFill>
              </a:rPr>
              <a:t>`</a:t>
            </a:r>
            <a:r>
              <a:rPr lang="en-US" sz="1400" dirty="0" err="1">
                <a:solidFill>
                  <a:srgbClr val="00B050"/>
                </a:solidFill>
              </a:rPr>
              <a:t>GraphQL</a:t>
            </a:r>
            <a:r>
              <a:rPr lang="en-US" sz="1400" dirty="0">
                <a:solidFill>
                  <a:srgbClr val="00B050"/>
                </a:solidFill>
              </a:rPr>
              <a:t> server running at http://localhost:${PORT}/graphql`</a:t>
            </a:r>
          </a:p>
          <a:p>
            <a:pPr marL="201168" lvl="1" indent="0">
              <a:buNone/>
            </a:pPr>
            <a:r>
              <a:rPr lang="en-US" sz="1400" dirty="0"/>
              <a:t>    );</a:t>
            </a:r>
          </a:p>
          <a:p>
            <a:pPr marL="201168" lvl="1" indent="0">
              <a:buNone/>
            </a:pPr>
            <a:r>
              <a:rPr lang="en-US" sz="1200" dirty="0"/>
              <a:t>});</a:t>
            </a:r>
            <a:endParaRPr lang="en-US" sz="1600" dirty="0"/>
          </a:p>
        </p:txBody>
      </p:sp>
    </p:spTree>
    <p:extLst>
      <p:ext uri="{BB962C8B-B14F-4D97-AF65-F5344CB8AC3E}">
        <p14:creationId xmlns:p14="http://schemas.microsoft.com/office/powerpoint/2010/main" val="30868380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C113C-4079-0401-5447-8D220B162293}"/>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583AC5B-1C21-0C8C-0F63-C3AA009BA45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Install the packages</a:t>
            </a:r>
          </a:p>
          <a:p>
            <a:pPr lvl="1">
              <a:buFont typeface="Arial" panose="020B0604020202020204" pitchFamily="34" charset="0"/>
              <a:buChar char="•"/>
            </a:pPr>
            <a:r>
              <a:rPr lang="en-IN" sz="1600" dirty="0"/>
              <a:t>E:\ReactFolder\GraphQLListAPI</a:t>
            </a:r>
          </a:p>
          <a:p>
            <a:pPr lvl="1">
              <a:buFont typeface="Arial" panose="020B0604020202020204" pitchFamily="34" charset="0"/>
              <a:buChar char="•"/>
            </a:pPr>
            <a:r>
              <a:rPr lang="en-IN" sz="1600" dirty="0" err="1"/>
              <a:t>npm</a:t>
            </a:r>
            <a:r>
              <a:rPr lang="en-IN" sz="1600" dirty="0"/>
              <a:t> install</a:t>
            </a:r>
          </a:p>
          <a:p>
            <a:pPr lvl="1">
              <a:buFont typeface="Arial" panose="020B0604020202020204" pitchFamily="34" charset="0"/>
              <a:buChar char="•"/>
            </a:pPr>
            <a:r>
              <a:rPr lang="en-IN" sz="1600" dirty="0"/>
              <a:t>You should get: 	</a:t>
            </a:r>
            <a:r>
              <a:rPr lang="en-IN" sz="1600" dirty="0" err="1">
                <a:solidFill>
                  <a:srgbClr val="00B050"/>
                </a:solidFill>
              </a:rPr>
              <a:t>GraphQL</a:t>
            </a:r>
            <a:r>
              <a:rPr lang="en-IN" sz="1600" dirty="0">
                <a:solidFill>
                  <a:srgbClr val="00B050"/>
                </a:solidFill>
              </a:rPr>
              <a:t> server running at </a:t>
            </a:r>
            <a:r>
              <a:rPr lang="en-IN" sz="1600" dirty="0">
                <a:solidFill>
                  <a:srgbClr val="00B050"/>
                </a:solidFill>
                <a:hlinkClick r:id="rId2"/>
              </a:rPr>
              <a:t>http://localhost:3000/graphql</a:t>
            </a:r>
            <a:r>
              <a:rPr lang="en-IN" sz="1600" dirty="0">
                <a:solidFill>
                  <a:srgbClr val="00B050"/>
                </a:solidFill>
              </a:rPr>
              <a:t>     - </a:t>
            </a:r>
            <a:r>
              <a:rPr lang="en-IN" sz="1600" dirty="0">
                <a:solidFill>
                  <a:schemeClr val="tx1"/>
                </a:solidFill>
              </a:rPr>
              <a:t>server is running</a:t>
            </a:r>
          </a:p>
          <a:p>
            <a:pPr lvl="1">
              <a:buFont typeface="Arial" panose="020B0604020202020204" pitchFamily="34" charset="0"/>
              <a:buChar char="•"/>
            </a:pPr>
            <a:r>
              <a:rPr lang="en-IN" sz="1600" dirty="0"/>
              <a:t>Open </a:t>
            </a:r>
            <a:r>
              <a:rPr lang="en-IN" sz="1600" dirty="0" err="1"/>
              <a:t>GraphQL</a:t>
            </a:r>
            <a:r>
              <a:rPr lang="en-IN" sz="1600" dirty="0"/>
              <a:t> interface – </a:t>
            </a:r>
          </a:p>
          <a:p>
            <a:pPr lvl="2">
              <a:buFont typeface="Arial" panose="020B0604020202020204" pitchFamily="34" charset="0"/>
              <a:buChar char="•"/>
            </a:pPr>
            <a:r>
              <a:rPr lang="en-IN" sz="1400" dirty="0"/>
              <a:t>Open your browser and enter: </a:t>
            </a:r>
            <a:r>
              <a:rPr lang="en-IN" sz="1400" dirty="0">
                <a:solidFill>
                  <a:srgbClr val="FF0000"/>
                </a:solidFill>
              </a:rPr>
              <a:t>http://localhost:3000/graphql</a:t>
            </a:r>
          </a:p>
          <a:p>
            <a:pPr lvl="1">
              <a:buFont typeface="Arial" panose="020B0604020202020204" pitchFamily="34" charset="0"/>
              <a:buChar char="•"/>
            </a:pPr>
            <a:r>
              <a:rPr lang="en-IN" sz="1600" dirty="0"/>
              <a:t>You should see the </a:t>
            </a:r>
            <a:r>
              <a:rPr lang="en-IN" sz="1600" dirty="0" err="1"/>
              <a:t>GraphQL</a:t>
            </a:r>
            <a:r>
              <a:rPr lang="en-IN" sz="1600" dirty="0"/>
              <a:t> interface.</a:t>
            </a:r>
          </a:p>
          <a:p>
            <a:pPr lvl="1">
              <a:buFont typeface="Arial" panose="020B0604020202020204" pitchFamily="34" charset="0"/>
              <a:buChar char="•"/>
            </a:pPr>
            <a:r>
              <a:rPr lang="en-IN" sz="1600" dirty="0"/>
              <a:t>Enter this query:					       Output:</a:t>
            </a:r>
          </a:p>
          <a:p>
            <a:pPr marL="566928" lvl="3" indent="0">
              <a:buNone/>
            </a:pPr>
            <a:r>
              <a:rPr lang="en-US" sz="1200" dirty="0">
                <a:solidFill>
                  <a:schemeClr val="tx1"/>
                </a:solidFill>
              </a:rPr>
              <a:t>query {</a:t>
            </a:r>
          </a:p>
          <a:p>
            <a:pPr marL="566928" lvl="3" indent="0">
              <a:buNone/>
            </a:pPr>
            <a:r>
              <a:rPr lang="en-US" sz="1200" dirty="0">
                <a:solidFill>
                  <a:schemeClr val="tx1"/>
                </a:solidFill>
              </a:rPr>
              <a:t>  </a:t>
            </a:r>
            <a:r>
              <a:rPr lang="en-US" sz="1200" dirty="0" err="1">
                <a:solidFill>
                  <a:schemeClr val="tx1"/>
                </a:solidFill>
              </a:rPr>
              <a:t>issueList</a:t>
            </a:r>
            <a:r>
              <a:rPr lang="en-US" sz="1200" dirty="0">
                <a:solidFill>
                  <a:schemeClr val="tx1"/>
                </a:solidFill>
              </a:rPr>
              <a:t> {</a:t>
            </a:r>
          </a:p>
          <a:p>
            <a:pPr marL="566928" lvl="3" indent="0">
              <a:buNone/>
            </a:pPr>
            <a:r>
              <a:rPr lang="en-US" sz="1200" dirty="0">
                <a:solidFill>
                  <a:schemeClr val="tx1"/>
                </a:solidFill>
              </a:rPr>
              <a:t>    id</a:t>
            </a:r>
          </a:p>
          <a:p>
            <a:pPr marL="566928" lvl="3" indent="0">
              <a:buNone/>
            </a:pPr>
            <a:r>
              <a:rPr lang="en-US" sz="1200" dirty="0">
                <a:solidFill>
                  <a:schemeClr val="tx1"/>
                </a:solidFill>
              </a:rPr>
              <a:t>    title</a:t>
            </a:r>
          </a:p>
          <a:p>
            <a:pPr marL="566928" lvl="3" indent="0">
              <a:buNone/>
            </a:pPr>
            <a:r>
              <a:rPr lang="en-US" sz="1200" dirty="0">
                <a:solidFill>
                  <a:schemeClr val="tx1"/>
                </a:solidFill>
              </a:rPr>
              <a:t>    created</a:t>
            </a:r>
          </a:p>
          <a:p>
            <a:pPr marL="566928" lvl="3" indent="0">
              <a:buNone/>
            </a:pPr>
            <a:r>
              <a:rPr lang="en-US" sz="1200" dirty="0">
                <a:solidFill>
                  <a:schemeClr val="tx1"/>
                </a:solidFill>
              </a:rPr>
              <a:t>  }</a:t>
            </a:r>
          </a:p>
          <a:p>
            <a:pPr marL="566928" lvl="3" indent="0">
              <a:buNone/>
            </a:pPr>
            <a:r>
              <a:rPr lang="en-US" sz="1200" dirty="0">
                <a:solidFill>
                  <a:schemeClr val="tx1"/>
                </a:solidFill>
              </a:rPr>
              <a:t>}</a:t>
            </a:r>
            <a:endParaRPr lang="en-IN" sz="1200" dirty="0">
              <a:solidFill>
                <a:schemeClr val="tx1"/>
              </a:solidFill>
            </a:endParaRPr>
          </a:p>
          <a:p>
            <a:pPr lvl="1">
              <a:buFont typeface="Arial" panose="020B0604020202020204" pitchFamily="34" charset="0"/>
              <a:buChar char="•"/>
            </a:pPr>
            <a:endParaRPr lang="en-IN" sz="1600" dirty="0">
              <a:solidFill>
                <a:schemeClr val="tx1"/>
              </a:solidFill>
            </a:endParaRPr>
          </a:p>
          <a:p>
            <a:pPr lvl="1">
              <a:buFont typeface="Arial" panose="020B0604020202020204" pitchFamily="34" charset="0"/>
              <a:buChar char="•"/>
            </a:pPr>
            <a:r>
              <a:rPr lang="en-IN" sz="1600" dirty="0">
                <a:solidFill>
                  <a:schemeClr val="tx1"/>
                </a:solidFill>
              </a:rPr>
              <a:t>User can enter any query</a:t>
            </a:r>
          </a:p>
        </p:txBody>
      </p:sp>
      <p:pic>
        <p:nvPicPr>
          <p:cNvPr id="3" name="Picture 2">
            <a:extLst>
              <a:ext uri="{FF2B5EF4-FFF2-40B4-BE49-F238E27FC236}">
                <a16:creationId xmlns:a16="http://schemas.microsoft.com/office/drawing/2014/main" id="{C939D4F9-970D-F7D5-3153-57193EB0F1B2}"/>
              </a:ext>
            </a:extLst>
          </p:cNvPr>
          <p:cNvPicPr>
            <a:picLocks noChangeAspect="1"/>
          </p:cNvPicPr>
          <p:nvPr/>
        </p:nvPicPr>
        <p:blipFill>
          <a:blip r:embed="rId3"/>
          <a:stretch>
            <a:fillRect/>
          </a:stretch>
        </p:blipFill>
        <p:spPr>
          <a:xfrm>
            <a:off x="6323064" y="2886411"/>
            <a:ext cx="5585944" cy="3132091"/>
          </a:xfrm>
          <a:prstGeom prst="rect">
            <a:avLst/>
          </a:prstGeom>
        </p:spPr>
      </p:pic>
    </p:spTree>
    <p:extLst>
      <p:ext uri="{BB962C8B-B14F-4D97-AF65-F5344CB8AC3E}">
        <p14:creationId xmlns:p14="http://schemas.microsoft.com/office/powerpoint/2010/main" val="14263021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6566F-8163-8005-C307-75CB6B5104A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CE409FE-5804-0C14-90DE-FACC11CEA0F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Execute about and mutation functions in </a:t>
            </a:r>
            <a:r>
              <a:rPr lang="en-IN" sz="2000" dirty="0" err="1"/>
              <a:t>GraphQL</a:t>
            </a:r>
            <a:r>
              <a:rPr lang="en-IN" sz="2000" dirty="0"/>
              <a:t> interface </a:t>
            </a:r>
            <a:r>
              <a:rPr lang="en-IN" sz="2000" dirty="0" err="1"/>
              <a:t>GraphQL</a:t>
            </a:r>
            <a:r>
              <a:rPr lang="en-IN" sz="2000" dirty="0"/>
              <a:t> interface</a:t>
            </a:r>
          </a:p>
          <a:p>
            <a:pPr marL="384048" lvl="2" indent="0">
              <a:buNone/>
            </a:pPr>
            <a:r>
              <a:rPr lang="en-IN" sz="1800" dirty="0"/>
              <a:t>query { </a:t>
            </a:r>
          </a:p>
          <a:p>
            <a:pPr marL="384048" lvl="2" indent="0">
              <a:buNone/>
            </a:pPr>
            <a:r>
              <a:rPr lang="en-IN" sz="1800" dirty="0"/>
              <a:t>	about </a:t>
            </a:r>
          </a:p>
          <a:p>
            <a:pPr marL="384048" lvl="2" indent="0">
              <a:buNone/>
            </a:pPr>
            <a:r>
              <a:rPr lang="en-IN" sz="1800" dirty="0"/>
              <a:t>}</a:t>
            </a:r>
          </a:p>
          <a:p>
            <a:pPr marL="384048" lvl="2" indent="0">
              <a:buNone/>
            </a:pPr>
            <a:endParaRPr lang="en-IN" sz="1800" dirty="0"/>
          </a:p>
          <a:p>
            <a:pPr marL="384048" lvl="2" indent="0">
              <a:buNone/>
            </a:pPr>
            <a:endParaRPr lang="en-IN" sz="1800" dirty="0"/>
          </a:p>
          <a:p>
            <a:pPr marL="384048" lvl="2" indent="0">
              <a:buNone/>
            </a:pPr>
            <a:endParaRPr lang="en-IN" sz="1800" dirty="0"/>
          </a:p>
          <a:p>
            <a:pPr marL="384048" lvl="2" indent="0">
              <a:buNone/>
            </a:pPr>
            <a:endParaRPr lang="en-IN" sz="1800" dirty="0"/>
          </a:p>
          <a:p>
            <a:pPr marL="384048" lvl="2" indent="0">
              <a:buNone/>
            </a:pPr>
            <a:r>
              <a:rPr lang="en-IN" sz="1800" dirty="0"/>
              <a:t>mutation { </a:t>
            </a:r>
          </a:p>
          <a:p>
            <a:pPr marL="384048" lvl="2" indent="0">
              <a:buNone/>
            </a:pPr>
            <a:r>
              <a:rPr lang="en-IN" sz="1800" dirty="0"/>
              <a:t>	</a:t>
            </a:r>
            <a:r>
              <a:rPr lang="en-IN" sz="1800" dirty="0" err="1"/>
              <a:t>setAboutMessage</a:t>
            </a:r>
            <a:r>
              <a:rPr lang="en-IN" sz="1800" dirty="0"/>
              <a:t>(message: "</a:t>
            </a:r>
            <a:r>
              <a:rPr lang="en-IN" sz="1800" dirty="0" err="1"/>
              <a:t>GraphQL</a:t>
            </a:r>
            <a:r>
              <a:rPr lang="en-IN" sz="1800" dirty="0"/>
              <a:t> Issue Tracker") </a:t>
            </a:r>
          </a:p>
          <a:p>
            <a:pPr marL="384048" lvl="2" indent="0">
              <a:buNone/>
            </a:pPr>
            <a:r>
              <a:rPr lang="en-IN" sz="1800" dirty="0"/>
              <a:t>}</a:t>
            </a:r>
          </a:p>
          <a:p>
            <a:pPr marL="384048" lvl="2" indent="0">
              <a:buNone/>
            </a:pPr>
            <a:endParaRPr lang="en-US" sz="1800" dirty="0"/>
          </a:p>
          <a:p>
            <a:pPr lvl="1">
              <a:buFont typeface="Arial" panose="020B0604020202020204" pitchFamily="34" charset="0"/>
              <a:buChar char="•"/>
            </a:pPr>
            <a:endParaRPr lang="en-US" sz="1600" dirty="0"/>
          </a:p>
        </p:txBody>
      </p:sp>
      <p:pic>
        <p:nvPicPr>
          <p:cNvPr id="3" name="Picture 2">
            <a:extLst>
              <a:ext uri="{FF2B5EF4-FFF2-40B4-BE49-F238E27FC236}">
                <a16:creationId xmlns:a16="http://schemas.microsoft.com/office/drawing/2014/main" id="{A688D145-15B7-2146-897D-5CCC35CA3A25}"/>
              </a:ext>
            </a:extLst>
          </p:cNvPr>
          <p:cNvPicPr>
            <a:picLocks noChangeAspect="1"/>
          </p:cNvPicPr>
          <p:nvPr/>
        </p:nvPicPr>
        <p:blipFill>
          <a:blip r:embed="rId2"/>
          <a:stretch>
            <a:fillRect/>
          </a:stretch>
        </p:blipFill>
        <p:spPr>
          <a:xfrm>
            <a:off x="816142" y="1824773"/>
            <a:ext cx="5265876" cy="960203"/>
          </a:xfrm>
          <a:prstGeom prst="rect">
            <a:avLst/>
          </a:prstGeom>
        </p:spPr>
      </p:pic>
      <p:pic>
        <p:nvPicPr>
          <p:cNvPr id="5" name="Picture 4">
            <a:extLst>
              <a:ext uri="{FF2B5EF4-FFF2-40B4-BE49-F238E27FC236}">
                <a16:creationId xmlns:a16="http://schemas.microsoft.com/office/drawing/2014/main" id="{A101B3BC-863A-3B1F-96AF-08BC52678C4A}"/>
              </a:ext>
            </a:extLst>
          </p:cNvPr>
          <p:cNvPicPr>
            <a:picLocks noChangeAspect="1"/>
          </p:cNvPicPr>
          <p:nvPr/>
        </p:nvPicPr>
        <p:blipFill>
          <a:blip r:embed="rId3"/>
          <a:stretch>
            <a:fillRect/>
          </a:stretch>
        </p:blipFill>
        <p:spPr>
          <a:xfrm>
            <a:off x="816142" y="4418509"/>
            <a:ext cx="5279858" cy="1173302"/>
          </a:xfrm>
          <a:prstGeom prst="rect">
            <a:avLst/>
          </a:prstGeom>
        </p:spPr>
      </p:pic>
    </p:spTree>
    <p:extLst>
      <p:ext uri="{BB962C8B-B14F-4D97-AF65-F5344CB8AC3E}">
        <p14:creationId xmlns:p14="http://schemas.microsoft.com/office/powerpoint/2010/main" val="34679423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C4B5E-D459-6C2D-6D33-A32E2AEA10B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22CE40C-AC3F-DE25-5F0A-AF294ACB42D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The Create API</a:t>
            </a:r>
          </a:p>
          <a:p>
            <a:pPr lvl="1">
              <a:buFont typeface="Arial" panose="020B0604020202020204" pitchFamily="34" charset="0"/>
              <a:buChar char="•"/>
            </a:pPr>
            <a:r>
              <a:rPr lang="en-IN" sz="1600" dirty="0"/>
              <a:t>API for creating a new issue in the server, which will be appended to the list of issues in the server’s memory.</a:t>
            </a:r>
          </a:p>
          <a:p>
            <a:pPr lvl="1">
              <a:buFont typeface="Arial" panose="020B0604020202020204" pitchFamily="34" charset="0"/>
              <a:buChar char="•"/>
            </a:pPr>
            <a:r>
              <a:rPr lang="en-IN" sz="1600" dirty="0"/>
              <a:t>we have to first define a field in the schema under </a:t>
            </a:r>
            <a:r>
              <a:rPr lang="en-IN" sz="1600" dirty="0">
                <a:solidFill>
                  <a:srgbClr val="FF0000"/>
                </a:solidFill>
              </a:rPr>
              <a:t>Mutation</a:t>
            </a:r>
            <a:r>
              <a:rPr lang="en-IN" sz="1600" dirty="0"/>
              <a:t> called </a:t>
            </a:r>
            <a:r>
              <a:rPr lang="en-IN" sz="1600" dirty="0" err="1"/>
              <a:t>issueAdd</a:t>
            </a:r>
            <a:r>
              <a:rPr lang="en-IN" sz="1600" dirty="0"/>
              <a:t>. </a:t>
            </a:r>
          </a:p>
          <a:p>
            <a:pPr lvl="1">
              <a:buFont typeface="Arial" panose="020B0604020202020204" pitchFamily="34" charset="0"/>
              <a:buChar char="•"/>
            </a:pPr>
            <a:r>
              <a:rPr lang="en-IN" sz="1600" dirty="0"/>
              <a:t>This field should take arguments, just as the </a:t>
            </a:r>
            <a:r>
              <a:rPr lang="en-IN" sz="1600" dirty="0" err="1">
                <a:solidFill>
                  <a:srgbClr val="FF0000"/>
                </a:solidFill>
              </a:rPr>
              <a:t>setAboutMessage</a:t>
            </a:r>
            <a:r>
              <a:rPr lang="en-IN" sz="1600" dirty="0"/>
              <a:t> field did. But this time, we need multiple arguments, one for each property of the issue being added. </a:t>
            </a:r>
          </a:p>
          <a:p>
            <a:pPr lvl="1">
              <a:buFont typeface="Arial" panose="020B0604020202020204" pitchFamily="34" charset="0"/>
              <a:buChar char="•"/>
            </a:pPr>
            <a:r>
              <a:rPr lang="en-IN" sz="1600" dirty="0"/>
              <a:t>Alternatively, we can define a new type as an object that has the fields we need for the input. </a:t>
            </a:r>
          </a:p>
          <a:p>
            <a:pPr lvl="1">
              <a:buFont typeface="Arial" panose="020B0604020202020204" pitchFamily="34" charset="0"/>
              <a:buChar char="•"/>
            </a:pPr>
            <a:r>
              <a:rPr lang="en-IN" sz="1600" dirty="0"/>
              <a:t>This can’t be the same as the Issue type because it has some required fields (id and created) that are not part of the input. </a:t>
            </a:r>
          </a:p>
          <a:p>
            <a:pPr lvl="1">
              <a:buFont typeface="Arial" panose="020B0604020202020204" pitchFamily="34" charset="0"/>
              <a:buChar char="•"/>
            </a:pPr>
            <a:r>
              <a:rPr lang="en-IN" sz="1600" dirty="0"/>
              <a:t>These are values that are set by the server only. </a:t>
            </a:r>
          </a:p>
          <a:p>
            <a:pPr lvl="1">
              <a:buFont typeface="Arial" panose="020B0604020202020204" pitchFamily="34" charset="0"/>
              <a:buChar char="•"/>
            </a:pPr>
            <a:r>
              <a:rPr lang="en-IN" sz="1600" dirty="0"/>
              <a:t>Further, </a:t>
            </a:r>
            <a:r>
              <a:rPr lang="en-IN" sz="1600" dirty="0" err="1"/>
              <a:t>GraphQL</a:t>
            </a:r>
            <a:r>
              <a:rPr lang="en-IN" sz="1600" dirty="0"/>
              <a:t> needs a different specification when it comes to input types. Instead of using the type keyword, we have to use the input keyword.</a:t>
            </a:r>
          </a:p>
          <a:p>
            <a:pPr lvl="1">
              <a:buFont typeface="Arial" panose="020B0604020202020204" pitchFamily="34" charset="0"/>
              <a:buChar char="•"/>
            </a:pPr>
            <a:r>
              <a:rPr lang="en-IN" sz="1600" dirty="0"/>
              <a:t>Let’s first define this new input type called </a:t>
            </a:r>
            <a:r>
              <a:rPr lang="en-IN" sz="1600" dirty="0" err="1"/>
              <a:t>IssueInputs</a:t>
            </a:r>
            <a:r>
              <a:rPr lang="en-IN" sz="1600" dirty="0"/>
              <a:t> in the schema:</a:t>
            </a:r>
          </a:p>
          <a:p>
            <a:pPr marL="384048" lvl="2" indent="0">
              <a:buNone/>
            </a:pPr>
            <a:r>
              <a:rPr lang="en-US" sz="1400" dirty="0"/>
              <a:t>...</a:t>
            </a:r>
          </a:p>
          <a:p>
            <a:pPr marL="384048" lvl="2" indent="0">
              <a:buNone/>
            </a:pPr>
            <a:r>
              <a:rPr lang="en-US" sz="1400" dirty="0"/>
              <a:t>input </a:t>
            </a:r>
            <a:r>
              <a:rPr lang="en-US" sz="1400" dirty="0" err="1"/>
              <a:t>IssueInputs</a:t>
            </a:r>
            <a:r>
              <a:rPr lang="en-US" sz="1400" dirty="0"/>
              <a:t> {</a:t>
            </a:r>
          </a:p>
          <a:p>
            <a:pPr marL="384048" lvl="2" indent="0">
              <a:buNone/>
            </a:pPr>
            <a:r>
              <a:rPr lang="en-US" sz="1400" dirty="0"/>
              <a:t># ... fields of Issue</a:t>
            </a:r>
          </a:p>
          <a:p>
            <a:pPr marL="384048" lvl="2" indent="0">
              <a:buNone/>
            </a:pPr>
            <a:r>
              <a:rPr lang="en-US" sz="1400" dirty="0"/>
              <a:t>}</a:t>
            </a:r>
          </a:p>
          <a:p>
            <a:pPr marL="384048" lvl="2" indent="0">
              <a:buNone/>
            </a:pPr>
            <a:r>
              <a:rPr lang="en-US" sz="1400" dirty="0"/>
              <a:t>...</a:t>
            </a:r>
            <a:endParaRPr lang="en-US" sz="1200" dirty="0"/>
          </a:p>
        </p:txBody>
      </p:sp>
    </p:spTree>
    <p:extLst>
      <p:ext uri="{BB962C8B-B14F-4D97-AF65-F5344CB8AC3E}">
        <p14:creationId xmlns:p14="http://schemas.microsoft.com/office/powerpoint/2010/main" val="518723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985C6-B378-81FB-1C39-2B037C9F9CD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0DCC6B3-F954-67F9-9023-5DD22D9917F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800" dirty="0"/>
              <a:t>We discussed how to add </a:t>
            </a:r>
            <a:r>
              <a:rPr lang="en-IN" sz="1800" dirty="0">
                <a:solidFill>
                  <a:srgbClr val="FF0000"/>
                </a:solidFill>
              </a:rPr>
              <a:t>comments</a:t>
            </a:r>
            <a:r>
              <a:rPr lang="en-IN" sz="1800" dirty="0"/>
              <a:t> in the schema. </a:t>
            </a:r>
          </a:p>
          <a:p>
            <a:pPr lvl="1">
              <a:buFont typeface="Arial" panose="020B0604020202020204" pitchFamily="34" charset="0"/>
              <a:buChar char="•"/>
            </a:pPr>
            <a:r>
              <a:rPr lang="en-IN" sz="1800" dirty="0"/>
              <a:t>But these comments are not formal descriptions of the types or subfields. </a:t>
            </a:r>
          </a:p>
          <a:p>
            <a:pPr lvl="1">
              <a:buFont typeface="Arial" panose="020B0604020202020204" pitchFamily="34" charset="0"/>
              <a:buChar char="•"/>
            </a:pPr>
            <a:r>
              <a:rPr lang="en-IN" sz="1800" dirty="0">
                <a:solidFill>
                  <a:srgbClr val="FF0000"/>
                </a:solidFill>
              </a:rPr>
              <a:t>For real documentation </a:t>
            </a:r>
            <a:r>
              <a:rPr lang="en-IN" sz="1800" dirty="0"/>
              <a:t>that is shown part of the schema explorer, </a:t>
            </a:r>
            <a:r>
              <a:rPr lang="en-IN" sz="1800" dirty="0">
                <a:solidFill>
                  <a:srgbClr val="FF0000"/>
                </a:solidFill>
              </a:rPr>
              <a:t>a string above the field </a:t>
            </a:r>
            <a:r>
              <a:rPr lang="en-IN" sz="1800" dirty="0"/>
              <a:t>needs to be added.</a:t>
            </a:r>
          </a:p>
          <a:p>
            <a:pPr marL="384048" lvl="2" indent="0">
              <a:buNone/>
            </a:pPr>
            <a:endParaRPr lang="en-US" sz="1600" dirty="0"/>
          </a:p>
          <a:p>
            <a:pPr marL="384048" lvl="2" indent="0">
              <a:buNone/>
            </a:pPr>
            <a:r>
              <a:rPr lang="en-US" sz="1600" dirty="0"/>
              <a:t>...</a:t>
            </a:r>
          </a:p>
          <a:p>
            <a:pPr marL="384048" lvl="2" indent="0">
              <a:buNone/>
            </a:pPr>
            <a:r>
              <a:rPr lang="en-US" sz="1600" dirty="0"/>
              <a:t>"Toned down Issue, used as inputs, without server generated values.“			</a:t>
            </a:r>
            <a:r>
              <a:rPr lang="en-US" sz="1600" dirty="0">
                <a:solidFill>
                  <a:srgbClr val="FF0000"/>
                </a:solidFill>
              </a:rPr>
              <a:t>- these are comments</a:t>
            </a:r>
          </a:p>
          <a:p>
            <a:pPr marL="384048" lvl="2" indent="0">
              <a:buNone/>
            </a:pPr>
            <a:r>
              <a:rPr lang="en-US" sz="1600" dirty="0"/>
              <a:t>input </a:t>
            </a:r>
            <a:r>
              <a:rPr lang="en-US" sz="1600" dirty="0" err="1"/>
              <a:t>IssueInputs</a:t>
            </a:r>
            <a:r>
              <a:rPr lang="en-US" sz="1600" dirty="0"/>
              <a:t> {</a:t>
            </a:r>
          </a:p>
          <a:p>
            <a:pPr marL="384048" lvl="2" indent="0">
              <a:buNone/>
            </a:pPr>
            <a:r>
              <a:rPr lang="en-US" sz="1600" dirty="0"/>
              <a:t>	...</a:t>
            </a:r>
          </a:p>
          <a:p>
            <a:pPr marL="384048" lvl="2" indent="0">
              <a:buNone/>
            </a:pPr>
            <a:r>
              <a:rPr lang="en-US" sz="1600" dirty="0"/>
              <a:t>	"Optional, if not supplied, will be set to 'New’”</a:t>
            </a:r>
          </a:p>
          <a:p>
            <a:pPr marL="384048" lvl="2" indent="0">
              <a:buNone/>
            </a:pPr>
            <a:r>
              <a:rPr lang="en-US" sz="1600" dirty="0"/>
              <a:t>	status: String</a:t>
            </a:r>
          </a:p>
          <a:p>
            <a:pPr marL="384048" lvl="2" indent="0">
              <a:buNone/>
            </a:pPr>
            <a:r>
              <a:rPr lang="en-US" sz="1600" dirty="0"/>
              <a:t>	...</a:t>
            </a:r>
          </a:p>
          <a:p>
            <a:pPr marL="384048" lvl="2" indent="0">
              <a:buNone/>
            </a:pPr>
            <a:r>
              <a:rPr lang="en-US" sz="1600" dirty="0"/>
              <a:t>}</a:t>
            </a:r>
          </a:p>
          <a:p>
            <a:pPr marL="384048" lvl="2" indent="0">
              <a:buNone/>
            </a:pPr>
            <a:r>
              <a:rPr lang="en-US" sz="1600" dirty="0"/>
              <a:t>...</a:t>
            </a:r>
            <a:endParaRPr lang="en-US" sz="1400" dirty="0"/>
          </a:p>
        </p:txBody>
      </p:sp>
    </p:spTree>
    <p:extLst>
      <p:ext uri="{BB962C8B-B14F-4D97-AF65-F5344CB8AC3E}">
        <p14:creationId xmlns:p14="http://schemas.microsoft.com/office/powerpoint/2010/main" val="37817896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CF18B-6999-09C6-29CC-33AA04529448}"/>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53BCA22-8A63-F81A-BF81-85391BF037F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lgn="just">
              <a:buFont typeface="Arial" panose="020B0604020202020204" pitchFamily="34" charset="0"/>
              <a:buChar char="•"/>
            </a:pPr>
            <a:r>
              <a:rPr lang="en-IN" sz="1800" dirty="0"/>
              <a:t>Now, we can use the type </a:t>
            </a:r>
            <a:r>
              <a:rPr lang="en-IN" sz="1800" dirty="0" err="1">
                <a:solidFill>
                  <a:srgbClr val="FF0000"/>
                </a:solidFill>
              </a:rPr>
              <a:t>IssueInputs</a:t>
            </a:r>
            <a:r>
              <a:rPr lang="en-IN" sz="1800" dirty="0"/>
              <a:t> as the argument type to the </a:t>
            </a:r>
            <a:r>
              <a:rPr lang="en-IN" sz="1800" dirty="0">
                <a:solidFill>
                  <a:srgbClr val="FF0000"/>
                </a:solidFill>
              </a:rPr>
              <a:t>new </a:t>
            </a:r>
            <a:r>
              <a:rPr lang="en-IN" sz="1800" dirty="0" err="1">
                <a:solidFill>
                  <a:srgbClr val="FF0000"/>
                </a:solidFill>
              </a:rPr>
              <a:t>issueAdd</a:t>
            </a:r>
            <a:r>
              <a:rPr lang="en-IN" sz="1800" dirty="0">
                <a:solidFill>
                  <a:srgbClr val="FF0000"/>
                </a:solidFill>
              </a:rPr>
              <a:t> </a:t>
            </a:r>
            <a:r>
              <a:rPr lang="en-IN" sz="1800" dirty="0"/>
              <a:t>field under Mutation. </a:t>
            </a:r>
          </a:p>
          <a:p>
            <a:pPr lvl="1" algn="just">
              <a:buFont typeface="Arial" panose="020B0604020202020204" pitchFamily="34" charset="0"/>
              <a:buChar char="•"/>
            </a:pPr>
            <a:r>
              <a:rPr lang="en-IN" sz="1800" dirty="0"/>
              <a:t>The </a:t>
            </a:r>
            <a:r>
              <a:rPr lang="en-IN" sz="1800" dirty="0">
                <a:solidFill>
                  <a:srgbClr val="FF0000"/>
                </a:solidFill>
              </a:rPr>
              <a:t>return value </a:t>
            </a:r>
            <a:r>
              <a:rPr lang="en-IN" sz="1800" dirty="0"/>
              <a:t>of this field can be anything. It is usually good practice to return the values generated at the server, typically the </a:t>
            </a:r>
            <a:r>
              <a:rPr lang="en-IN" sz="1800" dirty="0">
                <a:solidFill>
                  <a:srgbClr val="FF0000"/>
                </a:solidFill>
              </a:rPr>
              <a:t>ID of the new object</a:t>
            </a:r>
            <a:r>
              <a:rPr lang="en-IN" sz="1800" dirty="0"/>
              <a:t>. In this case, since both the ID and the created date are set at the server, let’s return the entire issue object that was created.</a:t>
            </a:r>
          </a:p>
          <a:p>
            <a:pPr lvl="1" algn="just">
              <a:buFont typeface="Arial" panose="020B0604020202020204" pitchFamily="34" charset="0"/>
              <a:buChar char="•"/>
            </a:pPr>
            <a:r>
              <a:rPr lang="en-IN" sz="1800" dirty="0" err="1">
                <a:solidFill>
                  <a:srgbClr val="FF0000"/>
                </a:solidFill>
              </a:rPr>
              <a:t>schema.graphql</a:t>
            </a:r>
            <a:r>
              <a:rPr lang="en-IN" sz="1800" dirty="0">
                <a:solidFill>
                  <a:srgbClr val="FF0000"/>
                </a:solidFill>
              </a:rPr>
              <a:t>: </a:t>
            </a:r>
            <a:r>
              <a:rPr lang="en-IN" sz="1800" dirty="0"/>
              <a:t>Changes for New Type </a:t>
            </a:r>
            <a:r>
              <a:rPr lang="en-IN" sz="1800" dirty="0" err="1"/>
              <a:t>IssueInputs</a:t>
            </a:r>
            <a:r>
              <a:rPr lang="en-IN" sz="1800" dirty="0"/>
              <a:t> and New Field </a:t>
            </a:r>
            <a:r>
              <a:rPr lang="en-IN" sz="1800" dirty="0" err="1"/>
              <a:t>issueAdd</a:t>
            </a:r>
            <a:endParaRPr lang="en-IN" sz="1800" dirty="0"/>
          </a:p>
          <a:p>
            <a:pPr lvl="1" algn="just">
              <a:buFont typeface="Arial" panose="020B0604020202020204" pitchFamily="34" charset="0"/>
              <a:buChar char="•"/>
            </a:pPr>
            <a:endParaRPr lang="en-IN" sz="1800" dirty="0"/>
          </a:p>
          <a:p>
            <a:pPr marL="566928" lvl="3" indent="0" algn="just">
              <a:spcBef>
                <a:spcPts val="0"/>
              </a:spcBef>
              <a:spcAft>
                <a:spcPts val="0"/>
              </a:spcAft>
              <a:buNone/>
            </a:pPr>
            <a:r>
              <a:rPr lang="en-IN" sz="1600" dirty="0"/>
              <a:t>...</a:t>
            </a:r>
          </a:p>
          <a:p>
            <a:pPr marL="566928" lvl="3" indent="0" algn="just">
              <a:spcBef>
                <a:spcPts val="0"/>
              </a:spcBef>
              <a:spcAft>
                <a:spcPts val="0"/>
              </a:spcAft>
              <a:buNone/>
            </a:pPr>
            <a:r>
              <a:rPr lang="en-IN" sz="1600" b="1" dirty="0"/>
              <a:t>"Toned down Issue, used as inputs, without server generated values."</a:t>
            </a:r>
          </a:p>
          <a:p>
            <a:pPr marL="566928" lvl="3" indent="0" algn="just">
              <a:spcBef>
                <a:spcPts val="0"/>
              </a:spcBef>
              <a:spcAft>
                <a:spcPts val="0"/>
              </a:spcAft>
              <a:buNone/>
            </a:pPr>
            <a:r>
              <a:rPr lang="en-IN" sz="1600" b="1" dirty="0"/>
              <a:t>input </a:t>
            </a:r>
            <a:r>
              <a:rPr lang="en-IN" sz="1600" b="1" dirty="0" err="1"/>
              <a:t>IssueInputs</a:t>
            </a:r>
            <a:r>
              <a:rPr lang="en-IN" sz="1600" b="1" dirty="0"/>
              <a:t> {</a:t>
            </a:r>
          </a:p>
          <a:p>
            <a:pPr marL="566928" lvl="3" indent="0" algn="just">
              <a:spcBef>
                <a:spcPts val="0"/>
              </a:spcBef>
              <a:spcAft>
                <a:spcPts val="0"/>
              </a:spcAft>
              <a:buNone/>
            </a:pPr>
            <a:r>
              <a:rPr lang="en-IN" sz="1600" b="1" dirty="0"/>
              <a:t>	title: String!</a:t>
            </a:r>
          </a:p>
          <a:p>
            <a:pPr marL="566928" lvl="3" indent="0" algn="just">
              <a:spcBef>
                <a:spcPts val="0"/>
              </a:spcBef>
              <a:spcAft>
                <a:spcPts val="0"/>
              </a:spcAft>
              <a:buNone/>
            </a:pPr>
            <a:r>
              <a:rPr lang="en-IN" sz="1600" b="1" dirty="0"/>
              <a:t>	"Optional, if not supplied, will be set to 'New’”</a:t>
            </a:r>
          </a:p>
          <a:p>
            <a:pPr marL="566928" lvl="3" indent="0" algn="just">
              <a:spcBef>
                <a:spcPts val="0"/>
              </a:spcBef>
              <a:spcAft>
                <a:spcPts val="0"/>
              </a:spcAft>
              <a:buNone/>
            </a:pPr>
            <a:r>
              <a:rPr lang="en-IN" sz="1600" b="1" dirty="0"/>
              <a:t>	status: String</a:t>
            </a:r>
          </a:p>
          <a:p>
            <a:pPr marL="566928" lvl="3" indent="0" algn="just">
              <a:spcBef>
                <a:spcPts val="0"/>
              </a:spcBef>
              <a:spcAft>
                <a:spcPts val="0"/>
              </a:spcAft>
              <a:buNone/>
            </a:pPr>
            <a:r>
              <a:rPr lang="en-IN" sz="1600" b="1" dirty="0"/>
              <a:t>	owner: String</a:t>
            </a:r>
          </a:p>
          <a:p>
            <a:pPr marL="566928" lvl="3" indent="0" algn="just">
              <a:spcBef>
                <a:spcPts val="0"/>
              </a:spcBef>
              <a:spcAft>
                <a:spcPts val="0"/>
              </a:spcAft>
              <a:buNone/>
            </a:pPr>
            <a:r>
              <a:rPr lang="en-IN" sz="1600" b="1" dirty="0"/>
              <a:t>	effort: Int</a:t>
            </a:r>
          </a:p>
          <a:p>
            <a:pPr marL="566928" lvl="3" indent="0" algn="just">
              <a:spcBef>
                <a:spcPts val="0"/>
              </a:spcBef>
              <a:spcAft>
                <a:spcPts val="0"/>
              </a:spcAft>
              <a:buNone/>
            </a:pPr>
            <a:r>
              <a:rPr lang="en-IN" sz="1600" b="1" dirty="0"/>
              <a:t>	due: </a:t>
            </a:r>
            <a:r>
              <a:rPr lang="en-IN" sz="1600" b="1" dirty="0" err="1"/>
              <a:t>GraphQLDate</a:t>
            </a:r>
            <a:endParaRPr lang="en-IN" sz="1600" b="1" dirty="0"/>
          </a:p>
          <a:p>
            <a:pPr marL="566928" lvl="3" indent="0" algn="just">
              <a:spcBef>
                <a:spcPts val="0"/>
              </a:spcBef>
              <a:spcAft>
                <a:spcPts val="0"/>
              </a:spcAft>
              <a:buNone/>
            </a:pPr>
            <a:r>
              <a:rPr lang="en-IN" sz="1600" b="1" dirty="0"/>
              <a:t>}</a:t>
            </a:r>
          </a:p>
          <a:p>
            <a:pPr marL="566928" lvl="3" indent="0" algn="just">
              <a:spcBef>
                <a:spcPts val="0"/>
              </a:spcBef>
              <a:spcAft>
                <a:spcPts val="0"/>
              </a:spcAft>
              <a:buNone/>
            </a:pPr>
            <a:r>
              <a:rPr lang="en-IN" sz="1600" dirty="0"/>
              <a:t>##### Top level declarations</a:t>
            </a:r>
          </a:p>
          <a:p>
            <a:pPr marL="566928" lvl="3" indent="0" algn="just">
              <a:spcBef>
                <a:spcPts val="0"/>
              </a:spcBef>
              <a:spcAft>
                <a:spcPts val="0"/>
              </a:spcAft>
              <a:buNone/>
            </a:pPr>
            <a:r>
              <a:rPr lang="en-IN" sz="1600" dirty="0"/>
              <a:t>...</a:t>
            </a:r>
          </a:p>
          <a:p>
            <a:pPr marL="566928" lvl="3" indent="0" algn="just">
              <a:spcBef>
                <a:spcPts val="0"/>
              </a:spcBef>
              <a:spcAft>
                <a:spcPts val="0"/>
              </a:spcAft>
              <a:buNone/>
            </a:pPr>
            <a:r>
              <a:rPr lang="en-IN" sz="1600" dirty="0"/>
              <a:t>type Mutation {</a:t>
            </a:r>
          </a:p>
          <a:p>
            <a:pPr marL="566928" lvl="3" indent="0" algn="just">
              <a:spcBef>
                <a:spcPts val="0"/>
              </a:spcBef>
              <a:spcAft>
                <a:spcPts val="0"/>
              </a:spcAft>
              <a:buNone/>
            </a:pPr>
            <a:r>
              <a:rPr lang="en-IN" sz="1600" dirty="0"/>
              <a:t>	</a:t>
            </a:r>
            <a:r>
              <a:rPr lang="en-IN" sz="1600" dirty="0" err="1"/>
              <a:t>setAboutMessage</a:t>
            </a:r>
            <a:r>
              <a:rPr lang="en-IN" sz="1600" dirty="0"/>
              <a:t>(message: String!): String</a:t>
            </a:r>
          </a:p>
          <a:p>
            <a:pPr marL="566928" lvl="3" indent="0" algn="just">
              <a:spcBef>
                <a:spcPts val="0"/>
              </a:spcBef>
              <a:spcAft>
                <a:spcPts val="0"/>
              </a:spcAft>
              <a:buNone/>
            </a:pPr>
            <a:r>
              <a:rPr lang="en-IN" sz="1600" dirty="0"/>
              <a:t>	</a:t>
            </a:r>
            <a:r>
              <a:rPr lang="en-IN" sz="1600" b="1" dirty="0" err="1"/>
              <a:t>issueAdd</a:t>
            </a:r>
            <a:r>
              <a:rPr lang="en-IN" sz="1600" b="1" dirty="0"/>
              <a:t>(issue: </a:t>
            </a:r>
            <a:r>
              <a:rPr lang="en-IN" sz="1600" b="1" dirty="0" err="1"/>
              <a:t>IssueInputs</a:t>
            </a:r>
            <a:r>
              <a:rPr lang="en-IN" sz="1600" b="1" dirty="0"/>
              <a:t>!): Issue!</a:t>
            </a:r>
          </a:p>
          <a:p>
            <a:pPr marL="566928" lvl="3" indent="0" algn="just">
              <a:spcBef>
                <a:spcPts val="0"/>
              </a:spcBef>
              <a:spcAft>
                <a:spcPts val="0"/>
              </a:spcAft>
              <a:buNone/>
            </a:pPr>
            <a:r>
              <a:rPr lang="en-IN" sz="1600" b="1" dirty="0"/>
              <a:t>}</a:t>
            </a:r>
          </a:p>
          <a:p>
            <a:pPr lvl="1" algn="just">
              <a:buFont typeface="Arial" panose="020B0604020202020204" pitchFamily="34" charset="0"/>
              <a:buChar char="•"/>
            </a:pPr>
            <a:endParaRPr lang="en-IN" sz="1800" dirty="0"/>
          </a:p>
          <a:p>
            <a:pPr lvl="1" algn="just">
              <a:buFont typeface="Arial" panose="020B0604020202020204" pitchFamily="34" charset="0"/>
              <a:buChar char="•"/>
            </a:pPr>
            <a:endParaRPr lang="en-US" sz="1800" dirty="0"/>
          </a:p>
        </p:txBody>
      </p:sp>
    </p:spTree>
    <p:extLst>
      <p:ext uri="{BB962C8B-B14F-4D97-AF65-F5344CB8AC3E}">
        <p14:creationId xmlns:p14="http://schemas.microsoft.com/office/powerpoint/2010/main" val="2836976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39989-1C1D-96C8-4E8C-46748A06D208}"/>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BB43A7A-DA94-DEA0-070C-DA028637F04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800" dirty="0"/>
              <a:t>Next, we need a </a:t>
            </a:r>
            <a:r>
              <a:rPr lang="en-IN" sz="1800" dirty="0">
                <a:solidFill>
                  <a:srgbClr val="FF0000"/>
                </a:solidFill>
              </a:rPr>
              <a:t>resolver</a:t>
            </a:r>
            <a:r>
              <a:rPr lang="en-IN" sz="1800" dirty="0"/>
              <a:t> for </a:t>
            </a:r>
            <a:r>
              <a:rPr lang="en-IN" sz="1800" dirty="0" err="1">
                <a:solidFill>
                  <a:srgbClr val="FF0000"/>
                </a:solidFill>
              </a:rPr>
              <a:t>issueAdd</a:t>
            </a:r>
            <a:r>
              <a:rPr lang="en-IN" sz="1800" dirty="0"/>
              <a:t> that takes in an </a:t>
            </a:r>
            <a:r>
              <a:rPr lang="en-IN" sz="1800" dirty="0" err="1">
                <a:solidFill>
                  <a:srgbClr val="FF0000"/>
                </a:solidFill>
              </a:rPr>
              <a:t>IssueInput</a:t>
            </a:r>
            <a:r>
              <a:rPr lang="en-IN" sz="1800" dirty="0"/>
              <a:t> type and creates a new issue in the in-memory database.</a:t>
            </a:r>
            <a:endParaRPr lang="en-IN" sz="2000" dirty="0"/>
          </a:p>
          <a:p>
            <a:pPr lvl="1">
              <a:buFont typeface="Arial" panose="020B0604020202020204" pitchFamily="34" charset="0"/>
              <a:buChar char="•"/>
            </a:pPr>
            <a:r>
              <a:rPr lang="en-IN" sz="1800" dirty="0"/>
              <a:t>Just like we did for </a:t>
            </a:r>
            <a:r>
              <a:rPr lang="en-IN" sz="1800" dirty="0" err="1"/>
              <a:t>setAboutMessage</a:t>
            </a:r>
            <a:r>
              <a:rPr lang="en-IN" sz="1800" dirty="0"/>
              <a:t>, we can ignore the first argument and use a </a:t>
            </a:r>
            <a:r>
              <a:rPr lang="en-IN" sz="1800" dirty="0" err="1"/>
              <a:t>destructuring</a:t>
            </a:r>
            <a:r>
              <a:rPr lang="en-IN" sz="1800" dirty="0"/>
              <a:t> assignment to access the issue object, which is the input:</a:t>
            </a:r>
          </a:p>
          <a:p>
            <a:pPr marL="566928" lvl="3" indent="0">
              <a:buNone/>
            </a:pPr>
            <a:r>
              <a:rPr lang="en-IN" sz="1800" dirty="0"/>
              <a:t>...</a:t>
            </a:r>
          </a:p>
          <a:p>
            <a:pPr marL="566928" lvl="3" indent="0">
              <a:buNone/>
            </a:pPr>
            <a:r>
              <a:rPr lang="en-IN" sz="1800" dirty="0"/>
              <a:t>function </a:t>
            </a:r>
            <a:r>
              <a:rPr lang="en-IN" sz="1800" dirty="0" err="1"/>
              <a:t>issueAdd</a:t>
            </a:r>
            <a:r>
              <a:rPr lang="en-IN" sz="1800" dirty="0"/>
              <a:t>(_, { issue }) {</a:t>
            </a:r>
          </a:p>
          <a:p>
            <a:pPr marL="566928" lvl="3" indent="0">
              <a:buNone/>
            </a:pPr>
            <a:r>
              <a:rPr lang="en-IN" sz="1800" dirty="0"/>
              <a:t>	...</a:t>
            </a:r>
          </a:p>
          <a:p>
            <a:pPr marL="566928" lvl="3" indent="0">
              <a:buNone/>
            </a:pPr>
            <a:r>
              <a:rPr lang="en-IN" sz="1800" dirty="0"/>
              <a:t>}</a:t>
            </a:r>
          </a:p>
          <a:p>
            <a:pPr lvl="1">
              <a:buFont typeface="Arial" panose="020B0604020202020204" pitchFamily="34" charset="0"/>
              <a:buChar char="•"/>
            </a:pPr>
            <a:r>
              <a:rPr lang="en-IN" sz="1800" dirty="0"/>
              <a:t>In the function, let’s set the ID and the created date as we did in the browser:</a:t>
            </a:r>
          </a:p>
          <a:p>
            <a:pPr marL="566928" lvl="3" indent="0">
              <a:buNone/>
            </a:pPr>
            <a:r>
              <a:rPr lang="en-US" sz="1800" dirty="0"/>
              <a:t>…</a:t>
            </a:r>
          </a:p>
          <a:p>
            <a:pPr marL="566928" lvl="3" indent="0">
              <a:buNone/>
            </a:pPr>
            <a:r>
              <a:rPr lang="en-US" sz="1800" dirty="0" err="1"/>
              <a:t>issue.created</a:t>
            </a:r>
            <a:r>
              <a:rPr lang="en-US" sz="1800" dirty="0"/>
              <a:t> = new Date();</a:t>
            </a:r>
          </a:p>
          <a:p>
            <a:pPr marL="566928" lvl="3" indent="0">
              <a:buNone/>
            </a:pPr>
            <a:r>
              <a:rPr lang="en-US" sz="1800" dirty="0"/>
              <a:t>issue.id = </a:t>
            </a:r>
            <a:r>
              <a:rPr lang="en-US" sz="1800" dirty="0" err="1"/>
              <a:t>issuesDB.length</a:t>
            </a:r>
            <a:r>
              <a:rPr lang="en-US" sz="1800" dirty="0"/>
              <a:t> + 1;</a:t>
            </a:r>
          </a:p>
          <a:p>
            <a:pPr marL="566928" lvl="3" indent="0">
              <a:buNone/>
            </a:pPr>
            <a:r>
              <a:rPr lang="en-US" sz="1800" dirty="0"/>
              <a:t>...</a:t>
            </a:r>
            <a:endParaRPr lang="en-IN" sz="1800" dirty="0"/>
          </a:p>
          <a:p>
            <a:pPr lvl="1">
              <a:buFont typeface="Arial" panose="020B0604020202020204" pitchFamily="34" charset="0"/>
              <a:buChar char="•"/>
            </a:pPr>
            <a:r>
              <a:rPr lang="en-IN" sz="1800" dirty="0"/>
              <a:t>Further, let’s also default the status, if not supplied (since we have not declared it as a required subfield) to the value 'New’:</a:t>
            </a:r>
          </a:p>
          <a:p>
            <a:pPr marL="566928" lvl="3" indent="0">
              <a:buNone/>
            </a:pPr>
            <a:r>
              <a:rPr lang="en-US" sz="1800" dirty="0"/>
              <a:t>...</a:t>
            </a:r>
          </a:p>
          <a:p>
            <a:pPr marL="566928" lvl="3" indent="0">
              <a:buNone/>
            </a:pPr>
            <a:r>
              <a:rPr lang="en-US" sz="1800" dirty="0"/>
              <a:t>if (</a:t>
            </a:r>
            <a:r>
              <a:rPr lang="en-US" sz="1800" dirty="0" err="1"/>
              <a:t>issue.status</a:t>
            </a:r>
            <a:r>
              <a:rPr lang="en-US" sz="1800" dirty="0"/>
              <a:t> == undefined) </a:t>
            </a:r>
            <a:r>
              <a:rPr lang="en-US" sz="1800" dirty="0" err="1"/>
              <a:t>issue.status</a:t>
            </a:r>
            <a:r>
              <a:rPr lang="en-US" sz="1800" dirty="0"/>
              <a:t> = 'New';</a:t>
            </a:r>
          </a:p>
          <a:p>
            <a:pPr marL="566928" lvl="3" indent="0">
              <a:buNone/>
            </a:pPr>
            <a:r>
              <a:rPr lang="en-US" sz="1800" dirty="0"/>
              <a:t>...</a:t>
            </a: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US" sz="1800" dirty="0"/>
          </a:p>
        </p:txBody>
      </p:sp>
    </p:spTree>
    <p:extLst>
      <p:ext uri="{BB962C8B-B14F-4D97-AF65-F5344CB8AC3E}">
        <p14:creationId xmlns:p14="http://schemas.microsoft.com/office/powerpoint/2010/main" val="18401999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7C2A7-7902-5D5E-E123-0B9BFC439AF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9643EF6D-3957-4BDF-2B3C-EC5CAABA0F1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800" dirty="0"/>
              <a:t>Finally, we can append the issue to the global variable </a:t>
            </a:r>
            <a:r>
              <a:rPr lang="en-IN" sz="1800" dirty="0" err="1"/>
              <a:t>issuesDB</a:t>
            </a:r>
            <a:r>
              <a:rPr lang="en-IN" sz="1800" dirty="0"/>
              <a:t> and return the issue object as is:</a:t>
            </a:r>
          </a:p>
          <a:p>
            <a:pPr marL="566928" lvl="3" indent="0">
              <a:buNone/>
            </a:pPr>
            <a:r>
              <a:rPr lang="en-US" sz="1800" dirty="0"/>
              <a:t>...</a:t>
            </a:r>
          </a:p>
          <a:p>
            <a:pPr marL="749808" lvl="4" indent="0">
              <a:buNone/>
            </a:pPr>
            <a:r>
              <a:rPr lang="en-US" sz="1800" dirty="0" err="1"/>
              <a:t>issuesDB.push</a:t>
            </a:r>
            <a:r>
              <a:rPr lang="en-US" sz="1800" dirty="0"/>
              <a:t>(issue);</a:t>
            </a:r>
          </a:p>
          <a:p>
            <a:pPr marL="749808" lvl="4" indent="0">
              <a:buNone/>
            </a:pPr>
            <a:r>
              <a:rPr lang="en-US" sz="1800" dirty="0"/>
              <a:t>return issue;</a:t>
            </a:r>
          </a:p>
          <a:p>
            <a:pPr marL="566928" lvl="3" indent="0">
              <a:buNone/>
            </a:pPr>
            <a:r>
              <a:rPr lang="en-US" sz="1800" dirty="0"/>
              <a:t>...</a:t>
            </a:r>
            <a:endParaRPr lang="en-IN" sz="1800" dirty="0"/>
          </a:p>
          <a:p>
            <a:pPr lvl="1">
              <a:buFont typeface="Arial" panose="020B0604020202020204" pitchFamily="34" charset="0"/>
              <a:buChar char="•"/>
            </a:pPr>
            <a:r>
              <a:rPr lang="en-IN" sz="1800" dirty="0"/>
              <a:t>This function now can be set as the resolver for the </a:t>
            </a:r>
            <a:r>
              <a:rPr lang="en-IN" sz="1800" dirty="0" err="1"/>
              <a:t>issueAdd</a:t>
            </a:r>
            <a:r>
              <a:rPr lang="en-IN" sz="1800" dirty="0"/>
              <a:t> field under Mutation:</a:t>
            </a:r>
          </a:p>
          <a:p>
            <a:pPr marL="566928" lvl="3" indent="0">
              <a:buNone/>
            </a:pPr>
            <a:r>
              <a:rPr lang="en-IN" sz="1800" dirty="0"/>
              <a:t>...</a:t>
            </a:r>
          </a:p>
          <a:p>
            <a:pPr marL="749808" lvl="4" indent="0">
              <a:buNone/>
            </a:pPr>
            <a:r>
              <a:rPr lang="en-IN" sz="1800" dirty="0"/>
              <a:t>Mutation: {</a:t>
            </a:r>
          </a:p>
          <a:p>
            <a:pPr marL="749808" lvl="4" indent="0">
              <a:buNone/>
            </a:pPr>
            <a:r>
              <a:rPr lang="en-IN" sz="1800" dirty="0" err="1"/>
              <a:t>setAboutMessage</a:t>
            </a:r>
            <a:r>
              <a:rPr lang="en-IN" sz="1800" dirty="0"/>
              <a:t>,</a:t>
            </a:r>
          </a:p>
          <a:p>
            <a:pPr marL="749808" lvl="4" indent="0">
              <a:buNone/>
            </a:pPr>
            <a:r>
              <a:rPr lang="en-IN" sz="1800" dirty="0" err="1"/>
              <a:t>issueAdd</a:t>
            </a:r>
            <a:r>
              <a:rPr lang="en-IN" sz="1800" dirty="0"/>
              <a:t>,</a:t>
            </a:r>
          </a:p>
          <a:p>
            <a:pPr marL="749808" lvl="4" indent="0">
              <a:buNone/>
            </a:pPr>
            <a:r>
              <a:rPr lang="en-IN" sz="1800" dirty="0"/>
              <a:t>},</a:t>
            </a:r>
          </a:p>
          <a:p>
            <a:pPr marL="566928" lvl="3" indent="0">
              <a:buNone/>
            </a:pPr>
            <a:r>
              <a:rPr lang="en-IN" sz="1800" dirty="0"/>
              <a:t>...</a:t>
            </a:r>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16717382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35033-7966-CF65-C9CD-AB854D092EE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8D61173-F76D-0461-9925-32EC22C7AFD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800" dirty="0"/>
              <a:t>since the type </a:t>
            </a:r>
            <a:r>
              <a:rPr lang="en-IN" sz="1800" dirty="0" err="1"/>
              <a:t>IssueInputs</a:t>
            </a:r>
            <a:r>
              <a:rPr lang="en-IN" sz="1800" dirty="0"/>
              <a:t> does have a </a:t>
            </a:r>
            <a:r>
              <a:rPr lang="en-IN" sz="1800" dirty="0" err="1"/>
              <a:t>GraphQLDate</a:t>
            </a:r>
            <a:r>
              <a:rPr lang="en-IN" sz="1800" dirty="0"/>
              <a:t> type, we must implement the parsers for receiving date values. There are two methods that need to be implemented in the </a:t>
            </a:r>
            <a:r>
              <a:rPr lang="en-IN" sz="1800" dirty="0" err="1"/>
              <a:t>GraphQLDate</a:t>
            </a:r>
            <a:r>
              <a:rPr lang="en-IN" sz="1800" dirty="0"/>
              <a:t> resolver: </a:t>
            </a:r>
            <a:r>
              <a:rPr lang="en-IN" sz="1800" dirty="0" err="1">
                <a:solidFill>
                  <a:srgbClr val="FF0000"/>
                </a:solidFill>
              </a:rPr>
              <a:t>parseValue</a:t>
            </a:r>
            <a:r>
              <a:rPr lang="en-IN" sz="1800" dirty="0"/>
              <a:t> and </a:t>
            </a:r>
            <a:r>
              <a:rPr lang="en-IN" sz="1800" dirty="0" err="1">
                <a:solidFill>
                  <a:srgbClr val="FF0000"/>
                </a:solidFill>
              </a:rPr>
              <a:t>parseLiteral</a:t>
            </a:r>
            <a:r>
              <a:rPr lang="en-IN" sz="1800" dirty="0"/>
              <a:t>.</a:t>
            </a:r>
          </a:p>
          <a:p>
            <a:pPr lvl="1">
              <a:buFont typeface="Arial" panose="020B0604020202020204" pitchFamily="34" charset="0"/>
              <a:buChar char="•"/>
            </a:pPr>
            <a:r>
              <a:rPr lang="en-IN" sz="1800" dirty="0"/>
              <a:t>The method </a:t>
            </a:r>
            <a:r>
              <a:rPr lang="en-IN" sz="1800" dirty="0" err="1"/>
              <a:t>parseLiteral</a:t>
            </a:r>
            <a:r>
              <a:rPr lang="en-IN" sz="1800" dirty="0"/>
              <a:t> is called in the normal case, where the field is specified in-place in the query.</a:t>
            </a:r>
          </a:p>
          <a:p>
            <a:pPr marL="384048" lvl="2" indent="0">
              <a:buNone/>
            </a:pPr>
            <a:r>
              <a:rPr lang="en-IN" sz="1600" dirty="0"/>
              <a:t>... </a:t>
            </a:r>
          </a:p>
          <a:p>
            <a:pPr marL="566928" lvl="3" indent="0">
              <a:buNone/>
            </a:pPr>
            <a:r>
              <a:rPr lang="en-IN" sz="1600" dirty="0" err="1"/>
              <a:t>parseLiteral</a:t>
            </a:r>
            <a:r>
              <a:rPr lang="en-IN" sz="1600" dirty="0"/>
              <a:t>(</a:t>
            </a:r>
            <a:r>
              <a:rPr lang="en-IN" sz="1600" dirty="0" err="1"/>
              <a:t>ast</a:t>
            </a:r>
            <a:r>
              <a:rPr lang="en-IN" sz="1600" dirty="0"/>
              <a:t>) { </a:t>
            </a:r>
          </a:p>
          <a:p>
            <a:pPr marL="566928" lvl="3" indent="0">
              <a:buNone/>
            </a:pPr>
            <a:r>
              <a:rPr lang="en-IN" sz="1600" dirty="0"/>
              <a:t>return (</a:t>
            </a:r>
            <a:r>
              <a:rPr lang="en-IN" sz="1600" dirty="0" err="1"/>
              <a:t>ast.kind</a:t>
            </a:r>
            <a:r>
              <a:rPr lang="en-IN" sz="1600" dirty="0"/>
              <a:t> == </a:t>
            </a:r>
            <a:r>
              <a:rPr lang="en-IN" sz="1600" dirty="0" err="1"/>
              <a:t>Kind.STRING</a:t>
            </a:r>
            <a:r>
              <a:rPr lang="en-IN" sz="1600" dirty="0"/>
              <a:t>) ? new Date(</a:t>
            </a:r>
            <a:r>
              <a:rPr lang="en-IN" sz="1600" dirty="0" err="1"/>
              <a:t>ast.value</a:t>
            </a:r>
            <a:r>
              <a:rPr lang="en-IN" sz="1600" dirty="0"/>
              <a:t>) : undefined; </a:t>
            </a:r>
          </a:p>
          <a:p>
            <a:pPr marL="384048" lvl="2" indent="0">
              <a:buNone/>
            </a:pPr>
            <a:r>
              <a:rPr lang="en-IN" sz="1600" dirty="0"/>
              <a:t>}, ...</a:t>
            </a:r>
          </a:p>
          <a:p>
            <a:pPr lvl="1">
              <a:buFont typeface="Arial" panose="020B0604020202020204" pitchFamily="34" charset="0"/>
              <a:buChar char="•"/>
            </a:pPr>
            <a:endParaRPr lang="en-IN" sz="1600" dirty="0"/>
          </a:p>
          <a:p>
            <a:pPr lvl="1">
              <a:buFont typeface="Arial" panose="020B0604020202020204" pitchFamily="34" charset="0"/>
              <a:buChar char="•"/>
            </a:pPr>
            <a:r>
              <a:rPr lang="en-IN" sz="1800" dirty="0"/>
              <a:t>The method </a:t>
            </a:r>
            <a:r>
              <a:rPr lang="en-IN" sz="1800" dirty="0" err="1"/>
              <a:t>parseValue</a:t>
            </a:r>
            <a:r>
              <a:rPr lang="en-IN" sz="1800" dirty="0"/>
              <a:t> will be called if the input is supplied as a variable.</a:t>
            </a:r>
          </a:p>
          <a:p>
            <a:pPr marL="384048" lvl="2" indent="0">
              <a:buNone/>
            </a:pPr>
            <a:r>
              <a:rPr lang="en-US" sz="1600" dirty="0"/>
              <a:t>...</a:t>
            </a:r>
          </a:p>
          <a:p>
            <a:pPr marL="384048" lvl="2" indent="0">
              <a:buNone/>
            </a:pPr>
            <a:r>
              <a:rPr lang="en-US" sz="1600" dirty="0"/>
              <a:t>	</a:t>
            </a:r>
            <a:r>
              <a:rPr lang="en-US" sz="1600" dirty="0" err="1"/>
              <a:t>parseValue</a:t>
            </a:r>
            <a:r>
              <a:rPr lang="en-US" sz="1600" dirty="0"/>
              <a:t>(value) {</a:t>
            </a:r>
          </a:p>
          <a:p>
            <a:pPr marL="384048" lvl="2" indent="0">
              <a:buNone/>
            </a:pPr>
            <a:r>
              <a:rPr lang="en-US" sz="1600" dirty="0"/>
              <a:t>	return new Date(value);</a:t>
            </a:r>
          </a:p>
          <a:p>
            <a:pPr marL="384048" lvl="2" indent="0">
              <a:buNone/>
            </a:pPr>
            <a:r>
              <a:rPr lang="en-US" sz="1600" dirty="0"/>
              <a:t>	},</a:t>
            </a:r>
          </a:p>
          <a:p>
            <a:pPr marL="384048" lvl="2" indent="0">
              <a:buNone/>
            </a:pPr>
            <a:r>
              <a:rPr lang="en-US" sz="1600" dirty="0"/>
              <a:t>...</a:t>
            </a:r>
            <a:endParaRPr lang="en-IN" sz="16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US" sz="1800" dirty="0"/>
          </a:p>
        </p:txBody>
      </p:sp>
    </p:spTree>
    <p:extLst>
      <p:ext uri="{BB962C8B-B14F-4D97-AF65-F5344CB8AC3E}">
        <p14:creationId xmlns:p14="http://schemas.microsoft.com/office/powerpoint/2010/main" val="1208563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53AB2-187E-6D62-2A61-B260DFE39ED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43CB418-3D99-CC2A-7F00-B766FDF6AD17}"/>
              </a:ext>
            </a:extLst>
          </p:cNvPr>
          <p:cNvSpPr txBox="1">
            <a:spLocks/>
          </p:cNvSpPr>
          <p:nvPr/>
        </p:nvSpPr>
        <p:spPr>
          <a:xfrm>
            <a:off x="360727" y="343949"/>
            <a:ext cx="11442583" cy="5525143"/>
          </a:xfrm>
          <a:prstGeom prst="rect">
            <a:avLst/>
          </a:prstGeom>
        </p:spPr>
        <p:txBody>
          <a:bodyPr numCol="2"/>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600" dirty="0"/>
              <a:t>The complete set of changes to server.js is</a:t>
            </a:r>
          </a:p>
          <a:p>
            <a:pPr marL="201168" lvl="1" indent="0">
              <a:buNone/>
            </a:pPr>
            <a:r>
              <a:rPr lang="en-US" sz="1600" dirty="0"/>
              <a:t>...</a:t>
            </a:r>
          </a:p>
          <a:p>
            <a:pPr marL="201168" lvl="1" indent="0">
              <a:buNone/>
            </a:pPr>
            <a:r>
              <a:rPr lang="en-US" sz="1600" dirty="0"/>
              <a:t>const { </a:t>
            </a:r>
            <a:r>
              <a:rPr lang="en-US" sz="1600" dirty="0" err="1"/>
              <a:t>GraphQLScalarType</a:t>
            </a:r>
            <a:r>
              <a:rPr lang="en-US" sz="1600" dirty="0"/>
              <a:t> } = require('</a:t>
            </a:r>
            <a:r>
              <a:rPr lang="en-US" sz="1600" dirty="0" err="1"/>
              <a:t>graphql</a:t>
            </a:r>
            <a:r>
              <a:rPr lang="en-US" sz="1600" dirty="0"/>
              <a:t>');</a:t>
            </a:r>
          </a:p>
          <a:p>
            <a:pPr marL="201168" lvl="1" indent="0">
              <a:buNone/>
            </a:pPr>
            <a:r>
              <a:rPr lang="en-US" sz="1600" b="1" dirty="0"/>
              <a:t>const { Kind } = require('</a:t>
            </a:r>
            <a:r>
              <a:rPr lang="en-US" sz="1600" b="1" dirty="0" err="1"/>
              <a:t>graphql</a:t>
            </a:r>
            <a:r>
              <a:rPr lang="en-US" sz="1600" b="1" dirty="0"/>
              <a:t>/language');</a:t>
            </a:r>
          </a:p>
          <a:p>
            <a:pPr marL="201168" lvl="1" indent="0">
              <a:buNone/>
            </a:pPr>
            <a:r>
              <a:rPr lang="en-US" sz="1600" dirty="0"/>
              <a:t>...</a:t>
            </a:r>
          </a:p>
          <a:p>
            <a:pPr marL="201168" lvl="1" indent="0">
              <a:buNone/>
            </a:pPr>
            <a:r>
              <a:rPr lang="en-US" sz="1600" dirty="0"/>
              <a:t>const </a:t>
            </a:r>
            <a:r>
              <a:rPr lang="en-US" sz="1600" dirty="0" err="1"/>
              <a:t>GraphQLDate</a:t>
            </a:r>
            <a:r>
              <a:rPr lang="en-US" sz="1600" dirty="0"/>
              <a:t> = new </a:t>
            </a:r>
            <a:r>
              <a:rPr lang="en-US" sz="1600" dirty="0" err="1"/>
              <a:t>GraphQLScalarType</a:t>
            </a:r>
            <a:r>
              <a:rPr lang="en-US" sz="1600" dirty="0"/>
              <a:t>({</a:t>
            </a:r>
          </a:p>
          <a:p>
            <a:pPr marL="201168" lvl="1" indent="0">
              <a:buNone/>
            </a:pPr>
            <a:r>
              <a:rPr lang="en-US" sz="1600" dirty="0"/>
              <a:t>	...</a:t>
            </a:r>
          </a:p>
          <a:p>
            <a:pPr marL="201168" lvl="1" indent="0">
              <a:buNone/>
            </a:pPr>
            <a:r>
              <a:rPr lang="en-US" sz="1600" dirty="0"/>
              <a:t>	</a:t>
            </a:r>
            <a:r>
              <a:rPr lang="en-US" sz="1600" dirty="0" err="1"/>
              <a:t>parseValue</a:t>
            </a:r>
            <a:r>
              <a:rPr lang="en-US" sz="1600" dirty="0"/>
              <a:t>(value) {</a:t>
            </a:r>
          </a:p>
          <a:p>
            <a:pPr marL="201168" lvl="1" indent="0">
              <a:buNone/>
            </a:pPr>
            <a:r>
              <a:rPr lang="en-US" sz="1600" dirty="0"/>
              <a:t>		return new Date(value);</a:t>
            </a:r>
          </a:p>
          <a:p>
            <a:pPr marL="201168" lvl="1" indent="0">
              <a:buNone/>
            </a:pPr>
            <a:r>
              <a:rPr lang="en-US" sz="1600" dirty="0"/>
              <a:t>	},</a:t>
            </a:r>
          </a:p>
          <a:p>
            <a:pPr marL="201168" lvl="1" indent="0">
              <a:buNone/>
            </a:pPr>
            <a:r>
              <a:rPr lang="en-US" sz="1600" dirty="0"/>
              <a:t>	</a:t>
            </a:r>
            <a:r>
              <a:rPr lang="en-US" sz="1600" dirty="0" err="1"/>
              <a:t>parseLiteral</a:t>
            </a:r>
            <a:r>
              <a:rPr lang="en-US" sz="1600" dirty="0"/>
              <a:t>(</a:t>
            </a:r>
            <a:r>
              <a:rPr lang="en-US" sz="1600" dirty="0" err="1"/>
              <a:t>ast</a:t>
            </a:r>
            <a:r>
              <a:rPr lang="en-US" sz="1600" dirty="0"/>
              <a:t>) {</a:t>
            </a:r>
          </a:p>
          <a:p>
            <a:pPr marL="201168" lvl="1" indent="0">
              <a:buNone/>
            </a:pPr>
            <a:r>
              <a:rPr lang="en-US" sz="1600" dirty="0"/>
              <a:t>		return (</a:t>
            </a:r>
            <a:r>
              <a:rPr lang="en-US" sz="1600" dirty="0" err="1"/>
              <a:t>ast.kind</a:t>
            </a:r>
            <a:r>
              <a:rPr lang="en-US" sz="1600" dirty="0"/>
              <a:t> == </a:t>
            </a:r>
            <a:r>
              <a:rPr lang="en-US" sz="1600" dirty="0" err="1"/>
              <a:t>Kind.STRING</a:t>
            </a:r>
            <a:r>
              <a:rPr lang="en-US" sz="1600" dirty="0"/>
              <a:t>) ? new Date(</a:t>
            </a:r>
            <a:r>
              <a:rPr lang="en-US" sz="1600" dirty="0" err="1"/>
              <a:t>ast.value</a:t>
            </a:r>
            <a:r>
              <a:rPr lang="en-US" sz="1600" dirty="0"/>
              <a:t>) : undefined;</a:t>
            </a:r>
          </a:p>
          <a:p>
            <a:pPr marL="201168" lvl="1" indent="0">
              <a:buNone/>
            </a:pPr>
            <a:r>
              <a:rPr lang="en-US" sz="1600" dirty="0"/>
              <a:t>	},</a:t>
            </a:r>
          </a:p>
          <a:p>
            <a:pPr marL="201168" lvl="1" indent="0">
              <a:buNone/>
            </a:pPr>
            <a:r>
              <a:rPr lang="en-US" sz="1600" dirty="0"/>
              <a:t>});</a:t>
            </a:r>
          </a:p>
          <a:p>
            <a:pPr marL="201168" lvl="1" indent="0">
              <a:buNone/>
            </a:pPr>
            <a:r>
              <a:rPr lang="en-US" sz="1600" dirty="0"/>
              <a:t>...</a:t>
            </a:r>
          </a:p>
          <a:p>
            <a:pPr marL="201168" lvl="1" indent="0">
              <a:buNone/>
            </a:pPr>
            <a:endParaRPr lang="en-US" sz="1600" dirty="0"/>
          </a:p>
          <a:p>
            <a:pPr marL="201168" lvl="1" indent="0">
              <a:buNone/>
            </a:pPr>
            <a:r>
              <a:rPr lang="en-US" sz="1600" dirty="0"/>
              <a:t>const resolvers = {</a:t>
            </a:r>
          </a:p>
          <a:p>
            <a:pPr marL="201168" lvl="1" indent="0">
              <a:buNone/>
            </a:pPr>
            <a:r>
              <a:rPr lang="en-US" sz="1600" dirty="0"/>
              <a:t>	...</a:t>
            </a:r>
          </a:p>
          <a:p>
            <a:pPr marL="201168" lvl="1" indent="0">
              <a:buNone/>
            </a:pPr>
            <a:r>
              <a:rPr lang="en-US" sz="1600" dirty="0"/>
              <a:t>	Mutation: {</a:t>
            </a:r>
          </a:p>
          <a:p>
            <a:pPr marL="201168" lvl="1" indent="0">
              <a:buNone/>
            </a:pPr>
            <a:r>
              <a:rPr lang="en-US" sz="1600" dirty="0"/>
              <a:t>		</a:t>
            </a:r>
            <a:r>
              <a:rPr lang="en-US" sz="1600" dirty="0" err="1"/>
              <a:t>setAboutMessage</a:t>
            </a:r>
            <a:r>
              <a:rPr lang="en-US" sz="1600" dirty="0"/>
              <a:t>,</a:t>
            </a:r>
          </a:p>
          <a:p>
            <a:pPr marL="201168" lvl="1" indent="0">
              <a:buNone/>
            </a:pPr>
            <a:r>
              <a:rPr lang="en-US" sz="1600" dirty="0"/>
              <a:t>		</a:t>
            </a:r>
            <a:r>
              <a:rPr lang="en-US" sz="1600" dirty="0" err="1"/>
              <a:t>issueAdd</a:t>
            </a:r>
            <a:r>
              <a:rPr lang="en-US" sz="1600" dirty="0"/>
              <a:t>,</a:t>
            </a:r>
          </a:p>
          <a:p>
            <a:pPr marL="201168" lvl="1" indent="0">
              <a:buNone/>
            </a:pPr>
            <a:r>
              <a:rPr lang="en-US" sz="1600" dirty="0"/>
              <a:t>	},</a:t>
            </a:r>
          </a:p>
          <a:p>
            <a:pPr marL="201168" lvl="1" indent="0">
              <a:buNone/>
            </a:pPr>
            <a:r>
              <a:rPr lang="en-US" sz="1600" dirty="0"/>
              <a:t>	</a:t>
            </a:r>
            <a:r>
              <a:rPr lang="en-US" sz="1600" dirty="0" err="1"/>
              <a:t>GraphQLDate</a:t>
            </a:r>
            <a:r>
              <a:rPr lang="en-US" sz="1600" dirty="0"/>
              <a:t>,</a:t>
            </a:r>
          </a:p>
          <a:p>
            <a:pPr marL="201168" lvl="1" indent="0">
              <a:buNone/>
            </a:pPr>
            <a:r>
              <a:rPr lang="en-US" sz="1600" dirty="0"/>
              <a:t>};</a:t>
            </a:r>
          </a:p>
          <a:p>
            <a:pPr marL="201168" lvl="1" indent="0">
              <a:buNone/>
            </a:pPr>
            <a:r>
              <a:rPr lang="en-US" sz="1600" dirty="0"/>
              <a:t>...</a:t>
            </a:r>
          </a:p>
          <a:p>
            <a:pPr marL="201168" lvl="1" indent="0">
              <a:buNone/>
            </a:pPr>
            <a:r>
              <a:rPr lang="en-US" sz="1600" dirty="0"/>
              <a:t>function </a:t>
            </a:r>
            <a:r>
              <a:rPr lang="en-US" sz="1600" dirty="0" err="1"/>
              <a:t>issueAdd</a:t>
            </a:r>
            <a:r>
              <a:rPr lang="en-US" sz="1600" dirty="0"/>
              <a:t>(_, { issue }) {</a:t>
            </a:r>
          </a:p>
          <a:p>
            <a:pPr marL="201168" lvl="1" indent="0">
              <a:buNone/>
            </a:pPr>
            <a:r>
              <a:rPr lang="en-US" sz="1600" dirty="0"/>
              <a:t>	</a:t>
            </a:r>
            <a:r>
              <a:rPr lang="en-US" sz="1600" dirty="0" err="1"/>
              <a:t>issue.created</a:t>
            </a:r>
            <a:r>
              <a:rPr lang="en-US" sz="1600" dirty="0"/>
              <a:t> = new Date();</a:t>
            </a:r>
          </a:p>
          <a:p>
            <a:pPr marL="201168" lvl="1" indent="0">
              <a:buNone/>
            </a:pPr>
            <a:r>
              <a:rPr lang="en-US" sz="1600" dirty="0"/>
              <a:t>	issue.id = </a:t>
            </a:r>
            <a:r>
              <a:rPr lang="en-US" sz="1600" dirty="0" err="1"/>
              <a:t>issuesDB.length</a:t>
            </a:r>
            <a:r>
              <a:rPr lang="en-US" sz="1600" dirty="0"/>
              <a:t> + 1;</a:t>
            </a:r>
          </a:p>
          <a:p>
            <a:pPr marL="201168" lvl="1" indent="0">
              <a:buNone/>
            </a:pPr>
            <a:r>
              <a:rPr lang="en-US" sz="1600" dirty="0"/>
              <a:t>	if (</a:t>
            </a:r>
            <a:r>
              <a:rPr lang="en-US" sz="1600" dirty="0" err="1"/>
              <a:t>issue.status</a:t>
            </a:r>
            <a:r>
              <a:rPr lang="en-US" sz="1600" dirty="0"/>
              <a:t> == undefined) </a:t>
            </a:r>
            <a:r>
              <a:rPr lang="en-US" sz="1600" dirty="0" err="1"/>
              <a:t>issue.status</a:t>
            </a:r>
            <a:r>
              <a:rPr lang="en-US" sz="1600" dirty="0"/>
              <a:t> = 'New’;</a:t>
            </a:r>
          </a:p>
          <a:p>
            <a:pPr marL="201168" lvl="1" indent="0">
              <a:buNone/>
            </a:pPr>
            <a:r>
              <a:rPr lang="en-US" sz="1600" dirty="0"/>
              <a:t>	</a:t>
            </a:r>
            <a:r>
              <a:rPr lang="en-US" sz="1600" dirty="0" err="1"/>
              <a:t>issuesDB.push</a:t>
            </a:r>
            <a:r>
              <a:rPr lang="en-US" sz="1600" dirty="0"/>
              <a:t>(issue);</a:t>
            </a:r>
          </a:p>
          <a:p>
            <a:pPr marL="201168" lvl="1" indent="0">
              <a:buNone/>
            </a:pPr>
            <a:r>
              <a:rPr lang="en-US" sz="1600" dirty="0"/>
              <a:t>	return issue;</a:t>
            </a:r>
          </a:p>
          <a:p>
            <a:pPr marL="201168" lvl="1" indent="0">
              <a:buNone/>
            </a:pPr>
            <a:r>
              <a:rPr lang="en-US" sz="1600" dirty="0"/>
              <a:t>}</a:t>
            </a:r>
          </a:p>
          <a:p>
            <a:pPr marL="201168" lvl="1" indent="0">
              <a:buNone/>
            </a:pPr>
            <a:r>
              <a:rPr lang="en-US" sz="1600" dirty="0"/>
              <a:t>...</a:t>
            </a:r>
          </a:p>
        </p:txBody>
      </p:sp>
    </p:spTree>
    <p:extLst>
      <p:ext uri="{BB962C8B-B14F-4D97-AF65-F5344CB8AC3E}">
        <p14:creationId xmlns:p14="http://schemas.microsoft.com/office/powerpoint/2010/main" val="3098141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1CCA2-D8F9-95D0-ED64-B6FFD889CE2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B5CC7B0-08B3-C398-E804-3D377C4361EF}"/>
              </a:ext>
            </a:extLst>
          </p:cNvPr>
          <p:cNvSpPr txBox="1">
            <a:spLocks/>
          </p:cNvSpPr>
          <p:nvPr/>
        </p:nvSpPr>
        <p:spPr>
          <a:xfrm>
            <a:off x="360727" y="343949"/>
            <a:ext cx="11442583" cy="5525143"/>
          </a:xfrm>
          <a:prstGeom prst="rect">
            <a:avLst/>
          </a:prstGeom>
        </p:spPr>
        <p:txBody>
          <a:bodyPr numCol="2"/>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000" dirty="0"/>
              <a:t>Full program and Execution using create API</a:t>
            </a:r>
          </a:p>
          <a:p>
            <a:pPr lvl="1"/>
            <a:r>
              <a:rPr lang="en-IN" sz="1800" dirty="0" err="1"/>
              <a:t>schema.graphql</a:t>
            </a:r>
            <a:endParaRPr lang="en-IN" sz="1800" dirty="0"/>
          </a:p>
          <a:p>
            <a:pPr marL="384048" lvl="2" indent="0">
              <a:buNone/>
            </a:pPr>
            <a:r>
              <a:rPr lang="en-US" sz="1400" dirty="0"/>
              <a:t>scalar </a:t>
            </a:r>
            <a:r>
              <a:rPr lang="en-US" sz="1400" dirty="0" err="1"/>
              <a:t>GraphQLDate</a:t>
            </a:r>
            <a:endParaRPr lang="en-US" sz="1400" dirty="0"/>
          </a:p>
          <a:p>
            <a:pPr marL="384048" lvl="2" indent="0">
              <a:buNone/>
            </a:pPr>
            <a:endParaRPr lang="en-US" sz="1400" dirty="0"/>
          </a:p>
          <a:p>
            <a:pPr marL="384048" lvl="2" indent="0">
              <a:buNone/>
            </a:pPr>
            <a:r>
              <a:rPr lang="en-US" sz="1400" dirty="0"/>
              <a:t>type Issue {</a:t>
            </a:r>
          </a:p>
          <a:p>
            <a:pPr marL="384048" lvl="2" indent="0">
              <a:buNone/>
            </a:pPr>
            <a:r>
              <a:rPr lang="en-US" sz="1400" dirty="0"/>
              <a:t>  id: Int!</a:t>
            </a:r>
          </a:p>
          <a:p>
            <a:pPr marL="384048" lvl="2" indent="0">
              <a:buNone/>
            </a:pPr>
            <a:r>
              <a:rPr lang="en-US" sz="1400" dirty="0"/>
              <a:t>  title: String!</a:t>
            </a:r>
          </a:p>
          <a:p>
            <a:pPr marL="384048" lvl="2" indent="0">
              <a:buNone/>
            </a:pPr>
            <a:r>
              <a:rPr lang="en-US" sz="1400" dirty="0"/>
              <a:t>  status: String!</a:t>
            </a:r>
          </a:p>
          <a:p>
            <a:pPr marL="384048" lvl="2" indent="0">
              <a:buNone/>
            </a:pPr>
            <a:r>
              <a:rPr lang="en-US" sz="1400" dirty="0"/>
              <a:t>  owner: String</a:t>
            </a:r>
          </a:p>
          <a:p>
            <a:pPr marL="384048" lvl="2" indent="0">
              <a:buNone/>
            </a:pPr>
            <a:r>
              <a:rPr lang="en-US" sz="1400" dirty="0"/>
              <a:t>  effort: Int</a:t>
            </a:r>
          </a:p>
          <a:p>
            <a:pPr marL="384048" lvl="2" indent="0">
              <a:buNone/>
            </a:pPr>
            <a:r>
              <a:rPr lang="en-US" sz="1400" dirty="0"/>
              <a:t>  created: </a:t>
            </a:r>
            <a:r>
              <a:rPr lang="en-US" sz="1400" dirty="0" err="1"/>
              <a:t>GraphQLDate</a:t>
            </a:r>
            <a:r>
              <a:rPr lang="en-US" sz="1400" dirty="0"/>
              <a:t>!</a:t>
            </a:r>
          </a:p>
          <a:p>
            <a:pPr marL="384048" lvl="2" indent="0">
              <a:buNone/>
            </a:pPr>
            <a:r>
              <a:rPr lang="en-US" sz="1400" dirty="0"/>
              <a:t>  due: </a:t>
            </a:r>
            <a:r>
              <a:rPr lang="en-US" sz="1400" dirty="0" err="1"/>
              <a:t>GraphQLDate</a:t>
            </a:r>
            <a:endParaRPr lang="en-US" sz="1400" dirty="0"/>
          </a:p>
          <a:p>
            <a:pPr marL="384048" lvl="2" indent="0">
              <a:buNone/>
            </a:pPr>
            <a:r>
              <a:rPr lang="en-US" sz="1400" dirty="0"/>
              <a:t>}</a:t>
            </a:r>
          </a:p>
          <a:p>
            <a:pPr marL="384048" lvl="2" indent="0">
              <a:buNone/>
            </a:pPr>
            <a:endParaRPr lang="en-US" sz="1400" dirty="0"/>
          </a:p>
          <a:p>
            <a:pPr marL="384048" lvl="2" indent="0">
              <a:buNone/>
            </a:pPr>
            <a:r>
              <a:rPr lang="en-US" sz="1400" dirty="0"/>
              <a:t>"Toned down Issue, used as inputs, without server generated values."</a:t>
            </a:r>
          </a:p>
          <a:p>
            <a:pPr marL="384048" lvl="2" indent="0">
              <a:buNone/>
            </a:pPr>
            <a:r>
              <a:rPr lang="en-US" sz="1400" dirty="0"/>
              <a:t>input </a:t>
            </a:r>
            <a:r>
              <a:rPr lang="en-US" sz="1400" dirty="0" err="1"/>
              <a:t>IssueInputs</a:t>
            </a:r>
            <a:r>
              <a:rPr lang="en-US" sz="1400" dirty="0"/>
              <a:t> {</a:t>
            </a:r>
          </a:p>
          <a:p>
            <a:pPr marL="384048" lvl="2" indent="0">
              <a:buNone/>
            </a:pPr>
            <a:r>
              <a:rPr lang="en-US" sz="1400" dirty="0"/>
              <a:t>  title: String!</a:t>
            </a:r>
          </a:p>
          <a:p>
            <a:pPr marL="384048" lvl="2" indent="0">
              <a:buNone/>
            </a:pPr>
            <a:endParaRPr lang="en-US" sz="1400" dirty="0"/>
          </a:p>
          <a:p>
            <a:pPr marL="384048" lvl="2" indent="0">
              <a:buNone/>
            </a:pPr>
            <a:r>
              <a:rPr lang="en-US" sz="1400" dirty="0"/>
              <a:t>  "Optional, if not supplied, will be set to 'New'"</a:t>
            </a:r>
          </a:p>
          <a:p>
            <a:pPr marL="384048" lvl="2" indent="0">
              <a:buNone/>
            </a:pPr>
            <a:r>
              <a:rPr lang="en-US" sz="1400" dirty="0"/>
              <a:t>  status: String</a:t>
            </a:r>
          </a:p>
          <a:p>
            <a:pPr marL="384048" lvl="2" indent="0">
              <a:buNone/>
            </a:pPr>
            <a:endParaRPr lang="en-US" sz="1400" dirty="0"/>
          </a:p>
          <a:p>
            <a:pPr marL="384048" lvl="2" indent="0">
              <a:buNone/>
            </a:pPr>
            <a:r>
              <a:rPr lang="en-US" sz="1400" dirty="0"/>
              <a:t>  owner: String</a:t>
            </a:r>
          </a:p>
          <a:p>
            <a:pPr marL="384048" lvl="2" indent="0">
              <a:buNone/>
            </a:pPr>
            <a:r>
              <a:rPr lang="en-US" sz="1400" dirty="0"/>
              <a:t>  effort: Int</a:t>
            </a:r>
          </a:p>
          <a:p>
            <a:pPr marL="384048" lvl="2" indent="0">
              <a:buNone/>
            </a:pPr>
            <a:r>
              <a:rPr lang="en-US" sz="1400" dirty="0"/>
              <a:t>  due: </a:t>
            </a:r>
            <a:r>
              <a:rPr lang="en-US" sz="1400" dirty="0" err="1"/>
              <a:t>GraphQLDate</a:t>
            </a:r>
            <a:endParaRPr lang="en-US" sz="1400" dirty="0"/>
          </a:p>
          <a:p>
            <a:pPr marL="384048" lvl="2" indent="0">
              <a:buNone/>
            </a:pPr>
            <a:r>
              <a:rPr lang="en-US" sz="1400" dirty="0"/>
              <a:t>}</a:t>
            </a:r>
          </a:p>
          <a:p>
            <a:pPr marL="384048" lvl="2" indent="0">
              <a:buNone/>
            </a:pPr>
            <a:endParaRPr lang="en-US" sz="1400" dirty="0"/>
          </a:p>
          <a:p>
            <a:pPr marL="384048" lvl="2" indent="0">
              <a:buNone/>
            </a:pPr>
            <a:r>
              <a:rPr lang="en-US" sz="1400" dirty="0"/>
              <a:t>type Query {</a:t>
            </a:r>
          </a:p>
          <a:p>
            <a:pPr marL="384048" lvl="2" indent="0">
              <a:buNone/>
            </a:pPr>
            <a:r>
              <a:rPr lang="en-US" sz="1400" dirty="0"/>
              <a:t>  about: String!</a:t>
            </a:r>
          </a:p>
          <a:p>
            <a:pPr marL="384048" lvl="2" indent="0">
              <a:buNone/>
            </a:pPr>
            <a:r>
              <a:rPr lang="en-US" sz="1400" dirty="0"/>
              <a:t>  </a:t>
            </a:r>
            <a:r>
              <a:rPr lang="en-US" sz="1400" dirty="0" err="1"/>
              <a:t>issueList</a:t>
            </a:r>
            <a:r>
              <a:rPr lang="en-US" sz="1400" dirty="0"/>
              <a:t>: [Issue!]!</a:t>
            </a:r>
          </a:p>
          <a:p>
            <a:pPr marL="384048" lvl="2" indent="0">
              <a:buNone/>
            </a:pPr>
            <a:r>
              <a:rPr lang="en-US" sz="1400" dirty="0"/>
              <a:t>}</a:t>
            </a:r>
          </a:p>
          <a:p>
            <a:pPr marL="384048" lvl="2" indent="0">
              <a:buNone/>
            </a:pPr>
            <a:endParaRPr lang="en-US" sz="1400" dirty="0"/>
          </a:p>
          <a:p>
            <a:pPr marL="384048" lvl="2" indent="0">
              <a:buNone/>
            </a:pPr>
            <a:r>
              <a:rPr lang="en-US" sz="1400" dirty="0"/>
              <a:t>type Mutation {</a:t>
            </a:r>
          </a:p>
          <a:p>
            <a:pPr marL="384048" lvl="2" indent="0">
              <a:buNone/>
            </a:pPr>
            <a:r>
              <a:rPr lang="en-US" sz="1400" dirty="0"/>
              <a:t>  </a:t>
            </a:r>
            <a:r>
              <a:rPr lang="en-US" sz="1400" dirty="0" err="1"/>
              <a:t>setAboutMessage</a:t>
            </a:r>
            <a:r>
              <a:rPr lang="en-US" sz="1400" dirty="0"/>
              <a:t>(message: String!): String</a:t>
            </a:r>
          </a:p>
          <a:p>
            <a:pPr marL="384048" lvl="2" indent="0">
              <a:buNone/>
            </a:pPr>
            <a:r>
              <a:rPr lang="en-US" sz="1400" dirty="0"/>
              <a:t>  </a:t>
            </a:r>
            <a:r>
              <a:rPr lang="en-US" sz="1400" dirty="0" err="1"/>
              <a:t>issueAdd</a:t>
            </a:r>
            <a:r>
              <a:rPr lang="en-US" sz="1400" dirty="0"/>
              <a:t>(issue: </a:t>
            </a:r>
            <a:r>
              <a:rPr lang="en-US" sz="1400" dirty="0" err="1"/>
              <a:t>IssueInputs</a:t>
            </a:r>
            <a:r>
              <a:rPr lang="en-US" sz="1400" dirty="0"/>
              <a:t>!): Issue!</a:t>
            </a:r>
          </a:p>
          <a:p>
            <a:pPr marL="384048" lvl="2" indent="0">
              <a:buNone/>
            </a:pPr>
            <a:r>
              <a:rPr lang="en-US" sz="1400" dirty="0"/>
              <a:t>}</a:t>
            </a:r>
          </a:p>
        </p:txBody>
      </p:sp>
    </p:spTree>
    <p:extLst>
      <p:ext uri="{BB962C8B-B14F-4D97-AF65-F5344CB8AC3E}">
        <p14:creationId xmlns:p14="http://schemas.microsoft.com/office/powerpoint/2010/main" val="15384735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6D00-2FC3-1A69-EE19-EBA1F98F0BD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D490FD8-62E7-B7FD-6E09-5B1AE14C7FCF}"/>
              </a:ext>
            </a:extLst>
          </p:cNvPr>
          <p:cNvSpPr txBox="1">
            <a:spLocks/>
          </p:cNvSpPr>
          <p:nvPr/>
        </p:nvSpPr>
        <p:spPr>
          <a:xfrm>
            <a:off x="360727" y="343949"/>
            <a:ext cx="11442583" cy="5525143"/>
          </a:xfrm>
          <a:prstGeom prst="rect">
            <a:avLst/>
          </a:prstGeom>
        </p:spPr>
        <p:txBody>
          <a:bodyPr numCol="2"/>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800" dirty="0"/>
              <a:t>server.js</a:t>
            </a:r>
          </a:p>
          <a:p>
            <a:pPr marL="384048" lvl="2" indent="0">
              <a:buNone/>
            </a:pPr>
            <a:r>
              <a:rPr lang="en-US" sz="1400" dirty="0"/>
              <a:t>const express = require('</a:t>
            </a:r>
            <a:r>
              <a:rPr lang="en-US" sz="1400" dirty="0" err="1"/>
              <a:t>express'</a:t>
            </a:r>
            <a:r>
              <a:rPr lang="en-US" sz="1400" dirty="0"/>
              <a:t>);</a:t>
            </a:r>
          </a:p>
          <a:p>
            <a:pPr marL="384048" lvl="2" indent="0">
              <a:buNone/>
            </a:pPr>
            <a:r>
              <a:rPr lang="en-US" sz="1400" dirty="0"/>
              <a:t>const { </a:t>
            </a:r>
            <a:r>
              <a:rPr lang="en-US" sz="1400" dirty="0" err="1"/>
              <a:t>graphqlHTTP</a:t>
            </a:r>
            <a:r>
              <a:rPr lang="en-US" sz="1400" dirty="0"/>
              <a:t> } = require('express-</a:t>
            </a:r>
            <a:r>
              <a:rPr lang="en-US" sz="1400" dirty="0" err="1"/>
              <a:t>graphql</a:t>
            </a:r>
            <a:r>
              <a:rPr lang="en-US" sz="1400" dirty="0"/>
              <a:t>');</a:t>
            </a:r>
          </a:p>
          <a:p>
            <a:pPr marL="384048" lvl="2" indent="0">
              <a:buNone/>
            </a:pPr>
            <a:r>
              <a:rPr lang="en-US" sz="1400" dirty="0"/>
              <a:t>const {</a:t>
            </a:r>
          </a:p>
          <a:p>
            <a:pPr marL="384048" lvl="2" indent="0">
              <a:buNone/>
            </a:pPr>
            <a:r>
              <a:rPr lang="en-US" sz="1400" dirty="0"/>
              <a:t>    </a:t>
            </a:r>
            <a:r>
              <a:rPr lang="en-US" sz="1400" dirty="0" err="1"/>
              <a:t>buildSchema</a:t>
            </a:r>
            <a:r>
              <a:rPr lang="en-US" sz="1400" dirty="0"/>
              <a:t>,</a:t>
            </a:r>
          </a:p>
          <a:p>
            <a:pPr marL="384048" lvl="2" indent="0">
              <a:buNone/>
            </a:pPr>
            <a:r>
              <a:rPr lang="en-US" sz="1400" dirty="0"/>
              <a:t>    </a:t>
            </a:r>
            <a:r>
              <a:rPr lang="en-US" sz="1400" dirty="0" err="1"/>
              <a:t>GraphQLScalarType</a:t>
            </a:r>
            <a:r>
              <a:rPr lang="en-US" sz="1400" dirty="0"/>
              <a:t>,</a:t>
            </a:r>
          </a:p>
          <a:p>
            <a:pPr marL="384048" lvl="2" indent="0">
              <a:buNone/>
            </a:pPr>
            <a:r>
              <a:rPr lang="en-US" sz="1400" dirty="0"/>
              <a:t>    Kind</a:t>
            </a:r>
          </a:p>
          <a:p>
            <a:pPr marL="384048" lvl="2" indent="0">
              <a:buNone/>
            </a:pPr>
            <a:r>
              <a:rPr lang="en-US" sz="1400" dirty="0"/>
              <a:t>} = require('</a:t>
            </a:r>
            <a:r>
              <a:rPr lang="en-US" sz="1400" dirty="0" err="1"/>
              <a:t>graphql</a:t>
            </a:r>
            <a:r>
              <a:rPr lang="en-US" sz="1400" dirty="0"/>
              <a:t>');</a:t>
            </a:r>
          </a:p>
          <a:p>
            <a:pPr marL="384048" lvl="2" indent="0">
              <a:buNone/>
            </a:pPr>
            <a:r>
              <a:rPr lang="en-US" sz="1400" dirty="0"/>
              <a:t>const fs = require('</a:t>
            </a:r>
            <a:r>
              <a:rPr lang="en-US" sz="1400" dirty="0" err="1"/>
              <a:t>fs'</a:t>
            </a:r>
            <a:r>
              <a:rPr lang="en-US" sz="1400" dirty="0"/>
              <a:t>);</a:t>
            </a:r>
          </a:p>
          <a:p>
            <a:pPr marL="384048" lvl="2" indent="0">
              <a:buNone/>
            </a:pPr>
            <a:endParaRPr lang="en-US" sz="1400" dirty="0"/>
          </a:p>
          <a:p>
            <a:pPr marL="384048" lvl="2" indent="0">
              <a:buNone/>
            </a:pPr>
            <a:r>
              <a:rPr lang="en-US" sz="1400" dirty="0"/>
              <a:t>const app = express();</a:t>
            </a:r>
          </a:p>
          <a:p>
            <a:pPr marL="384048" lvl="2" indent="0">
              <a:buNone/>
            </a:pPr>
            <a:endParaRPr lang="en-US" sz="1400" dirty="0"/>
          </a:p>
          <a:p>
            <a:pPr marL="384048" lvl="2" indent="0">
              <a:buNone/>
            </a:pPr>
            <a:r>
              <a:rPr lang="en-US" sz="1400" dirty="0"/>
              <a:t>// Read </a:t>
            </a:r>
            <a:r>
              <a:rPr lang="en-US" sz="1400" dirty="0" err="1"/>
              <a:t>GraphQL</a:t>
            </a:r>
            <a:r>
              <a:rPr lang="en-US" sz="1400" dirty="0"/>
              <a:t> schema from </a:t>
            </a:r>
            <a:r>
              <a:rPr lang="en-US" sz="1400" dirty="0" err="1"/>
              <a:t>schema.graphql</a:t>
            </a:r>
            <a:endParaRPr lang="en-US" sz="1400" dirty="0"/>
          </a:p>
          <a:p>
            <a:pPr marL="384048" lvl="2" indent="0">
              <a:buNone/>
            </a:pPr>
            <a:r>
              <a:rPr lang="en-US" sz="1400" dirty="0"/>
              <a:t>const </a:t>
            </a:r>
            <a:r>
              <a:rPr lang="en-US" sz="1400" dirty="0" err="1"/>
              <a:t>schemaText</a:t>
            </a:r>
            <a:r>
              <a:rPr lang="en-US" sz="1400" dirty="0"/>
              <a:t> = </a:t>
            </a:r>
            <a:r>
              <a:rPr lang="en-US" sz="1400" dirty="0" err="1"/>
              <a:t>fs.readFileSync</a:t>
            </a:r>
            <a:r>
              <a:rPr lang="en-US" sz="1400" dirty="0"/>
              <a:t>('</a:t>
            </a:r>
            <a:r>
              <a:rPr lang="en-US" sz="1400" dirty="0" err="1"/>
              <a:t>schema.graphql</a:t>
            </a:r>
            <a:r>
              <a:rPr lang="en-US" sz="1400" dirty="0"/>
              <a:t>', 'utf8');</a:t>
            </a:r>
          </a:p>
          <a:p>
            <a:pPr marL="384048" lvl="2" indent="0">
              <a:buNone/>
            </a:pPr>
            <a:r>
              <a:rPr lang="en-US" sz="1400" dirty="0"/>
              <a:t>const schema = </a:t>
            </a:r>
            <a:r>
              <a:rPr lang="en-US" sz="1400" dirty="0" err="1"/>
              <a:t>buildSchema</a:t>
            </a:r>
            <a:r>
              <a:rPr lang="en-US" sz="1400" dirty="0"/>
              <a:t>(</a:t>
            </a:r>
            <a:r>
              <a:rPr lang="en-US" sz="1400" dirty="0" err="1"/>
              <a:t>schemaText</a:t>
            </a:r>
            <a:r>
              <a:rPr lang="en-US" sz="1400" dirty="0"/>
              <a:t>);</a:t>
            </a:r>
          </a:p>
          <a:p>
            <a:pPr marL="384048" lvl="2" indent="0">
              <a:buNone/>
            </a:pPr>
            <a:endParaRPr lang="en-US" sz="1400" dirty="0"/>
          </a:p>
          <a:p>
            <a:pPr marL="384048" lvl="2" indent="0">
              <a:buNone/>
            </a:pPr>
            <a:r>
              <a:rPr lang="en-US" sz="1400" dirty="0"/>
              <a:t>let </a:t>
            </a:r>
            <a:r>
              <a:rPr lang="en-US" sz="1400" dirty="0" err="1"/>
              <a:t>aboutMessage</a:t>
            </a:r>
            <a:r>
              <a:rPr lang="en-US" sz="1400" dirty="0"/>
              <a:t> = 'Issue Tracker API v1.0';</a:t>
            </a:r>
          </a:p>
          <a:p>
            <a:pPr marL="384048" lvl="2" indent="0">
              <a:buNone/>
            </a:pPr>
            <a:endParaRPr lang="en-US" sz="1400" dirty="0"/>
          </a:p>
          <a:p>
            <a:pPr marL="384048" lvl="2" indent="0">
              <a:buNone/>
            </a:pPr>
            <a:r>
              <a:rPr lang="en-US" sz="1400" dirty="0"/>
              <a:t>const </a:t>
            </a:r>
            <a:r>
              <a:rPr lang="en-US" sz="1400" dirty="0" err="1"/>
              <a:t>issuesDB</a:t>
            </a:r>
            <a:r>
              <a:rPr lang="en-US" sz="1400" dirty="0"/>
              <a:t> = [</a:t>
            </a:r>
          </a:p>
          <a:p>
            <a:pPr marL="384048" lvl="2" indent="0">
              <a:buNone/>
            </a:pPr>
            <a:r>
              <a:rPr lang="en-US" sz="1400" dirty="0"/>
              <a:t>    {</a:t>
            </a:r>
          </a:p>
          <a:p>
            <a:pPr marL="384048" lvl="2" indent="0">
              <a:buNone/>
            </a:pPr>
            <a:r>
              <a:rPr lang="en-US" sz="1400" dirty="0"/>
              <a:t>        id: 1,</a:t>
            </a:r>
          </a:p>
          <a:p>
            <a:pPr marL="384048" lvl="2" indent="0">
              <a:buNone/>
            </a:pPr>
            <a:r>
              <a:rPr lang="en-US" sz="1400" dirty="0"/>
              <a:t>        status: 'New',</a:t>
            </a:r>
          </a:p>
          <a:p>
            <a:pPr marL="384048" lvl="2" indent="0">
              <a:buNone/>
            </a:pPr>
            <a:r>
              <a:rPr lang="en-US" sz="1400" dirty="0"/>
              <a:t>        owner: 'Ravan',</a:t>
            </a:r>
          </a:p>
          <a:p>
            <a:pPr marL="384048" lvl="2" indent="0">
              <a:buNone/>
            </a:pPr>
            <a:r>
              <a:rPr lang="en-US" sz="1400" dirty="0"/>
              <a:t>        effort: 5,</a:t>
            </a:r>
          </a:p>
          <a:p>
            <a:pPr marL="384048" lvl="2" indent="0">
              <a:buNone/>
            </a:pPr>
            <a:r>
              <a:rPr lang="en-US" sz="1400" dirty="0"/>
              <a:t>        created: new Date('2019-01-15'),</a:t>
            </a:r>
          </a:p>
          <a:p>
            <a:pPr marL="384048" lvl="2" indent="0">
              <a:buNone/>
            </a:pPr>
            <a:r>
              <a:rPr lang="en-US" sz="1400" dirty="0"/>
              <a:t>        due: undefined,</a:t>
            </a:r>
          </a:p>
          <a:p>
            <a:pPr marL="384048" lvl="2" indent="0">
              <a:buNone/>
            </a:pPr>
            <a:r>
              <a:rPr lang="en-US" sz="1400" dirty="0"/>
              <a:t>        title: 'Error in console when clicking Add'</a:t>
            </a:r>
          </a:p>
          <a:p>
            <a:pPr marL="384048" lvl="2" indent="0">
              <a:buNone/>
            </a:pPr>
            <a:r>
              <a:rPr lang="en-US" sz="1400" dirty="0"/>
              <a:t>    },</a:t>
            </a:r>
          </a:p>
          <a:p>
            <a:pPr marL="384048" lvl="2" indent="0">
              <a:buNone/>
            </a:pPr>
            <a:r>
              <a:rPr lang="en-US" sz="1400" dirty="0"/>
              <a:t>    {</a:t>
            </a:r>
          </a:p>
          <a:p>
            <a:pPr marL="384048" lvl="2" indent="0">
              <a:buNone/>
            </a:pPr>
            <a:r>
              <a:rPr lang="en-US" sz="1400" dirty="0"/>
              <a:t>        id: 2,</a:t>
            </a:r>
          </a:p>
          <a:p>
            <a:pPr marL="384048" lvl="2" indent="0">
              <a:buNone/>
            </a:pPr>
            <a:r>
              <a:rPr lang="en-US" sz="1400" dirty="0"/>
              <a:t>        status: 'Assigned',</a:t>
            </a:r>
          </a:p>
          <a:p>
            <a:pPr marL="384048" lvl="2" indent="0">
              <a:buNone/>
            </a:pPr>
            <a:r>
              <a:rPr lang="en-US" sz="1400" dirty="0"/>
              <a:t>        owner: 'Eddie',</a:t>
            </a:r>
          </a:p>
          <a:p>
            <a:pPr marL="384048" lvl="2" indent="0">
              <a:buNone/>
            </a:pPr>
            <a:r>
              <a:rPr lang="en-US" sz="1400" dirty="0"/>
              <a:t>        effort: 14,</a:t>
            </a:r>
          </a:p>
          <a:p>
            <a:pPr marL="384048" lvl="2" indent="0">
              <a:buNone/>
            </a:pPr>
            <a:r>
              <a:rPr lang="en-US" sz="1400" dirty="0"/>
              <a:t>        created: new Date('2019-01-16'),</a:t>
            </a:r>
          </a:p>
          <a:p>
            <a:pPr marL="384048" lvl="2" indent="0">
              <a:buNone/>
            </a:pPr>
            <a:r>
              <a:rPr lang="en-US" sz="1400" dirty="0"/>
              <a:t>        due: new Date('2019-02-01'),</a:t>
            </a:r>
          </a:p>
          <a:p>
            <a:pPr marL="384048" lvl="2" indent="0">
              <a:buNone/>
            </a:pPr>
            <a:r>
              <a:rPr lang="en-US" sz="1400" dirty="0"/>
              <a:t>        title: 'Missing bottom border on panel'</a:t>
            </a:r>
          </a:p>
          <a:p>
            <a:pPr marL="384048" lvl="2" indent="0">
              <a:buNone/>
            </a:pPr>
            <a:r>
              <a:rPr lang="en-US" sz="1400" dirty="0"/>
              <a:t>    }</a:t>
            </a:r>
          </a:p>
          <a:p>
            <a:pPr marL="384048" lvl="2" indent="0">
              <a:buNone/>
            </a:pPr>
            <a:r>
              <a:rPr lang="en-US" sz="1400" dirty="0"/>
              <a:t>];</a:t>
            </a:r>
            <a:endParaRPr lang="en-US" sz="1200" dirty="0"/>
          </a:p>
        </p:txBody>
      </p:sp>
    </p:spTree>
    <p:extLst>
      <p:ext uri="{BB962C8B-B14F-4D97-AF65-F5344CB8AC3E}">
        <p14:creationId xmlns:p14="http://schemas.microsoft.com/office/powerpoint/2010/main" val="5426016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D288E-4F87-7925-9BB0-0C412A9A5D4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D74F08B-344D-533D-DC47-86D91104D878}"/>
              </a:ext>
            </a:extLst>
          </p:cNvPr>
          <p:cNvSpPr txBox="1">
            <a:spLocks/>
          </p:cNvSpPr>
          <p:nvPr/>
        </p:nvSpPr>
        <p:spPr>
          <a:xfrm>
            <a:off x="360727" y="343949"/>
            <a:ext cx="11442583" cy="5525143"/>
          </a:xfrm>
          <a:prstGeom prst="rect">
            <a:avLst/>
          </a:prstGeom>
        </p:spPr>
        <p:txBody>
          <a:bodyPr numCol="2"/>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continued…</a:t>
            </a:r>
          </a:p>
          <a:p>
            <a:pPr marL="384048" lvl="2" indent="0">
              <a:spcBef>
                <a:spcPts val="0"/>
              </a:spcBef>
              <a:spcAft>
                <a:spcPts val="0"/>
              </a:spcAft>
              <a:buNone/>
            </a:pPr>
            <a:r>
              <a:rPr lang="en-US" sz="1400" dirty="0"/>
              <a:t>// Custom </a:t>
            </a:r>
            <a:r>
              <a:rPr lang="en-US" sz="1400" dirty="0" err="1"/>
              <a:t>GraphQL</a:t>
            </a:r>
            <a:r>
              <a:rPr lang="en-US" sz="1400" dirty="0"/>
              <a:t> Date scalar</a:t>
            </a:r>
          </a:p>
          <a:p>
            <a:pPr marL="384048" lvl="2" indent="0">
              <a:spcBef>
                <a:spcPts val="0"/>
              </a:spcBef>
              <a:spcAft>
                <a:spcPts val="0"/>
              </a:spcAft>
              <a:buNone/>
            </a:pPr>
            <a:r>
              <a:rPr lang="en-US" sz="1400" dirty="0"/>
              <a:t>const </a:t>
            </a:r>
            <a:r>
              <a:rPr lang="en-US" sz="1400" dirty="0" err="1"/>
              <a:t>GraphQLDate</a:t>
            </a:r>
            <a:r>
              <a:rPr lang="en-US" sz="1400" dirty="0"/>
              <a:t> = new </a:t>
            </a:r>
            <a:r>
              <a:rPr lang="en-US" sz="1400" dirty="0" err="1"/>
              <a:t>GraphQLScalarType</a:t>
            </a:r>
            <a:r>
              <a:rPr lang="en-US" sz="1400" dirty="0"/>
              <a:t>({</a:t>
            </a:r>
          </a:p>
          <a:p>
            <a:pPr marL="384048" lvl="2" indent="0">
              <a:spcBef>
                <a:spcPts val="0"/>
              </a:spcBef>
              <a:spcAft>
                <a:spcPts val="0"/>
              </a:spcAft>
              <a:buNone/>
            </a:pPr>
            <a:r>
              <a:rPr lang="en-US" sz="1400" dirty="0"/>
              <a:t>    name: '</a:t>
            </a:r>
            <a:r>
              <a:rPr lang="en-US" sz="1400" dirty="0" err="1"/>
              <a:t>GraphQLDate</a:t>
            </a:r>
            <a:r>
              <a:rPr lang="en-US" sz="1400" dirty="0"/>
              <a:t>',</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description: 'Custom scalar type for dates',</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a:t>
            </a:r>
            <a:r>
              <a:rPr lang="en-US" sz="1400" dirty="0" err="1"/>
              <a:t>parseValue</a:t>
            </a:r>
            <a:r>
              <a:rPr lang="en-US" sz="1400" dirty="0"/>
              <a:t>(value) {</a:t>
            </a:r>
          </a:p>
          <a:p>
            <a:pPr marL="384048" lvl="2" indent="0">
              <a:spcBef>
                <a:spcPts val="0"/>
              </a:spcBef>
              <a:spcAft>
                <a:spcPts val="0"/>
              </a:spcAft>
              <a:buNone/>
            </a:pPr>
            <a:r>
              <a:rPr lang="en-US" sz="1400" dirty="0"/>
              <a:t>        return new Date(value);</a:t>
            </a:r>
          </a:p>
          <a:p>
            <a:pPr marL="384048" lvl="2" indent="0">
              <a:spcBef>
                <a:spcPts val="0"/>
              </a:spcBef>
              <a:spcAft>
                <a:spcPts val="0"/>
              </a:spcAft>
              <a:buNone/>
            </a:pPr>
            <a:r>
              <a:rPr lang="en-US" sz="1400" dirty="0"/>
              <a:t>    },</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a:t>
            </a:r>
            <a:r>
              <a:rPr lang="en-US" sz="1400" dirty="0" err="1"/>
              <a:t>parseLiteral</a:t>
            </a:r>
            <a:r>
              <a:rPr lang="en-US" sz="1400" dirty="0"/>
              <a:t>(</a:t>
            </a:r>
            <a:r>
              <a:rPr lang="en-US" sz="1400" dirty="0" err="1"/>
              <a:t>ast</a:t>
            </a:r>
            <a:r>
              <a:rPr lang="en-US" sz="1400" dirty="0"/>
              <a:t>) {</a:t>
            </a:r>
          </a:p>
          <a:p>
            <a:pPr marL="384048" lvl="2" indent="0">
              <a:spcBef>
                <a:spcPts val="0"/>
              </a:spcBef>
              <a:spcAft>
                <a:spcPts val="0"/>
              </a:spcAft>
              <a:buNone/>
            </a:pPr>
            <a:r>
              <a:rPr lang="en-US" sz="1400" dirty="0"/>
              <a:t>        if (</a:t>
            </a:r>
            <a:r>
              <a:rPr lang="en-US" sz="1400" dirty="0" err="1"/>
              <a:t>ast.kind</a:t>
            </a:r>
            <a:r>
              <a:rPr lang="en-US" sz="1400" dirty="0"/>
              <a:t> === </a:t>
            </a:r>
            <a:r>
              <a:rPr lang="en-US" sz="1400" dirty="0" err="1"/>
              <a:t>Kind.STRING</a:t>
            </a:r>
            <a:r>
              <a:rPr lang="en-US" sz="1400" dirty="0"/>
              <a:t>) {</a:t>
            </a:r>
          </a:p>
          <a:p>
            <a:pPr marL="384048" lvl="2" indent="0">
              <a:spcBef>
                <a:spcPts val="0"/>
              </a:spcBef>
              <a:spcAft>
                <a:spcPts val="0"/>
              </a:spcAft>
              <a:buNone/>
            </a:pPr>
            <a:r>
              <a:rPr lang="en-US" sz="1400" dirty="0"/>
              <a:t>            return new Date(</a:t>
            </a:r>
            <a:r>
              <a:rPr lang="en-US" sz="1400" dirty="0" err="1"/>
              <a:t>ast.value</a:t>
            </a:r>
            <a:r>
              <a:rPr lang="en-US" sz="1400" dirty="0"/>
              <a:t>);</a:t>
            </a:r>
          </a:p>
          <a:p>
            <a:pPr marL="384048" lvl="2" indent="0">
              <a:spcBef>
                <a:spcPts val="0"/>
              </a:spcBef>
              <a:spcAft>
                <a:spcPts val="0"/>
              </a:spcAft>
              <a:buNone/>
            </a:pPr>
            <a:r>
              <a:rPr lang="en-US" sz="1400" dirty="0"/>
              <a:t>        }</a:t>
            </a:r>
          </a:p>
          <a:p>
            <a:pPr marL="384048" lvl="2" indent="0">
              <a:spcBef>
                <a:spcPts val="0"/>
              </a:spcBef>
              <a:spcAft>
                <a:spcPts val="0"/>
              </a:spcAft>
              <a:buNone/>
            </a:pPr>
            <a:r>
              <a:rPr lang="en-US" sz="1400" dirty="0"/>
              <a:t>        return undefined;</a:t>
            </a:r>
          </a:p>
          <a:p>
            <a:pPr marL="384048" lvl="2" indent="0">
              <a:spcBef>
                <a:spcPts val="0"/>
              </a:spcBef>
              <a:spcAft>
                <a:spcPts val="0"/>
              </a:spcAft>
              <a:buNone/>
            </a:pPr>
            <a:r>
              <a:rPr lang="en-US" sz="1400" dirty="0"/>
              <a:t>    },</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serialize(value) {</a:t>
            </a:r>
          </a:p>
          <a:p>
            <a:pPr marL="384048" lvl="2" indent="0">
              <a:spcBef>
                <a:spcPts val="0"/>
              </a:spcBef>
              <a:spcAft>
                <a:spcPts val="0"/>
              </a:spcAft>
              <a:buNone/>
            </a:pPr>
            <a:r>
              <a:rPr lang="en-US" sz="1400" dirty="0"/>
              <a:t>        return new Date(value).</a:t>
            </a:r>
            <a:r>
              <a:rPr lang="en-US" sz="1400" dirty="0" err="1"/>
              <a:t>toISOString</a:t>
            </a:r>
            <a:r>
              <a:rPr lang="en-US" sz="1400" dirty="0"/>
              <a:t>();</a:t>
            </a:r>
          </a:p>
          <a:p>
            <a:pPr marL="384048" lvl="2" indent="0">
              <a:spcBef>
                <a:spcPts val="0"/>
              </a:spcBef>
              <a:spcAft>
                <a:spcPts val="0"/>
              </a:spcAft>
              <a:buNone/>
            </a:pPr>
            <a:r>
              <a:rPr lang="en-US" sz="1400" dirty="0"/>
              <a:t>    }</a:t>
            </a:r>
          </a:p>
          <a:p>
            <a:pPr marL="384048" lvl="2" indent="0">
              <a:spcBef>
                <a:spcPts val="0"/>
              </a:spcBef>
              <a:spcAft>
                <a:spcPts val="0"/>
              </a:spcAft>
              <a:buNone/>
            </a:pPr>
            <a:r>
              <a:rPr lang="en-US" sz="1400" dirty="0"/>
              <a:t>});</a:t>
            </a:r>
          </a:p>
          <a:p>
            <a:pPr marL="384048" lvl="2" indent="0">
              <a:spcBef>
                <a:spcPts val="0"/>
              </a:spcBef>
              <a:spcAft>
                <a:spcPts val="0"/>
              </a:spcAft>
              <a:buNone/>
            </a:pPr>
            <a:r>
              <a:rPr lang="en-US" sz="1400" dirty="0"/>
              <a:t>// Query resolvers</a:t>
            </a:r>
          </a:p>
          <a:p>
            <a:pPr marL="384048" lvl="2" indent="0">
              <a:spcBef>
                <a:spcPts val="0"/>
              </a:spcBef>
              <a:spcAft>
                <a:spcPts val="0"/>
              </a:spcAft>
              <a:buNone/>
            </a:pPr>
            <a:r>
              <a:rPr lang="en-US" sz="1400" dirty="0"/>
              <a:t>function about() {</a:t>
            </a:r>
          </a:p>
          <a:p>
            <a:pPr marL="384048" lvl="2" indent="0">
              <a:spcBef>
                <a:spcPts val="0"/>
              </a:spcBef>
              <a:spcAft>
                <a:spcPts val="0"/>
              </a:spcAft>
              <a:buNone/>
            </a:pPr>
            <a:r>
              <a:rPr lang="en-US" sz="1400" dirty="0"/>
              <a:t>    return </a:t>
            </a:r>
            <a:r>
              <a:rPr lang="en-US" sz="1400" dirty="0" err="1"/>
              <a:t>aboutMessage</a:t>
            </a:r>
            <a:r>
              <a:rPr lang="en-US" sz="1400" dirty="0"/>
              <a:t>;</a:t>
            </a:r>
          </a:p>
          <a:p>
            <a:pPr marL="384048" lvl="2" indent="0">
              <a:spcBef>
                <a:spcPts val="0"/>
              </a:spcBef>
              <a:spcAft>
                <a:spcPts val="0"/>
              </a:spcAft>
              <a:buNone/>
            </a:pPr>
            <a:r>
              <a:rPr lang="en-US" sz="1400" dirty="0"/>
              <a:t>}</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function </a:t>
            </a:r>
            <a:r>
              <a:rPr lang="en-US" sz="1400" dirty="0" err="1"/>
              <a:t>issueList</a:t>
            </a:r>
            <a:r>
              <a:rPr lang="en-US" sz="1400" dirty="0"/>
              <a:t>() {</a:t>
            </a:r>
          </a:p>
          <a:p>
            <a:pPr marL="384048" lvl="2" indent="0">
              <a:spcBef>
                <a:spcPts val="0"/>
              </a:spcBef>
              <a:spcAft>
                <a:spcPts val="0"/>
              </a:spcAft>
              <a:buNone/>
            </a:pPr>
            <a:r>
              <a:rPr lang="en-US" sz="1400" dirty="0"/>
              <a:t>    return </a:t>
            </a:r>
            <a:r>
              <a:rPr lang="en-US" sz="1400" dirty="0" err="1"/>
              <a:t>issuesDB</a:t>
            </a:r>
            <a:r>
              <a:rPr lang="en-US" sz="1400" dirty="0"/>
              <a:t>;</a:t>
            </a:r>
          </a:p>
          <a:p>
            <a:pPr marL="384048" lvl="2" indent="0">
              <a:spcBef>
                <a:spcPts val="0"/>
              </a:spcBef>
              <a:spcAft>
                <a:spcPts val="0"/>
              </a:spcAft>
              <a:buNone/>
            </a:pPr>
            <a:r>
              <a:rPr lang="en-US" sz="1400" dirty="0"/>
              <a:t>}</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Mutation resolver</a:t>
            </a:r>
          </a:p>
          <a:p>
            <a:pPr marL="384048" lvl="2" indent="0">
              <a:spcBef>
                <a:spcPts val="0"/>
              </a:spcBef>
              <a:spcAft>
                <a:spcPts val="0"/>
              </a:spcAft>
              <a:buNone/>
            </a:pPr>
            <a:r>
              <a:rPr lang="en-US" sz="1400" dirty="0"/>
              <a:t>function </a:t>
            </a:r>
            <a:r>
              <a:rPr lang="en-US" sz="1400" dirty="0" err="1"/>
              <a:t>setAboutMessage</a:t>
            </a:r>
            <a:r>
              <a:rPr lang="en-US" sz="1400" dirty="0"/>
              <a:t>(_, { message }) {</a:t>
            </a:r>
          </a:p>
          <a:p>
            <a:pPr marL="384048" lvl="2" indent="0">
              <a:spcBef>
                <a:spcPts val="0"/>
              </a:spcBef>
              <a:spcAft>
                <a:spcPts val="0"/>
              </a:spcAft>
              <a:buNone/>
            </a:pPr>
            <a:r>
              <a:rPr lang="en-US" sz="1400" dirty="0"/>
              <a:t>    </a:t>
            </a:r>
            <a:r>
              <a:rPr lang="en-US" sz="1400" dirty="0" err="1"/>
              <a:t>aboutMessage</a:t>
            </a:r>
            <a:r>
              <a:rPr lang="en-US" sz="1400" dirty="0"/>
              <a:t> = message;</a:t>
            </a:r>
          </a:p>
          <a:p>
            <a:pPr marL="384048" lvl="2" indent="0">
              <a:spcBef>
                <a:spcPts val="0"/>
              </a:spcBef>
              <a:spcAft>
                <a:spcPts val="0"/>
              </a:spcAft>
              <a:buNone/>
            </a:pPr>
            <a:r>
              <a:rPr lang="en-US" sz="1400" dirty="0"/>
              <a:t>    return </a:t>
            </a:r>
            <a:r>
              <a:rPr lang="en-US" sz="1400" dirty="0" err="1"/>
              <a:t>aboutMessage</a:t>
            </a:r>
            <a:r>
              <a:rPr lang="en-US" sz="1400" dirty="0"/>
              <a:t>;</a:t>
            </a:r>
          </a:p>
          <a:p>
            <a:pPr marL="384048" lvl="2" indent="0">
              <a:spcBef>
                <a:spcPts val="0"/>
              </a:spcBef>
              <a:spcAft>
                <a:spcPts val="0"/>
              </a:spcAft>
              <a:buNone/>
            </a:pPr>
            <a:r>
              <a:rPr lang="en-US" sz="1400" dirty="0"/>
              <a:t>}</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Create API</a:t>
            </a:r>
          </a:p>
          <a:p>
            <a:pPr marL="384048" lvl="2" indent="0">
              <a:spcBef>
                <a:spcPts val="0"/>
              </a:spcBef>
              <a:spcAft>
                <a:spcPts val="0"/>
              </a:spcAft>
              <a:buNone/>
            </a:pPr>
            <a:r>
              <a:rPr lang="en-US" sz="1400" dirty="0"/>
              <a:t>function </a:t>
            </a:r>
            <a:r>
              <a:rPr lang="en-US" sz="1400" dirty="0" err="1"/>
              <a:t>issueAdd</a:t>
            </a:r>
            <a:r>
              <a:rPr lang="en-US" sz="1400" dirty="0"/>
              <a:t>(_, { issue }) {</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issue.id = </a:t>
            </a:r>
            <a:r>
              <a:rPr lang="en-US" sz="1400" dirty="0" err="1"/>
              <a:t>issuesDB.length</a:t>
            </a:r>
            <a:r>
              <a:rPr lang="en-US" sz="1400" dirty="0"/>
              <a:t> + 1;</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a:t>
            </a:r>
            <a:r>
              <a:rPr lang="en-US" sz="1400" dirty="0" err="1"/>
              <a:t>issue.created</a:t>
            </a:r>
            <a:r>
              <a:rPr lang="en-US" sz="1400" dirty="0"/>
              <a:t> = new Date();</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if (</a:t>
            </a:r>
            <a:r>
              <a:rPr lang="en-US" sz="1400" dirty="0" err="1"/>
              <a:t>issue.status</a:t>
            </a:r>
            <a:r>
              <a:rPr lang="en-US" sz="1400" dirty="0"/>
              <a:t> === undefined) {</a:t>
            </a:r>
          </a:p>
          <a:p>
            <a:pPr marL="384048" lvl="2" indent="0">
              <a:spcBef>
                <a:spcPts val="0"/>
              </a:spcBef>
              <a:spcAft>
                <a:spcPts val="0"/>
              </a:spcAft>
              <a:buNone/>
            </a:pPr>
            <a:r>
              <a:rPr lang="en-US" sz="1400" dirty="0"/>
              <a:t>        </a:t>
            </a:r>
            <a:r>
              <a:rPr lang="en-US" sz="1400" dirty="0" err="1"/>
              <a:t>issue.status</a:t>
            </a:r>
            <a:r>
              <a:rPr lang="en-US" sz="1400" dirty="0"/>
              <a:t> = 'New';</a:t>
            </a:r>
          </a:p>
          <a:p>
            <a:pPr marL="384048" lvl="2" indent="0">
              <a:spcBef>
                <a:spcPts val="0"/>
              </a:spcBef>
              <a:spcAft>
                <a:spcPts val="0"/>
              </a:spcAft>
              <a:buNone/>
            </a:pPr>
            <a:r>
              <a:rPr lang="en-US" sz="1400" dirty="0"/>
              <a:t>    }</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a:t>
            </a:r>
            <a:r>
              <a:rPr lang="en-US" sz="1400" dirty="0" err="1"/>
              <a:t>issuesDB.push</a:t>
            </a:r>
            <a:r>
              <a:rPr lang="en-US" sz="1400" dirty="0"/>
              <a:t>(issue);</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return issue;</a:t>
            </a:r>
          </a:p>
          <a:p>
            <a:pPr marL="384048" lvl="2" indent="0">
              <a:spcBef>
                <a:spcPts val="0"/>
              </a:spcBef>
              <a:spcAft>
                <a:spcPts val="0"/>
              </a:spcAft>
              <a:buNone/>
            </a:pPr>
            <a:r>
              <a:rPr lang="en-US" sz="1400" dirty="0"/>
              <a:t>}</a:t>
            </a:r>
            <a:endParaRPr lang="en-US" sz="1200" dirty="0"/>
          </a:p>
        </p:txBody>
      </p:sp>
    </p:spTree>
    <p:extLst>
      <p:ext uri="{BB962C8B-B14F-4D97-AF65-F5344CB8AC3E}">
        <p14:creationId xmlns:p14="http://schemas.microsoft.com/office/powerpoint/2010/main" val="17271106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06D21-B649-64DA-F7DC-F944F104263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3BF9E58-310F-62BC-A3A5-F2DFE80139D2}"/>
              </a:ext>
            </a:extLst>
          </p:cNvPr>
          <p:cNvSpPr txBox="1">
            <a:spLocks/>
          </p:cNvSpPr>
          <p:nvPr/>
        </p:nvSpPr>
        <p:spPr>
          <a:xfrm>
            <a:off x="360727" y="343949"/>
            <a:ext cx="11442583" cy="5525143"/>
          </a:xfrm>
          <a:prstGeom prst="rect">
            <a:avLst/>
          </a:prstGeom>
        </p:spPr>
        <p:txBody>
          <a:bodyPr numCol="2"/>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continued…</a:t>
            </a:r>
          </a:p>
          <a:p>
            <a:pPr marL="384048" lvl="2" indent="0">
              <a:buNone/>
            </a:pPr>
            <a:r>
              <a:rPr lang="en-US" sz="1400" dirty="0"/>
              <a:t>// Root resolver</a:t>
            </a:r>
          </a:p>
          <a:p>
            <a:pPr marL="384048" lvl="2" indent="0">
              <a:buNone/>
            </a:pPr>
            <a:r>
              <a:rPr lang="en-US" sz="1400" dirty="0"/>
              <a:t>const root = {</a:t>
            </a:r>
          </a:p>
          <a:p>
            <a:pPr marL="384048" lvl="2" indent="0">
              <a:buNone/>
            </a:pPr>
            <a:r>
              <a:rPr lang="en-US" sz="1400" dirty="0"/>
              <a:t>    about,</a:t>
            </a:r>
          </a:p>
          <a:p>
            <a:pPr marL="384048" lvl="2" indent="0">
              <a:buNone/>
            </a:pPr>
            <a:r>
              <a:rPr lang="en-US" sz="1400" dirty="0"/>
              <a:t>    </a:t>
            </a:r>
            <a:r>
              <a:rPr lang="en-US" sz="1400" dirty="0" err="1"/>
              <a:t>issueList</a:t>
            </a:r>
            <a:r>
              <a:rPr lang="en-US" sz="1400" dirty="0"/>
              <a:t>,</a:t>
            </a:r>
          </a:p>
          <a:p>
            <a:pPr marL="384048" lvl="2" indent="0">
              <a:buNone/>
            </a:pPr>
            <a:r>
              <a:rPr lang="en-US" sz="1400" dirty="0"/>
              <a:t>    </a:t>
            </a:r>
            <a:r>
              <a:rPr lang="en-US" sz="1400" dirty="0" err="1"/>
              <a:t>setAboutMessage</a:t>
            </a:r>
            <a:r>
              <a:rPr lang="en-US" sz="1400" dirty="0"/>
              <a:t>,</a:t>
            </a:r>
          </a:p>
          <a:p>
            <a:pPr marL="384048" lvl="2" indent="0">
              <a:buNone/>
            </a:pPr>
            <a:r>
              <a:rPr lang="en-US" sz="1400" dirty="0"/>
              <a:t>    </a:t>
            </a:r>
            <a:r>
              <a:rPr lang="en-US" sz="1400" dirty="0" err="1"/>
              <a:t>issueAdd</a:t>
            </a:r>
            <a:r>
              <a:rPr lang="en-US" sz="1400" dirty="0"/>
              <a:t>,</a:t>
            </a:r>
          </a:p>
          <a:p>
            <a:pPr marL="384048" lvl="2" indent="0">
              <a:buNone/>
            </a:pPr>
            <a:r>
              <a:rPr lang="en-US" sz="1400" dirty="0"/>
              <a:t>    </a:t>
            </a:r>
            <a:r>
              <a:rPr lang="en-US" sz="1400" dirty="0" err="1"/>
              <a:t>GraphQLDate</a:t>
            </a:r>
            <a:endParaRPr lang="en-US" sz="1400" dirty="0"/>
          </a:p>
          <a:p>
            <a:pPr marL="384048" lvl="2" indent="0">
              <a:buNone/>
            </a:pPr>
            <a:r>
              <a:rPr lang="en-US" sz="1400" dirty="0"/>
              <a:t>};</a:t>
            </a:r>
          </a:p>
          <a:p>
            <a:pPr marL="384048" lvl="2" indent="0">
              <a:buNone/>
            </a:pPr>
            <a:endParaRPr lang="en-US" sz="1400" dirty="0"/>
          </a:p>
          <a:p>
            <a:pPr marL="384048" lvl="2" indent="0">
              <a:buNone/>
            </a:pPr>
            <a:r>
              <a:rPr lang="en-US" sz="1400" dirty="0"/>
              <a:t>// </a:t>
            </a:r>
            <a:r>
              <a:rPr lang="en-US" sz="1400" dirty="0" err="1"/>
              <a:t>GraphQL</a:t>
            </a:r>
            <a:r>
              <a:rPr lang="en-US" sz="1400" dirty="0"/>
              <a:t> middleware</a:t>
            </a:r>
          </a:p>
          <a:p>
            <a:pPr marL="384048" lvl="2" indent="0">
              <a:buNone/>
            </a:pPr>
            <a:r>
              <a:rPr lang="en-US" sz="1400" dirty="0" err="1"/>
              <a:t>app.use</a:t>
            </a:r>
            <a:r>
              <a:rPr lang="en-US" sz="1400" dirty="0"/>
              <a:t>(</a:t>
            </a:r>
          </a:p>
          <a:p>
            <a:pPr marL="384048" lvl="2" indent="0">
              <a:buNone/>
            </a:pPr>
            <a:r>
              <a:rPr lang="en-US" sz="1400" dirty="0"/>
              <a:t>    '/</a:t>
            </a:r>
            <a:r>
              <a:rPr lang="en-US" sz="1400" dirty="0" err="1"/>
              <a:t>graphql</a:t>
            </a:r>
            <a:r>
              <a:rPr lang="en-US" sz="1400" dirty="0"/>
              <a:t>',</a:t>
            </a:r>
          </a:p>
          <a:p>
            <a:pPr marL="384048" lvl="2" indent="0">
              <a:buNone/>
            </a:pPr>
            <a:r>
              <a:rPr lang="en-US" sz="1400" dirty="0"/>
              <a:t>    </a:t>
            </a:r>
            <a:r>
              <a:rPr lang="en-US" sz="1400" dirty="0" err="1"/>
              <a:t>graphqlHTTP</a:t>
            </a:r>
            <a:r>
              <a:rPr lang="en-US" sz="1400" dirty="0"/>
              <a:t>({</a:t>
            </a:r>
          </a:p>
          <a:p>
            <a:pPr marL="384048" lvl="2" indent="0">
              <a:buNone/>
            </a:pPr>
            <a:r>
              <a:rPr lang="en-US" sz="1400" dirty="0"/>
              <a:t>        schema: schema,</a:t>
            </a:r>
          </a:p>
          <a:p>
            <a:pPr marL="384048" lvl="2" indent="0">
              <a:buNone/>
            </a:pPr>
            <a:r>
              <a:rPr lang="en-US" sz="1400" dirty="0"/>
              <a:t>        </a:t>
            </a:r>
            <a:r>
              <a:rPr lang="en-US" sz="1400" dirty="0" err="1"/>
              <a:t>rootValue</a:t>
            </a:r>
            <a:r>
              <a:rPr lang="en-US" sz="1400" dirty="0"/>
              <a:t>: root,</a:t>
            </a:r>
          </a:p>
          <a:p>
            <a:pPr marL="384048" lvl="2" indent="0">
              <a:buNone/>
            </a:pPr>
            <a:r>
              <a:rPr lang="en-US" sz="1400" dirty="0"/>
              <a:t>        </a:t>
            </a:r>
            <a:r>
              <a:rPr lang="en-US" sz="1400" dirty="0" err="1"/>
              <a:t>graphiql</a:t>
            </a:r>
            <a:r>
              <a:rPr lang="en-US" sz="1400" dirty="0"/>
              <a:t>: true</a:t>
            </a:r>
          </a:p>
          <a:p>
            <a:pPr marL="384048" lvl="2" indent="0">
              <a:buNone/>
            </a:pPr>
            <a:r>
              <a:rPr lang="en-US" sz="1400" dirty="0"/>
              <a:t>    })</a:t>
            </a:r>
          </a:p>
          <a:p>
            <a:pPr marL="384048" lvl="2" indent="0">
              <a:buNone/>
            </a:pPr>
            <a:r>
              <a:rPr lang="en-US" sz="1400" dirty="0"/>
              <a:t>);</a:t>
            </a:r>
          </a:p>
          <a:p>
            <a:pPr marL="384048" lvl="2" indent="0">
              <a:buNone/>
            </a:pPr>
            <a:endParaRPr lang="en-US" sz="1400" dirty="0"/>
          </a:p>
          <a:p>
            <a:pPr marL="384048" lvl="2" indent="0">
              <a:buNone/>
            </a:pPr>
            <a:r>
              <a:rPr lang="en-US" sz="1400" dirty="0"/>
              <a:t>// Start server</a:t>
            </a:r>
          </a:p>
          <a:p>
            <a:pPr marL="384048" lvl="2" indent="0">
              <a:buNone/>
            </a:pPr>
            <a:r>
              <a:rPr lang="en-US" sz="1400" dirty="0"/>
              <a:t>const PORT = 3000;</a:t>
            </a:r>
          </a:p>
          <a:p>
            <a:pPr marL="384048" lvl="2" indent="0">
              <a:buNone/>
            </a:pPr>
            <a:endParaRPr lang="en-US" sz="1400" dirty="0"/>
          </a:p>
          <a:p>
            <a:pPr marL="384048" lvl="2" indent="0">
              <a:buNone/>
            </a:pPr>
            <a:r>
              <a:rPr lang="en-US" sz="1400" dirty="0" err="1"/>
              <a:t>app.listen</a:t>
            </a:r>
            <a:r>
              <a:rPr lang="en-US" sz="1400" dirty="0"/>
              <a:t>(PORT, function () {</a:t>
            </a:r>
          </a:p>
          <a:p>
            <a:pPr marL="384048" lvl="2" indent="0">
              <a:buNone/>
            </a:pPr>
            <a:r>
              <a:rPr lang="en-US" sz="1400" dirty="0"/>
              <a:t>    console.log(</a:t>
            </a:r>
          </a:p>
          <a:p>
            <a:pPr marL="384048" lvl="2" indent="0">
              <a:buNone/>
            </a:pPr>
            <a:r>
              <a:rPr lang="en-US" sz="1400" dirty="0"/>
              <a:t>        `</a:t>
            </a:r>
            <a:r>
              <a:rPr lang="en-US" sz="1400" dirty="0" err="1"/>
              <a:t>GraphQL</a:t>
            </a:r>
            <a:r>
              <a:rPr lang="en-US" sz="1400" dirty="0"/>
              <a:t> server running at http://localhost:${PORT}/graphql`</a:t>
            </a:r>
          </a:p>
          <a:p>
            <a:pPr marL="384048" lvl="2" indent="0">
              <a:buNone/>
            </a:pPr>
            <a:r>
              <a:rPr lang="en-US" sz="1400" dirty="0"/>
              <a:t>    );</a:t>
            </a:r>
          </a:p>
          <a:p>
            <a:pPr marL="384048" lvl="2" indent="0">
              <a:buNone/>
            </a:pPr>
            <a:r>
              <a:rPr lang="en-US" sz="1400" dirty="0"/>
              <a:t>});</a:t>
            </a:r>
            <a:endParaRPr lang="en-US" sz="1200" dirty="0"/>
          </a:p>
        </p:txBody>
      </p:sp>
    </p:spTree>
    <p:extLst>
      <p:ext uri="{BB962C8B-B14F-4D97-AF65-F5344CB8AC3E}">
        <p14:creationId xmlns:p14="http://schemas.microsoft.com/office/powerpoint/2010/main" val="20235925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5B629-E797-05E2-B9E1-1A9DEEBD65B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AE9B933-3735-B9B1-8951-E40F5CCEC35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US" sz="2400" dirty="0"/>
              <a:t>Displaying Errors</a:t>
            </a:r>
          </a:p>
          <a:p>
            <a:pPr lvl="2">
              <a:buFont typeface="Arial" panose="020B0604020202020204" pitchFamily="34" charset="0"/>
              <a:buChar char="•"/>
            </a:pPr>
            <a:r>
              <a:rPr lang="en-US" sz="1800" dirty="0"/>
              <a:t>Purpose: Display error messages to the user.</a:t>
            </a:r>
          </a:p>
          <a:p>
            <a:pPr lvl="2">
              <a:buFont typeface="Arial" panose="020B0604020202020204" pitchFamily="34" charset="0"/>
              <a:buChar char="•"/>
            </a:pPr>
            <a:r>
              <a:rPr lang="en-US" sz="1800" dirty="0"/>
              <a:t>Handle different types of errors:</a:t>
            </a:r>
          </a:p>
          <a:p>
            <a:pPr lvl="2">
              <a:buFont typeface="Arial" panose="020B0604020202020204" pitchFamily="34" charset="0"/>
              <a:buChar char="•"/>
            </a:pPr>
            <a:r>
              <a:rPr lang="en-US" sz="1800" dirty="0"/>
              <a:t>Transport errors</a:t>
            </a:r>
          </a:p>
          <a:p>
            <a:pPr lvl="2">
              <a:buFont typeface="Arial" panose="020B0604020202020204" pitchFamily="34" charset="0"/>
              <a:buChar char="•"/>
            </a:pPr>
            <a:r>
              <a:rPr lang="en-US" sz="1800" dirty="0"/>
              <a:t>Invalid user input</a:t>
            </a:r>
          </a:p>
          <a:p>
            <a:pPr lvl="2">
              <a:buFont typeface="Arial" panose="020B0604020202020204" pitchFamily="34" charset="0"/>
              <a:buChar char="•"/>
            </a:pPr>
            <a:r>
              <a:rPr lang="en-US" sz="1800" dirty="0"/>
              <a:t>Server and other errors</a:t>
            </a:r>
          </a:p>
          <a:p>
            <a:pPr lvl="2">
              <a:buFont typeface="Arial" panose="020B0604020202020204" pitchFamily="34" charset="0"/>
              <a:buChar char="•"/>
            </a:pPr>
            <a:r>
              <a:rPr lang="en-US" sz="1800" dirty="0"/>
              <a:t>Create a common utility function called </a:t>
            </a:r>
            <a:r>
              <a:rPr lang="en-US" sz="1800" dirty="0" err="1"/>
              <a:t>graphQLFetch</a:t>
            </a:r>
            <a:r>
              <a:rPr lang="en-US" sz="1800" dirty="0"/>
              <a:t>().</a:t>
            </a:r>
          </a:p>
          <a:p>
            <a:pPr lvl="2">
              <a:buFont typeface="Arial" panose="020B0604020202020204" pitchFamily="34" charset="0"/>
              <a:buChar char="•"/>
            </a:pPr>
            <a:r>
              <a:rPr lang="en-US" sz="1800" dirty="0"/>
              <a:t>Replace individual fetch() calls with this common function</a:t>
            </a:r>
            <a:r>
              <a:rPr lang="en-US" sz="1600" dirty="0"/>
              <a:t>.</a:t>
            </a:r>
          </a:p>
        </p:txBody>
      </p:sp>
    </p:spTree>
    <p:extLst>
      <p:ext uri="{BB962C8B-B14F-4D97-AF65-F5344CB8AC3E}">
        <p14:creationId xmlns:p14="http://schemas.microsoft.com/office/powerpoint/2010/main" val="28295608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095F1-35A5-9F54-1412-46261DB4AE7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854203D-5F2F-4BE5-3A6A-C6A55856252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The </a:t>
            </a:r>
            <a:r>
              <a:rPr lang="en-US" sz="2000" dirty="0" err="1"/>
              <a:t>graphQLFetch</a:t>
            </a:r>
            <a:r>
              <a:rPr lang="en-US" sz="2000" dirty="0"/>
              <a:t>() Function</a:t>
            </a:r>
          </a:p>
          <a:p>
            <a:pPr lvl="1">
              <a:buFont typeface="Arial" panose="020B0604020202020204" pitchFamily="34" charset="0"/>
              <a:buChar char="•"/>
            </a:pPr>
            <a:r>
              <a:rPr lang="en-US" sz="1800" dirty="0" err="1"/>
              <a:t>graphQLFetch</a:t>
            </a:r>
            <a:r>
              <a:rPr lang="en-US" sz="1800" dirty="0"/>
              <a:t>() handles all </a:t>
            </a:r>
            <a:r>
              <a:rPr lang="en-US" sz="1800" dirty="0" err="1"/>
              <a:t>GraphQL</a:t>
            </a:r>
            <a:r>
              <a:rPr lang="en-US" sz="1800" dirty="0"/>
              <a:t> API calls.</a:t>
            </a:r>
          </a:p>
          <a:p>
            <a:pPr lvl="1">
              <a:buFont typeface="Arial" panose="020B0604020202020204" pitchFamily="34" charset="0"/>
              <a:buChar char="•"/>
            </a:pPr>
            <a:r>
              <a:rPr lang="en-US" sz="1800" dirty="0"/>
              <a:t>It is an async function.</a:t>
            </a:r>
          </a:p>
          <a:p>
            <a:pPr lvl="1">
              <a:buFont typeface="Arial" panose="020B0604020202020204" pitchFamily="34" charset="0"/>
              <a:buChar char="•"/>
            </a:pPr>
            <a:r>
              <a:rPr lang="en-US" sz="1800" dirty="0"/>
              <a:t>Takes two arguments:</a:t>
            </a:r>
          </a:p>
          <a:p>
            <a:pPr lvl="1">
              <a:buFont typeface="Arial" panose="020B0604020202020204" pitchFamily="34" charset="0"/>
              <a:buChar char="•"/>
            </a:pPr>
            <a:r>
              <a:rPr lang="en-US" sz="1800" dirty="0"/>
              <a:t>query</a:t>
            </a:r>
          </a:p>
          <a:p>
            <a:pPr lvl="1">
              <a:buFont typeface="Arial" panose="020B0604020202020204" pitchFamily="34" charset="0"/>
              <a:buChar char="•"/>
            </a:pPr>
            <a:r>
              <a:rPr lang="en-US" sz="1800" dirty="0"/>
              <a:t>variables</a:t>
            </a:r>
          </a:p>
          <a:p>
            <a:pPr lvl="1">
              <a:buFont typeface="Arial" panose="020B0604020202020204" pitchFamily="34" charset="0"/>
              <a:buChar char="•"/>
            </a:pPr>
            <a:r>
              <a:rPr lang="en-US" sz="1800" dirty="0"/>
              <a:t>Uses fetch() to send the request to /</a:t>
            </a:r>
            <a:r>
              <a:rPr lang="en-US" sz="1800" dirty="0" err="1"/>
              <a:t>graphql</a:t>
            </a:r>
            <a:r>
              <a:rPr lang="en-US" sz="1800" dirty="0"/>
              <a:t>.</a:t>
            </a:r>
          </a:p>
          <a:p>
            <a:pPr lvl="1">
              <a:buFont typeface="Arial" panose="020B0604020202020204" pitchFamily="34" charset="0"/>
              <a:buChar char="•"/>
            </a:pPr>
            <a:r>
              <a:rPr lang="en-US" sz="1800" dirty="0"/>
              <a:t>async function </a:t>
            </a:r>
            <a:r>
              <a:rPr lang="en-US" sz="1800" dirty="0" err="1"/>
              <a:t>graphQLFetch</a:t>
            </a:r>
            <a:r>
              <a:rPr lang="en-US" sz="1800" dirty="0"/>
              <a:t>(query, variables = {}) {</a:t>
            </a:r>
          </a:p>
          <a:p>
            <a:pPr lvl="1">
              <a:buFont typeface="Arial" panose="020B0604020202020204" pitchFamily="34" charset="0"/>
              <a:buChar char="•"/>
            </a:pPr>
            <a:r>
              <a:rPr lang="en-US" sz="1800" dirty="0"/>
              <a:t>    ...</a:t>
            </a:r>
          </a:p>
          <a:p>
            <a:pPr lvl="1">
              <a:buFont typeface="Arial" panose="020B0604020202020204" pitchFamily="34" charset="0"/>
              <a:buChar char="•"/>
            </a:pPr>
            <a:r>
              <a:rPr lang="en-US" sz="1800" dirty="0"/>
              <a:t>}</a:t>
            </a:r>
          </a:p>
          <a:p>
            <a:pPr lvl="1">
              <a:buFont typeface="Arial" panose="020B0604020202020204" pitchFamily="34" charset="0"/>
              <a:buChar char="•"/>
            </a:pPr>
            <a:r>
              <a:rPr lang="en-US" sz="1800" dirty="0"/>
              <a:t>This avoids repeating the same fetch code in different components.</a:t>
            </a:r>
          </a:p>
        </p:txBody>
      </p:sp>
    </p:spTree>
    <p:extLst>
      <p:ext uri="{BB962C8B-B14F-4D97-AF65-F5344CB8AC3E}">
        <p14:creationId xmlns:p14="http://schemas.microsoft.com/office/powerpoint/2010/main" val="21270227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E5645-4C84-FEFA-61BD-29E2046A39D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9802316F-2464-43A0-458A-28EB7EF3BDF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Handling Transport Errors</a:t>
            </a:r>
          </a:p>
          <a:p>
            <a:pPr lvl="1">
              <a:spcBef>
                <a:spcPts val="0"/>
              </a:spcBef>
              <a:spcAft>
                <a:spcPts val="0"/>
              </a:spcAft>
              <a:buFont typeface="Arial" panose="020B0604020202020204" pitchFamily="34" charset="0"/>
              <a:buChar char="•"/>
            </a:pPr>
            <a:r>
              <a:rPr lang="en-US" sz="1800" dirty="0"/>
              <a:t>Transport errors occur due to problems such as:</a:t>
            </a:r>
          </a:p>
          <a:p>
            <a:pPr lvl="1">
              <a:spcBef>
                <a:spcPts val="0"/>
              </a:spcBef>
              <a:spcAft>
                <a:spcPts val="0"/>
              </a:spcAft>
              <a:buFont typeface="Arial" panose="020B0604020202020204" pitchFamily="34" charset="0"/>
              <a:buChar char="•"/>
            </a:pPr>
            <a:r>
              <a:rPr lang="en-US" sz="1800" dirty="0"/>
              <a:t>Server not running</a:t>
            </a:r>
          </a:p>
          <a:p>
            <a:pPr lvl="1">
              <a:spcBef>
                <a:spcPts val="0"/>
              </a:spcBef>
              <a:spcAft>
                <a:spcPts val="0"/>
              </a:spcAft>
              <a:buFont typeface="Arial" panose="020B0604020202020204" pitchFamily="34" charset="0"/>
              <a:buChar char="•"/>
            </a:pPr>
            <a:r>
              <a:rPr lang="en-US" sz="1800" dirty="0"/>
              <a:t>Network connection failure</a:t>
            </a:r>
          </a:p>
          <a:p>
            <a:pPr lvl="1">
              <a:spcBef>
                <a:spcPts val="0"/>
              </a:spcBef>
              <a:spcAft>
                <a:spcPts val="0"/>
              </a:spcAft>
              <a:buFont typeface="Arial" panose="020B0604020202020204" pitchFamily="34" charset="0"/>
              <a:buChar char="•"/>
            </a:pPr>
            <a:r>
              <a:rPr lang="en-US" sz="1800" dirty="0"/>
              <a:t>Server unavailable</a:t>
            </a:r>
          </a:p>
          <a:p>
            <a:pPr lvl="1">
              <a:spcBef>
                <a:spcPts val="0"/>
              </a:spcBef>
              <a:spcAft>
                <a:spcPts val="0"/>
              </a:spcAft>
              <a:buFont typeface="Arial" panose="020B0604020202020204" pitchFamily="34" charset="0"/>
              <a:buChar char="•"/>
            </a:pPr>
            <a:r>
              <a:rPr lang="en-US" sz="1800" dirty="0"/>
              <a:t>fetch() can throw an error.</a:t>
            </a:r>
          </a:p>
          <a:p>
            <a:pPr lvl="1">
              <a:spcBef>
                <a:spcPts val="0"/>
              </a:spcBef>
              <a:spcAft>
                <a:spcPts val="0"/>
              </a:spcAft>
              <a:buFont typeface="Arial" panose="020B0604020202020204" pitchFamily="34" charset="0"/>
              <a:buChar char="•"/>
            </a:pPr>
            <a:r>
              <a:rPr lang="en-US" sz="1800" dirty="0"/>
              <a:t>Use a try-catch block to handle these errors.</a:t>
            </a:r>
          </a:p>
          <a:p>
            <a:pPr marL="384048" lvl="2" indent="0">
              <a:spcBef>
                <a:spcPts val="0"/>
              </a:spcBef>
              <a:spcAft>
                <a:spcPts val="0"/>
              </a:spcAft>
              <a:buNone/>
            </a:pPr>
            <a:r>
              <a:rPr lang="en-US" sz="1400" dirty="0"/>
              <a:t>try {</a:t>
            </a:r>
          </a:p>
          <a:p>
            <a:pPr marL="384048" lvl="2" indent="0">
              <a:spcBef>
                <a:spcPts val="0"/>
              </a:spcBef>
              <a:spcAft>
                <a:spcPts val="0"/>
              </a:spcAft>
              <a:buNone/>
            </a:pPr>
            <a:r>
              <a:rPr lang="en-US" sz="1400" dirty="0"/>
              <a:t>    const response = await fetch('/</a:t>
            </a:r>
            <a:r>
              <a:rPr lang="en-US" sz="1400" dirty="0" err="1"/>
              <a:t>graphql</a:t>
            </a:r>
            <a:r>
              <a:rPr lang="en-US" sz="1400" dirty="0"/>
              <a:t>', {</a:t>
            </a:r>
          </a:p>
          <a:p>
            <a:pPr marL="384048" lvl="2" indent="0">
              <a:spcBef>
                <a:spcPts val="0"/>
              </a:spcBef>
              <a:spcAft>
                <a:spcPts val="0"/>
              </a:spcAft>
              <a:buNone/>
            </a:pPr>
            <a:r>
              <a:rPr lang="en-US" sz="1400" dirty="0"/>
              <a:t>        method: 'POST',</a:t>
            </a:r>
          </a:p>
          <a:p>
            <a:pPr marL="384048" lvl="2" indent="0">
              <a:spcBef>
                <a:spcPts val="0"/>
              </a:spcBef>
              <a:spcAft>
                <a:spcPts val="0"/>
              </a:spcAft>
              <a:buNone/>
            </a:pPr>
            <a:r>
              <a:rPr lang="en-US" sz="1400" dirty="0"/>
              <a:t>        headers: {</a:t>
            </a:r>
          </a:p>
          <a:p>
            <a:pPr marL="384048" lvl="2" indent="0">
              <a:spcBef>
                <a:spcPts val="0"/>
              </a:spcBef>
              <a:spcAft>
                <a:spcPts val="0"/>
              </a:spcAft>
              <a:buNone/>
            </a:pPr>
            <a:r>
              <a:rPr lang="en-US" sz="1400" dirty="0"/>
              <a:t>            'Content-Type': 'application/</a:t>
            </a:r>
            <a:r>
              <a:rPr lang="en-US" sz="1400" dirty="0" err="1"/>
              <a:t>json</a:t>
            </a:r>
            <a:r>
              <a:rPr lang="en-US" sz="1400" dirty="0"/>
              <a:t>'</a:t>
            </a:r>
          </a:p>
          <a:p>
            <a:pPr marL="384048" lvl="2" indent="0">
              <a:spcBef>
                <a:spcPts val="0"/>
              </a:spcBef>
              <a:spcAft>
                <a:spcPts val="0"/>
              </a:spcAft>
              <a:buNone/>
            </a:pPr>
            <a:r>
              <a:rPr lang="en-US" sz="1400" dirty="0"/>
              <a:t>        },</a:t>
            </a:r>
          </a:p>
          <a:p>
            <a:pPr marL="384048" lvl="2" indent="0">
              <a:spcBef>
                <a:spcPts val="0"/>
              </a:spcBef>
              <a:spcAft>
                <a:spcPts val="0"/>
              </a:spcAft>
              <a:buNone/>
            </a:pPr>
            <a:r>
              <a:rPr lang="en-US" sz="1400" dirty="0"/>
              <a:t>        body: </a:t>
            </a:r>
            <a:r>
              <a:rPr lang="en-US" sz="1400" dirty="0" err="1"/>
              <a:t>JSON.stringify</a:t>
            </a:r>
            <a:r>
              <a:rPr lang="en-US" sz="1400" dirty="0"/>
              <a:t>({ query, variables })</a:t>
            </a:r>
          </a:p>
          <a:p>
            <a:pPr marL="384048" lvl="2" indent="0">
              <a:spcBef>
                <a:spcPts val="0"/>
              </a:spcBef>
              <a:spcAft>
                <a:spcPts val="0"/>
              </a:spcAft>
              <a:buNone/>
            </a:pPr>
            <a:r>
              <a:rPr lang="en-US" sz="1400" dirty="0"/>
              <a:t>    });</a:t>
            </a:r>
          </a:p>
          <a:p>
            <a:pPr marL="384048" lvl="2" indent="0">
              <a:spcBef>
                <a:spcPts val="0"/>
              </a:spcBef>
              <a:spcAft>
                <a:spcPts val="0"/>
              </a:spcAft>
              <a:buNone/>
            </a:pPr>
            <a:endParaRPr lang="en-US" sz="1400" dirty="0"/>
          </a:p>
          <a:p>
            <a:pPr marL="384048" lvl="2" indent="0">
              <a:spcBef>
                <a:spcPts val="0"/>
              </a:spcBef>
              <a:spcAft>
                <a:spcPts val="0"/>
              </a:spcAft>
              <a:buNone/>
            </a:pPr>
            <a:r>
              <a:rPr lang="en-US" sz="1400" dirty="0"/>
              <a:t>    ...</a:t>
            </a:r>
          </a:p>
          <a:p>
            <a:pPr marL="384048" lvl="2" indent="0">
              <a:spcBef>
                <a:spcPts val="0"/>
              </a:spcBef>
              <a:spcAft>
                <a:spcPts val="0"/>
              </a:spcAft>
              <a:buNone/>
            </a:pPr>
            <a:r>
              <a:rPr lang="en-US" sz="1400" dirty="0"/>
              <a:t>} catch (e) {</a:t>
            </a:r>
          </a:p>
          <a:p>
            <a:pPr marL="384048" lvl="2" indent="0">
              <a:spcBef>
                <a:spcPts val="0"/>
              </a:spcBef>
              <a:spcAft>
                <a:spcPts val="0"/>
              </a:spcAft>
              <a:buNone/>
            </a:pPr>
            <a:r>
              <a:rPr lang="en-US" sz="1400" dirty="0"/>
              <a:t>    alert(`Error in sending data to server: ${</a:t>
            </a:r>
            <a:r>
              <a:rPr lang="en-US" sz="1400" dirty="0" err="1"/>
              <a:t>e.message</a:t>
            </a:r>
            <a:r>
              <a:rPr lang="en-US" sz="1400" dirty="0"/>
              <a:t>}`);</a:t>
            </a:r>
          </a:p>
          <a:p>
            <a:pPr marL="384048" lvl="2" indent="0">
              <a:spcBef>
                <a:spcPts val="0"/>
              </a:spcBef>
              <a:spcAft>
                <a:spcPts val="0"/>
              </a:spcAft>
              <a:buNone/>
            </a:pPr>
            <a:r>
              <a:rPr lang="en-US" sz="1400" dirty="0"/>
              <a:t>}</a:t>
            </a:r>
          </a:p>
          <a:p>
            <a:pPr lvl="1">
              <a:spcBef>
                <a:spcPts val="0"/>
              </a:spcBef>
              <a:spcAft>
                <a:spcPts val="0"/>
              </a:spcAft>
              <a:buFont typeface="Arial" panose="020B0604020202020204" pitchFamily="34" charset="0"/>
              <a:buChar char="•"/>
            </a:pPr>
            <a:r>
              <a:rPr lang="en-US" sz="1800" dirty="0"/>
              <a:t>The error is displayed using alert().</a:t>
            </a:r>
          </a:p>
        </p:txBody>
      </p:sp>
    </p:spTree>
    <p:extLst>
      <p:ext uri="{BB962C8B-B14F-4D97-AF65-F5344CB8AC3E}">
        <p14:creationId xmlns:p14="http://schemas.microsoft.com/office/powerpoint/2010/main" val="515594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DA045-A7A0-62CF-0CA5-A56908D2235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BD9EFE2-7025-404D-1748-AF2834B325BB}"/>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Handling </a:t>
            </a:r>
            <a:r>
              <a:rPr lang="en-US" sz="2000" dirty="0" err="1"/>
              <a:t>GraphQL</a:t>
            </a:r>
            <a:r>
              <a:rPr lang="en-US" sz="2000" dirty="0"/>
              <a:t> Errors</a:t>
            </a:r>
          </a:p>
          <a:p>
            <a:pPr lvl="1">
              <a:buFont typeface="Arial" panose="020B0604020202020204" pitchFamily="34" charset="0"/>
              <a:buChar char="•"/>
            </a:pPr>
            <a:r>
              <a:rPr lang="en-US" sz="1800" dirty="0"/>
              <a:t>After receiving the response:</a:t>
            </a:r>
          </a:p>
          <a:p>
            <a:pPr lvl="1">
              <a:buFont typeface="Arial" panose="020B0604020202020204" pitchFamily="34" charset="0"/>
              <a:buChar char="•"/>
            </a:pPr>
            <a:r>
              <a:rPr lang="en-US" sz="1800" dirty="0"/>
              <a:t>Convert response to text.</a:t>
            </a:r>
          </a:p>
          <a:p>
            <a:pPr lvl="1">
              <a:buFont typeface="Arial" panose="020B0604020202020204" pitchFamily="34" charset="0"/>
              <a:buChar char="•"/>
            </a:pPr>
            <a:r>
              <a:rPr lang="en-US" sz="1800" dirty="0"/>
              <a:t>Parse the JSON.</a:t>
            </a:r>
          </a:p>
          <a:p>
            <a:pPr lvl="1">
              <a:buFont typeface="Arial" panose="020B0604020202020204" pitchFamily="34" charset="0"/>
              <a:buChar char="•"/>
            </a:pPr>
            <a:r>
              <a:rPr lang="en-US" sz="1800" dirty="0"/>
              <a:t>Check </a:t>
            </a:r>
            <a:r>
              <a:rPr lang="en-US" sz="1800" dirty="0" err="1"/>
              <a:t>result.errors</a:t>
            </a:r>
            <a:r>
              <a:rPr lang="en-US" sz="1800" dirty="0"/>
              <a:t>.</a:t>
            </a:r>
          </a:p>
          <a:p>
            <a:pPr marL="384048" lvl="2" indent="0">
              <a:buNone/>
            </a:pPr>
            <a:r>
              <a:rPr lang="en-US" sz="1400" dirty="0"/>
              <a:t>const body = await </a:t>
            </a:r>
            <a:r>
              <a:rPr lang="en-US" sz="1400" dirty="0" err="1"/>
              <a:t>response.text</a:t>
            </a:r>
            <a:r>
              <a:rPr lang="en-US" sz="1400" dirty="0"/>
              <a:t>();</a:t>
            </a:r>
          </a:p>
          <a:p>
            <a:pPr marL="384048" lvl="2" indent="0">
              <a:buNone/>
            </a:pPr>
            <a:r>
              <a:rPr lang="en-US" sz="1400" dirty="0"/>
              <a:t>const result = </a:t>
            </a:r>
            <a:r>
              <a:rPr lang="en-US" sz="1400" dirty="0" err="1"/>
              <a:t>JSON.parse</a:t>
            </a:r>
            <a:r>
              <a:rPr lang="en-US" sz="1400" dirty="0"/>
              <a:t>(body, </a:t>
            </a:r>
            <a:r>
              <a:rPr lang="en-US" sz="1400" dirty="0" err="1"/>
              <a:t>jsonDateReviver</a:t>
            </a:r>
            <a:r>
              <a:rPr lang="en-US" sz="1400" dirty="0"/>
              <a:t>);</a:t>
            </a:r>
          </a:p>
          <a:p>
            <a:pPr marL="384048" lvl="2" indent="0">
              <a:buNone/>
            </a:pPr>
            <a:endParaRPr lang="en-US" sz="1400" dirty="0"/>
          </a:p>
          <a:p>
            <a:pPr marL="384048" lvl="2" indent="0">
              <a:buNone/>
            </a:pPr>
            <a:r>
              <a:rPr lang="en-US" sz="1400" dirty="0"/>
              <a:t>if (</a:t>
            </a:r>
            <a:r>
              <a:rPr lang="en-US" sz="1400" dirty="0" err="1"/>
              <a:t>result.errors</a:t>
            </a:r>
            <a:r>
              <a:rPr lang="en-US" sz="1400" dirty="0"/>
              <a:t>) {</a:t>
            </a:r>
          </a:p>
          <a:p>
            <a:pPr marL="384048" lvl="2" indent="0">
              <a:buNone/>
            </a:pPr>
            <a:r>
              <a:rPr lang="en-US" sz="1400" dirty="0"/>
              <a:t>    const error = </a:t>
            </a:r>
            <a:r>
              <a:rPr lang="en-US" sz="1400" dirty="0" err="1"/>
              <a:t>result.errors</a:t>
            </a:r>
            <a:r>
              <a:rPr lang="en-US" sz="1400" dirty="0"/>
              <a:t>[0];</a:t>
            </a:r>
          </a:p>
          <a:p>
            <a:pPr marL="384048" lvl="2" indent="0">
              <a:buNone/>
            </a:pPr>
            <a:r>
              <a:rPr lang="en-US" sz="1400" dirty="0"/>
              <a:t>    ...</a:t>
            </a:r>
          </a:p>
          <a:p>
            <a:pPr marL="384048" lvl="2" indent="0">
              <a:buNone/>
            </a:pPr>
            <a:r>
              <a:rPr lang="en-US" sz="1400" dirty="0"/>
              <a:t>}</a:t>
            </a:r>
          </a:p>
          <a:p>
            <a:pPr lvl="1">
              <a:buFont typeface="Arial" panose="020B0604020202020204" pitchFamily="34" charset="0"/>
              <a:buChar char="•"/>
            </a:pPr>
            <a:r>
              <a:rPr lang="en-US" sz="1800" dirty="0" err="1"/>
              <a:t>GraphQL</a:t>
            </a:r>
            <a:r>
              <a:rPr lang="en-US" sz="1800" dirty="0"/>
              <a:t> errors contain:</a:t>
            </a:r>
          </a:p>
          <a:p>
            <a:pPr lvl="2">
              <a:buFont typeface="Arial" panose="020B0604020202020204" pitchFamily="34" charset="0"/>
              <a:buChar char="•"/>
            </a:pPr>
            <a:r>
              <a:rPr lang="en-US" sz="1400" dirty="0"/>
              <a:t>Error message</a:t>
            </a:r>
          </a:p>
          <a:p>
            <a:pPr lvl="2">
              <a:buFont typeface="Arial" panose="020B0604020202020204" pitchFamily="34" charset="0"/>
              <a:buChar char="•"/>
            </a:pPr>
            <a:r>
              <a:rPr lang="en-US" sz="1400" dirty="0"/>
              <a:t>Error code</a:t>
            </a:r>
          </a:p>
          <a:p>
            <a:pPr lvl="2">
              <a:buFont typeface="Arial" panose="020B0604020202020204" pitchFamily="34" charset="0"/>
              <a:buChar char="•"/>
            </a:pPr>
            <a:r>
              <a:rPr lang="en-US" sz="1400" dirty="0"/>
              <a:t>Additional error details</a:t>
            </a:r>
          </a:p>
          <a:p>
            <a:pPr lvl="1">
              <a:buFont typeface="Arial" panose="020B0604020202020204" pitchFamily="34" charset="0"/>
              <a:buChar char="•"/>
            </a:pPr>
            <a:r>
              <a:rPr lang="en-US" sz="1800" dirty="0"/>
              <a:t>Error code is available through:</a:t>
            </a:r>
          </a:p>
          <a:p>
            <a:pPr lvl="2">
              <a:buFont typeface="Arial" panose="020B0604020202020204" pitchFamily="34" charset="0"/>
              <a:buChar char="•"/>
            </a:pPr>
            <a:r>
              <a:rPr lang="en-US" sz="1400" dirty="0" err="1"/>
              <a:t>error.extensions.code</a:t>
            </a:r>
            <a:endParaRPr lang="en-US" sz="1400" dirty="0"/>
          </a:p>
        </p:txBody>
      </p:sp>
    </p:spTree>
    <p:extLst>
      <p:ext uri="{BB962C8B-B14F-4D97-AF65-F5344CB8AC3E}">
        <p14:creationId xmlns:p14="http://schemas.microsoft.com/office/powerpoint/2010/main" val="14537271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B25B1-3A41-6036-E4E2-10BABF81F04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44DC59A-66CD-1C3C-E648-E192AD3BBD4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Handling BAD_USER_INPUT</a:t>
            </a:r>
          </a:p>
          <a:p>
            <a:pPr lvl="1">
              <a:buFont typeface="Arial" panose="020B0604020202020204" pitchFamily="34" charset="0"/>
              <a:buChar char="•"/>
            </a:pPr>
            <a:r>
              <a:rPr lang="en-US" sz="1800" dirty="0"/>
              <a:t>BAD_USER_INPUT indicates that the user entered invalid data.</a:t>
            </a:r>
          </a:p>
          <a:p>
            <a:pPr lvl="1">
              <a:buFont typeface="Arial" panose="020B0604020202020204" pitchFamily="34" charset="0"/>
              <a:buChar char="•"/>
            </a:pPr>
            <a:r>
              <a:rPr lang="en-US" sz="1800" dirty="0"/>
              <a:t>Validation errors are available in:</a:t>
            </a:r>
          </a:p>
          <a:p>
            <a:pPr lvl="2">
              <a:buFont typeface="Arial" panose="020B0604020202020204" pitchFamily="34" charset="0"/>
              <a:buChar char="•"/>
            </a:pPr>
            <a:r>
              <a:rPr lang="en-US" sz="1400" dirty="0" err="1"/>
              <a:t>error.extensions.exception.errors</a:t>
            </a:r>
            <a:endParaRPr lang="en-US" sz="1400" dirty="0"/>
          </a:p>
          <a:p>
            <a:pPr lvl="1">
              <a:buFont typeface="Arial" panose="020B0604020202020204" pitchFamily="34" charset="0"/>
              <a:buChar char="•"/>
            </a:pPr>
            <a:r>
              <a:rPr lang="en-US" sz="1800" dirty="0"/>
              <a:t>Multiple validation errors are joined together.</a:t>
            </a:r>
          </a:p>
          <a:p>
            <a:pPr marL="384048" lvl="2" indent="0">
              <a:buNone/>
            </a:pPr>
            <a:r>
              <a:rPr lang="en-US" sz="1600" dirty="0"/>
              <a:t>if (</a:t>
            </a:r>
            <a:r>
              <a:rPr lang="en-US" sz="1600" dirty="0" err="1"/>
              <a:t>error.extensions.code</a:t>
            </a:r>
            <a:r>
              <a:rPr lang="en-US" sz="1600" dirty="0"/>
              <a:t> == 'BAD_USER_INPUT') {</a:t>
            </a:r>
          </a:p>
          <a:p>
            <a:pPr marL="384048" lvl="2" indent="0">
              <a:buNone/>
            </a:pPr>
            <a:r>
              <a:rPr lang="en-US" sz="1600" dirty="0"/>
              <a:t>    const details =</a:t>
            </a:r>
          </a:p>
          <a:p>
            <a:pPr marL="384048" lvl="2" indent="0">
              <a:buNone/>
            </a:pPr>
            <a:r>
              <a:rPr lang="en-US" sz="1600" dirty="0"/>
              <a:t>        </a:t>
            </a:r>
            <a:r>
              <a:rPr lang="en-US" sz="1600" dirty="0" err="1"/>
              <a:t>error.extensions.exception.errors.join</a:t>
            </a:r>
            <a:r>
              <a:rPr lang="en-US" sz="1600" dirty="0"/>
              <a:t>('\n ');</a:t>
            </a:r>
          </a:p>
          <a:p>
            <a:pPr marL="384048" lvl="2" indent="0">
              <a:buNone/>
            </a:pPr>
            <a:endParaRPr lang="en-US" sz="1600" dirty="0"/>
          </a:p>
          <a:p>
            <a:pPr marL="384048" lvl="2" indent="0">
              <a:buNone/>
            </a:pPr>
            <a:r>
              <a:rPr lang="en-US" sz="1600" dirty="0"/>
              <a:t>    alert(`${</a:t>
            </a:r>
            <a:r>
              <a:rPr lang="en-US" sz="1600" dirty="0" err="1"/>
              <a:t>error.message</a:t>
            </a:r>
            <a:r>
              <a:rPr lang="en-US" sz="1600" dirty="0"/>
              <a:t>}:\n ${details}`);</a:t>
            </a:r>
          </a:p>
          <a:p>
            <a:pPr marL="384048" lvl="2" indent="0">
              <a:buNone/>
            </a:pPr>
            <a:r>
              <a:rPr lang="en-US" sz="1600" dirty="0"/>
              <a:t>}</a:t>
            </a:r>
          </a:p>
          <a:p>
            <a:pPr lvl="1">
              <a:buFont typeface="Arial" panose="020B0604020202020204" pitchFamily="34" charset="0"/>
              <a:buChar char="•"/>
            </a:pPr>
            <a:r>
              <a:rPr lang="en-US" sz="1800" dirty="0"/>
              <a:t>This gives the user meaningful validation information.</a:t>
            </a:r>
          </a:p>
        </p:txBody>
      </p:sp>
    </p:spTree>
    <p:extLst>
      <p:ext uri="{BB962C8B-B14F-4D97-AF65-F5344CB8AC3E}">
        <p14:creationId xmlns:p14="http://schemas.microsoft.com/office/powerpoint/2010/main" val="172115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ABD50-7A7E-7CD6-C727-9FFE926D4D8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B327F46-58E0-0F18-A26B-146D532ABA3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b="1" dirty="0"/>
              <a:t>Handling Other Errors</a:t>
            </a:r>
          </a:p>
          <a:p>
            <a:pPr lvl="0"/>
            <a:r>
              <a:rPr lang="en-IN" dirty="0"/>
              <a:t>For errors other than BAD_USER_INPUT:</a:t>
            </a:r>
          </a:p>
          <a:p>
            <a:pPr lvl="1"/>
            <a:r>
              <a:rPr lang="en-IN" dirty="0"/>
              <a:t>Display the error code.</a:t>
            </a:r>
          </a:p>
          <a:p>
            <a:pPr lvl="1"/>
            <a:r>
              <a:rPr lang="en-IN" dirty="0"/>
              <a:t>Display the error message.</a:t>
            </a:r>
          </a:p>
          <a:p>
            <a:pPr marL="384048" lvl="2" indent="0">
              <a:buNone/>
            </a:pPr>
            <a:r>
              <a:rPr lang="en-IN" sz="1600" dirty="0"/>
              <a:t>else {</a:t>
            </a:r>
          </a:p>
          <a:p>
            <a:pPr marL="384048" lvl="2" indent="0">
              <a:buNone/>
            </a:pPr>
            <a:r>
              <a:rPr lang="en-IN" sz="1600" dirty="0"/>
              <a:t>    alert(`${</a:t>
            </a:r>
            <a:r>
              <a:rPr lang="en-IN" sz="1600" dirty="0" err="1"/>
              <a:t>error.extensions.code</a:t>
            </a:r>
            <a:r>
              <a:rPr lang="en-IN" sz="1600" dirty="0"/>
              <a:t>}: ${</a:t>
            </a:r>
            <a:r>
              <a:rPr lang="en-IN" sz="1600" dirty="0" err="1"/>
              <a:t>error.message</a:t>
            </a:r>
            <a:r>
              <a:rPr lang="en-IN" sz="1600" dirty="0"/>
              <a:t>}`);</a:t>
            </a:r>
          </a:p>
          <a:p>
            <a:pPr marL="384048" lvl="2" indent="0">
              <a:buNone/>
            </a:pPr>
            <a:r>
              <a:rPr lang="en-IN" sz="1600" dirty="0"/>
              <a:t>}</a:t>
            </a:r>
          </a:p>
          <a:p>
            <a:pPr lvl="1"/>
            <a:r>
              <a:rPr lang="en-IN" dirty="0"/>
              <a:t>Finally, return the data received from </a:t>
            </a:r>
            <a:r>
              <a:rPr lang="en-IN" dirty="0" err="1"/>
              <a:t>GraphQL</a:t>
            </a:r>
            <a:r>
              <a:rPr lang="en-IN" dirty="0"/>
              <a:t>.</a:t>
            </a:r>
          </a:p>
          <a:p>
            <a:pPr lvl="2"/>
            <a:r>
              <a:rPr lang="en-IN" sz="1600" dirty="0"/>
              <a:t>return </a:t>
            </a:r>
            <a:r>
              <a:rPr lang="en-IN" sz="1600" dirty="0" err="1"/>
              <a:t>result.data</a:t>
            </a:r>
            <a:r>
              <a:rPr lang="en-IN" sz="1600" dirty="0"/>
              <a:t>;</a:t>
            </a:r>
          </a:p>
          <a:p>
            <a:pPr lvl="1"/>
            <a:r>
              <a:rPr lang="en-IN" dirty="0"/>
              <a:t>If an error occurs during transport, the function displays the error and does not return data.</a:t>
            </a:r>
          </a:p>
        </p:txBody>
      </p:sp>
    </p:spTree>
    <p:extLst>
      <p:ext uri="{BB962C8B-B14F-4D97-AF65-F5344CB8AC3E}">
        <p14:creationId xmlns:p14="http://schemas.microsoft.com/office/powerpoint/2010/main" val="15774639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ADC79-7395-C8BF-6E9F-B27457E60AB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8632D2B-CEBB-C4E4-5B56-4F1DF0ED6C8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2000" b="1" dirty="0"/>
              <a:t>Using </a:t>
            </a:r>
            <a:r>
              <a:rPr lang="en-IN" b="1" dirty="0" err="1"/>
              <a:t>graphQLFetch</a:t>
            </a:r>
            <a:r>
              <a:rPr lang="en-IN" b="1" dirty="0"/>
              <a:t>()</a:t>
            </a:r>
            <a:r>
              <a:rPr lang="en-IN" sz="2000" b="1" dirty="0"/>
              <a:t> in </a:t>
            </a:r>
            <a:r>
              <a:rPr lang="en-IN" sz="2000" b="1" dirty="0" err="1"/>
              <a:t>IssueList</a:t>
            </a:r>
            <a:endParaRPr lang="en-IN" sz="2000" b="1" dirty="0"/>
          </a:p>
          <a:p>
            <a:pPr lvl="1">
              <a:spcBef>
                <a:spcPts val="0"/>
              </a:spcBef>
              <a:spcAft>
                <a:spcPts val="0"/>
              </a:spcAft>
            </a:pPr>
            <a:r>
              <a:rPr lang="en-IN" sz="1800" dirty="0"/>
              <a:t>The existing </a:t>
            </a:r>
            <a:r>
              <a:rPr lang="en-IN" dirty="0"/>
              <a:t>fetch()</a:t>
            </a:r>
            <a:r>
              <a:rPr lang="en-IN" sz="1800" dirty="0"/>
              <a:t> code in </a:t>
            </a:r>
            <a:r>
              <a:rPr lang="en-IN" dirty="0" err="1"/>
              <a:t>loadData</a:t>
            </a:r>
            <a:r>
              <a:rPr lang="en-IN" dirty="0"/>
              <a:t>()</a:t>
            </a:r>
            <a:r>
              <a:rPr lang="en-IN" sz="1800" dirty="0"/>
              <a:t> can be removed.</a:t>
            </a:r>
          </a:p>
          <a:p>
            <a:pPr lvl="1">
              <a:spcBef>
                <a:spcPts val="0"/>
              </a:spcBef>
              <a:spcAft>
                <a:spcPts val="0"/>
              </a:spcAft>
            </a:pPr>
            <a:r>
              <a:rPr lang="en-IN" sz="1800" dirty="0"/>
              <a:t>Call the common </a:t>
            </a:r>
            <a:r>
              <a:rPr lang="en-IN" dirty="0" err="1"/>
              <a:t>graphQLFetch</a:t>
            </a:r>
            <a:r>
              <a:rPr lang="en-IN" dirty="0"/>
              <a:t>()</a:t>
            </a:r>
            <a:r>
              <a:rPr lang="en-IN" sz="1800" dirty="0"/>
              <a:t> function instead.</a:t>
            </a:r>
          </a:p>
          <a:p>
            <a:pPr marL="384048" lvl="2" indent="0">
              <a:spcBef>
                <a:spcPts val="0"/>
              </a:spcBef>
              <a:spcAft>
                <a:spcPts val="0"/>
              </a:spcAft>
              <a:buNone/>
            </a:pPr>
            <a:r>
              <a:rPr lang="en-IN" sz="1400" dirty="0"/>
              <a:t>async </a:t>
            </a:r>
            <a:r>
              <a:rPr lang="en-IN" sz="1400" dirty="0" err="1"/>
              <a:t>loadData</a:t>
            </a:r>
            <a:r>
              <a:rPr lang="en-IN" sz="1400" dirty="0"/>
              <a:t>() {</a:t>
            </a:r>
          </a:p>
          <a:p>
            <a:pPr marL="384048" lvl="2" indent="0">
              <a:spcBef>
                <a:spcPts val="0"/>
              </a:spcBef>
              <a:spcAft>
                <a:spcPts val="0"/>
              </a:spcAft>
              <a:buNone/>
            </a:pPr>
            <a:r>
              <a:rPr lang="en-IN" sz="1400" dirty="0"/>
              <a:t>    </a:t>
            </a:r>
            <a:r>
              <a:rPr lang="en-IN" sz="1400" dirty="0" err="1"/>
              <a:t>const</a:t>
            </a:r>
            <a:r>
              <a:rPr lang="en-IN" sz="1400" dirty="0"/>
              <a:t> query = `query {</a:t>
            </a:r>
          </a:p>
          <a:p>
            <a:pPr marL="384048" lvl="2" indent="0">
              <a:spcBef>
                <a:spcPts val="0"/>
              </a:spcBef>
              <a:spcAft>
                <a:spcPts val="0"/>
              </a:spcAft>
              <a:buNone/>
            </a:pPr>
            <a:r>
              <a:rPr lang="en-IN" sz="1400" dirty="0"/>
              <a:t>        </a:t>
            </a:r>
            <a:r>
              <a:rPr lang="en-IN" sz="1400" dirty="0" err="1"/>
              <a:t>issueList</a:t>
            </a:r>
            <a:r>
              <a:rPr lang="en-IN" sz="1400" dirty="0"/>
              <a:t> {</a:t>
            </a:r>
          </a:p>
          <a:p>
            <a:pPr marL="384048" lvl="2" indent="0">
              <a:spcBef>
                <a:spcPts val="0"/>
              </a:spcBef>
              <a:spcAft>
                <a:spcPts val="0"/>
              </a:spcAft>
              <a:buNone/>
            </a:pPr>
            <a:r>
              <a:rPr lang="en-IN" sz="1400" dirty="0"/>
              <a:t>            id</a:t>
            </a:r>
          </a:p>
          <a:p>
            <a:pPr marL="384048" lvl="2" indent="0">
              <a:spcBef>
                <a:spcPts val="0"/>
              </a:spcBef>
              <a:spcAft>
                <a:spcPts val="0"/>
              </a:spcAft>
              <a:buNone/>
            </a:pPr>
            <a:r>
              <a:rPr lang="en-IN" sz="1400" dirty="0"/>
              <a:t>            title</a:t>
            </a:r>
          </a:p>
          <a:p>
            <a:pPr marL="384048" lvl="2" indent="0">
              <a:spcBef>
                <a:spcPts val="0"/>
              </a:spcBef>
              <a:spcAft>
                <a:spcPts val="0"/>
              </a:spcAft>
              <a:buNone/>
            </a:pPr>
            <a:r>
              <a:rPr lang="en-IN" sz="1400" dirty="0"/>
              <a:t>            status</a:t>
            </a:r>
          </a:p>
          <a:p>
            <a:pPr marL="384048" lvl="2" indent="0">
              <a:spcBef>
                <a:spcPts val="0"/>
              </a:spcBef>
              <a:spcAft>
                <a:spcPts val="0"/>
              </a:spcAft>
              <a:buNone/>
            </a:pPr>
            <a:r>
              <a:rPr lang="en-IN" sz="1400" dirty="0"/>
              <a:t>            owner</a:t>
            </a:r>
          </a:p>
          <a:p>
            <a:pPr marL="384048" lvl="2" indent="0">
              <a:spcBef>
                <a:spcPts val="0"/>
              </a:spcBef>
              <a:spcAft>
                <a:spcPts val="0"/>
              </a:spcAft>
              <a:buNone/>
            </a:pPr>
            <a:r>
              <a:rPr lang="en-IN" sz="1400" dirty="0"/>
              <a:t>            effort</a:t>
            </a:r>
          </a:p>
          <a:p>
            <a:pPr marL="384048" lvl="2" indent="0">
              <a:spcBef>
                <a:spcPts val="0"/>
              </a:spcBef>
              <a:spcAft>
                <a:spcPts val="0"/>
              </a:spcAft>
              <a:buNone/>
            </a:pPr>
            <a:r>
              <a:rPr lang="en-IN" sz="1400" dirty="0"/>
              <a:t>            created</a:t>
            </a:r>
          </a:p>
          <a:p>
            <a:pPr marL="384048" lvl="2" indent="0">
              <a:spcBef>
                <a:spcPts val="0"/>
              </a:spcBef>
              <a:spcAft>
                <a:spcPts val="0"/>
              </a:spcAft>
              <a:buNone/>
            </a:pPr>
            <a:r>
              <a:rPr lang="en-IN" sz="1400" dirty="0"/>
              <a:t>            due</a:t>
            </a:r>
          </a:p>
          <a:p>
            <a:pPr marL="384048" lvl="2" indent="0">
              <a:spcBef>
                <a:spcPts val="0"/>
              </a:spcBef>
              <a:spcAft>
                <a:spcPts val="0"/>
              </a:spcAft>
              <a:buNone/>
            </a:pPr>
            <a:r>
              <a:rPr lang="en-IN" sz="1400" dirty="0"/>
              <a:t>        }</a:t>
            </a:r>
          </a:p>
          <a:p>
            <a:pPr marL="384048" lvl="2" indent="0">
              <a:spcBef>
                <a:spcPts val="0"/>
              </a:spcBef>
              <a:spcAft>
                <a:spcPts val="0"/>
              </a:spcAft>
              <a:buNone/>
            </a:pPr>
            <a:r>
              <a:rPr lang="en-IN" sz="1400" dirty="0"/>
              <a:t>    }`;</a:t>
            </a:r>
          </a:p>
          <a:p>
            <a:pPr marL="384048" lvl="2" indent="0">
              <a:spcBef>
                <a:spcPts val="0"/>
              </a:spcBef>
              <a:spcAft>
                <a:spcPts val="0"/>
              </a:spcAft>
              <a:buNone/>
            </a:pPr>
            <a:r>
              <a:rPr lang="en-IN" sz="1400" dirty="0"/>
              <a:t>    </a:t>
            </a:r>
            <a:r>
              <a:rPr lang="en-IN" sz="1400" dirty="0" err="1"/>
              <a:t>const</a:t>
            </a:r>
            <a:r>
              <a:rPr lang="en-IN" sz="1400" dirty="0"/>
              <a:t> data = await </a:t>
            </a:r>
            <a:r>
              <a:rPr lang="en-IN" sz="1400" dirty="0" err="1"/>
              <a:t>graphQLFetch</a:t>
            </a:r>
            <a:r>
              <a:rPr lang="en-IN" sz="1400" dirty="0"/>
              <a:t>(query);</a:t>
            </a:r>
          </a:p>
          <a:p>
            <a:pPr marL="384048" lvl="2" indent="0">
              <a:spcBef>
                <a:spcPts val="0"/>
              </a:spcBef>
              <a:spcAft>
                <a:spcPts val="0"/>
              </a:spcAft>
              <a:buNone/>
            </a:pPr>
            <a:endParaRPr lang="en-IN" sz="1400" dirty="0"/>
          </a:p>
          <a:p>
            <a:pPr marL="384048" lvl="2" indent="0">
              <a:spcBef>
                <a:spcPts val="0"/>
              </a:spcBef>
              <a:spcAft>
                <a:spcPts val="0"/>
              </a:spcAft>
              <a:buNone/>
            </a:pPr>
            <a:r>
              <a:rPr lang="en-IN" sz="1400" dirty="0"/>
              <a:t>    if (data) {</a:t>
            </a:r>
          </a:p>
          <a:p>
            <a:pPr marL="384048" lvl="2" indent="0">
              <a:spcBef>
                <a:spcPts val="0"/>
              </a:spcBef>
              <a:spcAft>
                <a:spcPts val="0"/>
              </a:spcAft>
              <a:buNone/>
            </a:pPr>
            <a:r>
              <a:rPr lang="en-IN" sz="1400" dirty="0"/>
              <a:t>        </a:t>
            </a:r>
            <a:r>
              <a:rPr lang="en-IN" sz="1400" dirty="0" err="1"/>
              <a:t>this.setState</a:t>
            </a:r>
            <a:r>
              <a:rPr lang="en-IN" sz="1400" dirty="0"/>
              <a:t>({</a:t>
            </a:r>
          </a:p>
          <a:p>
            <a:pPr marL="384048" lvl="2" indent="0">
              <a:spcBef>
                <a:spcPts val="0"/>
              </a:spcBef>
              <a:spcAft>
                <a:spcPts val="0"/>
              </a:spcAft>
              <a:buNone/>
            </a:pPr>
            <a:r>
              <a:rPr lang="en-IN" sz="1400" dirty="0"/>
              <a:t>            issues: </a:t>
            </a:r>
            <a:r>
              <a:rPr lang="en-IN" sz="1400" dirty="0" err="1"/>
              <a:t>data.issueList</a:t>
            </a:r>
            <a:endParaRPr lang="en-IN" sz="1400" dirty="0"/>
          </a:p>
          <a:p>
            <a:pPr marL="384048" lvl="2" indent="0">
              <a:spcBef>
                <a:spcPts val="0"/>
              </a:spcBef>
              <a:spcAft>
                <a:spcPts val="0"/>
              </a:spcAft>
              <a:buNone/>
            </a:pPr>
            <a:r>
              <a:rPr lang="en-IN" sz="1400" dirty="0"/>
              <a:t>        });</a:t>
            </a:r>
          </a:p>
          <a:p>
            <a:pPr marL="384048" lvl="2" indent="0">
              <a:spcBef>
                <a:spcPts val="0"/>
              </a:spcBef>
              <a:spcAft>
                <a:spcPts val="0"/>
              </a:spcAft>
              <a:buNone/>
            </a:pPr>
            <a:r>
              <a:rPr lang="en-IN" sz="1400" dirty="0"/>
              <a:t>    }</a:t>
            </a:r>
          </a:p>
          <a:p>
            <a:pPr marL="384048" lvl="2" indent="0">
              <a:spcBef>
                <a:spcPts val="0"/>
              </a:spcBef>
              <a:spcAft>
                <a:spcPts val="0"/>
              </a:spcAft>
              <a:buNone/>
            </a:pPr>
            <a:r>
              <a:rPr lang="en-IN" sz="1400" dirty="0"/>
              <a:t>}</a:t>
            </a:r>
          </a:p>
          <a:p>
            <a:pPr lvl="1">
              <a:spcBef>
                <a:spcPts val="0"/>
              </a:spcBef>
              <a:spcAft>
                <a:spcPts val="0"/>
              </a:spcAft>
            </a:pPr>
            <a:r>
              <a:rPr lang="en-IN" sz="1800" dirty="0"/>
              <a:t>If the API call succeeds, the returned data is used to update the state.</a:t>
            </a:r>
          </a:p>
          <a:p>
            <a:pPr lvl="1">
              <a:spcBef>
                <a:spcPts val="0"/>
              </a:spcBef>
              <a:spcAft>
                <a:spcPts val="0"/>
              </a:spcAft>
            </a:pPr>
            <a:r>
              <a:rPr lang="en-IN" sz="1800" dirty="0"/>
              <a:t>If an error occurs, </a:t>
            </a:r>
            <a:r>
              <a:rPr lang="en-IN" dirty="0" err="1"/>
              <a:t>graphQLFetch</a:t>
            </a:r>
            <a:r>
              <a:rPr lang="en-IN" dirty="0"/>
              <a:t>()</a:t>
            </a:r>
            <a:r>
              <a:rPr lang="en-IN" sz="1800" dirty="0"/>
              <a:t> displays it.</a:t>
            </a:r>
          </a:p>
        </p:txBody>
      </p:sp>
    </p:spTree>
    <p:extLst>
      <p:ext uri="{BB962C8B-B14F-4D97-AF65-F5344CB8AC3E}">
        <p14:creationId xmlns:p14="http://schemas.microsoft.com/office/powerpoint/2010/main" val="29051963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8067A-7173-7B36-F451-F426E3732E6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1286B38-621A-AE16-931E-06EE198ADC7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Using </a:t>
            </a:r>
            <a:r>
              <a:rPr lang="en-US" sz="2000" dirty="0" err="1"/>
              <a:t>graphQLFetch</a:t>
            </a:r>
            <a:r>
              <a:rPr lang="en-US" sz="2000" dirty="0"/>
              <a:t>() in Create Issue</a:t>
            </a:r>
          </a:p>
          <a:p>
            <a:pPr lvl="1">
              <a:buFont typeface="Arial" panose="020B0604020202020204" pitchFamily="34" charset="0"/>
              <a:buChar char="•"/>
            </a:pPr>
            <a:r>
              <a:rPr lang="en-US" sz="1800" dirty="0" err="1"/>
              <a:t>createIssue</a:t>
            </a:r>
            <a:r>
              <a:rPr lang="en-US" sz="1800" dirty="0"/>
              <a:t>() also uses the common function.</a:t>
            </a:r>
          </a:p>
          <a:p>
            <a:pPr lvl="1">
              <a:buFont typeface="Arial" panose="020B0604020202020204" pitchFamily="34" charset="0"/>
              <a:buChar char="•"/>
            </a:pPr>
            <a:r>
              <a:rPr lang="en-US" sz="1800" dirty="0"/>
              <a:t>Pass both:</a:t>
            </a:r>
          </a:p>
          <a:p>
            <a:pPr lvl="2">
              <a:buFont typeface="Arial" panose="020B0604020202020204" pitchFamily="34" charset="0"/>
              <a:buChar char="•"/>
            </a:pPr>
            <a:r>
              <a:rPr lang="en-US" sz="1600" dirty="0" err="1"/>
              <a:t>GraphQL</a:t>
            </a:r>
            <a:r>
              <a:rPr lang="en-US" sz="1600" dirty="0"/>
              <a:t> query</a:t>
            </a:r>
          </a:p>
          <a:p>
            <a:pPr lvl="2">
              <a:buFont typeface="Arial" panose="020B0604020202020204" pitchFamily="34" charset="0"/>
              <a:buChar char="•"/>
            </a:pPr>
            <a:r>
              <a:rPr lang="en-US" sz="1600" dirty="0"/>
              <a:t>Variables containing the issue</a:t>
            </a:r>
          </a:p>
          <a:p>
            <a:pPr marL="384048" lvl="2" indent="0">
              <a:buNone/>
            </a:pPr>
            <a:endParaRPr lang="en-US" sz="1600" dirty="0"/>
          </a:p>
          <a:p>
            <a:pPr marL="384048" lvl="2" indent="0">
              <a:buNone/>
            </a:pPr>
            <a:r>
              <a:rPr lang="en-US" sz="1600" dirty="0"/>
              <a:t>const data = await </a:t>
            </a:r>
            <a:r>
              <a:rPr lang="en-US" sz="1600" dirty="0" err="1"/>
              <a:t>graphQLFetch</a:t>
            </a:r>
            <a:r>
              <a:rPr lang="en-US" sz="1600" dirty="0"/>
              <a:t>(query, { issue });</a:t>
            </a:r>
          </a:p>
          <a:p>
            <a:pPr marL="384048" lvl="2" indent="0">
              <a:buNone/>
            </a:pPr>
            <a:r>
              <a:rPr lang="en-US" sz="1600" dirty="0"/>
              <a:t>if (data) {</a:t>
            </a:r>
          </a:p>
          <a:p>
            <a:pPr marL="384048" lvl="2" indent="0">
              <a:buNone/>
            </a:pPr>
            <a:r>
              <a:rPr lang="en-US" sz="1600" dirty="0"/>
              <a:t>    </a:t>
            </a:r>
            <a:r>
              <a:rPr lang="en-US" sz="1600" dirty="0" err="1"/>
              <a:t>this.loadData</a:t>
            </a:r>
            <a:r>
              <a:rPr lang="en-US" sz="1600" dirty="0"/>
              <a:t>();</a:t>
            </a:r>
          </a:p>
          <a:p>
            <a:pPr marL="384048" lvl="2" indent="0">
              <a:buNone/>
            </a:pPr>
            <a:r>
              <a:rPr lang="en-US" sz="1600" dirty="0"/>
              <a:t>}</a:t>
            </a:r>
          </a:p>
          <a:p>
            <a:pPr marL="384048" lvl="2" indent="0">
              <a:buNone/>
            </a:pPr>
            <a:endParaRPr lang="en-US" sz="1600" dirty="0"/>
          </a:p>
          <a:p>
            <a:pPr lvl="1"/>
            <a:r>
              <a:rPr lang="en-US" sz="2000" dirty="0"/>
              <a:t>Testing Errors</a:t>
            </a:r>
          </a:p>
          <a:p>
            <a:pPr lvl="2"/>
            <a:r>
              <a:rPr lang="en-US" sz="1600" dirty="0"/>
              <a:t>Transport error: Stop the server and try to add an issue.</a:t>
            </a:r>
          </a:p>
          <a:p>
            <a:pPr lvl="2"/>
            <a:r>
              <a:rPr lang="en-US" sz="1600" dirty="0"/>
              <a:t>Invalid title: Enter a title that violates the minimum length.</a:t>
            </a:r>
          </a:p>
          <a:p>
            <a:pPr lvl="2"/>
            <a:r>
              <a:rPr lang="en-US" sz="1600" dirty="0"/>
              <a:t>Other validations can be tested by temporarily changing input values:</a:t>
            </a:r>
          </a:p>
          <a:p>
            <a:pPr lvl="3"/>
            <a:r>
              <a:rPr lang="en-US" sz="1600" dirty="0"/>
              <a:t>Invalid status</a:t>
            </a:r>
          </a:p>
          <a:p>
            <a:pPr lvl="3"/>
            <a:r>
              <a:rPr lang="en-US" sz="1600" dirty="0"/>
              <a:t>Invalid due date</a:t>
            </a:r>
          </a:p>
          <a:p>
            <a:pPr lvl="3"/>
            <a:r>
              <a:rPr lang="en-US" sz="1600" dirty="0"/>
              <a:t>Other validation rules</a:t>
            </a:r>
          </a:p>
          <a:p>
            <a:pPr lvl="2"/>
            <a:endParaRPr lang="en-US" sz="1600" dirty="0"/>
          </a:p>
        </p:txBody>
      </p:sp>
    </p:spTree>
    <p:extLst>
      <p:ext uri="{BB962C8B-B14F-4D97-AF65-F5344CB8AC3E}">
        <p14:creationId xmlns:p14="http://schemas.microsoft.com/office/powerpoint/2010/main" val="15759344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BCE6B-1857-633F-D5A4-D7E9120B0C0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52F617B-6442-CA58-FB3B-3DA2C6410E4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9990416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FD58C-8C7E-97BD-1489-5131F6500A1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354E441-884D-04B6-D2A3-EB2F2A0F1D3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34714527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99383-7DDA-05D9-F5A0-2600376193B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ED2B261-A46C-E84B-43A8-5C538C1EE7C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6853863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C3BC1-45B4-E08D-01B8-0E81AD4BE5B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2B7C7C7-C701-E7B2-CCF8-A2BA10512FB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34755073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866FB-B35E-BE16-CCE0-462D51B7490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0EA2255-2B65-B168-39C1-B30426784214}"/>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312293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7598-79DB-DCCA-5BD3-CF4ABD3EE8A3}"/>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47AB255-6A01-C771-F0DB-3FDBB24CF35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33903824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32FD1-F532-90C1-5F62-7D58DAA2A45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9F246DA-48DC-D54B-C484-5E990F38C54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32986021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01AA7-FF76-681C-6F17-D6ADD3B1E4B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158516B-5ED1-A3EB-B30F-4B581FC6D0E4}"/>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5124100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3A283-1B15-C4B3-521A-431243610CA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FA12248-B83A-5B3A-F2ED-F82E1ADB3884}"/>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3863835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0ADE8-4A8F-0AA9-EAEC-BC7FE4D0D25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71E1477-CAE8-348E-FF26-5D15B6628F5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7998183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0DD46-0775-86D7-CEED-47623286D40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E51DA06-511E-299A-F883-6EB33DC3579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7858122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B4437-1F3C-0C80-4435-6F4D3D5DA0D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F0AC4B5-AD25-5A5E-BE6D-B584C892655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23285641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73246-A397-01E8-BCB9-FD557512386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FEACB4-6339-88E2-D2FC-E26AEDA98BC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6438364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CDC24-FEA4-9D4C-538C-7EB21929BFF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194D28A-36B3-D5A5-BEAE-DC0EF399517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38558695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4BDAC-36F3-D487-A60A-0E3986CCABB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E349569-F6B7-89D3-18F7-0F7100C95A7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39328183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71BF-D03E-FC4E-537A-9EB9F7201DC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CAA8E82-BC36-3BD9-4636-ACB39F679B1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9879816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D8635-EF77-380A-BDBD-82FA064AFBD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5AA2BB8-6A29-0691-8EEE-212B34A5E28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31579880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85DD7-4991-9E9D-0967-B34653976A9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9F2A6F5B-B4FD-551E-EA40-3768104AAD84}"/>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23097304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F465-5DD3-185B-4CD8-E084886FEE3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ED7965C-072F-0DB3-E24D-79616F08B8DB}"/>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4543951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5940D-4CB8-E28B-23DF-8F466E41832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6BF79E8-0386-E589-91C1-8522BB7AB81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8263977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654B6-600C-92D7-C456-D0018B9C0C0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AD24971-9EEB-AA4C-F915-1D3C3B05A43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6636743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47B08-0C9D-36F5-71BA-5EC4C5E9BFB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5FCC15D-1456-2B98-BEA7-D631307E2EA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2213305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94D81-4B7D-B9E0-3B00-B36A96EC394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DB79D8D-238B-2CE3-5EE8-38F564A4E75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32226141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74B44-33C7-1F30-CDF8-C2880F89804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90B757C-A3C7-6208-1F08-3BE62263700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2935274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9C893-4947-7081-9A2B-5928334C18E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ECB7DA4-31E9-9A14-9E5F-D30831615D1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20580994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A68C-1A11-1F04-80D0-749008FBD08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16A8005-DEC4-4D2F-FCCF-0754F8FF295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42365698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7075C-CFE6-27A1-8DAD-639B03F1241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96121C4-333B-8C63-E32F-41D1ECFA1D5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28899279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4C8E8-8BF5-4958-F30D-577B72036AC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EB2E051-358F-3F4F-F972-FA66CF276A8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678213994"/>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{3537DA52-7717-4434-AECD-8DA341D3AE56}TFf0a5ceae-4542-492d-822e-d65a94fb0e1e3b562c5a_win32-009a0557e699</Template>
  <TotalTime>7402</TotalTime>
  <Words>6357</Words>
  <Application>Microsoft Office PowerPoint</Application>
  <PresentationFormat>Widescreen</PresentationFormat>
  <Paragraphs>873</Paragraphs>
  <Slides>76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76</vt:i4>
      </vt:variant>
    </vt:vector>
  </HeadingPairs>
  <TitlesOfParts>
    <vt:vector size="83" baseType="lpstr">
      <vt:lpstr>Aptos Narrow</vt:lpstr>
      <vt:lpstr>Arial</vt:lpstr>
      <vt:lpstr>Bookman Old Style</vt:lpstr>
      <vt:lpstr>Calibri</vt:lpstr>
      <vt:lpstr>Courier New</vt:lpstr>
      <vt:lpstr>Franklin Gothic Book</vt:lpstr>
      <vt:lpstr>Custom</vt:lpstr>
      <vt:lpstr>UNIT IV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D Suvaris</dc:creator>
  <cp:lastModifiedBy>Roshan D Suvaris</cp:lastModifiedBy>
  <cp:revision>33</cp:revision>
  <dcterms:created xsi:type="dcterms:W3CDTF">2026-10-04T05:43:24Z</dcterms:created>
  <dcterms:modified xsi:type="dcterms:W3CDTF">2026-10-09T09:06:18Z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