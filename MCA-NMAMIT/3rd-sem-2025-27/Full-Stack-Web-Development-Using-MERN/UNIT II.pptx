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328" r:id="rId6"/>
    <p:sldId id="329" r:id="rId7"/>
    <p:sldId id="331" r:id="rId8"/>
    <p:sldId id="332" r:id="rId9"/>
    <p:sldId id="333" r:id="rId10"/>
    <p:sldId id="334" r:id="rId11"/>
    <p:sldId id="335" r:id="rId12"/>
    <p:sldId id="336" r:id="rId13"/>
    <p:sldId id="337" r:id="rId14"/>
    <p:sldId id="338" r:id="rId15"/>
    <p:sldId id="340" r:id="rId16"/>
    <p:sldId id="341" r:id="rId17"/>
    <p:sldId id="339" r:id="rId18"/>
    <p:sldId id="342" r:id="rId19"/>
    <p:sldId id="343" r:id="rId20"/>
    <p:sldId id="344" r:id="rId21"/>
    <p:sldId id="345" r:id="rId22"/>
    <p:sldId id="346" r:id="rId23"/>
    <p:sldId id="347" r:id="rId24"/>
    <p:sldId id="348" r:id="rId25"/>
    <p:sldId id="349" r:id="rId26"/>
    <p:sldId id="350" r:id="rId27"/>
    <p:sldId id="351" r:id="rId28"/>
    <p:sldId id="352" r:id="rId29"/>
    <p:sldId id="353" r:id="rId30"/>
    <p:sldId id="354" r:id="rId31"/>
    <p:sldId id="355" r:id="rId32"/>
    <p:sldId id="356" r:id="rId33"/>
    <p:sldId id="357" r:id="rId34"/>
    <p:sldId id="358" r:id="rId35"/>
    <p:sldId id="359" r:id="rId36"/>
    <p:sldId id="360" r:id="rId37"/>
    <p:sldId id="361" r:id="rId38"/>
    <p:sldId id="362" r:id="rId39"/>
    <p:sldId id="363" r:id="rId40"/>
    <p:sldId id="364" r:id="rId41"/>
    <p:sldId id="365" r:id="rId42"/>
    <p:sldId id="366" r:id="rId43"/>
    <p:sldId id="367" r:id="rId44"/>
    <p:sldId id="368" r:id="rId45"/>
    <p:sldId id="369" r:id="rId46"/>
    <p:sldId id="370" r:id="rId47"/>
    <p:sldId id="371" r:id="rId48"/>
    <p:sldId id="372" r:id="rId49"/>
    <p:sldId id="373" r:id="rId50"/>
    <p:sldId id="374" r:id="rId51"/>
    <p:sldId id="375" r:id="rId52"/>
    <p:sldId id="376" r:id="rId53"/>
    <p:sldId id="377" r:id="rId54"/>
    <p:sldId id="37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32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8/17/2026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8/17/2026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8/17/2026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8/17/2026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8/17/2026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8/17/2026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8/17/2026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8/17/2026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8/17/2026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8/17/2026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8/17/2026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8/17/2026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UNIT I</a:t>
            </a:r>
            <a:r>
              <a:rPr lang="en-US" dirty="0"/>
              <a:t>I</a:t>
            </a:r>
            <a:endParaRPr lang="en-US" sz="8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Dr. </a:t>
            </a:r>
            <a:r>
              <a:rPr lang="en-US" sz="2400" dirty="0" err="1">
                <a:solidFill>
                  <a:schemeClr val="tx1">
                    <a:lumMod val="85000"/>
                    <a:lumOff val="15000"/>
                  </a:schemeClr>
                </a:solidFill>
              </a:rPr>
              <a:t>roshan</a:t>
            </a:r>
            <a:r>
              <a:rPr lang="en-US" sz="2400" dirty="0">
                <a:solidFill>
                  <a:schemeClr val="tx1">
                    <a:lumMod val="85000"/>
                    <a:lumOff val="15000"/>
                  </a:schemeClr>
                </a:solidFill>
              </a:rPr>
              <a:t> d </a:t>
            </a:r>
            <a:r>
              <a:rPr lang="en-US" sz="2400" dirty="0" err="1">
                <a:solidFill>
                  <a:schemeClr val="tx1">
                    <a:lumMod val="85000"/>
                    <a:lumOff val="15000"/>
                  </a:schemeClr>
                </a:solidFill>
              </a:rPr>
              <a:t>suvaris</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5AED5-5A3D-689B-A412-8F7DC992672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99A675F-AE38-463E-F0BD-4F21C712C42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r>
              <a:rPr lang="en-IN" sz="2000" dirty="0"/>
              <a:t>The Hello World example uses a simple React Native component with basic JSX. </a:t>
            </a:r>
          </a:p>
          <a:p>
            <a:pPr lvl="1">
              <a:buFont typeface="Arial" panose="020B0604020202020204" pitchFamily="34" charset="0"/>
              <a:buChar char="•"/>
            </a:pPr>
            <a:r>
              <a:rPr lang="en-IN" sz="2000" dirty="0"/>
              <a:t>In real-world applications, </a:t>
            </a:r>
            <a:r>
              <a:rPr lang="en-IN" sz="2000" b="1" dirty="0"/>
              <a:t>React components</a:t>
            </a:r>
            <a:r>
              <a:rPr lang="en-IN" sz="2000" dirty="0"/>
              <a:t> allow you to build complex interfaces by combining components and HTML elements, handling user input, managing state, and interacting with other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802009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49555-F32F-0111-11C8-1DE326D085B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94DEB19-E159-76D7-3212-AFDE03F2A2D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Classes</a:t>
            </a:r>
            <a:endParaRPr lang="en-US" sz="2000" b="1" dirty="0"/>
          </a:p>
          <a:p>
            <a:pPr lvl="1" algn="just">
              <a:buFont typeface="Arial" panose="020B0604020202020204" pitchFamily="34" charset="0"/>
              <a:buChar char="•"/>
            </a:pPr>
            <a:r>
              <a:rPr lang="en-IN" sz="2000" dirty="0"/>
              <a:t>The objective is to convert the single-line JSX into a simple React component instantiated from a React class, so that we can later use the full power of first-class React components.</a:t>
            </a:r>
          </a:p>
          <a:p>
            <a:pPr lvl="1" algn="just">
              <a:buFont typeface="Arial" panose="020B0604020202020204" pitchFamily="34" charset="0"/>
              <a:buChar char="•"/>
            </a:pPr>
            <a:r>
              <a:rPr lang="en-IN" sz="2000" dirty="0"/>
              <a:t>React classes are used to create real components</a:t>
            </a:r>
          </a:p>
          <a:p>
            <a:pPr lvl="1" algn="just">
              <a:buFont typeface="Arial" panose="020B0604020202020204" pitchFamily="34" charset="0"/>
              <a:buChar char="•"/>
            </a:pPr>
            <a:r>
              <a:rPr lang="en-IN" sz="2000" dirty="0"/>
              <a:t>These classes can then be reused within other components, handle events, and so much more.</a:t>
            </a:r>
          </a:p>
          <a:p>
            <a:pPr lvl="1" algn="just">
              <a:buFont typeface="Arial" panose="020B0604020202020204" pitchFamily="34" charset="0"/>
              <a:buChar char="•"/>
            </a:pPr>
            <a:endParaRPr lang="en-IN" sz="2000" dirty="0"/>
          </a:p>
          <a:p>
            <a:pPr lvl="1" algn="just">
              <a:buFont typeface="Arial" panose="020B0604020202020204" pitchFamily="34" charset="0"/>
              <a:buChar char="•"/>
            </a:pPr>
            <a:r>
              <a:rPr lang="en-IN" sz="2000" dirty="0"/>
              <a:t>React classes are created by extending </a:t>
            </a:r>
            <a:r>
              <a:rPr lang="en-IN" sz="2000" i="1" dirty="0" err="1">
                <a:solidFill>
                  <a:srgbClr val="FF0000"/>
                </a:solidFill>
              </a:rPr>
              <a:t>React.Component</a:t>
            </a:r>
            <a:r>
              <a:rPr lang="en-IN" sz="2000" dirty="0"/>
              <a:t>, the base class from which all custom classes must be derived. </a:t>
            </a:r>
          </a:p>
          <a:p>
            <a:pPr lvl="1" algn="just">
              <a:buFont typeface="Arial" panose="020B0604020202020204" pitchFamily="34" charset="0"/>
              <a:buChar char="•"/>
            </a:pPr>
            <a:r>
              <a:rPr lang="en-IN" sz="2000" dirty="0"/>
              <a:t>Within the class definition, at the minimum, a </a:t>
            </a:r>
            <a:r>
              <a:rPr lang="en-IN" sz="2000" dirty="0">
                <a:solidFill>
                  <a:srgbClr val="FF0000"/>
                </a:solidFill>
              </a:rPr>
              <a:t>render() </a:t>
            </a:r>
            <a:r>
              <a:rPr lang="en-IN" sz="2000" dirty="0"/>
              <a:t>method is needed. </a:t>
            </a:r>
          </a:p>
          <a:p>
            <a:pPr lvl="1" algn="just">
              <a:buFont typeface="Arial" panose="020B0604020202020204" pitchFamily="34" charset="0"/>
              <a:buChar char="•"/>
            </a:pPr>
            <a:r>
              <a:rPr lang="en-IN" sz="2000" dirty="0"/>
              <a:t>This method is what React calls when it needs to display the component in the UI.</a:t>
            </a:r>
          </a:p>
          <a:p>
            <a:pPr lvl="1" algn="just">
              <a:buFont typeface="Arial" panose="020B0604020202020204" pitchFamily="34" charset="0"/>
              <a:buChar char="•"/>
            </a:pPr>
            <a:r>
              <a:rPr lang="en-IN" sz="2000" dirty="0"/>
              <a:t>There are other methods with special meaning to React that can be implemented, called the </a:t>
            </a:r>
            <a:r>
              <a:rPr lang="en-IN" sz="2000" dirty="0">
                <a:solidFill>
                  <a:srgbClr val="FF0000"/>
                </a:solidFill>
              </a:rPr>
              <a:t>Lifecycle methods</a:t>
            </a:r>
            <a:r>
              <a:rPr lang="en-IN" sz="2000" dirty="0"/>
              <a:t>. - These provide hooks into various stages of the component formation and other events.</a:t>
            </a:r>
          </a:p>
          <a:p>
            <a:pPr lvl="1" algn="just">
              <a:buFont typeface="Arial" panose="020B0604020202020204" pitchFamily="34" charset="0"/>
              <a:buChar char="•"/>
            </a:pPr>
            <a:r>
              <a:rPr lang="en-IN" sz="2000" dirty="0"/>
              <a:t>The render() function is supposed to return an element (which can be either a native HTML element such as &lt;div&gt; or an instance of another React component).</a:t>
            </a:r>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94014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CB7E2-E122-948C-A465-E461A722571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B42F11E-9EB4-8701-7260-BEAFD61AD36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Hello world example modified</a:t>
            </a:r>
          </a:p>
          <a:p>
            <a:pPr lvl="2">
              <a:buFont typeface="Arial" panose="020B0604020202020204" pitchFamily="34" charset="0"/>
              <a:buChar char="•"/>
            </a:pPr>
            <a:r>
              <a:rPr lang="en-US" sz="2000" dirty="0"/>
              <a:t>...</a:t>
            </a:r>
          </a:p>
          <a:p>
            <a:pPr lvl="2">
              <a:buFont typeface="Arial" panose="020B0604020202020204" pitchFamily="34" charset="0"/>
              <a:buChar char="•"/>
            </a:pPr>
            <a:r>
              <a:rPr lang="en-US" sz="2000" dirty="0"/>
              <a:t>class </a:t>
            </a:r>
            <a:r>
              <a:rPr lang="en-US" sz="2000" dirty="0">
                <a:solidFill>
                  <a:srgbClr val="FF0000"/>
                </a:solidFill>
              </a:rPr>
              <a:t>HelloWorld</a:t>
            </a:r>
            <a:r>
              <a:rPr lang="en-US" sz="2000" dirty="0"/>
              <a:t> extends </a:t>
            </a:r>
            <a:r>
              <a:rPr lang="en-US" sz="2000" dirty="0" err="1"/>
              <a:t>React.Component</a:t>
            </a:r>
            <a:r>
              <a:rPr lang="en-US" sz="2000" dirty="0"/>
              <a:t> {</a:t>
            </a:r>
          </a:p>
          <a:p>
            <a:pPr lvl="2">
              <a:buFont typeface="Arial" panose="020B0604020202020204" pitchFamily="34" charset="0"/>
              <a:buChar char="•"/>
            </a:pPr>
            <a:r>
              <a:rPr lang="en-US" sz="2000" dirty="0"/>
              <a:t>...</a:t>
            </a:r>
          </a:p>
          <a:p>
            <a:pPr lvl="2">
              <a:buFont typeface="Arial" panose="020B0604020202020204" pitchFamily="34" charset="0"/>
              <a:buChar char="•"/>
            </a:pPr>
            <a:r>
              <a:rPr lang="en-US" sz="2000" dirty="0"/>
              <a:t>}</a:t>
            </a:r>
          </a:p>
          <a:p>
            <a:pPr lvl="2">
              <a:buFont typeface="Arial" panose="020B0604020202020204" pitchFamily="34" charset="0"/>
              <a:buChar char="•"/>
            </a:pPr>
            <a:r>
              <a:rPr lang="en-US" sz="2000" dirty="0"/>
              <a:t>..</a:t>
            </a:r>
            <a:endParaRPr lang="en-IN" sz="2000" dirty="0"/>
          </a:p>
          <a:p>
            <a:pPr>
              <a:buFont typeface="Arial" panose="020B0604020202020204" pitchFamily="34" charset="0"/>
              <a:buChar char="•"/>
            </a:pPr>
            <a:r>
              <a:rPr lang="en-IN" dirty="0"/>
              <a:t>Now, within this class, a render() method is needed, which should return an element. We’ll use the same JSX with the message as the returned element.</a:t>
            </a:r>
          </a:p>
          <a:p>
            <a:pPr marL="384048" lvl="2" indent="0">
              <a:buNone/>
            </a:pPr>
            <a:r>
              <a:rPr lang="en-US" sz="1800" dirty="0"/>
              <a:t>...</a:t>
            </a:r>
          </a:p>
          <a:p>
            <a:pPr marL="384048" lvl="2" indent="0">
              <a:buNone/>
            </a:pPr>
            <a:r>
              <a:rPr lang="en-US" sz="1800" dirty="0"/>
              <a:t>render() {</a:t>
            </a:r>
          </a:p>
          <a:p>
            <a:pPr marL="384048" lvl="2" indent="0">
              <a:buNone/>
            </a:pPr>
            <a:r>
              <a:rPr lang="en-US" sz="1800" dirty="0"/>
              <a:t>	return (</a:t>
            </a:r>
          </a:p>
          <a:p>
            <a:pPr marL="384048" lvl="2" indent="0">
              <a:buNone/>
            </a:pPr>
            <a:r>
              <a:rPr lang="en-US" sz="1800" dirty="0"/>
              <a:t>		&lt;div title="Outer div"&gt;</a:t>
            </a:r>
          </a:p>
          <a:p>
            <a:pPr marL="384048" lvl="2" indent="0">
              <a:buNone/>
            </a:pPr>
            <a:r>
              <a:rPr lang="en-US" sz="1800" dirty="0"/>
              <a:t>		&lt;h1&gt;{message}&lt;/h1&gt;</a:t>
            </a:r>
          </a:p>
          <a:p>
            <a:pPr marL="384048" lvl="2" indent="0">
              <a:buNone/>
            </a:pPr>
            <a:r>
              <a:rPr lang="en-US" sz="1800" dirty="0"/>
              <a:t>		&lt;/div&gt;</a:t>
            </a:r>
          </a:p>
          <a:p>
            <a:pPr marL="384048" lvl="2" indent="0">
              <a:buNone/>
            </a:pPr>
            <a:r>
              <a:rPr lang="en-US" sz="1800" dirty="0"/>
              <a:t>	);</a:t>
            </a:r>
          </a:p>
          <a:p>
            <a:pPr marL="384048" lvl="2" indent="0">
              <a:buNone/>
            </a:pPr>
            <a:r>
              <a:rPr lang="en-US" sz="1800" dirty="0"/>
              <a: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927699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740E3-261E-7320-4F29-B1CCEEB4730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E95FFA3-6D40-B03F-DF44-A372F17CD0C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Arial" panose="020B0604020202020204" pitchFamily="34" charset="0"/>
              <a:buChar char="•"/>
            </a:pPr>
            <a:r>
              <a:rPr lang="en-IN" sz="2000" dirty="0"/>
              <a:t>Let’s also move all the code for message construction to within the render() function so that it remains encapsulated within the scope where it is needed rather than polluting the global namespace.</a:t>
            </a:r>
          </a:p>
          <a:p>
            <a:pPr marL="384048" lvl="2" indent="0" algn="just">
              <a:buNone/>
            </a:pPr>
            <a:r>
              <a:rPr lang="en-US" sz="1600" dirty="0"/>
              <a:t>...</a:t>
            </a:r>
          </a:p>
          <a:p>
            <a:pPr marL="384048" lvl="2" indent="0" algn="just">
              <a:buNone/>
            </a:pPr>
            <a:r>
              <a:rPr lang="en-US" sz="1600" dirty="0"/>
              <a:t>render() {</a:t>
            </a:r>
          </a:p>
          <a:p>
            <a:pPr marL="384048" lvl="2" indent="0" algn="just">
              <a:buNone/>
            </a:pPr>
            <a:r>
              <a:rPr lang="en-US" sz="1600" dirty="0"/>
              <a:t>	const continents = ['</a:t>
            </a:r>
            <a:r>
              <a:rPr lang="en-US" sz="1600" dirty="0" err="1"/>
              <a:t>Africa','America','Asia','Australia','Europe</a:t>
            </a:r>
            <a:r>
              <a:rPr lang="en-US" sz="1600" dirty="0"/>
              <a:t>’];</a:t>
            </a:r>
          </a:p>
          <a:p>
            <a:pPr marL="384048" lvl="2" indent="0" algn="just">
              <a:buNone/>
            </a:pPr>
            <a:r>
              <a:rPr lang="en-US" sz="1600" dirty="0"/>
              <a:t>	const </a:t>
            </a:r>
            <a:r>
              <a:rPr lang="en-US" sz="1600" dirty="0" err="1"/>
              <a:t>helloContinents</a:t>
            </a:r>
            <a:r>
              <a:rPr lang="en-US" sz="1600" dirty="0"/>
              <a:t> = </a:t>
            </a:r>
            <a:r>
              <a:rPr lang="en-US" sz="1600" dirty="0" err="1"/>
              <a:t>Array.from</a:t>
            </a:r>
            <a:r>
              <a:rPr lang="en-US" sz="1600" dirty="0"/>
              <a:t>(continents, c =&gt; `Hello ${c}!`);</a:t>
            </a:r>
          </a:p>
          <a:p>
            <a:pPr marL="384048" lvl="2" indent="0" algn="just">
              <a:buNone/>
            </a:pPr>
            <a:r>
              <a:rPr lang="en-US" sz="1600" dirty="0"/>
              <a:t>	const message = </a:t>
            </a:r>
            <a:r>
              <a:rPr lang="en-US" sz="1600" dirty="0" err="1"/>
              <a:t>helloContinents.join</a:t>
            </a:r>
            <a:r>
              <a:rPr lang="en-US" sz="1600" dirty="0"/>
              <a:t>(' ‘);</a:t>
            </a:r>
          </a:p>
          <a:p>
            <a:pPr marL="384048" lvl="2" indent="0" algn="just">
              <a:buNone/>
            </a:pPr>
            <a:r>
              <a:rPr lang="en-US" sz="1600" dirty="0"/>
              <a:t>	return (...</a:t>
            </a:r>
          </a:p>
          <a:p>
            <a:pPr marL="384048" lvl="2" indent="0" algn="just">
              <a:buNone/>
            </a:pPr>
            <a:r>
              <a:rPr lang="en-US" sz="1600" dirty="0"/>
              <a:t>	);</a:t>
            </a:r>
          </a:p>
          <a:p>
            <a:pPr marL="384048" lvl="2" indent="0" algn="just">
              <a:buNone/>
            </a:pPr>
            <a:r>
              <a:rPr lang="en-US" sz="1600" dirty="0"/>
              <a:t>...</a:t>
            </a:r>
          </a:p>
          <a:p>
            <a:pPr algn="just">
              <a:buFont typeface="Arial" panose="020B0604020202020204" pitchFamily="34" charset="0"/>
              <a:buChar char="•"/>
            </a:pPr>
            <a:r>
              <a:rPr lang="en-IN" sz="1800" dirty="0"/>
              <a:t>In essence, the JSX element is now returned from the render() method of the component class called Hello World. </a:t>
            </a:r>
          </a:p>
          <a:p>
            <a:pPr algn="just">
              <a:buFont typeface="Arial" panose="020B0604020202020204" pitchFamily="34" charset="0"/>
              <a:buChar char="•"/>
            </a:pPr>
            <a:r>
              <a:rPr lang="en-IN" sz="1800" dirty="0"/>
              <a:t>The brackets around the JSX representation of the Hello World element are not necessary, but it is a convention that is normally used to make the code more readable, especially when the JSX spans multiple lines.</a:t>
            </a:r>
          </a:p>
        </p:txBody>
      </p:sp>
    </p:spTree>
    <p:extLst>
      <p:ext uri="{BB962C8B-B14F-4D97-AF65-F5344CB8AC3E}">
        <p14:creationId xmlns:p14="http://schemas.microsoft.com/office/powerpoint/2010/main" val="1022573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C579-67A0-4E23-66E2-7C0F7F3E741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12E12DD-AB9E-1401-84BC-57A8E158F7E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Just as an instance of a div element was created using JSX of the form an instance of the HelloWorld class can be created like this:</a:t>
            </a:r>
          </a:p>
          <a:p>
            <a:pPr lvl="1"/>
            <a:r>
              <a:rPr lang="en-US" sz="1800" dirty="0"/>
              <a:t>...</a:t>
            </a:r>
          </a:p>
          <a:p>
            <a:pPr lvl="1"/>
            <a:r>
              <a:rPr lang="en-US" sz="1800" dirty="0"/>
              <a:t>const element = &lt;HelloWorld /&gt;;</a:t>
            </a:r>
          </a:p>
          <a:p>
            <a:pPr lvl="1"/>
            <a:r>
              <a:rPr lang="en-US" sz="1800" dirty="0"/>
              <a:t>...</a:t>
            </a:r>
            <a:endParaRPr lang="en-US" sz="2000" dirty="0"/>
          </a:p>
          <a:p>
            <a:pPr>
              <a:buFont typeface="Arial" panose="020B0604020202020204" pitchFamily="34" charset="0"/>
              <a:buChar char="•"/>
            </a:pPr>
            <a:r>
              <a:rPr lang="en-IN" sz="2000" dirty="0"/>
              <a:t>Now, this element can be used in place of the &lt;div&gt; element to render inside the node called contents, as before.</a:t>
            </a:r>
          </a:p>
          <a:p>
            <a:pPr>
              <a:buFont typeface="Arial" panose="020B0604020202020204" pitchFamily="34" charset="0"/>
              <a:buChar char="•"/>
            </a:pPr>
            <a:r>
              <a:rPr lang="en-IN" sz="2000" dirty="0"/>
              <a:t>It’s worth noting here that </a:t>
            </a:r>
            <a:r>
              <a:rPr lang="en-IN" sz="2000" dirty="0">
                <a:solidFill>
                  <a:srgbClr val="FF0000"/>
                </a:solidFill>
              </a:rPr>
              <a:t>div</a:t>
            </a:r>
            <a:r>
              <a:rPr lang="en-IN" sz="2000" dirty="0"/>
              <a:t> and </a:t>
            </a:r>
            <a:r>
              <a:rPr lang="en-IN" sz="2000" dirty="0">
                <a:solidFill>
                  <a:srgbClr val="FF0000"/>
                </a:solidFill>
              </a:rPr>
              <a:t>h1</a:t>
            </a:r>
            <a:r>
              <a:rPr lang="en-IN" sz="2000" dirty="0"/>
              <a:t> are built-in internal React components or elements that could be directly instantiated. Whereas HelloWorld is something that we defined and later instantiated. </a:t>
            </a:r>
            <a:endParaRPr lang="en-US" sz="2000" dirty="0"/>
          </a:p>
          <a:p>
            <a:pPr>
              <a:buFont typeface="Arial" panose="020B0604020202020204" pitchFamily="34" charset="0"/>
              <a:buChar char="•"/>
            </a:pPr>
            <a:endParaRPr lang="en-US" sz="2200" dirty="0"/>
          </a:p>
          <a:p>
            <a:pPr>
              <a:buFont typeface="Arial" panose="020B0604020202020204" pitchFamily="34" charset="0"/>
              <a:buChar char="•"/>
            </a:pPr>
            <a:endParaRPr lang="en-US" sz="2200" dirty="0"/>
          </a:p>
          <a:p>
            <a:pPr>
              <a:buFont typeface="Arial" panose="020B0604020202020204" pitchFamily="34" charset="0"/>
              <a:buChar char="•"/>
            </a:pPr>
            <a:endParaRPr lang="en-US" sz="2200" dirty="0"/>
          </a:p>
          <a:p>
            <a:pPr>
              <a:buFont typeface="Arial" panose="020B0604020202020204" pitchFamily="34" charset="0"/>
              <a:buChar char="•"/>
            </a:pPr>
            <a:endParaRPr lang="en-US" sz="22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522766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5EC94-5D73-3634-BF7C-EC3D2EC7C7A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F3A79E9-EF56-F87A-61F2-3FAEBDE9DF5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dirty="0" err="1"/>
              <a:t>App.jsx</a:t>
            </a:r>
            <a:r>
              <a:rPr lang="en-IN" sz="2400" dirty="0"/>
              <a:t>: A Simple React Class and Instance</a:t>
            </a:r>
          </a:p>
          <a:p>
            <a:pPr marL="384048" lvl="2" indent="0">
              <a:buNone/>
            </a:pPr>
            <a:r>
              <a:rPr lang="en-US" sz="1800" dirty="0"/>
              <a:t>class HelloWorld extends </a:t>
            </a:r>
            <a:r>
              <a:rPr lang="en-US" sz="1800" dirty="0" err="1"/>
              <a:t>React.Component</a:t>
            </a:r>
            <a:r>
              <a:rPr lang="en-US" sz="1800" dirty="0"/>
              <a:t> {</a:t>
            </a:r>
          </a:p>
          <a:p>
            <a:pPr marL="384048" lvl="2" indent="0">
              <a:buNone/>
            </a:pPr>
            <a:r>
              <a:rPr lang="en-US" sz="1800" dirty="0"/>
              <a:t>	render() {</a:t>
            </a:r>
          </a:p>
          <a:p>
            <a:pPr marL="384048" lvl="2" indent="0">
              <a:buNone/>
            </a:pPr>
            <a:r>
              <a:rPr lang="en-US" sz="1800" dirty="0"/>
              <a:t>		const continents = ['</a:t>
            </a:r>
            <a:r>
              <a:rPr lang="en-US" sz="1800" dirty="0" err="1"/>
              <a:t>Africa','America','Asia','Australia','Europe</a:t>
            </a:r>
            <a:r>
              <a:rPr lang="en-US" sz="1800" dirty="0"/>
              <a:t>’];</a:t>
            </a:r>
          </a:p>
          <a:p>
            <a:pPr marL="384048" lvl="2" indent="0">
              <a:buNone/>
            </a:pPr>
            <a:r>
              <a:rPr lang="en-US" sz="1800" dirty="0"/>
              <a:t>		const </a:t>
            </a:r>
            <a:r>
              <a:rPr lang="en-US" sz="1800" dirty="0" err="1"/>
              <a:t>helloContinents</a:t>
            </a:r>
            <a:r>
              <a:rPr lang="en-US" sz="1800" dirty="0"/>
              <a:t> = </a:t>
            </a:r>
            <a:r>
              <a:rPr lang="en-US" sz="1800" dirty="0" err="1"/>
              <a:t>Array.from</a:t>
            </a:r>
            <a:r>
              <a:rPr lang="en-US" sz="1800" dirty="0"/>
              <a:t>(continents, c =&gt; `Hello ${c}!`);</a:t>
            </a:r>
          </a:p>
          <a:p>
            <a:pPr marL="384048" lvl="2" indent="0">
              <a:buNone/>
            </a:pPr>
            <a:r>
              <a:rPr lang="en-US" sz="1800" dirty="0"/>
              <a:t>		const message = </a:t>
            </a:r>
            <a:r>
              <a:rPr lang="en-US" sz="1800" dirty="0" err="1"/>
              <a:t>helloContinents.join</a:t>
            </a:r>
            <a:r>
              <a:rPr lang="en-US" sz="1800" dirty="0"/>
              <a:t>(' ‘);</a:t>
            </a:r>
          </a:p>
          <a:p>
            <a:pPr marL="384048" lvl="2" indent="0">
              <a:buNone/>
            </a:pPr>
            <a:r>
              <a:rPr lang="en-US" sz="1800" dirty="0"/>
              <a:t>		return (</a:t>
            </a:r>
          </a:p>
          <a:p>
            <a:pPr marL="384048" lvl="2" indent="0">
              <a:buNone/>
            </a:pPr>
            <a:r>
              <a:rPr lang="en-US" sz="1800" dirty="0"/>
              <a:t>			&lt;div title="Outer div"&gt;		</a:t>
            </a:r>
          </a:p>
          <a:p>
            <a:pPr marL="384048" lvl="2" indent="0">
              <a:buNone/>
            </a:pPr>
            <a:r>
              <a:rPr lang="en-US" sz="1800" dirty="0"/>
              <a:t>			&lt;h1&gt;{message}&lt;/h1&gt;</a:t>
            </a:r>
          </a:p>
          <a:p>
            <a:pPr marL="384048" lvl="2" indent="0">
              <a:buNone/>
            </a:pPr>
            <a:r>
              <a:rPr lang="en-US" sz="1800" dirty="0"/>
              <a:t>			&lt;/div&gt;</a:t>
            </a:r>
          </a:p>
          <a:p>
            <a:pPr marL="384048" lvl="2" indent="0">
              <a:buNone/>
            </a:pPr>
            <a:r>
              <a:rPr lang="en-US" sz="1800" dirty="0"/>
              <a:t>		);</a:t>
            </a:r>
          </a:p>
          <a:p>
            <a:pPr marL="384048" lvl="2" indent="0">
              <a:buNone/>
            </a:pPr>
            <a:r>
              <a:rPr lang="en-US" sz="1800" dirty="0"/>
              <a:t>	}</a:t>
            </a:r>
          </a:p>
          <a:p>
            <a:pPr marL="384048" lvl="2" indent="0">
              <a:buNone/>
            </a:pPr>
            <a:r>
              <a:rPr lang="en-US" sz="1800" dirty="0"/>
              <a:t>}</a:t>
            </a:r>
          </a:p>
          <a:p>
            <a:pPr marL="384048" lvl="2" indent="0">
              <a:buNone/>
            </a:pPr>
            <a:r>
              <a:rPr lang="en-US" sz="1800" dirty="0"/>
              <a:t>const element = &lt;HelloWorld /&gt;;</a:t>
            </a:r>
          </a:p>
          <a:p>
            <a:pPr marL="384048" lvl="2" indent="0">
              <a:buNone/>
            </a:pPr>
            <a:r>
              <a:rPr lang="en-US" sz="1800" dirty="0" err="1"/>
              <a:t>ReactDOM.render</a:t>
            </a:r>
            <a:r>
              <a:rPr lang="en-US" sz="1800" dirty="0"/>
              <a:t>(element, </a:t>
            </a:r>
            <a:r>
              <a:rPr lang="en-US" sz="1800" dirty="0" err="1"/>
              <a:t>document.getElementById</a:t>
            </a:r>
            <a:r>
              <a:rPr lang="en-US" sz="1800" dirty="0"/>
              <a:t>('contents'));</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999524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8F91-670C-F788-606F-8F37334E07C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FB56069-AF19-4061-BDC8-D06C60D70693}"/>
              </a:ext>
            </a:extLst>
          </p:cNvPr>
          <p:cNvSpPr txBox="1">
            <a:spLocks/>
          </p:cNvSpPr>
          <p:nvPr/>
        </p:nvSpPr>
        <p:spPr>
          <a:xfrm>
            <a:off x="159392" y="343949"/>
            <a:ext cx="6182686"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000" dirty="0"/>
              <a:t>Example:</a:t>
            </a:r>
          </a:p>
          <a:p>
            <a:pPr lvl="1"/>
            <a:r>
              <a:rPr lang="en-US" sz="2000" dirty="0" err="1"/>
              <a:t>App.jsx</a:t>
            </a:r>
            <a:endParaRPr lang="en-US" sz="2000" dirty="0"/>
          </a:p>
          <a:p>
            <a:pPr lvl="3"/>
            <a:r>
              <a:rPr lang="en-US" sz="1400" dirty="0"/>
              <a:t>class HelloWorld extends </a:t>
            </a:r>
            <a:r>
              <a:rPr lang="en-US" sz="1400" dirty="0" err="1"/>
              <a:t>React.Component</a:t>
            </a:r>
            <a:r>
              <a:rPr lang="en-US" sz="1400" dirty="0"/>
              <a:t> {</a:t>
            </a:r>
          </a:p>
          <a:p>
            <a:pPr lvl="3"/>
            <a:r>
              <a:rPr lang="en-IN" sz="1400" dirty="0"/>
              <a:t>    render() {</a:t>
            </a:r>
          </a:p>
          <a:p>
            <a:pPr lvl="3"/>
            <a:r>
              <a:rPr lang="en-IN" sz="1400" dirty="0"/>
              <a:t>        </a:t>
            </a:r>
            <a:r>
              <a:rPr lang="en-IN" sz="1400" dirty="0" err="1"/>
              <a:t>const</a:t>
            </a:r>
            <a:r>
              <a:rPr lang="en-IN" sz="1400" dirty="0"/>
              <a:t> continents = ['Africa', 'America', 'Asia', 'Australia', 'Europe'];</a:t>
            </a:r>
          </a:p>
          <a:p>
            <a:pPr lvl="3"/>
            <a:r>
              <a:rPr lang="en-IN" sz="1400" dirty="0"/>
              <a:t>        </a:t>
            </a:r>
            <a:r>
              <a:rPr lang="en-IN" sz="1400" dirty="0" err="1"/>
              <a:t>const</a:t>
            </a:r>
            <a:r>
              <a:rPr lang="en-IN" sz="1400" dirty="0"/>
              <a:t> </a:t>
            </a:r>
            <a:r>
              <a:rPr lang="en-IN" sz="1400" dirty="0" err="1"/>
              <a:t>helloContinents</a:t>
            </a:r>
            <a:r>
              <a:rPr lang="en-IN" sz="1400" dirty="0"/>
              <a:t> = </a:t>
            </a:r>
            <a:r>
              <a:rPr lang="en-IN" sz="1400" dirty="0" err="1"/>
              <a:t>continents.map</a:t>
            </a:r>
            <a:r>
              <a:rPr lang="en-IN" sz="1400" dirty="0"/>
              <a:t>(c =&gt; `Hello ${c}!`);</a:t>
            </a:r>
          </a:p>
          <a:p>
            <a:pPr lvl="3"/>
            <a:r>
              <a:rPr lang="en-IN" sz="1400" dirty="0"/>
              <a:t>        </a:t>
            </a:r>
            <a:r>
              <a:rPr lang="en-IN" sz="1400" dirty="0" err="1"/>
              <a:t>const</a:t>
            </a:r>
            <a:r>
              <a:rPr lang="en-IN" sz="1400" dirty="0"/>
              <a:t> message = </a:t>
            </a:r>
            <a:r>
              <a:rPr lang="en-IN" sz="1400" dirty="0" err="1"/>
              <a:t>helloContinents.join</a:t>
            </a:r>
            <a:r>
              <a:rPr lang="en-IN" sz="1400" dirty="0"/>
              <a:t>(' ');</a:t>
            </a:r>
          </a:p>
          <a:p>
            <a:pPr lvl="3"/>
            <a:r>
              <a:rPr lang="en-IN" sz="1400" dirty="0"/>
              <a:t>        return (</a:t>
            </a:r>
          </a:p>
          <a:p>
            <a:pPr lvl="3"/>
            <a:r>
              <a:rPr lang="en-IN" sz="1400" dirty="0"/>
              <a:t>            &lt;div title="Outer div"&gt;</a:t>
            </a:r>
          </a:p>
          <a:p>
            <a:pPr lvl="3"/>
            <a:r>
              <a:rPr lang="en-IN" sz="1400" dirty="0"/>
              <a:t>                &lt;h1&gt;{message}&lt;/h1&gt;</a:t>
            </a:r>
          </a:p>
          <a:p>
            <a:pPr lvl="3"/>
            <a:r>
              <a:rPr lang="en-IN" sz="1400" dirty="0"/>
              <a:t>            &lt;/div&gt;</a:t>
            </a:r>
          </a:p>
          <a:p>
            <a:pPr lvl="3"/>
            <a:r>
              <a:rPr lang="en-IN" sz="1400" dirty="0"/>
              <a:t>        );</a:t>
            </a:r>
          </a:p>
          <a:p>
            <a:pPr lvl="3"/>
            <a:r>
              <a:rPr lang="en-IN" sz="1400" dirty="0"/>
              <a:t>    }</a:t>
            </a:r>
          </a:p>
          <a:p>
            <a:pPr lvl="3"/>
            <a:r>
              <a:rPr lang="en-IN" sz="1400" dirty="0"/>
              <a:t>}</a:t>
            </a:r>
          </a:p>
          <a:p>
            <a:pPr lvl="3"/>
            <a:r>
              <a:rPr lang="en-IN" sz="1400" dirty="0" err="1"/>
              <a:t>const</a:t>
            </a:r>
            <a:r>
              <a:rPr lang="en-IN" sz="1400" dirty="0"/>
              <a:t> element = &lt;HelloWorld /&gt;;</a:t>
            </a:r>
          </a:p>
          <a:p>
            <a:pPr lvl="3"/>
            <a:r>
              <a:rPr lang="en-IN" sz="1400" dirty="0" err="1"/>
              <a:t>ReactDOM.render</a:t>
            </a:r>
            <a:r>
              <a:rPr lang="en-IN" sz="1400" dirty="0"/>
              <a:t>(element, </a:t>
            </a:r>
            <a:r>
              <a:rPr lang="en-IN" sz="1400" dirty="0" err="1"/>
              <a:t>document.getElementById</a:t>
            </a:r>
            <a:r>
              <a:rPr lang="en-IN" sz="1400" dirty="0"/>
              <a:t>('contents')</a:t>
            </a:r>
          </a:p>
          <a:p>
            <a:pPr lvl="3"/>
            <a:r>
              <a:rPr lang="en-IN" sz="1400" dirty="0"/>
              <a:t>);</a:t>
            </a:r>
            <a:endParaRPr lang="en-US" sz="1600" dirty="0"/>
          </a:p>
          <a:p>
            <a:pPr marL="658368" lvl="3" indent="0">
              <a:buNone/>
            </a:pPr>
            <a:endParaRPr lang="en-IN" dirty="0"/>
          </a:p>
        </p:txBody>
      </p:sp>
      <p:sp>
        <p:nvSpPr>
          <p:cNvPr id="2" name="TextBox 1">
            <a:extLst>
              <a:ext uri="{FF2B5EF4-FFF2-40B4-BE49-F238E27FC236}">
                <a16:creationId xmlns:a16="http://schemas.microsoft.com/office/drawing/2014/main" id="{60BE1F6B-08BD-5F39-EFA8-37D3A3A2552A}"/>
              </a:ext>
            </a:extLst>
          </p:cNvPr>
          <p:cNvSpPr txBox="1"/>
          <p:nvPr/>
        </p:nvSpPr>
        <p:spPr>
          <a:xfrm>
            <a:off x="6602136" y="511728"/>
            <a:ext cx="5066950" cy="3108543"/>
          </a:xfrm>
          <a:prstGeom prst="rect">
            <a:avLst/>
          </a:prstGeom>
          <a:noFill/>
        </p:spPr>
        <p:txBody>
          <a:bodyPr wrap="square" rtlCol="0">
            <a:spAutoFit/>
          </a:bodyPr>
          <a:lstStyle/>
          <a:p>
            <a:pPr marL="285750" indent="-285750">
              <a:buFont typeface="Arial" panose="020B0604020202020204" pitchFamily="34" charset="0"/>
              <a:buChar char="•"/>
            </a:pPr>
            <a:r>
              <a:rPr lang="en-IN" dirty="0"/>
              <a:t>Server.js</a:t>
            </a:r>
          </a:p>
          <a:p>
            <a:pPr marL="742950" lvl="1" indent="-285750">
              <a:buFont typeface="Arial" panose="020B0604020202020204" pitchFamily="34" charset="0"/>
              <a:buChar char="•"/>
            </a:pPr>
            <a:r>
              <a:rPr lang="en-IN" sz="1600" dirty="0" err="1"/>
              <a:t>const</a:t>
            </a:r>
            <a:r>
              <a:rPr lang="en-IN" sz="1600" dirty="0"/>
              <a:t> express = require('</a:t>
            </a:r>
            <a:r>
              <a:rPr lang="en-IN" sz="1600" dirty="0" err="1"/>
              <a:t>express'</a:t>
            </a:r>
            <a:r>
              <a:rPr lang="en-IN" sz="1600" dirty="0"/>
              <a:t>);</a:t>
            </a:r>
          </a:p>
          <a:p>
            <a:pPr marL="742950" lvl="1" indent="-285750">
              <a:buFont typeface="Arial" panose="020B0604020202020204" pitchFamily="34" charset="0"/>
              <a:buChar char="•"/>
            </a:pPr>
            <a:r>
              <a:rPr lang="en-IN" sz="1600" dirty="0" err="1"/>
              <a:t>const</a:t>
            </a:r>
            <a:r>
              <a:rPr lang="en-IN" sz="1600" dirty="0"/>
              <a:t> path = require('path');</a:t>
            </a:r>
          </a:p>
          <a:p>
            <a:pPr marL="742950" lvl="1" indent="-285750">
              <a:buFont typeface="Arial" panose="020B0604020202020204" pitchFamily="34" charset="0"/>
              <a:buChar char="•"/>
            </a:pPr>
            <a:endParaRPr lang="en-IN" sz="1600" dirty="0"/>
          </a:p>
          <a:p>
            <a:pPr marL="742950" lvl="1" indent="-285750">
              <a:buFont typeface="Arial" panose="020B0604020202020204" pitchFamily="34" charset="0"/>
              <a:buChar char="•"/>
            </a:pPr>
            <a:r>
              <a:rPr lang="en-IN" sz="1600" dirty="0" err="1"/>
              <a:t>const</a:t>
            </a:r>
            <a:r>
              <a:rPr lang="en-IN" sz="1600" dirty="0"/>
              <a:t> app = express();</a:t>
            </a:r>
          </a:p>
          <a:p>
            <a:pPr marL="742950" lvl="1" indent="-285750">
              <a:buFont typeface="Arial" panose="020B0604020202020204" pitchFamily="34" charset="0"/>
              <a:buChar char="•"/>
            </a:pPr>
            <a:endParaRPr lang="en-IN" sz="1600" dirty="0"/>
          </a:p>
          <a:p>
            <a:pPr marL="742950" lvl="1" indent="-285750">
              <a:buFont typeface="Arial" panose="020B0604020202020204" pitchFamily="34" charset="0"/>
              <a:buChar char="•"/>
            </a:pPr>
            <a:r>
              <a:rPr lang="en-US" sz="1600" dirty="0" err="1"/>
              <a:t>app.use</a:t>
            </a:r>
            <a:r>
              <a:rPr lang="en-US" sz="1600" dirty="0"/>
              <a:t>(</a:t>
            </a:r>
            <a:r>
              <a:rPr lang="en-US" sz="1600" dirty="0" err="1"/>
              <a:t>express.static</a:t>
            </a:r>
            <a:r>
              <a:rPr lang="en-US" sz="1600" dirty="0"/>
              <a:t>(</a:t>
            </a:r>
            <a:r>
              <a:rPr lang="en-US" sz="1600" dirty="0" err="1"/>
              <a:t>path.join</a:t>
            </a:r>
            <a:r>
              <a:rPr lang="en-US" sz="1600" dirty="0"/>
              <a:t>(__</a:t>
            </a:r>
            <a:r>
              <a:rPr lang="en-US" sz="1600" dirty="0" err="1"/>
              <a:t>dirname</a:t>
            </a:r>
            <a:r>
              <a:rPr lang="en-US" sz="1600" dirty="0"/>
              <a:t>, '..')));</a:t>
            </a:r>
          </a:p>
          <a:p>
            <a:pPr marL="742950" lvl="1" indent="-285750">
              <a:buFont typeface="Arial" panose="020B0604020202020204" pitchFamily="34" charset="0"/>
              <a:buChar char="•"/>
            </a:pPr>
            <a:endParaRPr lang="en-IN" sz="1600" dirty="0"/>
          </a:p>
          <a:p>
            <a:pPr marL="742950" lvl="1" indent="-285750">
              <a:buFont typeface="Arial" panose="020B0604020202020204" pitchFamily="34" charset="0"/>
              <a:buChar char="•"/>
            </a:pPr>
            <a:r>
              <a:rPr lang="en-IN" sz="1600" dirty="0" err="1"/>
              <a:t>app.listen</a:t>
            </a:r>
            <a:r>
              <a:rPr lang="en-IN" sz="1600" dirty="0"/>
              <a:t>(3000, function () {</a:t>
            </a:r>
          </a:p>
          <a:p>
            <a:pPr marL="742950" lvl="1" indent="-285750">
              <a:buFont typeface="Arial" panose="020B0604020202020204" pitchFamily="34" charset="0"/>
              <a:buChar char="•"/>
            </a:pPr>
            <a:r>
              <a:rPr lang="en-US" sz="1600" dirty="0"/>
              <a:t>    console.log('App started on port 3000');</a:t>
            </a:r>
          </a:p>
          <a:p>
            <a:pPr marL="742950" lvl="1" indent="-285750">
              <a:buFont typeface="Arial" panose="020B0604020202020204" pitchFamily="34" charset="0"/>
              <a:buChar char="•"/>
            </a:pPr>
            <a:r>
              <a:rPr lang="en-IN" sz="1600" dirty="0"/>
              <a:t>});</a:t>
            </a:r>
          </a:p>
        </p:txBody>
      </p:sp>
    </p:spTree>
    <p:extLst>
      <p:ext uri="{BB962C8B-B14F-4D97-AF65-F5344CB8AC3E}">
        <p14:creationId xmlns:p14="http://schemas.microsoft.com/office/powerpoint/2010/main" val="2014208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8D31-F49B-5484-48D6-EA4F790A844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74F1F42-6F1B-0803-95ED-614039D5BC70}"/>
              </a:ext>
            </a:extLst>
          </p:cNvPr>
          <p:cNvSpPr txBox="1">
            <a:spLocks/>
          </p:cNvSpPr>
          <p:nvPr/>
        </p:nvSpPr>
        <p:spPr>
          <a:xfrm>
            <a:off x="360728" y="343949"/>
            <a:ext cx="6165908"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Index.html</a:t>
            </a:r>
          </a:p>
          <a:p>
            <a:pPr lvl="1"/>
            <a:r>
              <a:rPr lang="en-IN" sz="1400" dirty="0"/>
              <a:t>&lt;!DOCTYPE HTML&gt;</a:t>
            </a:r>
          </a:p>
          <a:p>
            <a:pPr lvl="1"/>
            <a:r>
              <a:rPr lang="en-IN" sz="1400" dirty="0"/>
              <a:t>&lt;html&gt;</a:t>
            </a:r>
          </a:p>
          <a:p>
            <a:pPr lvl="1"/>
            <a:r>
              <a:rPr lang="en-IN" sz="1400" dirty="0"/>
              <a:t>&lt;head&gt;</a:t>
            </a:r>
          </a:p>
          <a:p>
            <a:pPr lvl="1"/>
            <a:r>
              <a:rPr lang="en-IN" sz="1400" dirty="0"/>
              <a:t>    &lt;meta charset="utf-8"&gt;</a:t>
            </a:r>
          </a:p>
          <a:p>
            <a:pPr lvl="1"/>
            <a:r>
              <a:rPr lang="en-US" sz="1400" dirty="0"/>
              <a:t>    &lt;title&gt;React Class Example&lt;/title&gt;</a:t>
            </a:r>
          </a:p>
          <a:p>
            <a:pPr lvl="1"/>
            <a:r>
              <a:rPr lang="en-IN" sz="1400" dirty="0"/>
              <a:t>    &lt;script </a:t>
            </a:r>
            <a:r>
              <a:rPr lang="en-IN" sz="1400" dirty="0" err="1"/>
              <a:t>src</a:t>
            </a:r>
            <a:r>
              <a:rPr lang="en-IN" sz="1400" dirty="0"/>
              <a:t>="https://unpkg.com/react@16/</a:t>
            </a:r>
            <a:r>
              <a:rPr lang="en-IN" sz="1400" dirty="0" err="1"/>
              <a:t>umd</a:t>
            </a:r>
            <a:r>
              <a:rPr lang="en-IN" sz="1400" dirty="0"/>
              <a:t>/react.development.js"&gt;&lt;/script&gt;</a:t>
            </a:r>
          </a:p>
          <a:p>
            <a:pPr lvl="1"/>
            <a:r>
              <a:rPr lang="en-IN" sz="1400" dirty="0"/>
              <a:t>    &lt;script </a:t>
            </a:r>
            <a:r>
              <a:rPr lang="en-IN" sz="1400" dirty="0" err="1"/>
              <a:t>src</a:t>
            </a:r>
            <a:r>
              <a:rPr lang="en-IN" sz="1400" dirty="0"/>
              <a:t>="https://unpkg.com/react-dom@16/</a:t>
            </a:r>
            <a:r>
              <a:rPr lang="en-IN" sz="1400" dirty="0" err="1"/>
              <a:t>umd</a:t>
            </a:r>
            <a:r>
              <a:rPr lang="en-IN" sz="1400" dirty="0"/>
              <a:t>/react-dom.development.js"&gt;&lt;/script&gt;</a:t>
            </a:r>
          </a:p>
          <a:p>
            <a:pPr lvl="1"/>
            <a:r>
              <a:rPr lang="en-IN" sz="1400" dirty="0"/>
              <a:t>&lt;/head&gt;</a:t>
            </a:r>
          </a:p>
          <a:p>
            <a:pPr lvl="1"/>
            <a:endParaRPr lang="en-IN" sz="1400" dirty="0"/>
          </a:p>
          <a:p>
            <a:pPr lvl="1"/>
            <a:r>
              <a:rPr lang="en-IN" sz="1400" dirty="0"/>
              <a:t>&lt;body&gt;</a:t>
            </a:r>
          </a:p>
          <a:p>
            <a:pPr lvl="1"/>
            <a:r>
              <a:rPr lang="en-IN" sz="1400" dirty="0"/>
              <a:t>    &lt;div id="contents"&gt;&lt;/div&gt;</a:t>
            </a:r>
          </a:p>
          <a:p>
            <a:pPr lvl="1"/>
            <a:r>
              <a:rPr lang="en-IN" sz="1400" dirty="0"/>
              <a:t>    &lt;script </a:t>
            </a:r>
            <a:r>
              <a:rPr lang="en-IN" sz="1400" dirty="0" err="1"/>
              <a:t>src</a:t>
            </a:r>
            <a:r>
              <a:rPr lang="en-IN" sz="1400" dirty="0"/>
              <a:t>="/public/App.js"&gt;&lt;/script&gt;</a:t>
            </a:r>
          </a:p>
          <a:p>
            <a:pPr lvl="1"/>
            <a:r>
              <a:rPr lang="en-IN" sz="1400" dirty="0"/>
              <a:t>&lt;/body&gt;</a:t>
            </a:r>
          </a:p>
          <a:p>
            <a:pPr lvl="1"/>
            <a:r>
              <a:rPr lang="en-IN" sz="1400" dirty="0"/>
              <a:t>&lt;/html&gt;</a:t>
            </a:r>
            <a:endParaRPr lang="en-IN" sz="4800" b="1" dirty="0"/>
          </a:p>
        </p:txBody>
      </p:sp>
      <p:sp>
        <p:nvSpPr>
          <p:cNvPr id="2" name="TextBox 1">
            <a:extLst>
              <a:ext uri="{FF2B5EF4-FFF2-40B4-BE49-F238E27FC236}">
                <a16:creationId xmlns:a16="http://schemas.microsoft.com/office/drawing/2014/main" id="{A55B8B75-EC1D-BBA6-6672-6CCA59B1997B}"/>
              </a:ext>
            </a:extLst>
          </p:cNvPr>
          <p:cNvSpPr txBox="1"/>
          <p:nvPr/>
        </p:nvSpPr>
        <p:spPr>
          <a:xfrm>
            <a:off x="6837028" y="318782"/>
            <a:ext cx="4714612" cy="3139321"/>
          </a:xfrm>
          <a:prstGeom prst="rect">
            <a:avLst/>
          </a:prstGeom>
          <a:noFill/>
        </p:spPr>
        <p:txBody>
          <a:bodyPr wrap="square" rtlCol="0">
            <a:spAutoFit/>
          </a:bodyPr>
          <a:lstStyle/>
          <a:p>
            <a:pPr marL="285750" indent="-285750">
              <a:buFont typeface="Arial" panose="020B0604020202020204" pitchFamily="34" charset="0"/>
              <a:buChar char="•"/>
            </a:pPr>
            <a:r>
              <a:rPr lang="en-IN" dirty="0" err="1"/>
              <a:t>Babel.config.json</a:t>
            </a:r>
            <a:endParaRPr lang="en-IN" dirty="0"/>
          </a:p>
          <a:p>
            <a:pPr lvl="1"/>
            <a:r>
              <a:rPr lang="en-IN" dirty="0"/>
              <a:t>{</a:t>
            </a:r>
          </a:p>
          <a:p>
            <a:pPr lvl="1"/>
            <a:r>
              <a:rPr lang="en-IN" dirty="0"/>
              <a:t>  "presets": [</a:t>
            </a:r>
          </a:p>
          <a:p>
            <a:pPr lvl="1"/>
            <a:r>
              <a:rPr lang="en-IN" dirty="0"/>
              <a:t>    [</a:t>
            </a:r>
          </a:p>
          <a:p>
            <a:pPr lvl="1"/>
            <a:r>
              <a:rPr lang="en-IN" dirty="0"/>
              <a:t>      "@babel/preset-react",</a:t>
            </a:r>
          </a:p>
          <a:p>
            <a:pPr lvl="1"/>
            <a:r>
              <a:rPr lang="en-IN" dirty="0"/>
              <a:t>      {</a:t>
            </a:r>
          </a:p>
          <a:p>
            <a:pPr lvl="1"/>
            <a:r>
              <a:rPr lang="en-IN" dirty="0"/>
              <a:t>        "runtime": "classic"</a:t>
            </a:r>
          </a:p>
          <a:p>
            <a:pPr lvl="1"/>
            <a:r>
              <a:rPr lang="en-IN" dirty="0"/>
              <a:t>      }</a:t>
            </a:r>
          </a:p>
          <a:p>
            <a:pPr lvl="1"/>
            <a:r>
              <a:rPr lang="en-IN" dirty="0"/>
              <a:t>    ]</a:t>
            </a:r>
          </a:p>
          <a:p>
            <a:pPr lvl="1"/>
            <a:r>
              <a:rPr lang="en-IN" dirty="0"/>
              <a:t>  ]</a:t>
            </a:r>
          </a:p>
          <a:p>
            <a:pPr lvl="1"/>
            <a:r>
              <a:rPr lang="en-IN" dirty="0"/>
              <a:t>}</a:t>
            </a:r>
          </a:p>
        </p:txBody>
      </p:sp>
    </p:spTree>
    <p:extLst>
      <p:ext uri="{BB962C8B-B14F-4D97-AF65-F5344CB8AC3E}">
        <p14:creationId xmlns:p14="http://schemas.microsoft.com/office/powerpoint/2010/main" val="3065304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87CAA-BCB3-37E3-5A3A-486BFDE91D5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3CF382E-90D4-BEF9-01A9-9522EA75CD58}"/>
              </a:ext>
            </a:extLst>
          </p:cNvPr>
          <p:cNvSpPr txBox="1">
            <a:spLocks/>
          </p:cNvSpPr>
          <p:nvPr/>
        </p:nvSpPr>
        <p:spPr>
          <a:xfrm>
            <a:off x="360728" y="100669"/>
            <a:ext cx="5066950" cy="5768424"/>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err="1"/>
              <a:t>Package.json</a:t>
            </a:r>
            <a:endParaRPr lang="en-IN" sz="2400" b="1" dirty="0"/>
          </a:p>
          <a:p>
            <a:pPr lvl="2"/>
            <a:r>
              <a:rPr lang="en-IN" sz="1100" dirty="0"/>
              <a:t>{</a:t>
            </a:r>
          </a:p>
          <a:p>
            <a:pPr lvl="2"/>
            <a:r>
              <a:rPr lang="en-IN" sz="1100" dirty="0"/>
              <a:t>  "name": "program6componentclass",</a:t>
            </a:r>
          </a:p>
          <a:p>
            <a:pPr lvl="2"/>
            <a:r>
              <a:rPr lang="en-IN" sz="1100" dirty="0"/>
              <a:t>  "version": "1.0.0",</a:t>
            </a:r>
          </a:p>
          <a:p>
            <a:pPr lvl="2"/>
            <a:r>
              <a:rPr lang="en-IN" sz="1100" dirty="0"/>
              <a:t>  "description": "",</a:t>
            </a:r>
          </a:p>
          <a:p>
            <a:pPr lvl="2"/>
            <a:r>
              <a:rPr lang="en-IN" sz="1100" dirty="0"/>
              <a:t>  "main": "server/server.js",</a:t>
            </a:r>
          </a:p>
          <a:p>
            <a:pPr lvl="2"/>
            <a:r>
              <a:rPr lang="en-IN" sz="1100" dirty="0"/>
              <a:t>  "scripts": {</a:t>
            </a:r>
          </a:p>
          <a:p>
            <a:pPr lvl="2"/>
            <a:r>
              <a:rPr lang="en-IN" sz="1100" dirty="0"/>
              <a:t>    "start": "</a:t>
            </a:r>
            <a:r>
              <a:rPr lang="en-IN" sz="1100" dirty="0" err="1"/>
              <a:t>nodemon</a:t>
            </a:r>
            <a:r>
              <a:rPr lang="en-IN" sz="1100" dirty="0"/>
              <a:t> -w server server/server.js",</a:t>
            </a:r>
          </a:p>
          <a:p>
            <a:pPr lvl="2"/>
            <a:r>
              <a:rPr lang="en-IN" sz="1100" dirty="0"/>
              <a:t>    "compile": "babel source --out-</a:t>
            </a:r>
            <a:r>
              <a:rPr lang="en-IN" sz="1100" dirty="0" err="1"/>
              <a:t>dir</a:t>
            </a:r>
            <a:r>
              <a:rPr lang="en-IN" sz="1100" dirty="0"/>
              <a:t> public",</a:t>
            </a:r>
          </a:p>
          <a:p>
            <a:pPr lvl="2"/>
            <a:r>
              <a:rPr lang="en-US" sz="1100" dirty="0"/>
              <a:t>    "watch": "babel source --out-</a:t>
            </a:r>
            <a:r>
              <a:rPr lang="en-US" sz="1100" dirty="0" err="1"/>
              <a:t>dir</a:t>
            </a:r>
            <a:r>
              <a:rPr lang="en-US" sz="1100" dirty="0"/>
              <a:t> public --watch --verbose"</a:t>
            </a:r>
          </a:p>
          <a:p>
            <a:pPr lvl="2"/>
            <a:r>
              <a:rPr lang="en-IN" sz="1100" dirty="0"/>
              <a:t>  },</a:t>
            </a:r>
          </a:p>
          <a:p>
            <a:pPr lvl="2"/>
            <a:r>
              <a:rPr lang="en-IN" sz="1100" dirty="0"/>
              <a:t>  "keywords": [],</a:t>
            </a:r>
          </a:p>
          <a:p>
            <a:pPr lvl="2"/>
            <a:r>
              <a:rPr lang="en-IN" sz="1100" dirty="0"/>
              <a:t>  "author": "",</a:t>
            </a:r>
          </a:p>
          <a:p>
            <a:pPr lvl="2"/>
            <a:r>
              <a:rPr lang="en-IN" sz="1100" dirty="0"/>
              <a:t>  "license": "ISC",</a:t>
            </a:r>
          </a:p>
          <a:p>
            <a:pPr lvl="2"/>
            <a:r>
              <a:rPr lang="en-IN" sz="1100" dirty="0"/>
              <a:t>  "type": "</a:t>
            </a:r>
            <a:r>
              <a:rPr lang="en-IN" sz="1100" dirty="0" err="1"/>
              <a:t>commonjs</a:t>
            </a:r>
            <a:r>
              <a:rPr lang="en-IN" sz="1100" dirty="0"/>
              <a:t>",</a:t>
            </a:r>
          </a:p>
          <a:p>
            <a:pPr lvl="2"/>
            <a:r>
              <a:rPr lang="en-IN" sz="1100" dirty="0"/>
              <a:t>  "dependencies": {</a:t>
            </a:r>
          </a:p>
          <a:p>
            <a:pPr lvl="2"/>
            <a:r>
              <a:rPr lang="en-IN" sz="1100" dirty="0"/>
              <a:t>    "express": "^5.2.1"</a:t>
            </a:r>
          </a:p>
          <a:p>
            <a:pPr lvl="2"/>
            <a:r>
              <a:rPr lang="en-IN" sz="1100" dirty="0"/>
              <a:t>  },</a:t>
            </a:r>
          </a:p>
          <a:p>
            <a:pPr lvl="2"/>
            <a:r>
              <a:rPr lang="en-IN" sz="1100" dirty="0"/>
              <a:t>  "</a:t>
            </a:r>
            <a:r>
              <a:rPr lang="en-IN" sz="1100" dirty="0" err="1"/>
              <a:t>devDependencies</a:t>
            </a:r>
            <a:r>
              <a:rPr lang="en-IN" sz="1100" dirty="0"/>
              <a:t>": {</a:t>
            </a:r>
          </a:p>
          <a:p>
            <a:pPr lvl="2"/>
            <a:r>
              <a:rPr lang="en-IN" sz="1100" dirty="0"/>
              <a:t>    "@babel/cli": "^8.0.4",</a:t>
            </a:r>
          </a:p>
          <a:p>
            <a:pPr lvl="2"/>
            <a:r>
              <a:rPr lang="en-IN" sz="1100" dirty="0"/>
              <a:t>    "@babel/core": "^8.0.1",</a:t>
            </a:r>
          </a:p>
          <a:p>
            <a:pPr lvl="2"/>
            <a:r>
              <a:rPr lang="en-IN" sz="1100" dirty="0"/>
              <a:t>    "@babel/preset-react": "^8.0.1",</a:t>
            </a:r>
          </a:p>
          <a:p>
            <a:pPr lvl="2"/>
            <a:r>
              <a:rPr lang="en-IN" sz="1100" dirty="0"/>
              <a:t>    "</a:t>
            </a:r>
            <a:r>
              <a:rPr lang="en-IN" sz="1100" dirty="0" err="1"/>
              <a:t>nodemon</a:t>
            </a:r>
            <a:r>
              <a:rPr lang="en-IN" sz="1100" dirty="0"/>
              <a:t>": "^3.1.14"</a:t>
            </a:r>
          </a:p>
          <a:p>
            <a:pPr lvl="2"/>
            <a:r>
              <a:rPr lang="en-IN" sz="1100" dirty="0"/>
              <a:t>  }</a:t>
            </a:r>
          </a:p>
          <a:p>
            <a:pPr lvl="2"/>
            <a:r>
              <a:rPr lang="en-IN" sz="1100" dirty="0"/>
              <a:t>}</a:t>
            </a:r>
          </a:p>
          <a:p>
            <a:pPr lvl="2">
              <a:buFont typeface="Arial" panose="020B0604020202020204" pitchFamily="34" charset="0"/>
              <a:buChar char="•"/>
            </a:pPr>
            <a:endParaRPr lang="en-IN" sz="1800" b="1" dirty="0"/>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1C9947F8-AC4D-DA32-C007-07D8763B4F13}"/>
              </a:ext>
            </a:extLst>
          </p:cNvPr>
          <p:cNvSpPr txBox="1"/>
          <p:nvPr/>
        </p:nvSpPr>
        <p:spPr>
          <a:xfrm>
            <a:off x="5159230" y="42866"/>
            <a:ext cx="5452844" cy="646331"/>
          </a:xfrm>
          <a:prstGeom prst="rect">
            <a:avLst/>
          </a:prstGeom>
          <a:noFill/>
        </p:spPr>
        <p:txBody>
          <a:bodyPr wrap="square" rtlCol="0">
            <a:spAutoFit/>
          </a:bodyPr>
          <a:lstStyle/>
          <a:p>
            <a:r>
              <a:rPr lang="en-US" dirty="0" err="1"/>
              <a:t>Driectory</a:t>
            </a:r>
            <a:r>
              <a:rPr lang="en-US" dirty="0"/>
              <a:t> structure</a:t>
            </a:r>
          </a:p>
          <a:p>
            <a:endParaRPr lang="en-IN" dirty="0"/>
          </a:p>
        </p:txBody>
      </p:sp>
      <p:pic>
        <p:nvPicPr>
          <p:cNvPr id="4" name="Picture 3">
            <a:extLst>
              <a:ext uri="{FF2B5EF4-FFF2-40B4-BE49-F238E27FC236}">
                <a16:creationId xmlns:a16="http://schemas.microsoft.com/office/drawing/2014/main" id="{2B08E2B4-0F05-150C-71FF-AD2D085350F0}"/>
              </a:ext>
            </a:extLst>
          </p:cNvPr>
          <p:cNvPicPr>
            <a:picLocks noChangeAspect="1"/>
          </p:cNvPicPr>
          <p:nvPr/>
        </p:nvPicPr>
        <p:blipFill>
          <a:blip r:embed="rId2"/>
          <a:stretch>
            <a:fillRect/>
          </a:stretch>
        </p:blipFill>
        <p:spPr>
          <a:xfrm>
            <a:off x="7253681" y="100669"/>
            <a:ext cx="3025402" cy="2895851"/>
          </a:xfrm>
          <a:prstGeom prst="rect">
            <a:avLst/>
          </a:prstGeom>
        </p:spPr>
      </p:pic>
      <p:sp>
        <p:nvSpPr>
          <p:cNvPr id="5" name="TextBox 4">
            <a:extLst>
              <a:ext uri="{FF2B5EF4-FFF2-40B4-BE49-F238E27FC236}">
                <a16:creationId xmlns:a16="http://schemas.microsoft.com/office/drawing/2014/main" id="{2AC62E5E-A528-0260-A4D7-421B84CCB744}"/>
              </a:ext>
            </a:extLst>
          </p:cNvPr>
          <p:cNvSpPr txBox="1"/>
          <p:nvPr/>
        </p:nvSpPr>
        <p:spPr>
          <a:xfrm>
            <a:off x="5159230" y="2984881"/>
            <a:ext cx="7063530" cy="3539430"/>
          </a:xfrm>
          <a:prstGeom prst="rect">
            <a:avLst/>
          </a:prstGeom>
          <a:noFill/>
        </p:spPr>
        <p:txBody>
          <a:bodyPr wrap="square" rtlCol="0">
            <a:spAutoFit/>
          </a:bodyPr>
          <a:lstStyle/>
          <a:p>
            <a:r>
              <a:rPr lang="en-US" dirty="0"/>
              <a:t>Commands to execute</a:t>
            </a:r>
          </a:p>
          <a:p>
            <a:r>
              <a:rPr lang="en-US" dirty="0"/>
              <a:t>Terminal 1:</a:t>
            </a:r>
          </a:p>
          <a:p>
            <a:r>
              <a:rPr lang="en-US" dirty="0"/>
              <a:t>	</a:t>
            </a:r>
            <a:r>
              <a:rPr lang="en-IN" sz="1600" dirty="0" err="1"/>
              <a:t>npm</a:t>
            </a:r>
            <a:r>
              <a:rPr lang="en-IN" sz="1600" dirty="0"/>
              <a:t> </a:t>
            </a:r>
            <a:r>
              <a:rPr lang="en-IN" sz="1600" dirty="0" err="1"/>
              <a:t>init</a:t>
            </a:r>
            <a:r>
              <a:rPr lang="en-IN" sz="1600" dirty="0"/>
              <a:t> –y</a:t>
            </a:r>
          </a:p>
          <a:p>
            <a:r>
              <a:rPr lang="en-IN" sz="1600" dirty="0"/>
              <a:t>	</a:t>
            </a:r>
            <a:r>
              <a:rPr lang="en-IN" sz="1600" dirty="0" err="1"/>
              <a:t>npm</a:t>
            </a:r>
            <a:r>
              <a:rPr lang="en-IN" sz="1600" dirty="0"/>
              <a:t> install express</a:t>
            </a:r>
          </a:p>
          <a:p>
            <a:r>
              <a:rPr lang="en-IN" sz="1600" dirty="0"/>
              <a:t>	</a:t>
            </a:r>
            <a:r>
              <a:rPr lang="en-IN" sz="1200" dirty="0"/>
              <a:t>//</a:t>
            </a:r>
            <a:r>
              <a:rPr lang="en-IN" sz="1200" dirty="0" err="1"/>
              <a:t>npm</a:t>
            </a:r>
            <a:r>
              <a:rPr lang="en-IN" sz="1200" dirty="0"/>
              <a:t> install --save-dev @babel/core @babel/cli @babel/preset-react</a:t>
            </a:r>
          </a:p>
          <a:p>
            <a:r>
              <a:rPr lang="en-IN" sz="1200" dirty="0"/>
              <a:t>	</a:t>
            </a:r>
            <a:r>
              <a:rPr lang="en-IN" sz="1600" dirty="0" err="1"/>
              <a:t>npm</a:t>
            </a:r>
            <a:r>
              <a:rPr lang="en-IN" sz="1600" dirty="0"/>
              <a:t> install --save-dev </a:t>
            </a:r>
            <a:r>
              <a:rPr lang="en-IN" sz="1600" dirty="0" err="1"/>
              <a:t>nodemon</a:t>
            </a:r>
            <a:endParaRPr lang="en-IN" sz="1600" dirty="0"/>
          </a:p>
          <a:p>
            <a:r>
              <a:rPr lang="en-IN" sz="1600" dirty="0"/>
              <a:t>	</a:t>
            </a:r>
            <a:r>
              <a:rPr lang="en-IN" sz="1200" dirty="0"/>
              <a:t>Change the scripts section of </a:t>
            </a:r>
            <a:r>
              <a:rPr lang="en-IN" sz="1200" dirty="0" err="1"/>
              <a:t>package.json</a:t>
            </a:r>
            <a:endParaRPr lang="en-US" sz="1600" dirty="0"/>
          </a:p>
          <a:p>
            <a:r>
              <a:rPr lang="en-US" sz="1600" dirty="0"/>
              <a:t>	</a:t>
            </a:r>
            <a:r>
              <a:rPr lang="en-US" sz="1600" dirty="0" err="1"/>
              <a:t>npm</a:t>
            </a:r>
            <a:r>
              <a:rPr lang="en-US" sz="1600" dirty="0"/>
              <a:t> run compile</a:t>
            </a:r>
          </a:p>
          <a:p>
            <a:r>
              <a:rPr lang="en-US" sz="1600" dirty="0"/>
              <a:t>	</a:t>
            </a:r>
            <a:r>
              <a:rPr lang="en-US" sz="1600" dirty="0" err="1"/>
              <a:t>npm</a:t>
            </a:r>
            <a:r>
              <a:rPr lang="en-US" sz="1600" dirty="0"/>
              <a:t> run watch</a:t>
            </a:r>
          </a:p>
          <a:p>
            <a:endParaRPr lang="en-US" sz="1600" dirty="0"/>
          </a:p>
          <a:p>
            <a:r>
              <a:rPr lang="en-US" sz="1600" dirty="0"/>
              <a:t>Terminal 2:</a:t>
            </a:r>
          </a:p>
          <a:p>
            <a:r>
              <a:rPr lang="en-US" sz="1600" dirty="0"/>
              <a:t>	</a:t>
            </a:r>
            <a:r>
              <a:rPr lang="en-US" sz="1600" dirty="0" err="1"/>
              <a:t>npm</a:t>
            </a:r>
            <a:r>
              <a:rPr lang="en-US" sz="1600" dirty="0"/>
              <a:t> start		//start express server</a:t>
            </a:r>
          </a:p>
          <a:p>
            <a:r>
              <a:rPr lang="en-US" dirty="0"/>
              <a:t>	</a:t>
            </a:r>
            <a:endParaRPr lang="en-IN" dirty="0"/>
          </a:p>
        </p:txBody>
      </p:sp>
    </p:spTree>
    <p:extLst>
      <p:ext uri="{BB962C8B-B14F-4D97-AF65-F5344CB8AC3E}">
        <p14:creationId xmlns:p14="http://schemas.microsoft.com/office/powerpoint/2010/main" val="2466309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EA95-0C39-FCF6-8D9D-419D9BF3224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C06EE8B-4DB9-BD89-87B9-F6392B06E02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dirty="0"/>
              <a:t>Composing Components</a:t>
            </a:r>
          </a:p>
          <a:p>
            <a:pPr lvl="1">
              <a:buFont typeface="Arial" panose="020B0604020202020204" pitchFamily="34" charset="0"/>
              <a:buChar char="•"/>
            </a:pPr>
            <a:r>
              <a:rPr lang="en-IN" sz="1800" dirty="0"/>
              <a:t>It’s possible to build a component that uses other user-defined components as well</a:t>
            </a:r>
          </a:p>
          <a:p>
            <a:pPr lvl="1">
              <a:buFont typeface="Arial" panose="020B0604020202020204" pitchFamily="34" charset="0"/>
              <a:buChar char="•"/>
            </a:pPr>
            <a:r>
              <a:rPr lang="en-IN" sz="1800" dirty="0"/>
              <a:t>Component composition is one of the most powerful features of React. </a:t>
            </a:r>
          </a:p>
          <a:p>
            <a:pPr lvl="1">
              <a:buFont typeface="Arial" panose="020B0604020202020204" pitchFamily="34" charset="0"/>
              <a:buChar char="•"/>
            </a:pPr>
            <a:r>
              <a:rPr lang="en-IN" sz="1800" dirty="0"/>
              <a:t>This way, the UI can be split into smaller independent pieces so that each piece can be coded and reasoned in isolation, making it easier to build and understand a complex UI. </a:t>
            </a:r>
          </a:p>
          <a:p>
            <a:pPr lvl="1">
              <a:buFont typeface="Arial" panose="020B0604020202020204" pitchFamily="34" charset="0"/>
              <a:buChar char="•"/>
            </a:pPr>
            <a:r>
              <a:rPr lang="en-IN" sz="1800" dirty="0"/>
              <a:t>Using components rather than building the UI in a monolithic fashion also encourages reuse. </a:t>
            </a:r>
          </a:p>
          <a:p>
            <a:pPr lvl="1">
              <a:buFont typeface="Arial" panose="020B0604020202020204" pitchFamily="34" charset="0"/>
              <a:buChar char="•"/>
            </a:pPr>
            <a:r>
              <a:rPr lang="en-IN" sz="1800" dirty="0"/>
              <a:t>A component takes inputs (called properties) and its output is the rendered UI of the component.</a:t>
            </a:r>
          </a:p>
          <a:p>
            <a:pPr lvl="1">
              <a:buFont typeface="Arial" panose="020B0604020202020204" pitchFamily="34" charset="0"/>
              <a:buChar char="•"/>
            </a:pPr>
            <a:endParaRPr lang="en-US" sz="1800" dirty="0"/>
          </a:p>
          <a:p>
            <a:pPr lvl="1">
              <a:buFont typeface="Arial" panose="020B0604020202020204" pitchFamily="34" charset="0"/>
              <a:buChar char="•"/>
            </a:pPr>
            <a:r>
              <a:rPr lang="en-IN" sz="2200" dirty="0"/>
              <a:t>A few things to remember when composing components:</a:t>
            </a:r>
          </a:p>
          <a:p>
            <a:pPr lvl="2" algn="just">
              <a:buFont typeface="Arial" panose="020B0604020202020204" pitchFamily="34" charset="0"/>
              <a:buChar char="•"/>
            </a:pPr>
            <a:r>
              <a:rPr lang="en-IN" sz="1600" dirty="0"/>
              <a:t>Split large components into smaller components when there is a logical separation. </a:t>
            </a:r>
          </a:p>
          <a:p>
            <a:pPr lvl="2" algn="just">
              <a:buFont typeface="Arial" panose="020B0604020202020204" pitchFamily="34" charset="0"/>
              <a:buChar char="•"/>
            </a:pPr>
            <a:r>
              <a:rPr lang="en-IN" sz="1600" dirty="0"/>
              <a:t>Build reusable components that can accept different </a:t>
            </a:r>
            <a:r>
              <a:rPr lang="en-IN" sz="1600" b="1" dirty="0"/>
              <a:t>properties (props)</a:t>
            </a:r>
            <a:r>
              <a:rPr lang="en-IN" sz="1600" dirty="0"/>
              <a:t> as inputs. </a:t>
            </a:r>
          </a:p>
          <a:p>
            <a:pPr lvl="2" algn="just">
              <a:buFont typeface="Arial" panose="020B0604020202020204" pitchFamily="34" charset="0"/>
              <a:buChar char="•"/>
            </a:pPr>
            <a:r>
              <a:rPr lang="en-IN" sz="1600" dirty="0"/>
              <a:t>React generally prefers </a:t>
            </a:r>
            <a:r>
              <a:rPr lang="en-IN" sz="1600" b="1" dirty="0"/>
              <a:t>composition over inheritance</a:t>
            </a:r>
            <a:r>
              <a:rPr lang="en-IN" sz="1600" dirty="0"/>
              <a:t>. </a:t>
            </a:r>
          </a:p>
          <a:p>
            <a:pPr lvl="2" algn="just">
              <a:buFont typeface="Arial" panose="020B0604020202020204" pitchFamily="34" charset="0"/>
              <a:buChar char="•"/>
            </a:pPr>
            <a:r>
              <a:rPr lang="en-IN" sz="1600" dirty="0"/>
              <a:t>Keep </a:t>
            </a:r>
            <a:r>
              <a:rPr lang="en-IN" sz="1600" b="1" dirty="0"/>
              <a:t>coupling between components low</a:t>
            </a:r>
            <a:r>
              <a:rPr lang="en-IN" sz="1600" dirty="0"/>
              <a:t>, so one component does not depend heavily on the internal details of another component.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98714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B1C5D-7AAF-4B43-1D24-62DFD178D65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23DA9B-63A3-1B92-8541-1AF53099472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Example:</a:t>
            </a:r>
          </a:p>
          <a:p>
            <a:pPr lvl="2">
              <a:buFont typeface="Arial" panose="020B0604020202020204" pitchFamily="34" charset="0"/>
              <a:buChar char="•"/>
            </a:pPr>
            <a:endParaRPr lang="en-IN" sz="1800" b="1" dirty="0"/>
          </a:p>
          <a:p>
            <a:pPr lvl="2">
              <a:buFont typeface="Arial" panose="020B0604020202020204" pitchFamily="34" charset="0"/>
              <a:buChar char="•"/>
            </a:pPr>
            <a:endParaRPr lang="en-IN" sz="1800" b="1" dirty="0"/>
          </a:p>
          <a:p>
            <a:pPr lvl="2">
              <a:buFont typeface="Arial" panose="020B0604020202020204" pitchFamily="34" charset="0"/>
              <a:buChar char="•"/>
            </a:pPr>
            <a:endParaRPr lang="en-IN" sz="1800" b="1" dirty="0"/>
          </a:p>
          <a:p>
            <a:pPr lvl="2">
              <a:buFont typeface="Arial" panose="020B0604020202020204" pitchFamily="34" charset="0"/>
              <a:buChar char="•"/>
            </a:pPr>
            <a:endParaRPr lang="en-IN" sz="1800" b="1" dirty="0"/>
          </a:p>
          <a:p>
            <a:pPr lvl="2">
              <a:buFont typeface="Arial" panose="020B0604020202020204" pitchFamily="34" charset="0"/>
              <a:buChar char="•"/>
            </a:pPr>
            <a:endParaRPr lang="en-IN" sz="1800" b="1" dirty="0"/>
          </a:p>
          <a:p>
            <a:r>
              <a:rPr lang="en-IN" dirty="0"/>
              <a:t>Let’s define three placeholder classes—</a:t>
            </a:r>
            <a:r>
              <a:rPr lang="en-IN" dirty="0" err="1"/>
              <a:t>IssueFilter</a:t>
            </a:r>
            <a:r>
              <a:rPr lang="en-IN" dirty="0"/>
              <a:t>, </a:t>
            </a:r>
            <a:r>
              <a:rPr lang="en-IN" dirty="0" err="1"/>
              <a:t>IssueTable</a:t>
            </a:r>
            <a:r>
              <a:rPr lang="en-IN" dirty="0"/>
              <a:t>, and </a:t>
            </a:r>
            <a:r>
              <a:rPr lang="en-IN" dirty="0" err="1"/>
              <a:t>IssueAdd</a:t>
            </a:r>
            <a:r>
              <a:rPr lang="en-IN" dirty="0"/>
              <a:t>—with just a placeholder text within a in each. The </a:t>
            </a:r>
            <a:r>
              <a:rPr lang="en-IN" dirty="0" err="1"/>
              <a:t>IssueFilter</a:t>
            </a:r>
            <a:r>
              <a:rPr lang="en-IN" dirty="0"/>
              <a:t> component will look like this:</a:t>
            </a:r>
            <a:endParaRPr lang="en-IN" sz="1800" b="1" dirty="0"/>
          </a:p>
          <a:p>
            <a:pPr marL="566928" lvl="3" indent="0">
              <a:buNone/>
            </a:pPr>
            <a:r>
              <a:rPr lang="en-US" sz="1600" dirty="0"/>
              <a:t>...</a:t>
            </a:r>
          </a:p>
          <a:p>
            <a:pPr marL="566928" lvl="3" indent="0">
              <a:buNone/>
            </a:pPr>
            <a:r>
              <a:rPr lang="en-US" sz="1600" dirty="0"/>
              <a:t>class </a:t>
            </a:r>
            <a:r>
              <a:rPr lang="en-US" sz="1600" dirty="0" err="1"/>
              <a:t>IssueFilter</a:t>
            </a:r>
            <a:r>
              <a:rPr lang="en-US" sz="1600" dirty="0"/>
              <a:t> extends </a:t>
            </a:r>
            <a:r>
              <a:rPr lang="en-US" sz="1600" dirty="0" err="1"/>
              <a:t>React.Component</a:t>
            </a:r>
            <a:r>
              <a:rPr lang="en-US" sz="1600" dirty="0"/>
              <a:t> {</a:t>
            </a:r>
          </a:p>
          <a:p>
            <a:pPr marL="749808" lvl="4" indent="0">
              <a:buNone/>
            </a:pPr>
            <a:r>
              <a:rPr lang="en-US" sz="1600" dirty="0"/>
              <a:t>render() {</a:t>
            </a:r>
          </a:p>
          <a:p>
            <a:pPr marL="871400" lvl="5" indent="0">
              <a:buNone/>
            </a:pPr>
            <a:r>
              <a:rPr lang="en-US" sz="1700" dirty="0"/>
              <a:t>return (</a:t>
            </a:r>
          </a:p>
          <a:p>
            <a:pPr marL="1071400" lvl="6" indent="0">
              <a:buNone/>
            </a:pPr>
            <a:r>
              <a:rPr lang="en-US" sz="1700" dirty="0"/>
              <a:t>&lt;div&gt;This is a placeholder for the issue filter.&lt;/div&gt;</a:t>
            </a:r>
          </a:p>
          <a:p>
            <a:pPr marL="871400" lvl="5" indent="0">
              <a:buNone/>
            </a:pPr>
            <a:r>
              <a:rPr lang="en-US" sz="1700" dirty="0"/>
              <a:t>);</a:t>
            </a:r>
          </a:p>
          <a:p>
            <a:pPr marL="749808" lvl="4" indent="0">
              <a:buNone/>
            </a:pPr>
            <a:r>
              <a:rPr lang="en-US" sz="1600" dirty="0"/>
              <a:t>}</a:t>
            </a:r>
          </a:p>
          <a:p>
            <a:pPr marL="566928" lvl="3" indent="0">
              <a:buNone/>
            </a:pPr>
            <a:r>
              <a:rPr lang="en-US" sz="1600" dirty="0"/>
              <a:t>}</a:t>
            </a:r>
          </a:p>
          <a:p>
            <a:pPr marL="566928" lvl="3" indent="0">
              <a:buNone/>
            </a:pPr>
            <a:r>
              <a:rPr lang="en-US" sz="1600" dirty="0"/>
              <a:t>...</a:t>
            </a:r>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B398B828-088B-21B2-A9F3-A23251C591EB}"/>
              </a:ext>
            </a:extLst>
          </p:cNvPr>
          <p:cNvPicPr>
            <a:picLocks noChangeAspect="1"/>
          </p:cNvPicPr>
          <p:nvPr/>
        </p:nvPicPr>
        <p:blipFill>
          <a:blip r:embed="rId2"/>
          <a:stretch>
            <a:fillRect/>
          </a:stretch>
        </p:blipFill>
        <p:spPr>
          <a:xfrm>
            <a:off x="2631564" y="343949"/>
            <a:ext cx="2980671" cy="2352392"/>
          </a:xfrm>
          <a:prstGeom prst="rect">
            <a:avLst/>
          </a:prstGeom>
        </p:spPr>
      </p:pic>
    </p:spTree>
    <p:extLst>
      <p:ext uri="{BB962C8B-B14F-4D97-AF65-F5344CB8AC3E}">
        <p14:creationId xmlns:p14="http://schemas.microsoft.com/office/powerpoint/2010/main" val="3684312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548B7-03BF-A252-0232-253A8B76FB5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E1D4855-3B42-97CA-F9D9-C172E0CEB41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To put these together, let’s remove the Hello World class from last program and add a class called </a:t>
            </a:r>
            <a:r>
              <a:rPr lang="en-IN" sz="1800" dirty="0" err="1"/>
              <a:t>IssueList</a:t>
            </a:r>
            <a:r>
              <a:rPr lang="en-IN" sz="1800" dirty="0"/>
              <a:t>.</a:t>
            </a:r>
          </a:p>
          <a:p>
            <a:pPr lvl="1">
              <a:buFont typeface="Arial" panose="020B0604020202020204" pitchFamily="34" charset="0"/>
              <a:buChar char="•"/>
            </a:pPr>
            <a:r>
              <a:rPr lang="en-IN" sz="1800" dirty="0"/>
              <a:t>Now let’s add a render() method. Within this method, let’s add an instance of each of the new placeholder classes separated by a or horizontal line.</a:t>
            </a:r>
          </a:p>
          <a:p>
            <a:pPr lvl="1">
              <a:buFont typeface="Arial" panose="020B0604020202020204" pitchFamily="34" charset="0"/>
              <a:buChar char="•"/>
            </a:pPr>
            <a:r>
              <a:rPr lang="en-IN" dirty="0"/>
              <a:t> Since the return of render() has to be a single element, these elements have to be enclosed within a or a React Fragment component.</a:t>
            </a:r>
          </a:p>
          <a:p>
            <a:pPr lvl="1">
              <a:buFont typeface="Arial" panose="020B0604020202020204" pitchFamily="34" charset="0"/>
              <a:buChar char="•"/>
            </a:pPr>
            <a:r>
              <a:rPr lang="en-IN" dirty="0"/>
              <a:t>The Fragment component is like an enclosing but it has no effect on the DOM.</a:t>
            </a:r>
          </a:p>
          <a:p>
            <a:pPr lvl="1">
              <a:buFont typeface="Arial" panose="020B0604020202020204" pitchFamily="34" charset="0"/>
              <a:buChar char="•"/>
            </a:pPr>
            <a:r>
              <a:rPr lang="en-IN" sz="1800" dirty="0"/>
              <a:t>Finally, instantiate, </a:t>
            </a:r>
            <a:r>
              <a:rPr lang="en-IN" sz="1800" dirty="0" err="1"/>
              <a:t>IssueList</a:t>
            </a:r>
            <a:r>
              <a:rPr lang="en-IN" sz="1800" dirty="0"/>
              <a:t> class, which we will place under the contents div.</a:t>
            </a:r>
          </a:p>
          <a:p>
            <a:pPr lvl="2">
              <a:buFont typeface="Arial" panose="020B0604020202020204" pitchFamily="34" charset="0"/>
              <a:buChar char="•"/>
            </a:pPr>
            <a:r>
              <a:rPr lang="en-US" sz="1600" dirty="0"/>
              <a:t>...</a:t>
            </a:r>
          </a:p>
          <a:p>
            <a:pPr lvl="2">
              <a:buFont typeface="Arial" panose="020B0604020202020204" pitchFamily="34" charset="0"/>
              <a:buChar char="•"/>
            </a:pPr>
            <a:r>
              <a:rPr lang="en-US" sz="1600" strike="sngStrike" dirty="0"/>
              <a:t>const element = &lt;HelloWorld /&gt;;</a:t>
            </a:r>
          </a:p>
          <a:p>
            <a:pPr lvl="2">
              <a:buFont typeface="Arial" panose="020B0604020202020204" pitchFamily="34" charset="0"/>
              <a:buChar char="•"/>
            </a:pPr>
            <a:r>
              <a:rPr lang="en-US" sz="1600" dirty="0"/>
              <a:t>const element = &lt;</a:t>
            </a:r>
            <a:r>
              <a:rPr lang="en-US" sz="1600" dirty="0" err="1"/>
              <a:t>IssueList</a:t>
            </a:r>
            <a:r>
              <a:rPr lang="en-US" sz="1600" dirty="0"/>
              <a:t> /&gt;;</a:t>
            </a:r>
          </a:p>
          <a:p>
            <a:pPr lvl="2">
              <a:buFont typeface="Arial" panose="020B0604020202020204" pitchFamily="34" charset="0"/>
              <a:buChar char="•"/>
            </a:pPr>
            <a:r>
              <a:rPr lang="en-US" sz="1600" dirty="0"/>
              <a: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274461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4CED-580E-A7FB-949D-BCC349B04CD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1C49ADE-14D0-3FEB-EBB0-2860FC93DB1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dirty="0"/>
              <a:t> </a:t>
            </a:r>
            <a:endParaRPr lang="en-US" sz="1800" dirty="0"/>
          </a:p>
          <a:p>
            <a:pPr marL="0" indent="0">
              <a:buFont typeface="Calibri" panose="020F0502020204030204" pitchFamily="34" charset="0"/>
              <a:buNone/>
            </a:pPr>
            <a:endParaRPr lang="en-IN" dirty="0"/>
          </a:p>
        </p:txBody>
      </p:sp>
      <p:sp>
        <p:nvSpPr>
          <p:cNvPr id="3" name="TextBox 2">
            <a:extLst>
              <a:ext uri="{FF2B5EF4-FFF2-40B4-BE49-F238E27FC236}">
                <a16:creationId xmlns:a16="http://schemas.microsoft.com/office/drawing/2014/main" id="{25EE395E-DC26-916B-2E59-A2743111D940}"/>
              </a:ext>
            </a:extLst>
          </p:cNvPr>
          <p:cNvSpPr txBox="1"/>
          <p:nvPr/>
        </p:nvSpPr>
        <p:spPr>
          <a:xfrm>
            <a:off x="478172" y="117446"/>
            <a:ext cx="8663731" cy="6401753"/>
          </a:xfrm>
          <a:prstGeom prst="rect">
            <a:avLst/>
          </a:prstGeom>
          <a:noFill/>
        </p:spPr>
        <p:txBody>
          <a:bodyPr wrap="square">
            <a:spAutoFit/>
          </a:bodyPr>
          <a:lstStyle/>
          <a:p>
            <a:r>
              <a:rPr lang="en-US" sz="1400" dirty="0" err="1">
                <a:solidFill>
                  <a:srgbClr val="0000FF"/>
                </a:solidFill>
                <a:highlight>
                  <a:srgbClr val="FFFFFF"/>
                </a:highlight>
                <a:latin typeface="Cascadia Mono" panose="020B0609020000020004" pitchFamily="49" charset="0"/>
              </a:rPr>
              <a:t>App.jsx</a:t>
            </a:r>
            <a:endParaRPr lang="en-US" sz="1400" dirty="0">
              <a:solidFill>
                <a:srgbClr val="0000FF"/>
              </a:solidFill>
              <a:highlight>
                <a:srgbClr val="FFFFFF"/>
              </a:highlight>
              <a:latin typeface="Cascadia Mono" panose="020B0609020000020004" pitchFamily="49" charset="0"/>
            </a:endParaRPr>
          </a:p>
          <a:p>
            <a:endParaRPr lang="en-US" sz="1000" dirty="0">
              <a:solidFill>
                <a:srgbClr val="0000FF"/>
              </a:solidFill>
              <a:highlight>
                <a:srgbClr val="FFFFFF"/>
              </a:highlight>
              <a:latin typeface="Cascadia Mono" panose="020B0609020000020004" pitchFamily="49" charset="0"/>
            </a:endParaRPr>
          </a:p>
          <a:p>
            <a:r>
              <a:rPr lang="en-US" sz="1000" dirty="0">
                <a:solidFill>
                  <a:srgbClr val="0000FF"/>
                </a:solidFill>
                <a:highlight>
                  <a:srgbClr val="FFFFFF"/>
                </a:highlight>
                <a:latin typeface="Cascadia Mono" panose="020B0609020000020004" pitchFamily="49" charset="0"/>
              </a:rPr>
              <a:t>class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IssueFilter</a:t>
            </a:r>
            <a:r>
              <a:rPr lang="en-US" sz="1000" dirty="0">
                <a:solidFill>
                  <a:srgbClr val="000000"/>
                </a:solidFill>
                <a:highlight>
                  <a:srgbClr val="FFFFFF"/>
                </a:highlight>
                <a:latin typeface="Cascadia Mono" panose="020B0609020000020004" pitchFamily="49" charset="0"/>
              </a:rPr>
              <a:t> </a:t>
            </a:r>
            <a:r>
              <a:rPr lang="en-US" sz="1000" dirty="0">
                <a:solidFill>
                  <a:srgbClr val="0000FF"/>
                </a:solidFill>
                <a:highlight>
                  <a:srgbClr val="FFFFFF"/>
                </a:highlight>
                <a:latin typeface="Cascadia Mono" panose="020B0609020000020004" pitchFamily="49" charset="0"/>
              </a:rPr>
              <a:t>extends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React</a:t>
            </a:r>
            <a:r>
              <a:rPr lang="en-US" sz="1000" dirty="0" err="1">
                <a:solidFill>
                  <a:srgbClr val="000000"/>
                </a:solidFill>
                <a:highlight>
                  <a:srgbClr val="FFFFFF"/>
                </a:highlight>
                <a:latin typeface="Cascadia Mono" panose="020B0609020000020004" pitchFamily="49" charset="0"/>
              </a:rPr>
              <a:t>.Component</a:t>
            </a:r>
            <a:r>
              <a:rPr lang="en-US"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render()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return</a:t>
            </a:r>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div</a:t>
            </a:r>
            <a:r>
              <a:rPr lang="en-IN" sz="1000" dirty="0">
                <a:solidFill>
                  <a:srgbClr val="0000FF"/>
                </a:solidFill>
                <a:highlight>
                  <a:srgbClr val="FFFFFF"/>
                </a:highlight>
                <a:latin typeface="Cascadia Mono" panose="020B0609020000020004" pitchFamily="49" charset="0"/>
              </a:rPr>
              <a:t>&gt; </a:t>
            </a:r>
            <a:r>
              <a:rPr lang="en-US" sz="1000" dirty="0">
                <a:solidFill>
                  <a:srgbClr val="555555"/>
                </a:solidFill>
                <a:highlight>
                  <a:srgbClr val="FFFFFF"/>
                </a:highlight>
                <a:latin typeface="Cascadia Mono" panose="020B0609020000020004" pitchFamily="49" charset="0"/>
              </a:rPr>
              <a:t>This is a placeholder for the issue filter.</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div</a:t>
            </a:r>
            <a:r>
              <a:rPr lang="en-IN" sz="1000" dirty="0">
                <a:solidFill>
                  <a:srgbClr val="0000FF"/>
                </a:solidFill>
                <a:highlight>
                  <a:srgbClr val="FFFFFF"/>
                </a:highlight>
                <a:latin typeface="Cascadia Mono" panose="020B0609020000020004" pitchFamily="49" charset="0"/>
              </a:rPr>
              <a:t>&gt;</a:t>
            </a:r>
            <a:endParaRPr lang="en-IN" sz="1000" dirty="0">
              <a:solidFill>
                <a:srgbClr val="000000"/>
              </a:solidFill>
              <a:highlight>
                <a:srgbClr val="FFFFFF"/>
              </a:highlight>
              <a:latin typeface="Cascadia Mono" panose="020B0609020000020004" pitchFamily="49" charset="0"/>
            </a:endParaRP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a:t>
            </a:r>
          </a:p>
          <a:p>
            <a:r>
              <a:rPr lang="en-US" sz="1000" dirty="0">
                <a:solidFill>
                  <a:srgbClr val="0000FF"/>
                </a:solidFill>
                <a:highlight>
                  <a:srgbClr val="FFFFFF"/>
                </a:highlight>
                <a:latin typeface="Cascadia Mono" panose="020B0609020000020004" pitchFamily="49" charset="0"/>
              </a:rPr>
              <a:t>class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IssueTable</a:t>
            </a:r>
            <a:r>
              <a:rPr lang="en-US" sz="1000" dirty="0">
                <a:solidFill>
                  <a:srgbClr val="000000"/>
                </a:solidFill>
                <a:highlight>
                  <a:srgbClr val="FFFFFF"/>
                </a:highlight>
                <a:latin typeface="Cascadia Mono" panose="020B0609020000020004" pitchFamily="49" charset="0"/>
              </a:rPr>
              <a:t> </a:t>
            </a:r>
            <a:r>
              <a:rPr lang="en-US" sz="1000" dirty="0">
                <a:solidFill>
                  <a:srgbClr val="0000FF"/>
                </a:solidFill>
                <a:highlight>
                  <a:srgbClr val="FFFFFF"/>
                </a:highlight>
                <a:latin typeface="Cascadia Mono" panose="020B0609020000020004" pitchFamily="49" charset="0"/>
              </a:rPr>
              <a:t>extends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React</a:t>
            </a:r>
            <a:r>
              <a:rPr lang="en-US" sz="1000" dirty="0" err="1">
                <a:solidFill>
                  <a:srgbClr val="000000"/>
                </a:solidFill>
                <a:highlight>
                  <a:srgbClr val="FFFFFF"/>
                </a:highlight>
                <a:latin typeface="Cascadia Mono" panose="020B0609020000020004" pitchFamily="49" charset="0"/>
              </a:rPr>
              <a:t>.Component</a:t>
            </a:r>
            <a:r>
              <a:rPr lang="en-US"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render()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return</a:t>
            </a:r>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div</a:t>
            </a:r>
            <a:r>
              <a:rPr lang="en-IN" sz="1000" dirty="0">
                <a:solidFill>
                  <a:srgbClr val="0000FF"/>
                </a:solidFill>
                <a:highlight>
                  <a:srgbClr val="FFFFFF"/>
                </a:highlight>
                <a:latin typeface="Cascadia Mono" panose="020B0609020000020004" pitchFamily="49" charset="0"/>
              </a:rPr>
              <a:t>&gt;</a:t>
            </a:r>
            <a:r>
              <a:rPr lang="en-IN" sz="1000" dirty="0">
                <a:solidFill>
                  <a:srgbClr val="555555"/>
                </a:solidFill>
                <a:highlight>
                  <a:srgbClr val="FFFFFF"/>
                </a:highlight>
                <a:latin typeface="Cascadia Mono" panose="020B0609020000020004" pitchFamily="49" charset="0"/>
              </a:rPr>
              <a:t> </a:t>
            </a:r>
            <a:r>
              <a:rPr lang="en-US" sz="1000" dirty="0">
                <a:solidFill>
                  <a:srgbClr val="555555"/>
                </a:solidFill>
                <a:highlight>
                  <a:srgbClr val="FFFFFF"/>
                </a:highlight>
                <a:latin typeface="Cascadia Mono" panose="020B0609020000020004" pitchFamily="49" charset="0"/>
              </a:rPr>
              <a:t>This is a placeholder for a table of issues.</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div</a:t>
            </a:r>
            <a:r>
              <a:rPr lang="en-IN" sz="1000" dirty="0">
                <a:solidFill>
                  <a:srgbClr val="0000FF"/>
                </a:solidFill>
                <a:highlight>
                  <a:srgbClr val="FFFFFF"/>
                </a:highlight>
                <a:latin typeface="Cascadia Mono" panose="020B0609020000020004" pitchFamily="49" charset="0"/>
              </a:rPr>
              <a:t>&gt;</a:t>
            </a:r>
            <a:endParaRPr lang="en-IN" sz="1000" dirty="0">
              <a:solidFill>
                <a:srgbClr val="000000"/>
              </a:solidFill>
              <a:highlight>
                <a:srgbClr val="FFFFFF"/>
              </a:highlight>
              <a:latin typeface="Cascadia Mono" panose="020B0609020000020004" pitchFamily="49" charset="0"/>
            </a:endParaRP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a:t>
            </a:r>
          </a:p>
          <a:p>
            <a:r>
              <a:rPr lang="en-US" sz="1000" dirty="0">
                <a:solidFill>
                  <a:srgbClr val="0000FF"/>
                </a:solidFill>
                <a:highlight>
                  <a:srgbClr val="FFFFFF"/>
                </a:highlight>
                <a:latin typeface="Cascadia Mono" panose="020B0609020000020004" pitchFamily="49" charset="0"/>
              </a:rPr>
              <a:t>class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IssueAdd</a:t>
            </a:r>
            <a:r>
              <a:rPr lang="en-US" sz="1000" dirty="0">
                <a:solidFill>
                  <a:srgbClr val="000000"/>
                </a:solidFill>
                <a:highlight>
                  <a:srgbClr val="FFFFFF"/>
                </a:highlight>
                <a:latin typeface="Cascadia Mono" panose="020B0609020000020004" pitchFamily="49" charset="0"/>
              </a:rPr>
              <a:t> </a:t>
            </a:r>
            <a:r>
              <a:rPr lang="en-US" sz="1000" dirty="0">
                <a:solidFill>
                  <a:srgbClr val="0000FF"/>
                </a:solidFill>
                <a:highlight>
                  <a:srgbClr val="FFFFFF"/>
                </a:highlight>
                <a:latin typeface="Cascadia Mono" panose="020B0609020000020004" pitchFamily="49" charset="0"/>
              </a:rPr>
              <a:t>extends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React</a:t>
            </a:r>
            <a:r>
              <a:rPr lang="en-US" sz="1000" dirty="0" err="1">
                <a:solidFill>
                  <a:srgbClr val="000000"/>
                </a:solidFill>
                <a:highlight>
                  <a:srgbClr val="FFFFFF"/>
                </a:highlight>
                <a:latin typeface="Cascadia Mono" panose="020B0609020000020004" pitchFamily="49" charset="0"/>
              </a:rPr>
              <a:t>.Component</a:t>
            </a:r>
            <a:r>
              <a:rPr lang="en-US"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render()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return</a:t>
            </a:r>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div</a:t>
            </a:r>
            <a:r>
              <a:rPr lang="en-IN" sz="1000" dirty="0">
                <a:solidFill>
                  <a:srgbClr val="0000FF"/>
                </a:solidFill>
                <a:highlight>
                  <a:srgbClr val="FFFFFF"/>
                </a:highlight>
                <a:latin typeface="Cascadia Mono" panose="020B0609020000020004" pitchFamily="49" charset="0"/>
              </a:rPr>
              <a:t>&gt;</a:t>
            </a:r>
            <a:r>
              <a:rPr lang="en-US" sz="1000" dirty="0">
                <a:solidFill>
                  <a:srgbClr val="555555"/>
                </a:solidFill>
                <a:highlight>
                  <a:srgbClr val="FFFFFF"/>
                </a:highlight>
                <a:latin typeface="Cascadia Mono" panose="020B0609020000020004" pitchFamily="49" charset="0"/>
              </a:rPr>
              <a:t>This is a placeholder for a form to add an issue.</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div</a:t>
            </a:r>
            <a:r>
              <a:rPr lang="en-IN" sz="1000" dirty="0">
                <a:solidFill>
                  <a:srgbClr val="0000FF"/>
                </a:solidFill>
                <a:highlight>
                  <a:srgbClr val="FFFFFF"/>
                </a:highlight>
                <a:latin typeface="Cascadia Mono" panose="020B0609020000020004" pitchFamily="49" charset="0"/>
              </a:rPr>
              <a:t>&gt;</a:t>
            </a:r>
            <a:endParaRPr lang="en-IN" sz="1000" dirty="0">
              <a:solidFill>
                <a:srgbClr val="000000"/>
              </a:solidFill>
              <a:highlight>
                <a:srgbClr val="FFFFFF"/>
              </a:highlight>
              <a:latin typeface="Cascadia Mono" panose="020B0609020000020004" pitchFamily="49" charset="0"/>
            </a:endParaRP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a:t>
            </a:r>
          </a:p>
          <a:p>
            <a:r>
              <a:rPr lang="en-US" sz="1000" dirty="0">
                <a:solidFill>
                  <a:srgbClr val="0000FF"/>
                </a:solidFill>
                <a:highlight>
                  <a:srgbClr val="FFFFFF"/>
                </a:highlight>
                <a:latin typeface="Cascadia Mono" panose="020B0609020000020004" pitchFamily="49" charset="0"/>
              </a:rPr>
              <a:t>class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IssueList</a:t>
            </a:r>
            <a:r>
              <a:rPr lang="en-US" sz="1000" dirty="0">
                <a:solidFill>
                  <a:srgbClr val="000000"/>
                </a:solidFill>
                <a:highlight>
                  <a:srgbClr val="FFFFFF"/>
                </a:highlight>
                <a:latin typeface="Cascadia Mono" panose="020B0609020000020004" pitchFamily="49" charset="0"/>
              </a:rPr>
              <a:t> </a:t>
            </a:r>
            <a:r>
              <a:rPr lang="en-US" sz="1000" dirty="0">
                <a:solidFill>
                  <a:srgbClr val="0000FF"/>
                </a:solidFill>
                <a:highlight>
                  <a:srgbClr val="FFFFFF"/>
                </a:highlight>
                <a:latin typeface="Cascadia Mono" panose="020B0609020000020004" pitchFamily="49" charset="0"/>
              </a:rPr>
              <a:t>extends</a:t>
            </a:r>
            <a:r>
              <a:rPr lang="en-US" sz="1000" dirty="0">
                <a:solidFill>
                  <a:srgbClr val="000000"/>
                </a:solidFill>
                <a:highlight>
                  <a:srgbClr val="FFFFFF"/>
                </a:highlight>
                <a:latin typeface="Cascadia Mono" panose="020B0609020000020004" pitchFamily="49" charset="0"/>
              </a:rPr>
              <a:t> </a:t>
            </a:r>
            <a:r>
              <a:rPr lang="en-US" sz="1000" dirty="0" err="1">
                <a:solidFill>
                  <a:srgbClr val="2B91AF"/>
                </a:solidFill>
                <a:highlight>
                  <a:srgbClr val="FFFFFF"/>
                </a:highlight>
                <a:latin typeface="Cascadia Mono" panose="020B0609020000020004" pitchFamily="49" charset="0"/>
              </a:rPr>
              <a:t>React</a:t>
            </a:r>
            <a:r>
              <a:rPr lang="en-US" sz="1000" dirty="0" err="1">
                <a:solidFill>
                  <a:srgbClr val="000000"/>
                </a:solidFill>
                <a:highlight>
                  <a:srgbClr val="FFFFFF"/>
                </a:highlight>
                <a:latin typeface="Cascadia Mono" panose="020B0609020000020004" pitchFamily="49" charset="0"/>
              </a:rPr>
              <a:t>.Component</a:t>
            </a:r>
            <a:r>
              <a:rPr lang="en-US"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render()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return</a:t>
            </a:r>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err="1">
                <a:solidFill>
                  <a:srgbClr val="2B91AF"/>
                </a:solidFill>
                <a:highlight>
                  <a:srgbClr val="FFFFFF"/>
                </a:highlight>
                <a:latin typeface="Cascadia Mono" panose="020B0609020000020004" pitchFamily="49" charset="0"/>
              </a:rPr>
              <a:t>React.Fragment</a:t>
            </a:r>
            <a:r>
              <a:rPr lang="en-IN" sz="1000" dirty="0">
                <a:solidFill>
                  <a:srgbClr val="0000FF"/>
                </a:solidFill>
                <a:highlight>
                  <a:srgbClr val="FFFFFF"/>
                </a:highlight>
                <a:latin typeface="Cascadia Mono" panose="020B0609020000020004" pitchFamily="49" charset="0"/>
              </a:rPr>
              <a:t>&gt;</a:t>
            </a:r>
            <a:endParaRPr lang="en-IN" sz="1000" dirty="0">
              <a:solidFill>
                <a:srgbClr val="555555"/>
              </a:solidFill>
              <a:highlight>
                <a:srgbClr val="FFFFFF"/>
              </a:highlight>
              <a:latin typeface="Cascadia Mono" panose="020B0609020000020004" pitchFamily="49" charset="0"/>
            </a:endParaRPr>
          </a:p>
          <a:p>
            <a:r>
              <a:rPr lang="en-IN" sz="1000" dirty="0">
                <a:solidFill>
                  <a:srgbClr val="555555"/>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h1</a:t>
            </a:r>
            <a:r>
              <a:rPr lang="en-IN" sz="1000" dirty="0">
                <a:solidFill>
                  <a:srgbClr val="0000FF"/>
                </a:solidFill>
                <a:highlight>
                  <a:srgbClr val="FFFFFF"/>
                </a:highlight>
                <a:latin typeface="Cascadia Mono" panose="020B0609020000020004" pitchFamily="49" charset="0"/>
              </a:rPr>
              <a:t>&gt;</a:t>
            </a:r>
            <a:r>
              <a:rPr lang="en-IN" sz="1000" dirty="0">
                <a:solidFill>
                  <a:srgbClr val="555555"/>
                </a:solidFill>
                <a:highlight>
                  <a:srgbClr val="FFFFFF"/>
                </a:highlight>
                <a:latin typeface="Cascadia Mono" panose="020B0609020000020004" pitchFamily="49" charset="0"/>
              </a:rPr>
              <a:t>Issue Tracker</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h1</a:t>
            </a:r>
            <a:r>
              <a:rPr lang="en-IN" sz="1000" dirty="0">
                <a:solidFill>
                  <a:srgbClr val="0000FF"/>
                </a:solidFill>
                <a:highlight>
                  <a:srgbClr val="FFFFFF"/>
                </a:highlight>
                <a:latin typeface="Cascadia Mono" panose="020B0609020000020004" pitchFamily="49" charset="0"/>
              </a:rPr>
              <a:t>&gt;</a:t>
            </a:r>
            <a:endParaRPr lang="en-IN" sz="1000" dirty="0">
              <a:solidFill>
                <a:srgbClr val="555555"/>
              </a:solidFill>
              <a:highlight>
                <a:srgbClr val="FFFFFF"/>
              </a:highlight>
              <a:latin typeface="Cascadia Mono" panose="020B0609020000020004" pitchFamily="49" charset="0"/>
            </a:endParaRPr>
          </a:p>
          <a:p>
            <a:endParaRPr lang="en-IN" sz="1000" dirty="0">
              <a:solidFill>
                <a:srgbClr val="555555"/>
              </a:solidFill>
              <a:highlight>
                <a:srgbClr val="FFFFFF"/>
              </a:highlight>
              <a:latin typeface="Cascadia Mono" panose="020B0609020000020004" pitchFamily="49" charset="0"/>
            </a:endParaRPr>
          </a:p>
          <a:p>
            <a:r>
              <a:rPr lang="en-IN" sz="1000" dirty="0">
                <a:solidFill>
                  <a:srgbClr val="555555"/>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err="1">
                <a:solidFill>
                  <a:srgbClr val="2B91AF"/>
                </a:solidFill>
                <a:highlight>
                  <a:srgbClr val="FFFFFF"/>
                </a:highlight>
                <a:latin typeface="Cascadia Mono" panose="020B0609020000020004" pitchFamily="49" charset="0"/>
              </a:rPr>
              <a:t>IssueFilter</a:t>
            </a:r>
            <a:r>
              <a:rPr lang="en-IN" sz="1000" dirty="0">
                <a:solidFill>
                  <a:srgbClr val="8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/&gt;</a:t>
            </a:r>
            <a:r>
              <a:rPr lang="en-IN" sz="1000" dirty="0">
                <a:solidFill>
                  <a:srgbClr val="555555"/>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hr </a:t>
            </a:r>
            <a:r>
              <a:rPr lang="en-IN" sz="1000" dirty="0">
                <a:solidFill>
                  <a:srgbClr val="0000FF"/>
                </a:solidFill>
                <a:highlight>
                  <a:srgbClr val="FFFFFF"/>
                </a:highlight>
                <a:latin typeface="Cascadia Mono" panose="020B0609020000020004" pitchFamily="49" charset="0"/>
              </a:rPr>
              <a:t>/&gt;</a:t>
            </a:r>
            <a:endParaRPr lang="en-IN" sz="1000" dirty="0">
              <a:solidFill>
                <a:srgbClr val="555555"/>
              </a:solidFill>
              <a:highlight>
                <a:srgbClr val="FFFFFF"/>
              </a:highlight>
              <a:latin typeface="Cascadia Mono" panose="020B0609020000020004" pitchFamily="49" charset="0"/>
            </a:endParaRPr>
          </a:p>
          <a:p>
            <a:endParaRPr lang="en-IN" sz="1000" dirty="0">
              <a:solidFill>
                <a:srgbClr val="555555"/>
              </a:solidFill>
              <a:highlight>
                <a:srgbClr val="FFFFFF"/>
              </a:highlight>
              <a:latin typeface="Cascadia Mono" panose="020B0609020000020004" pitchFamily="49" charset="0"/>
            </a:endParaRPr>
          </a:p>
          <a:p>
            <a:r>
              <a:rPr lang="en-IN" sz="1000" dirty="0">
                <a:solidFill>
                  <a:srgbClr val="555555"/>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err="1">
                <a:solidFill>
                  <a:srgbClr val="2B91AF"/>
                </a:solidFill>
                <a:highlight>
                  <a:srgbClr val="FFFFFF"/>
                </a:highlight>
                <a:latin typeface="Cascadia Mono" panose="020B0609020000020004" pitchFamily="49" charset="0"/>
              </a:rPr>
              <a:t>IssueTable</a:t>
            </a:r>
            <a:r>
              <a:rPr lang="en-IN" sz="1000" dirty="0">
                <a:solidFill>
                  <a:srgbClr val="8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/&gt;</a:t>
            </a:r>
            <a:r>
              <a:rPr lang="en-IN" sz="1000" dirty="0">
                <a:solidFill>
                  <a:srgbClr val="555555"/>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a:solidFill>
                  <a:srgbClr val="800000"/>
                </a:solidFill>
                <a:highlight>
                  <a:srgbClr val="FFFFFF"/>
                </a:highlight>
                <a:latin typeface="Cascadia Mono" panose="020B0609020000020004" pitchFamily="49" charset="0"/>
              </a:rPr>
              <a:t>hr </a:t>
            </a:r>
            <a:r>
              <a:rPr lang="en-IN" sz="1000" dirty="0">
                <a:solidFill>
                  <a:srgbClr val="0000FF"/>
                </a:solidFill>
                <a:highlight>
                  <a:srgbClr val="FFFFFF"/>
                </a:highlight>
                <a:latin typeface="Cascadia Mono" panose="020B0609020000020004" pitchFamily="49" charset="0"/>
              </a:rPr>
              <a:t>/&gt;</a:t>
            </a:r>
            <a:endParaRPr lang="en-IN" sz="1000" dirty="0">
              <a:solidFill>
                <a:srgbClr val="555555"/>
              </a:solidFill>
              <a:highlight>
                <a:srgbClr val="FFFFFF"/>
              </a:highlight>
              <a:latin typeface="Cascadia Mono" panose="020B0609020000020004" pitchFamily="49" charset="0"/>
            </a:endParaRPr>
          </a:p>
          <a:p>
            <a:endParaRPr lang="en-IN" sz="1000" dirty="0">
              <a:solidFill>
                <a:srgbClr val="555555"/>
              </a:solidFill>
              <a:highlight>
                <a:srgbClr val="FFFFFF"/>
              </a:highlight>
              <a:latin typeface="Cascadia Mono" panose="020B0609020000020004" pitchFamily="49" charset="0"/>
            </a:endParaRPr>
          </a:p>
          <a:p>
            <a:r>
              <a:rPr lang="en-IN" sz="1000" dirty="0">
                <a:solidFill>
                  <a:srgbClr val="555555"/>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err="1">
                <a:solidFill>
                  <a:srgbClr val="2B91AF"/>
                </a:solidFill>
                <a:highlight>
                  <a:srgbClr val="FFFFFF"/>
                </a:highlight>
                <a:latin typeface="Cascadia Mono" panose="020B0609020000020004" pitchFamily="49" charset="0"/>
              </a:rPr>
              <a:t>IssueAdd</a:t>
            </a:r>
            <a:r>
              <a:rPr lang="en-IN" sz="1000" dirty="0">
                <a:solidFill>
                  <a:srgbClr val="8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/&gt;</a:t>
            </a:r>
            <a:endParaRPr lang="en-IN" sz="1000" dirty="0">
              <a:solidFill>
                <a:srgbClr val="555555"/>
              </a:solidFill>
              <a:highlight>
                <a:srgbClr val="FFFFFF"/>
              </a:highlight>
              <a:latin typeface="Cascadia Mono" panose="020B0609020000020004" pitchFamily="49" charset="0"/>
            </a:endParaRPr>
          </a:p>
          <a:p>
            <a:r>
              <a:rPr lang="en-IN" sz="1000" dirty="0">
                <a:solidFill>
                  <a:srgbClr val="555555"/>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&lt;/</a:t>
            </a:r>
            <a:r>
              <a:rPr lang="en-IN" sz="1000" dirty="0" err="1">
                <a:solidFill>
                  <a:srgbClr val="2B91AF"/>
                </a:solidFill>
                <a:highlight>
                  <a:srgbClr val="FFFFFF"/>
                </a:highlight>
                <a:latin typeface="Cascadia Mono" panose="020B0609020000020004" pitchFamily="49" charset="0"/>
              </a:rPr>
              <a:t>React.Fragment</a:t>
            </a:r>
            <a:r>
              <a:rPr lang="en-IN" sz="1000" dirty="0">
                <a:solidFill>
                  <a:srgbClr val="0000FF"/>
                </a:solidFill>
                <a:highlight>
                  <a:srgbClr val="FFFFFF"/>
                </a:highlight>
                <a:latin typeface="Cascadia Mono" panose="020B0609020000020004" pitchFamily="49" charset="0"/>
              </a:rPr>
              <a:t>&gt;</a:t>
            </a:r>
            <a:endParaRPr lang="en-IN" sz="1000" dirty="0">
              <a:solidFill>
                <a:srgbClr val="000000"/>
              </a:solidFill>
              <a:highlight>
                <a:srgbClr val="FFFFFF"/>
              </a:highlight>
              <a:latin typeface="Cascadia Mono" panose="020B0609020000020004" pitchFamily="49" charset="0"/>
            </a:endParaRP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    }</a:t>
            </a:r>
          </a:p>
          <a:p>
            <a:r>
              <a:rPr lang="en-IN" sz="1000" dirty="0">
                <a:solidFill>
                  <a:srgbClr val="000000"/>
                </a:solidFill>
                <a:highlight>
                  <a:srgbClr val="FFFFFF"/>
                </a:highlight>
                <a:latin typeface="Cascadia Mono" panose="020B0609020000020004" pitchFamily="49" charset="0"/>
              </a:rPr>
              <a:t>}</a:t>
            </a:r>
          </a:p>
          <a:p>
            <a:r>
              <a:rPr lang="en-IN" sz="1000" dirty="0" err="1">
                <a:solidFill>
                  <a:srgbClr val="0000FF"/>
                </a:solidFill>
                <a:highlight>
                  <a:srgbClr val="FFFFFF"/>
                </a:highlight>
                <a:latin typeface="Cascadia Mono" panose="020B0609020000020004" pitchFamily="49" charset="0"/>
              </a:rPr>
              <a:t>const</a:t>
            </a:r>
            <a:r>
              <a:rPr lang="en-IN" sz="1000" dirty="0">
                <a:solidFill>
                  <a:srgbClr val="000000"/>
                </a:solidFill>
                <a:highlight>
                  <a:srgbClr val="FFFFFF"/>
                </a:highlight>
                <a:latin typeface="Cascadia Mono" panose="020B0609020000020004" pitchFamily="49" charset="0"/>
              </a:rPr>
              <a:t> element = </a:t>
            </a:r>
            <a:r>
              <a:rPr lang="en-IN" sz="1000" dirty="0">
                <a:solidFill>
                  <a:srgbClr val="0000FF"/>
                </a:solidFill>
                <a:highlight>
                  <a:srgbClr val="FFFFFF"/>
                </a:highlight>
                <a:latin typeface="Cascadia Mono" panose="020B0609020000020004" pitchFamily="49" charset="0"/>
              </a:rPr>
              <a:t>&lt;</a:t>
            </a:r>
            <a:r>
              <a:rPr lang="en-IN" sz="1000" dirty="0" err="1">
                <a:solidFill>
                  <a:srgbClr val="2B91AF"/>
                </a:solidFill>
                <a:highlight>
                  <a:srgbClr val="FFFFFF"/>
                </a:highlight>
                <a:latin typeface="Cascadia Mono" panose="020B0609020000020004" pitchFamily="49" charset="0"/>
              </a:rPr>
              <a:t>IssueList</a:t>
            </a:r>
            <a:r>
              <a:rPr lang="en-IN" sz="1000" dirty="0">
                <a:solidFill>
                  <a:srgbClr val="800000"/>
                </a:solidFill>
                <a:highlight>
                  <a:srgbClr val="FFFFFF"/>
                </a:highlight>
                <a:latin typeface="Cascadia Mono" panose="020B0609020000020004" pitchFamily="49" charset="0"/>
              </a:rPr>
              <a:t> </a:t>
            </a:r>
            <a:r>
              <a:rPr lang="en-IN" sz="1000" dirty="0">
                <a:solidFill>
                  <a:srgbClr val="0000FF"/>
                </a:solidFill>
                <a:highlight>
                  <a:srgbClr val="FFFFFF"/>
                </a:highlight>
                <a:latin typeface="Cascadia Mono" panose="020B0609020000020004" pitchFamily="49" charset="0"/>
              </a:rPr>
              <a:t>/&gt;</a:t>
            </a:r>
            <a:r>
              <a:rPr lang="en-IN" sz="1000" dirty="0">
                <a:solidFill>
                  <a:srgbClr val="000000"/>
                </a:solidFill>
                <a:highlight>
                  <a:srgbClr val="FFFFFF"/>
                </a:highlight>
                <a:latin typeface="Cascadia Mono" panose="020B0609020000020004" pitchFamily="49" charset="0"/>
              </a:rPr>
              <a:t>;</a:t>
            </a:r>
          </a:p>
          <a:p>
            <a:r>
              <a:rPr lang="en-IN" sz="1000" dirty="0" err="1">
                <a:solidFill>
                  <a:srgbClr val="000000"/>
                </a:solidFill>
                <a:highlight>
                  <a:srgbClr val="FFFFFF"/>
                </a:highlight>
                <a:latin typeface="Cascadia Mono" panose="020B0609020000020004" pitchFamily="49" charset="0"/>
              </a:rPr>
              <a:t>ReactDOM.render</a:t>
            </a:r>
            <a:r>
              <a:rPr lang="en-IN" sz="1000" dirty="0">
                <a:solidFill>
                  <a:srgbClr val="000000"/>
                </a:solidFill>
                <a:highlight>
                  <a:srgbClr val="FFFFFF"/>
                </a:highlight>
                <a:latin typeface="Cascadia Mono" panose="020B0609020000020004" pitchFamily="49" charset="0"/>
              </a:rPr>
              <a:t>( </a:t>
            </a:r>
            <a:r>
              <a:rPr lang="en-IN" sz="1000" dirty="0" err="1">
                <a:solidFill>
                  <a:srgbClr val="000000"/>
                </a:solidFill>
                <a:highlight>
                  <a:srgbClr val="FFFFFF"/>
                </a:highlight>
                <a:latin typeface="Cascadia Mono" panose="020B0609020000020004" pitchFamily="49" charset="0"/>
              </a:rPr>
              <a:t>element,document.getElementById</a:t>
            </a:r>
            <a:r>
              <a:rPr lang="en-IN" sz="1000" dirty="0">
                <a:solidFill>
                  <a:srgbClr val="000000"/>
                </a:solidFill>
                <a:highlight>
                  <a:srgbClr val="FFFFFF"/>
                </a:highlight>
                <a:latin typeface="Cascadia Mono" panose="020B0609020000020004" pitchFamily="49" charset="0"/>
              </a:rPr>
              <a:t>(</a:t>
            </a:r>
            <a:r>
              <a:rPr lang="en-IN" sz="1000" dirty="0">
                <a:solidFill>
                  <a:srgbClr val="A31515"/>
                </a:solidFill>
                <a:highlight>
                  <a:srgbClr val="FFFFFF"/>
                </a:highlight>
                <a:latin typeface="Cascadia Mono" panose="020B0609020000020004" pitchFamily="49" charset="0"/>
              </a:rPr>
              <a:t>'contents'</a:t>
            </a:r>
            <a:r>
              <a:rPr lang="en-IN" sz="1000" dirty="0">
                <a:solidFill>
                  <a:srgbClr val="000000"/>
                </a:solidFill>
                <a:highlight>
                  <a:srgbClr val="FFFFFF"/>
                </a:highlight>
                <a:latin typeface="Cascadia Mono" panose="020B0609020000020004" pitchFamily="49" charset="0"/>
              </a:rPr>
              <a:t>)</a:t>
            </a:r>
          </a:p>
          <a:p>
            <a:r>
              <a:rPr lang="en-IN" sz="1000" dirty="0">
                <a:solidFill>
                  <a:srgbClr val="000000"/>
                </a:solidFill>
                <a:highlight>
                  <a:srgbClr val="FFFFFF"/>
                </a:highlight>
                <a:latin typeface="Cascadia Mono" panose="020B0609020000020004" pitchFamily="49" charset="0"/>
              </a:rPr>
              <a:t>);</a:t>
            </a:r>
            <a:endParaRPr lang="en-IN" sz="2000" dirty="0"/>
          </a:p>
        </p:txBody>
      </p:sp>
      <p:sp>
        <p:nvSpPr>
          <p:cNvPr id="4" name="TextBox 3">
            <a:extLst>
              <a:ext uri="{FF2B5EF4-FFF2-40B4-BE49-F238E27FC236}">
                <a16:creationId xmlns:a16="http://schemas.microsoft.com/office/drawing/2014/main" id="{D00D4201-B1E0-7FAA-D41C-BA9A013ED43A}"/>
              </a:ext>
            </a:extLst>
          </p:cNvPr>
          <p:cNvSpPr txBox="1"/>
          <p:nvPr/>
        </p:nvSpPr>
        <p:spPr>
          <a:xfrm>
            <a:off x="6845417" y="343949"/>
            <a:ext cx="4572000" cy="646331"/>
          </a:xfrm>
          <a:prstGeom prst="rect">
            <a:avLst/>
          </a:prstGeom>
          <a:noFill/>
        </p:spPr>
        <p:txBody>
          <a:bodyPr wrap="square" rtlCol="0">
            <a:spAutoFit/>
          </a:bodyPr>
          <a:lstStyle/>
          <a:p>
            <a:r>
              <a:rPr lang="en-US" dirty="0"/>
              <a:t>Folder structure:</a:t>
            </a:r>
          </a:p>
          <a:p>
            <a:endParaRPr lang="en-IN" dirty="0"/>
          </a:p>
        </p:txBody>
      </p:sp>
      <p:pic>
        <p:nvPicPr>
          <p:cNvPr id="6" name="Picture 5">
            <a:extLst>
              <a:ext uri="{FF2B5EF4-FFF2-40B4-BE49-F238E27FC236}">
                <a16:creationId xmlns:a16="http://schemas.microsoft.com/office/drawing/2014/main" id="{63AA9B26-0235-A013-9BE9-78E81050E51A}"/>
              </a:ext>
            </a:extLst>
          </p:cNvPr>
          <p:cNvPicPr>
            <a:picLocks noChangeAspect="1"/>
          </p:cNvPicPr>
          <p:nvPr/>
        </p:nvPicPr>
        <p:blipFill>
          <a:blip r:embed="rId2"/>
          <a:stretch>
            <a:fillRect/>
          </a:stretch>
        </p:blipFill>
        <p:spPr>
          <a:xfrm>
            <a:off x="7238061" y="754008"/>
            <a:ext cx="3894270" cy="3683768"/>
          </a:xfrm>
          <a:prstGeom prst="rect">
            <a:avLst/>
          </a:prstGeom>
        </p:spPr>
      </p:pic>
    </p:spTree>
    <p:extLst>
      <p:ext uri="{BB962C8B-B14F-4D97-AF65-F5344CB8AC3E}">
        <p14:creationId xmlns:p14="http://schemas.microsoft.com/office/powerpoint/2010/main" val="1658358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EA78-7DC2-F3ED-99CD-F538EB2BA52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78A8910-857F-4700-9B7F-E706B8E571F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Passing Data Using Properties</a:t>
            </a:r>
          </a:p>
          <a:p>
            <a:pPr lvl="1">
              <a:buFont typeface="Arial" panose="020B0604020202020204" pitchFamily="34" charset="0"/>
              <a:buChar char="•"/>
            </a:pPr>
            <a:r>
              <a:rPr lang="en-IN" sz="1800" dirty="0"/>
              <a:t>Composing components without any variables is not so interesting. </a:t>
            </a:r>
          </a:p>
          <a:p>
            <a:pPr lvl="1">
              <a:buFont typeface="Arial" panose="020B0604020202020204" pitchFamily="34" charset="0"/>
              <a:buChar char="•"/>
            </a:pPr>
            <a:r>
              <a:rPr lang="en-IN" sz="1800" dirty="0"/>
              <a:t>It should be possible to pass different input data from a parent component to a child component and make it render differently on different instances.</a:t>
            </a:r>
          </a:p>
          <a:p>
            <a:pPr lvl="1">
              <a:buFont typeface="Arial" panose="020B0604020202020204" pitchFamily="34" charset="0"/>
              <a:buChar char="•"/>
            </a:pPr>
            <a:endParaRPr lang="en-IN" sz="1800" dirty="0"/>
          </a:p>
          <a:p>
            <a:pPr lvl="1">
              <a:buFont typeface="Arial" panose="020B0604020202020204" pitchFamily="34" charset="0"/>
              <a:buChar char="•"/>
            </a:pPr>
            <a:r>
              <a:rPr lang="en-IN" sz="1800" dirty="0"/>
              <a:t>Example:</a:t>
            </a:r>
          </a:p>
          <a:p>
            <a:pPr lvl="1">
              <a:buFont typeface="Arial" panose="020B0604020202020204" pitchFamily="34" charset="0"/>
              <a:buChar char="•"/>
            </a:pPr>
            <a:r>
              <a:rPr lang="en-IN" sz="1800" dirty="0"/>
              <a:t>In the Issue Tracker application, one such component that can be instantiated with different inputs is a table-row showing an individual issue. </a:t>
            </a:r>
          </a:p>
          <a:p>
            <a:pPr lvl="1">
              <a:buFont typeface="Arial" panose="020B0604020202020204" pitchFamily="34" charset="0"/>
              <a:buChar char="•"/>
            </a:pPr>
            <a:r>
              <a:rPr lang="en-IN" sz="1800" dirty="0"/>
              <a:t>Depending on the inputs (an issue), the row can display different data.</a:t>
            </a:r>
          </a:p>
          <a:p>
            <a:pPr lvl="1">
              <a:buFont typeface="Arial" panose="020B0604020202020204" pitchFamily="34" charset="0"/>
              <a:buChar char="•"/>
            </a:pPr>
            <a:endParaRPr lang="en-IN" sz="1800" dirty="0"/>
          </a:p>
          <a:p>
            <a:pPr lvl="1">
              <a:buFont typeface="Arial" panose="020B0604020202020204" pitchFamily="34" charset="0"/>
              <a:buChar char="•"/>
            </a:pPr>
            <a:endParaRPr lang="en-US" sz="1800"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20C32CBF-2927-816A-5439-0B1AAD74B7E1}"/>
              </a:ext>
            </a:extLst>
          </p:cNvPr>
          <p:cNvPicPr>
            <a:picLocks noChangeAspect="1"/>
          </p:cNvPicPr>
          <p:nvPr/>
        </p:nvPicPr>
        <p:blipFill>
          <a:blip r:embed="rId2"/>
          <a:stretch>
            <a:fillRect/>
          </a:stretch>
        </p:blipFill>
        <p:spPr>
          <a:xfrm>
            <a:off x="8156867" y="3106520"/>
            <a:ext cx="2933379" cy="3291108"/>
          </a:xfrm>
          <a:prstGeom prst="rect">
            <a:avLst/>
          </a:prstGeom>
        </p:spPr>
      </p:pic>
    </p:spTree>
    <p:extLst>
      <p:ext uri="{BB962C8B-B14F-4D97-AF65-F5344CB8AC3E}">
        <p14:creationId xmlns:p14="http://schemas.microsoft.com/office/powerpoint/2010/main" val="3813192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E376D-8B72-56D0-68CA-0287258EDF8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3F150FF-F3A3-42C5-7632-41678A148159}"/>
              </a:ext>
            </a:extLst>
          </p:cNvPr>
          <p:cNvSpPr txBox="1">
            <a:spLocks/>
          </p:cNvSpPr>
          <p:nvPr/>
        </p:nvSpPr>
        <p:spPr>
          <a:xfrm>
            <a:off x="360727" y="109057"/>
            <a:ext cx="11442583" cy="5760035"/>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 Create a component called </a:t>
            </a:r>
            <a:r>
              <a:rPr lang="en-IN" sz="1800" dirty="0" err="1"/>
              <a:t>IssueRow</a:t>
            </a:r>
            <a:r>
              <a:rPr lang="en-IN" sz="1800" dirty="0"/>
              <a:t>, and then use it multiple times within </a:t>
            </a:r>
            <a:r>
              <a:rPr lang="en-IN" sz="1800" dirty="0" err="1"/>
              <a:t>IssueTable</a:t>
            </a:r>
            <a:r>
              <a:rPr lang="en-IN" sz="1800" dirty="0"/>
              <a:t>, passing in different data to show different issues, like this:</a:t>
            </a:r>
            <a:endParaRPr lang="en-US" sz="1800" dirty="0"/>
          </a:p>
          <a:p>
            <a:pPr marL="658368" lvl="3" indent="0">
              <a:buNone/>
            </a:pPr>
            <a:r>
              <a:rPr lang="en-US" sz="1400" b="1" dirty="0"/>
              <a:t>...</a:t>
            </a:r>
          </a:p>
          <a:p>
            <a:pPr marL="658368" lvl="3" indent="0">
              <a:buNone/>
            </a:pPr>
            <a:r>
              <a:rPr lang="en-US" sz="1400" b="1" dirty="0"/>
              <a:t>class </a:t>
            </a:r>
            <a:r>
              <a:rPr lang="en-US" sz="1400" b="1" dirty="0" err="1"/>
              <a:t>IssueTable</a:t>
            </a:r>
            <a:r>
              <a:rPr lang="en-US" sz="1400" b="1" dirty="0"/>
              <a:t> extends </a:t>
            </a:r>
            <a:r>
              <a:rPr lang="en-US" sz="1400" b="1" dirty="0" err="1"/>
              <a:t>React.Component</a:t>
            </a:r>
            <a:r>
              <a:rPr lang="en-US" sz="1400" b="1" dirty="0"/>
              <a:t> {</a:t>
            </a:r>
          </a:p>
          <a:p>
            <a:pPr marL="658368" lvl="3" indent="0">
              <a:buNone/>
            </a:pPr>
            <a:r>
              <a:rPr lang="en-US" sz="1400" b="1" dirty="0"/>
              <a:t>	render() {</a:t>
            </a:r>
          </a:p>
          <a:p>
            <a:pPr marL="658368" lvl="3" indent="0">
              <a:buNone/>
            </a:pPr>
            <a:r>
              <a:rPr lang="en-US" sz="1400" b="1" dirty="0"/>
              <a:t>	    return (</a:t>
            </a:r>
          </a:p>
          <a:p>
            <a:pPr marL="658368" lvl="3" indent="0">
              <a:buNone/>
            </a:pPr>
            <a:r>
              <a:rPr lang="en-US" sz="1400" b="1" dirty="0"/>
              <a:t>	        &lt;table&gt;</a:t>
            </a:r>
          </a:p>
          <a:p>
            <a:pPr marL="658368" lvl="3" indent="0">
              <a:buNone/>
            </a:pPr>
            <a:r>
              <a:rPr lang="en-US" sz="1400" b="1" dirty="0"/>
              <a:t>		&lt;</a:t>
            </a:r>
            <a:r>
              <a:rPr lang="en-US" sz="1400" b="1" dirty="0" err="1"/>
              <a:t>thead</a:t>
            </a:r>
            <a:r>
              <a:rPr lang="en-US" sz="1400" b="1" dirty="0"/>
              <a:t>&gt;</a:t>
            </a:r>
          </a:p>
          <a:p>
            <a:pPr marL="658368" lvl="3" indent="0">
              <a:buNone/>
            </a:pPr>
            <a:r>
              <a:rPr lang="en-US" sz="1400" b="1" dirty="0"/>
              <a:t>		    &lt;tr&gt;</a:t>
            </a:r>
          </a:p>
          <a:p>
            <a:pPr marL="658368" lvl="3" indent="0">
              <a:buNone/>
            </a:pPr>
            <a:r>
              <a:rPr lang="en-US" sz="1400" b="1" dirty="0"/>
              <a:t>			&lt;</a:t>
            </a:r>
            <a:r>
              <a:rPr lang="en-US" sz="1400" b="1" dirty="0" err="1"/>
              <a:t>th</a:t>
            </a:r>
            <a:r>
              <a:rPr lang="en-US" sz="1400" b="1" dirty="0"/>
              <a:t>&gt;ID&lt;/</a:t>
            </a:r>
            <a:r>
              <a:rPr lang="en-US" sz="1400" b="1" dirty="0" err="1"/>
              <a:t>th</a:t>
            </a:r>
            <a:r>
              <a:rPr lang="en-US" sz="1400" b="1" dirty="0"/>
              <a:t>&gt;</a:t>
            </a:r>
          </a:p>
          <a:p>
            <a:pPr marL="658368" lvl="3" indent="0">
              <a:buNone/>
            </a:pPr>
            <a:r>
              <a:rPr lang="en-US" sz="1400" b="1" dirty="0"/>
              <a:t>			&lt;</a:t>
            </a:r>
            <a:r>
              <a:rPr lang="en-US" sz="1400" b="1" dirty="0" err="1"/>
              <a:t>th</a:t>
            </a:r>
            <a:r>
              <a:rPr lang="en-US" sz="1400" b="1" dirty="0"/>
              <a:t>&gt;Title&lt;/</a:t>
            </a:r>
            <a:r>
              <a:rPr lang="en-US" sz="1400" b="1" dirty="0" err="1"/>
              <a:t>th</a:t>
            </a:r>
            <a:r>
              <a:rPr lang="en-US" sz="1400" b="1" dirty="0"/>
              <a:t>&gt;</a:t>
            </a:r>
          </a:p>
          <a:p>
            <a:pPr marL="658368" lvl="3" indent="0">
              <a:buNone/>
            </a:pPr>
            <a:r>
              <a:rPr lang="en-US" sz="1400" b="1" dirty="0"/>
              <a:t>		   &lt;/tr&gt;</a:t>
            </a:r>
          </a:p>
          <a:p>
            <a:pPr marL="658368" lvl="3" indent="0">
              <a:buNone/>
            </a:pPr>
            <a:r>
              <a:rPr lang="en-US" sz="1400" b="1" dirty="0"/>
              <a:t>	                 &lt;/</a:t>
            </a:r>
            <a:r>
              <a:rPr lang="en-US" sz="1400" b="1" dirty="0" err="1"/>
              <a:t>thead</a:t>
            </a:r>
            <a:r>
              <a:rPr lang="en-US" sz="1400" b="1" dirty="0"/>
              <a:t>&gt;</a:t>
            </a:r>
          </a:p>
          <a:p>
            <a:pPr marL="658368" lvl="3" indent="0">
              <a:buNone/>
            </a:pPr>
            <a:r>
              <a:rPr lang="en-US" sz="1400" b="1" dirty="0"/>
              <a:t>                          &lt;</a:t>
            </a:r>
            <a:r>
              <a:rPr lang="en-US" sz="1400" b="1" dirty="0" err="1"/>
              <a:t>tbody</a:t>
            </a:r>
            <a:r>
              <a:rPr lang="en-US" sz="1400" b="1" dirty="0"/>
              <a:t>&gt;</a:t>
            </a:r>
          </a:p>
          <a:p>
            <a:pPr marL="658368" lvl="3" indent="0">
              <a:buNone/>
            </a:pPr>
            <a:r>
              <a:rPr lang="en-US" sz="1400" b="1" dirty="0"/>
              <a:t>                                    &lt;</a:t>
            </a:r>
            <a:r>
              <a:rPr lang="en-US" sz="1400" b="1" dirty="0" err="1"/>
              <a:t>IssueRow</a:t>
            </a:r>
            <a:r>
              <a:rPr lang="en-US" sz="1400" b="1" dirty="0"/>
              <a:t> /&gt; {/* somehow pass Issue 1 data to this */}</a:t>
            </a:r>
          </a:p>
          <a:p>
            <a:pPr marL="658368" lvl="3" indent="0">
              <a:buNone/>
            </a:pPr>
            <a:r>
              <a:rPr lang="en-US" sz="1400" b="1" dirty="0"/>
              <a:t>                                    &lt;</a:t>
            </a:r>
            <a:r>
              <a:rPr lang="en-US" sz="1400" b="1" dirty="0" err="1"/>
              <a:t>IssueRow</a:t>
            </a:r>
            <a:r>
              <a:rPr lang="en-US" sz="1400" b="1" dirty="0"/>
              <a:t> /&gt; {/* somehow pass Issue 2 data to this */}</a:t>
            </a:r>
          </a:p>
          <a:p>
            <a:pPr marL="658368" lvl="3" indent="0">
              <a:buNone/>
            </a:pPr>
            <a:r>
              <a:rPr lang="en-US" sz="1400" b="1" dirty="0"/>
              <a:t>                          &lt;/</a:t>
            </a:r>
            <a:r>
              <a:rPr lang="en-US" sz="1400" b="1" dirty="0" err="1"/>
              <a:t>tbody</a:t>
            </a:r>
            <a:r>
              <a:rPr lang="en-US" sz="1400" b="1" dirty="0"/>
              <a:t>&gt;</a:t>
            </a:r>
          </a:p>
          <a:p>
            <a:pPr marL="658368" lvl="3" indent="0">
              <a:buNone/>
            </a:pPr>
            <a:r>
              <a:rPr lang="en-US" sz="1400" b="1" dirty="0"/>
              <a:t>               &lt;/table&gt;</a:t>
            </a:r>
          </a:p>
          <a:p>
            <a:pPr marL="658368" lvl="3" indent="0">
              <a:buNone/>
            </a:pPr>
            <a:r>
              <a:rPr lang="en-US" sz="1400" b="1" dirty="0"/>
              <a:t>        );</a:t>
            </a:r>
          </a:p>
          <a:p>
            <a:pPr marL="658368" lvl="3" indent="0">
              <a:buNone/>
            </a:pPr>
            <a:r>
              <a:rPr lang="en-US" sz="1400" b="1" dirty="0"/>
              <a:t>    }</a:t>
            </a:r>
          </a:p>
          <a:p>
            <a:pPr marL="658368" lvl="3" indent="0">
              <a:buNone/>
            </a:pPr>
            <a:r>
              <a:rPr lang="en-US" sz="1400" b="1" dirty="0"/>
              <a:t>}</a:t>
            </a:r>
          </a:p>
          <a:p>
            <a:pPr marL="658368" lvl="3" indent="0">
              <a:buNone/>
            </a:pPr>
            <a:r>
              <a:rPr lang="en-US" sz="1400" dirty="0"/>
              <a:t>...</a:t>
            </a:r>
            <a:endParaRPr lang="en-IN" sz="1400" dirty="0"/>
          </a:p>
        </p:txBody>
      </p:sp>
    </p:spTree>
    <p:extLst>
      <p:ext uri="{BB962C8B-B14F-4D97-AF65-F5344CB8AC3E}">
        <p14:creationId xmlns:p14="http://schemas.microsoft.com/office/powerpoint/2010/main" val="2248554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670F9-EBCD-1778-4015-D204538A5E4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5A173A6-B6A2-0577-16E6-DD930CAD93A0}"/>
              </a:ext>
            </a:extLst>
          </p:cNvPr>
          <p:cNvSpPr txBox="1">
            <a:spLocks/>
          </p:cNvSpPr>
          <p:nvPr/>
        </p:nvSpPr>
        <p:spPr>
          <a:xfrm>
            <a:off x="360727" y="184559"/>
            <a:ext cx="11442583" cy="5684534"/>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The way to switch to the JavaScript world within any JSX snippet is to use curly braces</a:t>
            </a:r>
            <a:endParaRPr lang="en-IN" sz="1600" dirty="0"/>
          </a:p>
          <a:p>
            <a:pPr lvl="1">
              <a:buFont typeface="Arial" panose="020B0604020202020204" pitchFamily="34" charset="0"/>
              <a:buChar char="•"/>
            </a:pPr>
            <a:r>
              <a:rPr lang="en-IN" sz="1800" dirty="0"/>
              <a:t>The easiest way to pass data to child components is using an attribute when instantiating a component.</a:t>
            </a:r>
          </a:p>
          <a:p>
            <a:pPr lvl="1">
              <a:buFont typeface="Arial" panose="020B0604020202020204" pitchFamily="34" charset="0"/>
              <a:buChar char="•"/>
            </a:pPr>
            <a:r>
              <a:rPr lang="en-IN" sz="1800" dirty="0"/>
              <a:t>Any custom attribute can also be passed in a similar manner like this from </a:t>
            </a:r>
            <a:r>
              <a:rPr lang="en-IN" sz="1800" dirty="0" err="1"/>
              <a:t>IssueTable</a:t>
            </a:r>
            <a:r>
              <a:rPr lang="en-IN" sz="1800" dirty="0"/>
              <a:t>:</a:t>
            </a:r>
          </a:p>
          <a:p>
            <a:pPr marL="384048" lvl="2" indent="0">
              <a:buNone/>
            </a:pPr>
            <a:r>
              <a:rPr lang="en-US" sz="1800" b="1" dirty="0"/>
              <a:t>...</a:t>
            </a:r>
          </a:p>
          <a:p>
            <a:pPr marL="384048" lvl="2" indent="0">
              <a:buNone/>
            </a:pPr>
            <a:r>
              <a:rPr lang="en-US" sz="1800" b="1" dirty="0"/>
              <a:t>&lt;</a:t>
            </a:r>
            <a:r>
              <a:rPr lang="en-US" sz="1800" b="1" dirty="0" err="1"/>
              <a:t>IssueRow</a:t>
            </a:r>
            <a:r>
              <a:rPr lang="en-US" sz="1800" b="1" dirty="0"/>
              <a:t> </a:t>
            </a:r>
            <a:r>
              <a:rPr lang="en-US" sz="1800" b="1" dirty="0" err="1"/>
              <a:t>issue_title</a:t>
            </a:r>
            <a:r>
              <a:rPr lang="en-US" sz="1800" b="1" dirty="0"/>
              <a:t>="Title of the first issue" /&gt;</a:t>
            </a:r>
            <a:endParaRPr lang="en-IN" sz="1800" b="1" dirty="0"/>
          </a:p>
          <a:p>
            <a:pPr marL="384048" lvl="2" indent="0">
              <a:buNone/>
            </a:pPr>
            <a:r>
              <a:rPr lang="en-US" sz="1800" b="1" dirty="0"/>
              <a:t>...</a:t>
            </a:r>
          </a:p>
          <a:p>
            <a:pPr lvl="1">
              <a:buFont typeface="Arial" panose="020B0604020202020204" pitchFamily="34" charset="0"/>
              <a:buChar char="•"/>
            </a:pPr>
            <a:r>
              <a:rPr lang="en-IN" sz="1800" dirty="0"/>
              <a:t>Now, within the render() method of the child, the attribute’s value can be accessed via a special object variable called </a:t>
            </a:r>
            <a:r>
              <a:rPr lang="en-IN" sz="1800" dirty="0">
                <a:solidFill>
                  <a:srgbClr val="FF0000"/>
                </a:solidFill>
              </a:rPr>
              <a:t>props</a:t>
            </a:r>
            <a:r>
              <a:rPr lang="en-IN" sz="1800" dirty="0"/>
              <a:t>, which is available via the </a:t>
            </a:r>
            <a:r>
              <a:rPr lang="en-IN" sz="1800" dirty="0">
                <a:solidFill>
                  <a:srgbClr val="FF0000"/>
                </a:solidFill>
              </a:rPr>
              <a:t>this</a:t>
            </a:r>
            <a:r>
              <a:rPr lang="en-IN" sz="1800" dirty="0"/>
              <a:t> accessor.</a:t>
            </a:r>
          </a:p>
          <a:p>
            <a:pPr lvl="1">
              <a:buFont typeface="Arial" panose="020B0604020202020204" pitchFamily="34" charset="0"/>
              <a:buChar char="•"/>
            </a:pPr>
            <a:r>
              <a:rPr lang="en-IN" sz="1800" dirty="0"/>
              <a:t>For example, this is how the value of </a:t>
            </a:r>
            <a:r>
              <a:rPr lang="en-IN" sz="1800" dirty="0" err="1"/>
              <a:t>issue_title</a:t>
            </a:r>
            <a:r>
              <a:rPr lang="en-IN" sz="1800" dirty="0"/>
              <a:t> can be displayed within a cell in the </a:t>
            </a:r>
            <a:r>
              <a:rPr lang="en-IN" sz="1800" dirty="0" err="1"/>
              <a:t>IssueRow</a:t>
            </a:r>
            <a:r>
              <a:rPr lang="en-IN" sz="1800" dirty="0"/>
              <a:t> component:</a:t>
            </a:r>
          </a:p>
          <a:p>
            <a:pPr marL="384048" lvl="2" indent="0">
              <a:buNone/>
            </a:pPr>
            <a:r>
              <a:rPr lang="en-US" sz="1800" b="1" dirty="0"/>
              <a:t>...</a:t>
            </a:r>
          </a:p>
          <a:p>
            <a:pPr marL="384048" lvl="2" indent="0">
              <a:buNone/>
            </a:pPr>
            <a:r>
              <a:rPr lang="en-US" sz="1800" b="1" dirty="0"/>
              <a:t>&lt;td&gt;{</a:t>
            </a:r>
            <a:r>
              <a:rPr lang="en-US" sz="1800" b="1" dirty="0" err="1"/>
              <a:t>this.props.issue_title</a:t>
            </a:r>
            <a:r>
              <a:rPr lang="en-US" sz="1800" b="1" dirty="0"/>
              <a:t>}&lt;/td&gt;</a:t>
            </a:r>
            <a:endParaRPr lang="en-IN" sz="1800" b="1" dirty="0"/>
          </a:p>
          <a:p>
            <a:pPr marL="384048" lvl="2" indent="0">
              <a:buNone/>
            </a:pPr>
            <a:r>
              <a:rPr lang="en-US" sz="1800" b="1" dirty="0"/>
              <a:t>...</a:t>
            </a:r>
          </a:p>
          <a:p>
            <a:pPr lvl="1">
              <a:buFont typeface="Arial" panose="020B0604020202020204" pitchFamily="34" charset="0"/>
              <a:buChar char="•"/>
            </a:pPr>
            <a:r>
              <a:rPr lang="en-IN" sz="1800" dirty="0"/>
              <a:t>In this example a string is passed from one component to another. Other data types and even JavaScript objects can be passed this way. </a:t>
            </a:r>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420790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BAE1-F07E-0C3F-3EF0-2103788B331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35F1DB8-CB3B-F850-4813-6892EE9BE5D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So, let’s pass the issue’s title (as a string), its ID (as a number), and the row style (as an object) from </a:t>
            </a:r>
            <a:r>
              <a:rPr lang="en-IN" sz="1800" dirty="0" err="1"/>
              <a:t>IssueTable</a:t>
            </a:r>
            <a:r>
              <a:rPr lang="en-IN" sz="1800" dirty="0"/>
              <a:t> to </a:t>
            </a:r>
            <a:r>
              <a:rPr lang="en-IN" sz="1800" dirty="0" err="1"/>
              <a:t>IssueRow</a:t>
            </a:r>
            <a:r>
              <a:rPr lang="en-IN" sz="1800" dirty="0"/>
              <a:t>. </a:t>
            </a:r>
          </a:p>
          <a:p>
            <a:pPr>
              <a:buFont typeface="Arial" panose="020B0604020202020204" pitchFamily="34" charset="0"/>
              <a:buChar char="•"/>
            </a:pPr>
            <a:r>
              <a:rPr lang="en-IN" sz="1800" dirty="0"/>
              <a:t>Within the </a:t>
            </a:r>
            <a:r>
              <a:rPr lang="en-IN" sz="1800" dirty="0" err="1"/>
              <a:t>IssueRow</a:t>
            </a:r>
            <a:r>
              <a:rPr lang="en-IN" sz="1800" dirty="0"/>
              <a:t> class, we’ll use these passed-in properties to display the ID and title and set the style of the row, by accessing these properties through </a:t>
            </a:r>
            <a:r>
              <a:rPr lang="en-IN" sz="1800" dirty="0" err="1"/>
              <a:t>this.props</a:t>
            </a:r>
            <a:r>
              <a:rPr lang="en-IN" sz="1800" dirty="0"/>
              <a:t>.</a:t>
            </a:r>
          </a:p>
          <a:p>
            <a:pPr>
              <a:buFont typeface="Arial" panose="020B0604020202020204" pitchFamily="34" charset="0"/>
              <a:buChar char="•"/>
            </a:pPr>
            <a:r>
              <a:rPr lang="en-IN" sz="1800" b="1" dirty="0" err="1"/>
              <a:t>App.jsx</a:t>
            </a:r>
            <a:r>
              <a:rPr lang="en-IN" sz="1800" b="1" dirty="0"/>
              <a:t>: </a:t>
            </a:r>
            <a:r>
              <a:rPr lang="en-IN" sz="1800" b="1" dirty="0" err="1"/>
              <a:t>IssueRow</a:t>
            </a:r>
            <a:r>
              <a:rPr lang="en-IN" sz="1800" b="1" dirty="0"/>
              <a:t> Component, Accessing Passed-in Properties</a:t>
            </a:r>
          </a:p>
          <a:p>
            <a:pPr marL="201168" lvl="1" indent="0">
              <a:buNone/>
            </a:pPr>
            <a:r>
              <a:rPr lang="en-IN" sz="1600" b="1" dirty="0"/>
              <a:t>class </a:t>
            </a:r>
            <a:r>
              <a:rPr lang="en-IN" sz="1600" b="1" dirty="0" err="1"/>
              <a:t>IssueRow</a:t>
            </a:r>
            <a:r>
              <a:rPr lang="en-IN" sz="1600" b="1" dirty="0"/>
              <a:t> extends </a:t>
            </a:r>
            <a:r>
              <a:rPr lang="en-IN" sz="1600" b="1" dirty="0" err="1"/>
              <a:t>React.Component</a:t>
            </a:r>
            <a:r>
              <a:rPr lang="en-IN" sz="1600" b="1" dirty="0"/>
              <a:t> {</a:t>
            </a:r>
          </a:p>
          <a:p>
            <a:pPr marL="201168" lvl="1" indent="0">
              <a:buNone/>
            </a:pPr>
            <a:r>
              <a:rPr lang="en-IN" sz="1600" b="1" dirty="0"/>
              <a:t>    render() {</a:t>
            </a:r>
          </a:p>
          <a:p>
            <a:pPr marL="201168" lvl="1" indent="0">
              <a:buNone/>
            </a:pPr>
            <a:r>
              <a:rPr lang="en-IN" sz="1600" b="1" dirty="0"/>
              <a:t>       </a:t>
            </a:r>
            <a:r>
              <a:rPr lang="en-IN" sz="1600" b="1" dirty="0" err="1"/>
              <a:t>const</a:t>
            </a:r>
            <a:r>
              <a:rPr lang="en-IN" sz="1600" b="1" dirty="0"/>
              <a:t> style = </a:t>
            </a:r>
            <a:r>
              <a:rPr lang="en-IN" sz="1600" b="1" dirty="0" err="1"/>
              <a:t>this.props.rowStyle</a:t>
            </a:r>
            <a:r>
              <a:rPr lang="en-IN" sz="1600" b="1" dirty="0"/>
              <a:t>;</a:t>
            </a:r>
          </a:p>
          <a:p>
            <a:pPr marL="201168" lvl="1" indent="0">
              <a:buNone/>
            </a:pPr>
            <a:r>
              <a:rPr lang="en-IN" sz="1600" b="1" dirty="0"/>
              <a:t>            return (</a:t>
            </a:r>
          </a:p>
          <a:p>
            <a:pPr marL="201168" lvl="1" indent="0">
              <a:buNone/>
            </a:pPr>
            <a:r>
              <a:rPr lang="en-IN" sz="1600" b="1" dirty="0"/>
              <a:t>                &lt;tr&gt;</a:t>
            </a:r>
          </a:p>
          <a:p>
            <a:pPr marL="201168" lvl="1" indent="0">
              <a:buNone/>
            </a:pPr>
            <a:r>
              <a:rPr lang="en-IN" sz="1600" b="1" dirty="0"/>
              <a:t>                        &lt;td style={style}&gt;{</a:t>
            </a:r>
            <a:r>
              <a:rPr lang="en-IN" sz="1600" b="1" dirty="0" err="1"/>
              <a:t>this.props.issue_id</a:t>
            </a:r>
            <a:r>
              <a:rPr lang="en-IN" sz="1600" b="1" dirty="0"/>
              <a:t>}&lt;/td&gt;</a:t>
            </a:r>
          </a:p>
          <a:p>
            <a:pPr marL="201168" lvl="1" indent="0">
              <a:buNone/>
            </a:pPr>
            <a:r>
              <a:rPr lang="en-IN" sz="1600" b="1" dirty="0"/>
              <a:t>                        &lt;td style={style}&gt;{</a:t>
            </a:r>
            <a:r>
              <a:rPr lang="en-IN" sz="1600" b="1" dirty="0" err="1"/>
              <a:t>this.props.issue_title</a:t>
            </a:r>
            <a:r>
              <a:rPr lang="en-IN" sz="1600" b="1" dirty="0"/>
              <a:t>}&lt;/td&gt;</a:t>
            </a:r>
          </a:p>
          <a:p>
            <a:pPr marL="201168" lvl="1" indent="0">
              <a:buNone/>
            </a:pPr>
            <a:r>
              <a:rPr lang="en-IN" sz="1600" b="1" dirty="0"/>
              <a:t>                &lt;/tr&gt;</a:t>
            </a:r>
          </a:p>
          <a:p>
            <a:pPr marL="201168" lvl="1" indent="0">
              <a:buNone/>
            </a:pPr>
            <a:r>
              <a:rPr lang="en-IN" sz="1600" b="1" dirty="0"/>
              <a:t>           );</a:t>
            </a:r>
          </a:p>
          <a:p>
            <a:pPr marL="201168" lvl="1" indent="0">
              <a:buNone/>
            </a:pPr>
            <a:r>
              <a:rPr lang="en-IN" sz="1600" b="1" dirty="0"/>
              <a:t>       }</a:t>
            </a:r>
          </a:p>
          <a:p>
            <a:pPr marL="201168" lvl="1" indent="0">
              <a:buNone/>
            </a:pPr>
            <a:r>
              <a:rPr lang="en-IN" sz="1600" b="1" dirty="0"/>
              <a:t>}</a:t>
            </a:r>
          </a:p>
          <a:p>
            <a:pPr marL="201168" lvl="1" indent="0">
              <a:buNone/>
            </a:pPr>
            <a:r>
              <a:rPr lang="en-IN" sz="1600" dirty="0"/>
              <a:t>We used the attribute </a:t>
            </a:r>
            <a:r>
              <a:rPr lang="en-IN" sz="1600" dirty="0">
                <a:solidFill>
                  <a:srgbClr val="FF0000"/>
                </a:solidFill>
              </a:rPr>
              <a:t>style</a:t>
            </a:r>
            <a:r>
              <a:rPr lang="en-IN" sz="1600" dirty="0"/>
              <a:t> for the table-cell just as we would have used it in regular HTML. But note that this is not really an HTML attribute. Instead, it is a </a:t>
            </a:r>
            <a:r>
              <a:rPr lang="en-IN" sz="1600" dirty="0">
                <a:solidFill>
                  <a:srgbClr val="FF0000"/>
                </a:solidFill>
              </a:rPr>
              <a:t>property</a:t>
            </a:r>
            <a:r>
              <a:rPr lang="en-IN" sz="1600" dirty="0"/>
              <a:t> being passed on to the built-in React component .</a:t>
            </a:r>
            <a:endParaRPr lang="en-IN" sz="1600" b="1" dirty="0"/>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822879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84361-891E-0E70-BF52-5BE23A83FED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3DE440B-84E3-C3BE-E4B9-06F847FFEB0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Now that we have an </a:t>
            </a:r>
            <a:r>
              <a:rPr lang="en-IN" sz="1800" dirty="0" err="1"/>
              <a:t>IssueRow</a:t>
            </a:r>
            <a:r>
              <a:rPr lang="en-IN" sz="1800" dirty="0"/>
              <a:t> component receiving the properties, let’s pass them from the parent, </a:t>
            </a:r>
            <a:r>
              <a:rPr lang="en-IN" sz="1800" dirty="0" err="1"/>
              <a:t>IssueTable</a:t>
            </a:r>
            <a:r>
              <a:rPr lang="en-IN" sz="1800" dirty="0"/>
              <a:t>. </a:t>
            </a:r>
          </a:p>
          <a:p>
            <a:pPr>
              <a:buFont typeface="Arial" panose="020B0604020202020204" pitchFamily="34" charset="0"/>
              <a:buChar char="•"/>
            </a:pPr>
            <a:r>
              <a:rPr lang="en-IN" sz="1800" dirty="0"/>
              <a:t>The ID and the title are straightforward, but the style we need to pass on has a special convention of specification in React and JSX.</a:t>
            </a:r>
          </a:p>
          <a:p>
            <a:pPr>
              <a:buFont typeface="Arial" panose="020B0604020202020204" pitchFamily="34" charset="0"/>
              <a:buChar char="•"/>
            </a:pPr>
            <a:r>
              <a:rPr lang="en-IN" sz="2000" dirty="0"/>
              <a:t>Rather than a CSS kind of string, React needs it to be specified as an object with a specific convention containing a series of JavaScript key-value pairs.</a:t>
            </a:r>
          </a:p>
          <a:p>
            <a:pPr>
              <a:buFont typeface="Arial" panose="020B0604020202020204" pitchFamily="34" charset="0"/>
              <a:buChar char="•"/>
            </a:pPr>
            <a:r>
              <a:rPr lang="en-IN" sz="2000" dirty="0"/>
              <a:t>The keys are the same as the CSS style name, except that instead of dashes (like border-collapse), they are camel cased (like </a:t>
            </a:r>
            <a:r>
              <a:rPr lang="en-IN" sz="2000" dirty="0" err="1"/>
              <a:t>borderCollapse</a:t>
            </a:r>
            <a:r>
              <a:rPr lang="en-IN" sz="2000" dirty="0"/>
              <a:t>). </a:t>
            </a:r>
          </a:p>
          <a:p>
            <a:pPr>
              <a:buFont typeface="Arial" panose="020B0604020202020204" pitchFamily="34" charset="0"/>
              <a:buChar char="•"/>
            </a:pPr>
            <a:r>
              <a:rPr lang="en-IN" sz="2000" dirty="0"/>
              <a:t>The values are CSS style values, just as in CSS. There is also a special shorthand for specifying pixel values; you can just use a number (like 4) instead of a string "4px".</a:t>
            </a:r>
          </a:p>
          <a:p>
            <a:pPr>
              <a:buFont typeface="Arial" panose="020B0604020202020204" pitchFamily="34" charset="0"/>
              <a:buChar char="•"/>
            </a:pPr>
            <a:r>
              <a:rPr lang="en-IN" sz="2000" dirty="0"/>
              <a:t>Let’s give the rows a silver border of one pixel and some padding, say four pixels. </a:t>
            </a:r>
          </a:p>
          <a:p>
            <a:pPr marL="201168" lvl="1" indent="0">
              <a:buNone/>
            </a:pPr>
            <a:r>
              <a:rPr lang="en-US" sz="1800" b="1" dirty="0"/>
              <a:t>...</a:t>
            </a:r>
          </a:p>
          <a:p>
            <a:pPr marL="201168" lvl="1" indent="0">
              <a:buNone/>
            </a:pPr>
            <a:r>
              <a:rPr lang="en-US" sz="1800" b="1" dirty="0"/>
              <a:t>const </a:t>
            </a:r>
            <a:r>
              <a:rPr lang="en-US" sz="1800" b="1" dirty="0" err="1"/>
              <a:t>rowStyle</a:t>
            </a:r>
            <a:r>
              <a:rPr lang="en-US" sz="1800" b="1" dirty="0"/>
              <a:t> = {border: "1px solid silver", padding: 4};</a:t>
            </a:r>
          </a:p>
          <a:p>
            <a:pPr marL="201168" lvl="1" indent="0">
              <a:buNone/>
            </a:pPr>
            <a:r>
              <a:rPr lang="en-US" sz="1800" b="1" dirty="0"/>
              <a:t>...</a:t>
            </a:r>
          </a:p>
          <a:p>
            <a:pPr lvl="1">
              <a:buFont typeface="Arial" panose="020B0604020202020204" pitchFamily="34" charset="0"/>
              <a:buChar char="•"/>
            </a:pP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89022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D7D25-623F-99C1-014E-26E4E0AB64D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25DC6B1-370F-5ADB-2CC3-59706B40894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This can be passed on to the </a:t>
            </a:r>
            <a:r>
              <a:rPr lang="en-IN" sz="1800" dirty="0" err="1"/>
              <a:t>IssueRow</a:t>
            </a:r>
            <a:r>
              <a:rPr lang="en-IN" sz="1800" dirty="0"/>
              <a:t> component using </a:t>
            </a:r>
            <a:r>
              <a:rPr lang="en-IN" sz="1800" dirty="0" err="1"/>
              <a:t>rowStyle</a:t>
            </a:r>
            <a:r>
              <a:rPr lang="en-IN" sz="1800" dirty="0"/>
              <a:t>={</a:t>
            </a:r>
            <a:r>
              <a:rPr lang="en-IN" sz="1800" dirty="0" err="1"/>
              <a:t>rowStyle</a:t>
            </a:r>
            <a:r>
              <a:rPr lang="en-IN" sz="1800" dirty="0"/>
              <a:t>} when instantiating it. This, and the other variables, can be passed to </a:t>
            </a:r>
            <a:r>
              <a:rPr lang="en-IN" sz="1800" dirty="0" err="1"/>
              <a:t>IssueRow</a:t>
            </a:r>
            <a:r>
              <a:rPr lang="en-IN" sz="1800" dirty="0"/>
              <a:t> while instantiating it like this:</a:t>
            </a:r>
          </a:p>
          <a:p>
            <a:pPr marL="201168" lvl="1" indent="0">
              <a:buNone/>
            </a:pPr>
            <a:r>
              <a:rPr lang="en-US" sz="1800" b="1" dirty="0"/>
              <a:t>...</a:t>
            </a:r>
          </a:p>
          <a:p>
            <a:pPr marL="201168" lvl="1" indent="0">
              <a:buNone/>
            </a:pPr>
            <a:r>
              <a:rPr lang="en-US" sz="1800" b="1" dirty="0"/>
              <a:t>&lt;</a:t>
            </a:r>
            <a:r>
              <a:rPr lang="en-US" sz="1800" b="1" dirty="0" err="1"/>
              <a:t>IssueRow</a:t>
            </a:r>
            <a:r>
              <a:rPr lang="en-US" sz="1800" b="1" dirty="0"/>
              <a:t> </a:t>
            </a:r>
            <a:r>
              <a:rPr lang="en-US" sz="1800" b="1" dirty="0" err="1"/>
              <a:t>rowStyle</a:t>
            </a:r>
            <a:r>
              <a:rPr lang="en-US" sz="1800" b="1" dirty="0"/>
              <a:t>={</a:t>
            </a:r>
            <a:r>
              <a:rPr lang="en-US" sz="1800" b="1" dirty="0" err="1"/>
              <a:t>rowStyle</a:t>
            </a:r>
            <a:r>
              <a:rPr lang="en-US" sz="1800" b="1" dirty="0"/>
              <a:t>} </a:t>
            </a:r>
            <a:r>
              <a:rPr lang="en-US" sz="1800" b="1" dirty="0" err="1"/>
              <a:t>issue_id</a:t>
            </a:r>
            <a:r>
              <a:rPr lang="en-US" sz="1800" b="1" dirty="0"/>
              <a:t>={1}</a:t>
            </a:r>
          </a:p>
          <a:p>
            <a:pPr marL="201168" lvl="1" indent="0">
              <a:buNone/>
            </a:pPr>
            <a:r>
              <a:rPr lang="en-US" sz="1800" b="1" dirty="0" err="1"/>
              <a:t>issue_title</a:t>
            </a:r>
            <a:r>
              <a:rPr lang="en-US" sz="1800" b="1" dirty="0"/>
              <a:t>="Error in console when clicking Add" /&gt;</a:t>
            </a:r>
          </a:p>
          <a:p>
            <a:pPr marL="201168" lvl="1" indent="0">
              <a:buNone/>
            </a:pPr>
            <a:r>
              <a:rPr lang="en-US" sz="1800" b="1" dirty="0"/>
              <a:t>...</a:t>
            </a:r>
          </a:p>
          <a:p>
            <a:pPr>
              <a:buFont typeface="Arial" panose="020B0604020202020204" pitchFamily="34" charset="0"/>
              <a:buChar char="•"/>
            </a:pPr>
            <a:r>
              <a:rPr lang="en-US" sz="2000" dirty="0"/>
              <a:t>Now, let’s construct the </a:t>
            </a:r>
            <a:r>
              <a:rPr lang="en-US" sz="2000" dirty="0" err="1"/>
              <a:t>IssueTable</a:t>
            </a:r>
            <a:r>
              <a:rPr lang="en-US" sz="2000" dirty="0"/>
              <a:t> component, which is essentially a &lt;table&gt;, with a header row and two columns (ID and title), and two hard-coded </a:t>
            </a:r>
            <a:r>
              <a:rPr lang="en-US" sz="2000" dirty="0" err="1"/>
              <a:t>IssueRow</a:t>
            </a:r>
            <a:r>
              <a:rPr lang="en-US" sz="2000" dirty="0"/>
              <a:t> components. </a:t>
            </a:r>
          </a:p>
          <a:p>
            <a:pPr>
              <a:buFont typeface="Arial" panose="020B0604020202020204" pitchFamily="34" charset="0"/>
              <a:buChar char="•"/>
            </a:pPr>
            <a:r>
              <a:rPr lang="en-US" sz="2000" dirty="0"/>
              <a:t>Let’s also specify an inline style for the table to indicate a collapsed border and use the same </a:t>
            </a:r>
            <a:r>
              <a:rPr lang="en-US" sz="2000" dirty="0" err="1"/>
              <a:t>rowStyle</a:t>
            </a:r>
            <a:r>
              <a:rPr lang="en-US" sz="2000" dirty="0"/>
              <a:t> variable to specify the header row styles, to make it look uniform.</a:t>
            </a:r>
          </a:p>
          <a:p>
            <a:pPr>
              <a:buFont typeface="Arial" panose="020B0604020202020204" pitchFamily="34" charset="0"/>
              <a:buChar char="•"/>
            </a:pPr>
            <a:endParaRPr lang="en-US" sz="2000" dirty="0"/>
          </a:p>
          <a:p>
            <a:pPr>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630957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C708-3793-2D2B-3824-4D2B3920D15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835EBFA-36FE-B584-C16E-C315BE01D84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err="1"/>
              <a:t>App.jsx</a:t>
            </a:r>
            <a:r>
              <a:rPr lang="en-IN" sz="1800" dirty="0"/>
              <a:t>: </a:t>
            </a:r>
            <a:r>
              <a:rPr lang="en-IN" sz="1800" dirty="0" err="1"/>
              <a:t>IssueTable</a:t>
            </a:r>
            <a:r>
              <a:rPr lang="en-IN" sz="1800" dirty="0"/>
              <a:t> Passing Data to </a:t>
            </a:r>
            <a:r>
              <a:rPr lang="en-IN" sz="1800" dirty="0" err="1"/>
              <a:t>IssueRow</a:t>
            </a:r>
            <a:endParaRPr lang="en-IN" sz="1800" dirty="0"/>
          </a:p>
          <a:p>
            <a:pPr marL="566928" lvl="3" indent="0">
              <a:buNone/>
            </a:pPr>
            <a:r>
              <a:rPr lang="en-US" sz="1400" b="1" dirty="0"/>
              <a:t>class </a:t>
            </a:r>
            <a:r>
              <a:rPr lang="en-US" sz="1400" b="1" dirty="0" err="1"/>
              <a:t>IssueTable</a:t>
            </a:r>
            <a:r>
              <a:rPr lang="en-US" sz="1400" b="1" dirty="0"/>
              <a:t> extends </a:t>
            </a:r>
            <a:r>
              <a:rPr lang="en-US" sz="1400" b="1" dirty="0" err="1"/>
              <a:t>React.Component</a:t>
            </a:r>
            <a:r>
              <a:rPr lang="en-US" sz="1400" b="1" dirty="0"/>
              <a:t> {</a:t>
            </a:r>
          </a:p>
          <a:p>
            <a:pPr marL="566928" lvl="3" indent="0">
              <a:buNone/>
            </a:pPr>
            <a:r>
              <a:rPr lang="en-US" sz="1400" b="1" dirty="0"/>
              <a:t>   render() {</a:t>
            </a:r>
          </a:p>
          <a:p>
            <a:pPr marL="566928" lvl="3" indent="0">
              <a:buNone/>
            </a:pPr>
            <a:r>
              <a:rPr lang="en-US" sz="1400" b="1" dirty="0"/>
              <a:t>      const </a:t>
            </a:r>
            <a:r>
              <a:rPr lang="en-US" sz="1400" b="1" dirty="0" err="1"/>
              <a:t>rowStyle</a:t>
            </a:r>
            <a:r>
              <a:rPr lang="en-US" sz="1400" b="1" dirty="0"/>
              <a:t> = {border: "1px solid silver", padding: 4};</a:t>
            </a:r>
          </a:p>
          <a:p>
            <a:pPr marL="566928" lvl="3" indent="0">
              <a:buNone/>
            </a:pPr>
            <a:r>
              <a:rPr lang="en-US" sz="1400" b="1" dirty="0"/>
              <a:t>         return (</a:t>
            </a:r>
          </a:p>
          <a:p>
            <a:pPr marL="566928" lvl="3" indent="0">
              <a:buNone/>
            </a:pPr>
            <a:r>
              <a:rPr lang="en-US" sz="1400" b="1" dirty="0"/>
              <a:t>              &lt;table style={{</a:t>
            </a:r>
            <a:r>
              <a:rPr lang="en-US" sz="1400" b="1" dirty="0" err="1"/>
              <a:t>borderCollapse</a:t>
            </a:r>
            <a:r>
              <a:rPr lang="en-US" sz="1400" b="1" dirty="0"/>
              <a:t>: "collapse"}}&gt;</a:t>
            </a:r>
          </a:p>
          <a:p>
            <a:pPr marL="566928" lvl="3" indent="0">
              <a:buNone/>
            </a:pPr>
            <a:r>
              <a:rPr lang="en-US" sz="1400" b="1" dirty="0"/>
              <a:t>                 &lt;</a:t>
            </a:r>
            <a:r>
              <a:rPr lang="en-US" sz="1400" b="1" dirty="0" err="1"/>
              <a:t>thead</a:t>
            </a:r>
            <a:r>
              <a:rPr lang="en-US" sz="1400" b="1" dirty="0"/>
              <a:t>&gt;</a:t>
            </a:r>
          </a:p>
          <a:p>
            <a:pPr marL="566928" lvl="3" indent="0">
              <a:buNone/>
            </a:pPr>
            <a:r>
              <a:rPr lang="en-US" sz="1400" b="1" dirty="0"/>
              <a:t>                      &lt;tr&gt;</a:t>
            </a:r>
          </a:p>
          <a:p>
            <a:pPr marL="566928" lvl="3" indent="0">
              <a:buNone/>
            </a:pPr>
            <a:r>
              <a:rPr lang="en-US" sz="1400" b="1" dirty="0"/>
              <a:t>		&lt;</a:t>
            </a:r>
            <a:r>
              <a:rPr lang="en-US" sz="1400" b="1" dirty="0" err="1"/>
              <a:t>th</a:t>
            </a:r>
            <a:r>
              <a:rPr lang="en-US" sz="1400" b="1" dirty="0"/>
              <a:t> style={</a:t>
            </a:r>
            <a:r>
              <a:rPr lang="en-US" sz="1400" b="1" dirty="0" err="1"/>
              <a:t>rowStyle</a:t>
            </a:r>
            <a:r>
              <a:rPr lang="en-US" sz="1400" b="1" dirty="0"/>
              <a:t>}&gt;ID&lt;/</a:t>
            </a:r>
            <a:r>
              <a:rPr lang="en-US" sz="1400" b="1" dirty="0" err="1"/>
              <a:t>th</a:t>
            </a:r>
            <a:r>
              <a:rPr lang="en-US" sz="1400" b="1" dirty="0"/>
              <a:t>&gt;&lt;</a:t>
            </a:r>
            <a:r>
              <a:rPr lang="en-US" sz="1400" b="1" dirty="0" err="1"/>
              <a:t>th</a:t>
            </a:r>
            <a:r>
              <a:rPr lang="en-US" sz="1400" b="1" dirty="0"/>
              <a:t> style={</a:t>
            </a:r>
            <a:r>
              <a:rPr lang="en-US" sz="1400" b="1" dirty="0" err="1"/>
              <a:t>rowStyle</a:t>
            </a:r>
            <a:r>
              <a:rPr lang="en-US" sz="1400" b="1" dirty="0"/>
              <a:t>}&gt;Title&lt;/</a:t>
            </a:r>
            <a:r>
              <a:rPr lang="en-US" sz="1400" b="1" dirty="0" err="1"/>
              <a:t>th</a:t>
            </a:r>
            <a:r>
              <a:rPr lang="en-US" sz="1400" b="1" dirty="0"/>
              <a:t>&gt;</a:t>
            </a:r>
          </a:p>
          <a:p>
            <a:pPr marL="566928" lvl="3" indent="0">
              <a:buNone/>
            </a:pPr>
            <a:r>
              <a:rPr lang="en-US" sz="1400" b="1" dirty="0"/>
              <a:t>                      &lt;/tr&gt;</a:t>
            </a:r>
          </a:p>
          <a:p>
            <a:pPr marL="566928" lvl="3" indent="0">
              <a:buNone/>
            </a:pPr>
            <a:r>
              <a:rPr lang="en-US" sz="1400" b="1" dirty="0"/>
              <a:t>	        &lt;/</a:t>
            </a:r>
            <a:r>
              <a:rPr lang="en-US" sz="1400" b="1" dirty="0" err="1"/>
              <a:t>thead</a:t>
            </a:r>
            <a:r>
              <a:rPr lang="en-US" sz="1400" b="1" dirty="0"/>
              <a:t>&gt;</a:t>
            </a:r>
          </a:p>
          <a:p>
            <a:pPr marL="566928" lvl="3" indent="0">
              <a:buNone/>
            </a:pPr>
            <a:r>
              <a:rPr lang="en-US" sz="1400" b="1" dirty="0"/>
              <a:t>                &lt;</a:t>
            </a:r>
            <a:r>
              <a:rPr lang="en-US" sz="1400" b="1" dirty="0" err="1"/>
              <a:t>tbody</a:t>
            </a:r>
            <a:r>
              <a:rPr lang="en-US" sz="1400" b="1" dirty="0"/>
              <a:t>&gt;</a:t>
            </a:r>
          </a:p>
          <a:p>
            <a:pPr marL="566928" lvl="3" indent="0">
              <a:buNone/>
            </a:pPr>
            <a:r>
              <a:rPr lang="en-US" sz="1400" b="1" dirty="0"/>
              <a:t>                       &lt;</a:t>
            </a:r>
            <a:r>
              <a:rPr lang="en-US" sz="1400" b="1" dirty="0" err="1"/>
              <a:t>IssueRow</a:t>
            </a:r>
            <a:r>
              <a:rPr lang="en-US" sz="1400" b="1" dirty="0"/>
              <a:t> </a:t>
            </a:r>
            <a:r>
              <a:rPr lang="en-US" sz="1400" b="1" dirty="0" err="1"/>
              <a:t>rowStyle</a:t>
            </a:r>
            <a:r>
              <a:rPr lang="en-US" sz="1400" b="1" dirty="0"/>
              <a:t>={</a:t>
            </a:r>
            <a:r>
              <a:rPr lang="en-US" sz="1400" b="1" dirty="0" err="1"/>
              <a:t>rowStyle</a:t>
            </a:r>
            <a:r>
              <a:rPr lang="en-US" sz="1400" b="1" dirty="0"/>
              <a:t>} </a:t>
            </a:r>
            <a:r>
              <a:rPr lang="en-US" sz="1400" b="1" dirty="0" err="1"/>
              <a:t>issue_id</a:t>
            </a:r>
            <a:r>
              <a:rPr lang="en-US" sz="1400" b="1" dirty="0"/>
              <a:t>={1} </a:t>
            </a:r>
            <a:r>
              <a:rPr lang="en-US" sz="1400" b="1" dirty="0" err="1"/>
              <a:t>issue_title</a:t>
            </a:r>
            <a:r>
              <a:rPr lang="en-US" sz="1400" b="1" dirty="0"/>
              <a:t>="Error in console when clicking Add" /&gt;</a:t>
            </a:r>
          </a:p>
          <a:p>
            <a:pPr marL="566928" lvl="3" indent="0">
              <a:buNone/>
            </a:pPr>
            <a:r>
              <a:rPr lang="en-US" sz="1400" b="1" dirty="0"/>
              <a:t>                       &lt;</a:t>
            </a:r>
            <a:r>
              <a:rPr lang="en-US" sz="1400" b="1" dirty="0" err="1"/>
              <a:t>IssueRow</a:t>
            </a:r>
            <a:r>
              <a:rPr lang="en-US" sz="1400" b="1" dirty="0"/>
              <a:t> </a:t>
            </a:r>
            <a:r>
              <a:rPr lang="en-US" sz="1400" b="1" dirty="0" err="1"/>
              <a:t>rowStyle</a:t>
            </a:r>
            <a:r>
              <a:rPr lang="en-US" sz="1400" b="1" dirty="0"/>
              <a:t>={</a:t>
            </a:r>
            <a:r>
              <a:rPr lang="en-US" sz="1400" b="1" dirty="0" err="1"/>
              <a:t>rowStyle</a:t>
            </a:r>
            <a:r>
              <a:rPr lang="en-US" sz="1400" b="1" dirty="0"/>
              <a:t>} </a:t>
            </a:r>
            <a:r>
              <a:rPr lang="en-US" sz="1400" b="1" dirty="0" err="1"/>
              <a:t>issue_id</a:t>
            </a:r>
            <a:r>
              <a:rPr lang="en-US" sz="1400" b="1" dirty="0"/>
              <a:t>={2} </a:t>
            </a:r>
            <a:r>
              <a:rPr lang="en-US" sz="1400" b="1" dirty="0" err="1"/>
              <a:t>issue_title</a:t>
            </a:r>
            <a:r>
              <a:rPr lang="en-US" sz="1400" b="1" dirty="0"/>
              <a:t>="Missing bottom border on panel" /&gt;</a:t>
            </a:r>
          </a:p>
          <a:p>
            <a:pPr marL="566928" lvl="3" indent="0">
              <a:buNone/>
            </a:pPr>
            <a:r>
              <a:rPr lang="en-US" sz="1400" b="1" dirty="0"/>
              <a:t>                &lt;/</a:t>
            </a:r>
            <a:r>
              <a:rPr lang="en-US" sz="1400" b="1" dirty="0" err="1"/>
              <a:t>tbody</a:t>
            </a:r>
            <a:r>
              <a:rPr lang="en-US" sz="1400" b="1" dirty="0"/>
              <a:t>&gt;</a:t>
            </a:r>
          </a:p>
          <a:p>
            <a:pPr marL="566928" lvl="3" indent="0">
              <a:buNone/>
            </a:pPr>
            <a:r>
              <a:rPr lang="en-US" sz="1400" b="1" dirty="0"/>
              <a:t>              &lt;/table&gt;</a:t>
            </a:r>
          </a:p>
          <a:p>
            <a:pPr marL="566928" lvl="3" indent="0">
              <a:buNone/>
            </a:pPr>
            <a:r>
              <a:rPr lang="en-US" sz="1400" b="1" dirty="0"/>
              <a:t>      );</a:t>
            </a:r>
          </a:p>
          <a:p>
            <a:pPr marL="566928" lvl="3" indent="0">
              <a:buNone/>
            </a:pPr>
            <a:r>
              <a:rPr lang="en-US" sz="1400" b="1" dirty="0"/>
              <a:t>   }</a:t>
            </a:r>
          </a:p>
          <a:p>
            <a:pPr marL="566928" lvl="3" indent="0">
              <a:buNone/>
            </a:pPr>
            <a:r>
              <a:rPr lang="en-US" sz="1400" b="1" dirty="0"/>
              <a:t>}</a:t>
            </a:r>
          </a:p>
          <a:p>
            <a:pPr marL="0" indent="0">
              <a:buFont typeface="Calibri" panose="020F0502020204030204" pitchFamily="34" charset="0"/>
              <a:buNone/>
            </a:pPr>
            <a:endParaRPr lang="en-IN" dirty="0"/>
          </a:p>
        </p:txBody>
      </p:sp>
      <p:pic>
        <p:nvPicPr>
          <p:cNvPr id="5" name="Picture 4">
            <a:extLst>
              <a:ext uri="{FF2B5EF4-FFF2-40B4-BE49-F238E27FC236}">
                <a16:creationId xmlns:a16="http://schemas.microsoft.com/office/drawing/2014/main" id="{3D20FA3E-860C-CB6F-1CC9-4B3AB39DF8A1}"/>
              </a:ext>
            </a:extLst>
          </p:cNvPr>
          <p:cNvPicPr>
            <a:picLocks noChangeAspect="1"/>
          </p:cNvPicPr>
          <p:nvPr/>
        </p:nvPicPr>
        <p:blipFill>
          <a:blip r:embed="rId2"/>
          <a:stretch>
            <a:fillRect/>
          </a:stretch>
        </p:blipFill>
        <p:spPr>
          <a:xfrm>
            <a:off x="6924688" y="97769"/>
            <a:ext cx="5164825" cy="2788044"/>
          </a:xfrm>
          <a:prstGeom prst="rect">
            <a:avLst/>
          </a:prstGeom>
        </p:spPr>
      </p:pic>
    </p:spTree>
    <p:extLst>
      <p:ext uri="{BB962C8B-B14F-4D97-AF65-F5344CB8AC3E}">
        <p14:creationId xmlns:p14="http://schemas.microsoft.com/office/powerpoint/2010/main" val="656540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26100-EBD8-00B2-2F43-1F7CC7F6E7C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409CC82-7DB7-BC0B-72EB-BEA79DBD7D1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Passing Data Using Children</a:t>
            </a:r>
          </a:p>
          <a:p>
            <a:pPr lvl="1" algn="just">
              <a:buFont typeface="Arial" panose="020B0604020202020204" pitchFamily="34" charset="0"/>
              <a:buChar char="•"/>
            </a:pPr>
            <a:r>
              <a:rPr lang="en-IN" sz="1800" dirty="0"/>
              <a:t>There is another way to pass data to other components, using the contents of the HTML-like node of the component. </a:t>
            </a:r>
          </a:p>
          <a:p>
            <a:pPr lvl="1" algn="just">
              <a:buFont typeface="Arial" panose="020B0604020202020204" pitchFamily="34" charset="0"/>
              <a:buChar char="•"/>
            </a:pPr>
            <a:r>
              <a:rPr lang="en-IN" sz="1800" dirty="0"/>
              <a:t>In the child component, this can be accessed using a special field of </a:t>
            </a:r>
            <a:r>
              <a:rPr lang="en-IN" sz="1800" dirty="0" err="1">
                <a:solidFill>
                  <a:srgbClr val="FF0000"/>
                </a:solidFill>
              </a:rPr>
              <a:t>this.props</a:t>
            </a:r>
            <a:r>
              <a:rPr lang="en-IN" sz="1800" dirty="0">
                <a:solidFill>
                  <a:srgbClr val="FF0000"/>
                </a:solidFill>
              </a:rPr>
              <a:t> </a:t>
            </a:r>
            <a:r>
              <a:rPr lang="en-IN" sz="1800" dirty="0"/>
              <a:t>called </a:t>
            </a:r>
            <a:r>
              <a:rPr lang="en-IN" sz="1800" dirty="0" err="1">
                <a:solidFill>
                  <a:srgbClr val="FF0000"/>
                </a:solidFill>
              </a:rPr>
              <a:t>this.props.children</a:t>
            </a:r>
            <a:r>
              <a:rPr lang="en-IN" sz="1800" dirty="0"/>
              <a:t>.</a:t>
            </a:r>
          </a:p>
          <a:p>
            <a:pPr lvl="1" algn="just">
              <a:buFont typeface="Arial" panose="020B0604020202020204" pitchFamily="34" charset="0"/>
              <a:buChar char="•"/>
            </a:pPr>
            <a:r>
              <a:rPr lang="en-IN" sz="1800" dirty="0"/>
              <a:t>Just like in regular HTML, React components can be nested.</a:t>
            </a:r>
          </a:p>
          <a:p>
            <a:pPr lvl="1" algn="just">
              <a:buFont typeface="Arial" panose="020B0604020202020204" pitchFamily="34" charset="0"/>
              <a:buChar char="•"/>
            </a:pPr>
            <a:r>
              <a:rPr lang="en-IN" dirty="0"/>
              <a:t>React components can act like the and take in nested elements. In such cases, the JSX expression will need to include both the opening and closing tags, with child elements nested in them.</a:t>
            </a:r>
          </a:p>
          <a:p>
            <a:pPr lvl="1" algn="just">
              <a:buFont typeface="Arial" panose="020B0604020202020204" pitchFamily="34" charset="0"/>
              <a:buChar char="•"/>
            </a:pPr>
            <a:r>
              <a:rPr lang="en-IN" sz="1800" dirty="0"/>
              <a:t>But then, when the parent React component renders, the children are not automatically under it because the structure of the parent React component needs to determine where exactly the children will appear. </a:t>
            </a:r>
          </a:p>
          <a:p>
            <a:pPr lvl="1" algn="just">
              <a:buFont typeface="Arial" panose="020B0604020202020204" pitchFamily="34" charset="0"/>
              <a:buChar char="•"/>
            </a:pPr>
            <a:r>
              <a:rPr lang="en-IN" sz="1800" dirty="0"/>
              <a:t>So, React lets the parent component access the children element using </a:t>
            </a:r>
            <a:r>
              <a:rPr lang="en-IN" sz="1800" dirty="0" err="1">
                <a:solidFill>
                  <a:srgbClr val="FF0000"/>
                </a:solidFill>
              </a:rPr>
              <a:t>this.props.children</a:t>
            </a:r>
            <a:r>
              <a:rPr lang="en-IN" sz="1800" dirty="0"/>
              <a:t> and lets the parent component determine where it needs to be displayed. </a:t>
            </a:r>
          </a:p>
          <a:p>
            <a:pPr lvl="1" algn="just">
              <a:buFont typeface="Arial" panose="020B0604020202020204" pitchFamily="34" charset="0"/>
              <a:buChar char="•"/>
            </a:pPr>
            <a:r>
              <a:rPr lang="en-IN" sz="1800" dirty="0"/>
              <a:t>This works great when one needs to wrap other components within a parent component.</a:t>
            </a: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81552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C98EE-59CD-846D-7DF5-304C2D57047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C1E27F5-D746-23F3-C90C-937757C6B55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For example, a wrapper that adds a border and a padding can be defined like this:</a:t>
            </a:r>
            <a:endParaRPr lang="en-US" sz="2000" dirty="0"/>
          </a:p>
          <a:p>
            <a:pPr marL="566928" lvl="3" indent="0">
              <a:spcBef>
                <a:spcPts val="0"/>
              </a:spcBef>
              <a:spcAft>
                <a:spcPts val="0"/>
              </a:spcAft>
              <a:buNone/>
            </a:pPr>
            <a:r>
              <a:rPr lang="en-US" sz="1600" dirty="0"/>
              <a:t>...</a:t>
            </a:r>
          </a:p>
          <a:p>
            <a:pPr marL="566928" lvl="3" indent="0">
              <a:spcBef>
                <a:spcPts val="0"/>
              </a:spcBef>
              <a:spcAft>
                <a:spcPts val="0"/>
              </a:spcAft>
              <a:buNone/>
            </a:pPr>
            <a:r>
              <a:rPr lang="en-US" sz="1600" dirty="0"/>
              <a:t>class </a:t>
            </a:r>
            <a:r>
              <a:rPr lang="en-US" sz="1600" dirty="0" err="1"/>
              <a:t>BorderWrap</a:t>
            </a:r>
            <a:r>
              <a:rPr lang="en-US" sz="1600" dirty="0"/>
              <a:t> extends </a:t>
            </a:r>
            <a:r>
              <a:rPr lang="en-US" sz="1600" dirty="0" err="1"/>
              <a:t>React.Component</a:t>
            </a:r>
            <a:r>
              <a:rPr lang="en-US" sz="1600" dirty="0"/>
              <a:t> {</a:t>
            </a:r>
          </a:p>
          <a:p>
            <a:pPr marL="566928" lvl="3" indent="0">
              <a:spcBef>
                <a:spcPts val="0"/>
              </a:spcBef>
              <a:spcAft>
                <a:spcPts val="0"/>
              </a:spcAft>
              <a:buNone/>
            </a:pPr>
            <a:r>
              <a:rPr lang="en-US" sz="1600" dirty="0"/>
              <a:t>	render() {</a:t>
            </a:r>
          </a:p>
          <a:p>
            <a:pPr marL="566928" lvl="3" indent="0">
              <a:spcBef>
                <a:spcPts val="0"/>
              </a:spcBef>
              <a:spcAft>
                <a:spcPts val="0"/>
              </a:spcAft>
              <a:buNone/>
            </a:pPr>
            <a:r>
              <a:rPr lang="en-US" sz="1600" dirty="0"/>
              <a:t>		const </a:t>
            </a:r>
            <a:r>
              <a:rPr lang="en-US" sz="1600" dirty="0" err="1"/>
              <a:t>borderedStyle</a:t>
            </a:r>
            <a:r>
              <a:rPr lang="en-US" sz="1600" dirty="0"/>
              <a:t> = {border: "1px solid silver", padding: 6};</a:t>
            </a:r>
          </a:p>
          <a:p>
            <a:pPr marL="566928" lvl="3" indent="0">
              <a:spcBef>
                <a:spcPts val="0"/>
              </a:spcBef>
              <a:spcAft>
                <a:spcPts val="0"/>
              </a:spcAft>
              <a:buNone/>
            </a:pPr>
            <a:r>
              <a:rPr lang="en-US" sz="1600" dirty="0"/>
              <a:t>		return (</a:t>
            </a:r>
          </a:p>
          <a:p>
            <a:pPr marL="566928" lvl="3" indent="0">
              <a:spcBef>
                <a:spcPts val="0"/>
              </a:spcBef>
              <a:spcAft>
                <a:spcPts val="0"/>
              </a:spcAft>
              <a:buNone/>
            </a:pPr>
            <a:r>
              <a:rPr lang="en-US" sz="1600" dirty="0"/>
              <a:t>			&lt;div style={</a:t>
            </a:r>
            <a:r>
              <a:rPr lang="en-US" sz="1600" dirty="0" err="1"/>
              <a:t>borderedStyle</a:t>
            </a:r>
            <a:r>
              <a:rPr lang="en-US" sz="1600" dirty="0"/>
              <a:t>}&gt;</a:t>
            </a:r>
          </a:p>
          <a:p>
            <a:pPr marL="566928" lvl="3" indent="0">
              <a:spcBef>
                <a:spcPts val="0"/>
              </a:spcBef>
              <a:spcAft>
                <a:spcPts val="0"/>
              </a:spcAft>
              <a:buNone/>
            </a:pPr>
            <a:r>
              <a:rPr lang="en-US" sz="1600" dirty="0"/>
              <a:t>			{</a:t>
            </a:r>
            <a:r>
              <a:rPr lang="en-US" sz="1600" dirty="0" err="1"/>
              <a:t>this.props.children</a:t>
            </a:r>
            <a:r>
              <a:rPr lang="en-US" sz="1600" dirty="0"/>
              <a:t>}</a:t>
            </a:r>
          </a:p>
          <a:p>
            <a:pPr marL="566928" lvl="3" indent="0">
              <a:spcBef>
                <a:spcPts val="0"/>
              </a:spcBef>
              <a:spcAft>
                <a:spcPts val="0"/>
              </a:spcAft>
              <a:buNone/>
            </a:pPr>
            <a:r>
              <a:rPr lang="en-US" sz="1600" dirty="0"/>
              <a:t>			&lt;/div&gt;</a:t>
            </a:r>
          </a:p>
          <a:p>
            <a:pPr marL="566928" lvl="3" indent="0">
              <a:spcBef>
                <a:spcPts val="0"/>
              </a:spcBef>
              <a:spcAft>
                <a:spcPts val="0"/>
              </a:spcAft>
              <a:buNone/>
            </a:pPr>
            <a:r>
              <a:rPr lang="en-US" sz="1600" dirty="0"/>
              <a:t>		);</a:t>
            </a:r>
          </a:p>
          <a:p>
            <a:pPr marL="566928" lvl="3" indent="0">
              <a:spcBef>
                <a:spcPts val="0"/>
              </a:spcBef>
              <a:spcAft>
                <a:spcPts val="0"/>
              </a:spcAft>
              <a:buNone/>
            </a:pPr>
            <a:r>
              <a:rPr lang="en-US" sz="1600" dirty="0"/>
              <a:t>	}</a:t>
            </a:r>
          </a:p>
          <a:p>
            <a:pPr marL="566928" lvl="3" indent="0">
              <a:spcBef>
                <a:spcPts val="0"/>
              </a:spcBef>
              <a:spcAft>
                <a:spcPts val="0"/>
              </a:spcAft>
              <a:buNone/>
            </a:pPr>
            <a:r>
              <a:rPr lang="en-US" sz="1600" dirty="0"/>
              <a:t>}</a:t>
            </a:r>
          </a:p>
          <a:p>
            <a:pPr marL="566928" lvl="3" indent="0">
              <a:spcBef>
                <a:spcPts val="0"/>
              </a:spcBef>
              <a:spcAft>
                <a:spcPts val="0"/>
              </a:spcAft>
              <a:buNone/>
            </a:pPr>
            <a:r>
              <a:rPr lang="en-US" sz="1600" dirty="0"/>
              <a:t>...</a:t>
            </a:r>
          </a:p>
          <a:p>
            <a:pPr>
              <a:buFont typeface="Arial" panose="020B0604020202020204" pitchFamily="34" charset="0"/>
              <a:buChar char="•"/>
            </a:pPr>
            <a:r>
              <a:rPr lang="en-IN" dirty="0"/>
              <a:t>Then, during the rendering, any component could be wrapped with a padded border like this:</a:t>
            </a:r>
          </a:p>
          <a:p>
            <a:pPr marL="384048" lvl="2" indent="0">
              <a:buNone/>
            </a:pPr>
            <a:r>
              <a:rPr lang="en-IN" sz="1600" dirty="0"/>
              <a:t>...</a:t>
            </a:r>
          </a:p>
          <a:p>
            <a:pPr marL="384048" lvl="2" indent="0">
              <a:buNone/>
            </a:pPr>
            <a:r>
              <a:rPr lang="en-IN" sz="1600" dirty="0"/>
              <a:t>	&lt;</a:t>
            </a:r>
            <a:r>
              <a:rPr lang="en-IN" sz="1600" dirty="0" err="1"/>
              <a:t>BorderWrap</a:t>
            </a:r>
            <a:r>
              <a:rPr lang="en-IN" sz="1600" dirty="0"/>
              <a:t>&gt;</a:t>
            </a:r>
          </a:p>
          <a:p>
            <a:pPr marL="384048" lvl="2" indent="0">
              <a:buNone/>
            </a:pPr>
            <a:r>
              <a:rPr lang="en-IN" sz="1600" dirty="0"/>
              <a:t>		&lt;</a:t>
            </a:r>
            <a:r>
              <a:rPr lang="en-IN" sz="1600" dirty="0" err="1"/>
              <a:t>ExampleComponent</a:t>
            </a:r>
            <a:r>
              <a:rPr lang="en-IN" sz="1600" dirty="0"/>
              <a:t>/&gt;</a:t>
            </a:r>
          </a:p>
          <a:p>
            <a:pPr marL="384048" lvl="2" indent="0">
              <a:buNone/>
            </a:pPr>
            <a:r>
              <a:rPr lang="en-IN" sz="1600" dirty="0"/>
              <a:t>	&lt;/</a:t>
            </a:r>
            <a:r>
              <a:rPr lang="en-IN" sz="1600" dirty="0" err="1"/>
              <a:t>BorderWrap</a:t>
            </a:r>
            <a:r>
              <a:rPr lang="en-IN" sz="1600" dirty="0"/>
              <a:t>&gt;</a:t>
            </a:r>
          </a:p>
          <a:p>
            <a:pPr marL="384048" lvl="2" indent="0">
              <a:buNone/>
            </a:pPr>
            <a:r>
              <a:rPr lang="en-IN" sz="1600" dirty="0"/>
              <a:t>…</a:t>
            </a:r>
          </a:p>
        </p:txBody>
      </p:sp>
    </p:spTree>
    <p:extLst>
      <p:ext uri="{BB962C8B-B14F-4D97-AF65-F5344CB8AC3E}">
        <p14:creationId xmlns:p14="http://schemas.microsoft.com/office/powerpoint/2010/main" val="4104811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6E137-6AC6-C9D1-60B1-DBEDC4B12DE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EFE379D-1568-3452-E762-5CEDAC5297A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2000" dirty="0"/>
              <a:t>Thus, instead of passing the issue title as a property to </a:t>
            </a:r>
            <a:r>
              <a:rPr lang="en-IN" sz="2000" dirty="0" err="1"/>
              <a:t>IssueRow</a:t>
            </a:r>
            <a:r>
              <a:rPr lang="en-IN" sz="2000" dirty="0"/>
              <a:t>, this technique could be used to embed it as the child contents of like this:</a:t>
            </a:r>
            <a:endParaRPr lang="en-IN" sz="2000" b="1" dirty="0"/>
          </a:p>
          <a:p>
            <a:pPr marL="566928" lvl="3" indent="0">
              <a:buNone/>
            </a:pPr>
            <a:r>
              <a:rPr lang="en-US" sz="2000" b="1" dirty="0"/>
              <a:t>...</a:t>
            </a:r>
          </a:p>
          <a:p>
            <a:pPr marL="566928" lvl="3" indent="0">
              <a:buNone/>
            </a:pPr>
            <a:r>
              <a:rPr lang="en-US" sz="2000" b="1" dirty="0"/>
              <a:t>&lt;</a:t>
            </a:r>
            <a:r>
              <a:rPr lang="en-US" sz="2000" b="1" dirty="0" err="1"/>
              <a:t>IssueRow</a:t>
            </a:r>
            <a:r>
              <a:rPr lang="en-US" sz="2000" b="1" dirty="0"/>
              <a:t> </a:t>
            </a:r>
            <a:r>
              <a:rPr lang="en-US" sz="2000" b="1" dirty="0" err="1"/>
              <a:t>issue_id</a:t>
            </a:r>
            <a:r>
              <a:rPr lang="en-US" sz="2000" b="1" dirty="0"/>
              <a:t>={1}&gt;Error in console when clicking Add&lt;/</a:t>
            </a:r>
            <a:r>
              <a:rPr lang="en-US" sz="2000" b="1" dirty="0" err="1"/>
              <a:t>IssueRow</a:t>
            </a:r>
            <a:r>
              <a:rPr lang="en-US" sz="2000" b="1" dirty="0"/>
              <a:t>&gt;</a:t>
            </a:r>
          </a:p>
          <a:p>
            <a:pPr marL="566928" lvl="3" indent="0">
              <a:buNone/>
            </a:pPr>
            <a:r>
              <a:rPr lang="en-US" sz="2000" b="1" dirty="0"/>
              <a:t>...</a:t>
            </a:r>
          </a:p>
          <a:p>
            <a:pPr lvl="1">
              <a:buFont typeface="Arial" panose="020B0604020202020204" pitchFamily="34" charset="0"/>
              <a:buChar char="•"/>
            </a:pPr>
            <a:r>
              <a:rPr lang="en-IN" sz="2000" dirty="0"/>
              <a:t>Now, within the render() method of </a:t>
            </a:r>
            <a:r>
              <a:rPr lang="en-IN" sz="2000" dirty="0" err="1"/>
              <a:t>IssueRow</a:t>
            </a:r>
            <a:r>
              <a:rPr lang="en-IN" sz="2000" dirty="0"/>
              <a:t>, instead of referring to </a:t>
            </a:r>
            <a:r>
              <a:rPr lang="en-IN" sz="2000" dirty="0" err="1"/>
              <a:t>this.props.issue_title</a:t>
            </a:r>
            <a:r>
              <a:rPr lang="en-IN" sz="2000" dirty="0"/>
              <a:t>, it will need to be referred to as </a:t>
            </a:r>
            <a:r>
              <a:rPr lang="en-IN" sz="2000" dirty="0" err="1"/>
              <a:t>this.props.children</a:t>
            </a:r>
            <a:r>
              <a:rPr lang="en-IN" sz="2000" dirty="0"/>
              <a:t>, like this:</a:t>
            </a:r>
          </a:p>
          <a:p>
            <a:pPr marL="566928" lvl="3" indent="0">
              <a:buNone/>
            </a:pPr>
            <a:r>
              <a:rPr lang="en-US" sz="2000" b="1" dirty="0"/>
              <a:t>...</a:t>
            </a:r>
          </a:p>
          <a:p>
            <a:pPr marL="566928" lvl="3" indent="0">
              <a:buNone/>
            </a:pPr>
            <a:r>
              <a:rPr lang="en-US" sz="2000" b="1" dirty="0"/>
              <a:t>&lt;td style={</a:t>
            </a:r>
            <a:r>
              <a:rPr lang="en-US" sz="2000" b="1" dirty="0" err="1"/>
              <a:t>borderedStyle</a:t>
            </a:r>
            <a:r>
              <a:rPr lang="en-US" sz="2000" b="1" dirty="0"/>
              <a:t>}&gt;{</a:t>
            </a:r>
            <a:r>
              <a:rPr lang="en-US" sz="2000" b="1" dirty="0" err="1"/>
              <a:t>this.props.children</a:t>
            </a:r>
            <a:r>
              <a:rPr lang="en-US" sz="2000" b="1" dirty="0"/>
              <a:t>}&lt;/td&gt;</a:t>
            </a:r>
          </a:p>
          <a:p>
            <a:pPr marL="566928" lvl="3" indent="0">
              <a:buNone/>
            </a:pPr>
            <a:r>
              <a:rPr lang="en-US" sz="2000" b="1" dirty="0"/>
              <a: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680686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C765D-77AC-318C-A760-FFFBFEBA7FA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B0793BE-B7AC-FCD3-17F6-6B49C7181579}"/>
              </a:ext>
            </a:extLst>
          </p:cNvPr>
          <p:cNvSpPr txBox="1">
            <a:spLocks/>
          </p:cNvSpPr>
          <p:nvPr/>
        </p:nvSpPr>
        <p:spPr>
          <a:xfrm>
            <a:off x="360727" y="67113"/>
            <a:ext cx="11442583" cy="5801980"/>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Let’s modify the application to use this method of passing data from </a:t>
            </a:r>
            <a:r>
              <a:rPr lang="en-IN" sz="1800" dirty="0" err="1"/>
              <a:t>IssueTable</a:t>
            </a:r>
            <a:r>
              <a:rPr lang="en-IN" sz="1800" dirty="0"/>
              <a:t> to </a:t>
            </a:r>
            <a:r>
              <a:rPr lang="en-IN" sz="1800" dirty="0" err="1"/>
              <a:t>IssueRow</a:t>
            </a:r>
            <a:r>
              <a:rPr lang="en-IN" sz="1800" dirty="0"/>
              <a:t>. Let’s also pass in a nested title element as children, one that is a and includes an emphasized piece of text.</a:t>
            </a:r>
          </a:p>
          <a:p>
            <a:pPr>
              <a:buFont typeface="Arial" panose="020B0604020202020204" pitchFamily="34" charset="0"/>
              <a:buChar char="•"/>
            </a:pPr>
            <a:r>
              <a:rPr lang="en-IN" sz="1800" dirty="0" err="1"/>
              <a:t>App.jsx</a:t>
            </a:r>
            <a:r>
              <a:rPr lang="en-IN" sz="1800" dirty="0"/>
              <a:t>: Using Children Instead of Props</a:t>
            </a:r>
          </a:p>
          <a:p>
            <a:pPr marL="384048" lvl="2" indent="0">
              <a:spcBef>
                <a:spcPts val="0"/>
              </a:spcBef>
              <a:spcAft>
                <a:spcPts val="0"/>
              </a:spcAft>
              <a:buNone/>
            </a:pPr>
            <a:r>
              <a:rPr lang="en-US" sz="1400" b="1" dirty="0"/>
              <a:t>...</a:t>
            </a:r>
          </a:p>
          <a:p>
            <a:pPr marL="384048" lvl="2" indent="0">
              <a:spcBef>
                <a:spcPts val="0"/>
              </a:spcBef>
              <a:spcAft>
                <a:spcPts val="0"/>
              </a:spcAft>
              <a:buNone/>
            </a:pPr>
            <a:r>
              <a:rPr lang="en-US" sz="1400" b="1" dirty="0"/>
              <a:t>class </a:t>
            </a:r>
            <a:r>
              <a:rPr lang="en-US" sz="1400" b="1" dirty="0" err="1"/>
              <a:t>IssueRow</a:t>
            </a:r>
            <a:r>
              <a:rPr lang="en-US" sz="1400" b="1" dirty="0"/>
              <a:t> extends </a:t>
            </a:r>
            <a:r>
              <a:rPr lang="en-US" sz="1400" b="1" dirty="0" err="1"/>
              <a:t>React.Component</a:t>
            </a:r>
            <a:r>
              <a:rPr lang="en-US" sz="1400" b="1" dirty="0"/>
              <a:t> {</a:t>
            </a:r>
          </a:p>
          <a:p>
            <a:pPr marL="384048" lvl="2" indent="0">
              <a:spcBef>
                <a:spcPts val="0"/>
              </a:spcBef>
              <a:spcAft>
                <a:spcPts val="0"/>
              </a:spcAft>
              <a:buNone/>
            </a:pPr>
            <a:r>
              <a:rPr lang="en-US" sz="1400" b="1" dirty="0"/>
              <a:t>...</a:t>
            </a:r>
          </a:p>
          <a:p>
            <a:pPr marL="384048" lvl="2" indent="0">
              <a:spcBef>
                <a:spcPts val="0"/>
              </a:spcBef>
              <a:spcAft>
                <a:spcPts val="0"/>
              </a:spcAft>
              <a:buNone/>
            </a:pPr>
            <a:r>
              <a:rPr lang="en-US" sz="1400" b="1" dirty="0"/>
              <a:t>	return (</a:t>
            </a:r>
          </a:p>
          <a:p>
            <a:pPr marL="384048" lvl="2" indent="0">
              <a:spcBef>
                <a:spcPts val="0"/>
              </a:spcBef>
              <a:spcAft>
                <a:spcPts val="0"/>
              </a:spcAft>
              <a:buNone/>
            </a:pPr>
            <a:r>
              <a:rPr lang="en-US" sz="1400" b="1" dirty="0"/>
              <a:t>	          &lt;tr&gt;</a:t>
            </a:r>
          </a:p>
          <a:p>
            <a:pPr marL="384048" lvl="2" indent="0">
              <a:spcBef>
                <a:spcPts val="0"/>
              </a:spcBef>
              <a:spcAft>
                <a:spcPts val="0"/>
              </a:spcAft>
              <a:buNone/>
            </a:pPr>
            <a:r>
              <a:rPr lang="en-US" sz="1400" b="1" dirty="0"/>
              <a:t>		&lt;td style={style}&gt;{</a:t>
            </a:r>
            <a:r>
              <a:rPr lang="en-US" sz="1400" b="1" dirty="0" err="1"/>
              <a:t>this.props.issue_id</a:t>
            </a:r>
            <a:r>
              <a:rPr lang="en-US" sz="1400" b="1" dirty="0"/>
              <a:t>}&lt;/td&gt;		</a:t>
            </a:r>
            <a:r>
              <a:rPr lang="en-US" sz="1400" b="1" strike="sngStrike" dirty="0"/>
              <a:t>//&lt;td style={style}&gt;{</a:t>
            </a:r>
            <a:r>
              <a:rPr lang="en-US" sz="1400" b="1" strike="sngStrike" dirty="0" err="1"/>
              <a:t>this.props.issue_title</a:t>
            </a:r>
            <a:r>
              <a:rPr lang="en-US" sz="1400" b="1" strike="sngStrike" dirty="0"/>
              <a:t>}&lt;/td&gt;</a:t>
            </a:r>
          </a:p>
          <a:p>
            <a:pPr marL="384048" lvl="2" indent="0">
              <a:spcBef>
                <a:spcPts val="0"/>
              </a:spcBef>
              <a:spcAft>
                <a:spcPts val="0"/>
              </a:spcAft>
              <a:buNone/>
            </a:pPr>
            <a:r>
              <a:rPr lang="en-US" sz="1400" b="1" dirty="0"/>
              <a:t>		&lt;td style={style}&gt;{</a:t>
            </a:r>
            <a:r>
              <a:rPr lang="en-US" sz="1400" b="1" dirty="0" err="1"/>
              <a:t>this.props.children</a:t>
            </a:r>
            <a:r>
              <a:rPr lang="en-US" sz="1400" b="1" dirty="0"/>
              <a:t>}&lt;/td&gt;</a:t>
            </a:r>
          </a:p>
          <a:p>
            <a:pPr marL="384048" lvl="2" indent="0">
              <a:spcBef>
                <a:spcPts val="0"/>
              </a:spcBef>
              <a:spcAft>
                <a:spcPts val="0"/>
              </a:spcAft>
              <a:buNone/>
            </a:pPr>
            <a:r>
              <a:rPr lang="en-US" sz="1400" b="1" dirty="0"/>
              <a:t>	          &lt;/tr&gt;</a:t>
            </a:r>
          </a:p>
          <a:p>
            <a:pPr marL="384048" lvl="2" indent="0">
              <a:spcBef>
                <a:spcPts val="0"/>
              </a:spcBef>
              <a:spcAft>
                <a:spcPts val="0"/>
              </a:spcAft>
              <a:buNone/>
            </a:pPr>
            <a:r>
              <a:rPr lang="en-US" sz="1400" b="1" dirty="0"/>
              <a:t>	);</a:t>
            </a:r>
          </a:p>
          <a:p>
            <a:pPr marL="384048" lvl="2" indent="0">
              <a:spcBef>
                <a:spcPts val="0"/>
              </a:spcBef>
              <a:spcAft>
                <a:spcPts val="0"/>
              </a:spcAft>
              <a:buNone/>
            </a:pPr>
            <a:r>
              <a:rPr lang="en-US" sz="1400" b="1" dirty="0"/>
              <a:t>...</a:t>
            </a:r>
          </a:p>
          <a:p>
            <a:pPr marL="384048" lvl="2" indent="0">
              <a:spcBef>
                <a:spcPts val="0"/>
              </a:spcBef>
              <a:spcAft>
                <a:spcPts val="0"/>
              </a:spcAft>
              <a:buNone/>
            </a:pPr>
            <a:r>
              <a:rPr lang="en-US" sz="1400" b="1" dirty="0"/>
              <a:t>}</a:t>
            </a:r>
          </a:p>
          <a:p>
            <a:pPr marL="384048" lvl="2" indent="0">
              <a:spcBef>
                <a:spcPts val="0"/>
              </a:spcBef>
              <a:spcAft>
                <a:spcPts val="0"/>
              </a:spcAft>
              <a:buNone/>
            </a:pPr>
            <a:r>
              <a:rPr lang="en-US" sz="1400" b="1" dirty="0"/>
              <a:t>...</a:t>
            </a:r>
          </a:p>
          <a:p>
            <a:pPr marL="384048" lvl="2" indent="0">
              <a:spcBef>
                <a:spcPts val="0"/>
              </a:spcBef>
              <a:spcAft>
                <a:spcPts val="0"/>
              </a:spcAft>
              <a:buNone/>
            </a:pPr>
            <a:r>
              <a:rPr lang="en-US" sz="1400" b="1" dirty="0"/>
              <a:t>class </a:t>
            </a:r>
            <a:r>
              <a:rPr lang="en-US" sz="1400" b="1" dirty="0" err="1"/>
              <a:t>IssueTable</a:t>
            </a:r>
            <a:r>
              <a:rPr lang="en-US" sz="1400" b="1" dirty="0"/>
              <a:t> extends </a:t>
            </a:r>
            <a:r>
              <a:rPr lang="en-US" sz="1400" b="1" dirty="0" err="1"/>
              <a:t>React.Component</a:t>
            </a:r>
            <a:r>
              <a:rPr lang="en-US" sz="1400" b="1" dirty="0"/>
              <a:t> {</a:t>
            </a:r>
          </a:p>
          <a:p>
            <a:pPr marL="384048" lvl="2" indent="0">
              <a:spcBef>
                <a:spcPts val="0"/>
              </a:spcBef>
              <a:spcAft>
                <a:spcPts val="0"/>
              </a:spcAft>
              <a:buNone/>
            </a:pPr>
            <a:r>
              <a:rPr lang="en-US" sz="1400" b="1" dirty="0"/>
              <a:t>...</a:t>
            </a:r>
          </a:p>
          <a:p>
            <a:pPr marL="384048" lvl="2" indent="0">
              <a:spcBef>
                <a:spcPts val="0"/>
              </a:spcBef>
              <a:spcAft>
                <a:spcPts val="0"/>
              </a:spcAft>
              <a:buNone/>
            </a:pPr>
            <a:r>
              <a:rPr lang="en-US" sz="1400" b="1" dirty="0"/>
              <a:t>     &lt;</a:t>
            </a:r>
            <a:r>
              <a:rPr lang="en-US" sz="1400" b="1" dirty="0" err="1"/>
              <a:t>tbody</a:t>
            </a:r>
            <a:r>
              <a:rPr lang="en-US" sz="1400" b="1" dirty="0"/>
              <a:t>&gt;</a:t>
            </a:r>
          </a:p>
          <a:p>
            <a:pPr marL="384048" lvl="2" indent="0">
              <a:spcBef>
                <a:spcPts val="0"/>
              </a:spcBef>
              <a:spcAft>
                <a:spcPts val="0"/>
              </a:spcAft>
              <a:buNone/>
            </a:pPr>
            <a:r>
              <a:rPr lang="en-US" sz="1400" b="1" dirty="0"/>
              <a:t>            </a:t>
            </a:r>
            <a:r>
              <a:rPr lang="en-US" sz="1400" b="1" strike="sngStrike" dirty="0"/>
              <a:t>&lt;</a:t>
            </a:r>
            <a:r>
              <a:rPr lang="en-US" sz="1400" b="1" strike="sngStrike" dirty="0" err="1"/>
              <a:t>IssueRow</a:t>
            </a:r>
            <a:r>
              <a:rPr lang="en-US" sz="1400" b="1" strike="sngStrike" dirty="0"/>
              <a:t> </a:t>
            </a:r>
            <a:r>
              <a:rPr lang="en-US" sz="1400" b="1" strike="sngStrike" dirty="0" err="1"/>
              <a:t>rowStyle</a:t>
            </a:r>
            <a:r>
              <a:rPr lang="en-US" sz="1400" b="1" strike="sngStrike" dirty="0"/>
              <a:t>={</a:t>
            </a:r>
            <a:r>
              <a:rPr lang="en-US" sz="1400" b="1" strike="sngStrike" dirty="0" err="1"/>
              <a:t>rowStyle</a:t>
            </a:r>
            <a:r>
              <a:rPr lang="en-US" sz="1400" b="1" strike="sngStrike" dirty="0"/>
              <a:t>} </a:t>
            </a:r>
            <a:r>
              <a:rPr lang="en-US" sz="1400" b="1" strike="sngStrike" dirty="0" err="1"/>
              <a:t>issue_id</a:t>
            </a:r>
            <a:r>
              <a:rPr lang="en-US" sz="1400" b="1" strike="sngStrike" dirty="0"/>
              <a:t>={1} </a:t>
            </a:r>
            <a:r>
              <a:rPr lang="en-US" sz="1400" b="1" strike="sngStrike" dirty="0" err="1"/>
              <a:t>issue_title</a:t>
            </a:r>
            <a:r>
              <a:rPr lang="en-US" sz="1400" b="1" strike="sngStrike" dirty="0"/>
              <a:t>="Error in console when clicking Add" /&gt;</a:t>
            </a:r>
          </a:p>
          <a:p>
            <a:pPr marL="384048" lvl="2" indent="0">
              <a:spcBef>
                <a:spcPts val="0"/>
              </a:spcBef>
              <a:spcAft>
                <a:spcPts val="0"/>
              </a:spcAft>
              <a:buNone/>
            </a:pPr>
            <a:r>
              <a:rPr lang="en-US" sz="1400" b="1" dirty="0"/>
              <a:t>            </a:t>
            </a:r>
            <a:r>
              <a:rPr lang="en-US" sz="1400" b="1" strike="sngStrike" dirty="0"/>
              <a:t>&lt;</a:t>
            </a:r>
            <a:r>
              <a:rPr lang="en-US" sz="1400" b="1" strike="sngStrike" dirty="0" err="1"/>
              <a:t>IssueRow</a:t>
            </a:r>
            <a:r>
              <a:rPr lang="en-US" sz="1400" b="1" strike="sngStrike" dirty="0"/>
              <a:t> </a:t>
            </a:r>
            <a:r>
              <a:rPr lang="en-US" sz="1400" b="1" strike="sngStrike" dirty="0" err="1"/>
              <a:t>rowStyle</a:t>
            </a:r>
            <a:r>
              <a:rPr lang="en-US" sz="1400" b="1" strike="sngStrike" dirty="0"/>
              <a:t>={</a:t>
            </a:r>
            <a:r>
              <a:rPr lang="en-US" sz="1400" b="1" strike="sngStrike" dirty="0" err="1"/>
              <a:t>rowStyle</a:t>
            </a:r>
            <a:r>
              <a:rPr lang="en-US" sz="1400" b="1" strike="sngStrike" dirty="0"/>
              <a:t>} </a:t>
            </a:r>
            <a:r>
              <a:rPr lang="en-US" sz="1400" b="1" strike="sngStrike" dirty="0" err="1"/>
              <a:t>issue_id</a:t>
            </a:r>
            <a:r>
              <a:rPr lang="en-US" sz="1400" b="1" strike="sngStrike" dirty="0"/>
              <a:t>={2} </a:t>
            </a:r>
            <a:r>
              <a:rPr lang="en-US" sz="1400" b="1" strike="sngStrike" dirty="0" err="1"/>
              <a:t>issue_title</a:t>
            </a:r>
            <a:r>
              <a:rPr lang="en-US" sz="1400" b="1" strike="sngStrike" dirty="0"/>
              <a:t>="Missing bottom border on panel" /&gt;</a:t>
            </a:r>
          </a:p>
          <a:p>
            <a:pPr marL="384048" lvl="2" indent="0">
              <a:spcBef>
                <a:spcPts val="0"/>
              </a:spcBef>
              <a:spcAft>
                <a:spcPts val="0"/>
              </a:spcAft>
              <a:buNone/>
            </a:pPr>
            <a:r>
              <a:rPr lang="en-US" sz="1400" b="1" dirty="0"/>
              <a:t>            &lt;</a:t>
            </a:r>
            <a:r>
              <a:rPr lang="en-US" sz="1400" b="1" dirty="0" err="1"/>
              <a:t>IssueRow</a:t>
            </a:r>
            <a:r>
              <a:rPr lang="en-US" sz="1400" b="1" dirty="0"/>
              <a:t> </a:t>
            </a:r>
            <a:r>
              <a:rPr lang="en-US" sz="1400" b="1" dirty="0" err="1"/>
              <a:t>rowStyle</a:t>
            </a:r>
            <a:r>
              <a:rPr lang="en-US" sz="1400" b="1" dirty="0"/>
              <a:t>={</a:t>
            </a:r>
            <a:r>
              <a:rPr lang="en-US" sz="1400" b="1" dirty="0" err="1"/>
              <a:t>rowStyle</a:t>
            </a:r>
            <a:r>
              <a:rPr lang="en-US" sz="1400" b="1" dirty="0"/>
              <a:t>} </a:t>
            </a:r>
            <a:r>
              <a:rPr lang="en-US" sz="1400" b="1" dirty="0" err="1"/>
              <a:t>issue_id</a:t>
            </a:r>
            <a:r>
              <a:rPr lang="en-US" sz="1400" b="1" dirty="0"/>
              <a:t>={1}&gt;</a:t>
            </a:r>
          </a:p>
          <a:p>
            <a:pPr marL="384048" lvl="2" indent="0">
              <a:spcBef>
                <a:spcPts val="0"/>
              </a:spcBef>
              <a:spcAft>
                <a:spcPts val="0"/>
              </a:spcAft>
              <a:buNone/>
            </a:pPr>
            <a:r>
              <a:rPr lang="en-US" sz="1400" b="1" dirty="0"/>
              <a:t>                      Error in console when clicking Add</a:t>
            </a:r>
          </a:p>
          <a:p>
            <a:pPr marL="384048" lvl="2" indent="0">
              <a:spcBef>
                <a:spcPts val="0"/>
              </a:spcBef>
              <a:spcAft>
                <a:spcPts val="0"/>
              </a:spcAft>
              <a:buNone/>
            </a:pPr>
            <a:r>
              <a:rPr lang="en-US" sz="1400" b="1" dirty="0"/>
              <a:t>            &lt;/</a:t>
            </a:r>
            <a:r>
              <a:rPr lang="en-US" sz="1400" b="1" dirty="0" err="1"/>
              <a:t>IssueRow</a:t>
            </a:r>
            <a:r>
              <a:rPr lang="en-US" sz="1400" b="1" dirty="0"/>
              <a:t>&gt;</a:t>
            </a:r>
          </a:p>
          <a:p>
            <a:pPr marL="384048" lvl="2" indent="0">
              <a:spcBef>
                <a:spcPts val="0"/>
              </a:spcBef>
              <a:spcAft>
                <a:spcPts val="0"/>
              </a:spcAft>
              <a:buNone/>
            </a:pPr>
            <a:r>
              <a:rPr lang="en-US" sz="1400" b="1" dirty="0"/>
              <a:t>            &lt;</a:t>
            </a:r>
            <a:r>
              <a:rPr lang="en-US" sz="1400" b="1" dirty="0" err="1"/>
              <a:t>IssueRow</a:t>
            </a:r>
            <a:r>
              <a:rPr lang="en-US" sz="1400" b="1" dirty="0"/>
              <a:t> </a:t>
            </a:r>
            <a:r>
              <a:rPr lang="en-US" sz="1400" b="1" dirty="0" err="1"/>
              <a:t>rowStyle</a:t>
            </a:r>
            <a:r>
              <a:rPr lang="en-US" sz="1400" b="1" dirty="0"/>
              <a:t>={</a:t>
            </a:r>
            <a:r>
              <a:rPr lang="en-US" sz="1400" b="1" dirty="0" err="1"/>
              <a:t>rowStyle</a:t>
            </a:r>
            <a:r>
              <a:rPr lang="en-US" sz="1400" b="1" dirty="0"/>
              <a:t>} </a:t>
            </a:r>
            <a:r>
              <a:rPr lang="en-US" sz="1400" b="1" dirty="0" err="1"/>
              <a:t>issue_id</a:t>
            </a:r>
            <a:r>
              <a:rPr lang="en-US" sz="1400" b="1" dirty="0"/>
              <a:t>={2}&gt;</a:t>
            </a:r>
          </a:p>
          <a:p>
            <a:pPr marL="384048" lvl="2" indent="0">
              <a:spcBef>
                <a:spcPts val="0"/>
              </a:spcBef>
              <a:spcAft>
                <a:spcPts val="0"/>
              </a:spcAft>
              <a:buNone/>
            </a:pPr>
            <a:r>
              <a:rPr lang="en-US" sz="1400" b="1" dirty="0"/>
              <a:t>                    &lt;div&gt;Missing &lt;b&gt;bottom&lt;/b&gt; border on panel&lt;/div&gt;</a:t>
            </a:r>
          </a:p>
          <a:p>
            <a:pPr marL="384048" lvl="2" indent="0">
              <a:spcBef>
                <a:spcPts val="0"/>
              </a:spcBef>
              <a:spcAft>
                <a:spcPts val="0"/>
              </a:spcAft>
              <a:buNone/>
            </a:pPr>
            <a:r>
              <a:rPr lang="en-US" sz="1400" b="1" dirty="0"/>
              <a:t>            &lt;/</a:t>
            </a:r>
            <a:r>
              <a:rPr lang="en-US" sz="1400" b="1" dirty="0" err="1"/>
              <a:t>IssueRow</a:t>
            </a:r>
            <a:r>
              <a:rPr lang="en-US" sz="1400" b="1" dirty="0"/>
              <a:t>&gt;</a:t>
            </a:r>
          </a:p>
          <a:p>
            <a:pPr marL="384048" lvl="2" indent="0">
              <a:spcBef>
                <a:spcPts val="0"/>
              </a:spcBef>
              <a:spcAft>
                <a:spcPts val="0"/>
              </a:spcAft>
              <a:buNone/>
            </a:pPr>
            <a:r>
              <a:rPr lang="en-US" sz="1400" b="1" dirty="0"/>
              <a:t>&lt;/</a:t>
            </a:r>
            <a:r>
              <a:rPr lang="en-US" sz="1400" b="1" dirty="0" err="1"/>
              <a:t>tbody</a:t>
            </a:r>
            <a:r>
              <a:rPr lang="en-US" sz="1400" b="1" dirty="0"/>
              <a:t>&gt;</a:t>
            </a:r>
          </a:p>
          <a:p>
            <a:pPr marL="384048" lvl="2" indent="0">
              <a:spcBef>
                <a:spcPts val="0"/>
              </a:spcBef>
              <a:spcAft>
                <a:spcPts val="0"/>
              </a:spcAft>
              <a:buNone/>
            </a:pPr>
            <a:r>
              <a:rPr lang="en-US" sz="1400" b="1" dirty="0"/>
              <a: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79917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54E6-72CC-8DA6-FE68-EDF977DC274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32A05C7-C79A-43F1-4A18-22FBC35FC10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dirty="0"/>
              <a:t>Dynamic Composition</a:t>
            </a:r>
          </a:p>
          <a:p>
            <a:pPr marL="342900" lvl="0" indent="-342900">
              <a:buFont typeface="Arial" panose="020B0604020202020204" pitchFamily="34" charset="0"/>
              <a:buChar char="•"/>
            </a:pPr>
            <a:r>
              <a:rPr lang="en-IN" sz="2000" dirty="0"/>
              <a:t>Replace hard-coded </a:t>
            </a:r>
            <a:r>
              <a:rPr lang="en-IN" sz="2000" dirty="0" err="1">
                <a:latin typeface="Courier New" panose="02070309020205020404" pitchFamily="49" charset="0"/>
              </a:rPr>
              <a:t>IssueRow</a:t>
            </a:r>
            <a:r>
              <a:rPr lang="en-IN" sz="2000" dirty="0"/>
              <a:t> components with dynamically generated rows. </a:t>
            </a:r>
          </a:p>
          <a:p>
            <a:pPr marL="342900" lvl="0" indent="-342900">
              <a:buFont typeface="Arial" panose="020B0604020202020204" pitchFamily="34" charset="0"/>
              <a:buChar char="•"/>
            </a:pPr>
            <a:r>
              <a:rPr lang="en-IN" sz="2000" dirty="0"/>
              <a:t>Store issue information in a JavaScript array. </a:t>
            </a:r>
          </a:p>
          <a:p>
            <a:pPr marL="342900" lvl="0" indent="-342900">
              <a:buFont typeface="Arial" panose="020B0604020202020204" pitchFamily="34" charset="0"/>
              <a:buChar char="•"/>
            </a:pPr>
            <a:r>
              <a:rPr lang="en-IN" sz="2000" dirty="0"/>
              <a:t>Each issue contains fields such as ID, status, owner, effort, created date, due date, and title.</a:t>
            </a:r>
          </a:p>
          <a:p>
            <a:pPr lvl="1">
              <a:buFont typeface="Arial" panose="020B0604020202020204" pitchFamily="34" charset="0"/>
              <a:buChar char="•"/>
            </a:pPr>
            <a:endParaRPr lang="en-US" sz="1800" dirty="0"/>
          </a:p>
          <a:p>
            <a:pPr marL="0" indent="0">
              <a:buFont typeface="Calibri" panose="020F0502020204030204" pitchFamily="34" charset="0"/>
              <a:buNone/>
            </a:pPr>
            <a:r>
              <a:rPr lang="en-IN" dirty="0"/>
              <a:t>	</a:t>
            </a:r>
          </a:p>
        </p:txBody>
      </p:sp>
    </p:spTree>
    <p:extLst>
      <p:ext uri="{BB962C8B-B14F-4D97-AF65-F5344CB8AC3E}">
        <p14:creationId xmlns:p14="http://schemas.microsoft.com/office/powerpoint/2010/main" val="1951833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62559-0619-2B5E-EEF2-718BFFAB2FF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534AF07-CB6C-8852-DF5B-CA2E1FEB6A6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IN" sz="2000" b="1" dirty="0"/>
              <a:t>Create the Issue Array</a:t>
            </a:r>
          </a:p>
          <a:p>
            <a:pPr>
              <a:buNone/>
            </a:pPr>
            <a:r>
              <a:rPr lang="en-IN" sz="2000" dirty="0"/>
              <a:t>Create an in-memory array called </a:t>
            </a:r>
            <a:r>
              <a:rPr lang="en-IN" sz="2000" dirty="0">
                <a:latin typeface="Courier New" panose="02070309020205020404" pitchFamily="49" charset="0"/>
              </a:rPr>
              <a:t>issues</a:t>
            </a:r>
            <a:r>
              <a:rPr lang="en-IN" sz="2000" dirty="0"/>
              <a:t>:</a:t>
            </a:r>
          </a:p>
          <a:p>
            <a:pPr marL="384048" lvl="2" indent="0">
              <a:spcBef>
                <a:spcPts val="0"/>
              </a:spcBef>
              <a:spcAft>
                <a:spcPts val="0"/>
              </a:spcAft>
              <a:buNone/>
            </a:pPr>
            <a:r>
              <a:rPr lang="en-US" sz="1600" dirty="0"/>
              <a:t>const issues = [</a:t>
            </a:r>
          </a:p>
          <a:p>
            <a:pPr marL="384048" lvl="2" indent="0">
              <a:spcBef>
                <a:spcPts val="0"/>
              </a:spcBef>
              <a:spcAft>
                <a:spcPts val="0"/>
              </a:spcAft>
              <a:buNone/>
            </a:pPr>
            <a:r>
              <a:rPr lang="en-US" sz="1600" dirty="0"/>
              <a:t>    {</a:t>
            </a:r>
          </a:p>
          <a:p>
            <a:pPr marL="384048" lvl="2" indent="0">
              <a:spcBef>
                <a:spcPts val="0"/>
              </a:spcBef>
              <a:spcAft>
                <a:spcPts val="0"/>
              </a:spcAft>
              <a:buNone/>
            </a:pPr>
            <a:r>
              <a:rPr lang="en-US" sz="1600" dirty="0"/>
              <a:t>        id: 1,</a:t>
            </a:r>
          </a:p>
          <a:p>
            <a:pPr marL="384048" lvl="2" indent="0">
              <a:spcBef>
                <a:spcPts val="0"/>
              </a:spcBef>
              <a:spcAft>
                <a:spcPts val="0"/>
              </a:spcAft>
              <a:buNone/>
            </a:pPr>
            <a:r>
              <a:rPr lang="en-US" sz="1600" dirty="0"/>
              <a:t>        status: 'New',</a:t>
            </a:r>
          </a:p>
          <a:p>
            <a:pPr marL="384048" lvl="2" indent="0">
              <a:spcBef>
                <a:spcPts val="0"/>
              </a:spcBef>
              <a:spcAft>
                <a:spcPts val="0"/>
              </a:spcAft>
              <a:buNone/>
            </a:pPr>
            <a:r>
              <a:rPr lang="en-US" sz="1600" dirty="0"/>
              <a:t>        owner: 'Ravan',</a:t>
            </a:r>
          </a:p>
          <a:p>
            <a:pPr marL="384048" lvl="2" indent="0">
              <a:spcBef>
                <a:spcPts val="0"/>
              </a:spcBef>
              <a:spcAft>
                <a:spcPts val="0"/>
              </a:spcAft>
              <a:buNone/>
            </a:pPr>
            <a:r>
              <a:rPr lang="en-US" sz="1600" dirty="0"/>
              <a:t>        effort: 5,</a:t>
            </a:r>
          </a:p>
          <a:p>
            <a:pPr marL="384048" lvl="2" indent="0">
              <a:spcBef>
                <a:spcPts val="0"/>
              </a:spcBef>
              <a:spcAft>
                <a:spcPts val="0"/>
              </a:spcAft>
              <a:buNone/>
            </a:pPr>
            <a:r>
              <a:rPr lang="en-US" sz="1600" dirty="0"/>
              <a:t>        created: new Date('2018-08-15'),</a:t>
            </a:r>
          </a:p>
          <a:p>
            <a:pPr marL="384048" lvl="2" indent="0">
              <a:spcBef>
                <a:spcPts val="0"/>
              </a:spcBef>
              <a:spcAft>
                <a:spcPts val="0"/>
              </a:spcAft>
              <a:buNone/>
            </a:pPr>
            <a:r>
              <a:rPr lang="en-US" sz="1600" dirty="0"/>
              <a:t>        due: undefined,</a:t>
            </a:r>
          </a:p>
          <a:p>
            <a:pPr marL="384048" lvl="2" indent="0">
              <a:spcBef>
                <a:spcPts val="0"/>
              </a:spcBef>
              <a:spcAft>
                <a:spcPts val="0"/>
              </a:spcAft>
              <a:buNone/>
            </a:pPr>
            <a:r>
              <a:rPr lang="en-US" sz="1600" dirty="0"/>
              <a:t>        title: 'Error in console when clicking Add'</a:t>
            </a:r>
          </a:p>
          <a:p>
            <a:pPr marL="384048" lvl="2" indent="0">
              <a:spcBef>
                <a:spcPts val="0"/>
              </a:spcBef>
              <a:spcAft>
                <a:spcPts val="0"/>
              </a:spcAft>
              <a:buNone/>
            </a:pPr>
            <a:r>
              <a:rPr lang="en-US" sz="1600" dirty="0"/>
              <a:t>    },</a:t>
            </a:r>
          </a:p>
          <a:p>
            <a:pPr marL="384048" lvl="2" indent="0">
              <a:spcBef>
                <a:spcPts val="0"/>
              </a:spcBef>
              <a:spcAft>
                <a:spcPts val="0"/>
              </a:spcAft>
              <a:buNone/>
            </a:pPr>
            <a:r>
              <a:rPr lang="en-US" sz="1600" dirty="0"/>
              <a:t>    {</a:t>
            </a:r>
          </a:p>
          <a:p>
            <a:pPr marL="384048" lvl="2" indent="0">
              <a:spcBef>
                <a:spcPts val="0"/>
              </a:spcBef>
              <a:spcAft>
                <a:spcPts val="0"/>
              </a:spcAft>
              <a:buNone/>
            </a:pPr>
            <a:r>
              <a:rPr lang="en-US" sz="1600" dirty="0"/>
              <a:t>        id: 2,</a:t>
            </a:r>
          </a:p>
          <a:p>
            <a:pPr marL="384048" lvl="2" indent="0">
              <a:spcBef>
                <a:spcPts val="0"/>
              </a:spcBef>
              <a:spcAft>
                <a:spcPts val="0"/>
              </a:spcAft>
              <a:buNone/>
            </a:pPr>
            <a:r>
              <a:rPr lang="en-US" sz="1600" dirty="0"/>
              <a:t>        status: 'Assigned',</a:t>
            </a:r>
          </a:p>
          <a:p>
            <a:pPr marL="384048" lvl="2" indent="0">
              <a:spcBef>
                <a:spcPts val="0"/>
              </a:spcBef>
              <a:spcAft>
                <a:spcPts val="0"/>
              </a:spcAft>
              <a:buNone/>
            </a:pPr>
            <a:r>
              <a:rPr lang="en-US" sz="1600" dirty="0"/>
              <a:t>        owner: 'Eddie',</a:t>
            </a:r>
          </a:p>
          <a:p>
            <a:pPr marL="384048" lvl="2" indent="0">
              <a:spcBef>
                <a:spcPts val="0"/>
              </a:spcBef>
              <a:spcAft>
                <a:spcPts val="0"/>
              </a:spcAft>
              <a:buNone/>
            </a:pPr>
            <a:r>
              <a:rPr lang="en-US" sz="1600" dirty="0"/>
              <a:t>        effort: 14,</a:t>
            </a:r>
          </a:p>
          <a:p>
            <a:pPr marL="384048" lvl="2" indent="0">
              <a:spcBef>
                <a:spcPts val="0"/>
              </a:spcBef>
              <a:spcAft>
                <a:spcPts val="0"/>
              </a:spcAft>
              <a:buNone/>
            </a:pPr>
            <a:r>
              <a:rPr lang="en-US" sz="1600" dirty="0"/>
              <a:t>        created: new Date('2018-08-16'),</a:t>
            </a:r>
          </a:p>
          <a:p>
            <a:pPr marL="384048" lvl="2" indent="0">
              <a:spcBef>
                <a:spcPts val="0"/>
              </a:spcBef>
              <a:spcAft>
                <a:spcPts val="0"/>
              </a:spcAft>
              <a:buNone/>
            </a:pPr>
            <a:r>
              <a:rPr lang="en-US" sz="1600" dirty="0"/>
              <a:t>        due: new Date('2018-08-30'),</a:t>
            </a:r>
          </a:p>
          <a:p>
            <a:pPr marL="384048" lvl="2" indent="0">
              <a:spcBef>
                <a:spcPts val="0"/>
              </a:spcBef>
              <a:spcAft>
                <a:spcPts val="0"/>
              </a:spcAft>
              <a:buNone/>
            </a:pPr>
            <a:r>
              <a:rPr lang="en-US" sz="1600" dirty="0"/>
              <a:t>        title: 'Missing bottom border on panel'</a:t>
            </a:r>
          </a:p>
          <a:p>
            <a:pPr marL="384048" lvl="2" indent="0">
              <a:spcBef>
                <a:spcPts val="0"/>
              </a:spcBef>
              <a:spcAft>
                <a:spcPts val="0"/>
              </a:spcAft>
              <a:buNone/>
            </a:pPr>
            <a:r>
              <a:rPr lang="en-US" sz="1600" dirty="0"/>
              <a:t>    }</a:t>
            </a:r>
          </a:p>
          <a:p>
            <a:pPr marL="384048" lvl="2" indent="0">
              <a:spcBef>
                <a:spcPts val="0"/>
              </a:spcBef>
              <a:spcAft>
                <a:spcPts val="0"/>
              </a:spcAft>
              <a:buNone/>
            </a:pPr>
            <a:r>
              <a:rPr lang="en-US" sz="1600" dirty="0"/>
              <a: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99638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97D1D-D971-3182-FD8F-9C5D3594F98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D5B6D4C-CFC1-B901-A7F3-F523921C85D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IN" sz="2000" b="1" dirty="0"/>
              <a:t>Use </a:t>
            </a:r>
            <a:r>
              <a:rPr lang="en-IN" sz="2000" b="1" dirty="0">
                <a:latin typeface="Courier New" panose="02070309020205020404" pitchFamily="49" charset="0"/>
              </a:rPr>
              <a:t>map()</a:t>
            </a:r>
            <a:r>
              <a:rPr lang="en-IN" sz="2000" b="1" dirty="0"/>
              <a:t> for Dynamic Rows</a:t>
            </a:r>
          </a:p>
          <a:p>
            <a:pPr>
              <a:buNone/>
            </a:pPr>
            <a:r>
              <a:rPr lang="en-IN" sz="2000" dirty="0"/>
              <a:t>Instead of:</a:t>
            </a:r>
          </a:p>
          <a:p>
            <a:pPr marL="384048" lvl="2" indent="0">
              <a:buNone/>
            </a:pPr>
            <a:r>
              <a:rPr lang="en-IN" sz="1600" b="1" dirty="0"/>
              <a:t>&lt;</a:t>
            </a:r>
            <a:r>
              <a:rPr lang="en-IN" sz="1600" b="1" dirty="0" err="1"/>
              <a:t>IssueRow</a:t>
            </a:r>
            <a:r>
              <a:rPr lang="en-IN" sz="1600" b="1" dirty="0"/>
              <a:t> /&gt; </a:t>
            </a:r>
          </a:p>
          <a:p>
            <a:pPr marL="384048" lvl="2" indent="0">
              <a:buNone/>
            </a:pPr>
            <a:r>
              <a:rPr lang="en-IN" sz="1600" b="1" dirty="0"/>
              <a:t>&lt;</a:t>
            </a:r>
            <a:r>
              <a:rPr lang="en-IN" sz="1600" b="1" dirty="0" err="1"/>
              <a:t>IssueRow</a:t>
            </a:r>
            <a:r>
              <a:rPr lang="en-IN" sz="1600" b="1" dirty="0"/>
              <a:t> /&gt;</a:t>
            </a:r>
            <a:endParaRPr lang="en-US" sz="1600" b="1" dirty="0"/>
          </a:p>
          <a:p>
            <a:pPr marL="0" indent="0">
              <a:buNone/>
            </a:pPr>
            <a:r>
              <a:rPr lang="en-IN" dirty="0"/>
              <a:t>use:</a:t>
            </a:r>
          </a:p>
          <a:p>
            <a:pPr marL="384048" lvl="2" indent="0">
              <a:buNone/>
            </a:pPr>
            <a:r>
              <a:rPr lang="en-US" sz="1600" b="1" dirty="0"/>
              <a:t>const </a:t>
            </a:r>
            <a:r>
              <a:rPr lang="en-US" sz="1600" b="1" dirty="0" err="1"/>
              <a:t>issueRows</a:t>
            </a:r>
            <a:r>
              <a:rPr lang="en-US" sz="1600" b="1" dirty="0"/>
              <a:t> = </a:t>
            </a:r>
            <a:r>
              <a:rPr lang="en-US" sz="1600" b="1" dirty="0" err="1"/>
              <a:t>issues.map</a:t>
            </a:r>
            <a:r>
              <a:rPr lang="en-US" sz="1600" b="1" dirty="0"/>
              <a:t>(issue =&gt;</a:t>
            </a:r>
          </a:p>
          <a:p>
            <a:pPr marL="384048" lvl="2" indent="0">
              <a:buNone/>
            </a:pPr>
            <a:r>
              <a:rPr lang="en-US" sz="1600" b="1" dirty="0"/>
              <a:t>&lt;</a:t>
            </a:r>
            <a:r>
              <a:rPr lang="en-US" sz="1600" b="1" dirty="0" err="1"/>
              <a:t>IssueRow</a:t>
            </a:r>
            <a:r>
              <a:rPr lang="en-US" sz="1600" b="1" dirty="0"/>
              <a:t> key={issue.id} issue={issue} /&gt;</a:t>
            </a:r>
          </a:p>
          <a:p>
            <a:pPr marL="384048" lvl="2" indent="0">
              <a:buNone/>
            </a:pPr>
            <a:r>
              <a:rPr lang="en-US" sz="1600" b="1" dirty="0"/>
              <a:t>);</a:t>
            </a:r>
          </a:p>
          <a:p>
            <a:pPr marL="0">
              <a:buNone/>
            </a:pPr>
            <a:r>
              <a:rPr lang="en-IN" b="1" dirty="0"/>
              <a:t>map()</a:t>
            </a:r>
            <a:r>
              <a:rPr lang="en-IN" sz="2400" b="1" dirty="0"/>
              <a:t> </a:t>
            </a:r>
            <a:r>
              <a:rPr lang="en-IN" sz="2400" dirty="0"/>
              <a:t>processes every issue and creates one </a:t>
            </a:r>
            <a:r>
              <a:rPr lang="en-IN" b="1" dirty="0" err="1"/>
              <a:t>IssueRow</a:t>
            </a:r>
            <a:r>
              <a:rPr lang="en-IN" sz="2400" dirty="0"/>
              <a:t> component for each object.</a:t>
            </a:r>
            <a:endParaRPr lang="en-US" sz="2200" b="1" dirty="0"/>
          </a:p>
          <a:p>
            <a:pPr marL="384048" lvl="2" indent="0">
              <a:buNone/>
            </a:pPr>
            <a:endParaRPr lang="en-IN" sz="1600" b="1" dirty="0"/>
          </a:p>
        </p:txBody>
      </p:sp>
    </p:spTree>
    <p:extLst>
      <p:ext uri="{BB962C8B-B14F-4D97-AF65-F5344CB8AC3E}">
        <p14:creationId xmlns:p14="http://schemas.microsoft.com/office/powerpoint/2010/main" val="2045811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797A9-A171-6023-E922-E204ED591FD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0990EFF-C603-8306-CE32-0FE4D7DF8D3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IN" sz="2000" b="1" dirty="0"/>
              <a:t>Pass the Complete Issue Object</a:t>
            </a:r>
          </a:p>
          <a:p>
            <a:pPr lvl="1">
              <a:buNone/>
            </a:pPr>
            <a:r>
              <a:rPr lang="en-IN" sz="1800" dirty="0"/>
              <a:t>Instead of passing every property separately:</a:t>
            </a:r>
          </a:p>
          <a:p>
            <a:pPr lvl="2">
              <a:buFont typeface="Arial" panose="020B0604020202020204" pitchFamily="34" charset="0"/>
              <a:buChar char="•"/>
            </a:pPr>
            <a:r>
              <a:rPr lang="en-IN" sz="1600" dirty="0"/>
              <a:t>&lt;</a:t>
            </a:r>
            <a:r>
              <a:rPr lang="en-IN" sz="1600" dirty="0" err="1"/>
              <a:t>IssueRow</a:t>
            </a:r>
            <a:r>
              <a:rPr lang="en-IN" sz="1600" dirty="0"/>
              <a:t> </a:t>
            </a:r>
            <a:r>
              <a:rPr lang="en-IN" sz="1600" dirty="0" err="1"/>
              <a:t>issue_id</a:t>
            </a:r>
            <a:r>
              <a:rPr lang="en-IN" sz="1600" dirty="0"/>
              <a:t>={1} </a:t>
            </a:r>
            <a:r>
              <a:rPr lang="en-IN" sz="1600" dirty="0" err="1"/>
              <a:t>issue_title</a:t>
            </a:r>
            <a:r>
              <a:rPr lang="en-IN" sz="1600" dirty="0"/>
              <a:t>="..." /&gt;</a:t>
            </a:r>
            <a:endParaRPr lang="en-US" sz="1600" dirty="0"/>
          </a:p>
          <a:p>
            <a:pPr marL="292608" lvl="1" indent="0">
              <a:buNone/>
            </a:pPr>
            <a:r>
              <a:rPr lang="en-IN" dirty="0"/>
              <a:t>pass the entire object:</a:t>
            </a:r>
          </a:p>
          <a:p>
            <a:pPr lvl="2">
              <a:buFont typeface="Arial" panose="020B0604020202020204" pitchFamily="34" charset="0"/>
              <a:buChar char="•"/>
            </a:pPr>
            <a:r>
              <a:rPr lang="en-IN" dirty="0"/>
              <a:t>&lt;</a:t>
            </a:r>
            <a:r>
              <a:rPr lang="en-IN" dirty="0" err="1"/>
              <a:t>IssueRow</a:t>
            </a:r>
            <a:r>
              <a:rPr lang="en-IN" dirty="0"/>
              <a:t> issue={issue} /&gt;</a:t>
            </a:r>
          </a:p>
          <a:p>
            <a:pPr marL="292608" lvl="1" indent="0">
              <a:buNone/>
            </a:pPr>
            <a:r>
              <a:rPr lang="en-IN" dirty="0"/>
              <a:t>The child accesses the data through:</a:t>
            </a:r>
          </a:p>
          <a:p>
            <a:pPr lvl="2">
              <a:buFont typeface="Arial" panose="020B0604020202020204" pitchFamily="34" charset="0"/>
              <a:buChar char="•"/>
            </a:pPr>
            <a:r>
              <a:rPr lang="en-IN" dirty="0" err="1"/>
              <a:t>this.props.issue</a:t>
            </a:r>
            <a:endParaRPr lang="en-IN" dirty="0"/>
          </a:p>
          <a:p>
            <a:pPr>
              <a:buNone/>
            </a:pPr>
            <a:endParaRPr lang="en-IN" b="1" dirty="0"/>
          </a:p>
          <a:p>
            <a:pPr>
              <a:buNone/>
            </a:pPr>
            <a:endParaRPr lang="en-IN" b="1" dirty="0"/>
          </a:p>
          <a:p>
            <a:pPr>
              <a:buFont typeface="Wingdings" panose="05000000000000000000" pitchFamily="2" charset="2"/>
              <a:buChar char="Ø"/>
            </a:pPr>
            <a:r>
              <a:rPr lang="en-IN" b="1" dirty="0"/>
              <a:t>Render the Rows</a:t>
            </a:r>
          </a:p>
          <a:p>
            <a:pPr>
              <a:buNone/>
            </a:pPr>
            <a:r>
              <a:rPr lang="en-IN" dirty="0"/>
              <a:t>	The generated rows are placed inside </a:t>
            </a:r>
            <a:r>
              <a:rPr lang="en-IN" dirty="0">
                <a:latin typeface="Courier New" panose="02070309020205020404" pitchFamily="49" charset="0"/>
              </a:rPr>
              <a:t>&lt;</a:t>
            </a:r>
            <a:r>
              <a:rPr lang="en-IN" dirty="0" err="1">
                <a:latin typeface="Courier New" panose="02070309020205020404" pitchFamily="49" charset="0"/>
              </a:rPr>
              <a:t>tbody</a:t>
            </a:r>
            <a:r>
              <a:rPr lang="en-IN" dirty="0">
                <a:latin typeface="Courier New" panose="02070309020205020404" pitchFamily="49" charset="0"/>
              </a:rPr>
              <a:t>&gt;</a:t>
            </a:r>
            <a:r>
              <a:rPr lang="en-IN" dirty="0"/>
              <a:t>:</a:t>
            </a:r>
          </a:p>
          <a:p>
            <a:pPr lvl="1">
              <a:buNone/>
            </a:pPr>
            <a:r>
              <a:rPr lang="en-IN" dirty="0"/>
              <a:t>&lt;</a:t>
            </a:r>
            <a:r>
              <a:rPr lang="en-IN" dirty="0" err="1"/>
              <a:t>tbody</a:t>
            </a:r>
            <a:r>
              <a:rPr lang="en-IN" dirty="0"/>
              <a:t>&gt;</a:t>
            </a:r>
          </a:p>
          <a:p>
            <a:pPr lvl="1">
              <a:buNone/>
            </a:pPr>
            <a:r>
              <a:rPr lang="en-IN" dirty="0"/>
              <a:t>    {</a:t>
            </a:r>
            <a:r>
              <a:rPr lang="en-IN" dirty="0" err="1"/>
              <a:t>issueRows</a:t>
            </a:r>
            <a:r>
              <a:rPr lang="en-IN" dirty="0"/>
              <a:t>}</a:t>
            </a:r>
          </a:p>
          <a:p>
            <a:pPr lvl="1">
              <a:buNone/>
            </a:pPr>
            <a:r>
              <a:rPr lang="en-IN" dirty="0"/>
              <a:t>&lt;/</a:t>
            </a:r>
            <a:r>
              <a:rPr lang="en-IN" dirty="0" err="1"/>
              <a:t>tbody</a:t>
            </a:r>
            <a:r>
              <a:rPr lang="en-IN" dirty="0"/>
              <a:t>&gt;</a:t>
            </a:r>
          </a:p>
          <a:p>
            <a:pPr marL="0" indent="0">
              <a:buNone/>
            </a:pPr>
            <a:r>
              <a:rPr lang="en-IN" dirty="0"/>
              <a:t>React renders all the generated </a:t>
            </a:r>
            <a:r>
              <a:rPr lang="en-IN" dirty="0" err="1"/>
              <a:t>IssueRow</a:t>
            </a:r>
            <a:r>
              <a:rPr lang="en-IN" dirty="0"/>
              <a:t> components.</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1535278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760B-1BB2-B054-C655-385CEBFD0EB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F6F9DB6-41DF-6391-EF2A-323635D12FE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IN" sz="1800" b="1" dirty="0"/>
              <a:t>Why </a:t>
            </a:r>
            <a:r>
              <a:rPr lang="en-IN" b="1" dirty="0"/>
              <a:t>key</a:t>
            </a:r>
            <a:r>
              <a:rPr lang="en-IN" sz="1800" b="1" dirty="0"/>
              <a:t> is Required</a:t>
            </a:r>
          </a:p>
          <a:p>
            <a:pPr marL="0" indent="0">
              <a:buNone/>
            </a:pPr>
            <a:r>
              <a:rPr lang="en-IN" sz="1800" dirty="0"/>
              <a:t>Each dynamically generated row has:</a:t>
            </a:r>
          </a:p>
          <a:p>
            <a:pPr lvl="1">
              <a:buFont typeface="Arial" panose="020B0604020202020204" pitchFamily="34" charset="0"/>
              <a:buChar char="•"/>
            </a:pPr>
            <a:r>
              <a:rPr lang="en-IN" sz="2000" dirty="0"/>
              <a:t>key={issue.id}</a:t>
            </a:r>
            <a:endParaRPr lang="en-US" sz="2000" dirty="0"/>
          </a:p>
          <a:p>
            <a:pPr marL="0" indent="0">
              <a:buNone/>
            </a:pPr>
            <a:r>
              <a:rPr lang="en-IN" dirty="0"/>
              <a:t>The key uniquely identifies each row and allows React to efficiently determine which rows have changed.</a:t>
            </a:r>
          </a:p>
          <a:p>
            <a:pPr>
              <a:buFont typeface="Wingdings" panose="05000000000000000000" pitchFamily="2" charset="2"/>
              <a:buChar char="Ø"/>
            </a:pPr>
            <a:r>
              <a:rPr lang="en-IN" b="1" dirty="0"/>
              <a:t>Table Styling</a:t>
            </a:r>
          </a:p>
          <a:p>
            <a:r>
              <a:rPr lang="en-IN" dirty="0"/>
              <a:t>Instead of applying inline styles to every cell, use a CSS class:</a:t>
            </a:r>
          </a:p>
          <a:p>
            <a:pPr marL="0" indent="0">
              <a:buNone/>
            </a:pPr>
            <a:r>
              <a:rPr lang="en-IN" dirty="0"/>
              <a:t>	&lt;table </a:t>
            </a:r>
            <a:r>
              <a:rPr lang="en-IN" dirty="0" err="1"/>
              <a:t>className</a:t>
            </a:r>
            <a:r>
              <a:rPr lang="en-IN" dirty="0"/>
              <a:t>="bordered-table"&gt;</a:t>
            </a:r>
          </a:p>
          <a:p>
            <a:pPr marL="0" indent="0">
              <a:buNone/>
            </a:pPr>
            <a:r>
              <a:rPr lang="en-IN" dirty="0"/>
              <a:t>and define the styling in index.html:</a:t>
            </a:r>
          </a:p>
          <a:p>
            <a:pPr marL="0" indent="0">
              <a:spcBef>
                <a:spcPts val="0"/>
              </a:spcBef>
              <a:spcAft>
                <a:spcPts val="0"/>
              </a:spcAft>
              <a:buNone/>
            </a:pPr>
            <a:r>
              <a:rPr lang="en-IN" sz="1600" dirty="0"/>
              <a:t>         </a:t>
            </a:r>
            <a:r>
              <a:rPr lang="en-IN" sz="1400" dirty="0" err="1"/>
              <a:t>table.bordered</a:t>
            </a:r>
            <a:r>
              <a:rPr lang="en-IN" sz="1400" dirty="0"/>
              <a:t>-table </a:t>
            </a:r>
            <a:r>
              <a:rPr lang="en-IN" sz="1400" dirty="0" err="1"/>
              <a:t>th</a:t>
            </a:r>
            <a:r>
              <a:rPr lang="en-IN" sz="1400" dirty="0"/>
              <a:t>,</a:t>
            </a:r>
          </a:p>
          <a:p>
            <a:pPr marL="475488" lvl="2" indent="0">
              <a:spcBef>
                <a:spcPts val="0"/>
              </a:spcBef>
              <a:spcAft>
                <a:spcPts val="0"/>
              </a:spcAft>
              <a:buNone/>
            </a:pPr>
            <a:r>
              <a:rPr lang="en-IN" sz="1400" dirty="0"/>
              <a:t>td {</a:t>
            </a:r>
          </a:p>
          <a:p>
            <a:pPr marL="475488" lvl="2" indent="0">
              <a:spcBef>
                <a:spcPts val="0"/>
              </a:spcBef>
              <a:spcAft>
                <a:spcPts val="0"/>
              </a:spcAft>
              <a:buNone/>
            </a:pPr>
            <a:r>
              <a:rPr lang="en-IN" sz="1400" dirty="0"/>
              <a:t>    border: 1px solid silver;</a:t>
            </a:r>
          </a:p>
          <a:p>
            <a:pPr marL="475488" lvl="2" indent="0">
              <a:spcBef>
                <a:spcPts val="0"/>
              </a:spcBef>
              <a:spcAft>
                <a:spcPts val="0"/>
              </a:spcAft>
              <a:buNone/>
            </a:pPr>
            <a:r>
              <a:rPr lang="en-IN" sz="1400" dirty="0"/>
              <a:t>    padding: 4px;</a:t>
            </a:r>
          </a:p>
          <a:p>
            <a:pPr marL="475488" lvl="2" indent="0">
              <a:spcBef>
                <a:spcPts val="0"/>
              </a:spcBef>
              <a:spcAft>
                <a:spcPts val="0"/>
              </a:spcAft>
              <a:buNone/>
            </a:pPr>
            <a:r>
              <a:rPr lang="en-IN" sz="1400" dirty="0"/>
              <a:t>}</a:t>
            </a:r>
          </a:p>
          <a:p>
            <a:pPr marL="475488" lvl="2" indent="0">
              <a:spcBef>
                <a:spcPts val="0"/>
              </a:spcBef>
              <a:spcAft>
                <a:spcPts val="0"/>
              </a:spcAft>
              <a:buNone/>
            </a:pPr>
            <a:endParaRPr lang="en-IN" sz="1400" dirty="0"/>
          </a:p>
          <a:p>
            <a:pPr marL="475488" lvl="2" indent="0">
              <a:spcBef>
                <a:spcPts val="0"/>
              </a:spcBef>
              <a:spcAft>
                <a:spcPts val="0"/>
              </a:spcAft>
              <a:buNone/>
            </a:pPr>
            <a:r>
              <a:rPr lang="en-IN" sz="1400" dirty="0" err="1"/>
              <a:t>table.bordered</a:t>
            </a:r>
            <a:r>
              <a:rPr lang="en-IN" sz="1400" dirty="0"/>
              <a:t>-table {</a:t>
            </a:r>
          </a:p>
          <a:p>
            <a:pPr marL="475488" lvl="2" indent="0">
              <a:spcBef>
                <a:spcPts val="0"/>
              </a:spcBef>
              <a:spcAft>
                <a:spcPts val="0"/>
              </a:spcAft>
              <a:buNone/>
            </a:pPr>
            <a:r>
              <a:rPr lang="en-IN" sz="1400" dirty="0"/>
              <a:t>    border-collapse: collapse;</a:t>
            </a:r>
          </a:p>
          <a:p>
            <a:pPr marL="475488" lvl="2" indent="0">
              <a:spcBef>
                <a:spcPts val="0"/>
              </a:spcBef>
              <a:spcAft>
                <a:spcPts val="0"/>
              </a:spcAft>
              <a:buNone/>
            </a:pPr>
            <a:r>
              <a:rPr lang="en-IN" sz="1400" dirty="0"/>
              <a:t>}</a:t>
            </a:r>
          </a:p>
        </p:txBody>
      </p:sp>
    </p:spTree>
    <p:extLst>
      <p:ext uri="{BB962C8B-B14F-4D97-AF65-F5344CB8AC3E}">
        <p14:creationId xmlns:p14="http://schemas.microsoft.com/office/powerpoint/2010/main" val="3321087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2B255-06CF-D70C-7FAD-A5A45A91DE3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5410E1D-3AA5-7A8B-6CC6-1CB6BB2412A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51460" indent="-342900">
              <a:buFont typeface="Wingdings" panose="05000000000000000000" pitchFamily="2" charset="2"/>
              <a:buChar char="Ø"/>
            </a:pPr>
            <a:r>
              <a:rPr lang="en-IN" sz="2000" dirty="0"/>
              <a:t>Handling Dates</a:t>
            </a:r>
            <a:endParaRPr lang="en-US" sz="2000" dirty="0"/>
          </a:p>
          <a:p>
            <a:pPr marL="292608" lvl="1" indent="0">
              <a:buNone/>
            </a:pPr>
            <a:r>
              <a:rPr lang="en-IN" dirty="0"/>
              <a:t>JavaScript Date objects are converted to readable strings:</a:t>
            </a:r>
          </a:p>
          <a:p>
            <a:pPr marL="292608" lvl="1" indent="0">
              <a:buNone/>
            </a:pPr>
            <a:r>
              <a:rPr lang="en-IN" dirty="0"/>
              <a:t>	</a:t>
            </a:r>
            <a:r>
              <a:rPr lang="en-IN" dirty="0" err="1"/>
              <a:t>issue.created.toDateString</a:t>
            </a:r>
            <a:r>
              <a:rPr lang="en-IN" dirty="0"/>
              <a:t>()</a:t>
            </a:r>
          </a:p>
          <a:p>
            <a:pPr marL="292608" lvl="1" indent="0">
              <a:buNone/>
            </a:pPr>
            <a:r>
              <a:rPr lang="en-IN" dirty="0"/>
              <a:t>For the optional due date:</a:t>
            </a:r>
          </a:p>
          <a:p>
            <a:pPr marL="292608" lvl="1" indent="0">
              <a:buNone/>
            </a:pPr>
            <a:r>
              <a:rPr lang="en-IN" dirty="0"/>
              <a:t>	</a:t>
            </a:r>
            <a:r>
              <a:rPr lang="en-IN" dirty="0" err="1"/>
              <a:t>issue.due</a:t>
            </a:r>
            <a:r>
              <a:rPr lang="en-IN" dirty="0"/>
              <a:t> ? </a:t>
            </a:r>
            <a:r>
              <a:rPr lang="en-IN" dirty="0" err="1"/>
              <a:t>issue.due.toDateString</a:t>
            </a:r>
            <a:r>
              <a:rPr lang="en-IN" dirty="0"/>
              <a:t>() : ‘’</a:t>
            </a:r>
          </a:p>
          <a:p>
            <a:pPr marL="292608" lvl="1" indent="0">
              <a:buNone/>
            </a:pPr>
            <a:r>
              <a:rPr lang="en-IN" dirty="0"/>
              <a:t>If due is undefined, an empty string is displayed.</a:t>
            </a:r>
          </a:p>
          <a:p>
            <a:pPr>
              <a:buFont typeface="Wingdings" panose="05000000000000000000" pitchFamily="2" charset="2"/>
              <a:buChar char="Ø"/>
            </a:pPr>
            <a:r>
              <a:rPr lang="en-IN" dirty="0"/>
              <a:t>Final Concept</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b="1" dirty="0"/>
              <a:t>Main takeaway:</a:t>
            </a:r>
            <a:r>
              <a:rPr lang="en-IN" dirty="0"/>
              <a:t> React allows normal JavaScript expressions such as map() to dynamically generate components instead of requiring a special template-loop syntax.</a:t>
            </a:r>
          </a:p>
        </p:txBody>
      </p:sp>
      <p:pic>
        <p:nvPicPr>
          <p:cNvPr id="3" name="Picture 2">
            <a:extLst>
              <a:ext uri="{FF2B5EF4-FFF2-40B4-BE49-F238E27FC236}">
                <a16:creationId xmlns:a16="http://schemas.microsoft.com/office/drawing/2014/main" id="{0526BD9C-F7FF-84E0-1125-3AEAFDD08655}"/>
              </a:ext>
            </a:extLst>
          </p:cNvPr>
          <p:cNvPicPr>
            <a:picLocks noChangeAspect="1"/>
          </p:cNvPicPr>
          <p:nvPr/>
        </p:nvPicPr>
        <p:blipFill>
          <a:blip r:embed="rId2"/>
          <a:stretch>
            <a:fillRect/>
          </a:stretch>
        </p:blipFill>
        <p:spPr>
          <a:xfrm>
            <a:off x="829358" y="2972105"/>
            <a:ext cx="2618517" cy="2035685"/>
          </a:xfrm>
          <a:prstGeom prst="rect">
            <a:avLst/>
          </a:prstGeom>
        </p:spPr>
      </p:pic>
    </p:spTree>
    <p:extLst>
      <p:ext uri="{BB962C8B-B14F-4D97-AF65-F5344CB8AC3E}">
        <p14:creationId xmlns:p14="http://schemas.microsoft.com/office/powerpoint/2010/main" val="2529784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966D8-6397-66DE-F52D-AA3B7DD542B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E675914-1EAE-B30F-A59A-AA26AB63835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Example program for dynamic composition</a:t>
            </a:r>
          </a:p>
          <a:p>
            <a:pPr lvl="1">
              <a:buFont typeface="Arial" panose="020B0604020202020204" pitchFamily="34" charset="0"/>
              <a:buChar char="•"/>
            </a:pPr>
            <a:r>
              <a:rPr lang="en-IN" sz="2200" b="1" dirty="0"/>
              <a:t>Folder structure</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C9F47AAC-2E11-9BDB-A74B-9453CD903A3F}"/>
              </a:ext>
            </a:extLst>
          </p:cNvPr>
          <p:cNvPicPr>
            <a:picLocks noChangeAspect="1"/>
          </p:cNvPicPr>
          <p:nvPr/>
        </p:nvPicPr>
        <p:blipFill>
          <a:blip r:embed="rId2"/>
          <a:stretch>
            <a:fillRect/>
          </a:stretch>
        </p:blipFill>
        <p:spPr>
          <a:xfrm>
            <a:off x="760349" y="1408350"/>
            <a:ext cx="4222711" cy="3637010"/>
          </a:xfrm>
          <a:prstGeom prst="rect">
            <a:avLst/>
          </a:prstGeom>
        </p:spPr>
      </p:pic>
    </p:spTree>
    <p:extLst>
      <p:ext uri="{BB962C8B-B14F-4D97-AF65-F5344CB8AC3E}">
        <p14:creationId xmlns:p14="http://schemas.microsoft.com/office/powerpoint/2010/main" val="3146671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EAF24-FEF1-9E90-47D7-664AE9562CF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697C180-314D-C8C2-DE7D-3541E0B257D5}"/>
              </a:ext>
            </a:extLst>
          </p:cNvPr>
          <p:cNvSpPr txBox="1">
            <a:spLocks/>
          </p:cNvSpPr>
          <p:nvPr/>
        </p:nvSpPr>
        <p:spPr>
          <a:xfrm>
            <a:off x="360727" y="343949"/>
            <a:ext cx="4823669"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err="1"/>
              <a:t>App.jsx</a:t>
            </a:r>
            <a:endParaRPr lang="en-IN" sz="1800" b="1" dirty="0"/>
          </a:p>
          <a:p>
            <a:pPr marL="384048" lvl="2" indent="0">
              <a:spcBef>
                <a:spcPts val="0"/>
              </a:spcBef>
              <a:spcAft>
                <a:spcPts val="0"/>
              </a:spcAft>
              <a:buNone/>
            </a:pPr>
            <a:r>
              <a:rPr lang="en-US" sz="1600" b="1" dirty="0"/>
              <a:t>const issues = [</a:t>
            </a:r>
          </a:p>
          <a:p>
            <a:pPr marL="384048" lvl="2" indent="0">
              <a:spcBef>
                <a:spcPts val="0"/>
              </a:spcBef>
              <a:spcAft>
                <a:spcPts val="0"/>
              </a:spcAft>
              <a:buNone/>
            </a:pPr>
            <a:r>
              <a:rPr lang="en-US" sz="1600" b="1" dirty="0"/>
              <a:t>    {</a:t>
            </a:r>
          </a:p>
          <a:p>
            <a:pPr marL="384048" lvl="2" indent="0">
              <a:spcBef>
                <a:spcPts val="0"/>
              </a:spcBef>
              <a:spcAft>
                <a:spcPts val="0"/>
              </a:spcAft>
              <a:buNone/>
            </a:pPr>
            <a:r>
              <a:rPr lang="en-US" sz="1600" b="1" dirty="0"/>
              <a:t>        id: 1,</a:t>
            </a:r>
          </a:p>
          <a:p>
            <a:pPr marL="384048" lvl="2" indent="0">
              <a:spcBef>
                <a:spcPts val="0"/>
              </a:spcBef>
              <a:spcAft>
                <a:spcPts val="0"/>
              </a:spcAft>
              <a:buNone/>
            </a:pPr>
            <a:r>
              <a:rPr lang="en-US" sz="1600" b="1" dirty="0"/>
              <a:t>        status: 'New',</a:t>
            </a:r>
          </a:p>
          <a:p>
            <a:pPr marL="384048" lvl="2" indent="0">
              <a:spcBef>
                <a:spcPts val="0"/>
              </a:spcBef>
              <a:spcAft>
                <a:spcPts val="0"/>
              </a:spcAft>
              <a:buNone/>
            </a:pPr>
            <a:r>
              <a:rPr lang="en-US" sz="1600" b="1" dirty="0"/>
              <a:t>        owner: 'Ravan',</a:t>
            </a:r>
          </a:p>
          <a:p>
            <a:pPr marL="384048" lvl="2" indent="0">
              <a:spcBef>
                <a:spcPts val="0"/>
              </a:spcBef>
              <a:spcAft>
                <a:spcPts val="0"/>
              </a:spcAft>
              <a:buNone/>
            </a:pPr>
            <a:r>
              <a:rPr lang="en-US" sz="1600" b="1" dirty="0"/>
              <a:t>        effort: 5,</a:t>
            </a:r>
          </a:p>
          <a:p>
            <a:pPr marL="384048" lvl="2" indent="0">
              <a:spcBef>
                <a:spcPts val="0"/>
              </a:spcBef>
              <a:spcAft>
                <a:spcPts val="0"/>
              </a:spcAft>
              <a:buNone/>
            </a:pPr>
            <a:r>
              <a:rPr lang="en-US" sz="1600" b="1" dirty="0"/>
              <a:t>        created: new Date('2018-08-15'),</a:t>
            </a:r>
          </a:p>
          <a:p>
            <a:pPr marL="384048" lvl="2" indent="0">
              <a:spcBef>
                <a:spcPts val="0"/>
              </a:spcBef>
              <a:spcAft>
                <a:spcPts val="0"/>
              </a:spcAft>
              <a:buNone/>
            </a:pPr>
            <a:r>
              <a:rPr lang="en-US" sz="1600" b="1" dirty="0"/>
              <a:t>        due: undefined,</a:t>
            </a:r>
          </a:p>
          <a:p>
            <a:pPr marL="384048" lvl="2" indent="0">
              <a:spcBef>
                <a:spcPts val="0"/>
              </a:spcBef>
              <a:spcAft>
                <a:spcPts val="0"/>
              </a:spcAft>
              <a:buNone/>
            </a:pPr>
            <a:r>
              <a:rPr lang="en-US" sz="1600" b="1" dirty="0"/>
              <a:t>        title: 'Error in console when clicking Add'</a:t>
            </a:r>
          </a:p>
          <a:p>
            <a:pPr marL="384048" lvl="2" indent="0">
              <a:spcBef>
                <a:spcPts val="0"/>
              </a:spcBef>
              <a:spcAft>
                <a:spcPts val="0"/>
              </a:spcAft>
              <a:buNone/>
            </a:pPr>
            <a:r>
              <a:rPr lang="en-US" sz="1600" b="1" dirty="0"/>
              <a:t>    },</a:t>
            </a:r>
          </a:p>
          <a:p>
            <a:pPr marL="384048" lvl="2" indent="0">
              <a:spcBef>
                <a:spcPts val="0"/>
              </a:spcBef>
              <a:spcAft>
                <a:spcPts val="0"/>
              </a:spcAft>
              <a:buNone/>
            </a:pPr>
            <a:r>
              <a:rPr lang="en-US" sz="1600" b="1" dirty="0"/>
              <a:t>    {</a:t>
            </a:r>
          </a:p>
          <a:p>
            <a:pPr marL="384048" lvl="2" indent="0">
              <a:spcBef>
                <a:spcPts val="0"/>
              </a:spcBef>
              <a:spcAft>
                <a:spcPts val="0"/>
              </a:spcAft>
              <a:buNone/>
            </a:pPr>
            <a:r>
              <a:rPr lang="en-US" sz="1600" b="1" dirty="0"/>
              <a:t>        id: 2,</a:t>
            </a:r>
          </a:p>
          <a:p>
            <a:pPr marL="384048" lvl="2" indent="0">
              <a:spcBef>
                <a:spcPts val="0"/>
              </a:spcBef>
              <a:spcAft>
                <a:spcPts val="0"/>
              </a:spcAft>
              <a:buNone/>
            </a:pPr>
            <a:r>
              <a:rPr lang="en-US" sz="1600" b="1" dirty="0"/>
              <a:t>        status: 'Assigned',</a:t>
            </a:r>
          </a:p>
          <a:p>
            <a:pPr marL="384048" lvl="2" indent="0">
              <a:spcBef>
                <a:spcPts val="0"/>
              </a:spcBef>
              <a:spcAft>
                <a:spcPts val="0"/>
              </a:spcAft>
              <a:buNone/>
            </a:pPr>
            <a:r>
              <a:rPr lang="en-US" sz="1600" b="1" dirty="0"/>
              <a:t>        owner: 'Eddie',</a:t>
            </a:r>
          </a:p>
          <a:p>
            <a:pPr marL="384048" lvl="2" indent="0">
              <a:spcBef>
                <a:spcPts val="0"/>
              </a:spcBef>
              <a:spcAft>
                <a:spcPts val="0"/>
              </a:spcAft>
              <a:buNone/>
            </a:pPr>
            <a:r>
              <a:rPr lang="en-US" sz="1600" b="1" dirty="0"/>
              <a:t>        effort: 14,</a:t>
            </a:r>
          </a:p>
          <a:p>
            <a:pPr marL="384048" lvl="2" indent="0">
              <a:spcBef>
                <a:spcPts val="0"/>
              </a:spcBef>
              <a:spcAft>
                <a:spcPts val="0"/>
              </a:spcAft>
              <a:buNone/>
            </a:pPr>
            <a:r>
              <a:rPr lang="en-US" sz="1600" b="1" dirty="0"/>
              <a:t>        created: new Date('2018-08-16'),</a:t>
            </a:r>
          </a:p>
          <a:p>
            <a:pPr marL="384048" lvl="2" indent="0">
              <a:spcBef>
                <a:spcPts val="0"/>
              </a:spcBef>
              <a:spcAft>
                <a:spcPts val="0"/>
              </a:spcAft>
              <a:buNone/>
            </a:pPr>
            <a:r>
              <a:rPr lang="en-US" sz="1600" b="1" dirty="0"/>
              <a:t>        due: new Date('2018-08-30'),</a:t>
            </a:r>
          </a:p>
          <a:p>
            <a:pPr marL="384048" lvl="2" indent="0">
              <a:spcBef>
                <a:spcPts val="0"/>
              </a:spcBef>
              <a:spcAft>
                <a:spcPts val="0"/>
              </a:spcAft>
              <a:buNone/>
            </a:pPr>
            <a:r>
              <a:rPr lang="en-US" sz="1600" b="1" dirty="0"/>
              <a:t>        title: 'Missing bottom border on panel'</a:t>
            </a:r>
          </a:p>
          <a:p>
            <a:pPr marL="384048" lvl="2" indent="0">
              <a:spcBef>
                <a:spcPts val="0"/>
              </a:spcBef>
              <a:spcAft>
                <a:spcPts val="0"/>
              </a:spcAft>
              <a:buNone/>
            </a:pPr>
            <a:r>
              <a:rPr lang="en-US" sz="1600" b="1" dirty="0"/>
              <a:t>    }</a:t>
            </a:r>
          </a:p>
          <a:p>
            <a:pPr marL="384048" lvl="2" indent="0">
              <a:spcBef>
                <a:spcPts val="0"/>
              </a:spcBef>
              <a:spcAft>
                <a:spcPts val="0"/>
              </a:spcAft>
              <a:buNone/>
            </a:pPr>
            <a:r>
              <a:rPr lang="en-US" sz="1600" b="1" dirty="0"/>
              <a:t>];</a:t>
            </a:r>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BD37D67A-1828-2A01-996D-CE60F3379E81}"/>
              </a:ext>
            </a:extLst>
          </p:cNvPr>
          <p:cNvSpPr txBox="1"/>
          <p:nvPr/>
        </p:nvSpPr>
        <p:spPr>
          <a:xfrm>
            <a:off x="6249799" y="713064"/>
            <a:ext cx="5469622" cy="4924425"/>
          </a:xfrm>
          <a:prstGeom prst="rect">
            <a:avLst/>
          </a:prstGeom>
          <a:noFill/>
        </p:spPr>
        <p:txBody>
          <a:bodyPr wrap="square" rtlCol="0">
            <a:spAutoFit/>
          </a:bodyPr>
          <a:lstStyle/>
          <a:p>
            <a:r>
              <a:rPr lang="en-IN" sz="1600" b="1" dirty="0"/>
              <a:t>class </a:t>
            </a:r>
            <a:r>
              <a:rPr lang="en-IN" sz="1600" b="1" dirty="0" err="1"/>
              <a:t>IssueRow</a:t>
            </a:r>
            <a:r>
              <a:rPr lang="en-IN" sz="1600" b="1" dirty="0"/>
              <a:t> extends </a:t>
            </a:r>
            <a:r>
              <a:rPr lang="en-IN" sz="1600" b="1" dirty="0" err="1"/>
              <a:t>React.Component</a:t>
            </a:r>
            <a:r>
              <a:rPr lang="en-IN" sz="1600" b="1" dirty="0"/>
              <a:t> {</a:t>
            </a:r>
          </a:p>
          <a:p>
            <a:r>
              <a:rPr lang="en-IN" sz="1600" b="1" dirty="0"/>
              <a:t>    render() {</a:t>
            </a:r>
          </a:p>
          <a:p>
            <a:r>
              <a:rPr lang="en-IN" sz="1600" b="1" dirty="0"/>
              <a:t>        </a:t>
            </a:r>
            <a:r>
              <a:rPr lang="en-IN" sz="1600" b="1" dirty="0" err="1"/>
              <a:t>const</a:t>
            </a:r>
            <a:r>
              <a:rPr lang="en-IN" sz="1600" b="1" dirty="0"/>
              <a:t> issue = </a:t>
            </a:r>
            <a:r>
              <a:rPr lang="en-IN" sz="1600" b="1" dirty="0" err="1"/>
              <a:t>this.props.issue</a:t>
            </a:r>
            <a:r>
              <a:rPr lang="en-IN" sz="1600" b="1" dirty="0"/>
              <a:t>;</a:t>
            </a:r>
          </a:p>
          <a:p>
            <a:endParaRPr lang="en-IN" sz="1600" b="1" dirty="0"/>
          </a:p>
          <a:p>
            <a:r>
              <a:rPr lang="en-IN" sz="1600" b="1" dirty="0"/>
              <a:t>        return (</a:t>
            </a:r>
          </a:p>
          <a:p>
            <a:r>
              <a:rPr lang="en-IN" sz="1600" b="1" dirty="0"/>
              <a:t>            &lt;tr&gt;</a:t>
            </a:r>
          </a:p>
          <a:p>
            <a:r>
              <a:rPr lang="en-IN" sz="1600" b="1" dirty="0"/>
              <a:t>                &lt;td&gt;{issue.id}&lt;/td&gt;</a:t>
            </a:r>
          </a:p>
          <a:p>
            <a:r>
              <a:rPr lang="en-IN" sz="1600" b="1" dirty="0"/>
              <a:t>                &lt;td&gt;{</a:t>
            </a:r>
            <a:r>
              <a:rPr lang="en-IN" sz="1600" b="1" dirty="0" err="1"/>
              <a:t>issue.status</a:t>
            </a:r>
            <a:r>
              <a:rPr lang="en-IN" sz="1600" b="1" dirty="0"/>
              <a:t>}&lt;/td&gt;</a:t>
            </a:r>
          </a:p>
          <a:p>
            <a:r>
              <a:rPr lang="en-IN" sz="1600" b="1" dirty="0"/>
              <a:t>                &lt;td&gt;{</a:t>
            </a:r>
            <a:r>
              <a:rPr lang="en-IN" sz="1600" b="1" dirty="0" err="1"/>
              <a:t>issue.owner</a:t>
            </a:r>
            <a:r>
              <a:rPr lang="en-IN" sz="1600" b="1" dirty="0"/>
              <a:t>}&lt;/td&gt;</a:t>
            </a:r>
          </a:p>
          <a:p>
            <a:r>
              <a:rPr lang="en-IN" sz="1600" b="1" dirty="0"/>
              <a:t>                &lt;td&gt;{</a:t>
            </a:r>
            <a:r>
              <a:rPr lang="en-IN" sz="1600" b="1" dirty="0" err="1"/>
              <a:t>issue.created.toDateString</a:t>
            </a:r>
            <a:r>
              <a:rPr lang="en-IN" sz="1600" b="1" dirty="0"/>
              <a:t>()}&lt;/td&gt;</a:t>
            </a:r>
          </a:p>
          <a:p>
            <a:r>
              <a:rPr lang="en-IN" sz="1600" b="1" dirty="0"/>
              <a:t>                &lt;td&gt;{</a:t>
            </a:r>
            <a:r>
              <a:rPr lang="en-IN" sz="1600" b="1" dirty="0" err="1"/>
              <a:t>issue.effort</a:t>
            </a:r>
            <a:r>
              <a:rPr lang="en-IN" sz="1600" b="1" dirty="0"/>
              <a:t>}&lt;/td&gt;</a:t>
            </a:r>
          </a:p>
          <a:p>
            <a:r>
              <a:rPr lang="en-IN" sz="1600" b="1" dirty="0"/>
              <a:t>                &lt;td&gt;</a:t>
            </a:r>
          </a:p>
          <a:p>
            <a:r>
              <a:rPr lang="en-IN" sz="1600" b="1" dirty="0"/>
              <a:t>                    {</a:t>
            </a:r>
            <a:r>
              <a:rPr lang="en-IN" sz="1600" b="1" dirty="0" err="1"/>
              <a:t>issue.due</a:t>
            </a:r>
            <a:r>
              <a:rPr lang="en-IN" sz="1600" b="1" dirty="0"/>
              <a:t> ? </a:t>
            </a:r>
            <a:r>
              <a:rPr lang="en-IN" sz="1600" b="1" dirty="0" err="1"/>
              <a:t>issue.due.toDateString</a:t>
            </a:r>
            <a:r>
              <a:rPr lang="en-IN" sz="1600" b="1" dirty="0"/>
              <a:t>() : ''}</a:t>
            </a:r>
          </a:p>
          <a:p>
            <a:r>
              <a:rPr lang="en-IN" sz="1600" b="1" dirty="0"/>
              <a:t>                &lt;/td&gt;</a:t>
            </a:r>
          </a:p>
          <a:p>
            <a:r>
              <a:rPr lang="en-IN" sz="1600" b="1" dirty="0"/>
              <a:t>                &lt;td&gt;{</a:t>
            </a:r>
            <a:r>
              <a:rPr lang="en-IN" sz="1600" b="1" dirty="0" err="1"/>
              <a:t>issue.title</a:t>
            </a:r>
            <a:r>
              <a:rPr lang="en-IN" sz="1600" b="1" dirty="0"/>
              <a:t>}&lt;/td&gt;</a:t>
            </a:r>
          </a:p>
          <a:p>
            <a:r>
              <a:rPr lang="en-IN" sz="1600" b="1" dirty="0"/>
              <a:t>            &lt;/tr&gt;</a:t>
            </a:r>
          </a:p>
          <a:p>
            <a:r>
              <a:rPr lang="en-IN" sz="1600" b="1" dirty="0"/>
              <a:t>        );</a:t>
            </a:r>
          </a:p>
          <a:p>
            <a:r>
              <a:rPr lang="en-IN" sz="1600" b="1" dirty="0"/>
              <a:t>    }</a:t>
            </a:r>
          </a:p>
          <a:p>
            <a:r>
              <a:rPr lang="en-IN" sz="1600" b="1" dirty="0"/>
              <a:t>}</a:t>
            </a:r>
            <a:endParaRPr lang="en-IN" b="1" dirty="0"/>
          </a:p>
        </p:txBody>
      </p:sp>
    </p:spTree>
    <p:extLst>
      <p:ext uri="{BB962C8B-B14F-4D97-AF65-F5344CB8AC3E}">
        <p14:creationId xmlns:p14="http://schemas.microsoft.com/office/powerpoint/2010/main" val="3702719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52C7C-2A81-B7EB-D364-FBCD5F7C9B5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DC5C41C-1FFB-EEE3-D992-9B0A3DAE7987}"/>
              </a:ext>
            </a:extLst>
          </p:cNvPr>
          <p:cNvSpPr txBox="1">
            <a:spLocks/>
          </p:cNvSpPr>
          <p:nvPr/>
        </p:nvSpPr>
        <p:spPr>
          <a:xfrm>
            <a:off x="360728" y="343949"/>
            <a:ext cx="5268286"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600" b="1" dirty="0"/>
              <a:t>Continued code of </a:t>
            </a:r>
            <a:r>
              <a:rPr lang="en-IN" sz="1600" b="1" dirty="0" err="1"/>
              <a:t>App.jsx</a:t>
            </a:r>
            <a:endParaRPr lang="en-IN" sz="1600" b="1" dirty="0"/>
          </a:p>
          <a:p>
            <a:pPr marL="384048" lvl="2" indent="0">
              <a:spcBef>
                <a:spcPts val="0"/>
              </a:spcBef>
              <a:spcAft>
                <a:spcPts val="0"/>
              </a:spcAft>
              <a:buNone/>
            </a:pPr>
            <a:r>
              <a:rPr lang="en-US" sz="1400" b="1" dirty="0"/>
              <a:t>class </a:t>
            </a:r>
            <a:r>
              <a:rPr lang="en-US" sz="1400" b="1" dirty="0" err="1"/>
              <a:t>IssueTable</a:t>
            </a:r>
            <a:r>
              <a:rPr lang="en-US" sz="1400" b="1" dirty="0"/>
              <a:t> extends </a:t>
            </a:r>
            <a:r>
              <a:rPr lang="en-US" sz="1400" b="1" dirty="0" err="1"/>
              <a:t>React.Component</a:t>
            </a:r>
            <a:r>
              <a:rPr lang="en-US" sz="1400" b="1" dirty="0"/>
              <a:t> {</a:t>
            </a:r>
          </a:p>
          <a:p>
            <a:pPr marL="384048" lvl="2" indent="0">
              <a:spcBef>
                <a:spcPts val="0"/>
              </a:spcBef>
              <a:spcAft>
                <a:spcPts val="0"/>
              </a:spcAft>
              <a:buNone/>
            </a:pPr>
            <a:r>
              <a:rPr lang="en-US" sz="1400" b="1" dirty="0"/>
              <a:t>    render() {</a:t>
            </a:r>
          </a:p>
          <a:p>
            <a:pPr marL="384048" lvl="2" indent="0">
              <a:spcBef>
                <a:spcPts val="0"/>
              </a:spcBef>
              <a:spcAft>
                <a:spcPts val="0"/>
              </a:spcAft>
              <a:buNone/>
            </a:pPr>
            <a:r>
              <a:rPr lang="en-US" sz="1400" b="1" dirty="0"/>
              <a:t>        const </a:t>
            </a:r>
            <a:r>
              <a:rPr lang="en-US" sz="1400" b="1" dirty="0" err="1"/>
              <a:t>issueRows</a:t>
            </a:r>
            <a:r>
              <a:rPr lang="en-US" sz="1400" b="1" dirty="0"/>
              <a:t> = </a:t>
            </a:r>
            <a:r>
              <a:rPr lang="en-US" sz="1400" b="1" dirty="0" err="1"/>
              <a:t>issues.map</a:t>
            </a:r>
            <a:r>
              <a:rPr lang="en-US" sz="1400" b="1" dirty="0"/>
              <a:t>(issue =&gt;</a:t>
            </a:r>
          </a:p>
          <a:p>
            <a:pPr marL="384048" lvl="2" indent="0">
              <a:spcBef>
                <a:spcPts val="0"/>
              </a:spcBef>
              <a:spcAft>
                <a:spcPts val="0"/>
              </a:spcAft>
              <a:buNone/>
            </a:pPr>
            <a:r>
              <a:rPr lang="en-US" sz="1400" b="1" dirty="0"/>
              <a:t>            &lt;</a:t>
            </a:r>
            <a:r>
              <a:rPr lang="en-US" sz="1400" b="1" dirty="0" err="1"/>
              <a:t>IssueRow</a:t>
            </a:r>
            <a:r>
              <a:rPr lang="en-US" sz="1400" b="1" dirty="0"/>
              <a:t> key={issue.id} issue={issue} /&gt;</a:t>
            </a:r>
          </a:p>
          <a:p>
            <a:pPr marL="384048" lvl="2" indent="0">
              <a:spcBef>
                <a:spcPts val="0"/>
              </a:spcBef>
              <a:spcAft>
                <a:spcPts val="0"/>
              </a:spcAft>
              <a:buNone/>
            </a:pPr>
            <a:r>
              <a:rPr lang="en-US" sz="1400" b="1" dirty="0"/>
              <a:t>        );</a:t>
            </a:r>
          </a:p>
          <a:p>
            <a:pPr marL="384048" lvl="2" indent="0">
              <a:spcBef>
                <a:spcPts val="0"/>
              </a:spcBef>
              <a:spcAft>
                <a:spcPts val="0"/>
              </a:spcAft>
              <a:buNone/>
            </a:pPr>
            <a:r>
              <a:rPr lang="en-US" sz="1400" b="1" dirty="0"/>
              <a:t>        return (</a:t>
            </a:r>
          </a:p>
          <a:p>
            <a:pPr marL="384048" lvl="2" indent="0">
              <a:spcBef>
                <a:spcPts val="0"/>
              </a:spcBef>
              <a:spcAft>
                <a:spcPts val="0"/>
              </a:spcAft>
              <a:buNone/>
            </a:pPr>
            <a:r>
              <a:rPr lang="en-US" sz="1400" b="1" dirty="0"/>
              <a:t>            &lt;table </a:t>
            </a:r>
            <a:r>
              <a:rPr lang="en-US" sz="1400" b="1" dirty="0" err="1"/>
              <a:t>className</a:t>
            </a:r>
            <a:r>
              <a:rPr lang="en-US" sz="1400" b="1" dirty="0"/>
              <a:t>="bordered-table"&gt;</a:t>
            </a:r>
          </a:p>
          <a:p>
            <a:pPr marL="384048" lvl="2" indent="0">
              <a:spcBef>
                <a:spcPts val="0"/>
              </a:spcBef>
              <a:spcAft>
                <a:spcPts val="0"/>
              </a:spcAft>
              <a:buNone/>
            </a:pPr>
            <a:r>
              <a:rPr lang="en-US" sz="1400" b="1" dirty="0"/>
              <a:t>                &lt;</a:t>
            </a:r>
            <a:r>
              <a:rPr lang="en-US" sz="1400" b="1" dirty="0" err="1"/>
              <a:t>thead</a:t>
            </a:r>
            <a:r>
              <a:rPr lang="en-US" sz="1400" b="1" dirty="0"/>
              <a:t>&gt;</a:t>
            </a:r>
          </a:p>
          <a:p>
            <a:pPr marL="384048" lvl="2" indent="0">
              <a:spcBef>
                <a:spcPts val="0"/>
              </a:spcBef>
              <a:spcAft>
                <a:spcPts val="0"/>
              </a:spcAft>
              <a:buNone/>
            </a:pPr>
            <a:r>
              <a:rPr lang="en-US" sz="1400" b="1" dirty="0"/>
              <a:t>                    &lt;tr&gt;</a:t>
            </a:r>
          </a:p>
          <a:p>
            <a:pPr marL="384048" lvl="2" indent="0">
              <a:spcBef>
                <a:spcPts val="0"/>
              </a:spcBef>
              <a:spcAft>
                <a:spcPts val="0"/>
              </a:spcAft>
              <a:buNone/>
            </a:pPr>
            <a:r>
              <a:rPr lang="en-US" sz="1400" b="1" dirty="0"/>
              <a:t>                        &lt;</a:t>
            </a:r>
            <a:r>
              <a:rPr lang="en-US" sz="1400" b="1" dirty="0" err="1"/>
              <a:t>th</a:t>
            </a:r>
            <a:r>
              <a:rPr lang="en-US" sz="1400" b="1" dirty="0"/>
              <a:t>&gt;ID&lt;/</a:t>
            </a:r>
            <a:r>
              <a:rPr lang="en-US" sz="1400" b="1" dirty="0" err="1"/>
              <a:t>th</a:t>
            </a:r>
            <a:r>
              <a:rPr lang="en-US" sz="1400" b="1" dirty="0"/>
              <a:t>&gt;</a:t>
            </a:r>
          </a:p>
          <a:p>
            <a:pPr marL="384048" lvl="2" indent="0">
              <a:spcBef>
                <a:spcPts val="0"/>
              </a:spcBef>
              <a:spcAft>
                <a:spcPts val="0"/>
              </a:spcAft>
              <a:buNone/>
            </a:pPr>
            <a:r>
              <a:rPr lang="en-US" sz="1400" b="1" dirty="0"/>
              <a:t>                        &lt;</a:t>
            </a:r>
            <a:r>
              <a:rPr lang="en-US" sz="1400" b="1" dirty="0" err="1"/>
              <a:t>th</a:t>
            </a:r>
            <a:r>
              <a:rPr lang="en-US" sz="1400" b="1" dirty="0"/>
              <a:t>&gt;Status&lt;/</a:t>
            </a:r>
            <a:r>
              <a:rPr lang="en-US" sz="1400" b="1" dirty="0" err="1"/>
              <a:t>th</a:t>
            </a:r>
            <a:r>
              <a:rPr lang="en-US" sz="1400" b="1" dirty="0"/>
              <a:t>&gt;</a:t>
            </a:r>
          </a:p>
          <a:p>
            <a:pPr marL="384048" lvl="2" indent="0">
              <a:spcBef>
                <a:spcPts val="0"/>
              </a:spcBef>
              <a:spcAft>
                <a:spcPts val="0"/>
              </a:spcAft>
              <a:buNone/>
            </a:pPr>
            <a:r>
              <a:rPr lang="en-US" sz="1400" b="1" dirty="0"/>
              <a:t>                        &lt;</a:t>
            </a:r>
            <a:r>
              <a:rPr lang="en-US" sz="1400" b="1" dirty="0" err="1"/>
              <a:t>th</a:t>
            </a:r>
            <a:r>
              <a:rPr lang="en-US" sz="1400" b="1" dirty="0"/>
              <a:t>&gt;Owner&lt;/</a:t>
            </a:r>
            <a:r>
              <a:rPr lang="en-US" sz="1400" b="1" dirty="0" err="1"/>
              <a:t>th</a:t>
            </a:r>
            <a:r>
              <a:rPr lang="en-US" sz="1400" b="1" dirty="0"/>
              <a:t>&gt;</a:t>
            </a:r>
          </a:p>
          <a:p>
            <a:pPr marL="384048" lvl="2" indent="0">
              <a:spcBef>
                <a:spcPts val="0"/>
              </a:spcBef>
              <a:spcAft>
                <a:spcPts val="0"/>
              </a:spcAft>
              <a:buNone/>
            </a:pPr>
            <a:r>
              <a:rPr lang="en-US" sz="1400" b="1" dirty="0"/>
              <a:t>                        &lt;</a:t>
            </a:r>
            <a:r>
              <a:rPr lang="en-US" sz="1400" b="1" dirty="0" err="1"/>
              <a:t>th</a:t>
            </a:r>
            <a:r>
              <a:rPr lang="en-US" sz="1400" b="1" dirty="0"/>
              <a:t>&gt;Created&lt;/</a:t>
            </a:r>
            <a:r>
              <a:rPr lang="en-US" sz="1400" b="1" dirty="0" err="1"/>
              <a:t>th</a:t>
            </a:r>
            <a:r>
              <a:rPr lang="en-US" sz="1400" b="1" dirty="0"/>
              <a:t>&gt;</a:t>
            </a:r>
          </a:p>
          <a:p>
            <a:pPr marL="384048" lvl="2" indent="0">
              <a:spcBef>
                <a:spcPts val="0"/>
              </a:spcBef>
              <a:spcAft>
                <a:spcPts val="0"/>
              </a:spcAft>
              <a:buNone/>
            </a:pPr>
            <a:r>
              <a:rPr lang="en-US" sz="1400" b="1" dirty="0"/>
              <a:t>                        &lt;</a:t>
            </a:r>
            <a:r>
              <a:rPr lang="en-US" sz="1400" b="1" dirty="0" err="1"/>
              <a:t>th</a:t>
            </a:r>
            <a:r>
              <a:rPr lang="en-US" sz="1400" b="1" dirty="0"/>
              <a:t>&gt;Effort&lt;/</a:t>
            </a:r>
            <a:r>
              <a:rPr lang="en-US" sz="1400" b="1" dirty="0" err="1"/>
              <a:t>th</a:t>
            </a:r>
            <a:r>
              <a:rPr lang="en-US" sz="1400" b="1" dirty="0"/>
              <a:t>&gt;</a:t>
            </a:r>
          </a:p>
          <a:p>
            <a:pPr marL="384048" lvl="2" indent="0">
              <a:spcBef>
                <a:spcPts val="0"/>
              </a:spcBef>
              <a:spcAft>
                <a:spcPts val="0"/>
              </a:spcAft>
              <a:buNone/>
            </a:pPr>
            <a:r>
              <a:rPr lang="en-US" sz="1400" b="1" dirty="0"/>
              <a:t>                        &lt;</a:t>
            </a:r>
            <a:r>
              <a:rPr lang="en-US" sz="1400" b="1" dirty="0" err="1"/>
              <a:t>th</a:t>
            </a:r>
            <a:r>
              <a:rPr lang="en-US" sz="1400" b="1" dirty="0"/>
              <a:t>&gt;Due Date&lt;/</a:t>
            </a:r>
            <a:r>
              <a:rPr lang="en-US" sz="1400" b="1" dirty="0" err="1"/>
              <a:t>th</a:t>
            </a:r>
            <a:r>
              <a:rPr lang="en-US" sz="1400" b="1" dirty="0"/>
              <a:t>&gt;</a:t>
            </a:r>
          </a:p>
          <a:p>
            <a:pPr marL="384048" lvl="2" indent="0">
              <a:spcBef>
                <a:spcPts val="0"/>
              </a:spcBef>
              <a:spcAft>
                <a:spcPts val="0"/>
              </a:spcAft>
              <a:buNone/>
            </a:pPr>
            <a:r>
              <a:rPr lang="en-US" sz="1400" b="1" dirty="0"/>
              <a:t>                        &lt;</a:t>
            </a:r>
            <a:r>
              <a:rPr lang="en-US" sz="1400" b="1" dirty="0" err="1"/>
              <a:t>th</a:t>
            </a:r>
            <a:r>
              <a:rPr lang="en-US" sz="1400" b="1" dirty="0"/>
              <a:t>&gt;Title&lt;/</a:t>
            </a:r>
            <a:r>
              <a:rPr lang="en-US" sz="1400" b="1" dirty="0" err="1"/>
              <a:t>th</a:t>
            </a:r>
            <a:r>
              <a:rPr lang="en-US" sz="1400" b="1" dirty="0"/>
              <a:t>&gt;</a:t>
            </a:r>
          </a:p>
          <a:p>
            <a:pPr marL="384048" lvl="2" indent="0">
              <a:spcBef>
                <a:spcPts val="0"/>
              </a:spcBef>
              <a:spcAft>
                <a:spcPts val="0"/>
              </a:spcAft>
              <a:buNone/>
            </a:pPr>
            <a:r>
              <a:rPr lang="en-US" sz="1400" b="1" dirty="0"/>
              <a:t>                    &lt;/tr&gt;</a:t>
            </a:r>
          </a:p>
          <a:p>
            <a:pPr marL="384048" lvl="2" indent="0">
              <a:spcBef>
                <a:spcPts val="0"/>
              </a:spcBef>
              <a:spcAft>
                <a:spcPts val="0"/>
              </a:spcAft>
              <a:buNone/>
            </a:pPr>
            <a:r>
              <a:rPr lang="en-US" sz="1400" b="1" dirty="0"/>
              <a:t>                &lt;/</a:t>
            </a:r>
            <a:r>
              <a:rPr lang="en-US" sz="1400" b="1" dirty="0" err="1"/>
              <a:t>thead</a:t>
            </a:r>
            <a:r>
              <a:rPr lang="en-US" sz="1400" b="1" dirty="0"/>
              <a:t>&gt;</a:t>
            </a:r>
          </a:p>
          <a:p>
            <a:pPr marL="384048" lvl="2" indent="0">
              <a:spcBef>
                <a:spcPts val="0"/>
              </a:spcBef>
              <a:spcAft>
                <a:spcPts val="0"/>
              </a:spcAft>
              <a:buNone/>
            </a:pPr>
            <a:endParaRPr lang="en-US" sz="1400" b="1" dirty="0"/>
          </a:p>
          <a:p>
            <a:pPr marL="384048" lvl="2" indent="0">
              <a:spcBef>
                <a:spcPts val="0"/>
              </a:spcBef>
              <a:spcAft>
                <a:spcPts val="0"/>
              </a:spcAft>
              <a:buNone/>
            </a:pPr>
            <a:r>
              <a:rPr lang="en-US" sz="1400" b="1" dirty="0"/>
              <a:t>                &lt;</a:t>
            </a:r>
            <a:r>
              <a:rPr lang="en-US" sz="1400" b="1" dirty="0" err="1"/>
              <a:t>tbody</a:t>
            </a:r>
            <a:r>
              <a:rPr lang="en-US" sz="1400" b="1" dirty="0"/>
              <a:t>&gt;</a:t>
            </a:r>
          </a:p>
          <a:p>
            <a:pPr marL="384048" lvl="2" indent="0">
              <a:spcBef>
                <a:spcPts val="0"/>
              </a:spcBef>
              <a:spcAft>
                <a:spcPts val="0"/>
              </a:spcAft>
              <a:buNone/>
            </a:pPr>
            <a:r>
              <a:rPr lang="en-US" sz="1400" b="1" dirty="0"/>
              <a:t>                    {</a:t>
            </a:r>
            <a:r>
              <a:rPr lang="en-US" sz="1400" b="1" dirty="0" err="1"/>
              <a:t>issueRows</a:t>
            </a:r>
            <a:r>
              <a:rPr lang="en-US" sz="1400" b="1" dirty="0"/>
              <a:t>}</a:t>
            </a:r>
          </a:p>
          <a:p>
            <a:pPr marL="384048" lvl="2" indent="0">
              <a:spcBef>
                <a:spcPts val="0"/>
              </a:spcBef>
              <a:spcAft>
                <a:spcPts val="0"/>
              </a:spcAft>
              <a:buNone/>
            </a:pPr>
            <a:r>
              <a:rPr lang="en-US" sz="1400" b="1" dirty="0"/>
              <a:t>                &lt;/</a:t>
            </a:r>
            <a:r>
              <a:rPr lang="en-US" sz="1400" b="1" dirty="0" err="1"/>
              <a:t>tbody</a:t>
            </a:r>
            <a:r>
              <a:rPr lang="en-US" sz="1400" b="1" dirty="0"/>
              <a:t>&gt;</a:t>
            </a:r>
          </a:p>
          <a:p>
            <a:pPr marL="384048" lvl="2" indent="0">
              <a:spcBef>
                <a:spcPts val="0"/>
              </a:spcBef>
              <a:spcAft>
                <a:spcPts val="0"/>
              </a:spcAft>
              <a:buNone/>
            </a:pPr>
            <a:r>
              <a:rPr lang="en-US" sz="1400" b="1" dirty="0"/>
              <a:t>            &lt;/table&gt;</a:t>
            </a:r>
          </a:p>
          <a:p>
            <a:pPr marL="384048" lvl="2" indent="0">
              <a:spcBef>
                <a:spcPts val="0"/>
              </a:spcBef>
              <a:spcAft>
                <a:spcPts val="0"/>
              </a:spcAft>
              <a:buNone/>
            </a:pPr>
            <a:r>
              <a:rPr lang="en-US" sz="1400" b="1" dirty="0"/>
              <a:t>        );</a:t>
            </a:r>
          </a:p>
          <a:p>
            <a:pPr marL="384048" lvl="2" indent="0">
              <a:spcBef>
                <a:spcPts val="0"/>
              </a:spcBef>
              <a:spcAft>
                <a:spcPts val="0"/>
              </a:spcAft>
              <a:buNone/>
            </a:pPr>
            <a:r>
              <a:rPr lang="en-US" sz="1400" b="1" dirty="0"/>
              <a:t>    }</a:t>
            </a:r>
          </a:p>
          <a:p>
            <a:pPr marL="384048" lvl="2" indent="0">
              <a:spcBef>
                <a:spcPts val="0"/>
              </a:spcBef>
              <a:spcAft>
                <a:spcPts val="0"/>
              </a:spcAft>
              <a:buNone/>
            </a:pPr>
            <a:r>
              <a:rPr lang="en-US" sz="1400" b="1" dirty="0"/>
              <a:t>}</a:t>
            </a:r>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A04F0086-CE0B-C797-71F8-06F04B0DACB6}"/>
              </a:ext>
            </a:extLst>
          </p:cNvPr>
          <p:cNvSpPr txBox="1"/>
          <p:nvPr/>
        </p:nvSpPr>
        <p:spPr>
          <a:xfrm>
            <a:off x="5880682" y="310393"/>
            <a:ext cx="5950589" cy="5693866"/>
          </a:xfrm>
          <a:prstGeom prst="rect">
            <a:avLst/>
          </a:prstGeom>
          <a:noFill/>
        </p:spPr>
        <p:txBody>
          <a:bodyPr wrap="square" rtlCol="0">
            <a:spAutoFit/>
          </a:bodyPr>
          <a:lstStyle/>
          <a:p>
            <a:r>
              <a:rPr lang="en-IN" sz="1400" b="1" dirty="0"/>
              <a:t>class </a:t>
            </a:r>
            <a:r>
              <a:rPr lang="en-IN" sz="1400" b="1" dirty="0" err="1"/>
              <a:t>IssueFilter</a:t>
            </a:r>
            <a:r>
              <a:rPr lang="en-IN" sz="1400" b="1" dirty="0"/>
              <a:t> extends </a:t>
            </a:r>
            <a:r>
              <a:rPr lang="en-IN" sz="1400" b="1" dirty="0" err="1"/>
              <a:t>React.Component</a:t>
            </a:r>
            <a:r>
              <a:rPr lang="en-IN" sz="1400" b="1" dirty="0"/>
              <a:t> {</a:t>
            </a:r>
          </a:p>
          <a:p>
            <a:r>
              <a:rPr lang="en-IN" sz="1400" b="1" dirty="0"/>
              <a:t>    render() {</a:t>
            </a:r>
          </a:p>
          <a:p>
            <a:r>
              <a:rPr lang="en-IN" sz="1400" b="1" dirty="0"/>
              <a:t>        return (</a:t>
            </a:r>
          </a:p>
          <a:p>
            <a:r>
              <a:rPr lang="en-IN" sz="1400" b="1" dirty="0"/>
              <a:t>            &lt;div&gt; This is a placeholder for the issue filter.&lt;/div&gt;</a:t>
            </a:r>
          </a:p>
          <a:p>
            <a:r>
              <a:rPr lang="en-IN" sz="1400" b="1" dirty="0"/>
              <a:t>        );</a:t>
            </a:r>
          </a:p>
          <a:p>
            <a:r>
              <a:rPr lang="en-IN" sz="1400" b="1" dirty="0"/>
              <a:t>    } }</a:t>
            </a:r>
          </a:p>
          <a:p>
            <a:r>
              <a:rPr lang="en-IN" sz="1400" b="1" dirty="0"/>
              <a:t>class </a:t>
            </a:r>
            <a:r>
              <a:rPr lang="en-IN" sz="1400" b="1" dirty="0" err="1"/>
              <a:t>IssueAdd</a:t>
            </a:r>
            <a:r>
              <a:rPr lang="en-IN" sz="1400" b="1" dirty="0"/>
              <a:t> extends </a:t>
            </a:r>
            <a:r>
              <a:rPr lang="en-IN" sz="1400" b="1" dirty="0" err="1"/>
              <a:t>React.Component</a:t>
            </a:r>
            <a:r>
              <a:rPr lang="en-IN" sz="1400" b="1" dirty="0"/>
              <a:t> {</a:t>
            </a:r>
          </a:p>
          <a:p>
            <a:r>
              <a:rPr lang="en-IN" sz="1400" b="1" dirty="0"/>
              <a:t>    render() {</a:t>
            </a:r>
          </a:p>
          <a:p>
            <a:r>
              <a:rPr lang="en-IN" sz="1400" b="1" dirty="0"/>
              <a:t>        return (</a:t>
            </a:r>
          </a:p>
          <a:p>
            <a:r>
              <a:rPr lang="en-IN" sz="1400" b="1" dirty="0"/>
              <a:t>            &lt;div&gt;This is a placeholder for a form to add an issue.&lt;/div&gt;</a:t>
            </a:r>
          </a:p>
          <a:p>
            <a:r>
              <a:rPr lang="en-IN" sz="1400" b="1" dirty="0"/>
              <a:t>        );</a:t>
            </a:r>
          </a:p>
          <a:p>
            <a:r>
              <a:rPr lang="en-IN" sz="1400" b="1" dirty="0"/>
              <a:t>    } }</a:t>
            </a:r>
          </a:p>
          <a:p>
            <a:r>
              <a:rPr lang="en-IN" sz="1400" b="1" dirty="0"/>
              <a:t>class </a:t>
            </a:r>
            <a:r>
              <a:rPr lang="en-IN" sz="1400" b="1" dirty="0" err="1"/>
              <a:t>IssueList</a:t>
            </a:r>
            <a:r>
              <a:rPr lang="en-IN" sz="1400" b="1" dirty="0"/>
              <a:t> extends </a:t>
            </a:r>
            <a:r>
              <a:rPr lang="en-IN" sz="1400" b="1" dirty="0" err="1"/>
              <a:t>React.Component</a:t>
            </a:r>
            <a:r>
              <a:rPr lang="en-IN" sz="1400" b="1" dirty="0"/>
              <a:t> {</a:t>
            </a:r>
          </a:p>
          <a:p>
            <a:r>
              <a:rPr lang="en-IN" sz="1400" b="1" dirty="0"/>
              <a:t>    render() {</a:t>
            </a:r>
          </a:p>
          <a:p>
            <a:r>
              <a:rPr lang="en-IN" sz="1400" b="1" dirty="0"/>
              <a:t>        return (</a:t>
            </a:r>
          </a:p>
          <a:p>
            <a:r>
              <a:rPr lang="en-IN" sz="1400" b="1" dirty="0"/>
              <a:t>            &lt;</a:t>
            </a:r>
            <a:r>
              <a:rPr lang="en-IN" sz="1400" b="1" dirty="0" err="1"/>
              <a:t>React.Fragment</a:t>
            </a:r>
            <a:r>
              <a:rPr lang="en-IN" sz="1400" b="1" dirty="0"/>
              <a:t>&gt;</a:t>
            </a:r>
          </a:p>
          <a:p>
            <a:r>
              <a:rPr lang="en-IN" sz="1400" b="1" dirty="0"/>
              <a:t>                &lt;h1&gt;Issue Tracker&lt;/h1&gt;</a:t>
            </a:r>
          </a:p>
          <a:p>
            <a:r>
              <a:rPr lang="en-IN" sz="1400" b="1" dirty="0"/>
              <a:t>                &lt;</a:t>
            </a:r>
            <a:r>
              <a:rPr lang="en-IN" sz="1400" b="1" dirty="0" err="1"/>
              <a:t>IssueFilter</a:t>
            </a:r>
            <a:r>
              <a:rPr lang="en-IN" sz="1400" b="1" dirty="0"/>
              <a:t> /&gt;&lt;hr /&gt;</a:t>
            </a:r>
          </a:p>
          <a:p>
            <a:r>
              <a:rPr lang="en-IN" sz="1400" b="1" dirty="0"/>
              <a:t>                &lt;</a:t>
            </a:r>
            <a:r>
              <a:rPr lang="en-IN" sz="1400" b="1" dirty="0" err="1"/>
              <a:t>IssueTable</a:t>
            </a:r>
            <a:r>
              <a:rPr lang="en-IN" sz="1400" b="1" dirty="0"/>
              <a:t> /&gt;&lt;hr /&gt;</a:t>
            </a:r>
          </a:p>
          <a:p>
            <a:r>
              <a:rPr lang="en-IN" sz="1400" b="1" dirty="0"/>
              <a:t>                &lt;</a:t>
            </a:r>
            <a:r>
              <a:rPr lang="en-IN" sz="1400" b="1" dirty="0" err="1"/>
              <a:t>IssueAdd</a:t>
            </a:r>
            <a:r>
              <a:rPr lang="en-IN" sz="1400" b="1" dirty="0"/>
              <a:t> /&gt;</a:t>
            </a:r>
          </a:p>
          <a:p>
            <a:r>
              <a:rPr lang="en-IN" sz="1400" b="1" dirty="0"/>
              <a:t>            &lt;/</a:t>
            </a:r>
            <a:r>
              <a:rPr lang="en-IN" sz="1400" b="1" dirty="0" err="1"/>
              <a:t>React.Fragment</a:t>
            </a:r>
            <a:r>
              <a:rPr lang="en-IN" sz="1400" b="1" dirty="0"/>
              <a:t>&gt;</a:t>
            </a:r>
          </a:p>
          <a:p>
            <a:r>
              <a:rPr lang="en-IN" sz="1400" b="1" dirty="0"/>
              <a:t>        );</a:t>
            </a:r>
          </a:p>
          <a:p>
            <a:r>
              <a:rPr lang="en-IN" sz="1400" b="1" dirty="0"/>
              <a:t>    } }</a:t>
            </a:r>
          </a:p>
          <a:p>
            <a:r>
              <a:rPr lang="en-IN" sz="1400" b="1" dirty="0" err="1"/>
              <a:t>const</a:t>
            </a:r>
            <a:r>
              <a:rPr lang="en-IN" sz="1400" b="1" dirty="0"/>
              <a:t> element = &lt;</a:t>
            </a:r>
            <a:r>
              <a:rPr lang="en-IN" sz="1400" b="1" dirty="0" err="1"/>
              <a:t>IssueList</a:t>
            </a:r>
            <a:r>
              <a:rPr lang="en-IN" sz="1400" b="1" dirty="0"/>
              <a:t> /&gt;;</a:t>
            </a:r>
          </a:p>
          <a:p>
            <a:r>
              <a:rPr lang="en-IN" sz="1400" b="1" dirty="0" err="1"/>
              <a:t>ReactDOM.render</a:t>
            </a:r>
            <a:r>
              <a:rPr lang="en-IN" sz="1400" b="1" dirty="0"/>
              <a:t>(element, </a:t>
            </a:r>
            <a:r>
              <a:rPr lang="en-IN" sz="1400" b="1" dirty="0" err="1"/>
              <a:t>document.getElementById</a:t>
            </a:r>
            <a:r>
              <a:rPr lang="en-IN" sz="1400" b="1" dirty="0"/>
              <a:t>('contents')</a:t>
            </a:r>
          </a:p>
          <a:p>
            <a:r>
              <a:rPr lang="en-IN" sz="1400" b="1" dirty="0"/>
              <a:t>);</a:t>
            </a:r>
          </a:p>
        </p:txBody>
      </p:sp>
    </p:spTree>
    <p:extLst>
      <p:ext uri="{BB962C8B-B14F-4D97-AF65-F5344CB8AC3E}">
        <p14:creationId xmlns:p14="http://schemas.microsoft.com/office/powerpoint/2010/main" val="245684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5C6BB-628F-87D7-6482-2999952412A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1CE1324-9929-F5C0-6614-749A384E4A38}"/>
              </a:ext>
            </a:extLst>
          </p:cNvPr>
          <p:cNvSpPr txBox="1">
            <a:spLocks/>
          </p:cNvSpPr>
          <p:nvPr/>
        </p:nvSpPr>
        <p:spPr>
          <a:xfrm>
            <a:off x="360727" y="0"/>
            <a:ext cx="11442583" cy="6417577"/>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index.html</a:t>
            </a:r>
            <a:endParaRPr lang="en-IN" sz="2400" b="1" dirty="0"/>
          </a:p>
          <a:p>
            <a:pPr marL="566928" lvl="3" indent="0">
              <a:spcBef>
                <a:spcPts val="0"/>
              </a:spcBef>
              <a:spcAft>
                <a:spcPts val="0"/>
              </a:spcAft>
              <a:buNone/>
            </a:pPr>
            <a:r>
              <a:rPr lang="en-US" sz="1600" dirty="0"/>
              <a:t>&lt;!DOCTYPE html&gt;</a:t>
            </a:r>
          </a:p>
          <a:p>
            <a:pPr marL="566928" lvl="3" indent="0">
              <a:spcBef>
                <a:spcPts val="0"/>
              </a:spcBef>
              <a:spcAft>
                <a:spcPts val="0"/>
              </a:spcAft>
              <a:buNone/>
            </a:pPr>
            <a:r>
              <a:rPr lang="en-US" sz="1600" dirty="0"/>
              <a:t>&lt;html&gt;</a:t>
            </a:r>
          </a:p>
          <a:p>
            <a:pPr marL="566928" lvl="3" indent="0">
              <a:spcBef>
                <a:spcPts val="0"/>
              </a:spcBef>
              <a:spcAft>
                <a:spcPts val="0"/>
              </a:spcAft>
              <a:buNone/>
            </a:pPr>
            <a:r>
              <a:rPr lang="en-US" sz="1600" dirty="0"/>
              <a:t>&lt;head&gt;</a:t>
            </a:r>
          </a:p>
          <a:p>
            <a:pPr marL="566928" lvl="3" indent="0">
              <a:spcBef>
                <a:spcPts val="0"/>
              </a:spcBef>
              <a:spcAft>
                <a:spcPts val="0"/>
              </a:spcAft>
              <a:buNone/>
            </a:pPr>
            <a:r>
              <a:rPr lang="en-US" sz="1600" dirty="0"/>
              <a:t>    &lt;meta charset="UTF-8"&gt;</a:t>
            </a:r>
          </a:p>
          <a:p>
            <a:pPr marL="566928" lvl="3" indent="0">
              <a:spcBef>
                <a:spcPts val="0"/>
              </a:spcBef>
              <a:spcAft>
                <a:spcPts val="0"/>
              </a:spcAft>
              <a:buNone/>
            </a:pPr>
            <a:r>
              <a:rPr lang="en-US" sz="1600" dirty="0"/>
              <a:t>    &lt;title&gt;Issue Tracker&lt;/title&gt;</a:t>
            </a:r>
          </a:p>
          <a:p>
            <a:pPr marL="566928" lvl="3" indent="0">
              <a:spcBef>
                <a:spcPts val="0"/>
              </a:spcBef>
              <a:spcAft>
                <a:spcPts val="0"/>
              </a:spcAft>
              <a:buNone/>
            </a:pPr>
            <a:r>
              <a:rPr lang="en-US" sz="1600" dirty="0"/>
              <a:t>    &lt;script </a:t>
            </a:r>
            <a:r>
              <a:rPr lang="en-US" sz="1600" dirty="0" err="1"/>
              <a:t>src</a:t>
            </a:r>
            <a:r>
              <a:rPr lang="en-US" sz="1600" dirty="0"/>
              <a:t>="https://unpkg.com/react@16/</a:t>
            </a:r>
            <a:r>
              <a:rPr lang="en-US" sz="1600" dirty="0" err="1"/>
              <a:t>umd</a:t>
            </a:r>
            <a:r>
              <a:rPr lang="en-US" sz="1600" dirty="0"/>
              <a:t>/react.development.js"&gt;&lt;/script&gt;</a:t>
            </a:r>
          </a:p>
          <a:p>
            <a:pPr marL="566928" lvl="3" indent="0">
              <a:spcBef>
                <a:spcPts val="0"/>
              </a:spcBef>
              <a:spcAft>
                <a:spcPts val="0"/>
              </a:spcAft>
              <a:buNone/>
            </a:pPr>
            <a:r>
              <a:rPr lang="en-US" sz="1600" dirty="0"/>
              <a:t>    &lt;script </a:t>
            </a:r>
            <a:r>
              <a:rPr lang="en-US" sz="1600" dirty="0" err="1"/>
              <a:t>src</a:t>
            </a:r>
            <a:r>
              <a:rPr lang="en-US" sz="1600" dirty="0"/>
              <a:t>="https://unpkg.com/react-dom@16/</a:t>
            </a:r>
            <a:r>
              <a:rPr lang="en-US" sz="1600" dirty="0" err="1"/>
              <a:t>umd</a:t>
            </a:r>
            <a:r>
              <a:rPr lang="en-US" sz="1600" dirty="0"/>
              <a:t>/react-dom.development.js"&gt;&lt;/script&gt;</a:t>
            </a:r>
          </a:p>
          <a:p>
            <a:pPr marL="566928" lvl="3" indent="0">
              <a:spcBef>
                <a:spcPts val="0"/>
              </a:spcBef>
              <a:spcAft>
                <a:spcPts val="0"/>
              </a:spcAft>
              <a:buNone/>
            </a:pPr>
            <a:r>
              <a:rPr lang="en-US" sz="1600" dirty="0"/>
              <a:t>    &lt;style&gt;</a:t>
            </a:r>
          </a:p>
          <a:p>
            <a:pPr marL="566928" lvl="3" indent="0">
              <a:spcBef>
                <a:spcPts val="0"/>
              </a:spcBef>
              <a:spcAft>
                <a:spcPts val="0"/>
              </a:spcAft>
              <a:buNone/>
            </a:pPr>
            <a:r>
              <a:rPr lang="en-US" sz="1600" dirty="0"/>
              <a:t>        </a:t>
            </a:r>
            <a:r>
              <a:rPr lang="en-US" sz="1600" dirty="0" err="1"/>
              <a:t>table.bordered</a:t>
            </a:r>
            <a:r>
              <a:rPr lang="en-US" sz="1600" dirty="0"/>
              <a:t>-table </a:t>
            </a:r>
            <a:r>
              <a:rPr lang="en-US" sz="1600" dirty="0" err="1"/>
              <a:t>th</a:t>
            </a:r>
            <a:r>
              <a:rPr lang="en-US" sz="1600" dirty="0"/>
              <a:t>,</a:t>
            </a:r>
          </a:p>
          <a:p>
            <a:pPr marL="566928" lvl="3" indent="0">
              <a:spcBef>
                <a:spcPts val="0"/>
              </a:spcBef>
              <a:spcAft>
                <a:spcPts val="0"/>
              </a:spcAft>
              <a:buNone/>
            </a:pPr>
            <a:r>
              <a:rPr lang="en-US" sz="1600" dirty="0"/>
              <a:t>        </a:t>
            </a:r>
            <a:r>
              <a:rPr lang="en-US" sz="1600" dirty="0" err="1"/>
              <a:t>table.bordered</a:t>
            </a:r>
            <a:r>
              <a:rPr lang="en-US" sz="1600" dirty="0"/>
              <a:t>-table td {</a:t>
            </a:r>
          </a:p>
          <a:p>
            <a:pPr marL="566928" lvl="3" indent="0">
              <a:spcBef>
                <a:spcPts val="0"/>
              </a:spcBef>
              <a:spcAft>
                <a:spcPts val="0"/>
              </a:spcAft>
              <a:buNone/>
            </a:pPr>
            <a:r>
              <a:rPr lang="en-US" sz="1600" dirty="0"/>
              <a:t>            border: 1px solid silver;</a:t>
            </a:r>
          </a:p>
          <a:p>
            <a:pPr marL="566928" lvl="3" indent="0">
              <a:spcBef>
                <a:spcPts val="0"/>
              </a:spcBef>
              <a:spcAft>
                <a:spcPts val="0"/>
              </a:spcAft>
              <a:buNone/>
            </a:pPr>
            <a:r>
              <a:rPr lang="en-US" sz="1600" dirty="0"/>
              <a:t>            padding: 4px;</a:t>
            </a:r>
          </a:p>
          <a:p>
            <a:pPr marL="566928" lvl="3" indent="0">
              <a:spcBef>
                <a:spcPts val="0"/>
              </a:spcBef>
              <a:spcAft>
                <a:spcPts val="0"/>
              </a:spcAft>
              <a:buNone/>
            </a:pPr>
            <a:r>
              <a:rPr lang="en-US" sz="1600" dirty="0"/>
              <a:t>        }</a:t>
            </a:r>
          </a:p>
          <a:p>
            <a:pPr marL="566928" lvl="3" indent="0">
              <a:spcBef>
                <a:spcPts val="0"/>
              </a:spcBef>
              <a:spcAft>
                <a:spcPts val="0"/>
              </a:spcAft>
              <a:buNone/>
            </a:pPr>
            <a:endParaRPr lang="en-US" sz="1600" dirty="0"/>
          </a:p>
          <a:p>
            <a:pPr marL="566928" lvl="3" indent="0">
              <a:spcBef>
                <a:spcPts val="0"/>
              </a:spcBef>
              <a:spcAft>
                <a:spcPts val="0"/>
              </a:spcAft>
              <a:buNone/>
            </a:pPr>
            <a:r>
              <a:rPr lang="en-US" sz="1600" dirty="0"/>
              <a:t>        </a:t>
            </a:r>
            <a:r>
              <a:rPr lang="en-US" sz="1600" dirty="0" err="1"/>
              <a:t>table.bordered</a:t>
            </a:r>
            <a:r>
              <a:rPr lang="en-US" sz="1600" dirty="0"/>
              <a:t>-table {</a:t>
            </a:r>
          </a:p>
          <a:p>
            <a:pPr marL="566928" lvl="3" indent="0">
              <a:spcBef>
                <a:spcPts val="0"/>
              </a:spcBef>
              <a:spcAft>
                <a:spcPts val="0"/>
              </a:spcAft>
              <a:buNone/>
            </a:pPr>
            <a:r>
              <a:rPr lang="en-US" sz="1600" dirty="0"/>
              <a:t>            border-collapse: collapse;</a:t>
            </a:r>
          </a:p>
          <a:p>
            <a:pPr marL="566928" lvl="3" indent="0">
              <a:spcBef>
                <a:spcPts val="0"/>
              </a:spcBef>
              <a:spcAft>
                <a:spcPts val="0"/>
              </a:spcAft>
              <a:buNone/>
            </a:pPr>
            <a:r>
              <a:rPr lang="en-US" sz="1600" dirty="0"/>
              <a:t>        }</a:t>
            </a:r>
          </a:p>
          <a:p>
            <a:pPr marL="566928" lvl="3" indent="0">
              <a:spcBef>
                <a:spcPts val="0"/>
              </a:spcBef>
              <a:spcAft>
                <a:spcPts val="0"/>
              </a:spcAft>
              <a:buNone/>
            </a:pPr>
            <a:r>
              <a:rPr lang="en-US" sz="1600" dirty="0"/>
              <a:t>    &lt;/style&gt;</a:t>
            </a:r>
          </a:p>
          <a:p>
            <a:pPr marL="566928" lvl="3" indent="0">
              <a:spcBef>
                <a:spcPts val="0"/>
              </a:spcBef>
              <a:spcAft>
                <a:spcPts val="0"/>
              </a:spcAft>
              <a:buNone/>
            </a:pPr>
            <a:r>
              <a:rPr lang="en-US" sz="1600" dirty="0"/>
              <a:t>&lt;/head&gt;</a:t>
            </a:r>
          </a:p>
          <a:p>
            <a:pPr marL="566928" lvl="3" indent="0">
              <a:spcBef>
                <a:spcPts val="0"/>
              </a:spcBef>
              <a:spcAft>
                <a:spcPts val="0"/>
              </a:spcAft>
              <a:buNone/>
            </a:pPr>
            <a:r>
              <a:rPr lang="en-US" sz="1600" dirty="0"/>
              <a:t>&lt;body&gt;</a:t>
            </a:r>
          </a:p>
          <a:p>
            <a:pPr marL="566928" lvl="3" indent="0">
              <a:spcBef>
                <a:spcPts val="0"/>
              </a:spcBef>
              <a:spcAft>
                <a:spcPts val="0"/>
              </a:spcAft>
              <a:buNone/>
            </a:pPr>
            <a:r>
              <a:rPr lang="en-US" sz="1600" dirty="0"/>
              <a:t>    &lt;div id="contents"&gt;&lt;/div&gt;</a:t>
            </a:r>
          </a:p>
          <a:p>
            <a:pPr marL="566928" lvl="3" indent="0">
              <a:spcBef>
                <a:spcPts val="0"/>
              </a:spcBef>
              <a:spcAft>
                <a:spcPts val="0"/>
              </a:spcAft>
              <a:buNone/>
            </a:pPr>
            <a:r>
              <a:rPr lang="en-US" sz="1600" dirty="0"/>
              <a:t>    &lt;script </a:t>
            </a:r>
            <a:r>
              <a:rPr lang="en-US" sz="1600" dirty="0" err="1"/>
              <a:t>src</a:t>
            </a:r>
            <a:r>
              <a:rPr lang="en-US" sz="1600" dirty="0"/>
              <a:t>="/App.js"&gt;&lt;/script&gt;</a:t>
            </a:r>
          </a:p>
          <a:p>
            <a:pPr marL="566928" lvl="3" indent="0">
              <a:spcBef>
                <a:spcPts val="0"/>
              </a:spcBef>
              <a:spcAft>
                <a:spcPts val="0"/>
              </a:spcAft>
              <a:buNone/>
            </a:pPr>
            <a:r>
              <a:rPr lang="en-US" sz="1600" dirty="0"/>
              <a:t>&lt;/body&gt;</a:t>
            </a:r>
          </a:p>
          <a:p>
            <a:pPr marL="566928" lvl="3" indent="0">
              <a:spcBef>
                <a:spcPts val="0"/>
              </a:spcBef>
              <a:spcAft>
                <a:spcPts val="0"/>
              </a:spcAft>
              <a:buNone/>
            </a:pPr>
            <a:r>
              <a:rPr lang="en-US" sz="1600" dirty="0"/>
              <a:t>&lt;/html&gt;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879599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368DF-C5AC-93D7-AF4B-76DEC7A14F2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202931F-086A-61BE-2AE5-92B5D89D7234}"/>
              </a:ext>
            </a:extLst>
          </p:cNvPr>
          <p:cNvSpPr txBox="1">
            <a:spLocks/>
          </p:cNvSpPr>
          <p:nvPr/>
        </p:nvSpPr>
        <p:spPr>
          <a:xfrm>
            <a:off x="360727" y="134225"/>
            <a:ext cx="4941115" cy="5734868"/>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600" dirty="0"/>
              <a:t>server/server.js</a:t>
            </a:r>
          </a:p>
          <a:p>
            <a:pPr marL="384048" lvl="2" indent="0">
              <a:buNone/>
            </a:pPr>
            <a:r>
              <a:rPr lang="en-US" sz="1400" b="1" dirty="0"/>
              <a:t>const express = require('</a:t>
            </a:r>
            <a:r>
              <a:rPr lang="en-US" sz="1400" b="1" dirty="0" err="1"/>
              <a:t>express'</a:t>
            </a:r>
            <a:r>
              <a:rPr lang="en-US" sz="1400" b="1" dirty="0"/>
              <a:t>);</a:t>
            </a:r>
          </a:p>
          <a:p>
            <a:pPr marL="384048" lvl="2" indent="0">
              <a:buNone/>
            </a:pPr>
            <a:r>
              <a:rPr lang="en-US" sz="1400" b="1" dirty="0"/>
              <a:t>const path = require('path');</a:t>
            </a:r>
          </a:p>
          <a:p>
            <a:pPr marL="384048" lvl="2" indent="0">
              <a:buNone/>
            </a:pPr>
            <a:endParaRPr lang="en-US" sz="1400" b="1" dirty="0"/>
          </a:p>
          <a:p>
            <a:pPr marL="384048" lvl="2" indent="0">
              <a:buNone/>
            </a:pPr>
            <a:r>
              <a:rPr lang="en-US" sz="1400" b="1" dirty="0"/>
              <a:t>const app = express();</a:t>
            </a:r>
          </a:p>
          <a:p>
            <a:pPr marL="384048" lvl="2" indent="0">
              <a:buNone/>
            </a:pPr>
            <a:endParaRPr lang="en-US" sz="1400" b="1" dirty="0"/>
          </a:p>
          <a:p>
            <a:pPr marL="384048" lvl="2" indent="0">
              <a:buNone/>
            </a:pPr>
            <a:r>
              <a:rPr lang="en-US" sz="1400" b="1" dirty="0" err="1"/>
              <a:t>app.use</a:t>
            </a:r>
            <a:r>
              <a:rPr lang="en-US" sz="1400" b="1" dirty="0"/>
              <a:t>(</a:t>
            </a:r>
            <a:r>
              <a:rPr lang="en-US" sz="1400" b="1" dirty="0" err="1"/>
              <a:t>express.static</a:t>
            </a:r>
            <a:r>
              <a:rPr lang="en-US" sz="1400" b="1" dirty="0"/>
              <a:t>(</a:t>
            </a:r>
            <a:r>
              <a:rPr lang="en-US" sz="1400" b="1" dirty="0" err="1"/>
              <a:t>path.join</a:t>
            </a:r>
            <a:r>
              <a:rPr lang="en-US" sz="1400" b="1" dirty="0"/>
              <a:t>(__</a:t>
            </a:r>
            <a:r>
              <a:rPr lang="en-US" sz="1400" b="1" dirty="0" err="1"/>
              <a:t>dirname</a:t>
            </a:r>
            <a:r>
              <a:rPr lang="en-US" sz="1400" b="1" dirty="0"/>
              <a:t>, '..', 'public')));</a:t>
            </a:r>
          </a:p>
          <a:p>
            <a:pPr marL="384048" lvl="2" indent="0">
              <a:buNone/>
            </a:pPr>
            <a:endParaRPr lang="en-US" sz="1400" b="1" dirty="0"/>
          </a:p>
          <a:p>
            <a:pPr marL="384048" lvl="2" indent="0">
              <a:buNone/>
            </a:pPr>
            <a:r>
              <a:rPr lang="en-US" sz="1400" b="1" dirty="0" err="1"/>
              <a:t>app.get</a:t>
            </a:r>
            <a:r>
              <a:rPr lang="en-US" sz="1400" b="1" dirty="0"/>
              <a:t>('/', (req, res) =&gt; {</a:t>
            </a:r>
          </a:p>
          <a:p>
            <a:pPr marL="384048" lvl="2" indent="0">
              <a:buNone/>
            </a:pPr>
            <a:r>
              <a:rPr lang="en-US" sz="1400" b="1" dirty="0"/>
              <a:t>    </a:t>
            </a:r>
            <a:r>
              <a:rPr lang="en-US" sz="1400" b="1" dirty="0" err="1"/>
              <a:t>res.sendFile</a:t>
            </a:r>
            <a:r>
              <a:rPr lang="en-US" sz="1400" b="1" dirty="0"/>
              <a:t>(</a:t>
            </a:r>
            <a:r>
              <a:rPr lang="en-US" sz="1400" b="1" dirty="0" err="1"/>
              <a:t>path.join</a:t>
            </a:r>
            <a:r>
              <a:rPr lang="en-US" sz="1400" b="1" dirty="0"/>
              <a:t>(__</a:t>
            </a:r>
            <a:r>
              <a:rPr lang="en-US" sz="1400" b="1" dirty="0" err="1"/>
              <a:t>dirname</a:t>
            </a:r>
            <a:r>
              <a:rPr lang="en-US" sz="1400" b="1" dirty="0"/>
              <a:t>, '..', 'index.html'));</a:t>
            </a:r>
          </a:p>
          <a:p>
            <a:pPr marL="384048" lvl="2" indent="0">
              <a:buNone/>
            </a:pPr>
            <a:r>
              <a:rPr lang="en-US" sz="1400" b="1" dirty="0"/>
              <a:t>});</a:t>
            </a:r>
          </a:p>
          <a:p>
            <a:pPr marL="384048" lvl="2" indent="0">
              <a:buNone/>
            </a:pPr>
            <a:endParaRPr lang="en-US" sz="1400" b="1" dirty="0"/>
          </a:p>
          <a:p>
            <a:pPr marL="384048" lvl="2" indent="0">
              <a:buNone/>
            </a:pPr>
            <a:r>
              <a:rPr lang="en-US" sz="1400" b="1" dirty="0" err="1"/>
              <a:t>app.listen</a:t>
            </a:r>
            <a:r>
              <a:rPr lang="en-US" sz="1400" b="1" dirty="0"/>
              <a:t>(3000, () =&gt; {</a:t>
            </a:r>
          </a:p>
          <a:p>
            <a:pPr marL="384048" lvl="2" indent="0">
              <a:buNone/>
            </a:pPr>
            <a:r>
              <a:rPr lang="en-US" sz="1400" b="1" dirty="0"/>
              <a:t>    console.log('App started on port 3000');</a:t>
            </a:r>
          </a:p>
          <a:p>
            <a:pPr marL="384048" lvl="2" indent="0">
              <a:buNone/>
            </a:pPr>
            <a:r>
              <a:rPr lang="en-US" sz="1400" b="1" dirty="0"/>
              <a:t>});</a:t>
            </a:r>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4E787ED0-7F2F-8421-2F9E-03077210462F}"/>
              </a:ext>
            </a:extLst>
          </p:cNvPr>
          <p:cNvSpPr txBox="1"/>
          <p:nvPr/>
        </p:nvSpPr>
        <p:spPr>
          <a:xfrm>
            <a:off x="6543413" y="209726"/>
            <a:ext cx="5125673" cy="1938992"/>
          </a:xfrm>
          <a:prstGeom prst="rect">
            <a:avLst/>
          </a:prstGeom>
          <a:noFill/>
        </p:spPr>
        <p:txBody>
          <a:bodyPr wrap="square" rtlCol="0">
            <a:spAutoFit/>
          </a:bodyPr>
          <a:lstStyle/>
          <a:p>
            <a:r>
              <a:rPr lang="en-IN" dirty="0" err="1"/>
              <a:t>babel.config.json</a:t>
            </a:r>
            <a:endParaRPr lang="en-IN" dirty="0"/>
          </a:p>
          <a:p>
            <a:endParaRPr lang="en-IN" dirty="0"/>
          </a:p>
          <a:p>
            <a:r>
              <a:rPr lang="en-IN" sz="1600" b="1" dirty="0"/>
              <a:t>{</a:t>
            </a:r>
          </a:p>
          <a:p>
            <a:r>
              <a:rPr lang="en-IN" sz="1600" b="1" dirty="0"/>
              <a:t>    "presets": [</a:t>
            </a:r>
          </a:p>
          <a:p>
            <a:r>
              <a:rPr lang="en-IN" sz="1600" b="1" dirty="0"/>
              <a:t>        "@babel/preset-react"</a:t>
            </a:r>
          </a:p>
          <a:p>
            <a:r>
              <a:rPr lang="en-IN" sz="1600" b="1" dirty="0"/>
              <a:t>    ]</a:t>
            </a:r>
          </a:p>
          <a:p>
            <a:r>
              <a:rPr lang="en-IN" sz="1600" b="1" dirty="0"/>
              <a:t>}</a:t>
            </a:r>
            <a:endParaRPr lang="en-IN" b="1" dirty="0"/>
          </a:p>
        </p:txBody>
      </p:sp>
    </p:spTree>
    <p:extLst>
      <p:ext uri="{BB962C8B-B14F-4D97-AF65-F5344CB8AC3E}">
        <p14:creationId xmlns:p14="http://schemas.microsoft.com/office/powerpoint/2010/main" val="382777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565DE-0D54-184D-D08F-38587131BC2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6746481-6355-3937-EC80-0BAC23FA754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600" dirty="0" err="1"/>
              <a:t>package.json</a:t>
            </a:r>
            <a:endParaRPr lang="en-IN" sz="1600" dirty="0"/>
          </a:p>
          <a:p>
            <a:pPr marL="384048" lvl="2" indent="0">
              <a:buNone/>
            </a:pPr>
            <a:r>
              <a:rPr lang="en-US" sz="1400" b="1" dirty="0"/>
              <a:t>{</a:t>
            </a:r>
          </a:p>
          <a:p>
            <a:pPr marL="384048" lvl="2" indent="0">
              <a:buNone/>
            </a:pPr>
            <a:r>
              <a:rPr lang="en-US" sz="1400" b="1" dirty="0"/>
              <a:t>    "name": "program7composingcomponents",</a:t>
            </a:r>
          </a:p>
          <a:p>
            <a:pPr marL="384048" lvl="2" indent="0">
              <a:buNone/>
            </a:pPr>
            <a:r>
              <a:rPr lang="en-US" sz="1400" b="1" dirty="0"/>
              <a:t>    "version": "1.0.0",</a:t>
            </a:r>
          </a:p>
          <a:p>
            <a:pPr marL="384048" lvl="2" indent="0">
              <a:buNone/>
            </a:pPr>
            <a:r>
              <a:rPr lang="en-US" sz="1400" b="1" dirty="0"/>
              <a:t>    "description": "React Dynamic Composition Example",</a:t>
            </a:r>
          </a:p>
          <a:p>
            <a:pPr marL="384048" lvl="2" indent="0">
              <a:buNone/>
            </a:pPr>
            <a:r>
              <a:rPr lang="en-US" sz="1400" b="1" dirty="0"/>
              <a:t>    "scripts": {</a:t>
            </a:r>
          </a:p>
          <a:p>
            <a:pPr marL="384048" lvl="2" indent="0">
              <a:buNone/>
            </a:pPr>
            <a:r>
              <a:rPr lang="en-US" sz="1400" b="1" dirty="0"/>
              <a:t>        "start": "</a:t>
            </a:r>
            <a:r>
              <a:rPr lang="en-US" sz="1400" b="1" dirty="0" err="1"/>
              <a:t>nodemon</a:t>
            </a:r>
            <a:r>
              <a:rPr lang="en-US" sz="1400" b="1" dirty="0"/>
              <a:t> -w server server/server.js",</a:t>
            </a:r>
          </a:p>
          <a:p>
            <a:pPr marL="384048" lvl="2" indent="0">
              <a:buNone/>
            </a:pPr>
            <a:r>
              <a:rPr lang="en-US" sz="1400" b="1" dirty="0"/>
              <a:t>        "compile": "babel source --out-</a:t>
            </a:r>
            <a:r>
              <a:rPr lang="en-US" sz="1400" b="1" dirty="0" err="1"/>
              <a:t>dir</a:t>
            </a:r>
            <a:r>
              <a:rPr lang="en-US" sz="1400" b="1" dirty="0"/>
              <a:t> public",</a:t>
            </a:r>
          </a:p>
          <a:p>
            <a:pPr marL="384048" lvl="2" indent="0">
              <a:buNone/>
            </a:pPr>
            <a:r>
              <a:rPr lang="en-US" sz="1400" b="1" dirty="0"/>
              <a:t>        "watch": "babel source --out-</a:t>
            </a:r>
            <a:r>
              <a:rPr lang="en-US" sz="1400" b="1" dirty="0" err="1"/>
              <a:t>dir</a:t>
            </a:r>
            <a:r>
              <a:rPr lang="en-US" sz="1400" b="1" dirty="0"/>
              <a:t> public --watch --verbose"</a:t>
            </a:r>
          </a:p>
          <a:p>
            <a:pPr marL="384048" lvl="2" indent="0">
              <a:buNone/>
            </a:pPr>
            <a:r>
              <a:rPr lang="en-US" sz="1400" b="1" dirty="0"/>
              <a:t>    },</a:t>
            </a:r>
          </a:p>
          <a:p>
            <a:pPr marL="384048" lvl="2" indent="0">
              <a:buNone/>
            </a:pPr>
            <a:r>
              <a:rPr lang="en-US" sz="1400" b="1" dirty="0"/>
              <a:t>    "dependencies": {</a:t>
            </a:r>
          </a:p>
          <a:p>
            <a:pPr marL="384048" lvl="2" indent="0">
              <a:buNone/>
            </a:pPr>
            <a:r>
              <a:rPr lang="en-US" sz="1400" b="1" dirty="0"/>
              <a:t>        "express": "^5.2.1"</a:t>
            </a:r>
          </a:p>
          <a:p>
            <a:pPr marL="384048" lvl="2" indent="0">
              <a:buNone/>
            </a:pPr>
            <a:r>
              <a:rPr lang="en-US" sz="1400" b="1" dirty="0"/>
              <a:t>    },</a:t>
            </a:r>
          </a:p>
          <a:p>
            <a:pPr marL="384048" lvl="2" indent="0">
              <a:buNone/>
            </a:pPr>
            <a:r>
              <a:rPr lang="en-US" sz="1400" b="1" dirty="0"/>
              <a:t>    "</a:t>
            </a:r>
            <a:r>
              <a:rPr lang="en-US" sz="1400" b="1" dirty="0" err="1"/>
              <a:t>devDependencies</a:t>
            </a:r>
            <a:r>
              <a:rPr lang="en-US" sz="1400" b="1" dirty="0"/>
              <a:t>": {</a:t>
            </a:r>
          </a:p>
          <a:p>
            <a:pPr marL="384048" lvl="2" indent="0">
              <a:buNone/>
            </a:pPr>
            <a:r>
              <a:rPr lang="en-US" sz="1400" b="1" dirty="0"/>
              <a:t>        "@babel/cli": "^7.28.3",</a:t>
            </a:r>
          </a:p>
          <a:p>
            <a:pPr marL="384048" lvl="2" indent="0">
              <a:buNone/>
            </a:pPr>
            <a:r>
              <a:rPr lang="en-US" sz="1400" b="1" dirty="0"/>
              <a:t>        "@babel/core": "^7.28.4",</a:t>
            </a:r>
          </a:p>
          <a:p>
            <a:pPr marL="384048" lvl="2" indent="0">
              <a:buNone/>
            </a:pPr>
            <a:r>
              <a:rPr lang="en-US" sz="1400" b="1" dirty="0"/>
              <a:t>        "@babel/preset-react": "^7.27.1",</a:t>
            </a:r>
          </a:p>
          <a:p>
            <a:pPr marL="384048" lvl="2" indent="0">
              <a:buNone/>
            </a:pPr>
            <a:r>
              <a:rPr lang="en-US" sz="1400" b="1" dirty="0"/>
              <a:t>        "</a:t>
            </a:r>
            <a:r>
              <a:rPr lang="en-US" sz="1400" b="1" dirty="0" err="1"/>
              <a:t>nodemon</a:t>
            </a:r>
            <a:r>
              <a:rPr lang="en-US" sz="1400" b="1" dirty="0"/>
              <a:t>": "^3.1.10"</a:t>
            </a:r>
          </a:p>
          <a:p>
            <a:pPr marL="384048" lvl="2" indent="0">
              <a:buNone/>
            </a:pPr>
            <a:r>
              <a:rPr lang="en-US" sz="1400" b="1" dirty="0"/>
              <a:t>    }</a:t>
            </a:r>
          </a:p>
          <a:p>
            <a:pPr marL="384048" lvl="2" indent="0">
              <a:buNone/>
            </a:pPr>
            <a:r>
              <a:rPr lang="en-US" sz="1400" b="1" dirty="0"/>
              <a: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678505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B0C4B-64BD-3A96-2F92-CCB4F5897DA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67D28D9-3DE3-2629-529D-69CBE45BFD7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Install the packages</a:t>
            </a:r>
          </a:p>
          <a:p>
            <a:pPr lvl="1">
              <a:buFont typeface="Arial" panose="020B0604020202020204" pitchFamily="34" charset="0"/>
              <a:buChar char="•"/>
            </a:pPr>
            <a:r>
              <a:rPr lang="en-IN" sz="2400" dirty="0"/>
              <a:t>Open </a:t>
            </a:r>
            <a:r>
              <a:rPr lang="en-IN" sz="2400" b="1" dirty="0"/>
              <a:t>Terminal 1</a:t>
            </a:r>
            <a:r>
              <a:rPr lang="en-IN" sz="2400" dirty="0"/>
              <a:t>:</a:t>
            </a:r>
          </a:p>
          <a:p>
            <a:pPr lvl="2">
              <a:buFont typeface="Arial" panose="020B0604020202020204" pitchFamily="34" charset="0"/>
              <a:buChar char="•"/>
            </a:pPr>
            <a:r>
              <a:rPr lang="en-IN" sz="2000" dirty="0"/>
              <a:t>cd E:\ReactFolder\program7ComposingComponents</a:t>
            </a:r>
          </a:p>
          <a:p>
            <a:pPr lvl="2">
              <a:buFont typeface="Arial" panose="020B0604020202020204" pitchFamily="34" charset="0"/>
              <a:buChar char="•"/>
            </a:pPr>
            <a:r>
              <a:rPr lang="en-IN" sz="2000" dirty="0" err="1"/>
              <a:t>npm</a:t>
            </a:r>
            <a:r>
              <a:rPr lang="en-IN" sz="2000" dirty="0"/>
              <a:t> install</a:t>
            </a:r>
          </a:p>
          <a:p>
            <a:pPr lvl="2">
              <a:buFont typeface="Arial" panose="020B0604020202020204" pitchFamily="34" charset="0"/>
              <a:buChar char="•"/>
            </a:pPr>
            <a:r>
              <a:rPr lang="en-IN" sz="2000" dirty="0" err="1"/>
              <a:t>npm</a:t>
            </a:r>
            <a:r>
              <a:rPr lang="en-IN" sz="2000" dirty="0"/>
              <a:t> install express</a:t>
            </a:r>
          </a:p>
          <a:p>
            <a:pPr lvl="2">
              <a:buFont typeface="Arial" panose="020B0604020202020204" pitchFamily="34" charset="0"/>
              <a:buChar char="•"/>
            </a:pPr>
            <a:r>
              <a:rPr lang="en-IN" sz="2000" dirty="0" err="1"/>
              <a:t>npm</a:t>
            </a:r>
            <a:r>
              <a:rPr lang="en-IN" sz="2000" dirty="0"/>
              <a:t> install --save-dev @babel/core @babel/cli @babel/preset-react </a:t>
            </a:r>
            <a:r>
              <a:rPr lang="en-IN" sz="2000" dirty="0" err="1"/>
              <a:t>nodemon</a:t>
            </a:r>
            <a:endParaRPr lang="en-IN" sz="2000" dirty="0"/>
          </a:p>
          <a:p>
            <a:pPr lvl="2">
              <a:buFont typeface="Arial" panose="020B0604020202020204" pitchFamily="34" charset="0"/>
              <a:buChar char="•"/>
            </a:pPr>
            <a:r>
              <a:rPr lang="en-IN" sz="2000" dirty="0" err="1"/>
              <a:t>npm</a:t>
            </a:r>
            <a:r>
              <a:rPr lang="en-IN" sz="2000" dirty="0"/>
              <a:t> run compile</a:t>
            </a:r>
          </a:p>
          <a:p>
            <a:pPr lvl="2">
              <a:buFont typeface="Arial" panose="020B0604020202020204" pitchFamily="34" charset="0"/>
              <a:buChar char="•"/>
            </a:pPr>
            <a:r>
              <a:rPr lang="en-IN" sz="2000" dirty="0" err="1"/>
              <a:t>npm</a:t>
            </a:r>
            <a:r>
              <a:rPr lang="en-IN" sz="2000" dirty="0"/>
              <a:t> run watch</a:t>
            </a:r>
          </a:p>
          <a:p>
            <a:pPr lvl="1">
              <a:buFont typeface="Arial" panose="020B0604020202020204" pitchFamily="34" charset="0"/>
              <a:buChar char="•"/>
            </a:pPr>
            <a:r>
              <a:rPr lang="en-IN" sz="2400" dirty="0"/>
              <a:t>Open </a:t>
            </a:r>
            <a:r>
              <a:rPr lang="en-IN" sz="2400" b="1" dirty="0"/>
              <a:t>Terminal 2</a:t>
            </a:r>
            <a:r>
              <a:rPr lang="en-IN" sz="2400" dirty="0"/>
              <a:t>:</a:t>
            </a:r>
          </a:p>
          <a:p>
            <a:pPr lvl="2">
              <a:buFont typeface="Arial" panose="020B0604020202020204" pitchFamily="34" charset="0"/>
              <a:buChar char="•"/>
            </a:pPr>
            <a:r>
              <a:rPr lang="en-IN" sz="1800" dirty="0" err="1"/>
              <a:t>npm</a:t>
            </a:r>
            <a:r>
              <a:rPr lang="en-IN" sz="1800" dirty="0"/>
              <a:t> start</a:t>
            </a:r>
          </a:p>
          <a:p>
            <a:pPr lvl="2">
              <a:buFont typeface="Arial" panose="020B0604020202020204" pitchFamily="34" charset="0"/>
              <a:buChar char="•"/>
            </a:pPr>
            <a:endParaRPr lang="en-IN" sz="1800" b="1" dirty="0"/>
          </a:p>
          <a:p>
            <a:pPr lvl="1">
              <a:buFont typeface="Arial" panose="020B0604020202020204" pitchFamily="34" charset="0"/>
              <a:buChar char="•"/>
            </a:pPr>
            <a:r>
              <a:rPr lang="en-IN" sz="2000" dirty="0"/>
              <a:t>Open in browser</a:t>
            </a:r>
          </a:p>
          <a:p>
            <a:pPr lvl="2">
              <a:buFont typeface="Arial" panose="020B0604020202020204" pitchFamily="34" charset="0"/>
              <a:buChar char="•"/>
            </a:pPr>
            <a:r>
              <a:rPr lang="en-IN" sz="1600" dirty="0"/>
              <a:t>http://localhost:3000/</a:t>
            </a:r>
            <a:endParaRPr lang="en-US" sz="16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143235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EB91B-6DC2-5A04-E03F-EE9793B3217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11B7299-5721-57CF-D957-AE42FB1C3A3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So if you add a third issue:</a:t>
            </a:r>
          </a:p>
          <a:p>
            <a:pPr marL="201168" lvl="1" indent="0">
              <a:buNone/>
            </a:pPr>
            <a:r>
              <a:rPr lang="en-US" sz="1600" b="1" dirty="0"/>
              <a:t>{</a:t>
            </a:r>
          </a:p>
          <a:p>
            <a:pPr marL="201168" lvl="1" indent="0">
              <a:buNone/>
            </a:pPr>
            <a:r>
              <a:rPr lang="en-US" sz="1600" b="1" dirty="0"/>
              <a:t>    id: 3,</a:t>
            </a:r>
          </a:p>
          <a:p>
            <a:pPr marL="201168" lvl="1" indent="0">
              <a:buNone/>
            </a:pPr>
            <a:r>
              <a:rPr lang="en-US" sz="1600" b="1" dirty="0"/>
              <a:t>    status: 'Closed',</a:t>
            </a:r>
          </a:p>
          <a:p>
            <a:pPr marL="201168" lvl="1" indent="0">
              <a:buNone/>
            </a:pPr>
            <a:r>
              <a:rPr lang="en-US" sz="1600" b="1" dirty="0"/>
              <a:t>    owner: 'John',</a:t>
            </a:r>
          </a:p>
          <a:p>
            <a:pPr marL="201168" lvl="1" indent="0">
              <a:buNone/>
            </a:pPr>
            <a:r>
              <a:rPr lang="en-US" sz="1600" b="1" dirty="0"/>
              <a:t>    effort: 8,</a:t>
            </a:r>
          </a:p>
          <a:p>
            <a:pPr marL="201168" lvl="1" indent="0">
              <a:buNone/>
            </a:pPr>
            <a:r>
              <a:rPr lang="en-US" sz="1600" b="1" dirty="0"/>
              <a:t>    created: new Date('2018-08-20'),</a:t>
            </a:r>
          </a:p>
          <a:p>
            <a:pPr marL="201168" lvl="1" indent="0">
              <a:buNone/>
            </a:pPr>
            <a:r>
              <a:rPr lang="en-US" sz="1600" b="1" dirty="0"/>
              <a:t>    due: new Date('2018-09-01'),</a:t>
            </a:r>
          </a:p>
          <a:p>
            <a:pPr marL="201168" lvl="1" indent="0">
              <a:buNone/>
            </a:pPr>
            <a:r>
              <a:rPr lang="en-US" sz="1600" b="1" dirty="0"/>
              <a:t>    title: 'Login page validation issue’</a:t>
            </a:r>
          </a:p>
          <a:p>
            <a:pPr marL="201168" lvl="1" indent="0">
              <a:buNone/>
            </a:pPr>
            <a:r>
              <a:rPr lang="en-US" sz="1600" b="1" dirty="0"/>
              <a:t>}</a:t>
            </a:r>
          </a:p>
          <a:p>
            <a:pPr marL="201168" lvl="1" indent="0">
              <a:buNone/>
            </a:pPr>
            <a:endParaRPr lang="en-US" sz="1600" b="1" dirty="0"/>
          </a:p>
          <a:p>
            <a:pPr marL="201168" lvl="1" indent="0">
              <a:buNone/>
            </a:pPr>
            <a:r>
              <a:rPr lang="en-IN" sz="1600" dirty="0"/>
              <a:t>you </a:t>
            </a:r>
            <a:r>
              <a:rPr lang="en-IN" sz="1600" b="1" dirty="0"/>
              <a:t>do not need to create another </a:t>
            </a:r>
            <a:r>
              <a:rPr lang="en-IN" b="1" dirty="0"/>
              <a:t>&lt;</a:t>
            </a:r>
            <a:r>
              <a:rPr lang="en-IN" b="1" dirty="0" err="1"/>
              <a:t>IssueRow</a:t>
            </a:r>
            <a:r>
              <a:rPr lang="en-IN" b="1" dirty="0"/>
              <a:t>&gt;</a:t>
            </a:r>
            <a:r>
              <a:rPr lang="en-IN" sz="1600" b="1" dirty="0"/>
              <a:t> manually</a:t>
            </a:r>
            <a:r>
              <a:rPr lang="en-IN" sz="1600" dirty="0"/>
              <a:t>. The </a:t>
            </a:r>
            <a:r>
              <a:rPr lang="en-IN" dirty="0"/>
              <a:t>map()</a:t>
            </a:r>
            <a:r>
              <a:rPr lang="en-IN" sz="1600" dirty="0"/>
              <a:t> automatically creates the third row. This is exactly what the section means by </a:t>
            </a:r>
            <a:r>
              <a:rPr lang="en-IN" sz="1600" b="1" dirty="0"/>
              <a:t>Dynamic Composition</a:t>
            </a:r>
            <a:r>
              <a:rPr lang="en-IN" sz="1600" dirty="0"/>
              <a:t>.</a:t>
            </a:r>
            <a:endParaRPr lang="en-US" sz="1600" b="1" dirty="0"/>
          </a:p>
        </p:txBody>
      </p:sp>
    </p:spTree>
    <p:extLst>
      <p:ext uri="{BB962C8B-B14F-4D97-AF65-F5344CB8AC3E}">
        <p14:creationId xmlns:p14="http://schemas.microsoft.com/office/powerpoint/2010/main" val="3141032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C5320-FA02-B3E7-B659-62E1980F6BD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7AA5B22-006B-A153-67EB-C556158AA9F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a:t>THANK YOU</a:t>
            </a:r>
            <a:endParaRPr lang="en-IN" sz="2400" b="1" dirty="0"/>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839648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AA05-C094-BB44-C11C-E493F46C300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C16C1F3-EAAF-6C1B-D36B-4C82072D584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718158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FF149-F628-0171-E5D4-594527C9D3F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EFC5E61-C895-6975-4E4D-50DBB67AFBA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18062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FC5E5-70C4-22F6-F0EA-9C29282BD52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B5B1D58-A235-4547-156B-FB7BA7B21FF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7803848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E83FC-AFB5-F735-8F57-9FABB2504BA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074E-72B5-8A36-D383-D2E0626C5F6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28026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301CC-5298-D179-866D-0EB2150DB8B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C4560DA-7AB9-FF84-4F1E-DBA65ED0349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139282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8F26-4D43-5109-F74F-F8065C2908D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90836F8-5C25-7DAC-522F-F32678DE7BA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292601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B99FD-5EB1-18B8-8518-A68B24F3498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2AFCD58-D793-0297-967E-EA0BF2E5D5E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0954776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0AB1D-92C9-A1EA-2358-A78E3F862FA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1164B3D-0E1A-3AEB-7B5B-D50316AE5FA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899931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E1304-66E9-5E7E-516B-A2FE210469C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991B5E4-F91F-8FA9-C2C6-A9DC26C4ED5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533041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1D1C-EB46-6F06-18E7-6BF05E38CB5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781ABC1-E5E2-79DF-F1D7-1C9BBD8AE57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6875149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C00A5-E44B-FE1C-6C5E-2EFE1F4CD59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8CD34DE-526D-9B05-1575-95B5C0C67E1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Components</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336452398"/>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9DAD249-BF80-48EF-9AFB-36A11BCDC2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{36DD5CE7-46AA-4A3B-8BDD-33A0D3929DF2}TFf0a5ceae-4542-492d-822e-d65a94fb0e1e3b562c5a_win32-009a0557e699</Template>
  <TotalTime>15865</TotalTime>
  <Words>4991</Words>
  <Application>Microsoft Office PowerPoint</Application>
  <PresentationFormat>Widescreen</PresentationFormat>
  <Paragraphs>677</Paragraphs>
  <Slides>51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Bookman Old Style</vt:lpstr>
      <vt:lpstr>Calibri</vt:lpstr>
      <vt:lpstr>Cascadia Mono</vt:lpstr>
      <vt:lpstr>Courier New</vt:lpstr>
      <vt:lpstr>Franklin Gothic Book</vt:lpstr>
      <vt:lpstr>Wingdings</vt:lpstr>
      <vt:lpstr>Custom</vt:lpstr>
      <vt:lpstr>UNIT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23</cp:revision>
  <dcterms:created xsi:type="dcterms:W3CDTF">2026-07-30T09:23:35Z</dcterms:created>
  <dcterms:modified xsi:type="dcterms:W3CDTF">2026-08-18T05:01:38Z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