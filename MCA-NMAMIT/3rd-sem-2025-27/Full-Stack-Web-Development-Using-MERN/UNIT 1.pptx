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61" r:id="rId6"/>
    <p:sldId id="262" r:id="rId7"/>
    <p:sldId id="263" r:id="rId8"/>
    <p:sldId id="265"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09" autoAdjust="0"/>
    <p:restoredTop sz="94660"/>
  </p:normalViewPr>
  <p:slideViewPr>
    <p:cSldViewPr snapToGrid="0">
      <p:cViewPr>
        <p:scale>
          <a:sx n="66" d="100"/>
          <a:sy n="66" d="100"/>
        </p:scale>
        <p:origin x="388" y="1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8/20/2026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8/20/2026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8/20/2026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8/20/2026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8/20/2026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8/20/2026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8/20/2026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8/20/2026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8/20/2026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8/20/2026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8/20/2026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8/20/2026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10.227.185.215:8080/"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hyperlink" Target="http://localhost:3000/" TargetMode="Externa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Autofit/>
          </a:bodyPr>
          <a:lstStyle/>
          <a:p>
            <a:r>
              <a:rPr lang="en-US" sz="3600" dirty="0"/>
              <a:t>FULL STACK WEB DEVELOPMENT USING MERN</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lnSpcReduction="10000"/>
          </a:bodyPr>
          <a:lstStyle/>
          <a:p>
            <a:r>
              <a:rPr lang="en-US" sz="2400" dirty="0">
                <a:solidFill>
                  <a:schemeClr val="tx1">
                    <a:lumMod val="85000"/>
                    <a:lumOff val="15000"/>
                  </a:schemeClr>
                </a:solidFill>
              </a:rPr>
              <a:t>Unit I</a:t>
            </a:r>
          </a:p>
          <a:p>
            <a:r>
              <a:rPr lang="en-US" dirty="0">
                <a:solidFill>
                  <a:schemeClr val="tx1">
                    <a:lumMod val="85000"/>
                    <a:lumOff val="15000"/>
                  </a:schemeClr>
                </a:solidFill>
              </a:rPr>
              <a:t>Dr. Roshan d </a:t>
            </a:r>
            <a:r>
              <a:rPr lang="en-US" dirty="0" err="1">
                <a:solidFill>
                  <a:schemeClr val="tx1">
                    <a:lumMod val="85000"/>
                    <a:lumOff val="15000"/>
                  </a:schemeClr>
                </a:solidFill>
              </a:rPr>
              <a:t>suvaris</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228E3F-568A-4C4A-DCD2-A7ED835B7E0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Introduction </a:t>
            </a:r>
          </a:p>
          <a:p>
            <a:pPr>
              <a:buFont typeface="Arial" panose="020B0604020202020204" pitchFamily="34" charset="0"/>
              <a:buChar char="•"/>
            </a:pPr>
            <a:r>
              <a:rPr lang="en-IN" dirty="0"/>
              <a:t>The MERN stack is a solution composed of four main components: </a:t>
            </a:r>
          </a:p>
          <a:p>
            <a:pPr lvl="1">
              <a:buFont typeface="Arial" panose="020B0604020202020204" pitchFamily="34" charset="0"/>
              <a:buChar char="•"/>
            </a:pPr>
            <a:r>
              <a:rPr lang="en-IN" dirty="0"/>
              <a:t>MongoDB: A database that uses a document-oriented data model. </a:t>
            </a:r>
          </a:p>
          <a:p>
            <a:pPr lvl="1">
              <a:buFont typeface="Arial" panose="020B0604020202020204" pitchFamily="34" charset="0"/>
              <a:buChar char="•"/>
            </a:pPr>
            <a:endParaRPr lang="en-IN" dirty="0"/>
          </a:p>
          <a:p>
            <a:pPr lvl="1">
              <a:buFont typeface="Arial" panose="020B0604020202020204" pitchFamily="34" charset="0"/>
              <a:buChar char="•"/>
            </a:pPr>
            <a:r>
              <a:rPr lang="en-IN" dirty="0" err="1"/>
              <a:t>ExpressJS</a:t>
            </a:r>
            <a:r>
              <a:rPr lang="en-IN" dirty="0"/>
              <a:t>: A web application framework for building web applications and APIs. </a:t>
            </a:r>
          </a:p>
          <a:p>
            <a:pPr lvl="1">
              <a:buFont typeface="Arial" panose="020B0604020202020204" pitchFamily="34" charset="0"/>
              <a:buChar char="•"/>
            </a:pPr>
            <a:endParaRPr lang="en-IN" dirty="0"/>
          </a:p>
          <a:p>
            <a:pPr lvl="1">
              <a:buFont typeface="Arial" panose="020B0604020202020204" pitchFamily="34" charset="0"/>
              <a:buChar char="•"/>
            </a:pPr>
            <a:r>
              <a:rPr lang="en-IN" dirty="0"/>
              <a:t>ReactJS: A declarative, component-based, and isomorphic JavaScript library for building user interfaces. </a:t>
            </a:r>
          </a:p>
          <a:p>
            <a:pPr lvl="1">
              <a:buFont typeface="Arial" panose="020B0604020202020204" pitchFamily="34" charset="0"/>
              <a:buChar char="•"/>
            </a:pPr>
            <a:endParaRPr lang="en-IN" dirty="0"/>
          </a:p>
          <a:p>
            <a:pPr lvl="1">
              <a:buFont typeface="Arial" panose="020B0604020202020204" pitchFamily="34" charset="0"/>
              <a:buChar char="•"/>
            </a:pPr>
            <a:r>
              <a:rPr lang="en-IN" dirty="0"/>
              <a:t>Node.js: A cross-platform JavaScript runtime environment built on Chrome's V8 JavaScript engine allows developers to build diverse tools, servers, and applications</a:t>
            </a:r>
            <a:endParaRPr lang="en-US" dirty="0"/>
          </a:p>
          <a:p>
            <a:pPr>
              <a:buFont typeface="Arial" panose="020B0604020202020204" pitchFamily="34" charset="0"/>
              <a:buChar char="•"/>
            </a:pPr>
            <a:r>
              <a:rPr lang="en-IN" dirty="0"/>
              <a:t>These fundamental components that comprise the MERN stack are open source, and are thus maintained and developed by a great community of developers. What ties these components together is a common language, JavaScript.</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33921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CCA15-DA3E-A3EA-043E-5C7BD42D9B7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88F633C-191D-BC8D-73C2-FC453F40B658}"/>
              </a:ext>
            </a:extLst>
          </p:cNvPr>
          <p:cNvSpPr txBox="1">
            <a:spLocks/>
          </p:cNvSpPr>
          <p:nvPr/>
        </p:nvSpPr>
        <p:spPr>
          <a:xfrm>
            <a:off x="360727" y="343949"/>
            <a:ext cx="11442583" cy="6048462"/>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The MVC architectural pattern </a:t>
            </a:r>
          </a:p>
          <a:p>
            <a:pPr>
              <a:buFont typeface="Arial" panose="020B0604020202020204" pitchFamily="34" charset="0"/>
              <a:buChar char="•"/>
            </a:pPr>
            <a:r>
              <a:rPr lang="en-IN" dirty="0"/>
              <a:t>Most modern web applications implement the MVC architectural pattern. It consists of three interconnected parts that separate the internal representation of information in a web application: </a:t>
            </a:r>
          </a:p>
          <a:p>
            <a:pPr lvl="1">
              <a:buFont typeface="Arial" panose="020B0604020202020204" pitchFamily="34" charset="0"/>
              <a:buChar char="•"/>
            </a:pPr>
            <a:r>
              <a:rPr lang="en-IN" dirty="0"/>
              <a:t>Model: Manages the business logic of an application that determines how data should be stored, created, and modified </a:t>
            </a:r>
          </a:p>
          <a:p>
            <a:pPr lvl="1">
              <a:buFont typeface="Arial" panose="020B0604020202020204" pitchFamily="34" charset="0"/>
              <a:buChar char="•"/>
            </a:pPr>
            <a:r>
              <a:rPr lang="en-IN" dirty="0"/>
              <a:t>View: Any visual representation of the data or information </a:t>
            </a:r>
          </a:p>
          <a:p>
            <a:pPr lvl="1">
              <a:buFont typeface="Arial" panose="020B0604020202020204" pitchFamily="34" charset="0"/>
              <a:buChar char="•"/>
            </a:pPr>
            <a:r>
              <a:rPr lang="en-IN" dirty="0"/>
              <a:t>Controller: Interprets user-generated events and transforms them into commands for the model and view to update accordingly</a:t>
            </a:r>
            <a:endParaRPr lang="en-US"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a:p>
            <a:pPr marL="0" indent="0">
              <a:buFont typeface="Calibri" panose="020F0502020204030204" pitchFamily="34" charset="0"/>
              <a:buNone/>
            </a:pPr>
            <a:endParaRPr lang="en-IN" dirty="0"/>
          </a:p>
          <a:p>
            <a:pPr marL="0" indent="0">
              <a:buFont typeface="Calibri" panose="020F0502020204030204" pitchFamily="34" charset="0"/>
              <a:buNone/>
            </a:pPr>
            <a:endParaRPr lang="en-IN" dirty="0"/>
          </a:p>
          <a:p>
            <a:pPr marL="0" indent="0">
              <a:buFont typeface="Calibri" panose="020F0502020204030204" pitchFamily="34" charset="0"/>
              <a:buNone/>
            </a:pPr>
            <a:endParaRPr lang="en-IN" dirty="0"/>
          </a:p>
          <a:p>
            <a:pPr marL="0" indent="0">
              <a:buNone/>
            </a:pPr>
            <a:r>
              <a:rPr lang="en-IN" dirty="0"/>
              <a:t>The Separation of Concern </a:t>
            </a:r>
            <a:r>
              <a:rPr lang="en-IN" b="1" dirty="0"/>
              <a:t>(SoC) </a:t>
            </a:r>
            <a:r>
              <a:rPr lang="en-IN" dirty="0"/>
              <a:t>design pattern separates frontend from backend code. Following the MVC architectural pattern, developers are able to adhere to the </a:t>
            </a:r>
            <a:r>
              <a:rPr lang="en-IN" b="1" dirty="0"/>
              <a:t>SoC</a:t>
            </a:r>
            <a:r>
              <a:rPr lang="en-IN" dirty="0"/>
              <a:t> design pattern, resulting in a consistent and manageable application structure.</a:t>
            </a:r>
          </a:p>
        </p:txBody>
      </p:sp>
      <p:pic>
        <p:nvPicPr>
          <p:cNvPr id="3" name="Picture 2">
            <a:extLst>
              <a:ext uri="{FF2B5EF4-FFF2-40B4-BE49-F238E27FC236}">
                <a16:creationId xmlns:a16="http://schemas.microsoft.com/office/drawing/2014/main" id="{440191A7-0D7E-46E4-D36E-028DE5E6CC2F}"/>
              </a:ext>
            </a:extLst>
          </p:cNvPr>
          <p:cNvPicPr>
            <a:picLocks noChangeAspect="1"/>
          </p:cNvPicPr>
          <p:nvPr/>
        </p:nvPicPr>
        <p:blipFill>
          <a:blip r:embed="rId2"/>
          <a:stretch>
            <a:fillRect/>
          </a:stretch>
        </p:blipFill>
        <p:spPr>
          <a:xfrm>
            <a:off x="4236440" y="2676434"/>
            <a:ext cx="2612454" cy="2777450"/>
          </a:xfrm>
          <a:prstGeom prst="rect">
            <a:avLst/>
          </a:prstGeom>
        </p:spPr>
      </p:pic>
    </p:spTree>
    <p:extLst>
      <p:ext uri="{BB962C8B-B14F-4D97-AF65-F5344CB8AC3E}">
        <p14:creationId xmlns:p14="http://schemas.microsoft.com/office/powerpoint/2010/main" val="1537840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CADCC-FC5F-AF44-D6AB-6EA6043C507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8364BE1-6E0B-DB70-E3AF-95A48E4AFAE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MERN Components</a:t>
            </a:r>
          </a:p>
          <a:p>
            <a:pPr>
              <a:buFont typeface="Arial" panose="020B0604020202020204" pitchFamily="34" charset="0"/>
              <a:buChar char="•"/>
            </a:pPr>
            <a:r>
              <a:rPr lang="en-IN" b="1" dirty="0"/>
              <a:t>React</a:t>
            </a:r>
          </a:p>
          <a:p>
            <a:pPr>
              <a:buFont typeface="Arial" panose="020B0604020202020204" pitchFamily="34" charset="0"/>
              <a:buChar char="•"/>
            </a:pPr>
            <a:r>
              <a:rPr lang="en-IN" dirty="0"/>
              <a:t>React is an open-source JavaScript library maintained by Facebook that can be used for creating views rendered in HTML. </a:t>
            </a:r>
          </a:p>
          <a:p>
            <a:pPr>
              <a:buFont typeface="Arial" panose="020B0604020202020204" pitchFamily="34" charset="0"/>
              <a:buChar char="•"/>
            </a:pPr>
            <a:r>
              <a:rPr lang="en-IN" dirty="0"/>
              <a:t>Unlike AngularJS, React is not a framework. It is a library. Thus, it does not, by itself, dictate a framework pattern such as the MVC pattern. You use React to render a view (the V in MVC).</a:t>
            </a:r>
          </a:p>
          <a:p>
            <a:pPr lvl="1">
              <a:buFont typeface="Arial" panose="020B0604020202020204" pitchFamily="34" charset="0"/>
              <a:buChar char="•"/>
            </a:pPr>
            <a:endParaRPr lang="en-IN" b="1"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560341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5102-4EC4-19CE-CF85-FF00EA2D393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5A5FA2C-69B7-E6AE-8E99-3C512436308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Things about React that make it stand out.</a:t>
            </a:r>
            <a:endParaRPr lang="en-US" dirty="0"/>
          </a:p>
          <a:p>
            <a:pPr lvl="1">
              <a:buFont typeface="Wingdings" panose="05000000000000000000" pitchFamily="2" charset="2"/>
              <a:buChar char="v"/>
            </a:pPr>
            <a:r>
              <a:rPr lang="en-IN" sz="2000" b="1" dirty="0"/>
              <a:t>Why Facebook Invented React</a:t>
            </a:r>
          </a:p>
          <a:p>
            <a:pPr lvl="2">
              <a:buFont typeface="Arial" panose="020B0604020202020204" pitchFamily="34" charset="0"/>
              <a:buChar char="•"/>
            </a:pPr>
            <a:r>
              <a:rPr lang="en-IN" sz="1600" dirty="0"/>
              <a:t>The Facebook folks built React for their own use, and later they made it open-source. </a:t>
            </a:r>
          </a:p>
          <a:p>
            <a:pPr lvl="2">
              <a:buFont typeface="Arial" panose="020B0604020202020204" pitchFamily="34" charset="0"/>
              <a:buChar char="•"/>
            </a:pPr>
            <a:r>
              <a:rPr lang="en-IN" sz="1600" dirty="0"/>
              <a:t>React was developed by Facebook's Ads team because their traditional MVC-based application became difficult to manage as it grew larger. </a:t>
            </a:r>
          </a:p>
          <a:p>
            <a:pPr lvl="2">
              <a:buFont typeface="Arial" panose="020B0604020202020204" pitchFamily="34" charset="0"/>
              <a:buChar char="•"/>
            </a:pPr>
            <a:r>
              <a:rPr lang="en-IN" sz="1600" dirty="0"/>
              <a:t>In the MVC approach, a single change in data could trigger multiple updates, making the code complex and hard to maintain. </a:t>
            </a:r>
          </a:p>
          <a:p>
            <a:pPr lvl="2">
              <a:buFont typeface="Arial" panose="020B0604020202020204" pitchFamily="34" charset="0"/>
              <a:buChar char="•"/>
            </a:pPr>
            <a:r>
              <a:rPr lang="en-IN" sz="1600" dirty="0"/>
              <a:t>To solve this problem, React introduced a </a:t>
            </a:r>
            <a:r>
              <a:rPr lang="en-IN" sz="1600" b="1" dirty="0"/>
              <a:t>declarative programming model</a:t>
            </a:r>
            <a:r>
              <a:rPr lang="en-IN" sz="1600" dirty="0"/>
              <a:t>, where developers describe how the user interface should look, and React automatically updates the UI whenever the data (state) changes. </a:t>
            </a:r>
          </a:p>
          <a:p>
            <a:pPr lvl="2">
              <a:buFont typeface="Arial" panose="020B0604020202020204" pitchFamily="34" charset="0"/>
              <a:buChar char="•"/>
            </a:pPr>
            <a:r>
              <a:rPr lang="en-IN" sz="1600" dirty="0"/>
              <a:t>This approach makes applications easier to build, maintain, and debug.</a:t>
            </a:r>
            <a:endParaRPr lang="en-US" sz="1600"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054379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1D1E4-D89C-FD6B-7C76-6414250BDF9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B391E43-1E37-1756-80C1-CAA51F9D261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v"/>
            </a:pPr>
            <a:r>
              <a:rPr lang="en-US" dirty="0"/>
              <a:t>Declarative</a:t>
            </a:r>
          </a:p>
          <a:p>
            <a:pPr lvl="1" algn="just">
              <a:buFont typeface="Wingdings" panose="05000000000000000000" pitchFamily="2" charset="2"/>
              <a:buChar char="§"/>
            </a:pPr>
            <a:r>
              <a:rPr lang="en-IN" dirty="0"/>
              <a:t>React follows a </a:t>
            </a:r>
            <a:r>
              <a:rPr lang="en-IN" b="1" dirty="0"/>
              <a:t>declarative programming approach</a:t>
            </a:r>
            <a:r>
              <a:rPr lang="en-IN" dirty="0"/>
              <a:t>, which means developers only need to describe </a:t>
            </a:r>
            <a:r>
              <a:rPr lang="en-IN" b="1" dirty="0"/>
              <a:t>what the user interface (UI) should look like</a:t>
            </a:r>
            <a:r>
              <a:rPr lang="en-IN" dirty="0"/>
              <a:t> based on the current data or state. React automatically updates the UI whenever the data changes, so developers do not have to manually modify the HTML elements (DOM).</a:t>
            </a:r>
          </a:p>
          <a:p>
            <a:pPr lvl="1" algn="just">
              <a:buFont typeface="Wingdings" panose="05000000000000000000" pitchFamily="2" charset="2"/>
              <a:buChar char="§"/>
            </a:pPr>
            <a:endParaRPr lang="en-IN" dirty="0"/>
          </a:p>
          <a:p>
            <a:pPr lvl="1" algn="just">
              <a:buFont typeface="Wingdings" panose="05000000000000000000" pitchFamily="2" charset="2"/>
              <a:buChar char="§"/>
            </a:pPr>
            <a:r>
              <a:rPr lang="en-IN" dirty="0"/>
              <a:t>In traditional JavaScript libraries like </a:t>
            </a:r>
            <a:r>
              <a:rPr lang="en-IN" b="1" dirty="0"/>
              <a:t>jQuery</a:t>
            </a:r>
            <a:r>
              <a:rPr lang="en-IN" dirty="0"/>
              <a:t>, developers manually update the DOM whenever the data changes. For example, if a new row is added to a table, the programmer must write code to create and insert that row into the DOM. In React, the developer simply updates the application state, and React automatically determines what changes are needed and updates only the affected parts of the webpage.</a:t>
            </a:r>
          </a:p>
          <a:p>
            <a:pPr lvl="1" algn="just">
              <a:buFont typeface="Wingdings" panose="05000000000000000000" pitchFamily="2" charset="2"/>
              <a:buChar char="§"/>
            </a:pPr>
            <a:endParaRPr lang="en-IN" dirty="0"/>
          </a:p>
          <a:p>
            <a:pPr lvl="1" algn="just">
              <a:buFont typeface="Wingdings" panose="05000000000000000000" pitchFamily="2" charset="2"/>
              <a:buChar char="§"/>
            </a:pPr>
            <a:r>
              <a:rPr lang="en-IN" dirty="0"/>
              <a:t>React achieves this efficiency by using the </a:t>
            </a:r>
            <a:r>
              <a:rPr lang="en-IN" b="1" dirty="0"/>
              <a:t>Virtual DOM</a:t>
            </a:r>
            <a:r>
              <a:rPr lang="en-IN" dirty="0"/>
              <a:t>, which is a lightweight, in-memory copy of the real DOM. Whenever the state changes, React creates a new Virtual DOM, compares it with the previous version (a process called </a:t>
            </a:r>
            <a:r>
              <a:rPr lang="en-IN" b="1" dirty="0"/>
              <a:t>diffing</a:t>
            </a:r>
            <a:r>
              <a:rPr lang="en-IN" dirty="0"/>
              <a:t>), identifies the differences, and updates only those parts of the actual DOM that have changed. This minimizes unnecessary DOM operations, making React applications faster and more efficient.</a:t>
            </a:r>
          </a:p>
          <a:p>
            <a:pPr algn="just">
              <a:buFont typeface="Arial" panose="020B0604020202020204" pitchFamily="34" charset="0"/>
              <a:buChar char="•"/>
            </a:pPr>
            <a:endParaRPr lang="en-US"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146607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6349E-89B2-E66F-3EB1-A176A706BF0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240AAFF-8148-3FE6-E41F-DB721BC27D3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Component-Based</a:t>
            </a:r>
          </a:p>
          <a:p>
            <a:pPr lvl="1">
              <a:buFont typeface="Arial" panose="020B0604020202020204" pitchFamily="34" charset="0"/>
              <a:buChar char="•"/>
            </a:pPr>
            <a:r>
              <a:rPr lang="en-IN" dirty="0"/>
              <a:t>The fundamental building block of React is a component that maintains its own state and renders itself. </a:t>
            </a:r>
          </a:p>
          <a:p>
            <a:pPr lvl="1">
              <a:buFont typeface="Arial" panose="020B0604020202020204" pitchFamily="34" charset="0"/>
              <a:buChar char="•"/>
            </a:pPr>
            <a:r>
              <a:rPr lang="en-IN" dirty="0"/>
              <a:t>In React, all you do is build components. </a:t>
            </a:r>
          </a:p>
          <a:p>
            <a:pPr lvl="1">
              <a:buFont typeface="Arial" panose="020B0604020202020204" pitchFamily="34" charset="0"/>
              <a:buChar char="•"/>
            </a:pPr>
            <a:r>
              <a:rPr lang="en-IN" dirty="0"/>
              <a:t>Then, you put components together to make another component that depicts a complete view or page. </a:t>
            </a:r>
          </a:p>
          <a:p>
            <a:pPr lvl="1">
              <a:buFont typeface="Arial" panose="020B0604020202020204" pitchFamily="34" charset="0"/>
              <a:buChar char="•"/>
            </a:pPr>
            <a:r>
              <a:rPr lang="en-IN" dirty="0"/>
              <a:t>A component encapsulates the state of data and the view, or how it is rendered. </a:t>
            </a:r>
          </a:p>
          <a:p>
            <a:pPr lvl="1">
              <a:buFont typeface="Arial" panose="020B0604020202020204" pitchFamily="34" charset="0"/>
              <a:buChar char="•"/>
            </a:pPr>
            <a:r>
              <a:rPr lang="en-IN" dirty="0"/>
              <a:t>This makes writing and reasoning about the entire application easier, by splitting it into components and focusing on one thing at a time. </a:t>
            </a:r>
          </a:p>
          <a:p>
            <a:pPr lvl="1">
              <a:buFont typeface="Arial" panose="020B0604020202020204" pitchFamily="34" charset="0"/>
              <a:buChar char="•"/>
            </a:pPr>
            <a:r>
              <a:rPr lang="en-IN" dirty="0"/>
              <a:t>Components talk to each other by sharing state information in the form of read-only properties to their child components and by callbacks to their parent components.</a:t>
            </a:r>
            <a:endParaRPr lang="en-US"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145294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10C4B-CA72-C14B-9C3B-F6B90FC2D5E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97EBF8EB-299B-1E21-15EF-FE11F456AE2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v"/>
            </a:pPr>
            <a:r>
              <a:rPr lang="en-IN" dirty="0"/>
              <a:t>No Templates</a:t>
            </a:r>
          </a:p>
          <a:p>
            <a:pPr lvl="1">
              <a:buFont typeface="Arial" panose="020B0604020202020204" pitchFamily="34" charset="0"/>
              <a:buChar char="•"/>
            </a:pPr>
            <a:r>
              <a:rPr lang="en-IN" dirty="0"/>
              <a:t>Many web application frameworks rely on templates to automate the task of creating repetitive HTML or DOM elements. The templating language in these frameworks is something that the developer will have to learn and practice. Not in React.</a:t>
            </a:r>
          </a:p>
          <a:p>
            <a:pPr lvl="1">
              <a:buFont typeface="Arial" panose="020B0604020202020204" pitchFamily="34" charset="0"/>
              <a:buChar char="•"/>
            </a:pPr>
            <a:r>
              <a:rPr lang="en-IN" dirty="0"/>
              <a:t>React uses a full-featured programming language to construct repetitive or conditional DOM elements. That language is none other than JavaScript. For example, when you want to construct a table, you’d write a </a:t>
            </a:r>
            <a:r>
              <a:rPr lang="en-IN" b="1" dirty="0"/>
              <a:t>for(...) </a:t>
            </a:r>
            <a:r>
              <a:rPr lang="en-IN" dirty="0"/>
              <a:t>loop in JavaScript or use the </a:t>
            </a:r>
            <a:r>
              <a:rPr lang="en-IN" b="1" dirty="0"/>
              <a:t>map() </a:t>
            </a:r>
            <a:r>
              <a:rPr lang="en-IN" dirty="0"/>
              <a:t>function of </a:t>
            </a:r>
            <a:r>
              <a:rPr lang="en-IN" b="1" dirty="0"/>
              <a:t>Array.</a:t>
            </a:r>
          </a:p>
          <a:p>
            <a:pPr lvl="1">
              <a:buFont typeface="Arial" panose="020B0604020202020204" pitchFamily="34" charset="0"/>
              <a:buChar char="•"/>
            </a:pPr>
            <a:r>
              <a:rPr lang="en-IN" dirty="0"/>
              <a:t>There is an intermediate language to represent a Virtual DOM, and that is JSX (short for JavaScript XML), which is very much like HTML. This lets you create nested DOM elements in a familiar language rather than hand-construct them using JavaScript functions. Note that JSX is not a programming language; it is a representational markup like HTML.</a:t>
            </a:r>
          </a:p>
          <a:p>
            <a:pPr lvl="1">
              <a:buFont typeface="Arial" panose="020B0604020202020204" pitchFamily="34" charset="0"/>
              <a:buChar char="•"/>
            </a:pPr>
            <a:endParaRPr lang="en-IN" dirty="0"/>
          </a:p>
          <a:p>
            <a:pPr>
              <a:buFont typeface="Wingdings" panose="05000000000000000000" pitchFamily="2" charset="2"/>
              <a:buChar char="v"/>
            </a:pPr>
            <a:r>
              <a:rPr lang="en-IN" dirty="0"/>
              <a:t>Isomorphic</a:t>
            </a:r>
          </a:p>
          <a:p>
            <a:pPr lvl="1">
              <a:buFont typeface="Arial" panose="020B0604020202020204" pitchFamily="34" charset="0"/>
              <a:buChar char="•"/>
            </a:pPr>
            <a:r>
              <a:rPr lang="en-IN" dirty="0"/>
              <a:t>React can be run on the server too. That’s what isomorphic means: the same code can run on the server and the browser.</a:t>
            </a:r>
            <a:endParaRPr lang="en-US"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4257959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9506D-B10A-F836-296B-8E39B3DEC98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546B5FF-478A-4C40-B626-0992AEC4B86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a:t>
            </a:r>
            <a:endParaRPr lang="en-US" dirty="0"/>
          </a:p>
          <a:p>
            <a:pPr lvl="1">
              <a:buFont typeface="Arial" panose="020B0604020202020204" pitchFamily="34" charset="0"/>
              <a:buChar char="•"/>
            </a:pPr>
            <a:r>
              <a:rPr lang="en-IN" dirty="0"/>
              <a:t>Node.js is JavaScript outside of a browser. </a:t>
            </a:r>
          </a:p>
          <a:p>
            <a:pPr lvl="1">
              <a:buFont typeface="Arial" panose="020B0604020202020204" pitchFamily="34" charset="0"/>
              <a:buChar char="•"/>
            </a:pPr>
            <a:r>
              <a:rPr lang="en-IN" dirty="0"/>
              <a:t>The creators of Node.js just took Chrome’s V8 JavaScript engine and made it run independently as a JavaScript runtime. </a:t>
            </a:r>
          </a:p>
          <a:p>
            <a:pPr lvl="1">
              <a:buFont typeface="Arial" panose="020B0604020202020204" pitchFamily="34" charset="0"/>
              <a:buChar char="•"/>
            </a:pPr>
            <a:r>
              <a:rPr lang="en-IN" dirty="0"/>
              <a:t>If you are familiar with the Java runtime that runs Java programs, you can easily relate to the JavaScript runtime: the Node.js runtime runs JavaScript programs.</a:t>
            </a:r>
          </a:p>
          <a:p>
            <a:pPr lvl="1">
              <a:buFont typeface="Arial" panose="020B0604020202020204" pitchFamily="34" charset="0"/>
              <a:buChar char="•"/>
            </a:pPr>
            <a:r>
              <a:rPr lang="en-IN" dirty="0"/>
              <a:t>It is a robust and scalable environment to run the back-end of any application</a:t>
            </a:r>
            <a:endParaRPr lang="en-US" dirty="0"/>
          </a:p>
          <a:p>
            <a:pPr marL="0" indent="0">
              <a:buNone/>
            </a:pPr>
            <a:r>
              <a:rPr lang="en-IN" dirty="0"/>
              <a:t>Node.js Modules</a:t>
            </a:r>
          </a:p>
          <a:p>
            <a:pPr lvl="1"/>
            <a:r>
              <a:rPr lang="en-IN" dirty="0"/>
              <a:t>In a browser, you can load multiple JavaScript files, but you need an HTML page to do all that. You cannot refer another JavaScript file from one JavaScript file. </a:t>
            </a:r>
          </a:p>
          <a:p>
            <a:pPr lvl="1"/>
            <a:r>
              <a:rPr lang="en-IN" dirty="0"/>
              <a:t>But for Node.js, there is no HTML page that starts it all. In the absence of the enclosing HTML page, Node.js uses its own module system based on </a:t>
            </a:r>
            <a:r>
              <a:rPr lang="en-IN" dirty="0" err="1"/>
              <a:t>CommonJS</a:t>
            </a:r>
            <a:r>
              <a:rPr lang="en-IN" dirty="0"/>
              <a:t> to put together multiple JavaScript files.</a:t>
            </a:r>
          </a:p>
          <a:p>
            <a:pPr lvl="1"/>
            <a:r>
              <a:rPr lang="en-IN" dirty="0"/>
              <a:t>Modules are like libraries. You can include the functionality of another JavaScript file (provided it’s written to follow a module’s specifications) by using the </a:t>
            </a:r>
            <a:r>
              <a:rPr lang="en-IN" dirty="0">
                <a:solidFill>
                  <a:srgbClr val="FF0000"/>
                </a:solidFill>
              </a:rPr>
              <a:t>require</a:t>
            </a:r>
            <a:r>
              <a:rPr lang="en-IN" dirty="0"/>
              <a:t> keyword (which you won’t find in a browser’s JavaScript). </a:t>
            </a:r>
          </a:p>
          <a:p>
            <a:pPr lvl="1"/>
            <a:r>
              <a:rPr lang="en-IN" dirty="0"/>
              <a:t>You can therefore split your code into files or modules for the sake of better organisation and load them using require.</a:t>
            </a:r>
          </a:p>
          <a:p>
            <a:pPr lvl="1"/>
            <a:r>
              <a:rPr lang="en-IN" dirty="0"/>
              <a:t>Node.js ships with a bunch of core modules compiled into the binary. These modules provide access to the operating system elements such as the file system, networking, input/output, etc.  </a:t>
            </a:r>
          </a:p>
        </p:txBody>
      </p:sp>
    </p:spTree>
    <p:extLst>
      <p:ext uri="{BB962C8B-B14F-4D97-AF65-F5344CB8AC3E}">
        <p14:creationId xmlns:p14="http://schemas.microsoft.com/office/powerpoint/2010/main" val="816524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8E1A-4549-9A16-87E4-D6555E0F63E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186F229-6C7C-87C6-F60C-16B9437481A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 and </a:t>
            </a:r>
            <a:r>
              <a:rPr lang="en-IN" dirty="0" err="1"/>
              <a:t>npm</a:t>
            </a:r>
            <a:endParaRPr lang="en-IN" dirty="0"/>
          </a:p>
          <a:p>
            <a:pPr lvl="1" algn="just">
              <a:buFont typeface="Arial" panose="020B0604020202020204" pitchFamily="34" charset="0"/>
              <a:buChar char="•"/>
            </a:pPr>
            <a:r>
              <a:rPr lang="en-IN" dirty="0" err="1"/>
              <a:t>npm</a:t>
            </a:r>
            <a:r>
              <a:rPr lang="en-IN" dirty="0"/>
              <a:t> is the default package manager for Node.js. You can use </a:t>
            </a:r>
            <a:r>
              <a:rPr lang="en-IN" dirty="0" err="1"/>
              <a:t>npm</a:t>
            </a:r>
            <a:r>
              <a:rPr lang="en-IN" dirty="0"/>
              <a:t> to install third-party libraries (packages) and manage dependencies between them. </a:t>
            </a:r>
          </a:p>
          <a:p>
            <a:pPr lvl="1" algn="just">
              <a:buFont typeface="Arial" panose="020B0604020202020204" pitchFamily="34" charset="0"/>
              <a:buChar char="•"/>
            </a:pPr>
            <a:endParaRPr lang="en-IN" dirty="0"/>
          </a:p>
          <a:p>
            <a:pPr lvl="1" algn="just">
              <a:buFont typeface="Arial" panose="020B0604020202020204" pitchFamily="34" charset="0"/>
              <a:buChar char="•"/>
            </a:pPr>
            <a:r>
              <a:rPr lang="en-IN" dirty="0"/>
              <a:t>The </a:t>
            </a:r>
            <a:r>
              <a:rPr lang="en-IN" dirty="0" err="1"/>
              <a:t>npm</a:t>
            </a:r>
            <a:r>
              <a:rPr lang="en-IN" dirty="0"/>
              <a:t> registry (www.npmjs.com) is a public repository of all modules published by people for the purpose of sharing.</a:t>
            </a:r>
          </a:p>
          <a:p>
            <a:pPr lvl="1" algn="just">
              <a:buFont typeface="Arial" panose="020B0604020202020204" pitchFamily="34" charset="0"/>
              <a:buChar char="•"/>
            </a:pPr>
            <a:endParaRPr lang="en-IN" dirty="0"/>
          </a:p>
          <a:p>
            <a:pPr lvl="1" algn="just">
              <a:buFont typeface="Arial" panose="020B0604020202020204" pitchFamily="34" charset="0"/>
              <a:buChar char="•"/>
            </a:pPr>
            <a:r>
              <a:rPr lang="en-IN" dirty="0"/>
              <a:t>Although </a:t>
            </a:r>
            <a:r>
              <a:rPr lang="en-IN" dirty="0" err="1"/>
              <a:t>npm</a:t>
            </a:r>
            <a:r>
              <a:rPr lang="en-IN" dirty="0"/>
              <a:t> started off as a repository for Node.js modules, it quickly transformed into a package manager for delivering other JavaScript based modules, notably, those that can be used in the browser. </a:t>
            </a:r>
          </a:p>
          <a:p>
            <a:pPr lvl="1" algn="just">
              <a:buFont typeface="Arial" panose="020B0604020202020204" pitchFamily="34" charset="0"/>
              <a:buChar char="•"/>
            </a:pPr>
            <a:endParaRPr lang="en-IN" dirty="0"/>
          </a:p>
          <a:p>
            <a:pPr lvl="1" algn="just">
              <a:buFont typeface="Arial" panose="020B0604020202020204" pitchFamily="34" charset="0"/>
              <a:buChar char="•"/>
            </a:pPr>
            <a:r>
              <a:rPr lang="en-IN" dirty="0"/>
              <a:t>Many popular JavaScript libraries such as </a:t>
            </a:r>
            <a:r>
              <a:rPr lang="en-IN" b="1" dirty="0"/>
              <a:t>React</a:t>
            </a:r>
            <a:r>
              <a:rPr lang="en-IN" dirty="0"/>
              <a:t>, </a:t>
            </a:r>
            <a:r>
              <a:rPr lang="en-IN" b="1" dirty="0"/>
              <a:t>jQuery</a:t>
            </a:r>
            <a:r>
              <a:rPr lang="en-IN" dirty="0"/>
              <a:t>, </a:t>
            </a:r>
            <a:r>
              <a:rPr lang="en-IN" b="1" dirty="0"/>
              <a:t>Angular</a:t>
            </a:r>
            <a:r>
              <a:rPr lang="en-IN" dirty="0"/>
              <a:t>, and </a:t>
            </a:r>
            <a:r>
              <a:rPr lang="en-IN" b="1" dirty="0"/>
              <a:t>Vue.js</a:t>
            </a:r>
            <a:r>
              <a:rPr lang="en-IN" dirty="0"/>
              <a:t> are available as </a:t>
            </a:r>
            <a:r>
              <a:rPr lang="en-IN" dirty="0" err="1"/>
              <a:t>npm</a:t>
            </a:r>
            <a:r>
              <a:rPr lang="en-IN" dirty="0"/>
              <a:t> packages. Although React can be included directly in an HTML file using a CDN link, it is recommended to install React using </a:t>
            </a:r>
            <a:r>
              <a:rPr lang="en-IN" b="1" dirty="0" err="1"/>
              <a:t>npm</a:t>
            </a:r>
            <a:r>
              <a:rPr lang="en-IN" dirty="0"/>
              <a:t> because it simplifies dependency management, version control, and project maintenance.</a:t>
            </a:r>
          </a:p>
          <a:p>
            <a:pPr lvl="1" algn="just">
              <a:buFont typeface="Arial" panose="020B0604020202020204" pitchFamily="34" charset="0"/>
              <a:buChar char="•"/>
            </a:pPr>
            <a:endParaRPr lang="en-IN" dirty="0"/>
          </a:p>
          <a:p>
            <a:pPr lvl="1" algn="just">
              <a:buFont typeface="Arial" panose="020B0604020202020204" pitchFamily="34" charset="0"/>
              <a:buChar char="•"/>
            </a:pPr>
            <a:r>
              <a:rPr lang="en-IN" dirty="0"/>
              <a:t>Once React and other libraries are installed using </a:t>
            </a:r>
            <a:r>
              <a:rPr lang="en-IN" dirty="0" err="1"/>
              <a:t>npm</a:t>
            </a:r>
            <a:r>
              <a:rPr lang="en-IN" dirty="0"/>
              <a:t>, they cannot be used directly in the browser. Therefore, </a:t>
            </a:r>
            <a:r>
              <a:rPr lang="en-IN" b="1" dirty="0"/>
              <a:t>build tools</a:t>
            </a:r>
            <a:r>
              <a:rPr lang="en-IN" dirty="0"/>
              <a:t> such as </a:t>
            </a:r>
            <a:r>
              <a:rPr lang="en-IN" b="1" dirty="0"/>
              <a:t>Webpack</a:t>
            </a:r>
            <a:r>
              <a:rPr lang="en-IN" dirty="0"/>
              <a:t>, </a:t>
            </a:r>
            <a:r>
              <a:rPr lang="en-IN" b="1" dirty="0" err="1"/>
              <a:t>Browserify</a:t>
            </a:r>
            <a:r>
              <a:rPr lang="en-IN" dirty="0"/>
              <a:t>, or </a:t>
            </a:r>
            <a:r>
              <a:rPr lang="en-IN" b="1" dirty="0"/>
              <a:t>Vite</a:t>
            </a:r>
            <a:r>
              <a:rPr lang="en-IN" dirty="0"/>
              <a:t> are used to combine (bundle) all the project files and third-party libraries into optimized JavaScript files that can be loaded by the browser.</a:t>
            </a:r>
            <a:endParaRPr lang="en-US"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54170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61BE-99D6-EC0B-8FBA-0EE387FE4DA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7122106-48AF-A3B7-39C9-0C7FA6FA0CF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 is event-driven</a:t>
            </a:r>
          </a:p>
          <a:p>
            <a:pPr lvl="1">
              <a:buFont typeface="Arial" panose="020B0604020202020204" pitchFamily="34" charset="0"/>
              <a:buChar char="•"/>
            </a:pPr>
            <a:r>
              <a:rPr lang="en-IN" b="1" dirty="0"/>
              <a:t>Node.js</a:t>
            </a:r>
            <a:r>
              <a:rPr lang="en-IN" dirty="0"/>
              <a:t> is an </a:t>
            </a:r>
            <a:r>
              <a:rPr lang="en-IN" b="1" dirty="0"/>
              <a:t>event-driven</a:t>
            </a:r>
            <a:r>
              <a:rPr lang="en-IN" dirty="0"/>
              <a:t>, </a:t>
            </a:r>
            <a:r>
              <a:rPr lang="en-IN" b="1" dirty="0"/>
              <a:t>asynchronous</a:t>
            </a:r>
            <a:r>
              <a:rPr lang="en-IN" dirty="0"/>
              <a:t>, and </a:t>
            </a:r>
            <a:r>
              <a:rPr lang="en-IN" b="1" dirty="0"/>
              <a:t>non-blocking</a:t>
            </a:r>
            <a:r>
              <a:rPr lang="en-IN" dirty="0"/>
              <a:t> JavaScript runtime environment. </a:t>
            </a:r>
          </a:p>
          <a:p>
            <a:pPr lvl="1">
              <a:buFont typeface="Arial" panose="020B0604020202020204" pitchFamily="34" charset="0"/>
              <a:buChar char="•"/>
            </a:pPr>
            <a:r>
              <a:rPr lang="en-IN" dirty="0"/>
              <a:t>Unlike many traditional programming languages that use multiple threads to perform several tasks simultaneously, Node.js uses a </a:t>
            </a:r>
            <a:r>
              <a:rPr lang="en-IN" b="1" dirty="0"/>
              <a:t>single-threaded event loop</a:t>
            </a:r>
            <a:r>
              <a:rPr lang="en-IN" dirty="0"/>
              <a:t> to handle multiple requests efficiently. </a:t>
            </a:r>
          </a:p>
          <a:p>
            <a:pPr lvl="1">
              <a:buFont typeface="Arial" panose="020B0604020202020204" pitchFamily="34" charset="0"/>
              <a:buChar char="•"/>
            </a:pPr>
            <a:r>
              <a:rPr lang="en-IN" dirty="0"/>
              <a:t>This architecture makes Node.js highly suitable for building fast and scalable web applications.</a:t>
            </a:r>
          </a:p>
          <a:p>
            <a:pPr lvl="1">
              <a:buFont typeface="Arial" panose="020B0604020202020204" pitchFamily="34" charset="0"/>
              <a:buChar char="•"/>
            </a:pPr>
            <a:endParaRPr lang="en-IN" dirty="0"/>
          </a:p>
          <a:p>
            <a:pPr lvl="1"/>
            <a:r>
              <a:rPr lang="en-IN" dirty="0"/>
              <a:t>In an </a:t>
            </a:r>
            <a:r>
              <a:rPr lang="en-IN" b="1" dirty="0"/>
              <a:t>event-driven programming model</a:t>
            </a:r>
            <a:r>
              <a:rPr lang="en-IN" dirty="0"/>
              <a:t>, the execution of a program is controlled by </a:t>
            </a:r>
            <a:r>
              <a:rPr lang="en-IN" b="1" dirty="0"/>
              <a:t>events</a:t>
            </a:r>
            <a:r>
              <a:rPr lang="en-IN" dirty="0"/>
              <a:t> such as user actions, file operations, database queries, or network requests. </a:t>
            </a:r>
          </a:p>
          <a:p>
            <a:pPr lvl="1"/>
            <a:r>
              <a:rPr lang="en-IN" dirty="0"/>
              <a:t>Instead of waiting for an operation to finish, Node.js registers a </a:t>
            </a:r>
            <a:r>
              <a:rPr lang="en-IN" b="1" dirty="0"/>
              <a:t>callback function</a:t>
            </a:r>
            <a:r>
              <a:rPr lang="en-IN" dirty="0"/>
              <a:t> that is automatically executed when the event is completed.</a:t>
            </a:r>
          </a:p>
          <a:p>
            <a:pPr lvl="1"/>
            <a:endParaRPr lang="en-IN" dirty="0"/>
          </a:p>
          <a:p>
            <a:pPr lvl="1"/>
            <a:r>
              <a:rPr lang="en-IN" dirty="0"/>
              <a:t>For example, when a file is opened, Node.js continues executing other code instead of waiting. Once the file is ready, an event is generated, and the associated callback function is invoked.</a:t>
            </a:r>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198525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8F2BF-B2C0-DA27-A18C-581251BA17A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9187F4A-7019-A3AD-4B0A-C04223FD0DAD}"/>
              </a:ext>
            </a:extLst>
          </p:cNvPr>
          <p:cNvSpPr txBox="1">
            <a:spLocks/>
          </p:cNvSpPr>
          <p:nvPr/>
        </p:nvSpPr>
        <p:spPr>
          <a:xfrm>
            <a:off x="360727" y="343949"/>
            <a:ext cx="11442583" cy="5931016"/>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Express</a:t>
            </a:r>
          </a:p>
          <a:p>
            <a:pPr lvl="1">
              <a:buFont typeface="Arial" panose="020B0604020202020204" pitchFamily="34" charset="0"/>
              <a:buChar char="•"/>
            </a:pPr>
            <a:r>
              <a:rPr lang="en-IN" dirty="0"/>
              <a:t>Node.js is just a runtime environment that can run JavaScript. To write a full-fledged web server by hand on Node.js directly is not easy, neither is it necessary. Express is a framework that simplifies the task of writing the server code.</a:t>
            </a:r>
          </a:p>
          <a:p>
            <a:pPr lvl="1">
              <a:buFont typeface="Arial" panose="020B0604020202020204" pitchFamily="34" charset="0"/>
              <a:buChar char="•"/>
            </a:pPr>
            <a:endParaRPr lang="en-IN" dirty="0"/>
          </a:p>
          <a:p>
            <a:pPr lvl="1">
              <a:buFont typeface="Arial" panose="020B0604020202020204" pitchFamily="34" charset="0"/>
              <a:buChar char="•"/>
            </a:pPr>
            <a:r>
              <a:rPr lang="en-IN" dirty="0"/>
              <a:t>The Express framework lets you define routes, specifications of what to do when an HTTP request matching a certain pattern arrives. </a:t>
            </a:r>
          </a:p>
          <a:p>
            <a:pPr lvl="1">
              <a:buFont typeface="Arial" panose="020B0604020202020204" pitchFamily="34" charset="0"/>
              <a:buChar char="•"/>
            </a:pPr>
            <a:r>
              <a:rPr lang="en-IN" dirty="0"/>
              <a:t>The matching specification is regular expression (regex) based and is very flexible, like most other web application frameworks. </a:t>
            </a:r>
          </a:p>
          <a:p>
            <a:pPr lvl="1">
              <a:buFont typeface="Arial" panose="020B0604020202020204" pitchFamily="34" charset="0"/>
              <a:buChar char="•"/>
            </a:pPr>
            <a:r>
              <a:rPr lang="en-IN" dirty="0"/>
              <a:t>The what-to-do part is just a function that is given the parsed HTTP request. </a:t>
            </a:r>
          </a:p>
          <a:p>
            <a:pPr lvl="1">
              <a:buFont typeface="Arial" panose="020B0604020202020204" pitchFamily="34" charset="0"/>
              <a:buChar char="•"/>
            </a:pPr>
            <a:r>
              <a:rPr lang="en-IN" dirty="0"/>
              <a:t>Express parses the request URL, headers, and parameters for you. </a:t>
            </a:r>
          </a:p>
          <a:p>
            <a:pPr lvl="1">
              <a:buFont typeface="Arial" panose="020B0604020202020204" pitchFamily="34" charset="0"/>
              <a:buChar char="•"/>
            </a:pPr>
            <a:r>
              <a:rPr lang="en-IN" dirty="0"/>
              <a:t>On the response side, it has, as expected, all functionality required by web applications. </a:t>
            </a:r>
          </a:p>
          <a:p>
            <a:pPr lvl="1">
              <a:buFont typeface="Arial" panose="020B0604020202020204" pitchFamily="34" charset="0"/>
              <a:buChar char="•"/>
            </a:pPr>
            <a:r>
              <a:rPr lang="en-IN" dirty="0"/>
              <a:t>This includes determining response codes, setting cookies, sending custom headers, etc. </a:t>
            </a:r>
          </a:p>
          <a:p>
            <a:pPr lvl="1">
              <a:buFont typeface="Arial" panose="020B0604020202020204" pitchFamily="34" charset="0"/>
              <a:buChar char="•"/>
            </a:pPr>
            <a:r>
              <a:rPr lang="en-IN" dirty="0"/>
              <a:t>Further, you can write Express middleware, custom pieces of code that can be inserted in any request/response processing path to achieve common functionality such as logging, authentication, etc.</a:t>
            </a:r>
          </a:p>
          <a:p>
            <a:pPr lvl="1">
              <a:buFont typeface="Arial" panose="020B0604020202020204" pitchFamily="34" charset="0"/>
              <a:buChar char="•"/>
            </a:pPr>
            <a:r>
              <a:rPr lang="en-IN" dirty="0"/>
              <a:t>Express does not have a template engine built in, but it supports any template engine of your choice such as pug, </a:t>
            </a:r>
            <a:r>
              <a:rPr lang="en-IN" dirty="0" err="1"/>
              <a:t>mustache</a:t>
            </a:r>
            <a:r>
              <a:rPr lang="en-IN" dirty="0"/>
              <a:t>, etc. </a:t>
            </a:r>
          </a:p>
          <a:p>
            <a:pPr lvl="1">
              <a:buFont typeface="Arial" panose="020B0604020202020204" pitchFamily="34" charset="0"/>
              <a:buChar char="•"/>
            </a:pPr>
            <a:r>
              <a:rPr lang="en-IN" dirty="0"/>
              <a:t>But, for an SPA, you will not need to use a server-side template engine. This is because all dynamic content generation is done on the client, and the web server only serves static files and data via API calls.</a:t>
            </a:r>
            <a:endParaRPr lang="en-US" dirty="0"/>
          </a:p>
        </p:txBody>
      </p:sp>
    </p:spTree>
    <p:extLst>
      <p:ext uri="{BB962C8B-B14F-4D97-AF65-F5344CB8AC3E}">
        <p14:creationId xmlns:p14="http://schemas.microsoft.com/office/powerpoint/2010/main" val="2549065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9199D-2918-653D-5666-AE9ECD5E88C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334E669-E739-796B-150B-9EFE60D0C42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MongoDB</a:t>
            </a:r>
          </a:p>
          <a:p>
            <a:pPr lvl="1">
              <a:buFont typeface="Arial" panose="020B0604020202020204" pitchFamily="34" charset="0"/>
              <a:buChar char="•"/>
            </a:pPr>
            <a:r>
              <a:rPr lang="en-IN" dirty="0"/>
              <a:t>MongoDB is the database used in the MERN stack. It is a NoSQL document-oriented database, with a flexible schema and a JSON-based query language.</a:t>
            </a:r>
          </a:p>
          <a:p>
            <a:pPr lvl="1">
              <a:buFont typeface="Arial" panose="020B0604020202020204" pitchFamily="34" charset="0"/>
              <a:buChar char="•"/>
            </a:pPr>
            <a:endParaRPr lang="en-IN" dirty="0"/>
          </a:p>
          <a:p>
            <a:pPr>
              <a:buFont typeface="Arial" panose="020B0604020202020204" pitchFamily="34" charset="0"/>
              <a:buChar char="•"/>
            </a:pPr>
            <a:r>
              <a:rPr lang="en-IN" dirty="0"/>
              <a:t>1. NoSQL</a:t>
            </a:r>
          </a:p>
          <a:p>
            <a:pPr lvl="1">
              <a:buFont typeface="Arial" panose="020B0604020202020204" pitchFamily="34" charset="0"/>
              <a:buChar char="•"/>
            </a:pPr>
            <a:r>
              <a:rPr lang="en-IN" dirty="0"/>
              <a:t>NoSQL (Not Only SQL) is a non-relational database that stores data in flexible document formats instead of traditional tables with rows and columns. </a:t>
            </a:r>
          </a:p>
          <a:p>
            <a:pPr lvl="1">
              <a:buFont typeface="Arial" panose="020B0604020202020204" pitchFamily="34" charset="0"/>
              <a:buChar char="•"/>
            </a:pPr>
            <a:r>
              <a:rPr lang="en-IN" dirty="0"/>
              <a:t>It supports horizontal scaling by distributing data across multiple servers, making it suitable for large-scale applications. </a:t>
            </a:r>
          </a:p>
          <a:p>
            <a:pPr lvl="1">
              <a:buFont typeface="Arial" panose="020B0604020202020204" pitchFamily="34" charset="0"/>
              <a:buChar char="•"/>
            </a:pPr>
            <a:r>
              <a:rPr lang="en-IN" dirty="0"/>
              <a:t>MongoDB, a popular NoSQL database, stores data as JSON-like documents, which closely match JavaScript objects used in applications. </a:t>
            </a:r>
          </a:p>
          <a:p>
            <a:pPr lvl="1">
              <a:buFont typeface="Arial" panose="020B0604020202020204" pitchFamily="34" charset="0"/>
              <a:buChar char="•"/>
            </a:pPr>
            <a:r>
              <a:rPr lang="en-IN" dirty="0"/>
              <a:t>This eliminates the need for an Object Relational Mapping (ORM) layer and simplifies application development. </a:t>
            </a:r>
          </a:p>
          <a:p>
            <a:pPr lvl="1">
              <a:buFont typeface="Arial" panose="020B0604020202020204" pitchFamily="34" charset="0"/>
              <a:buChar char="•"/>
            </a:pPr>
            <a:r>
              <a:rPr lang="en-IN" dirty="0"/>
              <a:t>Due to its flexibility, scalability, and seamless integration with JavaScript technologies, MongoDB is widely used in the MERN Stack for developing modern web applications.</a:t>
            </a:r>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727185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A1A4C-7AFF-668E-31E0-A9D32E4C42D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4666361-17DB-4F78-C3F9-87EEB903F06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2. Document-Oriented</a:t>
            </a:r>
          </a:p>
          <a:p>
            <a:pPr lvl="1">
              <a:buFont typeface="Arial" panose="020B0604020202020204" pitchFamily="34" charset="0"/>
              <a:buChar char="•"/>
            </a:pPr>
            <a:r>
              <a:rPr lang="en-IN" dirty="0"/>
              <a:t>Compared to relational databases where data is stored in the form of relations, or tables, MongoDB is a </a:t>
            </a:r>
            <a:r>
              <a:rPr lang="en-IN" dirty="0">
                <a:solidFill>
                  <a:srgbClr val="FF0000"/>
                </a:solidFill>
              </a:rPr>
              <a:t>document-oriented</a:t>
            </a:r>
            <a:r>
              <a:rPr lang="en-IN" dirty="0"/>
              <a:t> database. </a:t>
            </a:r>
          </a:p>
          <a:p>
            <a:pPr lvl="1">
              <a:buFont typeface="Arial" panose="020B0604020202020204" pitchFamily="34" charset="0"/>
              <a:buChar char="•"/>
            </a:pPr>
            <a:r>
              <a:rPr lang="en-IN" dirty="0"/>
              <a:t>The unit of storage (comparable to a row) is a document, or an object, and multiple documents are stored in </a:t>
            </a:r>
            <a:r>
              <a:rPr lang="en-IN" dirty="0">
                <a:solidFill>
                  <a:srgbClr val="FF0000"/>
                </a:solidFill>
              </a:rPr>
              <a:t>collections</a:t>
            </a:r>
            <a:r>
              <a:rPr lang="en-IN" dirty="0"/>
              <a:t> (comparable to a table). </a:t>
            </a:r>
          </a:p>
          <a:p>
            <a:pPr lvl="1">
              <a:buFont typeface="Arial" panose="020B0604020202020204" pitchFamily="34" charset="0"/>
              <a:buChar char="•"/>
            </a:pPr>
            <a:r>
              <a:rPr lang="en-IN" dirty="0"/>
              <a:t>Every document in a collection has a unique </a:t>
            </a:r>
            <a:r>
              <a:rPr lang="en-IN" dirty="0">
                <a:solidFill>
                  <a:srgbClr val="FF0000"/>
                </a:solidFill>
              </a:rPr>
              <a:t>identifier</a:t>
            </a:r>
            <a:r>
              <a:rPr lang="en-IN" dirty="0"/>
              <a:t>, using which it can be accessed. The identifier is indexed automatically.</a:t>
            </a:r>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lvl="1">
              <a:buFont typeface="Arial" panose="020B0604020202020204" pitchFamily="34" charset="0"/>
              <a:buChar char="•"/>
            </a:pPr>
            <a:r>
              <a:rPr lang="en-IN" dirty="0"/>
              <a:t>Modern relational databases have started supporting one level of nesting by allowing array fields and JSON fields, but it is not the same as a true document database. </a:t>
            </a:r>
          </a:p>
          <a:p>
            <a:pPr lvl="1">
              <a:buFont typeface="Arial" panose="020B0604020202020204" pitchFamily="34" charset="0"/>
              <a:buChar char="•"/>
            </a:pPr>
            <a:r>
              <a:rPr lang="en-IN" dirty="0"/>
              <a:t>MongoDB has the ability to index on deeply nested fields, which relational databases cannot do.</a:t>
            </a:r>
          </a:p>
          <a:p>
            <a:pPr lvl="1">
              <a:buFont typeface="Arial" panose="020B0604020202020204" pitchFamily="34" charset="0"/>
              <a:buChar char="•"/>
            </a:pPr>
            <a:endParaRPr lang="en-IN" dirty="0"/>
          </a:p>
          <a:p>
            <a:pPr lvl="1">
              <a:buFont typeface="Arial" panose="020B0604020202020204" pitchFamily="34" charset="0"/>
              <a:buChar char="•"/>
            </a:pPr>
            <a:r>
              <a:rPr lang="en-IN" dirty="0"/>
              <a:t>The downside is that the data is stored de-normalized. This means that data is sometimes duplicated, requiring more storage space.</a:t>
            </a:r>
          </a:p>
          <a:p>
            <a:pPr lvl="1">
              <a:buFont typeface="Arial" panose="020B0604020202020204" pitchFamily="34" charset="0"/>
              <a:buChar char="•"/>
            </a:pPr>
            <a:endParaRPr lang="en-IN" dirty="0"/>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282530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DEA84-8D60-2994-4F68-2AFC26F9A7A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C08DAFC-19DB-09D8-AF61-FB24F2363F9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Continued…</a:t>
            </a:r>
          </a:p>
          <a:p>
            <a:pPr lvl="1">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F6B650C8-7EF7-D2D1-E2DF-1B1C783E47A6}"/>
              </a:ext>
            </a:extLst>
          </p:cNvPr>
          <p:cNvPicPr>
            <a:picLocks noChangeAspect="1"/>
          </p:cNvPicPr>
          <p:nvPr/>
        </p:nvPicPr>
        <p:blipFill>
          <a:blip r:embed="rId2"/>
          <a:stretch>
            <a:fillRect/>
          </a:stretch>
        </p:blipFill>
        <p:spPr>
          <a:xfrm>
            <a:off x="360727" y="988908"/>
            <a:ext cx="6173893" cy="3549536"/>
          </a:xfrm>
          <a:prstGeom prst="rect">
            <a:avLst/>
          </a:prstGeom>
        </p:spPr>
      </p:pic>
      <p:pic>
        <p:nvPicPr>
          <p:cNvPr id="5" name="Picture 4">
            <a:extLst>
              <a:ext uri="{FF2B5EF4-FFF2-40B4-BE49-F238E27FC236}">
                <a16:creationId xmlns:a16="http://schemas.microsoft.com/office/drawing/2014/main" id="{E6DDB322-1A93-F428-FB2D-19C9ABA43BE9}"/>
              </a:ext>
            </a:extLst>
          </p:cNvPr>
          <p:cNvPicPr>
            <a:picLocks noChangeAspect="1"/>
          </p:cNvPicPr>
          <p:nvPr/>
        </p:nvPicPr>
        <p:blipFill>
          <a:blip r:embed="rId3"/>
          <a:stretch>
            <a:fillRect/>
          </a:stretch>
        </p:blipFill>
        <p:spPr>
          <a:xfrm>
            <a:off x="6652468" y="207945"/>
            <a:ext cx="4823671" cy="6075489"/>
          </a:xfrm>
          <a:prstGeom prst="rect">
            <a:avLst/>
          </a:prstGeom>
        </p:spPr>
      </p:pic>
    </p:spTree>
    <p:extLst>
      <p:ext uri="{BB962C8B-B14F-4D97-AF65-F5344CB8AC3E}">
        <p14:creationId xmlns:p14="http://schemas.microsoft.com/office/powerpoint/2010/main" val="1089930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34ED9-A671-906F-49F4-9A6378CC018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B35333F-26D2-99C1-5E2C-8D94F294E5A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3. Schema-Less</a:t>
            </a:r>
          </a:p>
          <a:p>
            <a:pPr lvl="1">
              <a:buFont typeface="Arial" panose="020B0604020202020204" pitchFamily="34" charset="0"/>
              <a:buChar char="•"/>
            </a:pPr>
            <a:r>
              <a:rPr lang="en-IN" dirty="0"/>
              <a:t>MongoDB is a </a:t>
            </a:r>
            <a:r>
              <a:rPr lang="en-IN" b="1" dirty="0"/>
              <a:t>schema-less database</a:t>
            </a:r>
            <a:r>
              <a:rPr lang="en-IN" dirty="0"/>
              <a:t>, which means documents in the same collection do not need to have the same structure or fields. </a:t>
            </a:r>
          </a:p>
          <a:p>
            <a:pPr lvl="1">
              <a:buFont typeface="Arial" panose="020B0604020202020204" pitchFamily="34" charset="0"/>
              <a:buChar char="•"/>
            </a:pPr>
            <a:r>
              <a:rPr lang="en-IN" dirty="0"/>
              <a:t>Developers can easily add, remove, or modify fields without changing the database schema, making application development faster and more flexible. </a:t>
            </a:r>
          </a:p>
          <a:p>
            <a:pPr lvl="1">
              <a:buFont typeface="Arial" panose="020B0604020202020204" pitchFamily="34" charset="0"/>
              <a:buChar char="•"/>
            </a:pPr>
            <a:r>
              <a:rPr lang="en-IN" dirty="0"/>
              <a:t>However, since the database does not enforce a fixed structure, the responsibility for maintaining data consistency lies with the application. </a:t>
            </a:r>
          </a:p>
          <a:p>
            <a:pPr lvl="1">
              <a:buFont typeface="Arial" panose="020B0604020202020204" pitchFamily="34" charset="0"/>
              <a:buChar char="•"/>
            </a:pPr>
            <a:r>
              <a:rPr lang="en-IN" dirty="0"/>
              <a:t>For larger applications, tools like </a:t>
            </a:r>
            <a:r>
              <a:rPr lang="en-IN" b="1" dirty="0"/>
              <a:t>Mongoose</a:t>
            </a:r>
            <a:r>
              <a:rPr lang="en-IN" dirty="0"/>
              <a:t> can be used to define and enforce schemas.</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0AA6E2B4-6776-E0A9-1759-BC382E34A277}"/>
              </a:ext>
            </a:extLst>
          </p:cNvPr>
          <p:cNvPicPr>
            <a:picLocks noChangeAspect="1"/>
          </p:cNvPicPr>
          <p:nvPr/>
        </p:nvPicPr>
        <p:blipFill>
          <a:blip r:embed="rId2"/>
          <a:stretch>
            <a:fillRect/>
          </a:stretch>
        </p:blipFill>
        <p:spPr>
          <a:xfrm>
            <a:off x="3053287" y="2857082"/>
            <a:ext cx="3213289" cy="3477975"/>
          </a:xfrm>
          <a:prstGeom prst="rect">
            <a:avLst/>
          </a:prstGeom>
        </p:spPr>
      </p:pic>
    </p:spTree>
    <p:extLst>
      <p:ext uri="{BB962C8B-B14F-4D97-AF65-F5344CB8AC3E}">
        <p14:creationId xmlns:p14="http://schemas.microsoft.com/office/powerpoint/2010/main" val="2663575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F7BF9-4C46-F289-DA9E-CEE9F76B54F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3689547-8E16-4411-4327-6D255AE1D7A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b="1" dirty="0"/>
              <a:t>4. JavaScript-Based MongoDB</a:t>
            </a:r>
          </a:p>
          <a:p>
            <a:pPr lvl="1">
              <a:buFont typeface="Arial" panose="020B0604020202020204" pitchFamily="34" charset="0"/>
              <a:buChar char="•"/>
            </a:pPr>
            <a:r>
              <a:rPr lang="en-IN" dirty="0"/>
              <a:t>MongoDB is a </a:t>
            </a:r>
            <a:r>
              <a:rPr lang="en-IN" b="1" dirty="0"/>
              <a:t>JavaScript-based NoSQL database</a:t>
            </a:r>
            <a:r>
              <a:rPr lang="en-IN" dirty="0"/>
              <a:t>, where queries and data are represented using </a:t>
            </a:r>
            <a:r>
              <a:rPr lang="en-IN" b="1" dirty="0"/>
              <a:t>JSON-like documents</a:t>
            </a:r>
            <a:r>
              <a:rPr lang="en-IN" dirty="0"/>
              <a:t>.</a:t>
            </a:r>
          </a:p>
          <a:p>
            <a:pPr lvl="1">
              <a:buFont typeface="Arial" panose="020B0604020202020204" pitchFamily="34" charset="0"/>
              <a:buChar char="•"/>
            </a:pPr>
            <a:r>
              <a:rPr lang="en-IN" dirty="0"/>
              <a:t>Instead of using SQL commands such as </a:t>
            </a:r>
            <a:r>
              <a:rPr lang="en-IN" b="1" dirty="0"/>
              <a:t>SELECT</a:t>
            </a:r>
            <a:r>
              <a:rPr lang="en-IN" dirty="0"/>
              <a:t>, </a:t>
            </a:r>
            <a:r>
              <a:rPr lang="en-IN" b="1" dirty="0"/>
              <a:t>INSERT</a:t>
            </a:r>
            <a:r>
              <a:rPr lang="en-IN" dirty="0"/>
              <a:t>, or </a:t>
            </a:r>
            <a:r>
              <a:rPr lang="en-IN" b="1" dirty="0"/>
              <a:t>WHERE</a:t>
            </a:r>
            <a:r>
              <a:rPr lang="en-IN" dirty="0"/>
              <a:t>, MongoDB performs operations using JavaScript objects, making it easy for JavaScript developers to work with the database. </a:t>
            </a:r>
          </a:p>
          <a:p>
            <a:pPr lvl="1">
              <a:buFont typeface="Arial" panose="020B0604020202020204" pitchFamily="34" charset="0"/>
              <a:buChar char="•"/>
            </a:pPr>
            <a:r>
              <a:rPr lang="en-IN" dirty="0"/>
              <a:t>Internally, MongoDB stores data in </a:t>
            </a:r>
            <a:r>
              <a:rPr lang="en-IN" b="1" dirty="0"/>
              <a:t>BSON (Binary JSON)</a:t>
            </a:r>
            <a:r>
              <a:rPr lang="en-IN" dirty="0"/>
              <a:t>, which is an efficient binary representation of JSON. </a:t>
            </a:r>
          </a:p>
          <a:p>
            <a:pPr lvl="1">
              <a:buFont typeface="Arial" panose="020B0604020202020204" pitchFamily="34" charset="0"/>
              <a:buChar char="•"/>
            </a:pPr>
            <a:r>
              <a:rPr lang="en-IN" dirty="0"/>
              <a:t>MongoDB also provides a </a:t>
            </a:r>
            <a:r>
              <a:rPr lang="en-IN" b="1" dirty="0"/>
              <a:t>JavaScript shell (MongoDB Shell)</a:t>
            </a:r>
            <a:r>
              <a:rPr lang="en-IN" dirty="0"/>
              <a:t> that allows developers to interact with the database using JavaScript commands.</a:t>
            </a:r>
          </a:p>
          <a:p>
            <a:pPr lvl="1">
              <a:buFont typeface="Arial" panose="020B0604020202020204" pitchFamily="34" charset="0"/>
              <a:buChar char="•"/>
            </a:pPr>
            <a:endParaRPr lang="en-IN" dirty="0"/>
          </a:p>
          <a:p>
            <a:pPr lvl="1">
              <a:buFont typeface="Arial" panose="020B0604020202020204" pitchFamily="34" charset="0"/>
              <a:buChar char="•"/>
            </a:pPr>
            <a:r>
              <a:rPr lang="en-IN" dirty="0"/>
              <a:t>Example</a:t>
            </a:r>
          </a:p>
          <a:p>
            <a:pPr lvl="2">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8187DAF4-7B3E-A94E-3ADE-C4B58BEEB152}"/>
              </a:ext>
            </a:extLst>
          </p:cNvPr>
          <p:cNvPicPr>
            <a:picLocks noChangeAspect="1"/>
          </p:cNvPicPr>
          <p:nvPr/>
        </p:nvPicPr>
        <p:blipFill>
          <a:blip r:embed="rId2"/>
          <a:stretch>
            <a:fillRect/>
          </a:stretch>
        </p:blipFill>
        <p:spPr>
          <a:xfrm>
            <a:off x="798373" y="3321370"/>
            <a:ext cx="5159187" cy="1775614"/>
          </a:xfrm>
          <a:prstGeom prst="rect">
            <a:avLst/>
          </a:prstGeom>
        </p:spPr>
      </p:pic>
      <p:pic>
        <p:nvPicPr>
          <p:cNvPr id="5" name="Picture 4">
            <a:extLst>
              <a:ext uri="{FF2B5EF4-FFF2-40B4-BE49-F238E27FC236}">
                <a16:creationId xmlns:a16="http://schemas.microsoft.com/office/drawing/2014/main" id="{E938548A-7264-1861-D895-C92543DC176B}"/>
              </a:ext>
            </a:extLst>
          </p:cNvPr>
          <p:cNvPicPr>
            <a:picLocks noChangeAspect="1"/>
          </p:cNvPicPr>
          <p:nvPr/>
        </p:nvPicPr>
        <p:blipFill>
          <a:blip r:embed="rId3"/>
          <a:stretch>
            <a:fillRect/>
          </a:stretch>
        </p:blipFill>
        <p:spPr>
          <a:xfrm>
            <a:off x="6164161" y="3429000"/>
            <a:ext cx="4846740" cy="1120237"/>
          </a:xfrm>
          <a:prstGeom prst="rect">
            <a:avLst/>
          </a:prstGeom>
        </p:spPr>
      </p:pic>
    </p:spTree>
    <p:extLst>
      <p:ext uri="{BB962C8B-B14F-4D97-AF65-F5344CB8AC3E}">
        <p14:creationId xmlns:p14="http://schemas.microsoft.com/office/powerpoint/2010/main" val="1535603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A6B5-E0D7-CB93-3A69-8C42D35E8F5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CBF0F9C-73AF-9D9D-1161-DB27B41C14C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67BADEBC-4F45-DFEF-8CF2-58831DFC8D41}"/>
              </a:ext>
            </a:extLst>
          </p:cNvPr>
          <p:cNvPicPr>
            <a:picLocks noChangeAspect="1"/>
          </p:cNvPicPr>
          <p:nvPr/>
        </p:nvPicPr>
        <p:blipFill>
          <a:blip r:embed="rId2"/>
          <a:stretch>
            <a:fillRect/>
          </a:stretch>
        </p:blipFill>
        <p:spPr>
          <a:xfrm>
            <a:off x="744904" y="612369"/>
            <a:ext cx="5228851" cy="1543602"/>
          </a:xfrm>
          <a:prstGeom prst="rect">
            <a:avLst/>
          </a:prstGeom>
        </p:spPr>
      </p:pic>
      <p:pic>
        <p:nvPicPr>
          <p:cNvPr id="5" name="Picture 4">
            <a:extLst>
              <a:ext uri="{FF2B5EF4-FFF2-40B4-BE49-F238E27FC236}">
                <a16:creationId xmlns:a16="http://schemas.microsoft.com/office/drawing/2014/main" id="{DD95B9A1-D429-3914-3A37-DAE653B92B27}"/>
              </a:ext>
            </a:extLst>
          </p:cNvPr>
          <p:cNvPicPr>
            <a:picLocks noChangeAspect="1"/>
          </p:cNvPicPr>
          <p:nvPr/>
        </p:nvPicPr>
        <p:blipFill>
          <a:blip r:embed="rId3"/>
          <a:stretch>
            <a:fillRect/>
          </a:stretch>
        </p:blipFill>
        <p:spPr>
          <a:xfrm>
            <a:off x="744904" y="2690751"/>
            <a:ext cx="5182049" cy="1996613"/>
          </a:xfrm>
          <a:prstGeom prst="rect">
            <a:avLst/>
          </a:prstGeom>
        </p:spPr>
      </p:pic>
    </p:spTree>
    <p:extLst>
      <p:ext uri="{BB962C8B-B14F-4D97-AF65-F5344CB8AC3E}">
        <p14:creationId xmlns:p14="http://schemas.microsoft.com/office/powerpoint/2010/main" val="818517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8DD41-1289-B032-3FA5-F43AE7C3984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EAC1831-6973-2E73-2B07-7B5858477A92}"/>
              </a:ext>
            </a:extLst>
          </p:cNvPr>
          <p:cNvSpPr txBox="1">
            <a:spLocks/>
          </p:cNvSpPr>
          <p:nvPr/>
        </p:nvSpPr>
        <p:spPr>
          <a:xfrm>
            <a:off x="360727" y="343949"/>
            <a:ext cx="11442583" cy="5889071"/>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Tools and Libraries</a:t>
            </a:r>
          </a:p>
          <a:p>
            <a:pPr lvl="1" algn="just">
              <a:buFont typeface="Arial" panose="020B0604020202020204" pitchFamily="34" charset="0"/>
              <a:buChar char="•"/>
            </a:pPr>
            <a:r>
              <a:rPr lang="en-IN" dirty="0"/>
              <a:t>It’s hard to build any web application without using tools to help you on your way. Here’s a brief introduction to the other tools apart from the MERN stack components that we will be using to develop the sample application.</a:t>
            </a:r>
          </a:p>
          <a:p>
            <a:pPr lvl="1" algn="just">
              <a:buFont typeface="Arial" panose="020B0604020202020204" pitchFamily="34" charset="0"/>
              <a:buChar char="•"/>
            </a:pPr>
            <a:endParaRPr lang="en-IN" dirty="0"/>
          </a:p>
          <a:p>
            <a:r>
              <a:rPr lang="en-IN" b="1" dirty="0"/>
              <a:t>React Router – Summary</a:t>
            </a:r>
          </a:p>
          <a:p>
            <a:pPr lvl="1"/>
            <a:r>
              <a:rPr lang="en-IN" b="1" dirty="0"/>
              <a:t>React Router</a:t>
            </a:r>
            <a:r>
              <a:rPr lang="en-IN" dirty="0"/>
              <a:t> is a library used in React applications to enable </a:t>
            </a:r>
            <a:r>
              <a:rPr lang="en-IN" b="1" dirty="0"/>
              <a:t>navigation between different pages or components</a:t>
            </a:r>
            <a:r>
              <a:rPr lang="en-IN" dirty="0"/>
              <a:t> without reloading the entire web page. </a:t>
            </a:r>
          </a:p>
          <a:p>
            <a:pPr lvl="1"/>
            <a:r>
              <a:rPr lang="en-IN" dirty="0"/>
              <a:t>It keeps the browser URL synchronized with the displayed component and manages browser history, including the </a:t>
            </a:r>
            <a:r>
              <a:rPr lang="en-IN" b="1" dirty="0"/>
              <a:t>Back</a:t>
            </a:r>
            <a:r>
              <a:rPr lang="en-IN" dirty="0"/>
              <a:t> and </a:t>
            </a:r>
            <a:r>
              <a:rPr lang="en-IN" b="1" dirty="0"/>
              <a:t>Forward</a:t>
            </a:r>
            <a:r>
              <a:rPr lang="en-IN" dirty="0"/>
              <a:t> buttons. </a:t>
            </a:r>
          </a:p>
          <a:p>
            <a:pPr lvl="1"/>
            <a:r>
              <a:rPr lang="en-IN" dirty="0"/>
              <a:t>This allows React applications to behave like </a:t>
            </a:r>
            <a:r>
              <a:rPr lang="en-IN" b="1" dirty="0"/>
              <a:t>Single Page Applications (SPAs)</a:t>
            </a:r>
            <a:r>
              <a:rPr lang="en-IN" dirty="0"/>
              <a:t>, providing faster navigation and a better user experience.</a:t>
            </a:r>
          </a:p>
          <a:p>
            <a:pPr lvl="1" algn="just">
              <a:buFont typeface="Arial" panose="020B0604020202020204" pitchFamily="34" charset="0"/>
              <a:buChar char="•"/>
            </a:pPr>
            <a:endParaRPr lang="en-US" dirty="0"/>
          </a:p>
          <a:p>
            <a:r>
              <a:rPr lang="en-IN" dirty="0"/>
              <a:t>React-Bootstrap </a:t>
            </a:r>
          </a:p>
          <a:p>
            <a:pPr lvl="1"/>
            <a:r>
              <a:rPr lang="en-IN" dirty="0"/>
              <a:t>Bootstrap, the most popular CSS framework, has been adapted to React and the project is called React Bootstrap. </a:t>
            </a:r>
          </a:p>
          <a:p>
            <a:pPr lvl="1"/>
            <a:r>
              <a:rPr lang="en-IN" dirty="0"/>
              <a:t>This library not only gives us most of the Bootstrap functionality, but the components and widgets provided by this library also give us a wealth of information on how to design our own widgets and components.</a:t>
            </a:r>
          </a:p>
          <a:p>
            <a:pPr lvl="1"/>
            <a:r>
              <a:rPr lang="en-IN" dirty="0"/>
              <a:t>There are other component/CSS libraries built for React (such as Material-UI, MUI, Elemental UI, etc.) and also individual components (such as react-select, react-</a:t>
            </a:r>
            <a:r>
              <a:rPr lang="en-IN" dirty="0" err="1"/>
              <a:t>treeview</a:t>
            </a:r>
            <a:r>
              <a:rPr lang="en-IN" dirty="0"/>
              <a:t>, and react-date-picker). </a:t>
            </a:r>
          </a:p>
        </p:txBody>
      </p:sp>
    </p:spTree>
    <p:extLst>
      <p:ext uri="{BB962C8B-B14F-4D97-AF65-F5344CB8AC3E}">
        <p14:creationId xmlns:p14="http://schemas.microsoft.com/office/powerpoint/2010/main" val="3920186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697D7-9864-A6D8-C222-E454EA3CE6C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3A10F2D-5900-335B-B296-EBF7789C92B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Webpack </a:t>
            </a:r>
          </a:p>
          <a:p>
            <a:pPr lvl="1">
              <a:buFont typeface="Arial" panose="020B0604020202020204" pitchFamily="34" charset="0"/>
              <a:buChar char="•"/>
            </a:pPr>
            <a:r>
              <a:rPr lang="en-IN" b="1" dirty="0"/>
              <a:t>Webpack</a:t>
            </a:r>
            <a:r>
              <a:rPr lang="en-IN" dirty="0"/>
              <a:t> is a powerful </a:t>
            </a:r>
            <a:r>
              <a:rPr lang="en-IN" b="1" dirty="0"/>
              <a:t>module bundler</a:t>
            </a:r>
            <a:r>
              <a:rPr lang="en-IN" dirty="0"/>
              <a:t> used in modern JavaScript and React applications. </a:t>
            </a:r>
          </a:p>
          <a:p>
            <a:pPr lvl="1">
              <a:buFont typeface="Arial" panose="020B0604020202020204" pitchFamily="34" charset="0"/>
              <a:buChar char="•"/>
            </a:pPr>
            <a:r>
              <a:rPr lang="en-IN" dirty="0"/>
              <a:t>It combines multiple JavaScript files, CSS files, images, and other resources into one or more optimized bundle files that can be efficiently loaded by the browser. </a:t>
            </a:r>
          </a:p>
          <a:p>
            <a:pPr lvl="1">
              <a:buFont typeface="Arial" panose="020B0604020202020204" pitchFamily="34" charset="0"/>
              <a:buChar char="•"/>
            </a:pPr>
            <a:r>
              <a:rPr lang="en-IN" dirty="0"/>
              <a:t>Webpack also works with </a:t>
            </a:r>
            <a:r>
              <a:rPr lang="en-IN" b="1" dirty="0"/>
              <a:t>Babel</a:t>
            </a:r>
            <a:r>
              <a:rPr lang="en-IN" dirty="0"/>
              <a:t> to compile </a:t>
            </a:r>
            <a:r>
              <a:rPr lang="en-IN" b="1" dirty="0"/>
              <a:t>JSX</a:t>
            </a:r>
            <a:r>
              <a:rPr lang="en-IN" dirty="0"/>
              <a:t> code into standard JavaScript that browsers can understand. </a:t>
            </a:r>
          </a:p>
          <a:p>
            <a:pPr lvl="1">
              <a:buFont typeface="Arial" panose="020B0604020202020204" pitchFamily="34" charset="0"/>
              <a:buChar char="•"/>
            </a:pPr>
            <a:r>
              <a:rPr lang="en-IN" dirty="0"/>
              <a:t>This simplifies project management, improves performance, and makes application development more organized.</a:t>
            </a:r>
          </a:p>
        </p:txBody>
      </p:sp>
    </p:spTree>
    <p:extLst>
      <p:ext uri="{BB962C8B-B14F-4D97-AF65-F5344CB8AC3E}">
        <p14:creationId xmlns:p14="http://schemas.microsoft.com/office/powerpoint/2010/main" val="4229220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4ADAB-C1B7-E8DD-1393-E6D09C9E8A1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C1EA424-D8A7-3EE9-50A9-D5E4076170C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Other Popular Libraries </a:t>
            </a:r>
          </a:p>
          <a:p>
            <a:pPr lvl="1" algn="just">
              <a:buFont typeface="Arial" panose="020B0604020202020204" pitchFamily="34" charset="0"/>
              <a:buChar char="•"/>
            </a:pPr>
            <a:r>
              <a:rPr lang="en-IN" dirty="0"/>
              <a:t>Although we will not be using these libraries as part of this book, some that are very popular additions to the MERN stack and are used together are: </a:t>
            </a:r>
          </a:p>
          <a:p>
            <a:pPr lvl="1" algn="just">
              <a:buFont typeface="Arial" panose="020B0604020202020204" pitchFamily="34" charset="0"/>
              <a:buChar char="•"/>
            </a:pPr>
            <a:endParaRPr lang="en-IN" dirty="0"/>
          </a:p>
          <a:p>
            <a:pPr lvl="1" algn="just">
              <a:buFont typeface="Arial" panose="020B0604020202020204" pitchFamily="34" charset="0"/>
              <a:buChar char="•"/>
            </a:pPr>
            <a:r>
              <a:rPr lang="en-IN" dirty="0"/>
              <a:t>• Redux: This is a state management library that also combines the Flux programming pattern. It’s typically used in larger projects where even for a single screen, managing the state becomes complex. </a:t>
            </a:r>
          </a:p>
          <a:p>
            <a:pPr lvl="1" algn="just">
              <a:buFont typeface="Arial" panose="020B0604020202020204" pitchFamily="34" charset="0"/>
              <a:buChar char="•"/>
            </a:pPr>
            <a:endParaRPr lang="en-IN" dirty="0"/>
          </a:p>
          <a:p>
            <a:pPr lvl="1" algn="just">
              <a:buFont typeface="Arial" panose="020B0604020202020204" pitchFamily="34" charset="0"/>
              <a:buChar char="•"/>
            </a:pPr>
            <a:r>
              <a:rPr lang="en-IN" dirty="0"/>
              <a:t>• Mongoose: If you are familiar with Object Relational Mapping layers, you may find Mongoose somewhat similar. This library adds a level of abstraction over the MongoDB database layer and lets the developer see objects as such. The library also provides other useful conveniences when dealing with the MongoDB database. </a:t>
            </a:r>
          </a:p>
          <a:p>
            <a:pPr lvl="1" algn="just">
              <a:buFont typeface="Arial" panose="020B0604020202020204" pitchFamily="34" charset="0"/>
              <a:buChar char="•"/>
            </a:pPr>
            <a:endParaRPr lang="en-IN" dirty="0"/>
          </a:p>
          <a:p>
            <a:pPr lvl="1" algn="just">
              <a:buFont typeface="Arial" panose="020B0604020202020204" pitchFamily="34" charset="0"/>
              <a:buChar char="•"/>
            </a:pPr>
            <a:r>
              <a:rPr lang="en-IN" dirty="0"/>
              <a:t>• Jest: This is a testing library that can be used to test React applications easily.</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88144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B540F-793E-48C4-18F8-38D51FA7D37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846EB21-925E-EAF5-C008-0A55B7E0200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Why MERN?</a:t>
            </a:r>
          </a:p>
          <a:p>
            <a:pPr lvl="1">
              <a:buFont typeface="Arial" panose="020B0604020202020204" pitchFamily="34" charset="0"/>
              <a:buChar char="•"/>
            </a:pPr>
            <a:r>
              <a:rPr lang="en-IN" dirty="0"/>
              <a:t>The </a:t>
            </a:r>
            <a:r>
              <a:rPr lang="en-IN" b="1" dirty="0"/>
              <a:t>MERN Stack</a:t>
            </a:r>
            <a:r>
              <a:rPr lang="en-IN" dirty="0"/>
              <a:t> (MongoDB, Express.js, React, and Node.js) is one of several popular technologies used for web development. It is </a:t>
            </a:r>
            <a:r>
              <a:rPr lang="en-IN" b="1" dirty="0"/>
              <a:t>not necessarily better than other stacks</a:t>
            </a:r>
            <a:r>
              <a:rPr lang="en-IN" dirty="0"/>
              <a:t> such as </a:t>
            </a:r>
            <a:r>
              <a:rPr lang="en-IN" b="1" dirty="0"/>
              <a:t>LAMP</a:t>
            </a:r>
            <a:r>
              <a:rPr lang="en-IN" dirty="0"/>
              <a:t> or </a:t>
            </a:r>
            <a:r>
              <a:rPr lang="en-IN" b="1" dirty="0"/>
              <a:t>MEAN</a:t>
            </a:r>
            <a:r>
              <a:rPr lang="en-IN" dirty="0"/>
              <a:t>; the best choice depends on the developer's experience, project requirements, and timeline.</a:t>
            </a:r>
          </a:p>
          <a:p>
            <a:pPr lvl="1">
              <a:buFont typeface="Arial" panose="020B0604020202020204" pitchFamily="34" charset="0"/>
              <a:buChar char="•"/>
            </a:pPr>
            <a:r>
              <a:rPr lang="en-IN" dirty="0"/>
              <a:t>It is ideally suited for web applications that have a large amount of interactivity built into the front-end.</a:t>
            </a:r>
          </a:p>
          <a:p>
            <a:pPr lvl="1">
              <a:buFont typeface="Arial" panose="020B0604020202020204" pitchFamily="34" charset="0"/>
              <a:buChar char="•"/>
            </a:pPr>
            <a:r>
              <a:rPr lang="en-IN" dirty="0"/>
              <a:t>MERN is an excellent choice for building </a:t>
            </a:r>
            <a:r>
              <a:rPr lang="en-IN" b="1" dirty="0"/>
              <a:t>interactive, dynamic, and Single Page Applications (SPAs)</a:t>
            </a:r>
            <a:r>
              <a:rPr lang="en-IN" dirty="0"/>
              <a:t> because React provides efficient user interface rendering.</a:t>
            </a:r>
          </a:p>
          <a:p>
            <a:pPr lvl="1"/>
            <a:endParaRPr lang="en-IN" sz="2400" b="1" dirty="0"/>
          </a:p>
          <a:p>
            <a:pPr lvl="1"/>
            <a:r>
              <a:rPr lang="en-IN" sz="2400" b="1" dirty="0"/>
              <a:t>Key Advantages of MERN</a:t>
            </a:r>
          </a:p>
          <a:p>
            <a:pPr lvl="2"/>
            <a:r>
              <a:rPr lang="en-IN" sz="1800" dirty="0"/>
              <a:t>Uses </a:t>
            </a:r>
            <a:r>
              <a:rPr lang="en-IN" sz="1800" b="1" dirty="0"/>
              <a:t>JavaScript</a:t>
            </a:r>
            <a:r>
              <a:rPr lang="en-IN" sz="1800" dirty="0"/>
              <a:t> for both frontend and backend development. </a:t>
            </a:r>
          </a:p>
          <a:p>
            <a:pPr lvl="2"/>
            <a:r>
              <a:rPr lang="en-IN" sz="1800" dirty="0"/>
              <a:t>Ideal for highly interactive web applications. </a:t>
            </a:r>
          </a:p>
          <a:p>
            <a:pPr lvl="2"/>
            <a:r>
              <a:rPr lang="en-IN" sz="1800" dirty="0"/>
              <a:t>React provides fast UI updates using the </a:t>
            </a:r>
            <a:r>
              <a:rPr lang="en-IN" sz="1800" b="1" dirty="0"/>
              <a:t>Virtual DOM</a:t>
            </a:r>
            <a:r>
              <a:rPr lang="en-IN" sz="1800" dirty="0"/>
              <a:t>. </a:t>
            </a:r>
          </a:p>
          <a:p>
            <a:pPr lvl="2"/>
            <a:r>
              <a:rPr lang="en-IN" sz="1800" dirty="0"/>
              <a:t>MongoDB stores data in flexible JSON-like documents. </a:t>
            </a:r>
          </a:p>
          <a:p>
            <a:pPr lvl="2"/>
            <a:r>
              <a:rPr lang="en-IN" sz="1800" dirty="0"/>
              <a:t>Easy integration between all four technologies.</a:t>
            </a:r>
          </a:p>
          <a:p>
            <a:pPr lvl="1">
              <a:buFont typeface="Arial" panose="020B0604020202020204" pitchFamily="34" charset="0"/>
              <a:buChar char="•"/>
            </a:pPr>
            <a:endParaRPr lang="en-IN" dirty="0"/>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66201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5B2BB-6D21-6AFF-3670-BFF2BD844EF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3D2E2FD-414C-121F-A772-4AB4038F700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b="1" dirty="0"/>
              <a:t>Example Applications Built Using MERN</a:t>
            </a:r>
          </a:p>
          <a:p>
            <a:pPr lvl="1"/>
            <a:r>
              <a:rPr lang="en-IN" dirty="0"/>
              <a:t>Facebook-like social networking sites </a:t>
            </a:r>
          </a:p>
          <a:p>
            <a:pPr lvl="1"/>
            <a:r>
              <a:rPr lang="en-IN" dirty="0"/>
              <a:t>E-commerce websites </a:t>
            </a:r>
          </a:p>
          <a:p>
            <a:pPr lvl="1"/>
            <a:r>
              <a:rPr lang="en-IN" dirty="0"/>
              <a:t>Online Learning Management Systems (LMS) </a:t>
            </a:r>
          </a:p>
          <a:p>
            <a:pPr lvl="1"/>
            <a:r>
              <a:rPr lang="en-IN" dirty="0"/>
              <a:t>Hospital Management Systems </a:t>
            </a:r>
          </a:p>
          <a:p>
            <a:pPr lvl="1"/>
            <a:r>
              <a:rPr lang="en-IN" dirty="0"/>
              <a:t>Banking and Finance Applications </a:t>
            </a:r>
          </a:p>
          <a:p>
            <a:pPr lvl="1"/>
            <a:r>
              <a:rPr lang="en-IN" dirty="0"/>
              <a:t>Real-time Chat Applications </a:t>
            </a:r>
          </a:p>
          <a:p>
            <a:pPr lvl="1"/>
            <a:r>
              <a:rPr lang="en-IN" dirty="0"/>
              <a:t>Online Food Ordering Systems</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260768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7EE6F-2812-EA8A-2510-DA700AA264F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FAB386A-0F25-7983-C8BF-2F14AC8CC63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1. JavaScript Everywhere</a:t>
            </a:r>
          </a:p>
          <a:p>
            <a:pPr lvl="1">
              <a:buFont typeface="Arial" panose="020B0604020202020204" pitchFamily="34" charset="0"/>
              <a:buChar char="•"/>
            </a:pPr>
            <a:r>
              <a:rPr lang="en-IN" dirty="0"/>
              <a:t>One of the biggest advantages of the </a:t>
            </a:r>
            <a:r>
              <a:rPr lang="en-IN" b="1" dirty="0"/>
              <a:t>MERN Stack</a:t>
            </a:r>
            <a:r>
              <a:rPr lang="en-IN" dirty="0"/>
              <a:t> is that it uses </a:t>
            </a:r>
            <a:r>
              <a:rPr lang="en-IN" b="1" dirty="0"/>
              <a:t>JavaScript throughout the entire application</a:t>
            </a:r>
            <a:r>
              <a:rPr lang="en-IN" dirty="0"/>
              <a:t>, including the frontend (React), backend (Node.js and Express), and database operations (MongoDB). </a:t>
            </a:r>
          </a:p>
          <a:p>
            <a:pPr lvl="1">
              <a:buFont typeface="Arial" panose="020B0604020202020204" pitchFamily="34" charset="0"/>
              <a:buChar char="•"/>
            </a:pPr>
            <a:endParaRPr lang="en-IN" dirty="0"/>
          </a:p>
          <a:p>
            <a:pPr lvl="1">
              <a:buFont typeface="Arial" panose="020B0604020202020204" pitchFamily="34" charset="0"/>
              <a:buChar char="•"/>
            </a:pPr>
            <a:r>
              <a:rPr lang="en-IN" dirty="0"/>
              <a:t>Developers only need to learn one programming language, making development easier and more efficient. </a:t>
            </a:r>
          </a:p>
          <a:p>
            <a:pPr lvl="1">
              <a:buFont typeface="Arial" panose="020B0604020202020204" pitchFamily="34" charset="0"/>
              <a:buChar char="•"/>
            </a:pPr>
            <a:endParaRPr lang="en-IN" dirty="0"/>
          </a:p>
          <a:p>
            <a:pPr lvl="1">
              <a:buFont typeface="Arial" panose="020B0604020202020204" pitchFamily="34" charset="0"/>
              <a:buChar char="•"/>
            </a:pPr>
            <a:r>
              <a:rPr lang="en-IN" dirty="0"/>
              <a:t>Unlike other web technologies, React generates user interfaces using JavaScript instead of a separate template language, allowing developers to use the full capabilities of JavaScript. </a:t>
            </a:r>
          </a:p>
          <a:p>
            <a:pPr lvl="1">
              <a:buFont typeface="Arial" panose="020B0604020202020204" pitchFamily="34" charset="0"/>
              <a:buChar char="•"/>
            </a:pPr>
            <a:endParaRPr lang="en-IN" dirty="0"/>
          </a:p>
          <a:p>
            <a:pPr lvl="1">
              <a:buFont typeface="Arial" panose="020B0604020202020204" pitchFamily="34" charset="0"/>
              <a:buChar char="•"/>
            </a:pPr>
            <a:r>
              <a:rPr lang="en-IN" dirty="0"/>
              <a:t>Using a single language across all layers also enables code sharing, such as validation and business logic, between the client and the server, reducing code duplication and improving application consistency.</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50593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A88AB-204D-2956-7FF9-44D23F25A23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BE6D937-2B9B-173F-B637-512CF211E14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2. JSON Everywhere</a:t>
            </a:r>
          </a:p>
          <a:p>
            <a:pPr lvl="1">
              <a:buFont typeface="Arial" panose="020B0604020202020204" pitchFamily="34" charset="0"/>
              <a:buChar char="•"/>
            </a:pPr>
            <a:r>
              <a:rPr lang="en-IN" dirty="0"/>
              <a:t>One of the major advantages of the </a:t>
            </a:r>
            <a:r>
              <a:rPr lang="en-IN" b="1" dirty="0"/>
              <a:t>MERN Stack</a:t>
            </a:r>
            <a:r>
              <a:rPr lang="en-IN" dirty="0"/>
              <a:t> is that </a:t>
            </a:r>
            <a:r>
              <a:rPr lang="en-IN" b="1" dirty="0"/>
              <a:t>JSON (JavaScript Object Notation)</a:t>
            </a:r>
            <a:r>
              <a:rPr lang="en-IN" dirty="0"/>
              <a:t> is used throughout the application. </a:t>
            </a:r>
          </a:p>
          <a:p>
            <a:pPr lvl="1">
              <a:buFont typeface="Arial" panose="020B0604020202020204" pitchFamily="34" charset="0"/>
              <a:buChar char="•"/>
            </a:pPr>
            <a:r>
              <a:rPr lang="en-IN" dirty="0"/>
              <a:t>Data is stored in </a:t>
            </a:r>
            <a:r>
              <a:rPr lang="en-IN" b="1" dirty="0"/>
              <a:t>MongoDB</a:t>
            </a:r>
            <a:r>
              <a:rPr lang="en-IN" dirty="0"/>
              <a:t> as BSON (Binary JSON), processed in </a:t>
            </a:r>
            <a:r>
              <a:rPr lang="en-IN" b="1" dirty="0"/>
              <a:t>Node.js/Express</a:t>
            </a:r>
            <a:r>
              <a:rPr lang="en-IN" dirty="0"/>
              <a:t> as JavaScript objects, transferred between the server and client in JSON format, and used directly in </a:t>
            </a:r>
            <a:r>
              <a:rPr lang="en-IN" b="1" dirty="0"/>
              <a:t>React</a:t>
            </a:r>
            <a:r>
              <a:rPr lang="en-IN" dirty="0"/>
              <a:t>. </a:t>
            </a:r>
          </a:p>
          <a:p>
            <a:pPr lvl="1">
              <a:buFont typeface="Arial" panose="020B0604020202020204" pitchFamily="34" charset="0"/>
              <a:buChar char="•"/>
            </a:pPr>
            <a:r>
              <a:rPr lang="en-IN" dirty="0"/>
              <a:t>This eliminates the need for complex data transformations, Object Relational Mapping (ORM), and serialization/deserialization code. </a:t>
            </a:r>
          </a:p>
          <a:p>
            <a:pPr lvl="1">
              <a:buFont typeface="Arial" panose="020B0604020202020204" pitchFamily="34" charset="0"/>
              <a:buChar char="•"/>
            </a:pPr>
            <a:r>
              <a:rPr lang="en-IN" dirty="0"/>
              <a:t>As a result, developers can work with the same data format across all layers of the application, making development simpler, faster, and more efficient.</a:t>
            </a:r>
          </a:p>
          <a:p>
            <a:pPr marL="201168" lvl="1" indent="0">
              <a:buNone/>
            </a:pPr>
            <a:endParaRPr lang="en-IN" dirty="0"/>
          </a:p>
          <a:p>
            <a:pPr marL="201168" lvl="1" indent="0">
              <a:buNone/>
            </a:pPr>
            <a:r>
              <a:rPr lang="en-IN" b="1" dirty="0"/>
              <a:t>Example :</a:t>
            </a:r>
          </a:p>
          <a:p>
            <a:pPr marL="201168" lvl="1" indent="0">
              <a:buNone/>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16BFC5B2-B971-4606-B170-E0391D1D858E}"/>
              </a:ext>
            </a:extLst>
          </p:cNvPr>
          <p:cNvPicPr>
            <a:picLocks noChangeAspect="1"/>
          </p:cNvPicPr>
          <p:nvPr/>
        </p:nvPicPr>
        <p:blipFill>
          <a:blip r:embed="rId2"/>
          <a:stretch>
            <a:fillRect/>
          </a:stretch>
        </p:blipFill>
        <p:spPr>
          <a:xfrm>
            <a:off x="762152" y="3923103"/>
            <a:ext cx="2110923" cy="1813717"/>
          </a:xfrm>
          <a:prstGeom prst="rect">
            <a:avLst/>
          </a:prstGeom>
        </p:spPr>
      </p:pic>
      <p:pic>
        <p:nvPicPr>
          <p:cNvPr id="5" name="Picture 4">
            <a:extLst>
              <a:ext uri="{FF2B5EF4-FFF2-40B4-BE49-F238E27FC236}">
                <a16:creationId xmlns:a16="http://schemas.microsoft.com/office/drawing/2014/main" id="{731ADA34-64CF-DBEE-7F04-DD9FBF64793A}"/>
              </a:ext>
            </a:extLst>
          </p:cNvPr>
          <p:cNvPicPr>
            <a:picLocks noChangeAspect="1"/>
          </p:cNvPicPr>
          <p:nvPr/>
        </p:nvPicPr>
        <p:blipFill>
          <a:blip r:embed="rId3"/>
          <a:stretch>
            <a:fillRect/>
          </a:stretch>
        </p:blipFill>
        <p:spPr>
          <a:xfrm>
            <a:off x="3850008" y="3831655"/>
            <a:ext cx="1958510" cy="1905165"/>
          </a:xfrm>
          <a:prstGeom prst="rect">
            <a:avLst/>
          </a:prstGeom>
        </p:spPr>
      </p:pic>
      <p:pic>
        <p:nvPicPr>
          <p:cNvPr id="8" name="Picture 7">
            <a:extLst>
              <a:ext uri="{FF2B5EF4-FFF2-40B4-BE49-F238E27FC236}">
                <a16:creationId xmlns:a16="http://schemas.microsoft.com/office/drawing/2014/main" id="{BE5E8C91-D578-B6F1-58B2-6BDC0D96B12C}"/>
              </a:ext>
            </a:extLst>
          </p:cNvPr>
          <p:cNvPicPr>
            <a:picLocks noChangeAspect="1"/>
          </p:cNvPicPr>
          <p:nvPr/>
        </p:nvPicPr>
        <p:blipFill>
          <a:blip r:embed="rId4"/>
          <a:stretch>
            <a:fillRect/>
          </a:stretch>
        </p:blipFill>
        <p:spPr>
          <a:xfrm>
            <a:off x="6785451" y="3842637"/>
            <a:ext cx="2690093" cy="1546994"/>
          </a:xfrm>
          <a:prstGeom prst="rect">
            <a:avLst/>
          </a:prstGeom>
        </p:spPr>
      </p:pic>
    </p:spTree>
    <p:extLst>
      <p:ext uri="{BB962C8B-B14F-4D97-AF65-F5344CB8AC3E}">
        <p14:creationId xmlns:p14="http://schemas.microsoft.com/office/powerpoint/2010/main" val="2225893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2F7BF-965D-9BA0-AA50-4769E1E8BDC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42D2492-E419-8BB1-9303-E8419C749CE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3. Node.js Performance</a:t>
            </a:r>
          </a:p>
          <a:p>
            <a:pPr lvl="1" algn="just">
              <a:buFont typeface="Arial" panose="020B0604020202020204" pitchFamily="34" charset="0"/>
              <a:buChar char="•"/>
            </a:pPr>
            <a:r>
              <a:rPr lang="en-IN" dirty="0"/>
              <a:t>Due to its event-driven architecture and non-blocking I/O, the claim is that Node.js is very fast and a resilient web server. </a:t>
            </a:r>
          </a:p>
          <a:p>
            <a:pPr lvl="1" algn="just">
              <a:buFont typeface="Arial" panose="020B0604020202020204" pitchFamily="34" charset="0"/>
              <a:buChar char="•"/>
            </a:pPr>
            <a:r>
              <a:rPr lang="en-IN" dirty="0"/>
              <a:t>when your application starts scaling and receiving a lot of traffic, this will play an important role in cutting costs and savings in terms of time spent in trouble-shooting server CPU and I/O problems.</a:t>
            </a:r>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a:buFont typeface="Arial" panose="020B0604020202020204" pitchFamily="34" charset="0"/>
              <a:buChar char="•"/>
            </a:pPr>
            <a:r>
              <a:rPr lang="en-IN" dirty="0"/>
              <a:t>4. The </a:t>
            </a:r>
            <a:r>
              <a:rPr lang="en-IN" dirty="0" err="1"/>
              <a:t>npm</a:t>
            </a:r>
            <a:r>
              <a:rPr lang="en-IN" dirty="0"/>
              <a:t> ecosystem</a:t>
            </a:r>
          </a:p>
          <a:p>
            <a:pPr lvl="1" algn="just">
              <a:buFont typeface="Arial" panose="020B0604020202020204" pitchFamily="34" charset="0"/>
              <a:buChar char="•"/>
            </a:pPr>
            <a:r>
              <a:rPr lang="en-IN" dirty="0"/>
              <a:t>The </a:t>
            </a:r>
            <a:r>
              <a:rPr lang="en-IN" b="1" dirty="0" err="1"/>
              <a:t>npm</a:t>
            </a:r>
            <a:r>
              <a:rPr lang="en-IN" b="1" dirty="0"/>
              <a:t> (Node Package Manager) ecosystem</a:t>
            </a:r>
            <a:r>
              <a:rPr lang="en-IN" dirty="0"/>
              <a:t> is one of the largest collections of open-source JavaScript packages available for developers. </a:t>
            </a:r>
          </a:p>
          <a:p>
            <a:pPr lvl="1" algn="just">
              <a:buFont typeface="Arial" panose="020B0604020202020204" pitchFamily="34" charset="0"/>
              <a:buChar char="•"/>
            </a:pPr>
            <a:r>
              <a:rPr lang="en-IN" dirty="0"/>
              <a:t>It provides thousands of reusable libraries and tools that simplify application development and reduce the need to write code from scratch. </a:t>
            </a:r>
          </a:p>
          <a:p>
            <a:pPr lvl="1" algn="just">
              <a:buFont typeface="Arial" panose="020B0604020202020204" pitchFamily="34" charset="0"/>
              <a:buChar char="•"/>
            </a:pPr>
            <a:r>
              <a:rPr lang="en-IN" dirty="0"/>
              <a:t>If a required package does not exactly meet the developer's needs, it can be modified (forked) and customized. </a:t>
            </a:r>
          </a:p>
          <a:p>
            <a:pPr lvl="1" algn="just">
              <a:buFont typeface="Arial" panose="020B0604020202020204" pitchFamily="34" charset="0"/>
              <a:buChar char="•"/>
            </a:pPr>
            <a:r>
              <a:rPr lang="en-IN" dirty="0"/>
              <a:t>Because JavaScript packages are generally small and lightweight, </a:t>
            </a:r>
            <a:r>
              <a:rPr lang="en-IN" dirty="0" err="1"/>
              <a:t>npm</a:t>
            </a:r>
            <a:r>
              <a:rPr lang="en-IN" dirty="0"/>
              <a:t> offers fast installation, easy dependency management, and efficient project development.</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731898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A0BC9-5771-69DE-7FC3-586030813FE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0BB00A2-9EC5-16FC-7891-555096ECBA1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5. Isomorphic</a:t>
            </a:r>
          </a:p>
          <a:p>
            <a:pPr lvl="1" algn="just">
              <a:buFont typeface="Arial" panose="020B0604020202020204" pitchFamily="34" charset="0"/>
              <a:buChar char="•"/>
            </a:pPr>
            <a:r>
              <a:rPr lang="en-IN" dirty="0"/>
              <a:t>With the MERN stack, serving complete pages out of the server is natural and doesn’t require tools that are after-thoughts. </a:t>
            </a:r>
          </a:p>
          <a:p>
            <a:pPr lvl="1" algn="just">
              <a:buFont typeface="Arial" panose="020B0604020202020204" pitchFamily="34" charset="0"/>
              <a:buChar char="•"/>
            </a:pPr>
            <a:r>
              <a:rPr lang="en-IN" dirty="0"/>
              <a:t>This is possible because React runs on JavaScript, which is the same on the client or the server. </a:t>
            </a:r>
          </a:p>
          <a:p>
            <a:pPr lvl="1" algn="just">
              <a:buFont typeface="Arial" panose="020B0604020202020204" pitchFamily="34" charset="0"/>
              <a:buChar char="•"/>
            </a:pPr>
            <a:r>
              <a:rPr lang="en-IN" dirty="0"/>
              <a:t>When React-based code runs on the browser, it gets data from the server and constructs the page (DOM) in the browser. This is the SPA way of rendering the UI. </a:t>
            </a:r>
          </a:p>
          <a:p>
            <a:pPr lvl="1" algn="just">
              <a:buFont typeface="Arial" panose="020B0604020202020204" pitchFamily="34" charset="0"/>
              <a:buChar char="•"/>
            </a:pPr>
            <a:r>
              <a:rPr lang="en-IN" dirty="0"/>
              <a:t>If we wanted to generate the same page in the server for search engine bots, the same React-based code can be used to get the data from an API server and construct the page (this time, as an HTML) and stream that back to the client. This is called server-side rendering (SSR).</a:t>
            </a:r>
          </a:p>
          <a:p>
            <a:pPr lvl="1" algn="just">
              <a:buFont typeface="Arial" panose="020B0604020202020204" pitchFamily="34" charset="0"/>
              <a:buChar char="•"/>
            </a:pPr>
            <a:r>
              <a:rPr lang="en-IN" dirty="0"/>
              <a:t>What makes this possible is the fact that the same language is used to run the UI construction code in the server and the browser: JavaScript. This is what is meant by the term </a:t>
            </a:r>
            <a:r>
              <a:rPr lang="en-IN" dirty="0">
                <a:solidFill>
                  <a:srgbClr val="FF0000"/>
                </a:solidFill>
              </a:rPr>
              <a:t>isomorphic</a:t>
            </a:r>
            <a:r>
              <a:rPr lang="en-IN" dirty="0"/>
              <a:t>.</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5B102F5B-42F2-81F5-CCCC-81D3F2A429F7}"/>
              </a:ext>
            </a:extLst>
          </p:cNvPr>
          <p:cNvPicPr>
            <a:picLocks noChangeAspect="1"/>
          </p:cNvPicPr>
          <p:nvPr/>
        </p:nvPicPr>
        <p:blipFill>
          <a:blip r:embed="rId2"/>
          <a:stretch>
            <a:fillRect/>
          </a:stretch>
        </p:blipFill>
        <p:spPr>
          <a:xfrm>
            <a:off x="2631516" y="3816601"/>
            <a:ext cx="6576630" cy="2530059"/>
          </a:xfrm>
          <a:prstGeom prst="rect">
            <a:avLst/>
          </a:prstGeom>
        </p:spPr>
      </p:pic>
    </p:spTree>
    <p:extLst>
      <p:ext uri="{BB962C8B-B14F-4D97-AF65-F5344CB8AC3E}">
        <p14:creationId xmlns:p14="http://schemas.microsoft.com/office/powerpoint/2010/main" val="2272237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A01A5-3480-E24A-325A-72AA8C14775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F655554-8F9A-2790-4A57-8AEBE8EA05F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It’s Not a Framework!</a:t>
            </a:r>
          </a:p>
          <a:p>
            <a:pPr lvl="1">
              <a:buFont typeface="Arial" panose="020B0604020202020204" pitchFamily="34" charset="0"/>
              <a:buChar char="•"/>
            </a:pPr>
            <a:r>
              <a:rPr lang="en-IN" dirty="0"/>
              <a:t>React is a </a:t>
            </a:r>
            <a:r>
              <a:rPr lang="en-IN" b="1" dirty="0"/>
              <a:t>JavaScript library</a:t>
            </a:r>
            <a:r>
              <a:rPr lang="en-IN" dirty="0"/>
              <a:t> for building user interfaces rather than a complete framework. </a:t>
            </a:r>
          </a:p>
          <a:p>
            <a:pPr lvl="1">
              <a:buFont typeface="Arial" panose="020B0604020202020204" pitchFamily="34" charset="0"/>
              <a:buChar char="•"/>
            </a:pPr>
            <a:r>
              <a:rPr lang="en-IN" dirty="0"/>
              <a:t>Unlike frameworks, which enforce a fixed structure and way of developing applications, React gives developers the flexibility to choose the tools and architecture that best suit their project. </a:t>
            </a:r>
          </a:p>
          <a:p>
            <a:pPr lvl="1">
              <a:buFont typeface="Arial" panose="020B0604020202020204" pitchFamily="34" charset="0"/>
              <a:buChar char="•"/>
            </a:pPr>
            <a:r>
              <a:rPr lang="en-IN" dirty="0"/>
              <a:t>This makes React easier to customize and integrate with other libraries as application requirements evolve. </a:t>
            </a:r>
          </a:p>
          <a:p>
            <a:pPr lvl="1">
              <a:buFont typeface="Arial" panose="020B0604020202020204" pitchFamily="34" charset="0"/>
              <a:buChar char="•"/>
            </a:pPr>
            <a:r>
              <a:rPr lang="en-IN" dirty="0"/>
              <a:t>Although frameworks can speed up initial development, </a:t>
            </a:r>
            <a:r>
              <a:rPr lang="en-IN" dirty="0" err="1"/>
              <a:t>React's</a:t>
            </a:r>
            <a:r>
              <a:rPr lang="en-IN" dirty="0"/>
              <a:t> library-based approach offers greater control, flexibility, and scalability, making it ideal for building modern and complex web applications.</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41171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DD4E3-B18B-F076-5200-BBA4825CAA8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ACBC3AF-5B73-A986-E12E-2A62DF2F2BD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IN" sz="3200" b="1" dirty="0"/>
              <a:t>                                           Simple program</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732039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883C9-704E-F038-191D-6B6F3A998C1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98532E1-4923-65A1-BB5D-DB89B1DC65E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 </a:t>
            </a:r>
            <a:r>
              <a:rPr lang="en-IN" sz="2000" dirty="0"/>
              <a:t>Serverless Hello World</a:t>
            </a:r>
          </a:p>
          <a:p>
            <a:pPr lvl="1">
              <a:buFont typeface="Arial" panose="020B0604020202020204" pitchFamily="34" charset="0"/>
              <a:buChar char="•"/>
            </a:pPr>
            <a:r>
              <a:rPr lang="en-IN" sz="1800" dirty="0"/>
              <a:t> A simple piece of code in a single HTML file that uses React to display a simple page in the browser. </a:t>
            </a:r>
          </a:p>
          <a:p>
            <a:pPr lvl="1">
              <a:buFont typeface="Arial" panose="020B0604020202020204" pitchFamily="34" charset="0"/>
              <a:buChar char="•"/>
            </a:pPr>
            <a:r>
              <a:rPr lang="en-IN" sz="1800" dirty="0"/>
              <a:t>No installations, downloads, or server! </a:t>
            </a:r>
          </a:p>
          <a:p>
            <a:pPr lvl="1">
              <a:buFont typeface="Arial" panose="020B0604020202020204" pitchFamily="34" charset="0"/>
              <a:buChar char="•"/>
            </a:pPr>
            <a:r>
              <a:rPr lang="en-US" sz="1800" dirty="0"/>
              <a:t>Include HTML tags such as &lt;html&gt;, &lt;head&gt;, and &lt;body&gt;. Then, include the React library.</a:t>
            </a:r>
          </a:p>
          <a:p>
            <a:pPr lvl="1">
              <a:buFont typeface="Arial" panose="020B0604020202020204" pitchFamily="34" charset="0"/>
              <a:buChar char="•"/>
            </a:pPr>
            <a:r>
              <a:rPr lang="en-IN" sz="1800" dirty="0"/>
              <a:t> The React library is available as a JavaScript file that we can include in the HTML file using the &lt;script&gt; tag.</a:t>
            </a:r>
          </a:p>
          <a:p>
            <a:pPr lvl="2">
              <a:buFont typeface="Arial" panose="020B0604020202020204" pitchFamily="34" charset="0"/>
              <a:buChar char="•"/>
            </a:pPr>
            <a:r>
              <a:rPr lang="en-IN" sz="1600" dirty="0"/>
              <a:t>It comes in two parts: </a:t>
            </a:r>
          </a:p>
          <a:p>
            <a:pPr lvl="2">
              <a:buFont typeface="Arial" panose="020B0604020202020204" pitchFamily="34" charset="0"/>
              <a:buChar char="•"/>
            </a:pPr>
            <a:r>
              <a:rPr lang="en-IN" sz="1600" dirty="0"/>
              <a:t>The first is the React core module, the one that is responsible for dealing with React components, their state manipulation, etc. </a:t>
            </a:r>
          </a:p>
          <a:p>
            <a:pPr lvl="2">
              <a:buFont typeface="Arial" panose="020B0604020202020204" pitchFamily="34" charset="0"/>
              <a:buChar char="•"/>
            </a:pPr>
            <a:r>
              <a:rPr lang="en-IN" sz="1600" dirty="0"/>
              <a:t>The second is the </a:t>
            </a:r>
            <a:r>
              <a:rPr lang="en-IN" sz="1600" dirty="0" err="1"/>
              <a:t>ReactDOM</a:t>
            </a:r>
            <a:r>
              <a:rPr lang="en-IN" sz="1600" dirty="0"/>
              <a:t> module, which deals with converting React components to a DOM that a browser can understand</a:t>
            </a:r>
            <a:r>
              <a:rPr lang="en-IN" sz="1400" dirty="0"/>
              <a:t>.</a:t>
            </a:r>
          </a:p>
          <a:p>
            <a:pPr lvl="1">
              <a:buFont typeface="Arial" panose="020B0604020202020204" pitchFamily="34" charset="0"/>
              <a:buChar char="•"/>
            </a:pPr>
            <a:endParaRPr lang="en-IN" dirty="0"/>
          </a:p>
          <a:p>
            <a:pPr lvl="1">
              <a:buFont typeface="Arial" panose="020B0604020202020204" pitchFamily="34" charset="0"/>
              <a:buChar char="•"/>
            </a:pPr>
            <a:r>
              <a:rPr lang="en-IN" dirty="0"/>
              <a:t>These two libraries can be found in </a:t>
            </a:r>
            <a:r>
              <a:rPr lang="en-IN" dirty="0" err="1">
                <a:solidFill>
                  <a:srgbClr val="FF0000"/>
                </a:solidFill>
              </a:rPr>
              <a:t>unpkg</a:t>
            </a:r>
            <a:r>
              <a:rPr lang="en-IN" dirty="0"/>
              <a:t>, a Content Delivery Network (CDN) that makes all open-source JavaScript libraries available online. </a:t>
            </a:r>
          </a:p>
          <a:p>
            <a:pPr lvl="1">
              <a:buFont typeface="Arial" panose="020B0604020202020204" pitchFamily="34" charset="0"/>
              <a:buChar char="•"/>
            </a:pPr>
            <a:r>
              <a:rPr lang="en-US" dirty="0"/>
              <a:t>•	React: </a:t>
            </a:r>
            <a:r>
              <a:rPr lang="en-US" dirty="0">
                <a:solidFill>
                  <a:srgbClr val="00B050"/>
                </a:solidFill>
              </a:rPr>
              <a:t>https://unpkg.com/react@16/umd/react.development.js</a:t>
            </a:r>
          </a:p>
          <a:p>
            <a:pPr lvl="1">
              <a:buFont typeface="Arial" panose="020B0604020202020204" pitchFamily="34" charset="0"/>
              <a:buChar char="•"/>
            </a:pPr>
            <a:r>
              <a:rPr lang="en-US" dirty="0"/>
              <a:t>•	</a:t>
            </a:r>
            <a:r>
              <a:rPr lang="en-US" dirty="0" err="1"/>
              <a:t>ReactDOM</a:t>
            </a:r>
            <a:r>
              <a:rPr lang="en-US" dirty="0"/>
              <a:t>: </a:t>
            </a:r>
            <a:r>
              <a:rPr lang="en-US" dirty="0">
                <a:solidFill>
                  <a:srgbClr val="00B050"/>
                </a:solidFill>
              </a:rPr>
              <a:t>https://unpkg.com/react-dom@16/umd/react-dom.development.js</a:t>
            </a:r>
            <a:endParaRPr lang="en-IN" dirty="0">
              <a:solidFill>
                <a:srgbClr val="00B050"/>
              </a:solidFill>
            </a:endParaRPr>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284166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5F2B5-4FAC-24CC-27D6-457BBA64D75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90704A1-CB26-39E6-D320-CFBF2FEFA72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Next, within the body, let’s create a that will eventually hold any React elements that we will create. This can be an empty, but it needs an ID, say, content, to identify and get a handle in the JavaScript code.</a:t>
            </a:r>
          </a:p>
          <a:p>
            <a:pPr lvl="1">
              <a:buFont typeface="Arial" panose="020B0604020202020204" pitchFamily="34" charset="0"/>
              <a:buChar char="•"/>
            </a:pPr>
            <a:r>
              <a:rPr lang="en-IN" dirty="0">
                <a:solidFill>
                  <a:srgbClr val="FF0000"/>
                </a:solidFill>
              </a:rPr>
              <a:t>&lt;div id="content"&gt;&lt;/div&gt;</a:t>
            </a:r>
          </a:p>
          <a:p>
            <a:pPr>
              <a:buFont typeface="Arial" panose="020B0604020202020204" pitchFamily="34" charset="0"/>
              <a:buChar char="•"/>
            </a:pPr>
            <a:r>
              <a:rPr lang="en-IN" dirty="0"/>
              <a:t>To create the React element, the </a:t>
            </a:r>
            <a:r>
              <a:rPr lang="en-IN" dirty="0" err="1">
                <a:solidFill>
                  <a:srgbClr val="FF0000"/>
                </a:solidFill>
              </a:rPr>
              <a:t>createElement</a:t>
            </a:r>
            <a:r>
              <a:rPr lang="en-IN" dirty="0">
                <a:solidFill>
                  <a:srgbClr val="FF0000"/>
                </a:solidFill>
              </a:rPr>
              <a:t>() </a:t>
            </a:r>
            <a:r>
              <a:rPr lang="en-IN" dirty="0"/>
              <a:t>function of the React module needs to be called. The function takes up to three arguments and its prototype is as follows:</a:t>
            </a:r>
          </a:p>
          <a:p>
            <a:pPr lvl="1">
              <a:buFont typeface="Arial" panose="020B0604020202020204" pitchFamily="34" charset="0"/>
              <a:buChar char="•"/>
            </a:pPr>
            <a:r>
              <a:rPr lang="en-IN" dirty="0" err="1">
                <a:solidFill>
                  <a:srgbClr val="FF0000"/>
                </a:solidFill>
              </a:rPr>
              <a:t>React.createElement</a:t>
            </a:r>
            <a:r>
              <a:rPr lang="en-IN" dirty="0">
                <a:solidFill>
                  <a:srgbClr val="FF0000"/>
                </a:solidFill>
              </a:rPr>
              <a:t>(type, [props], [...children])</a:t>
            </a:r>
          </a:p>
          <a:p>
            <a:pPr lvl="1">
              <a:buFont typeface="Arial" panose="020B0604020202020204" pitchFamily="34" charset="0"/>
              <a:buChar char="•"/>
            </a:pPr>
            <a:endParaRPr lang="en-IN" dirty="0"/>
          </a:p>
          <a:p>
            <a:pPr lvl="2">
              <a:buFont typeface="Arial" panose="020B0604020202020204" pitchFamily="34" charset="0"/>
              <a:buChar char="•"/>
            </a:pPr>
            <a:r>
              <a:rPr lang="en-IN" sz="1800" dirty="0"/>
              <a:t>The </a:t>
            </a:r>
            <a:r>
              <a:rPr lang="en-IN" sz="1800" dirty="0">
                <a:solidFill>
                  <a:srgbClr val="00B0F0"/>
                </a:solidFill>
              </a:rPr>
              <a:t>type</a:t>
            </a:r>
            <a:r>
              <a:rPr lang="en-IN" sz="1800" dirty="0"/>
              <a:t> can be any HTML tag such as the string 'div', or a React component </a:t>
            </a:r>
          </a:p>
          <a:p>
            <a:pPr lvl="2">
              <a:buFont typeface="Arial" panose="020B0604020202020204" pitchFamily="34" charset="0"/>
              <a:buChar char="•"/>
            </a:pPr>
            <a:r>
              <a:rPr lang="en-IN" sz="1800" dirty="0">
                <a:solidFill>
                  <a:srgbClr val="00B0F0"/>
                </a:solidFill>
              </a:rPr>
              <a:t>props</a:t>
            </a:r>
            <a:r>
              <a:rPr lang="en-IN" sz="1800" dirty="0"/>
              <a:t> is an object containing HTML attributes or custom component properties.</a:t>
            </a:r>
          </a:p>
          <a:p>
            <a:pPr lvl="2">
              <a:buFont typeface="Arial" panose="020B0604020202020204" pitchFamily="34" charset="0"/>
              <a:buChar char="•"/>
            </a:pPr>
            <a:r>
              <a:rPr lang="en-IN" sz="1800" dirty="0"/>
              <a:t>The last parameter(s) is zero or more </a:t>
            </a:r>
            <a:r>
              <a:rPr lang="en-IN" sz="1800" dirty="0">
                <a:solidFill>
                  <a:srgbClr val="00B0F0"/>
                </a:solidFill>
              </a:rPr>
              <a:t>children</a:t>
            </a:r>
            <a:r>
              <a:rPr lang="en-IN" sz="1800" dirty="0"/>
              <a:t> </a:t>
            </a:r>
            <a:r>
              <a:rPr lang="en-IN" sz="1800" dirty="0">
                <a:solidFill>
                  <a:srgbClr val="00B0F0"/>
                </a:solidFill>
              </a:rPr>
              <a:t>elements</a:t>
            </a:r>
            <a:r>
              <a:rPr lang="en-IN" sz="1800" dirty="0"/>
              <a:t>, which again are created using the </a:t>
            </a:r>
            <a:r>
              <a:rPr lang="en-IN" sz="1800" dirty="0" err="1"/>
              <a:t>createElement</a:t>
            </a:r>
            <a:r>
              <a:rPr lang="en-IN" sz="1800" dirty="0"/>
              <a:t>() function itself.</a:t>
            </a:r>
          </a:p>
          <a:p>
            <a:r>
              <a:rPr lang="en-US" dirty="0"/>
              <a:t>A &lt;div&gt; with a title attribute (just to show how attributes work) that contains a heading with the words “Hello World!” Here is the JavaScript code snippet for creating our first React element, which will go inside a &lt;script&gt; tag within the body.</a:t>
            </a:r>
          </a:p>
          <a:p>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816108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C13C7-7AD8-3E2F-E5D2-C090BC9B496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1B5079F-EBD4-2EF9-9D11-5E51C2C3AB81}"/>
              </a:ext>
            </a:extLst>
          </p:cNvPr>
          <p:cNvSpPr txBox="1">
            <a:spLocks/>
          </p:cNvSpPr>
          <p:nvPr/>
        </p:nvSpPr>
        <p:spPr>
          <a:xfrm>
            <a:off x="360727" y="343949"/>
            <a:ext cx="11442583" cy="6048462"/>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400" dirty="0"/>
              <a:t>...</a:t>
            </a:r>
          </a:p>
          <a:p>
            <a:pPr lvl="1">
              <a:buFont typeface="Arial" panose="020B0604020202020204" pitchFamily="34" charset="0"/>
              <a:buChar char="•"/>
            </a:pPr>
            <a:r>
              <a:rPr lang="en-IN" sz="1400" dirty="0" err="1"/>
              <a:t>const</a:t>
            </a:r>
            <a:r>
              <a:rPr lang="en-IN" sz="1400" dirty="0"/>
              <a:t> element = </a:t>
            </a:r>
            <a:r>
              <a:rPr lang="en-IN" sz="1400" dirty="0" err="1"/>
              <a:t>React.createElement</a:t>
            </a:r>
            <a:r>
              <a:rPr lang="en-IN" sz="1400" dirty="0"/>
              <a:t>('div', {title: 'Outer div'},</a:t>
            </a:r>
          </a:p>
          <a:p>
            <a:pPr lvl="1">
              <a:buFont typeface="Arial" panose="020B0604020202020204" pitchFamily="34" charset="0"/>
              <a:buChar char="•"/>
            </a:pPr>
            <a:r>
              <a:rPr lang="en-IN" sz="1400" dirty="0" err="1"/>
              <a:t>React.createElement</a:t>
            </a:r>
            <a:r>
              <a:rPr lang="en-IN" sz="1400" dirty="0"/>
              <a:t>('h1', null, 'Hello World!’)</a:t>
            </a:r>
          </a:p>
          <a:p>
            <a:pPr lvl="1">
              <a:buFont typeface="Arial" panose="020B0604020202020204" pitchFamily="34" charset="0"/>
              <a:buChar char="•"/>
            </a:pPr>
            <a:r>
              <a:rPr lang="en-IN" sz="1400" dirty="0"/>
              <a:t>);</a:t>
            </a:r>
          </a:p>
          <a:p>
            <a:pPr lvl="1">
              <a:buFont typeface="Arial" panose="020B0604020202020204" pitchFamily="34" charset="0"/>
              <a:buChar char="•"/>
            </a:pPr>
            <a:r>
              <a:rPr lang="en-IN" sz="1400" dirty="0"/>
              <a:t>...</a:t>
            </a:r>
          </a:p>
          <a:p>
            <a:pPr>
              <a:buFont typeface="Arial" panose="020B0604020202020204" pitchFamily="34" charset="0"/>
              <a:buChar char="•"/>
            </a:pPr>
            <a:r>
              <a:rPr lang="en-US" sz="1800" dirty="0"/>
              <a:t>A React element (the result of a </a:t>
            </a:r>
            <a:r>
              <a:rPr lang="en-US" sz="1800" dirty="0" err="1"/>
              <a:t>React.createElement</a:t>
            </a:r>
            <a:r>
              <a:rPr lang="en-US" sz="1800" dirty="0"/>
              <a:t>() call) is a JavaScript object that represents what is shown on screen. </a:t>
            </a:r>
          </a:p>
          <a:p>
            <a:pPr>
              <a:buFont typeface="Arial" panose="020B0604020202020204" pitchFamily="34" charset="0"/>
              <a:buChar char="•"/>
            </a:pPr>
            <a:r>
              <a:rPr lang="en-US" sz="1800" dirty="0"/>
              <a:t>Since it can be a nested collection of other elements and can depict everything on the entire screen, it is also called the </a:t>
            </a:r>
            <a:r>
              <a:rPr lang="en-US" sz="1800" dirty="0">
                <a:solidFill>
                  <a:srgbClr val="00B0F0"/>
                </a:solidFill>
              </a:rPr>
              <a:t>virtual DOM</a:t>
            </a:r>
            <a:r>
              <a:rPr lang="en-US" sz="1800" dirty="0"/>
              <a:t> and it is there in the </a:t>
            </a:r>
            <a:r>
              <a:rPr lang="en-US" sz="1800" dirty="0">
                <a:solidFill>
                  <a:srgbClr val="00B0F0"/>
                </a:solidFill>
              </a:rPr>
              <a:t>browser’s memory.</a:t>
            </a:r>
          </a:p>
          <a:p>
            <a:pPr>
              <a:buFont typeface="Arial" panose="020B0604020202020204" pitchFamily="34" charset="0"/>
              <a:buChar char="•"/>
            </a:pPr>
            <a:r>
              <a:rPr lang="en-IN" sz="1800" dirty="0"/>
              <a:t>It resides in the </a:t>
            </a:r>
            <a:r>
              <a:rPr lang="en-IN" sz="1800" dirty="0">
                <a:solidFill>
                  <a:srgbClr val="00B0F0"/>
                </a:solidFill>
              </a:rPr>
              <a:t>JavaScript engine’s memory </a:t>
            </a:r>
            <a:r>
              <a:rPr lang="en-IN" sz="1800" dirty="0"/>
              <a:t>as a deeply nested set of React elements, which are also JavaScript objects.</a:t>
            </a:r>
          </a:p>
          <a:p>
            <a:pPr>
              <a:buFont typeface="Arial" panose="020B0604020202020204" pitchFamily="34" charset="0"/>
              <a:buChar char="•"/>
            </a:pPr>
            <a:r>
              <a:rPr lang="en-IN" sz="1800" dirty="0"/>
              <a:t>Each of these React elements needs to be transferred to the real DOM for the user interface to be constructed on screen. </a:t>
            </a:r>
          </a:p>
          <a:p>
            <a:pPr>
              <a:buFont typeface="Arial" panose="020B0604020202020204" pitchFamily="34" charset="0"/>
              <a:buChar char="•"/>
            </a:pPr>
            <a:r>
              <a:rPr lang="en-IN" sz="1800" dirty="0"/>
              <a:t>To do this, a series of </a:t>
            </a:r>
            <a:r>
              <a:rPr lang="en-IN" sz="1800" dirty="0" err="1"/>
              <a:t>document.createElement</a:t>
            </a:r>
            <a:r>
              <a:rPr lang="en-IN" sz="1800" dirty="0"/>
              <a:t>() calls needs to be made corresponding to each of the React elements. </a:t>
            </a:r>
          </a:p>
          <a:p>
            <a:pPr>
              <a:buFont typeface="Arial" panose="020B0604020202020204" pitchFamily="34" charset="0"/>
              <a:buChar char="•"/>
            </a:pPr>
            <a:r>
              <a:rPr lang="en-IN" sz="1800" dirty="0"/>
              <a:t>The </a:t>
            </a:r>
            <a:r>
              <a:rPr lang="en-IN" sz="1800" dirty="0" err="1"/>
              <a:t>ReactDOM</a:t>
            </a:r>
            <a:r>
              <a:rPr lang="en-IN" sz="1800" dirty="0"/>
              <a:t> does this when the </a:t>
            </a:r>
            <a:r>
              <a:rPr lang="en-IN" sz="1800" dirty="0" err="1">
                <a:solidFill>
                  <a:srgbClr val="FF0000"/>
                </a:solidFill>
              </a:rPr>
              <a:t>ReactDOM.render</a:t>
            </a:r>
            <a:r>
              <a:rPr lang="en-IN" sz="1800" dirty="0">
                <a:solidFill>
                  <a:srgbClr val="FF0000"/>
                </a:solidFill>
              </a:rPr>
              <a:t>() </a:t>
            </a:r>
            <a:r>
              <a:rPr lang="en-IN" sz="1800" dirty="0"/>
              <a:t>function is called. This function takes in as arguments the element that needs to be rendered and the DOM element that it needs to be placed under.</a:t>
            </a:r>
            <a:endParaRPr lang="en-US" sz="1800" dirty="0"/>
          </a:p>
          <a:p>
            <a:pPr>
              <a:buFont typeface="Arial" panose="020B0604020202020204" pitchFamily="34" charset="0"/>
              <a:buChar char="•"/>
            </a:pPr>
            <a:endParaRPr lang="en-US"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3728651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3559F-E878-B501-829B-792E7EA1E93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759BA2-42CF-5E0B-7860-3EC7330C80F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dirty="0"/>
              <a:t>We already constructed the element that needs to be rendered using </a:t>
            </a:r>
            <a:r>
              <a:rPr lang="en-IN" dirty="0" err="1"/>
              <a:t>React.createElement</a:t>
            </a:r>
            <a:r>
              <a:rPr lang="en-IN" dirty="0"/>
              <a:t>(). As for the containing element, we have a that we created in the body, which is the target where the new element needs to be placed. </a:t>
            </a:r>
          </a:p>
          <a:p>
            <a:r>
              <a:rPr lang="en-IN" dirty="0"/>
              <a:t>We can get the parent's handle by calling </a:t>
            </a:r>
            <a:r>
              <a:rPr lang="en-IN" dirty="0" err="1">
                <a:solidFill>
                  <a:srgbClr val="FF0000"/>
                </a:solidFill>
              </a:rPr>
              <a:t>document.getElementByID</a:t>
            </a:r>
            <a:r>
              <a:rPr lang="en-IN" dirty="0">
                <a:solidFill>
                  <a:srgbClr val="FF0000"/>
                </a:solidFill>
              </a:rPr>
              <a:t>(), </a:t>
            </a:r>
            <a:r>
              <a:rPr lang="en-IN" dirty="0"/>
              <a:t>as we would have done using regular JavaScript.</a:t>
            </a:r>
          </a:p>
          <a:p>
            <a:pPr lvl="1">
              <a:buFont typeface="Arial" panose="020B0604020202020204" pitchFamily="34" charset="0"/>
              <a:buChar char="•"/>
            </a:pPr>
            <a:r>
              <a:rPr lang="en-IN" dirty="0"/>
              <a:t>... </a:t>
            </a:r>
          </a:p>
          <a:p>
            <a:pPr lvl="1">
              <a:buFont typeface="Arial" panose="020B0604020202020204" pitchFamily="34" charset="0"/>
              <a:buChar char="•"/>
            </a:pPr>
            <a:r>
              <a:rPr lang="en-IN" dirty="0" err="1"/>
              <a:t>ReactDOM.render</a:t>
            </a:r>
            <a:r>
              <a:rPr lang="en-IN" dirty="0"/>
              <a:t>(element, </a:t>
            </a:r>
            <a:r>
              <a:rPr lang="en-IN" dirty="0" err="1"/>
              <a:t>document.getElementById</a:t>
            </a:r>
            <a:r>
              <a:rPr lang="en-IN" dirty="0"/>
              <a:t>('content’));</a:t>
            </a:r>
          </a:p>
          <a:p>
            <a:pPr lvl="1">
              <a:buFont typeface="Arial" panose="020B0604020202020204" pitchFamily="34" charset="0"/>
              <a:buChar char="•"/>
            </a:pPr>
            <a:r>
              <a:rPr lang="en-IN" dirty="0"/>
              <a:t>...</a:t>
            </a: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60730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E057F-C5E8-6687-3788-55F069793DC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1F06D14-7C7B-A13B-F3F2-F0B0E50FEF6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Example to display hello world – index.html</a:t>
            </a:r>
          </a:p>
          <a:p>
            <a:pPr marL="384048" lvl="2" indent="0">
              <a:buNone/>
            </a:pPr>
            <a:r>
              <a:rPr lang="en-IN" sz="1400" dirty="0"/>
              <a:t>&lt;!DOCTYPE HTML&gt;</a:t>
            </a:r>
          </a:p>
          <a:p>
            <a:pPr marL="384048" lvl="2" indent="0">
              <a:buNone/>
            </a:pPr>
            <a:r>
              <a:rPr lang="en-IN" sz="1400" dirty="0"/>
              <a:t>&lt;html&gt;</a:t>
            </a:r>
          </a:p>
          <a:p>
            <a:pPr marL="384048" lvl="2" indent="0">
              <a:buNone/>
            </a:pPr>
            <a:r>
              <a:rPr lang="en-IN" sz="1400" dirty="0"/>
              <a:t>&lt;head&gt;</a:t>
            </a:r>
          </a:p>
          <a:p>
            <a:pPr marL="384048" lvl="2" indent="0">
              <a:buNone/>
            </a:pPr>
            <a:r>
              <a:rPr lang="en-IN" sz="1400" dirty="0"/>
              <a:t>	&lt;meta charset="utf-8"&gt;</a:t>
            </a:r>
          </a:p>
          <a:p>
            <a:pPr marL="384048" lvl="2" indent="0">
              <a:buNone/>
            </a:pPr>
            <a:r>
              <a:rPr lang="en-IN" sz="1400" dirty="0"/>
              <a:t>	&lt;title&gt;Pro MERN Stack&lt;/title&gt;</a:t>
            </a:r>
          </a:p>
          <a:p>
            <a:pPr marL="384048" lvl="2" indent="0">
              <a:buNone/>
            </a:pPr>
            <a:r>
              <a:rPr lang="en-IN" sz="1400" dirty="0"/>
              <a:t>	&lt;script </a:t>
            </a:r>
            <a:r>
              <a:rPr lang="en-IN" sz="1400" dirty="0" err="1"/>
              <a:t>src</a:t>
            </a:r>
            <a:r>
              <a:rPr lang="en-IN" sz="1400" dirty="0"/>
              <a:t>="https://unpkg.com/react@16/</a:t>
            </a:r>
            <a:r>
              <a:rPr lang="en-IN" sz="1400" dirty="0" err="1"/>
              <a:t>umd</a:t>
            </a:r>
            <a:r>
              <a:rPr lang="en-IN" sz="1400" dirty="0"/>
              <a:t>/react.development.js"&gt;&lt;/script&gt;</a:t>
            </a:r>
          </a:p>
          <a:p>
            <a:pPr marL="384048" lvl="2" indent="0">
              <a:buNone/>
            </a:pPr>
            <a:r>
              <a:rPr lang="en-IN" sz="1400" dirty="0"/>
              <a:t>	&lt;script </a:t>
            </a:r>
            <a:r>
              <a:rPr lang="en-IN" sz="1400" dirty="0" err="1"/>
              <a:t>src</a:t>
            </a:r>
            <a:r>
              <a:rPr lang="en-IN" sz="1400" dirty="0"/>
              <a:t>="https://unpkg.com/react-dom@16/</a:t>
            </a:r>
            <a:r>
              <a:rPr lang="en-IN" sz="1400" dirty="0" err="1"/>
              <a:t>umd</a:t>
            </a:r>
            <a:r>
              <a:rPr lang="en-IN" sz="1400" dirty="0"/>
              <a:t>/react-dom.development.js"&gt;&lt;/script&gt;</a:t>
            </a:r>
          </a:p>
          <a:p>
            <a:pPr marL="384048" lvl="2" indent="0">
              <a:buNone/>
            </a:pPr>
            <a:r>
              <a:rPr lang="en-IN" sz="1400" dirty="0"/>
              <a:t>&lt;/head&gt;</a:t>
            </a:r>
          </a:p>
          <a:p>
            <a:pPr marL="384048" lvl="2" indent="0">
              <a:buNone/>
            </a:pPr>
            <a:r>
              <a:rPr lang="en-IN" sz="1400" dirty="0"/>
              <a:t>&lt;body&gt;</a:t>
            </a:r>
          </a:p>
          <a:p>
            <a:pPr marL="384048" lvl="2" indent="0">
              <a:buNone/>
            </a:pPr>
            <a:r>
              <a:rPr lang="en-IN" sz="1400" dirty="0"/>
              <a:t>	&lt;div id="content"&gt;&lt;/div&gt;</a:t>
            </a:r>
          </a:p>
          <a:p>
            <a:pPr marL="384048" lvl="2" indent="0">
              <a:buNone/>
            </a:pPr>
            <a:r>
              <a:rPr lang="en-IN" sz="1400" dirty="0"/>
              <a:t>	&lt;script&gt;</a:t>
            </a:r>
          </a:p>
          <a:p>
            <a:pPr marL="384048" lvl="2" indent="0">
              <a:buNone/>
            </a:pPr>
            <a:r>
              <a:rPr lang="en-IN" sz="1400" dirty="0"/>
              <a:t>		</a:t>
            </a:r>
            <a:r>
              <a:rPr lang="en-IN" sz="1400" dirty="0" err="1"/>
              <a:t>const</a:t>
            </a:r>
            <a:r>
              <a:rPr lang="en-IN" sz="1400" dirty="0"/>
              <a:t> element = </a:t>
            </a:r>
            <a:r>
              <a:rPr lang="en-IN" sz="1400" dirty="0" err="1"/>
              <a:t>React.createElement</a:t>
            </a:r>
            <a:r>
              <a:rPr lang="en-IN" sz="1400" dirty="0"/>
              <a:t>('div', {title: 'Outer div’},</a:t>
            </a:r>
          </a:p>
          <a:p>
            <a:pPr marL="384048" lvl="2" indent="0">
              <a:buNone/>
            </a:pPr>
            <a:r>
              <a:rPr lang="en-IN" sz="1400" dirty="0"/>
              <a:t>		</a:t>
            </a:r>
            <a:r>
              <a:rPr lang="en-IN" sz="1400" dirty="0" err="1"/>
              <a:t>React.createElement</a:t>
            </a:r>
            <a:r>
              <a:rPr lang="en-IN" sz="1400" dirty="0"/>
              <a:t>('h1', null, 'Hello World!’)</a:t>
            </a:r>
          </a:p>
          <a:p>
            <a:pPr marL="384048" lvl="2" indent="0">
              <a:buNone/>
            </a:pPr>
            <a:r>
              <a:rPr lang="en-IN" sz="1400" dirty="0"/>
              <a:t>		);</a:t>
            </a:r>
          </a:p>
          <a:p>
            <a:pPr marL="384048" lvl="2" indent="0">
              <a:buNone/>
            </a:pPr>
            <a:r>
              <a:rPr lang="en-IN" sz="1400" dirty="0"/>
              <a:t>	</a:t>
            </a:r>
            <a:r>
              <a:rPr lang="en-IN" sz="1400" dirty="0" err="1"/>
              <a:t>ReactDOM.render</a:t>
            </a:r>
            <a:r>
              <a:rPr lang="en-IN" sz="1400" dirty="0"/>
              <a:t>(element, </a:t>
            </a:r>
            <a:r>
              <a:rPr lang="en-IN" sz="1400" dirty="0" err="1"/>
              <a:t>document.getElementById</a:t>
            </a:r>
            <a:r>
              <a:rPr lang="en-IN" sz="1400" dirty="0"/>
              <a:t>('content'));</a:t>
            </a:r>
          </a:p>
          <a:p>
            <a:pPr marL="384048" lvl="2" indent="0">
              <a:buNone/>
            </a:pPr>
            <a:r>
              <a:rPr lang="en-IN" sz="1400" dirty="0"/>
              <a:t>	&lt;/script&gt;</a:t>
            </a:r>
          </a:p>
          <a:p>
            <a:pPr marL="384048" lvl="2" indent="0">
              <a:buNone/>
            </a:pPr>
            <a:r>
              <a:rPr lang="en-IN" sz="1400" dirty="0"/>
              <a:t>&lt;/body&gt;</a:t>
            </a:r>
          </a:p>
          <a:p>
            <a:pPr marL="384048" lvl="2" indent="0">
              <a:buNone/>
            </a:pPr>
            <a:r>
              <a:rPr lang="en-IN" sz="1400" dirty="0"/>
              <a:t>&lt;/html&gt;</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
        <p:nvSpPr>
          <p:cNvPr id="2" name="TextBox 1">
            <a:extLst>
              <a:ext uri="{FF2B5EF4-FFF2-40B4-BE49-F238E27FC236}">
                <a16:creationId xmlns:a16="http://schemas.microsoft.com/office/drawing/2014/main" id="{A416503A-14DB-8CCE-67E1-A5E8DE196746}"/>
              </a:ext>
            </a:extLst>
          </p:cNvPr>
          <p:cNvSpPr txBox="1"/>
          <p:nvPr/>
        </p:nvSpPr>
        <p:spPr>
          <a:xfrm>
            <a:off x="7592037" y="3598876"/>
            <a:ext cx="4599963" cy="2800767"/>
          </a:xfrm>
          <a:prstGeom prst="rect">
            <a:avLst/>
          </a:prstGeom>
          <a:noFill/>
        </p:spPr>
        <p:txBody>
          <a:bodyPr wrap="square" rtlCol="0">
            <a:spAutoFit/>
          </a:bodyPr>
          <a:lstStyle/>
          <a:p>
            <a:r>
              <a:rPr lang="en-US" sz="1600" dirty="0"/>
              <a:t>Executing the program</a:t>
            </a:r>
          </a:p>
          <a:p>
            <a:pPr marL="285750" indent="-285750">
              <a:buFont typeface="Arial" panose="020B0604020202020204" pitchFamily="34" charset="0"/>
              <a:buChar char="•"/>
            </a:pPr>
            <a:r>
              <a:rPr lang="en-US" sz="1600" dirty="0"/>
              <a:t>Open VS Code</a:t>
            </a:r>
          </a:p>
          <a:p>
            <a:pPr marL="285750" indent="-285750">
              <a:buFont typeface="Arial" panose="020B0604020202020204" pitchFamily="34" charset="0"/>
              <a:buChar char="•"/>
            </a:pPr>
            <a:r>
              <a:rPr lang="en-US" sz="1600" dirty="0"/>
              <a:t>Create a folder </a:t>
            </a:r>
          </a:p>
          <a:p>
            <a:pPr marL="285750" indent="-285750">
              <a:buFont typeface="Arial" panose="020B0604020202020204" pitchFamily="34" charset="0"/>
              <a:buChar char="•"/>
            </a:pPr>
            <a:r>
              <a:rPr lang="en-US" sz="1600" dirty="0"/>
              <a:t>Create a program called index.html in the folder</a:t>
            </a:r>
          </a:p>
          <a:p>
            <a:pPr marL="285750" indent="-285750">
              <a:buFont typeface="Arial" panose="020B0604020202020204" pitchFamily="34" charset="0"/>
              <a:buChar char="•"/>
            </a:pPr>
            <a:r>
              <a:rPr lang="en-US" sz="1600" dirty="0"/>
              <a:t>Write the code in index.html</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Open the terminal and go to the folder</a:t>
            </a:r>
          </a:p>
          <a:p>
            <a:pPr marL="285750" indent="-285750">
              <a:buFont typeface="Arial" panose="020B0604020202020204" pitchFamily="34" charset="0"/>
              <a:buChar char="•"/>
            </a:pPr>
            <a:r>
              <a:rPr lang="en-US" sz="1600" dirty="0"/>
              <a:t>Run </a:t>
            </a:r>
            <a:r>
              <a:rPr lang="en-US" sz="1600" dirty="0" err="1">
                <a:solidFill>
                  <a:srgbClr val="FF0000"/>
                </a:solidFill>
              </a:rPr>
              <a:t>npx</a:t>
            </a:r>
            <a:r>
              <a:rPr lang="en-US" sz="1600" dirty="0">
                <a:solidFill>
                  <a:srgbClr val="FF0000"/>
                </a:solidFill>
              </a:rPr>
              <a:t> http-server</a:t>
            </a:r>
          </a:p>
          <a:p>
            <a:pPr marL="285750" indent="-285750">
              <a:buFont typeface="Arial" panose="020B0604020202020204" pitchFamily="34" charset="0"/>
              <a:buChar char="•"/>
            </a:pPr>
            <a:r>
              <a:rPr lang="en-IN" sz="1600" dirty="0"/>
              <a:t>Copy the link and paste it in browser for example http://192.168.1.33:8081</a:t>
            </a:r>
          </a:p>
        </p:txBody>
      </p:sp>
    </p:spTree>
    <p:extLst>
      <p:ext uri="{BB962C8B-B14F-4D97-AF65-F5344CB8AC3E}">
        <p14:creationId xmlns:p14="http://schemas.microsoft.com/office/powerpoint/2010/main" val="1903174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9A3D-9A28-9686-CC1B-88ACCFD3C3D8}"/>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DF78247-79F2-0539-E036-31EF740BEBC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JSX</a:t>
            </a:r>
          </a:p>
          <a:p>
            <a:pPr lvl="1">
              <a:buFont typeface="Arial" panose="020B0604020202020204" pitchFamily="34" charset="0"/>
              <a:buChar char="•"/>
            </a:pPr>
            <a:r>
              <a:rPr lang="en-IN" dirty="0" err="1"/>
              <a:t>React.createElement</a:t>
            </a:r>
            <a:r>
              <a:rPr lang="en-IN" dirty="0"/>
              <a:t>() -  imagine writing a deeply nested hierarchy of elements and components: it can get pretty complex if we use </a:t>
            </a:r>
            <a:r>
              <a:rPr lang="en-IN" dirty="0" err="1">
                <a:solidFill>
                  <a:srgbClr val="FF0000"/>
                </a:solidFill>
              </a:rPr>
              <a:t>React.createElement</a:t>
            </a:r>
            <a:r>
              <a:rPr lang="en-IN" dirty="0">
                <a:solidFill>
                  <a:srgbClr val="FF0000"/>
                </a:solidFill>
              </a:rPr>
              <a:t>().</a:t>
            </a:r>
          </a:p>
          <a:p>
            <a:pPr lvl="1">
              <a:buFont typeface="Arial" panose="020B0604020202020204" pitchFamily="34" charset="0"/>
              <a:buChar char="•"/>
            </a:pPr>
            <a:r>
              <a:rPr lang="en-IN" dirty="0"/>
              <a:t>To address this, React has a markup language called JSX, which stands for JavaScript XML.</a:t>
            </a:r>
          </a:p>
          <a:p>
            <a:pPr lvl="1">
              <a:buFont typeface="Arial" panose="020B0604020202020204" pitchFamily="34" charset="0"/>
              <a:buChar char="•"/>
            </a:pPr>
            <a:r>
              <a:rPr lang="en-IN" dirty="0"/>
              <a:t>JSX looks very much like HTML, but there are some differences.</a:t>
            </a:r>
          </a:p>
          <a:p>
            <a:pPr lvl="1">
              <a:buFont typeface="Arial" panose="020B0604020202020204" pitchFamily="34" charset="0"/>
              <a:buChar char="•"/>
            </a:pPr>
            <a:r>
              <a:rPr lang="en-IN" dirty="0"/>
              <a:t>So, instead of the </a:t>
            </a:r>
            <a:r>
              <a:rPr lang="en-IN" dirty="0" err="1"/>
              <a:t>React.createElement</a:t>
            </a:r>
            <a:r>
              <a:rPr lang="en-IN" dirty="0"/>
              <a:t>() calls, JSX can be used to construct an element or an element hierarchy and make it look very much like HTML.</a:t>
            </a:r>
          </a:p>
          <a:p>
            <a:pPr lvl="2">
              <a:buFont typeface="Arial" panose="020B0604020202020204" pitchFamily="34" charset="0"/>
              <a:buChar char="•"/>
            </a:pPr>
            <a:r>
              <a:rPr lang="en-US" sz="1600" dirty="0">
                <a:solidFill>
                  <a:srgbClr val="FF0000"/>
                </a:solidFill>
              </a:rPr>
              <a:t>...</a:t>
            </a:r>
          </a:p>
          <a:p>
            <a:pPr lvl="2">
              <a:buFont typeface="Arial" panose="020B0604020202020204" pitchFamily="34" charset="0"/>
              <a:buChar char="•"/>
            </a:pPr>
            <a:r>
              <a:rPr lang="en-US" sz="1600" dirty="0">
                <a:solidFill>
                  <a:srgbClr val="FF0000"/>
                </a:solidFill>
              </a:rPr>
              <a:t>const element = (</a:t>
            </a:r>
          </a:p>
          <a:p>
            <a:pPr lvl="2">
              <a:buFont typeface="Arial" panose="020B0604020202020204" pitchFamily="34" charset="0"/>
              <a:buChar char="•"/>
            </a:pPr>
            <a:r>
              <a:rPr lang="en-US" sz="1600" dirty="0">
                <a:solidFill>
                  <a:srgbClr val="FF0000"/>
                </a:solidFill>
              </a:rPr>
              <a:t>&lt;div title="Outer div"&gt;</a:t>
            </a:r>
          </a:p>
          <a:p>
            <a:pPr lvl="2">
              <a:buFont typeface="Arial" panose="020B0604020202020204" pitchFamily="34" charset="0"/>
              <a:buChar char="•"/>
            </a:pPr>
            <a:r>
              <a:rPr lang="en-US" sz="1600" dirty="0">
                <a:solidFill>
                  <a:srgbClr val="FF0000"/>
                </a:solidFill>
              </a:rPr>
              <a:t>&lt;h1&gt;Hello World!&lt;/h1&gt;</a:t>
            </a:r>
          </a:p>
          <a:p>
            <a:pPr lvl="2">
              <a:buFont typeface="Arial" panose="020B0604020202020204" pitchFamily="34" charset="0"/>
              <a:buChar char="•"/>
            </a:pPr>
            <a:r>
              <a:rPr lang="en-US" sz="1600" dirty="0">
                <a:solidFill>
                  <a:srgbClr val="FF0000"/>
                </a:solidFill>
              </a:rPr>
              <a:t>&lt;/div&gt;</a:t>
            </a:r>
          </a:p>
          <a:p>
            <a:pPr lvl="2">
              <a:buFont typeface="Arial" panose="020B0604020202020204" pitchFamily="34" charset="0"/>
              <a:buChar char="•"/>
            </a:pPr>
            <a:r>
              <a:rPr lang="en-US" sz="1600" dirty="0">
                <a:solidFill>
                  <a:srgbClr val="FF0000"/>
                </a:solidFill>
              </a:rPr>
              <a:t>);</a:t>
            </a:r>
          </a:p>
          <a:p>
            <a:pPr lvl="2">
              <a:buFont typeface="Arial" panose="020B0604020202020204" pitchFamily="34" charset="0"/>
              <a:buChar char="•"/>
            </a:pPr>
            <a:r>
              <a:rPr lang="en-US" sz="1600" dirty="0">
                <a:solidFill>
                  <a:srgbClr val="FF0000"/>
                </a:solidFill>
              </a:rPr>
              <a:t>...</a:t>
            </a:r>
          </a:p>
          <a:p>
            <a:pPr lvl="2">
              <a:buFont typeface="Arial" panose="020B0604020202020204" pitchFamily="34" charset="0"/>
              <a:buChar char="•"/>
            </a:pPr>
            <a:endParaRPr lang="en-IN" dirty="0"/>
          </a:p>
          <a:p>
            <a:pPr lvl="1">
              <a:buFont typeface="Arial" panose="020B0604020202020204" pitchFamily="34" charset="0"/>
              <a:buChar char="•"/>
            </a:pPr>
            <a:r>
              <a:rPr lang="en-IN" dirty="0"/>
              <a:t>Note that although it is strikingly close to HTML syntax, it is not HTML.</a:t>
            </a:r>
          </a:p>
          <a:p>
            <a:pPr lvl="1">
              <a:buFont typeface="Arial" panose="020B0604020202020204" pitchFamily="34" charset="0"/>
              <a:buChar char="•"/>
            </a:pPr>
            <a:r>
              <a:rPr lang="en-IN" dirty="0"/>
              <a:t>Note also that the markup is not enclosed within quotes, so it is not a string that can be used as an </a:t>
            </a:r>
            <a:r>
              <a:rPr lang="en-IN" dirty="0" err="1"/>
              <a:t>innerHTML</a:t>
            </a:r>
            <a:r>
              <a:rPr lang="en-IN" dirty="0"/>
              <a:t> either. </a:t>
            </a:r>
          </a:p>
          <a:p>
            <a:pPr lvl="1">
              <a:buFont typeface="Arial" panose="020B0604020202020204" pitchFamily="34" charset="0"/>
              <a:buChar char="•"/>
            </a:pPr>
            <a:r>
              <a:rPr lang="en-IN" dirty="0"/>
              <a:t>It is JSX, and it can be freely mixed with JavaScript.</a:t>
            </a:r>
          </a:p>
          <a:p>
            <a:pPr lvl="1">
              <a:buFont typeface="Arial" panose="020B0604020202020204" pitchFamily="34" charset="0"/>
              <a:buChar char="•"/>
            </a:pPr>
            <a:endParaRPr lang="en-IN" dirty="0"/>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38989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DEE55-6A1F-962F-C87F-6F9B61011AD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275048F-47E2-9E63-BBBE-11FDB76D142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the differences between HTML and JSX are not earth-shaking and they are very logical.</a:t>
            </a:r>
          </a:p>
          <a:p>
            <a:pPr>
              <a:buFont typeface="Arial" panose="020B0604020202020204" pitchFamily="34" charset="0"/>
              <a:buChar char="•"/>
            </a:pPr>
            <a:r>
              <a:rPr lang="en-IN" dirty="0"/>
              <a:t>It is easy to understand how the screen will look when you read JSX, because it is very similar to HTML. So, for the rest of the book, we use JSX.</a:t>
            </a:r>
          </a:p>
          <a:p>
            <a:pPr>
              <a:buFont typeface="Arial" panose="020B0604020202020204" pitchFamily="34" charset="0"/>
              <a:buChar char="•"/>
            </a:pPr>
            <a:r>
              <a:rPr lang="en-IN" dirty="0"/>
              <a:t>But browsers’ JavaScript engines don’t understand JSX. It has to be transformed into regular JavaScript based </a:t>
            </a:r>
            <a:r>
              <a:rPr lang="en-IN" dirty="0" err="1"/>
              <a:t>React.createElement</a:t>
            </a:r>
            <a:r>
              <a:rPr lang="en-IN" dirty="0"/>
              <a:t>() calls.</a:t>
            </a:r>
          </a:p>
          <a:p>
            <a:pPr>
              <a:buFont typeface="Arial" panose="020B0604020202020204" pitchFamily="34" charset="0"/>
              <a:buChar char="•"/>
            </a:pPr>
            <a:r>
              <a:rPr lang="en-IN" dirty="0"/>
              <a:t>To do this, a compiler is needed. The compiler that does this is </a:t>
            </a:r>
            <a:r>
              <a:rPr lang="en-IN" dirty="0">
                <a:solidFill>
                  <a:srgbClr val="FF0000"/>
                </a:solidFill>
              </a:rPr>
              <a:t>Babel</a:t>
            </a:r>
            <a:r>
              <a:rPr lang="en-IN" dirty="0"/>
              <a:t>.</a:t>
            </a:r>
          </a:p>
          <a:p>
            <a:pPr>
              <a:buFont typeface="Arial" panose="020B0604020202020204" pitchFamily="34" charset="0"/>
              <a:buChar char="•"/>
            </a:pPr>
            <a:r>
              <a:rPr lang="en-IN" dirty="0"/>
              <a:t>We should ideally pre-compile the code and inject it into the browser, but for prototyping purposes, Babel provides a standalone compiler that can be used in the browser.</a:t>
            </a:r>
          </a:p>
          <a:p>
            <a:pPr>
              <a:buFont typeface="Arial" panose="020B0604020202020204" pitchFamily="34" charset="0"/>
              <a:buChar char="•"/>
            </a:pPr>
            <a:r>
              <a:rPr lang="en-IN" dirty="0"/>
              <a:t>This is available as a JavaScript file, as usual, at </a:t>
            </a:r>
            <a:r>
              <a:rPr lang="en-IN" dirty="0" err="1">
                <a:solidFill>
                  <a:srgbClr val="FF0000"/>
                </a:solidFill>
              </a:rPr>
              <a:t>unpkg</a:t>
            </a:r>
            <a:r>
              <a:rPr lang="en-IN" dirty="0"/>
              <a:t>. </a:t>
            </a:r>
          </a:p>
          <a:p>
            <a:pPr lvl="1">
              <a:buFont typeface="Arial" panose="020B0604020202020204" pitchFamily="34" charset="0"/>
              <a:buChar char="•"/>
            </a:pPr>
            <a:r>
              <a:rPr lang="en-US" dirty="0"/>
              <a:t>...</a:t>
            </a:r>
          </a:p>
          <a:p>
            <a:pPr lvl="1">
              <a:buFont typeface="Arial" panose="020B0604020202020204" pitchFamily="34" charset="0"/>
              <a:buChar char="•"/>
            </a:pPr>
            <a:r>
              <a:rPr lang="en-US" dirty="0"/>
              <a:t>&lt;script </a:t>
            </a:r>
            <a:r>
              <a:rPr lang="en-US" dirty="0" err="1"/>
              <a:t>src</a:t>
            </a:r>
            <a:r>
              <a:rPr lang="en-US" dirty="0"/>
              <a:t>="https://unpkg.com/@babel/standalone@7/babel.min.js"&gt;&lt;/script&gt;</a:t>
            </a:r>
          </a:p>
          <a:p>
            <a:pPr lvl="1">
              <a:buFont typeface="Arial" panose="020B0604020202020204" pitchFamily="34" charset="0"/>
              <a:buChar char="•"/>
            </a:pPr>
            <a:r>
              <a:rPr lang="en-US" dirty="0"/>
              <a:t>...</a:t>
            </a:r>
          </a:p>
          <a:p>
            <a:pPr marL="0" indent="0">
              <a:buNone/>
            </a:pPr>
            <a:r>
              <a:rPr lang="en-IN" dirty="0"/>
              <a:t>But the compiler also needs to be told which scripts have to be transformed. It looks for the attribute type="text/babel" in all scripts and transforms and runs any script with this attribute.</a:t>
            </a:r>
          </a:p>
        </p:txBody>
      </p:sp>
    </p:spTree>
    <p:extLst>
      <p:ext uri="{BB962C8B-B14F-4D97-AF65-F5344CB8AC3E}">
        <p14:creationId xmlns:p14="http://schemas.microsoft.com/office/powerpoint/2010/main" val="41352937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361C4-ED28-5306-D046-7E242534CC9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730B838-D5E3-2E4F-E7FC-C875032AB832}"/>
              </a:ext>
            </a:extLst>
          </p:cNvPr>
          <p:cNvSpPr txBox="1">
            <a:spLocks/>
          </p:cNvSpPr>
          <p:nvPr/>
        </p:nvSpPr>
        <p:spPr>
          <a:xfrm>
            <a:off x="360727" y="343949"/>
            <a:ext cx="11442583" cy="5989739"/>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Example - index.html</a:t>
            </a:r>
          </a:p>
          <a:p>
            <a:pPr marL="384048" lvl="2" indent="0">
              <a:buNone/>
            </a:pPr>
            <a:r>
              <a:rPr lang="en-IN" dirty="0"/>
              <a:t>&lt;!DOCTYPE HTML&gt;</a:t>
            </a:r>
          </a:p>
          <a:p>
            <a:pPr marL="384048" lvl="2" indent="0">
              <a:buNone/>
            </a:pPr>
            <a:r>
              <a:rPr lang="en-IN" dirty="0"/>
              <a:t>&lt;html&gt;</a:t>
            </a:r>
          </a:p>
          <a:p>
            <a:pPr marL="384048" lvl="2" indent="0">
              <a:buNone/>
            </a:pPr>
            <a:r>
              <a:rPr lang="en-IN" dirty="0"/>
              <a:t>&lt;head&gt;</a:t>
            </a:r>
          </a:p>
          <a:p>
            <a:pPr marL="384048" lvl="2" indent="0">
              <a:buNone/>
            </a:pPr>
            <a:r>
              <a:rPr lang="en-IN" dirty="0"/>
              <a:t>	&lt;meta charset="utf-8"&gt;</a:t>
            </a:r>
          </a:p>
          <a:p>
            <a:pPr marL="384048" lvl="2" indent="0">
              <a:buNone/>
            </a:pPr>
            <a:r>
              <a:rPr lang="en-IN" dirty="0"/>
              <a:t>	&lt;title&gt;Pro MERN Stack&lt;/title&gt;</a:t>
            </a:r>
          </a:p>
          <a:p>
            <a:pPr marL="384048" lvl="2" indent="0">
              <a:buNone/>
            </a:pPr>
            <a:r>
              <a:rPr lang="en-IN" dirty="0"/>
              <a:t>	&lt;script </a:t>
            </a:r>
            <a:r>
              <a:rPr lang="en-IN" dirty="0" err="1"/>
              <a:t>src</a:t>
            </a:r>
            <a:r>
              <a:rPr lang="en-IN" dirty="0"/>
              <a:t>="https://unpkg.com/react@16/</a:t>
            </a:r>
            <a:r>
              <a:rPr lang="en-IN" dirty="0" err="1"/>
              <a:t>umd</a:t>
            </a:r>
            <a:r>
              <a:rPr lang="en-IN" dirty="0"/>
              <a:t>/react.development.js"&gt;&lt;/script&gt;</a:t>
            </a:r>
          </a:p>
          <a:p>
            <a:pPr marL="384048" lvl="2" indent="0">
              <a:buNone/>
            </a:pPr>
            <a:r>
              <a:rPr lang="en-IN" dirty="0"/>
              <a:t>	&lt;script </a:t>
            </a:r>
            <a:r>
              <a:rPr lang="en-IN" dirty="0" err="1"/>
              <a:t>src</a:t>
            </a:r>
            <a:r>
              <a:rPr lang="en-IN" dirty="0"/>
              <a:t>="https://unpkg.com/react-dom@16/</a:t>
            </a:r>
            <a:r>
              <a:rPr lang="en-IN" dirty="0" err="1"/>
              <a:t>umd</a:t>
            </a:r>
            <a:r>
              <a:rPr lang="en-IN" dirty="0"/>
              <a:t>/react-dom.development.js"&gt;&lt;/script&gt;</a:t>
            </a:r>
          </a:p>
          <a:p>
            <a:pPr marL="384048" lvl="2" indent="0">
              <a:buNone/>
            </a:pPr>
            <a:r>
              <a:rPr lang="en-IN" dirty="0"/>
              <a:t>	&lt;script </a:t>
            </a:r>
            <a:r>
              <a:rPr lang="en-IN" dirty="0" err="1"/>
              <a:t>src</a:t>
            </a:r>
            <a:r>
              <a:rPr lang="en-IN" dirty="0"/>
              <a:t>="https://unpkg.com/@babel/standalone@7/babel.min.js"&gt;&lt;/script&gt;</a:t>
            </a:r>
          </a:p>
          <a:p>
            <a:pPr marL="384048" lvl="2" indent="0">
              <a:buNone/>
            </a:pPr>
            <a:r>
              <a:rPr lang="en-IN" dirty="0"/>
              <a:t>&lt;/head&gt;</a:t>
            </a:r>
          </a:p>
          <a:p>
            <a:pPr marL="384048" lvl="2" indent="0">
              <a:buNone/>
            </a:pPr>
            <a:r>
              <a:rPr lang="en-IN" dirty="0"/>
              <a:t>&lt;body&gt;</a:t>
            </a:r>
          </a:p>
          <a:p>
            <a:pPr marL="384048" lvl="2" indent="0">
              <a:buNone/>
            </a:pPr>
            <a:r>
              <a:rPr lang="en-IN" dirty="0"/>
              <a:t>	&lt;div id="contents"&gt;&lt;/div&gt;</a:t>
            </a:r>
          </a:p>
          <a:p>
            <a:pPr marL="384048" lvl="2" indent="0">
              <a:buNone/>
            </a:pPr>
            <a:r>
              <a:rPr lang="en-IN" dirty="0"/>
              <a:t>	&lt;script type="text/babel"&gt;</a:t>
            </a:r>
          </a:p>
          <a:p>
            <a:pPr marL="384048" lvl="2" indent="0">
              <a:buNone/>
            </a:pPr>
            <a:r>
              <a:rPr lang="en-IN" dirty="0"/>
              <a:t>		</a:t>
            </a:r>
            <a:r>
              <a:rPr lang="en-IN" dirty="0">
                <a:solidFill>
                  <a:srgbClr val="FF0000"/>
                </a:solidFill>
              </a:rPr>
              <a:t>//</a:t>
            </a:r>
            <a:r>
              <a:rPr lang="en-IN" dirty="0" err="1">
                <a:solidFill>
                  <a:srgbClr val="FF0000"/>
                </a:solidFill>
              </a:rPr>
              <a:t>const</a:t>
            </a:r>
            <a:r>
              <a:rPr lang="en-IN" dirty="0">
                <a:solidFill>
                  <a:srgbClr val="FF0000"/>
                </a:solidFill>
              </a:rPr>
              <a:t> element = </a:t>
            </a:r>
            <a:r>
              <a:rPr lang="en-IN" dirty="0" err="1">
                <a:solidFill>
                  <a:srgbClr val="FF0000"/>
                </a:solidFill>
              </a:rPr>
              <a:t>React.createElement</a:t>
            </a:r>
            <a:r>
              <a:rPr lang="en-IN" dirty="0">
                <a:solidFill>
                  <a:srgbClr val="FF0000"/>
                </a:solidFill>
              </a:rPr>
              <a:t>('div', {title: 'Outer div’},</a:t>
            </a:r>
          </a:p>
          <a:p>
            <a:pPr marL="384048" lvl="2" indent="0">
              <a:buNone/>
            </a:pPr>
            <a:r>
              <a:rPr lang="en-IN" dirty="0">
                <a:solidFill>
                  <a:srgbClr val="FF0000"/>
                </a:solidFill>
              </a:rPr>
              <a:t>		//</a:t>
            </a:r>
            <a:r>
              <a:rPr lang="en-IN" dirty="0" err="1">
                <a:solidFill>
                  <a:srgbClr val="FF0000"/>
                </a:solidFill>
              </a:rPr>
              <a:t>React.createElement</a:t>
            </a:r>
            <a:r>
              <a:rPr lang="en-IN" dirty="0">
                <a:solidFill>
                  <a:srgbClr val="FF0000"/>
                </a:solidFill>
              </a:rPr>
              <a:t>('h1', null, 'Hello World!’));</a:t>
            </a:r>
          </a:p>
          <a:p>
            <a:pPr marL="384048" lvl="2" indent="0">
              <a:buNone/>
            </a:pPr>
            <a:r>
              <a:rPr lang="en-IN" dirty="0"/>
              <a:t>		</a:t>
            </a:r>
            <a:r>
              <a:rPr lang="en-IN" dirty="0" err="1"/>
              <a:t>const</a:t>
            </a:r>
            <a:r>
              <a:rPr lang="en-IN" dirty="0"/>
              <a:t> element = (&lt;div title="Outer div"&gt;</a:t>
            </a:r>
          </a:p>
          <a:p>
            <a:pPr marL="384048" lvl="2" indent="0">
              <a:buNone/>
            </a:pPr>
            <a:r>
              <a:rPr lang="en-IN" dirty="0"/>
              <a:t>			&lt;h1&gt;Hello World!&lt;/h1&gt;</a:t>
            </a:r>
          </a:p>
          <a:p>
            <a:pPr marL="384048" lvl="2" indent="0">
              <a:buNone/>
            </a:pPr>
            <a:r>
              <a:rPr lang="en-IN" dirty="0"/>
              <a:t>			&lt;/div&gt;);</a:t>
            </a:r>
          </a:p>
          <a:p>
            <a:pPr marL="384048" lvl="2" indent="0">
              <a:buNone/>
            </a:pPr>
            <a:r>
              <a:rPr lang="en-IN" dirty="0"/>
              <a:t>		</a:t>
            </a:r>
            <a:r>
              <a:rPr lang="en-IN" dirty="0" err="1"/>
              <a:t>ReactDOM.render</a:t>
            </a:r>
            <a:r>
              <a:rPr lang="en-IN" dirty="0"/>
              <a:t>(element, </a:t>
            </a:r>
            <a:r>
              <a:rPr lang="en-IN" dirty="0" err="1"/>
              <a:t>document.getElementById</a:t>
            </a:r>
            <a:r>
              <a:rPr lang="en-IN" dirty="0"/>
              <a:t>('contents'));</a:t>
            </a:r>
          </a:p>
          <a:p>
            <a:pPr marL="384048" lvl="2" indent="0">
              <a:buNone/>
            </a:pPr>
            <a:r>
              <a:rPr lang="en-IN" dirty="0"/>
              <a:t>	&lt;/script&gt;</a:t>
            </a:r>
          </a:p>
          <a:p>
            <a:pPr marL="384048" lvl="2" indent="0">
              <a:buNone/>
            </a:pPr>
            <a:r>
              <a:rPr lang="en-IN" dirty="0"/>
              <a:t>&lt;/body&gt;&lt;/html&gt;</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964815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545C7-B856-8AB8-2915-D30E86ACDD4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1E6B704-4900-74BE-FF1E-C32C47A3F96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When you test this set of changes, you will find no difference in the appearance of the page, but it could be a wee bit slower due to the compilation done by Babel. </a:t>
            </a:r>
          </a:p>
          <a:p>
            <a:pPr>
              <a:buFont typeface="Arial" panose="020B0604020202020204" pitchFamily="34" charset="0"/>
              <a:buChar char="•"/>
            </a:pPr>
            <a:r>
              <a:rPr lang="en-IN" dirty="0"/>
              <a:t> Switch to compiling JSX at </a:t>
            </a:r>
            <a:r>
              <a:rPr lang="en-IN" dirty="0">
                <a:solidFill>
                  <a:srgbClr val="FF0000"/>
                </a:solidFill>
              </a:rPr>
              <a:t>build time </a:t>
            </a:r>
            <a:r>
              <a:rPr lang="en-IN" dirty="0"/>
              <a:t>rather than at </a:t>
            </a:r>
            <a:r>
              <a:rPr lang="en-IN" dirty="0">
                <a:solidFill>
                  <a:srgbClr val="FF0000"/>
                </a:solidFill>
              </a:rPr>
              <a:t>runtime</a:t>
            </a:r>
            <a:r>
              <a:rPr lang="en-IN" dirty="0"/>
              <a:t> to get rid of the performance impact. </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4258212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FF1B6-FCE3-80F4-153F-41BB761A38D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C468E32-93A2-CCEF-6082-FC60AE7E679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Project Setup</a:t>
            </a:r>
          </a:p>
          <a:p>
            <a:pPr lvl="1">
              <a:buFont typeface="Arial" panose="020B0604020202020204" pitchFamily="34" charset="0"/>
              <a:buChar char="•"/>
            </a:pPr>
            <a:r>
              <a:rPr lang="en-IN" dirty="0"/>
              <a:t>The </a:t>
            </a:r>
            <a:r>
              <a:rPr lang="en-IN" b="1" dirty="0"/>
              <a:t>server-less setup</a:t>
            </a:r>
            <a:r>
              <a:rPr lang="en-IN" dirty="0"/>
              <a:t> is useful for learning React because it does not require any installation or server configuration. </a:t>
            </a:r>
          </a:p>
          <a:p>
            <a:pPr lvl="1">
              <a:buFont typeface="Arial" panose="020B0604020202020204" pitchFamily="34" charset="0"/>
              <a:buChar char="•"/>
            </a:pPr>
            <a:r>
              <a:rPr lang="en-IN" dirty="0"/>
              <a:t>However, it is </a:t>
            </a:r>
            <a:r>
              <a:rPr lang="en-IN" b="1" dirty="0"/>
              <a:t>not suitable for development or production</a:t>
            </a:r>
            <a:r>
              <a:rPr lang="en-IN" dirty="0"/>
              <a:t>, as loading React and Babel from a CDN increases page loading time, and compiling JSX in the browser reduces performance. </a:t>
            </a:r>
          </a:p>
          <a:p>
            <a:pPr lvl="1">
              <a:buFont typeface="Arial" panose="020B0604020202020204" pitchFamily="34" charset="0"/>
              <a:buChar char="•"/>
            </a:pPr>
            <a:r>
              <a:rPr lang="en-IN" dirty="0"/>
              <a:t>For real-world applications, it is better to use an </a:t>
            </a:r>
            <a:r>
              <a:rPr lang="en-IN" b="1" dirty="0"/>
              <a:t>HTTP server</a:t>
            </a:r>
            <a:r>
              <a:rPr lang="en-IN" dirty="0"/>
              <a:t> and organize the project into proper folders while installing the required libraries locally. </a:t>
            </a:r>
          </a:p>
          <a:p>
            <a:pPr lvl="1">
              <a:buFont typeface="Arial" panose="020B0604020202020204" pitchFamily="34" charset="0"/>
              <a:buChar char="•"/>
            </a:pPr>
            <a:r>
              <a:rPr lang="en-IN" dirty="0"/>
              <a:t>This provides faster execution, easier development, and better application performance.</a:t>
            </a:r>
          </a:p>
          <a:p>
            <a:pPr lvl="1">
              <a:buFont typeface="Arial" panose="020B0604020202020204" pitchFamily="34" charset="0"/>
              <a:buChar char="•"/>
            </a:pPr>
            <a:endParaRPr lang="en-IN" dirty="0"/>
          </a:p>
          <a:p>
            <a:pPr lvl="1">
              <a:buFont typeface="Arial" panose="020B0604020202020204" pitchFamily="34" charset="0"/>
              <a:buChar char="•"/>
            </a:pPr>
            <a:r>
              <a:rPr lang="en-IN" dirty="0"/>
              <a:t>We will discuss the following concepts to create a folder and store the libraries in it.</a:t>
            </a:r>
          </a:p>
          <a:p>
            <a:pPr lvl="2">
              <a:buFont typeface="Arial" panose="020B0604020202020204" pitchFamily="34" charset="0"/>
              <a:buChar char="•"/>
            </a:pPr>
            <a:r>
              <a:rPr lang="en-IN" dirty="0" err="1"/>
              <a:t>nvm</a:t>
            </a:r>
            <a:endParaRPr lang="en-IN" dirty="0"/>
          </a:p>
          <a:p>
            <a:pPr lvl="2">
              <a:buFont typeface="Arial" panose="020B0604020202020204" pitchFamily="34" charset="0"/>
              <a:buChar char="•"/>
            </a:pPr>
            <a:r>
              <a:rPr lang="en-IN" dirty="0"/>
              <a:t>Node.js</a:t>
            </a:r>
          </a:p>
          <a:p>
            <a:pPr lvl="2">
              <a:buFont typeface="Arial" panose="020B0604020202020204" pitchFamily="34" charset="0"/>
              <a:buChar char="•"/>
            </a:pPr>
            <a:r>
              <a:rPr lang="en-IN" dirty="0"/>
              <a:t>Project</a:t>
            </a:r>
          </a:p>
          <a:p>
            <a:pPr lvl="2">
              <a:buFont typeface="Arial" panose="020B0604020202020204" pitchFamily="34" charset="0"/>
              <a:buChar char="•"/>
            </a:pPr>
            <a:r>
              <a:rPr lang="en-IN" dirty="0" err="1"/>
              <a:t>npm</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52936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40D89-9AE8-F330-DE68-11357B44CD1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1E6CF3B-B6F8-1C19-FDAD-78EF905C835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000" b="1" dirty="0"/>
              <a:t>1. </a:t>
            </a:r>
            <a:r>
              <a:rPr lang="en-IN" sz="2000" b="1" dirty="0" err="1"/>
              <a:t>nvm</a:t>
            </a:r>
            <a:endParaRPr lang="en-IN" sz="2000" b="1" dirty="0"/>
          </a:p>
          <a:p>
            <a:pPr lvl="1">
              <a:buFont typeface="Arial" panose="020B0604020202020204" pitchFamily="34" charset="0"/>
              <a:buChar char="•"/>
            </a:pPr>
            <a:r>
              <a:rPr lang="en-IN" dirty="0"/>
              <a:t>This stands for </a:t>
            </a:r>
            <a:r>
              <a:rPr lang="en-IN" dirty="0">
                <a:solidFill>
                  <a:srgbClr val="FF0000"/>
                </a:solidFill>
              </a:rPr>
              <a:t>Node Version Manager;</a:t>
            </a:r>
            <a:r>
              <a:rPr lang="en-IN" dirty="0"/>
              <a:t> that tool makes installation and switching between multiple versions of Node.js easy.</a:t>
            </a:r>
          </a:p>
          <a:p>
            <a:pPr lvl="1">
              <a:buFont typeface="Arial" panose="020B0604020202020204" pitchFamily="34" charset="0"/>
              <a:buChar char="•"/>
            </a:pPr>
            <a:r>
              <a:rPr lang="en-IN" dirty="0"/>
              <a:t>Note - Node.js can be installed directly without </a:t>
            </a:r>
            <a:r>
              <a:rPr lang="en-IN" dirty="0" err="1"/>
              <a:t>nvm</a:t>
            </a:r>
            <a:r>
              <a:rPr lang="en-IN" dirty="0"/>
              <a:t> which can be used to develop the MERN projects. So </a:t>
            </a:r>
            <a:r>
              <a:rPr lang="en-IN" dirty="0" err="1"/>
              <a:t>nvm</a:t>
            </a:r>
            <a:r>
              <a:rPr lang="en-IN" dirty="0"/>
              <a:t> is optional.</a:t>
            </a:r>
          </a:p>
          <a:p>
            <a:pPr lvl="1">
              <a:buFont typeface="Arial" panose="020B0604020202020204" pitchFamily="34" charset="0"/>
              <a:buChar char="•"/>
            </a:pPr>
            <a:r>
              <a:rPr lang="en-IN" dirty="0"/>
              <a:t>To install </a:t>
            </a:r>
            <a:r>
              <a:rPr lang="en-IN" dirty="0" err="1"/>
              <a:t>nvm</a:t>
            </a:r>
            <a:r>
              <a:rPr lang="en-IN" dirty="0"/>
              <a:t>, if you are using Mac OS or any Linux-based distribution - This can be found at https://github.com/creationix/nvm. </a:t>
            </a:r>
          </a:p>
          <a:p>
            <a:pPr lvl="1">
              <a:buFont typeface="Arial" panose="020B0604020202020204" pitchFamily="34" charset="0"/>
              <a:buChar char="•"/>
            </a:pPr>
            <a:r>
              <a:rPr lang="en-IN" dirty="0"/>
              <a:t>Windows users to install a Linux virtual machine (VM), preferably using Vagrant, and do all the server-side coding within the VM. This usually works best, especially because the code is finally deployed almost always on a Linux server, and having the same environment for development works best.</a:t>
            </a:r>
          </a:p>
          <a:p>
            <a:pPr lvl="1">
              <a:buFont typeface="Arial" panose="020B0604020202020204" pitchFamily="34" charset="0"/>
              <a:buChar char="•"/>
            </a:pPr>
            <a:endParaRPr lang="en-IN" dirty="0"/>
          </a:p>
          <a:p>
            <a:pPr lvl="1">
              <a:buFont typeface="Arial" panose="020B0604020202020204" pitchFamily="34" charset="0"/>
              <a:buChar char="•"/>
            </a:pPr>
            <a:r>
              <a:rPr lang="en-IN" dirty="0"/>
              <a:t>One tricky thing about </a:t>
            </a:r>
            <a:r>
              <a:rPr lang="en-IN" dirty="0" err="1"/>
              <a:t>nvm</a:t>
            </a:r>
            <a:r>
              <a:rPr lang="en-IN" dirty="0"/>
              <a:t> is knowing how it initialises your PATH. This works differently on different operating systems, so make sure you read up on the nuances. </a:t>
            </a:r>
          </a:p>
          <a:p>
            <a:pPr lvl="1">
              <a:buFont typeface="Arial" panose="020B0604020202020204" pitchFamily="34" charset="0"/>
              <a:buChar char="•"/>
            </a:pPr>
            <a:r>
              <a:rPr lang="en-IN" dirty="0"/>
              <a:t>Essentially, it adds a few lines to your shell's initialization scripts so that the next time you open a shell, your PATH is initialized and executes </a:t>
            </a:r>
            <a:r>
              <a:rPr lang="en-IN" dirty="0" err="1"/>
              <a:t>nvm's</a:t>
            </a:r>
            <a:r>
              <a:rPr lang="en-IN" dirty="0"/>
              <a:t> initialization scripts. </a:t>
            </a:r>
          </a:p>
          <a:p>
            <a:pPr lvl="1">
              <a:buFont typeface="Arial" panose="020B0604020202020204" pitchFamily="34" charset="0"/>
              <a:buChar char="•"/>
            </a:pPr>
            <a:r>
              <a:rPr lang="en-IN" dirty="0"/>
              <a:t>This lets </a:t>
            </a:r>
            <a:r>
              <a:rPr lang="en-IN" dirty="0" err="1"/>
              <a:t>nvm</a:t>
            </a:r>
            <a:r>
              <a:rPr lang="en-IN" dirty="0"/>
              <a:t> know about the different versions of Node.js that are installed, and the path to the default executable.</a:t>
            </a:r>
          </a:p>
          <a:p>
            <a:pPr lvl="1">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923435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CB469-81FB-10C7-287F-34278611C43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96A0DB7D-1796-517F-F95F-9B1EC5BE51A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b="1" dirty="0"/>
              <a:t>2. Node.js</a:t>
            </a:r>
          </a:p>
          <a:p>
            <a:pPr lvl="1">
              <a:buFont typeface="Arial" panose="020B0604020202020204" pitchFamily="34" charset="0"/>
              <a:buChar char="•"/>
            </a:pPr>
            <a:r>
              <a:rPr lang="en-IN" dirty="0"/>
              <a:t>After installing </a:t>
            </a:r>
            <a:r>
              <a:rPr lang="en-IN" b="1" dirty="0"/>
              <a:t>NVM (Node Version Manager)</a:t>
            </a:r>
            <a:r>
              <a:rPr lang="en-IN" dirty="0"/>
              <a:t>, install the </a:t>
            </a:r>
            <a:r>
              <a:rPr lang="en-IN" b="1" dirty="0"/>
              <a:t>Long Term Support (LTS)</a:t>
            </a:r>
            <a:r>
              <a:rPr lang="en-IN" dirty="0"/>
              <a:t> version of Node.js, as it provides better stability, security updates, and long-term support for MERN development.</a:t>
            </a:r>
          </a:p>
          <a:p>
            <a:pPr lvl="2">
              <a:buFont typeface="Arial" panose="020B0604020202020204" pitchFamily="34" charset="0"/>
              <a:buChar char="•"/>
            </a:pPr>
            <a:r>
              <a:rPr lang="en-IN" dirty="0" err="1"/>
              <a:t>nvm</a:t>
            </a:r>
            <a:r>
              <a:rPr lang="en-IN" dirty="0"/>
              <a:t> install </a:t>
            </a:r>
            <a:r>
              <a:rPr lang="en-IN" dirty="0" err="1"/>
              <a:t>lts</a:t>
            </a:r>
            <a:endParaRPr lang="en-IN" dirty="0"/>
          </a:p>
          <a:p>
            <a:pPr lvl="1">
              <a:buFont typeface="Arial" panose="020B0604020202020204" pitchFamily="34" charset="0"/>
              <a:buChar char="•"/>
            </a:pPr>
            <a:r>
              <a:rPr lang="en-IN" dirty="0"/>
              <a:t>or install a specific version:</a:t>
            </a:r>
          </a:p>
          <a:p>
            <a:pPr lvl="2">
              <a:buFont typeface="Arial" panose="020B0604020202020204" pitchFamily="34" charset="0"/>
              <a:buChar char="•"/>
            </a:pPr>
            <a:r>
              <a:rPr lang="en-IN" dirty="0" err="1"/>
              <a:t>nvm</a:t>
            </a:r>
            <a:r>
              <a:rPr lang="en-IN" dirty="0"/>
              <a:t> install 22.17.0</a:t>
            </a:r>
          </a:p>
          <a:p>
            <a:pPr lvl="1">
              <a:buFont typeface="Arial" panose="020B0604020202020204" pitchFamily="34" charset="0"/>
              <a:buChar char="•"/>
            </a:pPr>
            <a:r>
              <a:rPr lang="en-IN" dirty="0"/>
              <a:t>Activate the installed version (Windows):</a:t>
            </a:r>
          </a:p>
          <a:p>
            <a:pPr lvl="2">
              <a:buFont typeface="Arial" panose="020B0604020202020204" pitchFamily="34" charset="0"/>
              <a:buChar char="•"/>
            </a:pPr>
            <a:r>
              <a:rPr lang="en-IN" dirty="0" err="1"/>
              <a:t>nvm</a:t>
            </a:r>
            <a:r>
              <a:rPr lang="en-IN" dirty="0"/>
              <a:t> use 22.17.0</a:t>
            </a:r>
          </a:p>
          <a:p>
            <a:pPr lvl="1">
              <a:buFont typeface="Arial" panose="020B0604020202020204" pitchFamily="34" charset="0"/>
              <a:buChar char="•"/>
            </a:pPr>
            <a:r>
              <a:rPr lang="en-IN" dirty="0"/>
              <a:t>Verify the installation:</a:t>
            </a:r>
          </a:p>
          <a:p>
            <a:pPr lvl="2">
              <a:buFont typeface="Arial" panose="020B0604020202020204" pitchFamily="34" charset="0"/>
              <a:buChar char="•"/>
            </a:pPr>
            <a:r>
              <a:rPr lang="en-IN" dirty="0"/>
              <a:t>node --version</a:t>
            </a:r>
            <a:br>
              <a:rPr lang="en-IN" dirty="0"/>
            </a:br>
            <a:r>
              <a:rPr lang="en-IN" dirty="0" err="1"/>
              <a:t>npm</a:t>
            </a:r>
            <a:r>
              <a:rPr lang="en-IN" dirty="0"/>
              <a:t> --version</a:t>
            </a:r>
          </a:p>
          <a:p>
            <a:pPr lvl="1">
              <a:buFont typeface="Arial" panose="020B0604020202020204" pitchFamily="34" charset="0"/>
              <a:buChar char="•"/>
            </a:pPr>
            <a:r>
              <a:rPr lang="en-IN" dirty="0"/>
              <a:t>Using the LTS version ensures that your MERN applications run on a stable and well-supported Node.js environment.</a:t>
            </a:r>
          </a:p>
          <a:p>
            <a:pPr lvl="1">
              <a:buFont typeface="Arial" panose="020B0604020202020204" pitchFamily="34" charset="0"/>
              <a:buChar char="•"/>
            </a:pPr>
            <a:r>
              <a:rPr lang="en-IN" dirty="0"/>
              <a:t>After installing Node.js through </a:t>
            </a:r>
            <a:r>
              <a:rPr lang="en-IN" b="1" dirty="0"/>
              <a:t>NVM</a:t>
            </a:r>
            <a:r>
              <a:rPr lang="en-IN" dirty="0"/>
              <a:t>, verify that the correct version is active by using the node --version command. </a:t>
            </a:r>
          </a:p>
          <a:p>
            <a:pPr lvl="1">
              <a:buFont typeface="Arial" panose="020B0604020202020204" pitchFamily="34" charset="0"/>
              <a:buChar char="•"/>
            </a:pPr>
            <a:r>
              <a:rPr lang="en-IN" dirty="0"/>
              <a:t>On </a:t>
            </a:r>
            <a:r>
              <a:rPr lang="en-IN" b="1" dirty="0"/>
              <a:t>Windows</a:t>
            </a:r>
            <a:r>
              <a:rPr lang="en-IN" dirty="0"/>
              <a:t>, NVM does not support the </a:t>
            </a:r>
            <a:r>
              <a:rPr lang="en-IN" dirty="0" err="1"/>
              <a:t>nvm</a:t>
            </a:r>
            <a:r>
              <a:rPr lang="en-IN" dirty="0"/>
              <a:t> alias command, so you need to run </a:t>
            </a:r>
            <a:r>
              <a:rPr lang="en-IN" dirty="0" err="1"/>
              <a:t>nvm</a:t>
            </a:r>
            <a:r>
              <a:rPr lang="en-IN" dirty="0"/>
              <a:t> use &lt;version&gt; whenever you open a new terminal. </a:t>
            </a:r>
          </a:p>
          <a:p>
            <a:pPr lvl="1">
              <a:buFont typeface="Arial" panose="020B0604020202020204" pitchFamily="34" charset="0"/>
              <a:buChar char="•"/>
            </a:pPr>
            <a:r>
              <a:rPr lang="en-IN" dirty="0"/>
              <a:t>Installing Node.js automatically installs </a:t>
            </a:r>
            <a:r>
              <a:rPr lang="en-IN" b="1" dirty="0" err="1"/>
              <a:t>npm</a:t>
            </a:r>
            <a:r>
              <a:rPr lang="en-IN" dirty="0"/>
              <a:t>, which can be verified using </a:t>
            </a:r>
            <a:r>
              <a:rPr lang="en-IN" dirty="0" err="1"/>
              <a:t>npm</a:t>
            </a:r>
            <a:r>
              <a:rPr lang="en-IN" dirty="0"/>
              <a:t> --version. </a:t>
            </a:r>
          </a:p>
          <a:p>
            <a:pPr lvl="1">
              <a:buFont typeface="Arial" panose="020B0604020202020204" pitchFamily="34" charset="0"/>
              <a:buChar char="•"/>
            </a:pPr>
            <a:r>
              <a:rPr lang="en-IN" dirty="0"/>
              <a:t>If required, you can update </a:t>
            </a:r>
            <a:r>
              <a:rPr lang="en-IN" dirty="0" err="1"/>
              <a:t>npm</a:t>
            </a:r>
            <a:r>
              <a:rPr lang="en-IN" dirty="0"/>
              <a:t> globally using the </a:t>
            </a:r>
            <a:r>
              <a:rPr lang="en-IN" dirty="0" err="1"/>
              <a:t>npm</a:t>
            </a:r>
            <a:r>
              <a:rPr lang="en-IN" dirty="0"/>
              <a:t> install -g </a:t>
            </a:r>
            <a:r>
              <a:rPr lang="en-IN" dirty="0" err="1"/>
              <a:t>npm</a:t>
            </a:r>
            <a:r>
              <a:rPr lang="en-IN" dirty="0"/>
              <a:t>@&lt;version&gt; command.</a:t>
            </a:r>
          </a:p>
          <a:p>
            <a:pPr lvl="2">
              <a:buFont typeface="Arial" panose="020B0604020202020204" pitchFamily="34" charset="0"/>
              <a:buChar char="•"/>
            </a:pPr>
            <a:r>
              <a:rPr lang="en-IN" dirty="0"/>
              <a:t># Update </a:t>
            </a:r>
            <a:r>
              <a:rPr lang="en-IN" dirty="0" err="1"/>
              <a:t>npm</a:t>
            </a:r>
            <a:r>
              <a:rPr lang="en-IN" dirty="0"/>
              <a:t> globally (example)</a:t>
            </a:r>
            <a:br>
              <a:rPr lang="en-IN" dirty="0"/>
            </a:br>
            <a:r>
              <a:rPr lang="en-IN" dirty="0" err="1"/>
              <a:t>npm</a:t>
            </a:r>
            <a:r>
              <a:rPr lang="en-IN" dirty="0"/>
              <a:t> install -g npm@11</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955346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C54C2-A9FD-3527-B27B-85908B67F74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60634EF-A9D0-E5A8-6766-D62B1A53C82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b="1" dirty="0"/>
              <a:t>3. Project</a:t>
            </a:r>
          </a:p>
          <a:p>
            <a:pPr lvl="1">
              <a:buFont typeface="Arial" panose="020B0604020202020204" pitchFamily="34" charset="0"/>
              <a:buChar char="•"/>
            </a:pPr>
            <a:r>
              <a:rPr lang="en-IN" dirty="0"/>
              <a:t>Before we install any third-party packages with </a:t>
            </a:r>
            <a:r>
              <a:rPr lang="en-IN" dirty="0" err="1"/>
              <a:t>npm</a:t>
            </a:r>
            <a:r>
              <a:rPr lang="en-IN" dirty="0"/>
              <a:t>, it's a good idea to initialize the project. </a:t>
            </a:r>
          </a:p>
          <a:p>
            <a:pPr lvl="1">
              <a:buFont typeface="Arial" panose="020B0604020202020204" pitchFamily="34" charset="0"/>
              <a:buChar char="•"/>
            </a:pPr>
            <a:r>
              <a:rPr lang="en-IN" dirty="0"/>
              <a:t>With </a:t>
            </a:r>
            <a:r>
              <a:rPr lang="en-IN" dirty="0" err="1"/>
              <a:t>npm</a:t>
            </a:r>
            <a:r>
              <a:rPr lang="en-IN" dirty="0"/>
              <a:t>, even an application is considered a package. A package defines various attributes of the application. </a:t>
            </a:r>
          </a:p>
          <a:p>
            <a:pPr lvl="1">
              <a:buFont typeface="Arial" panose="020B0604020202020204" pitchFamily="34" charset="0"/>
              <a:buChar char="•"/>
            </a:pPr>
            <a:r>
              <a:rPr lang="en-IN" dirty="0"/>
              <a:t>One such important attribute is a list of </a:t>
            </a:r>
            <a:r>
              <a:rPr lang="en-IN" dirty="0">
                <a:solidFill>
                  <a:srgbClr val="FF0000"/>
                </a:solidFill>
              </a:rPr>
              <a:t>other packages that the application depends </a:t>
            </a:r>
            <a:r>
              <a:rPr lang="en-IN" dirty="0"/>
              <a:t>upon. </a:t>
            </a:r>
          </a:p>
          <a:p>
            <a:pPr lvl="1">
              <a:buFont typeface="Arial" panose="020B0604020202020204" pitchFamily="34" charset="0"/>
              <a:buChar char="•"/>
            </a:pPr>
            <a:r>
              <a:rPr lang="en-IN" dirty="0"/>
              <a:t>This will change over time, as we find a need to use libraries as we make progress with the application.</a:t>
            </a:r>
          </a:p>
          <a:p>
            <a:pPr lvl="1">
              <a:buFont typeface="Arial" panose="020B0604020202020204" pitchFamily="34" charset="0"/>
              <a:buChar char="•"/>
            </a:pPr>
            <a:r>
              <a:rPr lang="en-IN" dirty="0"/>
              <a:t>To start with, we need at least a placeholder where these things will be saved and initialized.</a:t>
            </a:r>
          </a:p>
          <a:p>
            <a:pPr lvl="1">
              <a:buFont typeface="Arial" panose="020B0604020202020204" pitchFamily="34" charset="0"/>
              <a:buChar char="•"/>
            </a:pPr>
            <a:r>
              <a:rPr lang="en-IN" dirty="0"/>
              <a:t>Let’s create a </a:t>
            </a:r>
            <a:r>
              <a:rPr lang="en-IN" dirty="0">
                <a:solidFill>
                  <a:srgbClr val="FF0000"/>
                </a:solidFill>
              </a:rPr>
              <a:t>directory called pro-</a:t>
            </a:r>
            <a:r>
              <a:rPr lang="en-IN" dirty="0" err="1">
                <a:solidFill>
                  <a:srgbClr val="FF0000"/>
                </a:solidFill>
              </a:rPr>
              <a:t>mern</a:t>
            </a:r>
            <a:r>
              <a:rPr lang="en-IN" dirty="0">
                <a:solidFill>
                  <a:srgbClr val="FF0000"/>
                </a:solidFill>
              </a:rPr>
              <a:t>-stack </a:t>
            </a:r>
            <a:r>
              <a:rPr lang="en-IN" dirty="0"/>
              <a:t>to host the application.</a:t>
            </a:r>
          </a:p>
          <a:p>
            <a:pPr lvl="1">
              <a:buFont typeface="Arial" panose="020B0604020202020204" pitchFamily="34" charset="0"/>
              <a:buChar char="•"/>
            </a:pPr>
            <a:r>
              <a:rPr lang="en-IN" dirty="0"/>
              <a:t>Let’s initialize the project from within this directory like this:</a:t>
            </a:r>
          </a:p>
          <a:p>
            <a:pPr lvl="2">
              <a:buFont typeface="Arial" panose="020B0604020202020204" pitchFamily="34" charset="0"/>
              <a:buChar char="•"/>
            </a:pPr>
            <a:r>
              <a:rPr lang="en-IN" sz="1600" dirty="0"/>
              <a:t>$ </a:t>
            </a:r>
            <a:r>
              <a:rPr lang="en-IN" sz="1600" dirty="0" err="1"/>
              <a:t>npm</a:t>
            </a:r>
            <a:r>
              <a:rPr lang="en-IN" sz="1600" dirty="0"/>
              <a:t> </a:t>
            </a:r>
            <a:r>
              <a:rPr lang="en-IN" sz="1600" dirty="0" err="1"/>
              <a:t>init</a:t>
            </a:r>
            <a:endParaRPr lang="en-IN" dirty="0"/>
          </a:p>
          <a:p>
            <a:pPr lvl="1">
              <a:buFont typeface="Arial" panose="020B0604020202020204" pitchFamily="34" charset="0"/>
              <a:buChar char="•"/>
            </a:pPr>
            <a:r>
              <a:rPr lang="en-IN" dirty="0"/>
              <a:t>you should be in the project directory for all shell commands, especially </a:t>
            </a:r>
            <a:r>
              <a:rPr lang="en-IN" dirty="0" err="1"/>
              <a:t>npm</a:t>
            </a:r>
            <a:r>
              <a:rPr lang="en-IN" dirty="0"/>
              <a:t> commands </a:t>
            </a:r>
          </a:p>
          <a:p>
            <a:pPr lvl="1">
              <a:buFont typeface="Arial" panose="020B0604020202020204" pitchFamily="34" charset="0"/>
              <a:buChar char="•"/>
            </a:pPr>
            <a:r>
              <a:rPr lang="en-IN" dirty="0"/>
              <a:t>This will ensure that all changes and installations are localized to the project directory.</a:t>
            </a:r>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6912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8223C-78FB-181D-8E3F-B33F448A0CA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424228F-CDFA-6887-D1FE-CC768301C90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4. </a:t>
            </a:r>
            <a:r>
              <a:rPr lang="en-IN" dirty="0" err="1"/>
              <a:t>npm</a:t>
            </a:r>
            <a:endParaRPr lang="en-IN" dirty="0"/>
          </a:p>
          <a:p>
            <a:pPr lvl="1">
              <a:buFont typeface="Arial" panose="020B0604020202020204" pitchFamily="34" charset="0"/>
              <a:buChar char="•"/>
            </a:pPr>
            <a:r>
              <a:rPr lang="en-IN" dirty="0"/>
              <a:t>To install anything using </a:t>
            </a:r>
            <a:r>
              <a:rPr lang="en-IN" dirty="0" err="1"/>
              <a:t>npm</a:t>
            </a:r>
            <a:r>
              <a:rPr lang="en-IN" dirty="0"/>
              <a:t>, the command to be used is </a:t>
            </a:r>
            <a:r>
              <a:rPr lang="en-IN" dirty="0" err="1"/>
              <a:t>npm</a:t>
            </a:r>
            <a:r>
              <a:rPr lang="en-IN" dirty="0"/>
              <a:t> install &lt;package&gt;. </a:t>
            </a:r>
          </a:p>
          <a:p>
            <a:pPr lvl="1">
              <a:buFont typeface="Arial" panose="020B0604020202020204" pitchFamily="34" charset="0"/>
              <a:buChar char="•"/>
            </a:pPr>
            <a:r>
              <a:rPr lang="en-IN" dirty="0"/>
              <a:t>To start off, and because we need an HTTP server, let's install Express using </a:t>
            </a:r>
            <a:r>
              <a:rPr lang="en-IN" dirty="0" err="1"/>
              <a:t>npm</a:t>
            </a:r>
            <a:r>
              <a:rPr lang="en-IN" dirty="0"/>
              <a:t>.</a:t>
            </a:r>
          </a:p>
          <a:p>
            <a:pPr lvl="2">
              <a:buFont typeface="Arial" panose="020B0604020202020204" pitchFamily="34" charset="0"/>
              <a:buChar char="•"/>
            </a:pPr>
            <a:r>
              <a:rPr lang="en-IN" sz="1600" dirty="0"/>
              <a:t>$ </a:t>
            </a:r>
            <a:r>
              <a:rPr lang="en-IN" sz="1600" dirty="0" err="1"/>
              <a:t>npm</a:t>
            </a:r>
            <a:r>
              <a:rPr lang="en-IN" sz="1600" dirty="0"/>
              <a:t> install express</a:t>
            </a:r>
          </a:p>
          <a:p>
            <a:pPr lvl="1">
              <a:buFont typeface="Arial" panose="020B0604020202020204" pitchFamily="34" charset="0"/>
              <a:buChar char="•"/>
            </a:pPr>
            <a:r>
              <a:rPr lang="en-IN" dirty="0"/>
              <a:t>it installs all other packages that Express depends upon as well.</a:t>
            </a:r>
          </a:p>
          <a:p>
            <a:pPr lvl="1">
              <a:buFont typeface="Arial" panose="020B0604020202020204" pitchFamily="34" charset="0"/>
              <a:buChar char="•"/>
            </a:pPr>
            <a:r>
              <a:rPr lang="en-IN" dirty="0"/>
              <a:t>To install specific version use:</a:t>
            </a:r>
          </a:p>
          <a:p>
            <a:pPr lvl="2">
              <a:buFont typeface="Arial" panose="020B0604020202020204" pitchFamily="34" charset="0"/>
              <a:buChar char="•"/>
            </a:pPr>
            <a:r>
              <a:rPr lang="en-IN" dirty="0"/>
              <a:t>$ </a:t>
            </a:r>
            <a:r>
              <a:rPr lang="en-IN" dirty="0" err="1"/>
              <a:t>npm</a:t>
            </a:r>
            <a:r>
              <a:rPr lang="en-IN" dirty="0"/>
              <a:t> install express@4</a:t>
            </a:r>
          </a:p>
          <a:p>
            <a:pPr lvl="1">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4279197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FF278-8FD3-D11B-08E3-F1857057C67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5863145-BD35-EF99-2F2D-E38A92EFD74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The location of the installed files under the project directory is a conscious choice that the makers of </a:t>
            </a:r>
            <a:r>
              <a:rPr lang="en-IN" dirty="0" err="1"/>
              <a:t>npm</a:t>
            </a:r>
            <a:r>
              <a:rPr lang="en-IN" dirty="0"/>
              <a:t> made. This has the following effect:</a:t>
            </a:r>
          </a:p>
          <a:p>
            <a:pPr lvl="1">
              <a:buFont typeface="Arial" panose="020B0604020202020204" pitchFamily="34" charset="0"/>
              <a:buChar char="•"/>
            </a:pPr>
            <a:r>
              <a:rPr lang="en-IN" dirty="0"/>
              <a:t>In </a:t>
            </a:r>
            <a:r>
              <a:rPr lang="en-IN" b="1" dirty="0" err="1"/>
              <a:t>npm</a:t>
            </a:r>
            <a:r>
              <a:rPr lang="en-IN" dirty="0"/>
              <a:t>, all packages are installed </a:t>
            </a:r>
            <a:r>
              <a:rPr lang="en-IN" b="1" dirty="0"/>
              <a:t>locally within the project directory</a:t>
            </a:r>
            <a:r>
              <a:rPr lang="en-IN" dirty="0"/>
              <a:t>, allowing each project to use its own package versions independently. This avoids compatibility issues when working on multiple Node.js projects with different requirements. Since </a:t>
            </a:r>
            <a:r>
              <a:rPr lang="en-IN" dirty="0" err="1"/>
              <a:t>npm</a:t>
            </a:r>
            <a:r>
              <a:rPr lang="en-IN" dirty="0"/>
              <a:t> packages are generally small in size, installing separate copies for different projects does not significantly increase disk usage. This approach makes project management easier and more reliable.</a:t>
            </a:r>
          </a:p>
          <a:p>
            <a:pPr lvl="1">
              <a:buFont typeface="Arial" panose="020B0604020202020204" pitchFamily="34" charset="0"/>
              <a:buChar char="•"/>
            </a:pPr>
            <a:endParaRPr lang="en-IN" dirty="0"/>
          </a:p>
          <a:p>
            <a:pPr lvl="1">
              <a:buFont typeface="Arial" panose="020B0604020202020204" pitchFamily="34" charset="0"/>
              <a:buChar char="•"/>
            </a:pPr>
            <a:r>
              <a:rPr lang="en-IN" dirty="0"/>
              <a:t>A package's dependencies are also isolated within the package. Thus, two packages depending on different versions of a common package could be installed, and they would each have their own copy and therefore work flawlessly.</a:t>
            </a:r>
          </a:p>
          <a:p>
            <a:pPr lvl="1">
              <a:buFont typeface="Arial" panose="020B0604020202020204" pitchFamily="34" charset="0"/>
              <a:buChar char="•"/>
            </a:pPr>
            <a:endParaRPr lang="en-IN" dirty="0"/>
          </a:p>
          <a:p>
            <a:pPr lvl="1">
              <a:buFont typeface="Arial" panose="020B0604020202020204" pitchFamily="34" charset="0"/>
              <a:buChar char="•"/>
            </a:pPr>
            <a:r>
              <a:rPr lang="en-IN" dirty="0"/>
              <a:t>Administrator (superuser) rights are not needed to install a package</a:t>
            </a:r>
          </a:p>
          <a:p>
            <a:pPr lvl="1">
              <a:buFont typeface="Arial" panose="020B0604020202020204" pitchFamily="34" charset="0"/>
              <a:buChar char="•"/>
            </a:pPr>
            <a:endParaRPr lang="en-IN" dirty="0"/>
          </a:p>
          <a:p>
            <a:pPr>
              <a:buFont typeface="Arial" panose="020B0604020202020204" pitchFamily="34" charset="0"/>
              <a:buChar char="•"/>
            </a:pPr>
            <a:r>
              <a:rPr lang="en-IN" dirty="0"/>
              <a:t>There is, of course, an option to install packages globally, and sometimes it is useful to do this.</a:t>
            </a:r>
          </a:p>
          <a:p>
            <a:pPr lvl="1">
              <a:buFont typeface="Arial" panose="020B0604020202020204" pitchFamily="34" charset="0"/>
              <a:buChar char="•"/>
            </a:pPr>
            <a:r>
              <a:rPr lang="en-IN" dirty="0"/>
              <a:t>In such cases, the –g option of </a:t>
            </a:r>
            <a:r>
              <a:rPr lang="en-IN" dirty="0" err="1"/>
              <a:t>npm</a:t>
            </a:r>
            <a:r>
              <a:rPr lang="en-IN" dirty="0"/>
              <a:t> install can be used to install a package globally and made available everywhere.</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715699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3F46C-D9FB-05F1-4A89-AE55D79B831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B70C3DE-84CF-6833-B634-7688EDE95E7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Express</a:t>
            </a:r>
          </a:p>
          <a:p>
            <a:pPr lvl="1">
              <a:buFont typeface="Arial" panose="020B0604020202020204" pitchFamily="34" charset="0"/>
              <a:buChar char="•"/>
            </a:pPr>
            <a:r>
              <a:rPr lang="en-IN" dirty="0"/>
              <a:t>Express is the best way to run an HTTP server in the Node.js environment.</a:t>
            </a:r>
          </a:p>
          <a:p>
            <a:pPr lvl="1">
              <a:buFont typeface="Arial" panose="020B0604020202020204" pitchFamily="34" charset="0"/>
              <a:buChar char="•"/>
            </a:pPr>
            <a:r>
              <a:rPr lang="en-IN" dirty="0">
                <a:solidFill>
                  <a:schemeClr val="accent4">
                    <a:lumMod val="60000"/>
                    <a:lumOff val="40000"/>
                  </a:schemeClr>
                </a:solidFill>
              </a:rPr>
              <a:t>(We’ll use Express to serve only static files. This is so that we get used to what Express does, without getting into a lot of server-side coding. We’ll serve the index.html file that we created previously via Express.)</a:t>
            </a:r>
          </a:p>
          <a:p>
            <a:pPr lvl="1">
              <a:buFont typeface="Arial" panose="020B0604020202020204" pitchFamily="34" charset="0"/>
              <a:buChar char="•"/>
            </a:pPr>
            <a:r>
              <a:rPr lang="en-IN" dirty="0"/>
              <a:t>Install express/ when in doubt we can run the following command (</a:t>
            </a:r>
            <a:r>
              <a:rPr lang="en-IN" b="1" dirty="0"/>
              <a:t>latest stable version of Express.js is 5.2.1</a:t>
            </a:r>
            <a:r>
              <a:rPr lang="en-IN" dirty="0"/>
              <a:t>)</a:t>
            </a:r>
          </a:p>
          <a:p>
            <a:pPr lvl="2">
              <a:buFont typeface="Arial" panose="020B0604020202020204" pitchFamily="34" charset="0"/>
              <a:buChar char="•"/>
            </a:pPr>
            <a:r>
              <a:rPr lang="en-IN" dirty="0"/>
              <a:t>$ </a:t>
            </a:r>
            <a:r>
              <a:rPr lang="en-IN" dirty="0" err="1"/>
              <a:t>npm</a:t>
            </a:r>
            <a:r>
              <a:rPr lang="en-IN" dirty="0"/>
              <a:t> install express@5.2.1</a:t>
            </a:r>
          </a:p>
          <a:p>
            <a:pPr lvl="2">
              <a:buFont typeface="Arial" panose="020B0604020202020204" pitchFamily="34" charset="0"/>
              <a:buChar char="•"/>
            </a:pPr>
            <a:endParaRPr lang="en-IN" dirty="0"/>
          </a:p>
          <a:p>
            <a:pPr lvl="1">
              <a:buFont typeface="Arial" panose="020B0604020202020204" pitchFamily="34" charset="0"/>
              <a:buChar char="•"/>
            </a:pPr>
            <a:r>
              <a:rPr lang="en-IN" dirty="0"/>
              <a:t>To start using Express, let’s import the module and use the top-level function that the module exports, in order to instantiate an application. This can be done using the following code:</a:t>
            </a:r>
          </a:p>
          <a:p>
            <a:pPr lvl="3">
              <a:buFont typeface="Arial" panose="020B0604020202020204" pitchFamily="34" charset="0"/>
              <a:buChar char="•"/>
            </a:pPr>
            <a:r>
              <a:rPr lang="en-IN" sz="1600" dirty="0"/>
              <a:t>...</a:t>
            </a:r>
          </a:p>
          <a:p>
            <a:pPr lvl="3">
              <a:buFont typeface="Arial" panose="020B0604020202020204" pitchFamily="34" charset="0"/>
              <a:buChar char="•"/>
            </a:pPr>
            <a:r>
              <a:rPr lang="en-IN" sz="1600" dirty="0" err="1"/>
              <a:t>const</a:t>
            </a:r>
            <a:r>
              <a:rPr lang="en-IN" sz="1600" dirty="0"/>
              <a:t> express = require('</a:t>
            </a:r>
            <a:r>
              <a:rPr lang="en-IN" sz="1600" dirty="0" err="1"/>
              <a:t>express'</a:t>
            </a:r>
            <a:r>
              <a:rPr lang="en-IN" sz="1600" dirty="0"/>
              <a:t>);</a:t>
            </a:r>
          </a:p>
          <a:p>
            <a:pPr lvl="3">
              <a:buFont typeface="Arial" panose="020B0604020202020204" pitchFamily="34" charset="0"/>
              <a:buChar char="•"/>
            </a:pPr>
            <a:r>
              <a:rPr lang="en-IN" sz="1600" dirty="0"/>
              <a:t>...</a:t>
            </a:r>
          </a:p>
          <a:p>
            <a:pPr lvl="1">
              <a:buFont typeface="Arial" panose="020B0604020202020204" pitchFamily="34" charset="0"/>
              <a:buChar char="•"/>
            </a:pPr>
            <a:r>
              <a:rPr lang="en-IN" dirty="0">
                <a:solidFill>
                  <a:srgbClr val="FF0000"/>
                </a:solidFill>
              </a:rPr>
              <a:t>require</a:t>
            </a:r>
            <a:r>
              <a:rPr lang="en-IN" dirty="0"/>
              <a:t> is a JavaScript keyword specific to Node.js, and this is used to import other modules.</a:t>
            </a:r>
          </a:p>
          <a:p>
            <a:pPr lvl="1">
              <a:buFont typeface="Arial" panose="020B0604020202020204" pitchFamily="34" charset="0"/>
              <a:buChar char="•"/>
            </a:pPr>
            <a:r>
              <a:rPr lang="en-IN" dirty="0"/>
              <a:t>All needed scripts were included directly in HTML files only.</a:t>
            </a:r>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9717802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C1E37-97CD-94BB-2C6B-BA54F73B857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E896BA0-5411-5AF2-A910-D4CBBDCA8DF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2000" dirty="0"/>
              <a:t>An Express application is web server that listens on a specific IP address and port. Multiple applications can be created, which listen on different ports.</a:t>
            </a:r>
          </a:p>
          <a:p>
            <a:pPr lvl="1">
              <a:buFont typeface="Arial" panose="020B0604020202020204" pitchFamily="34" charset="0"/>
              <a:buChar char="•"/>
            </a:pPr>
            <a:r>
              <a:rPr lang="en-IN" sz="2000" dirty="0"/>
              <a:t>instantiate the one and only application by calling the express() function:</a:t>
            </a:r>
          </a:p>
          <a:p>
            <a:pPr lvl="2">
              <a:buFont typeface="Arial" panose="020B0604020202020204" pitchFamily="34" charset="0"/>
              <a:buChar char="•"/>
            </a:pPr>
            <a:r>
              <a:rPr lang="en-IN" sz="1600" dirty="0"/>
              <a:t>... </a:t>
            </a:r>
          </a:p>
          <a:p>
            <a:pPr lvl="2">
              <a:buFont typeface="Arial" panose="020B0604020202020204" pitchFamily="34" charset="0"/>
              <a:buChar char="•"/>
            </a:pPr>
            <a:r>
              <a:rPr lang="en-IN" sz="1600" dirty="0" err="1"/>
              <a:t>const</a:t>
            </a:r>
            <a:r>
              <a:rPr lang="en-IN" sz="1600" dirty="0"/>
              <a:t> app = express(); </a:t>
            </a:r>
          </a:p>
          <a:p>
            <a:pPr lvl="2">
              <a:buFont typeface="Arial" panose="020B0604020202020204" pitchFamily="34" charset="0"/>
              <a:buChar char="•"/>
            </a:pPr>
            <a:r>
              <a:rPr lang="en-IN" sz="1600" dirty="0"/>
              <a:t>...</a:t>
            </a:r>
          </a:p>
          <a:p>
            <a:pPr lvl="1">
              <a:buFont typeface="Arial" panose="020B0604020202020204" pitchFamily="34" charset="0"/>
              <a:buChar char="•"/>
            </a:pPr>
            <a:r>
              <a:rPr lang="en-IN" sz="2000" dirty="0"/>
              <a:t>Express is a framework that does minimal work by itself; instead, it gets most of the job done by functions called </a:t>
            </a:r>
            <a:r>
              <a:rPr lang="en-IN" sz="2000" dirty="0">
                <a:solidFill>
                  <a:srgbClr val="FF0000"/>
                </a:solidFill>
              </a:rPr>
              <a:t>middleware</a:t>
            </a:r>
            <a:r>
              <a:rPr lang="en-IN" sz="2000" dirty="0"/>
              <a:t>.</a:t>
            </a:r>
          </a:p>
          <a:p>
            <a:pPr lvl="1">
              <a:buFont typeface="Arial" panose="020B0604020202020204" pitchFamily="34" charset="0"/>
              <a:buChar char="•"/>
            </a:pPr>
            <a:r>
              <a:rPr lang="en-IN" sz="2000" dirty="0"/>
              <a:t>A middleware is a function that takes in an HTTP </a:t>
            </a:r>
            <a:r>
              <a:rPr lang="en-IN" sz="2000" dirty="0">
                <a:solidFill>
                  <a:srgbClr val="FF0000"/>
                </a:solidFill>
              </a:rPr>
              <a:t>request</a:t>
            </a:r>
            <a:r>
              <a:rPr lang="en-IN" sz="2000" dirty="0"/>
              <a:t> and </a:t>
            </a:r>
            <a:r>
              <a:rPr lang="en-IN" sz="2000" dirty="0">
                <a:solidFill>
                  <a:srgbClr val="FF0000"/>
                </a:solidFill>
              </a:rPr>
              <a:t>response</a:t>
            </a:r>
            <a:r>
              <a:rPr lang="en-IN" sz="2000" dirty="0"/>
              <a:t> </a:t>
            </a:r>
            <a:r>
              <a:rPr lang="en-IN" sz="2000" dirty="0">
                <a:solidFill>
                  <a:srgbClr val="FF0000"/>
                </a:solidFill>
              </a:rPr>
              <a:t>object</a:t>
            </a:r>
            <a:r>
              <a:rPr lang="en-IN" sz="2000" dirty="0"/>
              <a:t>, plus the </a:t>
            </a:r>
            <a:r>
              <a:rPr lang="en-IN" sz="2000" dirty="0">
                <a:solidFill>
                  <a:srgbClr val="FF0000"/>
                </a:solidFill>
              </a:rPr>
              <a:t>next</a:t>
            </a:r>
            <a:r>
              <a:rPr lang="en-IN" sz="2000" dirty="0"/>
              <a:t> </a:t>
            </a:r>
            <a:r>
              <a:rPr lang="en-IN" sz="2000" dirty="0">
                <a:solidFill>
                  <a:srgbClr val="FF0000"/>
                </a:solidFill>
              </a:rPr>
              <a:t>middleware</a:t>
            </a:r>
            <a:r>
              <a:rPr lang="en-IN" sz="2000" dirty="0"/>
              <a:t> </a:t>
            </a:r>
            <a:r>
              <a:rPr lang="en-IN" sz="2000" dirty="0">
                <a:solidFill>
                  <a:srgbClr val="FF0000"/>
                </a:solidFill>
              </a:rPr>
              <a:t>function</a:t>
            </a:r>
            <a:r>
              <a:rPr lang="en-IN" sz="2000" dirty="0"/>
              <a:t> in the chain. </a:t>
            </a:r>
          </a:p>
          <a:p>
            <a:pPr lvl="1">
              <a:buFont typeface="Arial" panose="020B0604020202020204" pitchFamily="34" charset="0"/>
              <a:buChar char="•"/>
            </a:pPr>
            <a:r>
              <a:rPr lang="en-IN" sz="2000" dirty="0"/>
              <a:t>The function can look at and modify the request and response objects, respond to requests, or decide to continue with middleware chain by calling the next middleware function.</a:t>
            </a:r>
          </a:p>
          <a:p>
            <a:pPr lvl="1">
              <a:buFont typeface="Arial" panose="020B0604020202020204" pitchFamily="34" charset="0"/>
              <a:buChar char="•"/>
            </a:pPr>
            <a:r>
              <a:rPr lang="en-IN" sz="2000" dirty="0"/>
              <a:t>We need something that looks at a request and returns the contents of a file based on the request URL’s path.</a:t>
            </a:r>
          </a:p>
          <a:p>
            <a:pPr lvl="1">
              <a:buFont typeface="Arial" panose="020B0604020202020204" pitchFamily="34" charset="0"/>
              <a:buChar char="•"/>
            </a:pPr>
            <a:r>
              <a:rPr lang="en-IN" sz="2000" dirty="0"/>
              <a:t>The built-in </a:t>
            </a:r>
            <a:r>
              <a:rPr lang="en-IN" sz="2000" dirty="0" err="1">
                <a:solidFill>
                  <a:srgbClr val="FF0000"/>
                </a:solidFill>
              </a:rPr>
              <a:t>express.static</a:t>
            </a:r>
            <a:r>
              <a:rPr lang="en-IN" sz="2000" dirty="0">
                <a:solidFill>
                  <a:srgbClr val="FF0000"/>
                </a:solidFill>
              </a:rPr>
              <a:t> </a:t>
            </a:r>
            <a:r>
              <a:rPr lang="en-IN" sz="2000" dirty="0"/>
              <a:t>function generates a middleware function</a:t>
            </a: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7508684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ABA9C-0EFE-C30A-4537-49822542C6F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5D914C3-EAF9-BFC6-120B-D5C201FA89A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dirty="0"/>
              <a:t>It responds to a request by trying to match the request URL with a file under a directory specified by the parameter to the generator function.</a:t>
            </a:r>
          </a:p>
          <a:p>
            <a:pPr lvl="1">
              <a:buFont typeface="Arial" panose="020B0604020202020204" pitchFamily="34" charset="0"/>
              <a:buChar char="•"/>
            </a:pPr>
            <a:r>
              <a:rPr lang="en-IN" dirty="0"/>
              <a:t>If a file exists, it returns the contents of the file as the response, if not, it chains to the next middleware function.</a:t>
            </a:r>
          </a:p>
          <a:p>
            <a:pPr lvl="1">
              <a:buFont typeface="Arial" panose="020B0604020202020204" pitchFamily="34" charset="0"/>
              <a:buChar char="•"/>
            </a:pPr>
            <a:r>
              <a:rPr lang="en-IN" dirty="0"/>
              <a:t>This is how we can create the middleware:</a:t>
            </a:r>
          </a:p>
          <a:p>
            <a:pPr lvl="2">
              <a:buFont typeface="Arial" panose="020B0604020202020204" pitchFamily="34" charset="0"/>
              <a:buChar char="•"/>
            </a:pPr>
            <a:r>
              <a:rPr lang="en-IN" sz="1800" dirty="0"/>
              <a:t>... </a:t>
            </a:r>
          </a:p>
          <a:p>
            <a:pPr lvl="2">
              <a:buFont typeface="Arial" panose="020B0604020202020204" pitchFamily="34" charset="0"/>
              <a:buChar char="•"/>
            </a:pPr>
            <a:r>
              <a:rPr lang="en-IN" sz="1800" dirty="0" err="1"/>
              <a:t>const</a:t>
            </a:r>
            <a:r>
              <a:rPr lang="en-IN" sz="1800" dirty="0"/>
              <a:t> </a:t>
            </a:r>
            <a:r>
              <a:rPr lang="en-IN" sz="1800" dirty="0" err="1"/>
              <a:t>fileServerMiddleware</a:t>
            </a:r>
            <a:r>
              <a:rPr lang="en-IN" sz="1800" dirty="0"/>
              <a:t> = </a:t>
            </a:r>
            <a:r>
              <a:rPr lang="en-IN" sz="1800" dirty="0" err="1"/>
              <a:t>express.static</a:t>
            </a:r>
            <a:r>
              <a:rPr lang="en-IN" sz="1800" dirty="0"/>
              <a:t>('public’); </a:t>
            </a:r>
          </a:p>
          <a:p>
            <a:pPr lvl="2">
              <a:buFont typeface="Arial" panose="020B0604020202020204" pitchFamily="34" charset="0"/>
              <a:buChar char="•"/>
            </a:pPr>
            <a:r>
              <a:rPr lang="en-IN" sz="1800" dirty="0"/>
              <a:t>...</a:t>
            </a:r>
          </a:p>
          <a:p>
            <a:pPr lvl="1">
              <a:buFont typeface="Arial" panose="020B0604020202020204" pitchFamily="34" charset="0"/>
              <a:buChar char="•"/>
            </a:pPr>
            <a:endParaRPr lang="en-US" dirty="0"/>
          </a:p>
          <a:p>
            <a:pPr lvl="1">
              <a:buFont typeface="Arial" panose="020B0604020202020204" pitchFamily="34" charset="0"/>
              <a:buChar char="•"/>
            </a:pPr>
            <a:r>
              <a:rPr lang="en-IN" dirty="0"/>
              <a:t>The argument to the static() function is the directory where the middleware should look for the files, relative to where the app is being run.</a:t>
            </a:r>
          </a:p>
          <a:p>
            <a:pPr lvl="1">
              <a:buFont typeface="Arial" panose="020B0604020202020204" pitchFamily="34" charset="0"/>
              <a:buChar char="•"/>
            </a:pPr>
            <a:r>
              <a:rPr lang="en-IN" dirty="0"/>
              <a:t>(Let’s create this new directory, public, under the project root and move index.html)</a:t>
            </a:r>
          </a:p>
          <a:p>
            <a:pPr lvl="1">
              <a:buFont typeface="Arial" panose="020B0604020202020204" pitchFamily="34" charset="0"/>
              <a:buChar char="•"/>
            </a:pPr>
            <a:r>
              <a:rPr lang="en-IN" dirty="0"/>
              <a:t>Middleware in an Express application can be mounted using the </a:t>
            </a:r>
            <a:r>
              <a:rPr lang="en-IN" dirty="0">
                <a:solidFill>
                  <a:srgbClr val="FF0000"/>
                </a:solidFill>
              </a:rPr>
              <a:t>use() </a:t>
            </a:r>
            <a:r>
              <a:rPr lang="en-IN" dirty="0"/>
              <a:t>method of the application. </a:t>
            </a:r>
          </a:p>
          <a:p>
            <a:pPr lvl="1">
              <a:buFont typeface="Arial" panose="020B0604020202020204" pitchFamily="34" charset="0"/>
              <a:buChar char="•"/>
            </a:pPr>
            <a:r>
              <a:rPr lang="en-IN" dirty="0"/>
              <a:t>The first argument to this method is the base URL of any HTTP request to match. The second argument is the middleware function itself. </a:t>
            </a:r>
          </a:p>
          <a:p>
            <a:pPr lvl="2">
              <a:buFont typeface="Arial" panose="020B0604020202020204" pitchFamily="34" charset="0"/>
              <a:buChar char="•"/>
            </a:pPr>
            <a:r>
              <a:rPr lang="en-IN" sz="1800" dirty="0"/>
              <a:t>... </a:t>
            </a:r>
          </a:p>
          <a:p>
            <a:pPr lvl="2">
              <a:buFont typeface="Arial" panose="020B0604020202020204" pitchFamily="34" charset="0"/>
              <a:buChar char="•"/>
            </a:pPr>
            <a:r>
              <a:rPr lang="en-IN" sz="1800" dirty="0" err="1"/>
              <a:t>app.use</a:t>
            </a:r>
            <a:r>
              <a:rPr lang="en-IN" sz="1800" dirty="0"/>
              <a:t>('/', </a:t>
            </a:r>
            <a:r>
              <a:rPr lang="en-IN" sz="1800" dirty="0" err="1"/>
              <a:t>fileServerMiddleware</a:t>
            </a:r>
            <a:r>
              <a:rPr lang="en-IN" sz="1800" dirty="0"/>
              <a:t>); </a:t>
            </a:r>
          </a:p>
          <a:p>
            <a:pPr lvl="2">
              <a:buFont typeface="Arial" panose="020B0604020202020204" pitchFamily="34" charset="0"/>
              <a:buChar char="•"/>
            </a:pPr>
            <a:r>
              <a:rPr lang="en-IN" sz="1800" dirty="0"/>
              <a:t>...</a:t>
            </a: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5564265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10B2-FFB9-06DD-A073-5912FD70945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3509B30-E1C5-494C-29B9-4F9942FDF0F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Now that the application is set up, we’ll need to start the server and let it serve HTTP requests. </a:t>
            </a:r>
          </a:p>
          <a:p>
            <a:pPr lvl="1">
              <a:buFont typeface="Arial" panose="020B0604020202020204" pitchFamily="34" charset="0"/>
              <a:buChar char="•"/>
            </a:pPr>
            <a:r>
              <a:rPr lang="en-IN" sz="1800" dirty="0">
                <a:solidFill>
                  <a:srgbClr val="FF0000"/>
                </a:solidFill>
              </a:rPr>
              <a:t>The listen() </a:t>
            </a:r>
            <a:r>
              <a:rPr lang="en-IN" sz="1800" dirty="0"/>
              <a:t>method of the application starts the server and waits eternally for requests.</a:t>
            </a:r>
          </a:p>
          <a:p>
            <a:pPr lvl="2">
              <a:buFont typeface="Arial" panose="020B0604020202020204" pitchFamily="34" charset="0"/>
              <a:buChar char="•"/>
            </a:pPr>
            <a:r>
              <a:rPr lang="en-US" sz="2000" dirty="0"/>
              <a:t>...</a:t>
            </a:r>
          </a:p>
          <a:p>
            <a:pPr lvl="2">
              <a:buFont typeface="Arial" panose="020B0604020202020204" pitchFamily="34" charset="0"/>
              <a:buChar char="•"/>
            </a:pPr>
            <a:r>
              <a:rPr lang="en-US" sz="2000" dirty="0" err="1"/>
              <a:t>app.listen</a:t>
            </a:r>
            <a:r>
              <a:rPr lang="en-US" sz="2000" dirty="0"/>
              <a:t>(3000, function () {</a:t>
            </a:r>
          </a:p>
          <a:p>
            <a:pPr lvl="2">
              <a:buFont typeface="Arial" panose="020B0604020202020204" pitchFamily="34" charset="0"/>
              <a:buChar char="•"/>
            </a:pPr>
            <a:r>
              <a:rPr lang="en-US" sz="2000" dirty="0"/>
              <a:t>console.log('App started on port 3000');</a:t>
            </a:r>
          </a:p>
          <a:p>
            <a:pPr lvl="2">
              <a:buFont typeface="Arial" panose="020B0604020202020204" pitchFamily="34" charset="0"/>
              <a:buChar char="•"/>
            </a:pPr>
            <a:r>
              <a:rPr lang="en-US" sz="2000" dirty="0"/>
              <a:t>});</a:t>
            </a:r>
          </a:p>
          <a:p>
            <a:pPr lvl="2">
              <a:buFont typeface="Arial" panose="020B0604020202020204" pitchFamily="34" charset="0"/>
              <a:buChar char="•"/>
            </a:pPr>
            <a:r>
              <a:rPr lang="en-US" sz="2000" dirty="0"/>
              <a:t>...</a:t>
            </a:r>
            <a:endParaRPr lang="en-IN" sz="2000" dirty="0"/>
          </a:p>
          <a:p>
            <a:pPr lvl="1">
              <a:buFont typeface="Arial" panose="020B0604020202020204" pitchFamily="34" charset="0"/>
              <a:buChar char="•"/>
            </a:pPr>
            <a:r>
              <a:rPr lang="en-IN" sz="1800" dirty="0"/>
              <a:t>It takes in a port number as the first argument.</a:t>
            </a:r>
          </a:p>
          <a:p>
            <a:pPr lvl="1">
              <a:buFont typeface="Arial" panose="020B0604020202020204" pitchFamily="34" charset="0"/>
              <a:buChar char="•"/>
            </a:pPr>
            <a:r>
              <a:rPr lang="en-IN" sz="1800" dirty="0"/>
              <a:t>The listen() method also takes another argument, an optional callback that can be called when the server has been successfully started.</a:t>
            </a:r>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3888389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3880B-2264-E57F-D44E-D2EC851FCE8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93E09EA-ED89-7593-C645-8560D4040FE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dirty="0"/>
              <a:t>Let’s put all this together in a file called server.js in the root directory of the project. </a:t>
            </a:r>
          </a:p>
          <a:p>
            <a:pPr lvl="1">
              <a:buFont typeface="Arial" panose="020B0604020202020204" pitchFamily="34" charset="0"/>
              <a:buChar char="•"/>
            </a:pPr>
            <a:r>
              <a:rPr lang="en-US" dirty="0"/>
              <a:t>server.js: Express Server</a:t>
            </a:r>
          </a:p>
          <a:p>
            <a:pPr marL="384048" lvl="2" indent="0">
              <a:buNone/>
            </a:pPr>
            <a:r>
              <a:rPr lang="en-US" sz="2000" dirty="0">
                <a:solidFill>
                  <a:srgbClr val="FF0000"/>
                </a:solidFill>
              </a:rPr>
              <a:t>const express = require('</a:t>
            </a:r>
            <a:r>
              <a:rPr lang="en-US" sz="2000" dirty="0" err="1">
                <a:solidFill>
                  <a:srgbClr val="FF0000"/>
                </a:solidFill>
              </a:rPr>
              <a:t>express'</a:t>
            </a:r>
            <a:r>
              <a:rPr lang="en-US" sz="2000" dirty="0">
                <a:solidFill>
                  <a:srgbClr val="FF0000"/>
                </a:solidFill>
              </a:rPr>
              <a:t>);</a:t>
            </a:r>
          </a:p>
          <a:p>
            <a:pPr marL="384048" lvl="2" indent="0">
              <a:buNone/>
            </a:pPr>
            <a:r>
              <a:rPr lang="en-US" sz="2000" dirty="0">
                <a:solidFill>
                  <a:srgbClr val="FF0000"/>
                </a:solidFill>
              </a:rPr>
              <a:t>const app = express();</a:t>
            </a:r>
          </a:p>
          <a:p>
            <a:pPr marL="384048" lvl="2" indent="0">
              <a:buNone/>
            </a:pPr>
            <a:r>
              <a:rPr lang="en-US" sz="2000" dirty="0" err="1">
                <a:solidFill>
                  <a:srgbClr val="FF0000"/>
                </a:solidFill>
              </a:rPr>
              <a:t>app.use</a:t>
            </a:r>
            <a:r>
              <a:rPr lang="en-US" sz="2000" dirty="0">
                <a:solidFill>
                  <a:srgbClr val="FF0000"/>
                </a:solidFill>
              </a:rPr>
              <a:t>(</a:t>
            </a:r>
            <a:r>
              <a:rPr lang="en-US" sz="2000" dirty="0" err="1">
                <a:solidFill>
                  <a:srgbClr val="FF0000"/>
                </a:solidFill>
              </a:rPr>
              <a:t>express.static</a:t>
            </a:r>
            <a:r>
              <a:rPr lang="en-US" sz="2000" dirty="0">
                <a:solidFill>
                  <a:srgbClr val="FF0000"/>
                </a:solidFill>
              </a:rPr>
              <a:t>('public'));</a:t>
            </a:r>
          </a:p>
          <a:p>
            <a:pPr marL="384048" lvl="2" indent="0">
              <a:buNone/>
            </a:pPr>
            <a:r>
              <a:rPr lang="en-US" sz="2000" dirty="0" err="1">
                <a:solidFill>
                  <a:srgbClr val="FF0000"/>
                </a:solidFill>
              </a:rPr>
              <a:t>app.listen</a:t>
            </a:r>
            <a:r>
              <a:rPr lang="en-US" sz="2000" dirty="0">
                <a:solidFill>
                  <a:srgbClr val="FF0000"/>
                </a:solidFill>
              </a:rPr>
              <a:t>(3000, function () {</a:t>
            </a:r>
          </a:p>
          <a:p>
            <a:pPr marL="384048" lvl="2" indent="0">
              <a:buNone/>
            </a:pPr>
            <a:r>
              <a:rPr lang="en-US" sz="2000" dirty="0">
                <a:solidFill>
                  <a:srgbClr val="FF0000"/>
                </a:solidFill>
              </a:rPr>
              <a:t>console.log('App started on port 3000');</a:t>
            </a:r>
          </a:p>
          <a:p>
            <a:pPr marL="384048" lvl="2" indent="0">
              <a:buNone/>
            </a:pPr>
            <a:r>
              <a:rPr lang="en-US" sz="2000" dirty="0">
                <a:solidFill>
                  <a:srgbClr val="FF0000"/>
                </a:solidFill>
              </a:rPr>
              <a:t>});</a:t>
            </a:r>
          </a:p>
          <a:p>
            <a:pPr lvl="1"/>
            <a:endParaRPr lang="en-US" sz="2600" dirty="0"/>
          </a:p>
          <a:p>
            <a:pPr lvl="1"/>
            <a:endParaRPr lang="en-US" sz="1800" dirty="0"/>
          </a:p>
          <a:p>
            <a:endParaRPr lang="en-US" sz="2600" dirty="0">
              <a:solidFill>
                <a:srgbClr val="FF0000"/>
              </a:solidFill>
            </a:endParaRPr>
          </a:p>
          <a:p>
            <a:pPr marL="0" indent="0">
              <a:buFont typeface="Calibri" panose="020F0502020204030204" pitchFamily="34" charset="0"/>
              <a:buNone/>
            </a:pPr>
            <a:endParaRPr lang="en-IN" dirty="0"/>
          </a:p>
        </p:txBody>
      </p:sp>
      <p:sp>
        <p:nvSpPr>
          <p:cNvPr id="2" name="TextBox 1">
            <a:extLst>
              <a:ext uri="{FF2B5EF4-FFF2-40B4-BE49-F238E27FC236}">
                <a16:creationId xmlns:a16="http://schemas.microsoft.com/office/drawing/2014/main" id="{3178D249-09A8-7EB5-63F1-963EBBDE17B7}"/>
              </a:ext>
            </a:extLst>
          </p:cNvPr>
          <p:cNvSpPr txBox="1"/>
          <p:nvPr/>
        </p:nvSpPr>
        <p:spPr>
          <a:xfrm>
            <a:off x="6014906" y="804350"/>
            <a:ext cx="5587068" cy="3139321"/>
          </a:xfrm>
          <a:prstGeom prst="rect">
            <a:avLst/>
          </a:prstGeom>
          <a:noFill/>
        </p:spPr>
        <p:txBody>
          <a:bodyPr wrap="square" rtlCol="0">
            <a:spAutoFit/>
          </a:bodyPr>
          <a:lstStyle/>
          <a:p>
            <a:r>
              <a:rPr lang="en-US" dirty="0"/>
              <a:t>//index.html</a:t>
            </a:r>
          </a:p>
          <a:p>
            <a:r>
              <a:rPr lang="en-US" dirty="0"/>
              <a:t>&lt;!DOCTYPE html&gt;</a:t>
            </a:r>
          </a:p>
          <a:p>
            <a:r>
              <a:rPr lang="en-US" dirty="0"/>
              <a:t>&lt;html&gt;</a:t>
            </a:r>
          </a:p>
          <a:p>
            <a:r>
              <a:rPr lang="en-US" dirty="0"/>
              <a:t>&lt;head&gt;</a:t>
            </a:r>
          </a:p>
          <a:p>
            <a:r>
              <a:rPr lang="en-US" dirty="0"/>
              <a:t>    &lt;title&gt;Express Example&lt;/title&gt;</a:t>
            </a:r>
          </a:p>
          <a:p>
            <a:r>
              <a:rPr lang="en-US" dirty="0"/>
              <a:t>&lt;/head&gt;</a:t>
            </a:r>
          </a:p>
          <a:p>
            <a:r>
              <a:rPr lang="en-US" dirty="0"/>
              <a:t>&lt;body&gt;</a:t>
            </a:r>
          </a:p>
          <a:p>
            <a:r>
              <a:rPr lang="en-US" dirty="0"/>
              <a:t>    &lt;h1&gt;Welcome to Express.js&lt;/h1&gt;</a:t>
            </a:r>
          </a:p>
          <a:p>
            <a:r>
              <a:rPr lang="en-US" dirty="0"/>
              <a:t>    &lt;p&gt;This page is served using Express.&lt;/p&gt;</a:t>
            </a:r>
          </a:p>
          <a:p>
            <a:r>
              <a:rPr lang="en-US" dirty="0"/>
              <a:t>&lt;/body&gt;</a:t>
            </a:r>
          </a:p>
          <a:p>
            <a:r>
              <a:rPr lang="en-US" dirty="0"/>
              <a:t>&lt;/html&gt;</a:t>
            </a:r>
            <a:endParaRPr lang="en-IN" dirty="0"/>
          </a:p>
        </p:txBody>
      </p:sp>
    </p:spTree>
    <p:extLst>
      <p:ext uri="{BB962C8B-B14F-4D97-AF65-F5344CB8AC3E}">
        <p14:creationId xmlns:p14="http://schemas.microsoft.com/office/powerpoint/2010/main" val="4034181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0FF9-6E99-AC5E-B864-1C3D76F8E1F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4A74B89-E723-2A79-ECDF-F2A620632A6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Directory structure -&gt;</a:t>
            </a: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r>
              <a:rPr lang="en-IN" dirty="0"/>
              <a:t>Executing the program</a:t>
            </a:r>
          </a:p>
          <a:p>
            <a:pPr lvl="2">
              <a:buFont typeface="Arial" panose="020B0604020202020204" pitchFamily="34" charset="0"/>
              <a:buChar char="•"/>
            </a:pPr>
            <a:r>
              <a:rPr lang="en-IN" dirty="0"/>
              <a:t>PS E:\ReactFolder\program4Express&gt; node --version</a:t>
            </a:r>
          </a:p>
          <a:p>
            <a:pPr lvl="2">
              <a:buFont typeface="Arial" panose="020B0604020202020204" pitchFamily="34" charset="0"/>
              <a:buChar char="•"/>
            </a:pPr>
            <a:r>
              <a:rPr lang="en-IN" dirty="0"/>
              <a:t>v24.18.0</a:t>
            </a:r>
          </a:p>
          <a:p>
            <a:pPr lvl="2">
              <a:buFont typeface="Arial" panose="020B0604020202020204" pitchFamily="34" charset="0"/>
              <a:buChar char="•"/>
            </a:pPr>
            <a:r>
              <a:rPr lang="en-IN" dirty="0"/>
              <a:t>PS E:\ReactFolder\program4Express&gt; </a:t>
            </a:r>
            <a:r>
              <a:rPr lang="en-IN" dirty="0" err="1"/>
              <a:t>npm</a:t>
            </a:r>
            <a:r>
              <a:rPr lang="en-IN" dirty="0"/>
              <a:t> --version</a:t>
            </a:r>
          </a:p>
          <a:p>
            <a:pPr lvl="2">
              <a:buFont typeface="Arial" panose="020B0604020202020204" pitchFamily="34" charset="0"/>
              <a:buChar char="•"/>
            </a:pPr>
            <a:r>
              <a:rPr lang="en-IN" dirty="0"/>
              <a:t>11.16.0</a:t>
            </a:r>
          </a:p>
          <a:p>
            <a:pPr lvl="2">
              <a:buFont typeface="Arial" panose="020B0604020202020204" pitchFamily="34" charset="0"/>
              <a:buChar char="•"/>
            </a:pPr>
            <a:r>
              <a:rPr lang="en-IN" dirty="0"/>
              <a:t>PS E:\ReactFolder\program4Express&gt; </a:t>
            </a:r>
            <a:r>
              <a:rPr lang="en-IN" dirty="0" err="1"/>
              <a:t>npm</a:t>
            </a:r>
            <a:r>
              <a:rPr lang="en-IN" dirty="0"/>
              <a:t> </a:t>
            </a:r>
            <a:r>
              <a:rPr lang="en-IN" dirty="0" err="1"/>
              <a:t>init</a:t>
            </a:r>
            <a:r>
              <a:rPr lang="en-IN" dirty="0"/>
              <a:t> –y</a:t>
            </a:r>
          </a:p>
          <a:p>
            <a:pPr lvl="2">
              <a:buFont typeface="Arial" panose="020B0604020202020204" pitchFamily="34" charset="0"/>
              <a:buChar char="•"/>
            </a:pPr>
            <a:r>
              <a:rPr lang="en-IN" dirty="0"/>
              <a:t>E:\ReactFolder\program4Express&gt; </a:t>
            </a:r>
            <a:r>
              <a:rPr lang="en-IN" dirty="0" err="1"/>
              <a:t>npm</a:t>
            </a:r>
            <a:r>
              <a:rPr lang="en-IN" dirty="0"/>
              <a:t> install express</a:t>
            </a:r>
          </a:p>
          <a:p>
            <a:pPr lvl="2">
              <a:buFont typeface="Arial" panose="020B0604020202020204" pitchFamily="34" charset="0"/>
              <a:buChar char="•"/>
            </a:pPr>
            <a:r>
              <a:rPr lang="en-IN" dirty="0" err="1"/>
              <a:t>dir</a:t>
            </a:r>
            <a:endParaRPr lang="en-IN" dirty="0"/>
          </a:p>
          <a:p>
            <a:pPr lvl="2">
              <a:buFont typeface="Arial" panose="020B0604020202020204" pitchFamily="34" charset="0"/>
              <a:buChar char="•"/>
            </a:pPr>
            <a:r>
              <a:rPr lang="en-IN" dirty="0" err="1"/>
              <a:t>dir</a:t>
            </a:r>
            <a:r>
              <a:rPr lang="en-IN" dirty="0"/>
              <a:t> public</a:t>
            </a:r>
          </a:p>
          <a:p>
            <a:pPr lvl="2">
              <a:buFont typeface="Arial" panose="020B0604020202020204" pitchFamily="34" charset="0"/>
              <a:buChar char="•"/>
            </a:pPr>
            <a:r>
              <a:rPr lang="pt-BR" dirty="0"/>
              <a:t>E:\ReactFolder\program4Express&gt; node server.js</a:t>
            </a:r>
          </a:p>
          <a:p>
            <a:pPr lvl="2">
              <a:buFont typeface="Arial" panose="020B0604020202020204" pitchFamily="34" charset="0"/>
              <a:buChar char="•"/>
            </a:pPr>
            <a:r>
              <a:rPr lang="en-IN" dirty="0"/>
              <a:t>Goto browser and type </a:t>
            </a:r>
            <a:r>
              <a:rPr lang="en-IN" dirty="0">
                <a:solidFill>
                  <a:srgbClr val="FF0000"/>
                </a:solidFill>
              </a:rPr>
              <a:t>http://localhost:3000/index.html</a:t>
            </a:r>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786CFFC0-0E4A-6200-AC38-3EECDD766FD4}"/>
              </a:ext>
            </a:extLst>
          </p:cNvPr>
          <p:cNvPicPr>
            <a:picLocks noChangeAspect="1"/>
          </p:cNvPicPr>
          <p:nvPr/>
        </p:nvPicPr>
        <p:blipFill>
          <a:blip r:embed="rId2"/>
          <a:stretch>
            <a:fillRect/>
          </a:stretch>
        </p:blipFill>
        <p:spPr>
          <a:xfrm>
            <a:off x="6678086" y="825497"/>
            <a:ext cx="3615206" cy="2281023"/>
          </a:xfrm>
          <a:prstGeom prst="rect">
            <a:avLst/>
          </a:prstGeom>
        </p:spPr>
      </p:pic>
    </p:spTree>
    <p:extLst>
      <p:ext uri="{BB962C8B-B14F-4D97-AF65-F5344CB8AC3E}">
        <p14:creationId xmlns:p14="http://schemas.microsoft.com/office/powerpoint/2010/main" val="8197645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8896A-745F-994B-C1DB-68717E663C9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2C188C0-9D15-7176-D553-F4C6699F71E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Another way of running the server</a:t>
            </a:r>
          </a:p>
          <a:p>
            <a:pPr lvl="1">
              <a:buFont typeface="Arial" panose="020B0604020202020204" pitchFamily="34" charset="0"/>
              <a:buChar char="•"/>
            </a:pPr>
            <a:r>
              <a:rPr lang="en-IN" dirty="0" err="1">
                <a:solidFill>
                  <a:srgbClr val="FF0000"/>
                </a:solidFill>
              </a:rPr>
              <a:t>npm</a:t>
            </a:r>
            <a:r>
              <a:rPr lang="en-IN" dirty="0">
                <a:solidFill>
                  <a:srgbClr val="FF0000"/>
                </a:solidFill>
              </a:rPr>
              <a:t> start</a:t>
            </a:r>
          </a:p>
          <a:p>
            <a:pPr lvl="1">
              <a:buFont typeface="Arial" panose="020B0604020202020204" pitchFamily="34" charset="0"/>
              <a:buChar char="•"/>
            </a:pPr>
            <a:r>
              <a:rPr lang="en-IN" dirty="0"/>
              <a:t>When this is executed, </a:t>
            </a:r>
            <a:r>
              <a:rPr lang="en-IN" dirty="0" err="1"/>
              <a:t>npm</a:t>
            </a:r>
            <a:r>
              <a:rPr lang="en-IN" dirty="0"/>
              <a:t> looks for the file server.js and runs it using Node.js.</a:t>
            </a:r>
          </a:p>
          <a:p>
            <a:pPr lvl="1">
              <a:buFont typeface="Arial" panose="020B0604020202020204" pitchFamily="34" charset="0"/>
              <a:buChar char="•"/>
            </a:pPr>
            <a:r>
              <a:rPr lang="en-IN" dirty="0"/>
              <a:t>But what if we had a different starting point for the server? In fact, we want all the server-related files to go into a directory called server. </a:t>
            </a:r>
          </a:p>
          <a:p>
            <a:pPr lvl="1">
              <a:buFont typeface="Arial" panose="020B0604020202020204" pitchFamily="34" charset="0"/>
              <a:buChar char="•"/>
            </a:pPr>
            <a:r>
              <a:rPr lang="en-IN" dirty="0"/>
              <a:t>So, let’s create that directory and move server.js into that directory.</a:t>
            </a:r>
          </a:p>
          <a:p>
            <a:pPr lvl="1">
              <a:buFont typeface="Arial" panose="020B0604020202020204" pitchFamily="34" charset="0"/>
              <a:buChar char="•"/>
            </a:pPr>
            <a:r>
              <a:rPr lang="en-IN" dirty="0"/>
              <a:t>Now, if you run </a:t>
            </a:r>
            <a:r>
              <a:rPr lang="en-IN" dirty="0" err="1"/>
              <a:t>npm</a:t>
            </a:r>
            <a:r>
              <a:rPr lang="en-IN" dirty="0"/>
              <a:t> start, it will fail with an error. That’s because </a:t>
            </a:r>
            <a:r>
              <a:rPr lang="en-IN" dirty="0" err="1"/>
              <a:t>npm</a:t>
            </a:r>
            <a:r>
              <a:rPr lang="en-IN" dirty="0"/>
              <a:t> looks for server.js in the root (program4Express) directory and doesn’t find it.</a:t>
            </a:r>
          </a:p>
          <a:p>
            <a:pPr lvl="1">
              <a:buFont typeface="Arial" panose="020B0604020202020204" pitchFamily="34" charset="0"/>
              <a:buChar char="•"/>
            </a:pPr>
            <a:r>
              <a:rPr lang="en-IN" dirty="0"/>
              <a:t>In order to let </a:t>
            </a:r>
            <a:r>
              <a:rPr lang="en-IN" dirty="0" err="1"/>
              <a:t>npm</a:t>
            </a:r>
            <a:r>
              <a:rPr lang="en-IN" dirty="0"/>
              <a:t> know that the entry point for the server is server.js within the sub-directory called server, an entry needs to be added to the scripts section of </a:t>
            </a:r>
            <a:r>
              <a:rPr lang="en-IN" dirty="0" err="1"/>
              <a:t>package.json</a:t>
            </a:r>
            <a:r>
              <a:rPr lang="en-IN" dirty="0"/>
              <a:t>. </a:t>
            </a:r>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lvl="1">
              <a:buFont typeface="Arial" panose="020B0604020202020204" pitchFamily="34" charset="0"/>
              <a:buChar char="•"/>
            </a:pPr>
            <a:r>
              <a:rPr lang="en-IN" dirty="0"/>
              <a:t>Thus, if the server starting point is anything other than server.js in the root directory, the full command line has to be specified in the scripts section of </a:t>
            </a:r>
            <a:r>
              <a:rPr lang="en-IN" dirty="0" err="1"/>
              <a:t>package.json</a:t>
            </a:r>
            <a:r>
              <a:rPr lang="en-IN" dirty="0"/>
              <a:t>.</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89D41417-33A6-E3AA-D21D-023961C1E8C7}"/>
              </a:ext>
            </a:extLst>
          </p:cNvPr>
          <p:cNvPicPr>
            <a:picLocks noChangeAspect="1"/>
          </p:cNvPicPr>
          <p:nvPr/>
        </p:nvPicPr>
        <p:blipFill>
          <a:blip r:embed="rId2"/>
          <a:stretch>
            <a:fillRect/>
          </a:stretch>
        </p:blipFill>
        <p:spPr>
          <a:xfrm>
            <a:off x="1638840" y="3506598"/>
            <a:ext cx="6188088" cy="2068558"/>
          </a:xfrm>
          <a:prstGeom prst="rect">
            <a:avLst/>
          </a:prstGeom>
        </p:spPr>
      </p:pic>
    </p:spTree>
    <p:extLst>
      <p:ext uri="{BB962C8B-B14F-4D97-AF65-F5344CB8AC3E}">
        <p14:creationId xmlns:p14="http://schemas.microsoft.com/office/powerpoint/2010/main" val="3494834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6C783-6B3A-EC59-A627-E9096A6DED9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25D30B8-7B3B-157E-41BF-7E7EB5B645B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Separate Script File </a:t>
            </a:r>
          </a:p>
          <a:p>
            <a:pPr lvl="1">
              <a:buFont typeface="Arial" panose="020B0604020202020204" pitchFamily="34" charset="0"/>
              <a:buChar char="•"/>
            </a:pPr>
            <a:r>
              <a:rPr lang="en-IN" dirty="0"/>
              <a:t>In the earlier approach, </a:t>
            </a:r>
            <a:r>
              <a:rPr lang="en-IN" b="1" dirty="0"/>
              <a:t>JSX was converted into JavaScript at runtime</a:t>
            </a:r>
            <a:r>
              <a:rPr lang="en-IN" dirty="0"/>
              <a:t> using Babel in the browser, which slows down application loading and execution. </a:t>
            </a:r>
          </a:p>
          <a:p>
            <a:pPr lvl="1">
              <a:buFont typeface="Arial" panose="020B0604020202020204" pitchFamily="34" charset="0"/>
              <a:buChar char="•"/>
            </a:pPr>
            <a:r>
              <a:rPr lang="en-IN" dirty="0"/>
              <a:t>A better approach is to </a:t>
            </a:r>
            <a:r>
              <a:rPr lang="en-IN" b="1" dirty="0"/>
              <a:t>transform JSX during the build process</a:t>
            </a:r>
            <a:r>
              <a:rPr lang="en-IN" dirty="0"/>
              <a:t> using tools like </a:t>
            </a:r>
            <a:r>
              <a:rPr lang="en-IN" b="1" dirty="0"/>
              <a:t>Webpack and Babel</a:t>
            </a:r>
            <a:r>
              <a:rPr lang="en-IN" dirty="0"/>
              <a:t>. </a:t>
            </a:r>
          </a:p>
          <a:p>
            <a:pPr lvl="1">
              <a:buFont typeface="Arial" panose="020B0604020202020204" pitchFamily="34" charset="0"/>
              <a:buChar char="•"/>
            </a:pPr>
            <a:r>
              <a:rPr lang="en-IN" dirty="0"/>
              <a:t>This generates optimised JavaScript files before deployment, resulting in </a:t>
            </a:r>
            <a:r>
              <a:rPr lang="en-IN" b="1" dirty="0"/>
              <a:t>faster performance, improved efficiency, and a production-ready application</a:t>
            </a:r>
            <a:r>
              <a:rPr lang="en-IN" dirty="0"/>
              <a:t>.</a:t>
            </a:r>
          </a:p>
          <a:p>
            <a:pPr lvl="1">
              <a:buFont typeface="Arial" panose="020B0604020202020204" pitchFamily="34" charset="0"/>
              <a:buChar char="•"/>
            </a:pPr>
            <a:endParaRPr lang="en-IN" dirty="0"/>
          </a:p>
          <a:p>
            <a:pPr lvl="1">
              <a:buFont typeface="Arial" panose="020B0604020202020204" pitchFamily="34" charset="0"/>
              <a:buChar char="•"/>
            </a:pPr>
            <a:r>
              <a:rPr lang="en-IN" dirty="0"/>
              <a:t>first step, we need to separate out the JSX and JavaScript from the all-in-one index.html and refer to it as an external script. </a:t>
            </a:r>
          </a:p>
          <a:p>
            <a:pPr lvl="1">
              <a:buFont typeface="Arial" panose="020B0604020202020204" pitchFamily="34" charset="0"/>
              <a:buChar char="•"/>
            </a:pPr>
            <a:r>
              <a:rPr lang="en-IN" dirty="0"/>
              <a:t>This way, we can keep the HTML as pure HTML and all the scripts that need compilation in a separate file.</a:t>
            </a:r>
          </a:p>
          <a:p>
            <a:pPr lvl="1">
              <a:buFont typeface="Arial" panose="020B0604020202020204" pitchFamily="34" charset="0"/>
              <a:buChar char="•"/>
            </a:pPr>
            <a:r>
              <a:rPr lang="en-IN" dirty="0"/>
              <a:t>Let’s call this external script </a:t>
            </a:r>
            <a:r>
              <a:rPr lang="en-IN" dirty="0" err="1">
                <a:solidFill>
                  <a:srgbClr val="FF0000"/>
                </a:solidFill>
              </a:rPr>
              <a:t>App.jsx</a:t>
            </a:r>
            <a:r>
              <a:rPr lang="en-IN" dirty="0">
                <a:solidFill>
                  <a:srgbClr val="FF0000"/>
                </a:solidFill>
              </a:rPr>
              <a:t> and place it in the public directory</a:t>
            </a:r>
            <a:r>
              <a:rPr lang="en-IN" dirty="0"/>
              <a:t>, so that it can be referred to as /</a:t>
            </a:r>
            <a:r>
              <a:rPr lang="en-IN" dirty="0" err="1"/>
              <a:t>App.jsx</a:t>
            </a:r>
            <a:r>
              <a:rPr lang="en-IN" dirty="0"/>
              <a:t> from the browser. </a:t>
            </a: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40117546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09E8F-2E68-F67D-81E1-8322B4A14C2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2C99D10-17A9-16E1-F13C-0456DE897C0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000" b="1" dirty="0"/>
              <a:t>Example</a:t>
            </a:r>
          </a:p>
          <a:p>
            <a:pPr>
              <a:buFont typeface="Arial" panose="020B0604020202020204" pitchFamily="34" charset="0"/>
              <a:buChar char="•"/>
            </a:pPr>
            <a:r>
              <a:rPr lang="en-IN" sz="2000" b="1" dirty="0"/>
              <a:t>index.html</a:t>
            </a:r>
            <a:r>
              <a:rPr lang="en-IN" sz="2000" dirty="0"/>
              <a:t>: Separate HTML and JSX</a:t>
            </a:r>
          </a:p>
          <a:p>
            <a:pPr marL="201168" lvl="1" indent="0">
              <a:buNone/>
            </a:pPr>
            <a:r>
              <a:rPr lang="en-IN" sz="1800" dirty="0"/>
              <a:t>&lt;!DOCTYPE HTML&gt;</a:t>
            </a:r>
          </a:p>
          <a:p>
            <a:pPr marL="201168" lvl="1" indent="0">
              <a:buNone/>
            </a:pPr>
            <a:r>
              <a:rPr lang="en-IN" sz="1800" dirty="0"/>
              <a:t>&lt;html&gt;</a:t>
            </a:r>
          </a:p>
          <a:p>
            <a:pPr marL="201168" lvl="1" indent="0">
              <a:buNone/>
            </a:pPr>
            <a:r>
              <a:rPr lang="en-IN" sz="1800" dirty="0"/>
              <a:t>&lt;head&gt;</a:t>
            </a:r>
          </a:p>
          <a:p>
            <a:pPr marL="201168" lvl="1" indent="0">
              <a:buNone/>
            </a:pPr>
            <a:r>
              <a:rPr lang="en-IN" sz="1800" dirty="0"/>
              <a:t>	&lt;meta charset="utf-8"&gt;</a:t>
            </a:r>
          </a:p>
          <a:p>
            <a:pPr marL="201168" lvl="1" indent="0">
              <a:buNone/>
            </a:pPr>
            <a:r>
              <a:rPr lang="en-IN" sz="1800" dirty="0"/>
              <a:t>	&lt;title&gt;Pro MERN Stack&lt;/title&gt;</a:t>
            </a:r>
          </a:p>
          <a:p>
            <a:pPr marL="201168" lvl="1" indent="0">
              <a:buNone/>
            </a:pPr>
            <a:r>
              <a:rPr lang="en-IN" sz="1800" dirty="0"/>
              <a:t>	&lt;script </a:t>
            </a:r>
            <a:r>
              <a:rPr lang="en-IN" sz="1800" dirty="0" err="1"/>
              <a:t>src</a:t>
            </a:r>
            <a:r>
              <a:rPr lang="en-IN" sz="1800" dirty="0"/>
              <a:t>="https://unpkg.com/react@16/</a:t>
            </a:r>
            <a:r>
              <a:rPr lang="en-IN" sz="1800" dirty="0" err="1"/>
              <a:t>umd</a:t>
            </a:r>
            <a:r>
              <a:rPr lang="en-IN" sz="1800" dirty="0"/>
              <a:t>/react.development.js"&gt;&lt;/script&gt;</a:t>
            </a:r>
          </a:p>
          <a:p>
            <a:pPr marL="201168" lvl="1" indent="0">
              <a:buNone/>
            </a:pPr>
            <a:r>
              <a:rPr lang="en-IN" sz="1800" dirty="0"/>
              <a:t>	&lt;script </a:t>
            </a:r>
            <a:r>
              <a:rPr lang="en-IN" sz="1800" dirty="0" err="1"/>
              <a:t>src</a:t>
            </a:r>
            <a:r>
              <a:rPr lang="en-IN" sz="1800" dirty="0"/>
              <a:t>="https://unpkg.com/react-dom@16/</a:t>
            </a:r>
            <a:r>
              <a:rPr lang="en-IN" sz="1800" dirty="0" err="1"/>
              <a:t>umd</a:t>
            </a:r>
            <a:r>
              <a:rPr lang="en-IN" sz="1800" dirty="0"/>
              <a:t>/react-dom.development.js"&gt;&lt;/script&gt;</a:t>
            </a:r>
          </a:p>
          <a:p>
            <a:pPr marL="201168" lvl="1" indent="0">
              <a:buNone/>
            </a:pPr>
            <a:r>
              <a:rPr lang="en-IN" sz="1800" dirty="0"/>
              <a:t>	&lt;script </a:t>
            </a:r>
            <a:r>
              <a:rPr lang="en-IN" sz="1800" dirty="0" err="1"/>
              <a:t>src</a:t>
            </a:r>
            <a:r>
              <a:rPr lang="en-IN" sz="1800" dirty="0"/>
              <a:t>="https://unpkg.com/@babel/standalone@7/babel.min.js"&gt;&lt;/script&gt;</a:t>
            </a:r>
          </a:p>
          <a:p>
            <a:pPr marL="201168" lvl="1" indent="0">
              <a:buNone/>
            </a:pPr>
            <a:r>
              <a:rPr lang="en-IN" sz="1800" dirty="0"/>
              <a:t>&lt;/head&gt;</a:t>
            </a:r>
          </a:p>
          <a:p>
            <a:pPr marL="201168" lvl="1" indent="0">
              <a:buNone/>
            </a:pPr>
            <a:r>
              <a:rPr lang="en-IN" sz="1800" dirty="0"/>
              <a:t>&lt;body&gt;</a:t>
            </a:r>
          </a:p>
          <a:p>
            <a:pPr marL="201168" lvl="1" indent="0">
              <a:buNone/>
            </a:pPr>
            <a:r>
              <a:rPr lang="en-IN" sz="1800" dirty="0"/>
              <a:t>	&lt;div id="contents"&gt;&lt;/div&gt;</a:t>
            </a:r>
          </a:p>
          <a:p>
            <a:pPr marL="201168" lvl="1" indent="0">
              <a:buNone/>
            </a:pPr>
            <a:r>
              <a:rPr lang="en-IN" sz="1800" dirty="0"/>
              <a:t>	&lt;script type="text/babel" </a:t>
            </a:r>
            <a:r>
              <a:rPr lang="en-IN" sz="1800" dirty="0" err="1"/>
              <a:t>src</a:t>
            </a:r>
            <a:r>
              <a:rPr lang="en-IN" sz="1800" dirty="0"/>
              <a:t>="/</a:t>
            </a:r>
            <a:r>
              <a:rPr lang="en-IN" sz="1800" dirty="0" err="1"/>
              <a:t>App.jsx</a:t>
            </a:r>
            <a:r>
              <a:rPr lang="en-IN" sz="1800" dirty="0"/>
              <a:t>"&gt;&lt;/script&gt;</a:t>
            </a:r>
          </a:p>
          <a:p>
            <a:pPr marL="201168" lvl="1" indent="0">
              <a:buNone/>
            </a:pPr>
            <a:r>
              <a:rPr lang="en-IN" sz="1800" dirty="0"/>
              <a:t>&lt;/body&gt;</a:t>
            </a:r>
          </a:p>
          <a:p>
            <a:pPr marL="201168" lvl="1" indent="0">
              <a:buNone/>
            </a:pPr>
            <a:r>
              <a:rPr lang="en-IN" sz="1800" dirty="0"/>
              <a:t>&lt;/html&gt;</a:t>
            </a: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5120638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71A85-A870-5AF6-5E4C-E402178F5B8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A2BC5D9-1671-7EBA-5B20-C94DF38DC04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err="1"/>
              <a:t>App.jsx</a:t>
            </a:r>
            <a:r>
              <a:rPr lang="en-IN" dirty="0"/>
              <a:t>: JSX Part Separated Out from the HTML</a:t>
            </a:r>
          </a:p>
          <a:p>
            <a:pPr marL="201168" lvl="1" indent="0">
              <a:buNone/>
            </a:pPr>
            <a:endParaRPr lang="en-IN" dirty="0"/>
          </a:p>
          <a:p>
            <a:pPr marL="201168" lvl="1" indent="0">
              <a:buNone/>
            </a:pPr>
            <a:r>
              <a:rPr lang="en-IN" dirty="0" err="1"/>
              <a:t>const</a:t>
            </a:r>
            <a:r>
              <a:rPr lang="en-IN" dirty="0"/>
              <a:t> element = (</a:t>
            </a:r>
          </a:p>
          <a:p>
            <a:pPr marL="201168" lvl="1" indent="0">
              <a:buNone/>
            </a:pPr>
            <a:r>
              <a:rPr lang="en-IN" dirty="0"/>
              <a:t>&lt;div title="Outer div"&gt;</a:t>
            </a:r>
          </a:p>
          <a:p>
            <a:pPr marL="201168" lvl="1" indent="0">
              <a:buNone/>
            </a:pPr>
            <a:r>
              <a:rPr lang="en-IN" dirty="0"/>
              <a:t>&lt;h1&gt;Hello World!&lt;/h1&gt;</a:t>
            </a:r>
          </a:p>
          <a:p>
            <a:pPr marL="201168" lvl="1" indent="0">
              <a:buNone/>
            </a:pPr>
            <a:r>
              <a:rPr lang="en-IN" dirty="0"/>
              <a:t>&lt;/div&gt;</a:t>
            </a:r>
          </a:p>
          <a:p>
            <a:pPr marL="201168" lvl="1" indent="0">
              <a:buNone/>
            </a:pPr>
            <a:r>
              <a:rPr lang="en-IN" dirty="0"/>
              <a:t>);</a:t>
            </a:r>
          </a:p>
          <a:p>
            <a:pPr marL="201168" lvl="1" indent="0">
              <a:buNone/>
            </a:pPr>
            <a:r>
              <a:rPr lang="en-IN" dirty="0" err="1"/>
              <a:t>ReactDOM.render</a:t>
            </a:r>
            <a:r>
              <a:rPr lang="en-IN" dirty="0"/>
              <a:t>(element, </a:t>
            </a:r>
            <a:r>
              <a:rPr lang="en-IN" dirty="0" err="1"/>
              <a:t>document.getElementById</a:t>
            </a:r>
            <a:r>
              <a:rPr lang="en-IN" dirty="0"/>
              <a:t>('contents'));</a:t>
            </a:r>
            <a:endParaRPr lang="en-US" dirty="0"/>
          </a:p>
          <a:p>
            <a:pPr>
              <a:buFont typeface="Arial" panose="020B0604020202020204" pitchFamily="34" charset="0"/>
              <a:buChar char="•"/>
            </a:pPr>
            <a:endParaRPr lang="en-IN" dirty="0"/>
          </a:p>
          <a:p>
            <a:pPr>
              <a:buFont typeface="Arial" panose="020B0604020202020204" pitchFamily="34" charset="0"/>
              <a:buChar char="•"/>
            </a:pPr>
            <a:r>
              <a:rPr lang="en-IN" dirty="0"/>
              <a:t>If you point your browser to http:// localhost:3000, you should see the same Hello World message</a:t>
            </a:r>
          </a:p>
          <a:p>
            <a:pPr>
              <a:buFont typeface="Arial" panose="020B0604020202020204" pitchFamily="34" charset="0"/>
              <a:buChar char="•"/>
            </a:pPr>
            <a:r>
              <a:rPr lang="en-IN" dirty="0"/>
              <a:t>The JSX continues to get transformed by the Babel library script, which was executed in the browser. </a:t>
            </a:r>
          </a:p>
          <a:p>
            <a:pPr lvl="8">
              <a:buFont typeface="Arial" panose="020B0604020202020204" pitchFamily="34" charset="0"/>
              <a:buChar char="•"/>
            </a:pPr>
            <a:endParaRPr lang="en-IN" dirty="0"/>
          </a:p>
          <a:p>
            <a:pPr lvl="1">
              <a:buFont typeface="Arial" panose="020B0604020202020204" pitchFamily="34" charset="0"/>
              <a:buChar char="•"/>
            </a:pPr>
            <a:r>
              <a:rPr lang="pt-BR"/>
              <a:t>Executing the program and folder structure</a:t>
            </a:r>
          </a:p>
          <a:p>
            <a:pPr lvl="8">
              <a:buFont typeface="Arial" panose="020B0604020202020204" pitchFamily="34" charset="0"/>
              <a:buChar char="•"/>
            </a:pPr>
            <a:r>
              <a:rPr lang="pt-BR" dirty="0"/>
              <a:t>PS E:\ReactFolder\program5\public&gt; npx http-server</a:t>
            </a:r>
          </a:p>
          <a:p>
            <a:pPr lvl="8">
              <a:buFont typeface="Arial" panose="020B0604020202020204" pitchFamily="34" charset="0"/>
              <a:buChar char="•"/>
            </a:pPr>
            <a:r>
              <a:rPr lang="pt-BR" dirty="0"/>
              <a:t>Copy and paste </a:t>
            </a:r>
            <a:r>
              <a:rPr lang="pt-BR" dirty="0">
                <a:hlinkClick r:id="rId2"/>
              </a:rPr>
              <a:t>http://10.227.185.215:8080</a:t>
            </a:r>
            <a:r>
              <a:rPr lang="pt-BR" dirty="0"/>
              <a:t> in browser</a:t>
            </a:r>
          </a:p>
          <a:p>
            <a:pPr lvl="8">
              <a:buFont typeface="Arial" panose="020B0604020202020204" pitchFamily="34" charset="0"/>
              <a:buChar char="•"/>
            </a:pPr>
            <a:endParaRPr lang="en-IN" dirty="0"/>
          </a:p>
        </p:txBody>
      </p:sp>
      <p:pic>
        <p:nvPicPr>
          <p:cNvPr id="3" name="Picture 2">
            <a:extLst>
              <a:ext uri="{FF2B5EF4-FFF2-40B4-BE49-F238E27FC236}">
                <a16:creationId xmlns:a16="http://schemas.microsoft.com/office/drawing/2014/main" id="{9DD60DBB-1D59-EDDC-C198-273415777A85}"/>
              </a:ext>
            </a:extLst>
          </p:cNvPr>
          <p:cNvPicPr>
            <a:picLocks noChangeAspect="1"/>
          </p:cNvPicPr>
          <p:nvPr/>
        </p:nvPicPr>
        <p:blipFill>
          <a:blip r:embed="rId3"/>
          <a:stretch>
            <a:fillRect/>
          </a:stretch>
        </p:blipFill>
        <p:spPr>
          <a:xfrm>
            <a:off x="7022707" y="4893130"/>
            <a:ext cx="3052471" cy="1711386"/>
          </a:xfrm>
          <a:prstGeom prst="rect">
            <a:avLst/>
          </a:prstGeom>
        </p:spPr>
      </p:pic>
    </p:spTree>
    <p:extLst>
      <p:ext uri="{BB962C8B-B14F-4D97-AF65-F5344CB8AC3E}">
        <p14:creationId xmlns:p14="http://schemas.microsoft.com/office/powerpoint/2010/main" val="15530501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07E2C-2693-1399-11C2-08DFE6ECA68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5110E1D-22A6-D431-DDF8-B3D8A526149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JSX Transform</a:t>
            </a:r>
          </a:p>
          <a:p>
            <a:pPr lvl="1">
              <a:buFont typeface="Arial" panose="020B0604020202020204" pitchFamily="34" charset="0"/>
              <a:buChar char="•"/>
            </a:pPr>
            <a:r>
              <a:rPr lang="en-IN" dirty="0"/>
              <a:t>Initially, JSX code was compiled in the browser at runtime using </a:t>
            </a:r>
            <a:r>
              <a:rPr lang="en-IN" b="1" dirty="0"/>
              <a:t>Babel Standalone</a:t>
            </a:r>
            <a:r>
              <a:rPr lang="en-IN" dirty="0"/>
              <a:t>, which slows down page loading. </a:t>
            </a:r>
          </a:p>
          <a:p>
            <a:pPr lvl="1">
              <a:buFont typeface="Arial" panose="020B0604020202020204" pitchFamily="34" charset="0"/>
              <a:buChar char="•"/>
            </a:pPr>
            <a:r>
              <a:rPr lang="en-IN" dirty="0"/>
              <a:t>To improve performance, JSX is </a:t>
            </a:r>
            <a:r>
              <a:rPr lang="en-IN" b="1" dirty="0"/>
              <a:t>compiled during development</a:t>
            </a:r>
            <a:r>
              <a:rPr lang="en-IN" dirty="0"/>
              <a:t> using the Babel command-line tool, producing pure JavaScript files before deployment. </a:t>
            </a:r>
          </a:p>
          <a:p>
            <a:pPr lvl="1">
              <a:buFont typeface="Arial" panose="020B0604020202020204" pitchFamily="34" charset="0"/>
              <a:buChar char="•"/>
            </a:pPr>
            <a:r>
              <a:rPr lang="en-IN" dirty="0"/>
              <a:t>The original JSX files are stored in the </a:t>
            </a:r>
            <a:r>
              <a:rPr lang="en-IN" b="1" dirty="0" err="1"/>
              <a:t>src</a:t>
            </a:r>
            <a:r>
              <a:rPr lang="en-IN" dirty="0"/>
              <a:t> folder, while the compiled JavaScript files are generated in the </a:t>
            </a:r>
            <a:r>
              <a:rPr lang="en-IN" b="1" dirty="0"/>
              <a:t>public</a:t>
            </a:r>
            <a:r>
              <a:rPr lang="en-IN" dirty="0"/>
              <a:t> folder. </a:t>
            </a:r>
          </a:p>
          <a:p>
            <a:pPr lvl="1">
              <a:buFont typeface="Arial" panose="020B0604020202020204" pitchFamily="34" charset="0"/>
              <a:buChar char="•"/>
            </a:pPr>
            <a:r>
              <a:rPr lang="en-IN" dirty="0"/>
              <a:t>The browser then loads the compiled </a:t>
            </a:r>
            <a:r>
              <a:rPr lang="en-IN" b="1" dirty="0"/>
              <a:t>App.js</a:t>
            </a:r>
            <a:r>
              <a:rPr lang="en-IN" dirty="0"/>
              <a:t> file directly, eliminating the need for the Babel runtime.</a:t>
            </a:r>
          </a:p>
          <a:p>
            <a:pPr lvl="1">
              <a:buFont typeface="Arial" panose="020B0604020202020204" pitchFamily="34" charset="0"/>
              <a:buChar char="•"/>
            </a:pPr>
            <a:endParaRPr lang="en-IN" dirty="0"/>
          </a:p>
          <a:p>
            <a:pPr lvl="1">
              <a:buFont typeface="Arial" panose="020B0604020202020204" pitchFamily="34" charset="0"/>
              <a:buChar char="•"/>
            </a:pPr>
            <a:r>
              <a:rPr lang="en-IN" dirty="0"/>
              <a:t>After applying JSX transformation, the project structure becomes:</a:t>
            </a:r>
          </a:p>
          <a:p>
            <a:pPr lvl="1">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D5C4FD9F-4F82-A76B-14B9-62B4A436CB20}"/>
              </a:ext>
            </a:extLst>
          </p:cNvPr>
          <p:cNvPicPr>
            <a:picLocks noChangeAspect="1"/>
          </p:cNvPicPr>
          <p:nvPr/>
        </p:nvPicPr>
        <p:blipFill>
          <a:blip r:embed="rId2"/>
          <a:stretch>
            <a:fillRect/>
          </a:stretch>
        </p:blipFill>
        <p:spPr>
          <a:xfrm>
            <a:off x="783117" y="3180574"/>
            <a:ext cx="3646270" cy="3002811"/>
          </a:xfrm>
          <a:prstGeom prst="rect">
            <a:avLst/>
          </a:prstGeom>
        </p:spPr>
      </p:pic>
    </p:spTree>
    <p:extLst>
      <p:ext uri="{BB962C8B-B14F-4D97-AF65-F5344CB8AC3E}">
        <p14:creationId xmlns:p14="http://schemas.microsoft.com/office/powerpoint/2010/main" val="11097538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C3315-897E-4150-B5B8-AADC0A2167F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782572B-0390-C0D9-1F21-4E4413288F8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Example</a:t>
            </a:r>
          </a:p>
          <a:p>
            <a:pPr lvl="1">
              <a:buFont typeface="Arial" panose="020B0604020202020204" pitchFamily="34" charset="0"/>
              <a:buChar char="•"/>
            </a:pPr>
            <a:r>
              <a:rPr lang="en-IN" b="1" dirty="0" err="1"/>
              <a:t>App.jsx</a:t>
            </a:r>
            <a:r>
              <a:rPr lang="en-IN" b="1" dirty="0"/>
              <a:t> (Stored in </a:t>
            </a:r>
            <a:r>
              <a:rPr lang="en-IN" b="1" dirty="0" err="1"/>
              <a:t>src</a:t>
            </a:r>
            <a:r>
              <a:rPr lang="en-IN" b="1" dirty="0"/>
              <a:t> folder)</a:t>
            </a:r>
          </a:p>
          <a:p>
            <a:pPr marL="566928" lvl="3" indent="0">
              <a:buNone/>
            </a:pPr>
            <a:r>
              <a:rPr lang="en-US" sz="1600" dirty="0"/>
              <a:t>const element = (</a:t>
            </a:r>
          </a:p>
          <a:p>
            <a:pPr marL="566928" lvl="3" indent="0">
              <a:buNone/>
            </a:pPr>
            <a:r>
              <a:rPr lang="en-US" sz="1600" dirty="0"/>
              <a:t>    &lt;div title="Outer div"&gt;</a:t>
            </a:r>
          </a:p>
          <a:p>
            <a:pPr marL="566928" lvl="3" indent="0">
              <a:buNone/>
            </a:pPr>
            <a:r>
              <a:rPr lang="en-US" sz="1600" dirty="0"/>
              <a:t>        &lt;h1&gt;Hello World!&lt;/h1&gt;</a:t>
            </a:r>
          </a:p>
          <a:p>
            <a:pPr marL="566928" lvl="3" indent="0">
              <a:buNone/>
            </a:pPr>
            <a:r>
              <a:rPr lang="en-US" sz="1600" dirty="0"/>
              <a:t>    &lt;/div&gt;</a:t>
            </a:r>
          </a:p>
          <a:p>
            <a:pPr marL="566928" lvl="3" indent="0">
              <a:buNone/>
            </a:pPr>
            <a:r>
              <a:rPr lang="en-US" sz="1600" dirty="0"/>
              <a:t>);</a:t>
            </a:r>
          </a:p>
          <a:p>
            <a:pPr marL="566928" lvl="3" indent="0">
              <a:buNone/>
            </a:pPr>
            <a:r>
              <a:rPr lang="en-US" sz="1600" dirty="0" err="1"/>
              <a:t>ReactDOM.render</a:t>
            </a:r>
            <a:r>
              <a:rPr lang="en-US" sz="1600" dirty="0"/>
              <a:t>(element, </a:t>
            </a:r>
            <a:r>
              <a:rPr lang="en-US" sz="1600" dirty="0" err="1"/>
              <a:t>document.getElementById</a:t>
            </a:r>
            <a:r>
              <a:rPr lang="en-US" sz="1600" dirty="0"/>
              <a:t>('contents'));</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0399837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2B1B2-63A3-08CB-9490-CECC6CD4277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EC6AB45-6D4C-EEDC-7D54-61B1C24169F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b="1" dirty="0"/>
              <a:t>index.html (Stored in public folder)</a:t>
            </a:r>
          </a:p>
          <a:p>
            <a:pPr marL="566928" lvl="3" indent="0">
              <a:buNone/>
            </a:pPr>
            <a:r>
              <a:rPr lang="en-US" sz="1600" dirty="0"/>
              <a:t>&lt;!DOCTYPE html&gt;</a:t>
            </a:r>
          </a:p>
          <a:p>
            <a:pPr marL="566928" lvl="3" indent="0">
              <a:buNone/>
            </a:pPr>
            <a:r>
              <a:rPr lang="en-US" sz="1600" dirty="0"/>
              <a:t>&lt;html&gt;</a:t>
            </a:r>
          </a:p>
          <a:p>
            <a:pPr marL="566928" lvl="3" indent="0">
              <a:buNone/>
            </a:pPr>
            <a:r>
              <a:rPr lang="en-US" sz="1600" dirty="0"/>
              <a:t>&lt;head&gt;</a:t>
            </a:r>
          </a:p>
          <a:p>
            <a:pPr marL="566928" lvl="3" indent="0">
              <a:buNone/>
            </a:pPr>
            <a:r>
              <a:rPr lang="en-US" sz="1600" dirty="0"/>
              <a:t>    &lt;meta charset="utf-8"&gt;</a:t>
            </a:r>
          </a:p>
          <a:p>
            <a:pPr marL="566928" lvl="3" indent="0">
              <a:buNone/>
            </a:pPr>
            <a:r>
              <a:rPr lang="en-US" sz="1600" dirty="0"/>
              <a:t>    &lt;title&gt;React JSX Transform&lt;/title&gt;</a:t>
            </a:r>
          </a:p>
          <a:p>
            <a:pPr marL="566928" lvl="3" indent="0">
              <a:buNone/>
            </a:pPr>
            <a:r>
              <a:rPr lang="en-US" sz="1600" dirty="0"/>
              <a:t>    &lt;script </a:t>
            </a:r>
            <a:r>
              <a:rPr lang="en-US" sz="1600" dirty="0" err="1"/>
              <a:t>src</a:t>
            </a:r>
            <a:r>
              <a:rPr lang="en-US" sz="1600" dirty="0"/>
              <a:t>="https://unpkg.com/react@16/</a:t>
            </a:r>
            <a:r>
              <a:rPr lang="en-US" sz="1600" dirty="0" err="1"/>
              <a:t>umd</a:t>
            </a:r>
            <a:r>
              <a:rPr lang="en-US" sz="1600" dirty="0"/>
              <a:t>/react.development.js"&gt;&lt;/script&gt;</a:t>
            </a:r>
          </a:p>
          <a:p>
            <a:pPr marL="566928" lvl="3" indent="0">
              <a:buNone/>
            </a:pPr>
            <a:r>
              <a:rPr lang="en-US" sz="1600" dirty="0"/>
              <a:t>    &lt;script </a:t>
            </a:r>
            <a:r>
              <a:rPr lang="en-US" sz="1600" dirty="0" err="1"/>
              <a:t>src</a:t>
            </a:r>
            <a:r>
              <a:rPr lang="en-US" sz="1600" dirty="0"/>
              <a:t>="https://unpkg.com/react-dom@16/</a:t>
            </a:r>
            <a:r>
              <a:rPr lang="en-US" sz="1600" dirty="0" err="1"/>
              <a:t>umd</a:t>
            </a:r>
            <a:r>
              <a:rPr lang="en-US" sz="1600" dirty="0"/>
              <a:t>/react-dom.development.js"&gt;&lt;/script&gt;</a:t>
            </a:r>
          </a:p>
          <a:p>
            <a:pPr marL="566928" lvl="3" indent="0">
              <a:buNone/>
            </a:pPr>
            <a:r>
              <a:rPr lang="en-US" sz="1600" dirty="0"/>
              <a:t>&lt;/head&gt;</a:t>
            </a:r>
          </a:p>
          <a:p>
            <a:pPr marL="566928" lvl="3" indent="0">
              <a:buNone/>
            </a:pPr>
            <a:r>
              <a:rPr lang="en-US" sz="1600" dirty="0"/>
              <a:t>&lt;body&gt;</a:t>
            </a:r>
          </a:p>
          <a:p>
            <a:pPr marL="566928" lvl="3" indent="0">
              <a:buNone/>
            </a:pPr>
            <a:r>
              <a:rPr lang="en-US" sz="1600" dirty="0"/>
              <a:t>&lt;div id="contents"&gt;&lt;/div&gt;</a:t>
            </a:r>
          </a:p>
          <a:p>
            <a:pPr marL="566928" lvl="3" indent="0">
              <a:buNone/>
            </a:pPr>
            <a:r>
              <a:rPr lang="en-US" sz="1600" dirty="0"/>
              <a:t>&lt;script </a:t>
            </a:r>
            <a:r>
              <a:rPr lang="en-US" sz="1600" dirty="0" err="1"/>
              <a:t>src</a:t>
            </a:r>
            <a:r>
              <a:rPr lang="en-US" sz="1600" dirty="0"/>
              <a:t>="App.js"&gt;&lt;/script&gt;</a:t>
            </a:r>
          </a:p>
          <a:p>
            <a:pPr marL="566928" lvl="3" indent="0">
              <a:buNone/>
            </a:pPr>
            <a:r>
              <a:rPr lang="en-US" sz="1600" dirty="0"/>
              <a:t>&lt;/body&gt;</a:t>
            </a:r>
          </a:p>
          <a:p>
            <a:pPr marL="566928" lvl="3" indent="0">
              <a:buNone/>
            </a:pPr>
            <a:r>
              <a:rPr lang="en-US" sz="1600" dirty="0"/>
              <a:t>&lt;/html&gt;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1222862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27844-930E-4C04-74D9-C0D59D01619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6A7698E-189F-19EA-E5F7-51118ACB9D2B}"/>
              </a:ext>
            </a:extLst>
          </p:cNvPr>
          <p:cNvSpPr txBox="1">
            <a:spLocks/>
          </p:cNvSpPr>
          <p:nvPr/>
        </p:nvSpPr>
        <p:spPr>
          <a:xfrm>
            <a:off x="360727" y="343949"/>
            <a:ext cx="5511567"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Execution Sequence</a:t>
            </a:r>
          </a:p>
          <a:p>
            <a:pPr lvl="1">
              <a:buFont typeface="Arial" panose="020B0604020202020204" pitchFamily="34" charset="0"/>
              <a:buChar char="•"/>
            </a:pPr>
            <a:r>
              <a:rPr lang="en-IN" sz="1800" dirty="0"/>
              <a:t>1. Create the project folder</a:t>
            </a:r>
          </a:p>
          <a:p>
            <a:pPr lvl="2">
              <a:buFont typeface="Arial" panose="020B0604020202020204" pitchFamily="34" charset="0"/>
              <a:buChar char="•"/>
            </a:pPr>
            <a:r>
              <a:rPr lang="en-IN" sz="1400" dirty="0"/>
              <a:t>program6</a:t>
            </a:r>
          </a:p>
          <a:p>
            <a:pPr lvl="1">
              <a:buFont typeface="Arial" panose="020B0604020202020204" pitchFamily="34" charset="0"/>
              <a:buChar char="•"/>
            </a:pPr>
            <a:r>
              <a:rPr lang="en-IN" sz="1800" dirty="0"/>
              <a:t>2. Initialize the project</a:t>
            </a:r>
          </a:p>
          <a:p>
            <a:pPr lvl="2">
              <a:buFont typeface="Arial" panose="020B0604020202020204" pitchFamily="34" charset="0"/>
              <a:buChar char="•"/>
            </a:pPr>
            <a:r>
              <a:rPr lang="en-IN" sz="1400" dirty="0" err="1"/>
              <a:t>npm</a:t>
            </a:r>
            <a:r>
              <a:rPr lang="en-IN" sz="1400" dirty="0"/>
              <a:t> </a:t>
            </a:r>
            <a:r>
              <a:rPr lang="en-IN" sz="1400" dirty="0" err="1"/>
              <a:t>init</a:t>
            </a:r>
            <a:r>
              <a:rPr lang="en-IN" sz="1400" dirty="0"/>
              <a:t> -y</a:t>
            </a:r>
          </a:p>
          <a:p>
            <a:pPr lvl="1">
              <a:buFont typeface="Arial" panose="020B0604020202020204" pitchFamily="34" charset="0"/>
              <a:buChar char="•"/>
            </a:pPr>
            <a:r>
              <a:rPr lang="en-IN" sz="1800" dirty="0"/>
              <a:t>3. Install Babel CLI and Core</a:t>
            </a:r>
          </a:p>
          <a:p>
            <a:pPr lvl="2">
              <a:buFont typeface="Arial" panose="020B0604020202020204" pitchFamily="34" charset="0"/>
              <a:buChar char="•"/>
            </a:pPr>
            <a:r>
              <a:rPr lang="en-IN" sz="1400" dirty="0" err="1"/>
              <a:t>npm</a:t>
            </a:r>
            <a:r>
              <a:rPr lang="en-IN" sz="1400" dirty="0"/>
              <a:t> install --save-dev @babel/core@7 @babel/cli@7</a:t>
            </a:r>
          </a:p>
          <a:p>
            <a:pPr lvl="1">
              <a:buFont typeface="Arial" panose="020B0604020202020204" pitchFamily="34" charset="0"/>
              <a:buChar char="•"/>
            </a:pPr>
            <a:r>
              <a:rPr lang="en-IN" sz="1800" dirty="0"/>
              <a:t>4. Check Babel Version</a:t>
            </a:r>
          </a:p>
          <a:p>
            <a:pPr lvl="2">
              <a:buFont typeface="Arial" panose="020B0604020202020204" pitchFamily="34" charset="0"/>
              <a:buChar char="•"/>
            </a:pPr>
            <a:r>
              <a:rPr lang="en-IN" sz="1400" dirty="0" err="1"/>
              <a:t>npx</a:t>
            </a:r>
            <a:r>
              <a:rPr lang="en-IN" sz="1400" dirty="0"/>
              <a:t> babel --version</a:t>
            </a:r>
          </a:p>
          <a:p>
            <a:pPr lvl="1">
              <a:buFont typeface="Arial" panose="020B0604020202020204" pitchFamily="34" charset="0"/>
              <a:buChar char="•"/>
            </a:pPr>
            <a:r>
              <a:rPr lang="en-IN" sz="1800" dirty="0"/>
              <a:t>5. Install React Preset</a:t>
            </a:r>
          </a:p>
          <a:p>
            <a:pPr lvl="2">
              <a:buFont typeface="Arial" panose="020B0604020202020204" pitchFamily="34" charset="0"/>
              <a:buChar char="•"/>
            </a:pPr>
            <a:r>
              <a:rPr lang="en-IN" sz="1400" dirty="0" err="1"/>
              <a:t>npm</a:t>
            </a:r>
            <a:r>
              <a:rPr lang="en-IN" sz="1400" dirty="0"/>
              <a:t> install --save-dev @babel/preset-react@7</a:t>
            </a:r>
          </a:p>
          <a:p>
            <a:pPr lvl="1">
              <a:buFont typeface="Arial" panose="020B0604020202020204" pitchFamily="34" charset="0"/>
              <a:buChar char="•"/>
            </a:pPr>
            <a:r>
              <a:rPr lang="en-IN" sz="1800" dirty="0"/>
              <a:t>6. Create folders</a:t>
            </a:r>
          </a:p>
          <a:p>
            <a:pPr lvl="2">
              <a:buFont typeface="Arial" panose="020B0604020202020204" pitchFamily="34" charset="0"/>
              <a:buChar char="•"/>
            </a:pPr>
            <a:r>
              <a:rPr lang="en-IN" sz="1400" dirty="0"/>
              <a:t>Create </a:t>
            </a:r>
            <a:r>
              <a:rPr lang="en-IN" sz="1400" dirty="0" err="1"/>
              <a:t>src</a:t>
            </a:r>
            <a:r>
              <a:rPr lang="en-IN" sz="1400" dirty="0"/>
              <a:t> and public folder </a:t>
            </a:r>
          </a:p>
          <a:p>
            <a:pPr lvl="3">
              <a:buFont typeface="Arial" panose="020B0604020202020204" pitchFamily="34" charset="0"/>
              <a:buChar char="•"/>
            </a:pPr>
            <a:r>
              <a:rPr lang="en-IN" sz="1400" dirty="0"/>
              <a:t>copy </a:t>
            </a:r>
            <a:r>
              <a:rPr lang="en-IN" sz="1400" dirty="0" err="1"/>
              <a:t>App.jsx</a:t>
            </a:r>
            <a:r>
              <a:rPr lang="en-IN" sz="1400" dirty="0"/>
              <a:t> to </a:t>
            </a:r>
            <a:r>
              <a:rPr lang="en-IN" sz="1400" dirty="0" err="1"/>
              <a:t>src</a:t>
            </a:r>
            <a:endParaRPr lang="en-IN" sz="1400" dirty="0"/>
          </a:p>
          <a:p>
            <a:pPr lvl="3">
              <a:buFont typeface="Arial" panose="020B0604020202020204" pitchFamily="34" charset="0"/>
              <a:buChar char="•"/>
            </a:pPr>
            <a:r>
              <a:rPr lang="en-IN" sz="1400" dirty="0"/>
              <a:t>Index.html to public </a:t>
            </a:r>
          </a:p>
          <a:p>
            <a:pPr lvl="1">
              <a:buFont typeface="Arial" panose="020B0604020202020204" pitchFamily="34" charset="0"/>
              <a:buChar char="•"/>
            </a:pPr>
            <a:r>
              <a:rPr lang="en-IN" sz="1800" dirty="0"/>
              <a:t>7. Compile JSX</a:t>
            </a:r>
          </a:p>
          <a:p>
            <a:pPr lvl="2">
              <a:buFont typeface="Arial" panose="020B0604020202020204" pitchFamily="34" charset="0"/>
              <a:buChar char="•"/>
            </a:pPr>
            <a:r>
              <a:rPr lang="en-IN" sz="1400" dirty="0" err="1"/>
              <a:t>npx</a:t>
            </a:r>
            <a:r>
              <a:rPr lang="en-IN" sz="1400" dirty="0"/>
              <a:t> babel </a:t>
            </a:r>
            <a:r>
              <a:rPr lang="en-IN" sz="1400" dirty="0" err="1"/>
              <a:t>src</a:t>
            </a:r>
            <a:r>
              <a:rPr lang="en-IN" sz="1400" dirty="0"/>
              <a:t> --presets @babel/preset-react --out-</a:t>
            </a:r>
            <a:r>
              <a:rPr lang="en-IN" sz="1400" dirty="0" err="1"/>
              <a:t>dir</a:t>
            </a:r>
            <a:r>
              <a:rPr lang="en-IN" sz="1400" dirty="0"/>
              <a:t> public</a:t>
            </a:r>
            <a:endParaRPr lang="en-US" sz="1400" dirty="0"/>
          </a:p>
          <a:p>
            <a:pPr lvl="2">
              <a:buFont typeface="Arial" panose="020B0604020202020204" pitchFamily="34" charset="0"/>
              <a:buChar char="•"/>
            </a:pPr>
            <a:r>
              <a:rPr lang="en-US" sz="1400" dirty="0"/>
              <a:t>(It creates App.js in the public folder</a:t>
            </a:r>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
        <p:nvSpPr>
          <p:cNvPr id="2" name="TextBox 1">
            <a:extLst>
              <a:ext uri="{FF2B5EF4-FFF2-40B4-BE49-F238E27FC236}">
                <a16:creationId xmlns:a16="http://schemas.microsoft.com/office/drawing/2014/main" id="{0DE71530-BF03-D93E-1B13-4E03F9D219ED}"/>
              </a:ext>
            </a:extLst>
          </p:cNvPr>
          <p:cNvSpPr txBox="1"/>
          <p:nvPr/>
        </p:nvSpPr>
        <p:spPr>
          <a:xfrm>
            <a:off x="6096000" y="343949"/>
            <a:ext cx="5531141" cy="1754326"/>
          </a:xfrm>
          <a:prstGeom prst="rect">
            <a:avLst/>
          </a:prstGeom>
          <a:noFill/>
        </p:spPr>
        <p:txBody>
          <a:bodyPr wrap="square" rtlCol="0">
            <a:spAutoFit/>
          </a:bodyPr>
          <a:lstStyle/>
          <a:p>
            <a:pPr marL="285750" indent="-285750">
              <a:buFont typeface="Arial" panose="020B0604020202020204" pitchFamily="34" charset="0"/>
              <a:buChar char="•"/>
            </a:pPr>
            <a:r>
              <a:rPr lang="en-US" sz="2000" dirty="0"/>
              <a:t>8. Move to the public folder</a:t>
            </a:r>
          </a:p>
          <a:p>
            <a:pPr marL="742950" lvl="1" indent="-285750">
              <a:buFont typeface="Arial" panose="020B0604020202020204" pitchFamily="34" charset="0"/>
              <a:buChar char="•"/>
            </a:pPr>
            <a:r>
              <a:rPr lang="en-IN" sz="1600" dirty="0"/>
              <a:t>cd public</a:t>
            </a:r>
            <a:endParaRPr lang="en-US" sz="1600" dirty="0"/>
          </a:p>
          <a:p>
            <a:pPr marL="285750" indent="-285750">
              <a:buFont typeface="Arial" panose="020B0604020202020204" pitchFamily="34" charset="0"/>
              <a:buChar char="•"/>
            </a:pPr>
            <a:r>
              <a:rPr lang="en-IN" sz="2000" dirty="0"/>
              <a:t>9. Run HTTP Server</a:t>
            </a:r>
          </a:p>
          <a:p>
            <a:pPr marL="742950" lvl="1" indent="-285750">
              <a:buFont typeface="Arial" panose="020B0604020202020204" pitchFamily="34" charset="0"/>
              <a:buChar char="•"/>
            </a:pPr>
            <a:r>
              <a:rPr lang="en-IN" sz="1600" dirty="0" err="1"/>
              <a:t>npx</a:t>
            </a:r>
            <a:r>
              <a:rPr lang="en-IN" sz="1600" dirty="0"/>
              <a:t> http-server</a:t>
            </a:r>
            <a:endParaRPr lang="en-US" sz="1600" dirty="0"/>
          </a:p>
          <a:p>
            <a:pPr marL="742950" lvl="1" indent="-285750">
              <a:buFont typeface="Arial" panose="020B0604020202020204" pitchFamily="34" charset="0"/>
              <a:buChar char="•"/>
            </a:pPr>
            <a:r>
              <a:rPr lang="en-US" sz="1600" dirty="0"/>
              <a:t>(generates output </a:t>
            </a:r>
            <a:r>
              <a:rPr lang="en-IN" sz="1600" dirty="0"/>
              <a:t>http://127.0.0.1:8080</a:t>
            </a:r>
            <a:r>
              <a:rPr lang="en-US" sz="1600" dirty="0"/>
              <a:t>)</a:t>
            </a:r>
          </a:p>
          <a:p>
            <a:pPr marL="285750" indent="-285750">
              <a:buFont typeface="Arial" panose="020B0604020202020204" pitchFamily="34" charset="0"/>
              <a:buChar char="•"/>
            </a:pPr>
            <a:r>
              <a:rPr lang="en-IN" sz="2000" dirty="0"/>
              <a:t>10. Open browser and paste the link</a:t>
            </a:r>
          </a:p>
        </p:txBody>
      </p:sp>
    </p:spTree>
    <p:extLst>
      <p:ext uri="{BB962C8B-B14F-4D97-AF65-F5344CB8AC3E}">
        <p14:creationId xmlns:p14="http://schemas.microsoft.com/office/powerpoint/2010/main" val="9453930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DE664-2CE4-32FB-8568-F833CA24E50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5BB665B-A937-4FB4-57C4-45D198DF34E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b="1" dirty="0"/>
              <a:t>Advantages of JSX Transformation</a:t>
            </a:r>
          </a:p>
          <a:p>
            <a:pPr lvl="1">
              <a:buFont typeface="Arial" panose="020B0604020202020204" pitchFamily="34" charset="0"/>
              <a:buChar char="•"/>
            </a:pPr>
            <a:r>
              <a:rPr lang="en-IN" sz="1800" dirty="0"/>
              <a:t>JSX is compiled </a:t>
            </a:r>
            <a:r>
              <a:rPr lang="en-IN" sz="1800" b="1" dirty="0"/>
              <a:t>before execution</a:t>
            </a:r>
            <a:r>
              <a:rPr lang="en-IN" sz="1800" dirty="0"/>
              <a:t>, improving performance. </a:t>
            </a:r>
          </a:p>
          <a:p>
            <a:pPr lvl="1">
              <a:buFont typeface="Arial" panose="020B0604020202020204" pitchFamily="34" charset="0"/>
              <a:buChar char="•"/>
            </a:pPr>
            <a:r>
              <a:rPr lang="en-IN" sz="1800" dirty="0"/>
              <a:t>No need to include the </a:t>
            </a:r>
            <a:r>
              <a:rPr lang="en-IN" sz="1800" b="1" dirty="0"/>
              <a:t>Babel Standalone</a:t>
            </a:r>
            <a:r>
              <a:rPr lang="en-IN" sz="1800" dirty="0"/>
              <a:t> library in the browser. </a:t>
            </a:r>
          </a:p>
          <a:p>
            <a:pPr lvl="1">
              <a:buFont typeface="Arial" panose="020B0604020202020204" pitchFamily="34" charset="0"/>
              <a:buChar char="•"/>
            </a:pPr>
            <a:r>
              <a:rPr lang="en-IN" sz="1800" dirty="0"/>
              <a:t>The browser executes only optimized JavaScript (App.js). </a:t>
            </a:r>
          </a:p>
          <a:p>
            <a:pPr lvl="1">
              <a:buFont typeface="Arial" panose="020B0604020202020204" pitchFamily="34" charset="0"/>
              <a:buChar char="•"/>
            </a:pPr>
            <a:r>
              <a:rPr lang="en-IN" sz="1800" dirty="0"/>
              <a:t>Separating source (</a:t>
            </a:r>
            <a:r>
              <a:rPr lang="en-IN" sz="1800" dirty="0" err="1"/>
              <a:t>src</a:t>
            </a:r>
            <a:r>
              <a:rPr lang="en-IN" sz="1800" dirty="0"/>
              <a:t>) and compiled (public) files makes the project easier to organize and maintain. </a:t>
            </a:r>
          </a:p>
          <a:p>
            <a:pPr lvl="1">
              <a:buFont typeface="Arial" panose="020B0604020202020204" pitchFamily="34" charset="0"/>
              <a:buChar char="•"/>
            </a:pPr>
            <a:r>
              <a:rPr lang="en-IN" sz="1800" dirty="0"/>
              <a:t>This approach is suitable for both development and production environments.</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340187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D73F4-3526-0F23-FE09-03B40E6F0A7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9AB5187-3B6C-94B5-954C-242DC27788A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Automate</a:t>
            </a:r>
          </a:p>
          <a:p>
            <a:pPr lvl="1">
              <a:buFont typeface="Arial" panose="020B0604020202020204" pitchFamily="34" charset="0"/>
              <a:buChar char="•"/>
            </a:pPr>
            <a:r>
              <a:rPr lang="en-IN" dirty="0"/>
              <a:t>Apart from being able to start the project using </a:t>
            </a:r>
            <a:r>
              <a:rPr lang="en-IN" dirty="0" err="1"/>
              <a:t>npm</a:t>
            </a:r>
            <a:r>
              <a:rPr lang="en-IN" dirty="0"/>
              <a:t> start, </a:t>
            </a:r>
            <a:r>
              <a:rPr lang="en-IN" dirty="0" err="1"/>
              <a:t>npm</a:t>
            </a:r>
            <a:r>
              <a:rPr lang="en-IN" dirty="0"/>
              <a:t> has the ability to define other custom commands. </a:t>
            </a:r>
          </a:p>
          <a:p>
            <a:pPr lvl="1">
              <a:buFont typeface="Arial" panose="020B0604020202020204" pitchFamily="34" charset="0"/>
              <a:buChar char="•"/>
            </a:pPr>
            <a:r>
              <a:rPr lang="en-IN" dirty="0"/>
              <a:t>This is especially useful when there are many command line parameters for the command and typing them out on the shell becomes tedious.</a:t>
            </a:r>
          </a:p>
          <a:p>
            <a:pPr lvl="1">
              <a:buFont typeface="Arial" panose="020B0604020202020204" pitchFamily="34" charset="0"/>
              <a:buChar char="•"/>
            </a:pPr>
            <a:r>
              <a:rPr lang="en-IN" dirty="0"/>
              <a:t>These custom commands can be specified in the scripts section of </a:t>
            </a:r>
            <a:r>
              <a:rPr lang="en-IN" dirty="0" err="1"/>
              <a:t>package.json</a:t>
            </a:r>
            <a:r>
              <a:rPr lang="en-IN" dirty="0"/>
              <a:t>. These can then be run using </a:t>
            </a:r>
            <a:r>
              <a:rPr lang="en-IN" dirty="0" err="1"/>
              <a:t>npm</a:t>
            </a:r>
            <a:r>
              <a:rPr lang="en-IN" dirty="0"/>
              <a:t> run &lt;script&gt; from the console</a:t>
            </a:r>
          </a:p>
          <a:p>
            <a:pPr lvl="1">
              <a:buFont typeface="Arial" panose="020B0604020202020204" pitchFamily="34" charset="0"/>
              <a:buChar char="•"/>
            </a:pPr>
            <a:endParaRPr lang="en-IN" dirty="0"/>
          </a:p>
          <a:p>
            <a:pPr lvl="1">
              <a:buFont typeface="Arial" panose="020B0604020202020204" pitchFamily="34" charset="0"/>
              <a:buChar char="•"/>
            </a:pPr>
            <a:r>
              <a:rPr lang="en-IN" dirty="0"/>
              <a:t>Let’s add a script called </a:t>
            </a:r>
            <a:r>
              <a:rPr lang="en-IN" dirty="0">
                <a:solidFill>
                  <a:srgbClr val="FF0000"/>
                </a:solidFill>
              </a:rPr>
              <a:t>compile</a:t>
            </a:r>
            <a:r>
              <a:rPr lang="en-IN" dirty="0"/>
              <a:t> whose command line is the Babel command line to do all the transforms.</a:t>
            </a:r>
          </a:p>
          <a:p>
            <a:pPr lvl="2">
              <a:buFont typeface="Arial" panose="020B0604020202020204" pitchFamily="34" charset="0"/>
              <a:buChar char="•"/>
            </a:pPr>
            <a:r>
              <a:rPr lang="en-US" sz="1600" dirty="0"/>
              <a:t>...</a:t>
            </a:r>
          </a:p>
          <a:p>
            <a:pPr lvl="2">
              <a:buFont typeface="Arial" panose="020B0604020202020204" pitchFamily="34" charset="0"/>
              <a:buChar char="•"/>
            </a:pPr>
            <a:r>
              <a:rPr lang="en-US" sz="1600" dirty="0"/>
              <a:t>"compile": "babel </a:t>
            </a:r>
            <a:r>
              <a:rPr lang="en-US" sz="1600" dirty="0" err="1"/>
              <a:t>src</a:t>
            </a:r>
            <a:r>
              <a:rPr lang="en-US" sz="1600" dirty="0"/>
              <a:t> --out-</a:t>
            </a:r>
            <a:r>
              <a:rPr lang="en-US" sz="1600" dirty="0" err="1"/>
              <a:t>dir</a:t>
            </a:r>
            <a:r>
              <a:rPr lang="en-US" sz="1600" dirty="0"/>
              <a:t> public",</a:t>
            </a:r>
          </a:p>
          <a:p>
            <a:pPr lvl="2">
              <a:buFont typeface="Arial" panose="020B0604020202020204" pitchFamily="34" charset="0"/>
              <a:buChar char="•"/>
            </a:pPr>
            <a:r>
              <a:rPr lang="en-US" sz="1600" dirty="0"/>
              <a:t>...</a:t>
            </a:r>
          </a:p>
          <a:p>
            <a:pPr lvl="2">
              <a:buFont typeface="Arial" panose="020B0604020202020204" pitchFamily="34" charset="0"/>
              <a:buChar char="•"/>
            </a:pPr>
            <a:endParaRPr lang="en-IN" dirty="0"/>
          </a:p>
          <a:p>
            <a:pPr lvl="1">
              <a:buFont typeface="Arial" panose="020B0604020202020204" pitchFamily="34" charset="0"/>
              <a:buChar char="•"/>
            </a:pPr>
            <a:r>
              <a:rPr lang="en-IN" dirty="0"/>
              <a:t>The transform can now be run like this:</a:t>
            </a:r>
          </a:p>
          <a:p>
            <a:pPr lvl="2">
              <a:buFont typeface="Arial" panose="020B0604020202020204" pitchFamily="34" charset="0"/>
              <a:buChar char="•"/>
            </a:pPr>
            <a:r>
              <a:rPr lang="en-IN" sz="1600" dirty="0"/>
              <a:t>$ </a:t>
            </a:r>
            <a:r>
              <a:rPr lang="en-IN" sz="1600" dirty="0" err="1"/>
              <a:t>npm</a:t>
            </a:r>
            <a:r>
              <a:rPr lang="en-IN" sz="1600" dirty="0"/>
              <a:t> run compile</a:t>
            </a:r>
          </a:p>
          <a:p>
            <a:pPr lvl="1">
              <a:buFont typeface="Arial" panose="020B0604020202020204" pitchFamily="34" charset="0"/>
              <a:buChar char="•"/>
            </a:pPr>
            <a:endParaRPr lang="en-IN" dirty="0"/>
          </a:p>
          <a:p>
            <a:pPr lvl="1">
              <a:buFont typeface="Arial" panose="020B0604020202020204" pitchFamily="34" charset="0"/>
              <a:buChar char="•"/>
            </a:pPr>
            <a:r>
              <a:rPr lang="en-IN" dirty="0"/>
              <a:t>After this, if you run </a:t>
            </a:r>
            <a:r>
              <a:rPr lang="en-IN" dirty="0" err="1">
                <a:solidFill>
                  <a:srgbClr val="FF0000"/>
                </a:solidFill>
              </a:rPr>
              <a:t>npm</a:t>
            </a:r>
            <a:r>
              <a:rPr lang="en-IN" dirty="0">
                <a:solidFill>
                  <a:srgbClr val="FF0000"/>
                </a:solidFill>
              </a:rPr>
              <a:t> start </a:t>
            </a:r>
            <a:r>
              <a:rPr lang="en-IN" dirty="0"/>
              <a:t>again to start the server, you can see any changes to </a:t>
            </a:r>
            <a:r>
              <a:rPr lang="en-IN" dirty="0" err="1"/>
              <a:t>App.jsx</a:t>
            </a:r>
            <a:r>
              <a:rPr lang="en-IN" dirty="0"/>
              <a:t> reflected in the application.</a:t>
            </a:r>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2829988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CB3E9-95CA-6637-E3F5-C807B9249B1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7FD3E36-F744-8EE0-38EF-22D1971D2B5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Continued…</a:t>
            </a:r>
          </a:p>
          <a:p>
            <a:pPr lvl="1">
              <a:buFont typeface="Arial" panose="020B0604020202020204" pitchFamily="34" charset="0"/>
              <a:buChar char="•"/>
            </a:pPr>
            <a:r>
              <a:rPr lang="en-IN" dirty="0"/>
              <a:t>When we work on the </a:t>
            </a:r>
            <a:r>
              <a:rPr lang="en-IN" dirty="0">
                <a:solidFill>
                  <a:srgbClr val="FF0000"/>
                </a:solidFill>
              </a:rPr>
              <a:t>client-side code and change the source files frequently</a:t>
            </a:r>
            <a:r>
              <a:rPr lang="en-IN" dirty="0"/>
              <a:t>, we have to manually recompile it for every change.</a:t>
            </a:r>
          </a:p>
          <a:p>
            <a:pPr lvl="1">
              <a:buFont typeface="Arial" panose="020B0604020202020204" pitchFamily="34" charset="0"/>
              <a:buChar char="•"/>
            </a:pPr>
            <a:r>
              <a:rPr lang="en-IN" dirty="0"/>
              <a:t>Babel supports this out of the box via the --watch option.</a:t>
            </a:r>
          </a:p>
          <a:p>
            <a:pPr lvl="1">
              <a:buFont typeface="Arial" panose="020B0604020202020204" pitchFamily="34" charset="0"/>
              <a:buChar char="•"/>
            </a:pPr>
            <a:r>
              <a:rPr lang="en-IN" dirty="0"/>
              <a:t> Add another script called watch with this additional option to the Babel command line:</a:t>
            </a:r>
          </a:p>
          <a:p>
            <a:pPr lvl="2">
              <a:buFont typeface="Arial" panose="020B0604020202020204" pitchFamily="34" charset="0"/>
              <a:buChar char="•"/>
            </a:pPr>
            <a:r>
              <a:rPr lang="en-US" sz="1600" dirty="0"/>
              <a:t>...</a:t>
            </a:r>
          </a:p>
          <a:p>
            <a:pPr lvl="2">
              <a:buFont typeface="Arial" panose="020B0604020202020204" pitchFamily="34" charset="0"/>
              <a:buChar char="•"/>
            </a:pPr>
            <a:r>
              <a:rPr lang="en-US" sz="1600" dirty="0"/>
              <a:t>"watch": "babel </a:t>
            </a:r>
            <a:r>
              <a:rPr lang="en-US" sz="1600" dirty="0" err="1"/>
              <a:t>src</a:t>
            </a:r>
            <a:r>
              <a:rPr lang="en-US" sz="1600" dirty="0"/>
              <a:t> --out-</a:t>
            </a:r>
            <a:r>
              <a:rPr lang="en-US" sz="1600" dirty="0" err="1"/>
              <a:t>dir</a:t>
            </a:r>
            <a:r>
              <a:rPr lang="en-US" sz="1600" dirty="0"/>
              <a:t> public --watch --verbose“</a:t>
            </a:r>
          </a:p>
          <a:p>
            <a:pPr lvl="2">
              <a:buFont typeface="Arial" panose="020B0604020202020204" pitchFamily="34" charset="0"/>
              <a:buChar char="•"/>
            </a:pPr>
            <a:r>
              <a:rPr lang="en-US" sz="1600" dirty="0"/>
              <a:t>...</a:t>
            </a:r>
          </a:p>
          <a:p>
            <a:pPr lvl="2">
              <a:buFont typeface="Arial" panose="020B0604020202020204" pitchFamily="34" charset="0"/>
              <a:buChar char="•"/>
            </a:pPr>
            <a:endParaRPr lang="en-IN" dirty="0"/>
          </a:p>
          <a:p>
            <a:pPr lvl="1">
              <a:buFont typeface="Arial" panose="020B0604020202020204" pitchFamily="34" charset="0"/>
              <a:buChar char="•"/>
            </a:pPr>
            <a:r>
              <a:rPr lang="en-IN" dirty="0"/>
              <a:t>It is essentially the same command as compile, but with two extra command line options, --watch and –verbose</a:t>
            </a:r>
          </a:p>
          <a:p>
            <a:pPr lvl="2">
              <a:buFont typeface="Arial" panose="020B0604020202020204" pitchFamily="34" charset="0"/>
              <a:buChar char="•"/>
            </a:pPr>
            <a:r>
              <a:rPr lang="en-IN" sz="1600" dirty="0"/>
              <a:t>The first option instructs Babel to watch for changes in source files</a:t>
            </a:r>
          </a:p>
          <a:p>
            <a:pPr lvl="2">
              <a:buFont typeface="Arial" panose="020B0604020202020204" pitchFamily="34" charset="0"/>
              <a:buChar char="•"/>
            </a:pPr>
            <a:r>
              <a:rPr lang="en-IN" sz="1600" dirty="0"/>
              <a:t>second one causes it to print out a line in the console whenever a change causes a recompilation.</a:t>
            </a:r>
          </a:p>
          <a:p>
            <a:pPr lvl="1">
              <a:buFont typeface="Arial" panose="020B0604020202020204" pitchFamily="34" charset="0"/>
              <a:buChar char="•"/>
            </a:pPr>
            <a:endParaRPr lang="en-IN" dirty="0"/>
          </a:p>
          <a:p>
            <a:pPr lvl="1">
              <a:buFont typeface="Arial" panose="020B0604020202020204" pitchFamily="34" charset="0"/>
              <a:buChar char="•"/>
            </a:pPr>
            <a:r>
              <a:rPr lang="en-IN" dirty="0"/>
              <a:t>A similar restart on </a:t>
            </a:r>
            <a:r>
              <a:rPr lang="en-IN" dirty="0">
                <a:solidFill>
                  <a:srgbClr val="FF0000"/>
                </a:solidFill>
              </a:rPr>
              <a:t>changes to the server code </a:t>
            </a:r>
            <a:r>
              <a:rPr lang="en-IN" dirty="0"/>
              <a:t>can be affected by using a wrapper command called </a:t>
            </a:r>
            <a:r>
              <a:rPr lang="en-IN" dirty="0" err="1"/>
              <a:t>nodemon</a:t>
            </a:r>
            <a:r>
              <a:rPr lang="en-IN" dirty="0"/>
              <a:t>. </a:t>
            </a:r>
          </a:p>
          <a:p>
            <a:pPr lvl="1">
              <a:buFont typeface="Arial" panose="020B0604020202020204" pitchFamily="34" charset="0"/>
              <a:buChar char="•"/>
            </a:pPr>
            <a:r>
              <a:rPr lang="en-IN" dirty="0"/>
              <a:t>This command restarts Node.js with the command specified whenever there is a change in a set of files.</a:t>
            </a:r>
          </a:p>
          <a:p>
            <a:pPr lvl="2">
              <a:buFont typeface="Arial" panose="020B0604020202020204" pitchFamily="34" charset="0"/>
              <a:buChar char="•"/>
            </a:pPr>
            <a:r>
              <a:rPr lang="en-IN" sz="1600" dirty="0"/>
              <a:t>$ </a:t>
            </a:r>
            <a:r>
              <a:rPr lang="en-IN" sz="1600" dirty="0" err="1"/>
              <a:t>npm</a:t>
            </a:r>
            <a:r>
              <a:rPr lang="en-IN" sz="1600" dirty="0"/>
              <a:t> install nodemon@1</a:t>
            </a:r>
          </a:p>
          <a:p>
            <a:pPr lvl="1">
              <a:buFont typeface="Arial" panose="020B0604020202020204" pitchFamily="34" charset="0"/>
              <a:buChar char="•"/>
            </a:pPr>
            <a:r>
              <a:rPr lang="en-IN" dirty="0"/>
              <a:t>Now, let’s use </a:t>
            </a:r>
            <a:r>
              <a:rPr lang="en-IN" dirty="0" err="1"/>
              <a:t>nodemon</a:t>
            </a:r>
            <a:r>
              <a:rPr lang="en-IN" dirty="0"/>
              <a:t> to start the server instead of Node.js in the script specification for start in </a:t>
            </a:r>
            <a:r>
              <a:rPr lang="en-IN" dirty="0" err="1"/>
              <a:t>package.json</a:t>
            </a:r>
            <a:r>
              <a:rPr lang="en-IN" dirty="0"/>
              <a:t>. </a:t>
            </a:r>
          </a:p>
          <a:p>
            <a:pPr lvl="1">
              <a:buFont typeface="Arial" panose="020B0604020202020204" pitchFamily="34" charset="0"/>
              <a:buChar char="•"/>
            </a:pPr>
            <a:endParaRPr lang="en-IN" dirty="0"/>
          </a:p>
          <a:p>
            <a:pPr lvl="1">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8811783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C7C58-6D08-E2DE-2F78-9400EEA308F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766AC83-6EC0-CF27-8636-04A66AC2A67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dirty="0"/>
              <a:t>Since all the server files are going to be in the directory called server, we can use </a:t>
            </a:r>
            <a:r>
              <a:rPr lang="en-IN" dirty="0">
                <a:solidFill>
                  <a:srgbClr val="FF0000"/>
                </a:solidFill>
              </a:rPr>
              <a:t>-w server </a:t>
            </a:r>
            <a:r>
              <a:rPr lang="en-IN" dirty="0"/>
              <a:t>to make </a:t>
            </a:r>
            <a:r>
              <a:rPr lang="en-IN" dirty="0" err="1"/>
              <a:t>nodemon</a:t>
            </a:r>
            <a:r>
              <a:rPr lang="en-IN" dirty="0"/>
              <a:t> restart Node.js when any file in that directory changes.</a:t>
            </a:r>
          </a:p>
          <a:p>
            <a:pPr lvl="1">
              <a:buFont typeface="Arial" panose="020B0604020202020204" pitchFamily="34" charset="0"/>
              <a:buChar char="•"/>
            </a:pPr>
            <a:r>
              <a:rPr lang="en-IN" dirty="0"/>
              <a:t>So, the new command for the start script within </a:t>
            </a:r>
            <a:r>
              <a:rPr lang="en-IN" dirty="0" err="1"/>
              <a:t>package.json</a:t>
            </a:r>
            <a:r>
              <a:rPr lang="en-IN" dirty="0"/>
              <a:t> will now be:</a:t>
            </a:r>
          </a:p>
          <a:p>
            <a:pPr lvl="2">
              <a:buFont typeface="Arial" panose="020B0604020202020204" pitchFamily="34" charset="0"/>
              <a:buChar char="•"/>
            </a:pPr>
            <a:r>
              <a:rPr lang="en-US" sz="1600" dirty="0"/>
              <a:t>...</a:t>
            </a:r>
          </a:p>
          <a:p>
            <a:pPr lvl="2">
              <a:buFont typeface="Arial" panose="020B0604020202020204" pitchFamily="34" charset="0"/>
              <a:buChar char="•"/>
            </a:pPr>
            <a:r>
              <a:rPr lang="en-US" sz="1600" dirty="0"/>
              <a:t>"start": "</a:t>
            </a:r>
            <a:r>
              <a:rPr lang="en-US" sz="1600" dirty="0" err="1"/>
              <a:t>nodemon</a:t>
            </a:r>
            <a:r>
              <a:rPr lang="en-US" sz="1600" dirty="0"/>
              <a:t> -w server server/server.js“</a:t>
            </a:r>
          </a:p>
          <a:p>
            <a:pPr lvl="2">
              <a:buFont typeface="Arial" panose="020B0604020202020204" pitchFamily="34" charset="0"/>
              <a:buChar char="•"/>
            </a:pPr>
            <a:r>
              <a:rPr lang="en-US" sz="1600" dirty="0"/>
              <a:t>...</a:t>
            </a:r>
          </a:p>
          <a:p>
            <a:pPr lvl="2">
              <a:buFont typeface="Arial" panose="020B0604020202020204" pitchFamily="34" charset="0"/>
              <a:buChar char="•"/>
            </a:pPr>
            <a:endParaRPr lang="en-US" dirty="0"/>
          </a:p>
          <a:p>
            <a:pPr lvl="1">
              <a:buFont typeface="Arial" panose="020B0604020202020204" pitchFamily="34" charset="0"/>
              <a:buChar char="•"/>
            </a:pPr>
            <a:r>
              <a:rPr lang="en-IN" dirty="0"/>
              <a:t>The final set of scripts added or changed in </a:t>
            </a:r>
            <a:r>
              <a:rPr lang="en-IN" dirty="0" err="1"/>
              <a:t>package.json</a:t>
            </a:r>
            <a:r>
              <a:rPr lang="en-IN" dirty="0"/>
              <a:t> is:</a:t>
            </a:r>
          </a:p>
          <a:p>
            <a:pPr marL="384048" lvl="2" indent="0">
              <a:buNone/>
            </a:pPr>
            <a:r>
              <a:rPr lang="en-US" sz="1600" dirty="0"/>
              <a:t>...</a:t>
            </a:r>
          </a:p>
          <a:p>
            <a:pPr marL="384048" lvl="2" indent="0">
              <a:buNone/>
            </a:pPr>
            <a:r>
              <a:rPr lang="en-US" sz="1600" dirty="0"/>
              <a:t>"scripts": {</a:t>
            </a:r>
          </a:p>
          <a:p>
            <a:pPr marL="384048" lvl="2" indent="0">
              <a:buNone/>
            </a:pPr>
            <a:r>
              <a:rPr lang="en-US" sz="1600" dirty="0"/>
              <a:t>	</a:t>
            </a:r>
            <a:r>
              <a:rPr lang="en-US" sz="1600" strike="sngStrike" dirty="0"/>
              <a:t>"start": "node server/server.js",</a:t>
            </a:r>
          </a:p>
          <a:p>
            <a:pPr marL="384048" lvl="2" indent="0">
              <a:buNone/>
            </a:pPr>
            <a:r>
              <a:rPr lang="en-US" sz="1600" dirty="0"/>
              <a:t>	</a:t>
            </a:r>
            <a:r>
              <a:rPr lang="en-US" sz="1600" b="1" dirty="0"/>
              <a:t>"start": "</a:t>
            </a:r>
            <a:r>
              <a:rPr lang="en-US" sz="1600" b="1" dirty="0" err="1"/>
              <a:t>nodemon</a:t>
            </a:r>
            <a:r>
              <a:rPr lang="en-US" sz="1600" b="1" dirty="0"/>
              <a:t> -w server server/server.js",</a:t>
            </a:r>
          </a:p>
          <a:p>
            <a:pPr marL="384048" lvl="2" indent="0">
              <a:buNone/>
            </a:pPr>
            <a:r>
              <a:rPr lang="en-US" sz="1600" b="1" dirty="0"/>
              <a:t>	"compile": "babel </a:t>
            </a:r>
            <a:r>
              <a:rPr lang="en-US" sz="1600" b="1" dirty="0" err="1"/>
              <a:t>src</a:t>
            </a:r>
            <a:r>
              <a:rPr lang="en-US" sz="1600" b="1" dirty="0"/>
              <a:t> --out-</a:t>
            </a:r>
            <a:r>
              <a:rPr lang="en-US" sz="1600" b="1" dirty="0" err="1"/>
              <a:t>dir</a:t>
            </a:r>
            <a:r>
              <a:rPr lang="en-US" sz="1600" b="1" dirty="0"/>
              <a:t> public",</a:t>
            </a:r>
          </a:p>
          <a:p>
            <a:pPr marL="384048" lvl="2" indent="0">
              <a:buNone/>
            </a:pPr>
            <a:r>
              <a:rPr lang="en-US" sz="1600" b="1" dirty="0"/>
              <a:t>	"watch": "babel </a:t>
            </a:r>
            <a:r>
              <a:rPr lang="en-US" sz="1600" b="1" dirty="0" err="1"/>
              <a:t>src</a:t>
            </a:r>
            <a:r>
              <a:rPr lang="en-US" sz="1600" b="1" dirty="0"/>
              <a:t> --out-</a:t>
            </a:r>
            <a:r>
              <a:rPr lang="en-US" sz="1600" b="1" dirty="0" err="1"/>
              <a:t>dir</a:t>
            </a:r>
            <a:r>
              <a:rPr lang="en-US" sz="1600" b="1" dirty="0"/>
              <a:t> public --watch --verbose",</a:t>
            </a:r>
          </a:p>
          <a:p>
            <a:pPr marL="384048" lvl="2" indent="0">
              <a:buNone/>
            </a:pPr>
            <a:r>
              <a:rPr lang="en-US" sz="1600" dirty="0"/>
              <a:t>	"test": "echo \"Error: no test specified\" &amp;&amp; exit 1"</a:t>
            </a:r>
          </a:p>
          <a:p>
            <a:pPr marL="384048" lvl="2" indent="0">
              <a:buNone/>
            </a:pPr>
            <a:r>
              <a:rPr lang="en-US" sz="1600" dirty="0"/>
              <a:t>},</a:t>
            </a:r>
          </a:p>
          <a:p>
            <a:pPr marL="384048" lvl="2" indent="0">
              <a:buNone/>
            </a:pPr>
            <a:r>
              <a:rPr lang="en-US" sz="1600" dirty="0"/>
              <a:t>...</a:t>
            </a:r>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508817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C15CE-C367-528A-5F30-7F1008748A5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D2FB9FB-913C-B1B1-8812-693AAD4ED9E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Continued…</a:t>
            </a:r>
          </a:p>
          <a:p>
            <a:pPr lvl="1">
              <a:buFont typeface="Arial" panose="020B0604020202020204" pitchFamily="34" charset="0"/>
              <a:buChar char="•"/>
            </a:pPr>
            <a:r>
              <a:rPr lang="en-IN" dirty="0"/>
              <a:t>If you now run the new command using </a:t>
            </a:r>
            <a:r>
              <a:rPr lang="en-IN" dirty="0" err="1">
                <a:solidFill>
                  <a:srgbClr val="FF0000"/>
                </a:solidFill>
              </a:rPr>
              <a:t>npm</a:t>
            </a:r>
            <a:r>
              <a:rPr lang="en-IN" dirty="0">
                <a:solidFill>
                  <a:srgbClr val="FF0000"/>
                </a:solidFill>
              </a:rPr>
              <a:t> run watch</a:t>
            </a:r>
            <a:r>
              <a:rPr lang="en-IN" dirty="0"/>
              <a:t>, you will notice that it does one transform, but it doesn’t return to the shell. </a:t>
            </a:r>
          </a:p>
          <a:p>
            <a:pPr lvl="1">
              <a:buFont typeface="Arial" panose="020B0604020202020204" pitchFamily="34" charset="0"/>
              <a:buChar char="•"/>
            </a:pPr>
            <a:r>
              <a:rPr lang="en-IN" dirty="0"/>
              <a:t>It’s actually waiting in a permanent loop, watching for changes to the source files. </a:t>
            </a:r>
          </a:p>
          <a:p>
            <a:pPr lvl="1">
              <a:buFont typeface="Arial" panose="020B0604020202020204" pitchFamily="34" charset="0"/>
              <a:buChar char="•"/>
            </a:pPr>
            <a:r>
              <a:rPr lang="en-IN" dirty="0"/>
              <a:t>So, to run the server, another terminal is needed, where </a:t>
            </a:r>
            <a:r>
              <a:rPr lang="en-IN" dirty="0" err="1">
                <a:solidFill>
                  <a:srgbClr val="FF0000"/>
                </a:solidFill>
              </a:rPr>
              <a:t>npm</a:t>
            </a:r>
            <a:r>
              <a:rPr lang="en-IN" dirty="0">
                <a:solidFill>
                  <a:srgbClr val="FF0000"/>
                </a:solidFill>
              </a:rPr>
              <a:t> start </a:t>
            </a:r>
            <a:r>
              <a:rPr lang="en-IN" dirty="0"/>
              <a:t>can be executed.</a:t>
            </a:r>
          </a:p>
          <a:p>
            <a:pPr lvl="1">
              <a:buFont typeface="Arial" panose="020B0604020202020204" pitchFamily="34" charset="0"/>
              <a:buChar char="•"/>
            </a:pPr>
            <a:endParaRPr lang="en-IN" dirty="0"/>
          </a:p>
          <a:p>
            <a:pPr lvl="1">
              <a:buFont typeface="Arial" panose="020B0604020202020204" pitchFamily="34" charset="0"/>
              <a:buChar char="•"/>
            </a:pPr>
            <a:r>
              <a:rPr lang="en-IN" dirty="0"/>
              <a:t>If you make a small change to </a:t>
            </a:r>
            <a:r>
              <a:rPr lang="en-IN" dirty="0" err="1"/>
              <a:t>App.jsx</a:t>
            </a:r>
            <a:r>
              <a:rPr lang="en-IN" dirty="0"/>
              <a:t> and save the file, you’ll see that App.js in the public directory is regenerated. </a:t>
            </a:r>
          </a:p>
          <a:p>
            <a:pPr lvl="1">
              <a:buFont typeface="Arial" panose="020B0604020202020204" pitchFamily="34" charset="0"/>
              <a:buChar char="•"/>
            </a:pPr>
            <a:r>
              <a:rPr lang="en-IN" dirty="0"/>
              <a:t>And, when you refresh the browser, you can see those changes without having to manually recompile. </a:t>
            </a:r>
          </a:p>
          <a:p>
            <a:pPr lvl="1">
              <a:buFont typeface="Arial" panose="020B0604020202020204" pitchFamily="34" charset="0"/>
              <a:buChar char="•"/>
            </a:pPr>
            <a:r>
              <a:rPr lang="en-IN" dirty="0"/>
              <a:t>You can also make any changes to server.js and see that the server starts, with a message on the console that says the server is being restarted.</a:t>
            </a:r>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42844018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06C98-7244-9647-1E08-7943CB61CD8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B4859BA-F720-6322-BF96-5925C4B4328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Example:</a:t>
            </a:r>
          </a:p>
          <a:p>
            <a:pPr lvl="1">
              <a:buFont typeface="Arial" panose="020B0604020202020204" pitchFamily="34" charset="0"/>
              <a:buChar char="•"/>
            </a:pPr>
            <a:r>
              <a:rPr lang="en-IN" dirty="0"/>
              <a:t>Let's take a </a:t>
            </a:r>
            <a:r>
              <a:rPr lang="en-IN" b="1" dirty="0"/>
              <a:t>small React + Babel + Express project</a:t>
            </a:r>
            <a:r>
              <a:rPr lang="en-IN" dirty="0"/>
              <a:t> and </a:t>
            </a:r>
            <a:r>
              <a:rPr lang="en-IN" dirty="0">
                <a:solidFill>
                  <a:srgbClr val="FF0000"/>
                </a:solidFill>
              </a:rPr>
              <a:t>automate</a:t>
            </a:r>
            <a:r>
              <a:rPr lang="en-IN" dirty="0"/>
              <a:t> both </a:t>
            </a:r>
            <a:r>
              <a:rPr lang="en-IN" dirty="0">
                <a:solidFill>
                  <a:srgbClr val="FF0000"/>
                </a:solidFill>
              </a:rPr>
              <a:t>JSX compilation </a:t>
            </a:r>
            <a:r>
              <a:rPr lang="en-IN" dirty="0"/>
              <a:t>and </a:t>
            </a:r>
            <a:r>
              <a:rPr lang="en-IN" dirty="0">
                <a:solidFill>
                  <a:srgbClr val="FF0000"/>
                </a:solidFill>
              </a:rPr>
              <a:t>server restarting</a:t>
            </a:r>
            <a:r>
              <a:rPr lang="en-IN" dirty="0"/>
              <a:t>.</a:t>
            </a:r>
          </a:p>
          <a:p>
            <a:pPr lvl="1">
              <a:buFont typeface="Arial" panose="020B0604020202020204" pitchFamily="34" charset="0"/>
              <a:buChar char="•"/>
            </a:pPr>
            <a:r>
              <a:rPr lang="en-IN" dirty="0"/>
              <a:t>Suppose your project is:</a:t>
            </a:r>
          </a:p>
          <a:p>
            <a:pPr lvl="1">
              <a:buFont typeface="Arial" panose="020B0604020202020204" pitchFamily="34" charset="0"/>
              <a:buChar char="•"/>
            </a:pPr>
            <a:endParaRPr lang="en-US" dirty="0"/>
          </a:p>
          <a:p>
            <a:pPr marL="0" indent="0">
              <a:buFont typeface="Calibri" panose="020F0502020204030204" pitchFamily="34" charset="0"/>
              <a:buNone/>
            </a:pPr>
            <a:endParaRPr lang="en-IN" dirty="0"/>
          </a:p>
        </p:txBody>
      </p:sp>
      <p:pic>
        <p:nvPicPr>
          <p:cNvPr id="3" name="Picture 2">
            <a:extLst>
              <a:ext uri="{FF2B5EF4-FFF2-40B4-BE49-F238E27FC236}">
                <a16:creationId xmlns:a16="http://schemas.microsoft.com/office/drawing/2014/main" id="{3D99E40E-01E3-1301-5529-D4D5407323C7}"/>
              </a:ext>
            </a:extLst>
          </p:cNvPr>
          <p:cNvPicPr>
            <a:picLocks noChangeAspect="1"/>
          </p:cNvPicPr>
          <p:nvPr/>
        </p:nvPicPr>
        <p:blipFill>
          <a:blip r:embed="rId2"/>
          <a:stretch>
            <a:fillRect/>
          </a:stretch>
        </p:blipFill>
        <p:spPr>
          <a:xfrm>
            <a:off x="845775" y="1469989"/>
            <a:ext cx="4340559" cy="3253013"/>
          </a:xfrm>
          <a:prstGeom prst="rect">
            <a:avLst/>
          </a:prstGeom>
        </p:spPr>
      </p:pic>
    </p:spTree>
    <p:extLst>
      <p:ext uri="{BB962C8B-B14F-4D97-AF65-F5344CB8AC3E}">
        <p14:creationId xmlns:p14="http://schemas.microsoft.com/office/powerpoint/2010/main" val="6400635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83D96-FFC9-3C91-A689-1157FE55339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9786F3D-359D-E9BB-3239-A936D51F5E15}"/>
              </a:ext>
            </a:extLst>
          </p:cNvPr>
          <p:cNvSpPr txBox="1">
            <a:spLocks/>
          </p:cNvSpPr>
          <p:nvPr/>
        </p:nvSpPr>
        <p:spPr>
          <a:xfrm>
            <a:off x="100668" y="209725"/>
            <a:ext cx="5360565"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2. Create </a:t>
            </a:r>
            <a:r>
              <a:rPr lang="en-IN" dirty="0" err="1"/>
              <a:t>App.jsx</a:t>
            </a:r>
            <a:endParaRPr lang="en-IN" dirty="0"/>
          </a:p>
          <a:p>
            <a:pPr lvl="1">
              <a:buFont typeface="Arial" panose="020B0604020202020204" pitchFamily="34" charset="0"/>
              <a:buChar char="•"/>
            </a:pPr>
            <a:r>
              <a:rPr lang="en-US" sz="1400" dirty="0"/>
              <a:t>const element = (</a:t>
            </a:r>
          </a:p>
          <a:p>
            <a:pPr lvl="1">
              <a:buFont typeface="Arial" panose="020B0604020202020204" pitchFamily="34" charset="0"/>
              <a:buChar char="•"/>
            </a:pPr>
            <a:r>
              <a:rPr lang="en-US" sz="1400" dirty="0"/>
              <a:t>    &lt;div&gt;</a:t>
            </a:r>
          </a:p>
          <a:p>
            <a:pPr lvl="1">
              <a:buFont typeface="Arial" panose="020B0604020202020204" pitchFamily="34" charset="0"/>
              <a:buChar char="•"/>
            </a:pPr>
            <a:r>
              <a:rPr lang="en-US" sz="1400" dirty="0"/>
              <a:t>        &lt;h1&gt;Hello World!&lt;/h1&gt;</a:t>
            </a:r>
          </a:p>
          <a:p>
            <a:pPr lvl="1">
              <a:buFont typeface="Arial" panose="020B0604020202020204" pitchFamily="34" charset="0"/>
              <a:buChar char="•"/>
            </a:pPr>
            <a:r>
              <a:rPr lang="en-US" sz="1400" dirty="0"/>
              <a:t>        &lt;p&gt;This application uses automatic JSX compilation.&lt;/p&gt;</a:t>
            </a:r>
          </a:p>
          <a:p>
            <a:pPr lvl="1">
              <a:buFont typeface="Arial" panose="020B0604020202020204" pitchFamily="34" charset="0"/>
              <a:buChar char="•"/>
            </a:pPr>
            <a:r>
              <a:rPr lang="en-US" sz="1400" dirty="0"/>
              <a:t>    &lt;/div&gt;</a:t>
            </a:r>
          </a:p>
          <a:p>
            <a:pPr lvl="1">
              <a:buFont typeface="Arial" panose="020B0604020202020204" pitchFamily="34" charset="0"/>
              <a:buChar char="•"/>
            </a:pPr>
            <a:r>
              <a:rPr lang="en-US" sz="1400" dirty="0"/>
              <a:t>);</a:t>
            </a:r>
          </a:p>
          <a:p>
            <a:pPr lvl="1">
              <a:buFont typeface="Arial" panose="020B0604020202020204" pitchFamily="34" charset="0"/>
              <a:buChar char="•"/>
            </a:pPr>
            <a:endParaRPr lang="en-US" sz="1400" dirty="0"/>
          </a:p>
          <a:p>
            <a:pPr lvl="1">
              <a:buFont typeface="Arial" panose="020B0604020202020204" pitchFamily="34" charset="0"/>
              <a:buChar char="•"/>
            </a:pPr>
            <a:r>
              <a:rPr lang="en-US" sz="1400" dirty="0" err="1"/>
              <a:t>ReactDOM.render</a:t>
            </a:r>
            <a:r>
              <a:rPr lang="en-US" sz="1400" dirty="0"/>
              <a:t>(</a:t>
            </a:r>
          </a:p>
          <a:p>
            <a:pPr lvl="1">
              <a:buFont typeface="Arial" panose="020B0604020202020204" pitchFamily="34" charset="0"/>
              <a:buChar char="•"/>
            </a:pPr>
            <a:r>
              <a:rPr lang="en-US" sz="1400" dirty="0"/>
              <a:t>    element,</a:t>
            </a:r>
          </a:p>
          <a:p>
            <a:pPr lvl="1">
              <a:buFont typeface="Arial" panose="020B0604020202020204" pitchFamily="34" charset="0"/>
              <a:buChar char="•"/>
            </a:pPr>
            <a:r>
              <a:rPr lang="en-US" sz="1400" dirty="0"/>
              <a:t>    </a:t>
            </a:r>
            <a:r>
              <a:rPr lang="en-US" sz="1400" dirty="0" err="1"/>
              <a:t>document.getElementById</a:t>
            </a:r>
            <a:r>
              <a:rPr lang="en-US" sz="1400" dirty="0"/>
              <a:t>('contents')</a:t>
            </a:r>
          </a:p>
          <a:p>
            <a:pPr lvl="1">
              <a:buFont typeface="Arial" panose="020B0604020202020204" pitchFamily="34" charset="0"/>
              <a:buChar char="•"/>
            </a:pPr>
            <a:r>
              <a:rPr lang="en-US" sz="1400" dirty="0"/>
              <a:t>);</a:t>
            </a:r>
          </a:p>
          <a:p>
            <a:pPr marL="0" indent="0">
              <a:buFont typeface="Calibri" panose="020F0502020204030204" pitchFamily="34" charset="0"/>
              <a:buNone/>
            </a:pPr>
            <a:endParaRPr lang="en-IN" dirty="0"/>
          </a:p>
        </p:txBody>
      </p:sp>
      <p:sp>
        <p:nvSpPr>
          <p:cNvPr id="2" name="TextBox 1">
            <a:extLst>
              <a:ext uri="{FF2B5EF4-FFF2-40B4-BE49-F238E27FC236}">
                <a16:creationId xmlns:a16="http://schemas.microsoft.com/office/drawing/2014/main" id="{6985EAD5-CC70-EF89-3A74-188E75B7A3BB}"/>
              </a:ext>
            </a:extLst>
          </p:cNvPr>
          <p:cNvSpPr txBox="1"/>
          <p:nvPr/>
        </p:nvSpPr>
        <p:spPr>
          <a:xfrm>
            <a:off x="5461233" y="209725"/>
            <a:ext cx="6434356" cy="4678204"/>
          </a:xfrm>
          <a:prstGeom prst="rect">
            <a:avLst/>
          </a:prstGeom>
          <a:noFill/>
        </p:spPr>
        <p:txBody>
          <a:bodyPr wrap="square" rtlCol="0">
            <a:spAutoFit/>
          </a:bodyPr>
          <a:lstStyle/>
          <a:p>
            <a:pPr marL="285750" indent="-285750">
              <a:buFont typeface="Arial" panose="020B0604020202020204" pitchFamily="34" charset="0"/>
              <a:buChar char="•"/>
            </a:pPr>
            <a:r>
              <a:rPr lang="en-IN" dirty="0"/>
              <a:t>3. Create index.html</a:t>
            </a:r>
          </a:p>
          <a:p>
            <a:pPr marL="285750" indent="-285750">
              <a:buFont typeface="Arial" panose="020B0604020202020204" pitchFamily="34" charset="0"/>
              <a:buChar char="•"/>
            </a:pPr>
            <a:r>
              <a:rPr lang="en-IN" sz="1400" dirty="0"/>
              <a:t>&lt;!DOCTYPE html&gt;</a:t>
            </a:r>
          </a:p>
          <a:p>
            <a:pPr marL="285750" indent="-285750">
              <a:buFont typeface="Arial" panose="020B0604020202020204" pitchFamily="34" charset="0"/>
              <a:buChar char="•"/>
            </a:pPr>
            <a:r>
              <a:rPr lang="en-IN" sz="1400" dirty="0"/>
              <a:t>&lt;html&gt;</a:t>
            </a:r>
          </a:p>
          <a:p>
            <a:pPr marL="285750" indent="-285750">
              <a:buFont typeface="Arial" panose="020B0604020202020204" pitchFamily="34" charset="0"/>
              <a:buChar char="•"/>
            </a:pPr>
            <a:r>
              <a:rPr lang="en-IN" sz="1400" dirty="0"/>
              <a:t>&lt;head&gt;</a:t>
            </a:r>
          </a:p>
          <a:p>
            <a:pPr marL="285750" indent="-285750">
              <a:buFont typeface="Arial" panose="020B0604020202020204" pitchFamily="34" charset="0"/>
              <a:buChar char="•"/>
            </a:pPr>
            <a:r>
              <a:rPr lang="en-IN" sz="1400" dirty="0"/>
              <a:t>    &lt;meta charset="utf-8"&gt;</a:t>
            </a:r>
          </a:p>
          <a:p>
            <a:pPr marL="285750" indent="-285750">
              <a:buFont typeface="Arial" panose="020B0604020202020204" pitchFamily="34" charset="0"/>
              <a:buChar char="•"/>
            </a:pPr>
            <a:r>
              <a:rPr lang="en-IN" sz="1400" dirty="0"/>
              <a:t>    &lt;title&gt;Automated React Example&lt;/title&gt;</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    &lt;script </a:t>
            </a:r>
            <a:r>
              <a:rPr lang="en-IN" sz="1400" dirty="0" err="1"/>
              <a:t>src</a:t>
            </a:r>
            <a:r>
              <a:rPr lang="en-IN" sz="1400" dirty="0"/>
              <a:t>="https://unpkg.com/react@16/</a:t>
            </a:r>
            <a:r>
              <a:rPr lang="en-IN" sz="1400" dirty="0" err="1"/>
              <a:t>umd</a:t>
            </a:r>
            <a:r>
              <a:rPr lang="en-IN" sz="1400" dirty="0"/>
              <a:t>/react.development.js"&gt;&lt;/script&gt;</a:t>
            </a:r>
          </a:p>
          <a:p>
            <a:pPr marL="285750" indent="-285750">
              <a:buFont typeface="Arial" panose="020B0604020202020204" pitchFamily="34" charset="0"/>
              <a:buChar char="•"/>
            </a:pPr>
            <a:r>
              <a:rPr lang="en-IN" sz="1400" dirty="0"/>
              <a:t>    &lt;script </a:t>
            </a:r>
            <a:r>
              <a:rPr lang="en-IN" sz="1400" dirty="0" err="1"/>
              <a:t>src</a:t>
            </a:r>
            <a:r>
              <a:rPr lang="en-IN" sz="1400" dirty="0"/>
              <a:t>="https://unpkg.com/react-dom@16/</a:t>
            </a:r>
            <a:r>
              <a:rPr lang="en-IN" sz="1400" dirty="0" err="1"/>
              <a:t>umd</a:t>
            </a:r>
            <a:r>
              <a:rPr lang="en-IN" sz="1400" dirty="0"/>
              <a:t>/react-dom.development.js"&gt;&lt;/script&gt;</a:t>
            </a:r>
          </a:p>
          <a:p>
            <a:pPr marL="285750" indent="-285750">
              <a:buFont typeface="Arial" panose="020B0604020202020204" pitchFamily="34" charset="0"/>
              <a:buChar char="•"/>
            </a:pPr>
            <a:r>
              <a:rPr lang="en-IN" sz="1400" dirty="0"/>
              <a:t>&lt;/head&gt;</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&lt;body&gt;</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    &lt;div id="contents"&gt;&lt;/div&gt;</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    &lt;script </a:t>
            </a:r>
            <a:r>
              <a:rPr lang="en-IN" sz="1400" dirty="0" err="1"/>
              <a:t>src</a:t>
            </a:r>
            <a:r>
              <a:rPr lang="en-IN" sz="1400" dirty="0"/>
              <a:t>="App.js"&gt;&lt;/script&gt;</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&lt;/body&gt;</a:t>
            </a:r>
          </a:p>
          <a:p>
            <a:pPr marL="285750" indent="-285750">
              <a:buFont typeface="Arial" panose="020B0604020202020204" pitchFamily="34" charset="0"/>
              <a:buChar char="•"/>
            </a:pPr>
            <a:r>
              <a:rPr lang="en-IN" sz="1400" dirty="0"/>
              <a:t>&lt;/html&gt;</a:t>
            </a:r>
          </a:p>
        </p:txBody>
      </p:sp>
    </p:spTree>
    <p:extLst>
      <p:ext uri="{BB962C8B-B14F-4D97-AF65-F5344CB8AC3E}">
        <p14:creationId xmlns:p14="http://schemas.microsoft.com/office/powerpoint/2010/main" val="22180743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77662-11AC-6007-F511-B5550D3A70A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221378E-D43C-F091-46D1-28D4056F512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4. Create Express server</a:t>
            </a:r>
          </a:p>
          <a:p>
            <a:pPr marL="384048" lvl="2" indent="0">
              <a:buNone/>
            </a:pPr>
            <a:r>
              <a:rPr lang="en-US" sz="1600" dirty="0"/>
              <a:t>const express = require('</a:t>
            </a:r>
            <a:r>
              <a:rPr lang="en-US" sz="1600" dirty="0" err="1"/>
              <a:t>express'</a:t>
            </a:r>
            <a:r>
              <a:rPr lang="en-US" sz="1600" dirty="0"/>
              <a:t>);</a:t>
            </a:r>
          </a:p>
          <a:p>
            <a:pPr marL="384048" lvl="2" indent="0">
              <a:buNone/>
            </a:pPr>
            <a:r>
              <a:rPr lang="en-US" sz="1600" dirty="0"/>
              <a:t>const app = express();</a:t>
            </a:r>
          </a:p>
          <a:p>
            <a:pPr marL="384048" lvl="2" indent="0">
              <a:buNone/>
            </a:pPr>
            <a:r>
              <a:rPr lang="en-US" sz="1600" dirty="0" err="1"/>
              <a:t>app.use</a:t>
            </a:r>
            <a:r>
              <a:rPr lang="en-US" sz="1600" dirty="0"/>
              <a:t>(</a:t>
            </a:r>
            <a:r>
              <a:rPr lang="en-US" sz="1600" dirty="0" err="1"/>
              <a:t>express.static</a:t>
            </a:r>
            <a:r>
              <a:rPr lang="en-US" sz="1600" dirty="0"/>
              <a:t>('public'));</a:t>
            </a:r>
          </a:p>
          <a:p>
            <a:pPr marL="384048" lvl="2" indent="0">
              <a:buNone/>
            </a:pPr>
            <a:r>
              <a:rPr lang="en-US" sz="1600" dirty="0" err="1"/>
              <a:t>app.listen</a:t>
            </a:r>
            <a:r>
              <a:rPr lang="en-US" sz="1600" dirty="0"/>
              <a:t>(3000, function () {</a:t>
            </a:r>
          </a:p>
          <a:p>
            <a:pPr marL="384048" lvl="2" indent="0">
              <a:buNone/>
            </a:pPr>
            <a:r>
              <a:rPr lang="en-US" sz="1600" dirty="0"/>
              <a:t>    console.log('Server started at http://localhost:3000');</a:t>
            </a:r>
          </a:p>
          <a:p>
            <a:pPr marL="384048" lvl="2" indent="0">
              <a:buNone/>
            </a:pPr>
            <a:r>
              <a:rPr lang="en-US" sz="1600" dirty="0"/>
              <a:t>});</a:t>
            </a:r>
          </a:p>
          <a:p>
            <a:pPr>
              <a:buFont typeface="Arial" panose="020B0604020202020204" pitchFamily="34" charset="0"/>
              <a:buChar char="•"/>
            </a:pPr>
            <a:r>
              <a:rPr lang="en-IN" b="1" dirty="0"/>
              <a:t>5. Install the required packages</a:t>
            </a:r>
          </a:p>
          <a:p>
            <a:pPr lvl="1">
              <a:buFont typeface="Arial" panose="020B0604020202020204" pitchFamily="34" charset="0"/>
              <a:buChar char="•"/>
            </a:pPr>
            <a:r>
              <a:rPr lang="en-IN" dirty="0"/>
              <a:t>From the program7 directory:</a:t>
            </a:r>
          </a:p>
          <a:p>
            <a:pPr lvl="2">
              <a:buFont typeface="Arial" panose="020B0604020202020204" pitchFamily="34" charset="0"/>
              <a:buChar char="•"/>
            </a:pPr>
            <a:r>
              <a:rPr lang="en-IN" dirty="0" err="1"/>
              <a:t>npm</a:t>
            </a:r>
            <a:r>
              <a:rPr lang="en-IN" dirty="0"/>
              <a:t> </a:t>
            </a:r>
            <a:r>
              <a:rPr lang="en-IN" dirty="0" err="1"/>
              <a:t>init</a:t>
            </a:r>
            <a:r>
              <a:rPr lang="en-IN" dirty="0"/>
              <a:t> –y</a:t>
            </a:r>
          </a:p>
          <a:p>
            <a:pPr lvl="2">
              <a:buFont typeface="Arial" panose="020B0604020202020204" pitchFamily="34" charset="0"/>
              <a:buChar char="•"/>
            </a:pPr>
            <a:r>
              <a:rPr lang="en-IN" dirty="0" err="1"/>
              <a:t>npm</a:t>
            </a:r>
            <a:r>
              <a:rPr lang="en-IN" dirty="0"/>
              <a:t> install express					//Install Express</a:t>
            </a:r>
          </a:p>
          <a:p>
            <a:pPr lvl="2">
              <a:buFont typeface="Arial" panose="020B0604020202020204" pitchFamily="34" charset="0"/>
              <a:buChar char="•"/>
            </a:pPr>
            <a:r>
              <a:rPr lang="en-IN" dirty="0" err="1"/>
              <a:t>npm</a:t>
            </a:r>
            <a:r>
              <a:rPr lang="en-IN" dirty="0"/>
              <a:t> install --save-dev @babel/core @babel/cli @babel/preset-react		//Install Babel</a:t>
            </a:r>
          </a:p>
          <a:p>
            <a:pPr lvl="2">
              <a:buFont typeface="Arial" panose="020B0604020202020204" pitchFamily="34" charset="0"/>
              <a:buChar char="•"/>
            </a:pPr>
            <a:r>
              <a:rPr lang="en-IN" dirty="0" err="1"/>
              <a:t>npm</a:t>
            </a:r>
            <a:r>
              <a:rPr lang="en-IN" dirty="0"/>
              <a:t> install --save-dev </a:t>
            </a:r>
            <a:r>
              <a:rPr lang="en-IN" dirty="0" err="1"/>
              <a:t>nodemon</a:t>
            </a:r>
            <a:r>
              <a:rPr lang="en-IN" dirty="0"/>
              <a:t>				//Install </a:t>
            </a:r>
            <a:r>
              <a:rPr lang="en-IN" dirty="0" err="1"/>
              <a:t>nodemon</a:t>
            </a:r>
            <a:endParaRPr lang="en-IN" dirty="0"/>
          </a:p>
          <a:p>
            <a:pPr lvl="2">
              <a:buFont typeface="Arial" panose="020B0604020202020204" pitchFamily="34" charset="0"/>
              <a:buChar char="•"/>
            </a:pPr>
            <a:endParaRPr lang="en-IN" dirty="0"/>
          </a:p>
          <a:p>
            <a:pPr lvl="2">
              <a:buFont typeface="Arial" panose="020B0604020202020204" pitchFamily="34" charset="0"/>
              <a:buChar char="•"/>
            </a:pPr>
            <a:endParaRPr lang="en-IN" dirty="0"/>
          </a:p>
          <a:p>
            <a:pPr lvl="2">
              <a:buFont typeface="Arial" panose="020B0604020202020204" pitchFamily="34" charset="0"/>
              <a:buChar char="•"/>
            </a:pPr>
            <a:endParaRPr lang="en-IN" dirty="0"/>
          </a:p>
        </p:txBody>
      </p:sp>
    </p:spTree>
    <p:extLst>
      <p:ext uri="{BB962C8B-B14F-4D97-AF65-F5344CB8AC3E}">
        <p14:creationId xmlns:p14="http://schemas.microsoft.com/office/powerpoint/2010/main" val="27011453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B107-498C-026C-2EE6-727D0A1E3C3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97F37E9-2159-2989-2E9A-66B8A28CC2B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b="1" dirty="0"/>
              <a:t>6. Configure </a:t>
            </a:r>
            <a:r>
              <a:rPr lang="en-IN" b="1" dirty="0" err="1"/>
              <a:t>package.json</a:t>
            </a:r>
            <a:endParaRPr lang="en-IN" b="1" dirty="0"/>
          </a:p>
          <a:p>
            <a:pPr lvl="1"/>
            <a:r>
              <a:rPr lang="en-IN" dirty="0"/>
              <a:t>Open </a:t>
            </a:r>
            <a:r>
              <a:rPr lang="en-IN" dirty="0" err="1"/>
              <a:t>package.json</a:t>
            </a:r>
            <a:r>
              <a:rPr lang="en-IN" dirty="0"/>
              <a:t> and change the scripts section to:</a:t>
            </a:r>
          </a:p>
          <a:p>
            <a:pPr lvl="2">
              <a:buFont typeface="Arial" panose="020B0604020202020204" pitchFamily="34" charset="0"/>
              <a:buChar char="•"/>
            </a:pPr>
            <a:r>
              <a:rPr lang="en-US" sz="1400" dirty="0"/>
              <a:t>{</a:t>
            </a:r>
          </a:p>
          <a:p>
            <a:pPr lvl="2">
              <a:buFont typeface="Arial" panose="020B0604020202020204" pitchFamily="34" charset="0"/>
              <a:buChar char="•"/>
            </a:pPr>
            <a:r>
              <a:rPr lang="en-US" sz="1400" dirty="0"/>
              <a:t>    "name": "program7",</a:t>
            </a:r>
          </a:p>
          <a:p>
            <a:pPr lvl="2">
              <a:buFont typeface="Arial" panose="020B0604020202020204" pitchFamily="34" charset="0"/>
              <a:buChar char="•"/>
            </a:pPr>
            <a:r>
              <a:rPr lang="en-US" sz="1400" dirty="0"/>
              <a:t>    "version": "1.0.0",</a:t>
            </a:r>
          </a:p>
          <a:p>
            <a:pPr lvl="2">
              <a:buFont typeface="Arial" panose="020B0604020202020204" pitchFamily="34" charset="0"/>
              <a:buChar char="•"/>
            </a:pPr>
            <a:r>
              <a:rPr lang="en-US" sz="1400" dirty="0"/>
              <a:t>    "scripts": {</a:t>
            </a:r>
          </a:p>
          <a:p>
            <a:pPr lvl="2">
              <a:buFont typeface="Arial" panose="020B0604020202020204" pitchFamily="34" charset="0"/>
              <a:buChar char="•"/>
            </a:pPr>
            <a:r>
              <a:rPr lang="en-US" sz="1400" b="1" dirty="0"/>
              <a:t>        "start": "</a:t>
            </a:r>
            <a:r>
              <a:rPr lang="en-US" sz="1400" b="1" dirty="0" err="1"/>
              <a:t>nodemon</a:t>
            </a:r>
            <a:r>
              <a:rPr lang="en-US" sz="1400" b="1" dirty="0"/>
              <a:t> -w server server/server.js",</a:t>
            </a:r>
          </a:p>
          <a:p>
            <a:pPr lvl="2">
              <a:buFont typeface="Arial" panose="020B0604020202020204" pitchFamily="34" charset="0"/>
              <a:buChar char="•"/>
            </a:pPr>
            <a:r>
              <a:rPr lang="en-US" sz="1400" b="1" dirty="0"/>
              <a:t>        "compile": "babel </a:t>
            </a:r>
            <a:r>
              <a:rPr lang="en-US" sz="1400" b="1" dirty="0" err="1"/>
              <a:t>src</a:t>
            </a:r>
            <a:r>
              <a:rPr lang="en-US" sz="1400" b="1" dirty="0"/>
              <a:t> --presets @babel/preset-react --out-</a:t>
            </a:r>
            <a:r>
              <a:rPr lang="en-US" sz="1400" b="1" dirty="0" err="1"/>
              <a:t>dir</a:t>
            </a:r>
            <a:r>
              <a:rPr lang="en-US" sz="1400" b="1" dirty="0"/>
              <a:t> public",</a:t>
            </a:r>
          </a:p>
          <a:p>
            <a:pPr lvl="2">
              <a:buFont typeface="Arial" panose="020B0604020202020204" pitchFamily="34" charset="0"/>
              <a:buChar char="•"/>
            </a:pPr>
            <a:r>
              <a:rPr lang="en-US" sz="1400" b="1" dirty="0"/>
              <a:t>        "watch": "babel </a:t>
            </a:r>
            <a:r>
              <a:rPr lang="en-US" sz="1400" b="1" dirty="0" err="1"/>
              <a:t>src</a:t>
            </a:r>
            <a:r>
              <a:rPr lang="en-US" sz="1400" b="1" dirty="0"/>
              <a:t> --presets @babel/preset-react --out-</a:t>
            </a:r>
            <a:r>
              <a:rPr lang="en-US" sz="1400" b="1" dirty="0" err="1"/>
              <a:t>dir</a:t>
            </a:r>
            <a:r>
              <a:rPr lang="en-US" sz="1400" b="1" dirty="0"/>
              <a:t> public --watch --verbose</a:t>
            </a:r>
            <a:r>
              <a:rPr lang="en-US" sz="1400" dirty="0"/>
              <a:t>"</a:t>
            </a:r>
          </a:p>
          <a:p>
            <a:pPr lvl="2">
              <a:buFont typeface="Arial" panose="020B0604020202020204" pitchFamily="34" charset="0"/>
              <a:buChar char="•"/>
            </a:pPr>
            <a:r>
              <a:rPr lang="en-US" sz="1400" dirty="0"/>
              <a:t>    }</a:t>
            </a:r>
          </a:p>
          <a:p>
            <a:pPr lvl="2">
              <a:buFont typeface="Arial" panose="020B0604020202020204" pitchFamily="34" charset="0"/>
              <a:buChar char="•"/>
            </a:pPr>
            <a:r>
              <a:rPr lang="en-US" sz="1400" dirty="0"/>
              <a:t>}</a:t>
            </a:r>
          </a:p>
          <a:p>
            <a:pPr>
              <a:buFont typeface="Arial" panose="020B0604020202020204" pitchFamily="34" charset="0"/>
              <a:buChar char="•"/>
            </a:pPr>
            <a:r>
              <a:rPr lang="en-IN" dirty="0"/>
              <a:t>7. First compile the JSX</a:t>
            </a:r>
          </a:p>
          <a:p>
            <a:pPr lvl="1">
              <a:buFont typeface="Arial" panose="020B0604020202020204" pitchFamily="34" charset="0"/>
              <a:buChar char="•"/>
            </a:pPr>
            <a:r>
              <a:rPr lang="en-IN" dirty="0" err="1"/>
              <a:t>npm</a:t>
            </a:r>
            <a:r>
              <a:rPr lang="en-IN" dirty="0"/>
              <a:t> run compile</a:t>
            </a:r>
          </a:p>
          <a:p>
            <a:pPr>
              <a:buFont typeface="Arial" panose="020B0604020202020204" pitchFamily="34" charset="0"/>
              <a:buChar char="•"/>
            </a:pPr>
            <a:r>
              <a:rPr lang="en-IN" dirty="0"/>
              <a:t>8. Start automatic JSX compilation</a:t>
            </a:r>
          </a:p>
          <a:p>
            <a:pPr lvl="1">
              <a:buFont typeface="Arial" panose="020B0604020202020204" pitchFamily="34" charset="0"/>
              <a:buChar char="•"/>
            </a:pPr>
            <a:r>
              <a:rPr lang="en-IN" dirty="0" err="1"/>
              <a:t>npm</a:t>
            </a:r>
            <a:r>
              <a:rPr lang="en-IN" dirty="0"/>
              <a:t> run watch</a:t>
            </a:r>
          </a:p>
        </p:txBody>
      </p:sp>
    </p:spTree>
    <p:extLst>
      <p:ext uri="{BB962C8B-B14F-4D97-AF65-F5344CB8AC3E}">
        <p14:creationId xmlns:p14="http://schemas.microsoft.com/office/powerpoint/2010/main" val="8995632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312DF-7CEB-E4FB-6090-2602767EDCB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C039525F-CF28-EFB3-9D34-4B89A18D018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Now do the changes in </a:t>
            </a:r>
            <a:r>
              <a:rPr lang="en-IN" b="1" dirty="0" err="1"/>
              <a:t>App.jsx</a:t>
            </a:r>
            <a:r>
              <a:rPr lang="en-IN" b="1" dirty="0"/>
              <a:t> </a:t>
            </a:r>
            <a:r>
              <a:rPr lang="en-IN" dirty="0"/>
              <a:t>and check the output:</a:t>
            </a:r>
          </a:p>
          <a:p>
            <a:pPr lvl="1">
              <a:buFont typeface="Arial" panose="020B0604020202020204" pitchFamily="34" charset="0"/>
              <a:buChar char="•"/>
            </a:pPr>
            <a:r>
              <a:rPr lang="en-IN" dirty="0"/>
              <a:t>&lt;h1&gt;Hello World!&lt;/h1&gt;   to &lt;h1&gt;Welcome to MERN Development!&lt;/h1&gt;</a:t>
            </a:r>
          </a:p>
          <a:p>
            <a:pPr>
              <a:buFont typeface="Arial" panose="020B0604020202020204" pitchFamily="34" charset="0"/>
              <a:buChar char="•"/>
            </a:pPr>
            <a:r>
              <a:rPr lang="en-IN" b="1" dirty="0"/>
              <a:t>9. Start the server</a:t>
            </a:r>
          </a:p>
          <a:p>
            <a:pPr lvl="1">
              <a:buFont typeface="Arial" panose="020B0604020202020204" pitchFamily="34" charset="0"/>
              <a:buChar char="•"/>
            </a:pPr>
            <a:r>
              <a:rPr lang="en-IN" dirty="0"/>
              <a:t>Open a </a:t>
            </a:r>
            <a:r>
              <a:rPr lang="en-IN" b="1" dirty="0"/>
              <a:t>second terminal</a:t>
            </a:r>
            <a:r>
              <a:rPr lang="en-IN" dirty="0"/>
              <a:t>.</a:t>
            </a:r>
          </a:p>
          <a:p>
            <a:pPr lvl="1">
              <a:buFont typeface="Arial" panose="020B0604020202020204" pitchFamily="34" charset="0"/>
              <a:buChar char="•"/>
            </a:pPr>
            <a:r>
              <a:rPr lang="en-IN" dirty="0"/>
              <a:t>Make sure you are in the project directory:</a:t>
            </a:r>
          </a:p>
          <a:p>
            <a:pPr lvl="2">
              <a:buFont typeface="Arial" panose="020B0604020202020204" pitchFamily="34" charset="0"/>
              <a:buChar char="•"/>
            </a:pPr>
            <a:r>
              <a:rPr lang="en-IN" dirty="0"/>
              <a:t>cd E:\ReactFolder\program7</a:t>
            </a:r>
          </a:p>
          <a:p>
            <a:pPr lvl="2">
              <a:buFont typeface="Arial" panose="020B0604020202020204" pitchFamily="34" charset="0"/>
              <a:buChar char="•"/>
            </a:pPr>
            <a:r>
              <a:rPr lang="en-IN" dirty="0" err="1"/>
              <a:t>npm</a:t>
            </a:r>
            <a:r>
              <a:rPr lang="en-IN" dirty="0"/>
              <a:t> start</a:t>
            </a:r>
          </a:p>
          <a:p>
            <a:pPr lvl="2">
              <a:buFont typeface="Arial" panose="020B0604020202020204" pitchFamily="34" charset="0"/>
              <a:buChar char="•"/>
            </a:pPr>
            <a:r>
              <a:rPr lang="en-IN" dirty="0"/>
              <a:t>You should get: Server started at </a:t>
            </a:r>
            <a:r>
              <a:rPr lang="en-IN" dirty="0">
                <a:hlinkClick r:id="rId2"/>
              </a:rPr>
              <a:t>http://localhost:3000</a:t>
            </a:r>
            <a:endParaRPr lang="en-IN" dirty="0"/>
          </a:p>
          <a:p>
            <a:pPr lvl="2">
              <a:buFont typeface="Arial" panose="020B0604020202020204" pitchFamily="34" charset="0"/>
              <a:buChar char="•"/>
            </a:pPr>
            <a:r>
              <a:rPr lang="en-IN" dirty="0"/>
              <a:t>Open: </a:t>
            </a:r>
            <a:r>
              <a:rPr lang="en-IN" dirty="0">
                <a:hlinkClick r:id="rId2"/>
              </a:rPr>
              <a:t>http://localhost:3000</a:t>
            </a:r>
            <a:endParaRPr lang="en-IN" dirty="0"/>
          </a:p>
          <a:p>
            <a:pPr marL="384048" lvl="2" indent="0">
              <a:buNone/>
            </a:pPr>
            <a:endParaRPr lang="en-IN" dirty="0"/>
          </a:p>
          <a:p>
            <a:pPr>
              <a:buFont typeface="Arial" panose="020B0604020202020204" pitchFamily="34" charset="0"/>
              <a:buChar char="•"/>
            </a:pPr>
            <a:r>
              <a:rPr lang="en-IN" dirty="0"/>
              <a:t>10. Test </a:t>
            </a:r>
            <a:r>
              <a:rPr lang="en-IN" dirty="0" err="1"/>
              <a:t>Nodemon</a:t>
            </a:r>
            <a:endParaRPr lang="en-IN" dirty="0"/>
          </a:p>
          <a:p>
            <a:pPr lvl="1">
              <a:buFont typeface="Arial" panose="020B0604020202020204" pitchFamily="34" charset="0"/>
              <a:buChar char="•"/>
            </a:pPr>
            <a:r>
              <a:rPr lang="en-IN" dirty="0"/>
              <a:t>Now open: server/server.js</a:t>
            </a:r>
          </a:p>
          <a:p>
            <a:pPr lvl="1">
              <a:buFont typeface="Arial" panose="020B0604020202020204" pitchFamily="34" charset="0"/>
              <a:buChar char="•"/>
            </a:pPr>
            <a:r>
              <a:rPr lang="en-IN" dirty="0"/>
              <a:t>Change: console.log('Server started at </a:t>
            </a:r>
            <a:r>
              <a:rPr lang="en-IN" dirty="0">
                <a:hlinkClick r:id="rId2"/>
              </a:rPr>
              <a:t>http://localhost:3000</a:t>
            </a:r>
            <a:r>
              <a:rPr lang="en-IN" dirty="0"/>
              <a:t>’); to console.log('MERN server restarted automatically!’);</a:t>
            </a:r>
          </a:p>
          <a:p>
            <a:pPr lvl="1">
              <a:buFont typeface="Arial" panose="020B0604020202020204" pitchFamily="34" charset="0"/>
              <a:buChar char="•"/>
            </a:pPr>
            <a:r>
              <a:rPr lang="en-IN" dirty="0"/>
              <a:t>Save the file.</a:t>
            </a:r>
          </a:p>
          <a:p>
            <a:pPr lvl="1">
              <a:buFont typeface="Arial" panose="020B0604020202020204" pitchFamily="34" charset="0"/>
              <a:buChar char="•"/>
            </a:pPr>
            <a:r>
              <a:rPr lang="en-IN" dirty="0" err="1"/>
              <a:t>Nodemon</a:t>
            </a:r>
            <a:r>
              <a:rPr lang="en-IN" dirty="0"/>
              <a:t> detects the change and automatically restarts the server.</a:t>
            </a:r>
          </a:p>
          <a:p>
            <a:pPr lvl="1">
              <a:buFont typeface="Arial" panose="020B0604020202020204" pitchFamily="34" charset="0"/>
              <a:buChar char="•"/>
            </a:pP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0680004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5AED5-5A3D-689B-A412-8F7DC992672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99A675F-AE38-463E-F0BD-4F21C712C42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 and </a:t>
            </a:r>
            <a:r>
              <a:rPr lang="en-IN" dirty="0" err="1"/>
              <a:t>npm</a:t>
            </a: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8020090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F7C85-6B16-F0B5-B627-66167942A0C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38F5E74-09CC-EA31-1891-3078EB4E488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 and </a:t>
            </a:r>
            <a:r>
              <a:rPr lang="en-IN" dirty="0" err="1"/>
              <a:t>npm</a:t>
            </a: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345731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C89F3-7B69-F5BF-29BF-17A5413B788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0B61CD5-F54A-EA85-ECE7-AD47CCC6825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 and </a:t>
            </a:r>
            <a:r>
              <a:rPr lang="en-IN" dirty="0" err="1"/>
              <a:t>npm</a:t>
            </a: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19766923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EB780-AE2E-7312-D73B-9285D029DBD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FBF1430-754C-65D6-CAFA-7DAC9BE2F58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 and </a:t>
            </a:r>
            <a:r>
              <a:rPr lang="en-IN" dirty="0" err="1"/>
              <a:t>npm</a:t>
            </a: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2206280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FA16E-D0D1-C72A-ED0B-672138C2563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4E27476-7C6F-5242-A440-ACC8EAE3B6E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 and </a:t>
            </a:r>
            <a:r>
              <a:rPr lang="en-IN" dirty="0" err="1"/>
              <a:t>npm</a:t>
            </a: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4813420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9555-6E68-4738-C149-662500678AD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37805E3-71ED-6E1D-5ED4-0BD2360F88C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 and </a:t>
            </a:r>
            <a:r>
              <a:rPr lang="en-IN" dirty="0" err="1"/>
              <a:t>npm</a:t>
            </a: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5365759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C7EA8-B341-38E2-A4C8-806245B1924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1DD6029-ADFC-EF14-0E69-7A880052B48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dirty="0"/>
              <a:t>Node.js and </a:t>
            </a:r>
            <a:r>
              <a:rPr lang="en-IN" dirty="0" err="1"/>
              <a:t>npm</a:t>
            </a:r>
            <a:endParaRPr lang="en-IN" dirty="0"/>
          </a:p>
          <a:p>
            <a:pPr>
              <a:buFont typeface="Arial" panose="020B0604020202020204" pitchFamily="34" charset="0"/>
              <a:buChar char="•"/>
            </a:pPr>
            <a:endParaRPr lang="en-US"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72446939"/>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{36DD5CE7-46AA-4A3B-8BDD-33A0D3929DF2}TFf0a5ceae-4542-492d-822e-d65a94fb0e1e3b562c5a_win32-009a0557e699</Template>
  <TotalTime>13767</TotalTime>
  <Words>9206</Words>
  <Application>Microsoft Office PowerPoint</Application>
  <PresentationFormat>Widescreen</PresentationFormat>
  <Paragraphs>753</Paragraphs>
  <Slides>75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Bookman Old Style</vt:lpstr>
      <vt:lpstr>Calibri</vt:lpstr>
      <vt:lpstr>Franklin Gothic Book</vt:lpstr>
      <vt:lpstr>Wingdings</vt:lpstr>
      <vt:lpstr>Custom</vt:lpstr>
      <vt:lpstr>FULL STACK WEB DEVELOPMENT USING MERN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rakshitha p</cp:lastModifiedBy>
  <cp:revision>32</cp:revision>
  <dcterms:created xsi:type="dcterms:W3CDTF">2026-07-20T07:43:38Z</dcterms:created>
  <dcterms:modified xsi:type="dcterms:W3CDTF">2026-08-20T15:50:18Z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