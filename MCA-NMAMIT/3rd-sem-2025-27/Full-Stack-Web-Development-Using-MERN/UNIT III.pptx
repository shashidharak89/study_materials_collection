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328" r:id="rId6"/>
    <p:sldId id="369" r:id="rId7"/>
    <p:sldId id="370" r:id="rId8"/>
    <p:sldId id="371" r:id="rId9"/>
    <p:sldId id="372" r:id="rId10"/>
    <p:sldId id="373" r:id="rId11"/>
    <p:sldId id="374" r:id="rId12"/>
    <p:sldId id="375" r:id="rId13"/>
    <p:sldId id="376" r:id="rId14"/>
    <p:sldId id="377" r:id="rId15"/>
    <p:sldId id="378" r:id="rId16"/>
    <p:sldId id="379" r:id="rId17"/>
    <p:sldId id="380" r:id="rId18"/>
    <p:sldId id="381" r:id="rId19"/>
    <p:sldId id="382" r:id="rId20"/>
    <p:sldId id="383" r:id="rId21"/>
    <p:sldId id="384" r:id="rId22"/>
    <p:sldId id="385" r:id="rId23"/>
    <p:sldId id="386" r:id="rId24"/>
    <p:sldId id="387" r:id="rId25"/>
    <p:sldId id="388" r:id="rId26"/>
    <p:sldId id="389" r:id="rId27"/>
    <p:sldId id="390" r:id="rId28"/>
    <p:sldId id="391" r:id="rId29"/>
    <p:sldId id="392" r:id="rId30"/>
    <p:sldId id="393" r:id="rId31"/>
    <p:sldId id="394" r:id="rId32"/>
    <p:sldId id="395" r:id="rId33"/>
    <p:sldId id="396" r:id="rId34"/>
    <p:sldId id="397" r:id="rId35"/>
    <p:sldId id="398" r:id="rId36"/>
    <p:sldId id="399" r:id="rId37"/>
    <p:sldId id="400" r:id="rId38"/>
    <p:sldId id="401" r:id="rId39"/>
    <p:sldId id="402" r:id="rId40"/>
    <p:sldId id="403" r:id="rId41"/>
    <p:sldId id="404" r:id="rId42"/>
    <p:sldId id="405" r:id="rId43"/>
    <p:sldId id="406" r:id="rId44"/>
    <p:sldId id="407" r:id="rId45"/>
    <p:sldId id="408" r:id="rId46"/>
    <p:sldId id="409" r:id="rId47"/>
    <p:sldId id="410" r:id="rId48"/>
    <p:sldId id="411" r:id="rId49"/>
    <p:sldId id="412" r:id="rId50"/>
    <p:sldId id="413" r:id="rId51"/>
    <p:sldId id="414" r:id="rId52"/>
    <p:sldId id="415" r:id="rId53"/>
    <p:sldId id="416" r:id="rId54"/>
    <p:sldId id="41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1" d="100"/>
          <a:sy n="91" d="100"/>
        </p:scale>
        <p:origin x="32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9/24/2026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9/24/2026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9/24/2026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9/24/2026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9/24/2026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9/24/2026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9/24/2026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9/24/2026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9/24/2026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9/24/2026</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9/24/2026</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9/24/2026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US" sz="8000" dirty="0"/>
              <a:t>UNIT I</a:t>
            </a:r>
            <a:r>
              <a:rPr lang="en-US" dirty="0"/>
              <a:t>II</a:t>
            </a:r>
            <a:endParaRPr lang="en-US" sz="8000"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2400" dirty="0">
                <a:solidFill>
                  <a:schemeClr val="tx1">
                    <a:lumMod val="85000"/>
                    <a:lumOff val="15000"/>
                  </a:schemeClr>
                </a:solidFill>
              </a:rPr>
              <a:t>Dr. </a:t>
            </a:r>
            <a:r>
              <a:rPr lang="en-US" sz="2400" dirty="0" err="1">
                <a:solidFill>
                  <a:schemeClr val="tx1">
                    <a:lumMod val="85000"/>
                    <a:lumOff val="15000"/>
                  </a:schemeClr>
                </a:solidFill>
              </a:rPr>
              <a:t>roshan</a:t>
            </a:r>
            <a:r>
              <a:rPr lang="en-US" sz="2400" dirty="0">
                <a:solidFill>
                  <a:schemeClr val="tx1">
                    <a:lumMod val="85000"/>
                    <a:lumOff val="15000"/>
                  </a:schemeClr>
                </a:solidFill>
              </a:rPr>
              <a:t> d </a:t>
            </a:r>
            <a:r>
              <a:rPr lang="en-US" sz="2400" dirty="0" err="1">
                <a:solidFill>
                  <a:schemeClr val="tx1">
                    <a:lumMod val="85000"/>
                    <a:lumOff val="15000"/>
                  </a:schemeClr>
                </a:solidFill>
              </a:rPr>
              <a:t>suvaris</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5AED5-5A3D-689B-A412-8F7DC992672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99A675F-AE38-463E-F0BD-4F21C712C42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React State</a:t>
            </a:r>
          </a:p>
          <a:p>
            <a:pPr lvl="1" algn="just">
              <a:buFont typeface="Arial" panose="020B0604020202020204" pitchFamily="34" charset="0"/>
              <a:buChar char="•"/>
            </a:pPr>
            <a:r>
              <a:rPr lang="en-IN" sz="2000" dirty="0"/>
              <a:t>we only saw static components, that is, components that did not change. To make components that respond to user input and other events, React uses a data structure called </a:t>
            </a:r>
            <a:r>
              <a:rPr lang="en-IN" sz="2000" i="1" dirty="0">
                <a:solidFill>
                  <a:srgbClr val="FF0000"/>
                </a:solidFill>
              </a:rPr>
              <a:t>state</a:t>
            </a:r>
            <a:r>
              <a:rPr lang="en-IN" sz="2000" dirty="0"/>
              <a:t> in the component. </a:t>
            </a:r>
          </a:p>
          <a:p>
            <a:pPr lvl="1" algn="just">
              <a:buFont typeface="Arial" panose="020B0604020202020204" pitchFamily="34" charset="0"/>
              <a:buChar char="•"/>
            </a:pPr>
            <a:r>
              <a:rPr lang="en-IN" sz="2000" dirty="0"/>
              <a:t>The state essentially holds the data, something that can change, as opposed to the immutable properties in the form of props that you saw earlier.</a:t>
            </a:r>
          </a:p>
          <a:p>
            <a:pPr lvl="1" algn="just">
              <a:buFont typeface="Arial" panose="020B0604020202020204" pitchFamily="34" charset="0"/>
              <a:buChar char="•"/>
            </a:pPr>
            <a:r>
              <a:rPr lang="en-IN" sz="2000" dirty="0"/>
              <a:t>This state needs to be used in the render() method to build the view. It is only the change of state that can change the view. When data or the state changes, React automatically </a:t>
            </a:r>
            <a:r>
              <a:rPr lang="en-IN" sz="2000" dirty="0" err="1"/>
              <a:t>rerenders</a:t>
            </a:r>
            <a:r>
              <a:rPr lang="en-IN" sz="2000" dirty="0"/>
              <a:t> the view to show the new changed data.</a:t>
            </a: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802009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FF149-F628-0171-E5D4-594527C9D3F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EFC5E61-C895-6975-4E4D-50DBB67AFBA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b="1" dirty="0"/>
              <a:t>Initial State </a:t>
            </a:r>
            <a:r>
              <a:rPr lang="en-IN" sz="2400" dirty="0"/>
              <a:t>(program9InitialState)</a:t>
            </a:r>
          </a:p>
          <a:p>
            <a:pPr lvl="1" algn="just">
              <a:buFont typeface="Arial" panose="020B0604020202020204" pitchFamily="34" charset="0"/>
              <a:buChar char="•"/>
            </a:pPr>
            <a:r>
              <a:rPr lang="en-IN" sz="1800" dirty="0"/>
              <a:t>The state of a component is captured in a variable called </a:t>
            </a:r>
            <a:r>
              <a:rPr lang="en-IN" sz="1800" dirty="0" err="1">
                <a:solidFill>
                  <a:srgbClr val="FF0000"/>
                </a:solidFill>
              </a:rPr>
              <a:t>this.state</a:t>
            </a:r>
            <a:r>
              <a:rPr lang="en-IN" sz="1800" dirty="0">
                <a:solidFill>
                  <a:srgbClr val="FF0000"/>
                </a:solidFill>
              </a:rPr>
              <a:t> </a:t>
            </a:r>
            <a:r>
              <a:rPr lang="en-IN" sz="1800" dirty="0"/>
              <a:t>in the component’s class, which should be an object consisting of one or more key-value pairs, where each key is a state variable name and the value is the current value of that variable. </a:t>
            </a:r>
          </a:p>
          <a:p>
            <a:pPr lvl="1" algn="just">
              <a:buFont typeface="Arial" panose="020B0604020202020204" pitchFamily="34" charset="0"/>
              <a:buChar char="•"/>
            </a:pPr>
            <a:r>
              <a:rPr lang="en-IN" sz="1800" dirty="0"/>
              <a:t>React does not specify what needs to go into the state, but it is useful to store in the state anything that affects the rendered view and can change due to any event. These are typically events generated due to user interaction.</a:t>
            </a:r>
          </a:p>
          <a:p>
            <a:pPr lvl="1" algn="just">
              <a:buFont typeface="Arial" panose="020B0604020202020204" pitchFamily="34" charset="0"/>
              <a:buChar char="•"/>
            </a:pPr>
            <a:r>
              <a:rPr lang="en-IN" sz="1800" dirty="0"/>
              <a:t>For the </a:t>
            </a:r>
            <a:r>
              <a:rPr lang="en-IN" sz="1800" dirty="0" err="1"/>
              <a:t>IssueTable</a:t>
            </a:r>
            <a:r>
              <a:rPr lang="en-IN" sz="1800" dirty="0"/>
              <a:t> component, </a:t>
            </a:r>
            <a:r>
              <a:rPr lang="en-IN" sz="1800" dirty="0">
                <a:solidFill>
                  <a:srgbClr val="00B050"/>
                </a:solidFill>
              </a:rPr>
              <a:t>the list of issues being displayed is definitely one such piece of data that both affects the rendered view and can also change when an issue is added, edited, or deleted</a:t>
            </a:r>
            <a:r>
              <a:rPr lang="en-IN" sz="1800" dirty="0"/>
              <a:t>. The array of issues is therefore an ideal state variable.</a:t>
            </a:r>
          </a:p>
          <a:p>
            <a:pPr lvl="1" algn="just">
              <a:buFont typeface="Arial" panose="020B0604020202020204" pitchFamily="34" charset="0"/>
              <a:buChar char="•"/>
            </a:pPr>
            <a:endParaRPr lang="en-IN" sz="1800" dirty="0"/>
          </a:p>
          <a:p>
            <a:pPr lvl="1" algn="just">
              <a:buFont typeface="Arial" panose="020B0604020202020204" pitchFamily="34" charset="0"/>
              <a:buChar char="•"/>
            </a:pPr>
            <a:r>
              <a:rPr lang="en-IN" sz="1800" dirty="0"/>
              <a:t>There may be cases where it does affect the DOM; for example, if the height of the window determines how many issues we display, we may store the </a:t>
            </a:r>
            <a:r>
              <a:rPr lang="en-IN" sz="1800" dirty="0">
                <a:solidFill>
                  <a:srgbClr val="FF0000"/>
                </a:solidFill>
              </a:rPr>
              <a:t>height of the window</a:t>
            </a:r>
            <a:r>
              <a:rPr lang="en-IN" sz="1800" dirty="0"/>
              <a:t> in a </a:t>
            </a:r>
            <a:r>
              <a:rPr lang="en-IN" sz="1800" dirty="0">
                <a:solidFill>
                  <a:srgbClr val="FF0000"/>
                </a:solidFill>
              </a:rPr>
              <a:t>state variable </a:t>
            </a:r>
            <a:r>
              <a:rPr lang="en-IN" sz="1800" dirty="0"/>
              <a:t>and restrict the number of </a:t>
            </a:r>
            <a:r>
              <a:rPr lang="en-IN" sz="1800" dirty="0" err="1"/>
              <a:t>IssueRow</a:t>
            </a:r>
            <a:r>
              <a:rPr lang="en-IN" sz="1800" dirty="0"/>
              <a:t> components being constructed. In those cases, the height of the window, or a derived value, for example, the number of issues being shown, could also be stored in the state.</a:t>
            </a:r>
          </a:p>
          <a:p>
            <a:pPr lvl="1" algn="just">
              <a:buFont typeface="Arial" panose="020B0604020202020204" pitchFamily="34" charset="0"/>
              <a:buChar char="•"/>
            </a:pPr>
            <a:r>
              <a:rPr lang="en-IN" sz="1800" dirty="0"/>
              <a:t>Things that don’t change, for example, the border style of the table, also don’t need to go into the state. That’s because user interaction or other events do not affect the style of borders.</a:t>
            </a: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18062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FC5E5-70C4-22F6-F0EA-9C29282BD52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B5B1D58-A235-4547-156B-FB7BA7B21FF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2" algn="just">
              <a:buFont typeface="Arial" panose="020B0604020202020204" pitchFamily="34" charset="0"/>
              <a:buChar char="•"/>
            </a:pPr>
            <a:r>
              <a:rPr lang="en-IN" sz="2000" dirty="0"/>
              <a:t>let’s just use an array of issues as the one and only state of the component and use that array to construct the table of issues. </a:t>
            </a:r>
          </a:p>
          <a:p>
            <a:pPr lvl="2" algn="just">
              <a:buFont typeface="Arial" panose="020B0604020202020204" pitchFamily="34" charset="0"/>
              <a:buChar char="•"/>
            </a:pPr>
            <a:r>
              <a:rPr lang="en-IN" sz="2000" dirty="0"/>
              <a:t>Thus, in the render() method of </a:t>
            </a:r>
            <a:r>
              <a:rPr lang="en-IN" sz="2000" dirty="0" err="1"/>
              <a:t>IssueTable</a:t>
            </a:r>
            <a:r>
              <a:rPr lang="en-IN" sz="2000" dirty="0"/>
              <a:t>, let’s change the loop that creates the set of </a:t>
            </a:r>
            <a:r>
              <a:rPr lang="en-IN" sz="2000" dirty="0" err="1"/>
              <a:t>IssueRows</a:t>
            </a:r>
            <a:r>
              <a:rPr lang="en-IN" sz="2000" dirty="0"/>
              <a:t> to use the state variable called issues rather than the global array like this:</a:t>
            </a:r>
          </a:p>
          <a:p>
            <a:pPr marL="1117120" lvl="6" indent="0" algn="just">
              <a:buNone/>
            </a:pPr>
            <a:r>
              <a:rPr lang="en-IN" sz="1800" b="1" dirty="0"/>
              <a:t>...</a:t>
            </a:r>
          </a:p>
          <a:p>
            <a:pPr marL="1117120" lvl="6" indent="0" algn="just">
              <a:buNone/>
            </a:pPr>
            <a:r>
              <a:rPr lang="en-IN" sz="1800" b="1" dirty="0" err="1"/>
              <a:t>const</a:t>
            </a:r>
            <a:r>
              <a:rPr lang="en-IN" sz="1800" b="1" dirty="0"/>
              <a:t> </a:t>
            </a:r>
            <a:r>
              <a:rPr lang="en-IN" sz="1800" b="1" dirty="0" err="1"/>
              <a:t>issueRows</a:t>
            </a:r>
            <a:r>
              <a:rPr lang="en-IN" sz="1800" b="1" dirty="0"/>
              <a:t> = </a:t>
            </a:r>
            <a:r>
              <a:rPr lang="en-IN" sz="1800" b="1" dirty="0" err="1"/>
              <a:t>this.state.issues.map</a:t>
            </a:r>
            <a:r>
              <a:rPr lang="en-IN" sz="1800" b="1" dirty="0"/>
              <a:t>(issue =&gt;</a:t>
            </a:r>
          </a:p>
          <a:p>
            <a:pPr marL="1117120" lvl="6" indent="0" algn="just">
              <a:buNone/>
            </a:pPr>
            <a:r>
              <a:rPr lang="en-IN" sz="1800" b="1" dirty="0"/>
              <a:t>&lt;</a:t>
            </a:r>
            <a:r>
              <a:rPr lang="en-IN" sz="1800" b="1" dirty="0" err="1"/>
              <a:t>IssueRow</a:t>
            </a:r>
            <a:r>
              <a:rPr lang="en-IN" sz="1800" b="1" dirty="0"/>
              <a:t> key={issue.id} issue={issue} /&gt;</a:t>
            </a:r>
          </a:p>
          <a:p>
            <a:pPr marL="1117120" lvl="6" indent="0" algn="just">
              <a:buNone/>
            </a:pPr>
            <a:r>
              <a:rPr lang="en-IN" sz="1800" b="1" dirty="0"/>
              <a:t>...</a:t>
            </a:r>
          </a:p>
          <a:p>
            <a:pPr lvl="2" algn="just">
              <a:buFont typeface="Arial" panose="020B0604020202020204" pitchFamily="34" charset="0"/>
              <a:buChar char="•"/>
            </a:pPr>
            <a:r>
              <a:rPr lang="en-IN" sz="2000" dirty="0"/>
              <a:t>As for the initial state, let’s use a hard-coded set of issues and set it to the initial state.</a:t>
            </a:r>
          </a:p>
          <a:p>
            <a:pPr marL="1117120" lvl="6" indent="0" algn="just">
              <a:buNone/>
            </a:pPr>
            <a:r>
              <a:rPr lang="en-IN" sz="1600" b="1" dirty="0"/>
              <a:t>...</a:t>
            </a:r>
          </a:p>
          <a:p>
            <a:pPr marL="1117120" lvl="6" indent="0" algn="just">
              <a:buNone/>
            </a:pPr>
            <a:r>
              <a:rPr lang="en-IN" sz="1600" b="1" dirty="0" err="1"/>
              <a:t>const</a:t>
            </a:r>
            <a:r>
              <a:rPr lang="en-IN" sz="1600" b="1" dirty="0"/>
              <a:t> </a:t>
            </a:r>
            <a:r>
              <a:rPr lang="en-IN" sz="1600" b="1" dirty="0" err="1"/>
              <a:t>initialIssues</a:t>
            </a:r>
            <a:r>
              <a:rPr lang="en-IN" sz="1600" b="1" dirty="0"/>
              <a:t> = [</a:t>
            </a:r>
          </a:p>
          <a:p>
            <a:pPr marL="1117120" lvl="6" indent="0" algn="just">
              <a:buNone/>
            </a:pPr>
            <a:r>
              <a:rPr lang="en-IN" sz="1600" b="1" dirty="0"/>
              <a:t>...</a:t>
            </a:r>
          </a:p>
          <a:p>
            <a:pPr marL="1117120" lvl="6" indent="0" algn="just">
              <a:buNone/>
            </a:pPr>
            <a:r>
              <a:rPr lang="en-IN" sz="1600" b="1" dirty="0"/>
              <a:t>];</a:t>
            </a:r>
          </a:p>
          <a:p>
            <a:pPr lvl="2" algn="just">
              <a:buFont typeface="Arial" panose="020B0604020202020204" pitchFamily="34" charset="0"/>
              <a:buChar char="•"/>
            </a:pPr>
            <a:r>
              <a:rPr lang="en-IN" sz="2000" dirty="0"/>
              <a:t>Setting the initial state needs to be done in the constructor of the component. This can be done by simply assigning the variable </a:t>
            </a:r>
            <a:r>
              <a:rPr lang="en-IN" sz="2000" dirty="0" err="1"/>
              <a:t>this.state</a:t>
            </a:r>
            <a:r>
              <a:rPr lang="en-IN" sz="2000" dirty="0"/>
              <a:t> to the set of state variables and their values.</a:t>
            </a:r>
          </a:p>
          <a:p>
            <a:pPr lvl="3" algn="just">
              <a:buFont typeface="Arial" panose="020B0604020202020204" pitchFamily="34" charset="0"/>
              <a:buChar char="•"/>
            </a:pPr>
            <a:r>
              <a:rPr lang="en-IN" sz="2000" dirty="0"/>
              <a:t>...</a:t>
            </a:r>
          </a:p>
          <a:p>
            <a:pPr lvl="3" algn="just">
              <a:buFont typeface="Arial" panose="020B0604020202020204" pitchFamily="34" charset="0"/>
              <a:buChar char="•"/>
            </a:pPr>
            <a:r>
              <a:rPr lang="en-IN" sz="2000" dirty="0" err="1"/>
              <a:t>this.state</a:t>
            </a:r>
            <a:r>
              <a:rPr lang="en-IN" sz="2000" dirty="0"/>
              <a:t> = { issues: </a:t>
            </a:r>
            <a:r>
              <a:rPr lang="en-IN" sz="2000" dirty="0" err="1"/>
              <a:t>initialIssues</a:t>
            </a:r>
            <a:r>
              <a:rPr lang="en-IN" sz="2000" dirty="0"/>
              <a:t> };</a:t>
            </a:r>
          </a:p>
          <a:p>
            <a:pPr lvl="3" algn="just">
              <a:buFont typeface="Arial" panose="020B0604020202020204" pitchFamily="34" charset="0"/>
              <a:buChar char="•"/>
            </a:pPr>
            <a:r>
              <a:rPr lang="en-IN" sz="2000" dirty="0"/>
              <a:t>...</a:t>
            </a:r>
          </a:p>
          <a:p>
            <a:pPr marL="566928" lvl="3" indent="0" algn="just">
              <a:buNone/>
            </a:pPr>
            <a:endParaRPr lang="en-IN" sz="2000" b="1" dirty="0"/>
          </a:p>
          <a:p>
            <a:pPr lvl="2" algn="just">
              <a:buFont typeface="Arial" panose="020B0604020202020204" pitchFamily="34" charset="0"/>
              <a:buChar char="•"/>
            </a:pPr>
            <a:endParaRPr lang="en-IN" sz="1800" b="1" dirty="0"/>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780384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E83FC-AFB5-F735-8F57-9FABB2504BA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074E-72B5-8A36-D383-D2E0626C5F6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2">
              <a:buFont typeface="Arial" panose="020B0604020202020204" pitchFamily="34" charset="0"/>
              <a:buChar char="•"/>
            </a:pPr>
            <a:r>
              <a:rPr lang="en-IN" sz="1800" dirty="0"/>
              <a:t>Note that we used only one state variable called issues. We can have other state variables, for instance if we were showing the issue list in multiple pages, and we wanted to also keep the page number currently being shown as another state variable, we could have done that by adding another key to the object like page: 0.</a:t>
            </a:r>
          </a:p>
          <a:p>
            <a:pPr lvl="2">
              <a:buFont typeface="Arial" panose="020B0604020202020204" pitchFamily="34" charset="0"/>
              <a:buChar char="•"/>
            </a:pPr>
            <a:endParaRPr lang="en-IN" sz="1800" b="1" dirty="0"/>
          </a:p>
          <a:p>
            <a:pPr lvl="2">
              <a:buFont typeface="Arial" panose="020B0604020202020204" pitchFamily="34" charset="0"/>
              <a:buChar char="•"/>
            </a:pPr>
            <a:r>
              <a:rPr lang="en-IN" sz="1800" dirty="0"/>
              <a:t>The set of all changes to use the state to render the view of </a:t>
            </a:r>
            <a:r>
              <a:rPr lang="en-IN" sz="1800" dirty="0" err="1"/>
              <a:t>IssueTable</a:t>
            </a:r>
            <a:r>
              <a:rPr lang="en-IN" sz="1800" dirty="0"/>
              <a:t> is shown in Listing</a:t>
            </a:r>
          </a:p>
          <a:p>
            <a:pPr lvl="2">
              <a:buFont typeface="Arial" panose="020B0604020202020204" pitchFamily="34" charset="0"/>
              <a:buChar char="•"/>
            </a:pPr>
            <a:r>
              <a:rPr lang="en-IN" sz="1800" b="1" dirty="0"/>
              <a:t>Listing 4-1. </a:t>
            </a:r>
            <a:r>
              <a:rPr lang="en-IN" sz="1800" b="1" dirty="0" err="1"/>
              <a:t>App.jsx</a:t>
            </a:r>
            <a:r>
              <a:rPr lang="en-IN" sz="1800" b="1" dirty="0"/>
              <a:t>: Initializing and Using State</a:t>
            </a:r>
          </a:p>
          <a:p>
            <a:pPr marL="749808" lvl="4" indent="0">
              <a:spcBef>
                <a:spcPts val="0"/>
              </a:spcBef>
              <a:spcAft>
                <a:spcPts val="0"/>
              </a:spcAft>
              <a:buNone/>
            </a:pPr>
            <a:r>
              <a:rPr lang="en-IN" sz="1400" b="1" dirty="0"/>
              <a:t>...</a:t>
            </a:r>
          </a:p>
          <a:p>
            <a:pPr marL="749808" lvl="4" indent="0">
              <a:spcBef>
                <a:spcPts val="0"/>
              </a:spcBef>
              <a:spcAft>
                <a:spcPts val="0"/>
              </a:spcAft>
              <a:buNone/>
            </a:pPr>
            <a:r>
              <a:rPr lang="en-IN" sz="1400" b="1" strike="sngStrike" dirty="0" err="1"/>
              <a:t>const</a:t>
            </a:r>
            <a:r>
              <a:rPr lang="en-IN" sz="1400" b="1" strike="sngStrike" dirty="0"/>
              <a:t> issues = [</a:t>
            </a:r>
          </a:p>
          <a:p>
            <a:pPr marL="749808" lvl="4" indent="0">
              <a:spcBef>
                <a:spcPts val="0"/>
              </a:spcBef>
              <a:spcAft>
                <a:spcPts val="0"/>
              </a:spcAft>
              <a:buNone/>
            </a:pPr>
            <a:r>
              <a:rPr lang="en-IN" sz="1400" b="1" dirty="0" err="1"/>
              <a:t>const</a:t>
            </a:r>
            <a:r>
              <a:rPr lang="en-IN" sz="1400" b="1" dirty="0"/>
              <a:t> </a:t>
            </a:r>
            <a:r>
              <a:rPr lang="en-IN" sz="1400" b="1" dirty="0" err="1"/>
              <a:t>initialIssues</a:t>
            </a:r>
            <a:r>
              <a:rPr lang="en-IN" sz="1400" b="1" dirty="0"/>
              <a:t> = [</a:t>
            </a:r>
          </a:p>
          <a:p>
            <a:pPr marL="749808" lvl="4" indent="0">
              <a:spcBef>
                <a:spcPts val="0"/>
              </a:spcBef>
              <a:spcAft>
                <a:spcPts val="0"/>
              </a:spcAft>
              <a:buNone/>
            </a:pPr>
            <a:r>
              <a:rPr lang="en-IN" sz="1400" b="1" dirty="0"/>
              <a:t>{</a:t>
            </a:r>
          </a:p>
          <a:p>
            <a:pPr marL="749808" lvl="4" indent="0">
              <a:spcBef>
                <a:spcPts val="0"/>
              </a:spcBef>
              <a:spcAft>
                <a:spcPts val="0"/>
              </a:spcAft>
              <a:buNone/>
            </a:pPr>
            <a:r>
              <a:rPr lang="en-IN" sz="1400" b="1" dirty="0"/>
              <a:t>id: 1, status: 'New', owner: 'Ravan', effort: 5,</a:t>
            </a:r>
          </a:p>
          <a:p>
            <a:pPr marL="749808" lvl="4" indent="0">
              <a:spcBef>
                <a:spcPts val="0"/>
              </a:spcBef>
              <a:spcAft>
                <a:spcPts val="0"/>
              </a:spcAft>
              <a:buNone/>
            </a:pPr>
            <a:r>
              <a:rPr lang="en-IN" sz="1400" b="1" dirty="0"/>
              <a:t>created: new Date('2018-08-15'), due: undefined,</a:t>
            </a:r>
          </a:p>
          <a:p>
            <a:pPr marL="749808" lvl="4" indent="0">
              <a:spcBef>
                <a:spcPts val="0"/>
              </a:spcBef>
              <a:spcAft>
                <a:spcPts val="0"/>
              </a:spcAft>
              <a:buNone/>
            </a:pPr>
            <a:r>
              <a:rPr lang="en-IN" sz="1400" b="1" dirty="0"/>
              <a:t>},</a:t>
            </a:r>
          </a:p>
          <a:p>
            <a:pPr marL="749808" lvl="4" indent="0">
              <a:spcBef>
                <a:spcPts val="0"/>
              </a:spcBef>
              <a:spcAft>
                <a:spcPts val="0"/>
              </a:spcAft>
              <a:buNone/>
            </a:pPr>
            <a:r>
              <a:rPr lang="en-IN" sz="1400" b="1" dirty="0"/>
              <a:t>...</a:t>
            </a:r>
          </a:p>
          <a:p>
            <a:pPr marL="749808" lvl="4" indent="0">
              <a:spcBef>
                <a:spcPts val="0"/>
              </a:spcBef>
              <a:spcAft>
                <a:spcPts val="0"/>
              </a:spcAft>
              <a:buNone/>
            </a:pPr>
            <a:r>
              <a:rPr lang="en-IN" sz="1400" b="1" dirty="0"/>
              <a:t>class </a:t>
            </a:r>
            <a:r>
              <a:rPr lang="en-IN" sz="1400" b="1" dirty="0" err="1"/>
              <a:t>IssueTable</a:t>
            </a:r>
            <a:r>
              <a:rPr lang="en-IN" sz="1400" b="1" dirty="0"/>
              <a:t> extends </a:t>
            </a:r>
            <a:r>
              <a:rPr lang="en-IN" sz="1400" b="1" dirty="0" err="1"/>
              <a:t>React.Component</a:t>
            </a:r>
            <a:r>
              <a:rPr lang="en-IN" sz="1400" b="1" dirty="0"/>
              <a:t> {</a:t>
            </a:r>
          </a:p>
          <a:p>
            <a:pPr marL="749808" lvl="4" indent="0">
              <a:spcBef>
                <a:spcPts val="0"/>
              </a:spcBef>
              <a:spcAft>
                <a:spcPts val="0"/>
              </a:spcAft>
              <a:buNone/>
            </a:pPr>
            <a:r>
              <a:rPr lang="en-IN" sz="1400" b="1" dirty="0">
                <a:solidFill>
                  <a:srgbClr val="FF0000"/>
                </a:solidFill>
              </a:rPr>
              <a:t>constructor() {</a:t>
            </a:r>
          </a:p>
          <a:p>
            <a:pPr marL="749808" lvl="4" indent="0">
              <a:spcBef>
                <a:spcPts val="0"/>
              </a:spcBef>
              <a:spcAft>
                <a:spcPts val="0"/>
              </a:spcAft>
              <a:buNone/>
            </a:pPr>
            <a:r>
              <a:rPr lang="en-IN" sz="1400" b="1" dirty="0">
                <a:solidFill>
                  <a:srgbClr val="FF0000"/>
                </a:solidFill>
              </a:rPr>
              <a:t>super();</a:t>
            </a:r>
          </a:p>
          <a:p>
            <a:pPr marL="749808" lvl="4" indent="0">
              <a:spcBef>
                <a:spcPts val="0"/>
              </a:spcBef>
              <a:spcAft>
                <a:spcPts val="0"/>
              </a:spcAft>
              <a:buNone/>
            </a:pPr>
            <a:r>
              <a:rPr lang="en-IN" sz="1400" b="1" dirty="0" err="1">
                <a:solidFill>
                  <a:srgbClr val="FF0000"/>
                </a:solidFill>
              </a:rPr>
              <a:t>this.state</a:t>
            </a:r>
            <a:r>
              <a:rPr lang="en-IN" sz="1400" b="1" dirty="0">
                <a:solidFill>
                  <a:srgbClr val="FF0000"/>
                </a:solidFill>
              </a:rPr>
              <a:t> = { issues: </a:t>
            </a:r>
            <a:r>
              <a:rPr lang="en-IN" sz="1400" b="1" dirty="0" err="1">
                <a:solidFill>
                  <a:srgbClr val="FF0000"/>
                </a:solidFill>
              </a:rPr>
              <a:t>initialIssues</a:t>
            </a:r>
            <a:r>
              <a:rPr lang="en-IN" sz="1400" b="1" dirty="0">
                <a:solidFill>
                  <a:srgbClr val="FF0000"/>
                </a:solidFill>
              </a:rPr>
              <a:t> };</a:t>
            </a:r>
          </a:p>
          <a:p>
            <a:pPr marL="749808" lvl="4" indent="0">
              <a:spcBef>
                <a:spcPts val="0"/>
              </a:spcBef>
              <a:spcAft>
                <a:spcPts val="0"/>
              </a:spcAft>
              <a:buNone/>
            </a:pPr>
            <a:r>
              <a:rPr lang="en-IN" sz="1400" b="1" dirty="0">
                <a:solidFill>
                  <a:srgbClr val="FF0000"/>
                </a:solidFill>
              </a:rPr>
              <a:t>}</a:t>
            </a:r>
          </a:p>
          <a:p>
            <a:pPr marL="749808" lvl="4" indent="0">
              <a:spcBef>
                <a:spcPts val="0"/>
              </a:spcBef>
              <a:spcAft>
                <a:spcPts val="0"/>
              </a:spcAft>
              <a:buNone/>
            </a:pPr>
            <a:r>
              <a:rPr lang="en-IN" sz="1400" b="1" dirty="0"/>
              <a:t>render() {</a:t>
            </a:r>
          </a:p>
          <a:p>
            <a:pPr marL="749808" lvl="4" indent="0">
              <a:spcBef>
                <a:spcPts val="0"/>
              </a:spcBef>
              <a:spcAft>
                <a:spcPts val="0"/>
              </a:spcAft>
              <a:buNone/>
            </a:pPr>
            <a:r>
              <a:rPr lang="en-IN" sz="1400" b="1" strike="sngStrike" dirty="0" err="1"/>
              <a:t>const</a:t>
            </a:r>
            <a:r>
              <a:rPr lang="en-IN" sz="1400" b="1" strike="sngStrike" dirty="0"/>
              <a:t> </a:t>
            </a:r>
            <a:r>
              <a:rPr lang="en-IN" sz="1400" b="1" strike="sngStrike" dirty="0" err="1"/>
              <a:t>issueRows</a:t>
            </a:r>
            <a:r>
              <a:rPr lang="en-IN" sz="1400" b="1" strike="sngStrike" dirty="0"/>
              <a:t> = </a:t>
            </a:r>
            <a:r>
              <a:rPr lang="en-IN" sz="1400" b="1" strike="sngStrike" dirty="0" err="1"/>
              <a:t>issues.map</a:t>
            </a:r>
            <a:r>
              <a:rPr lang="en-IN" sz="1400" b="1" strike="sngStrike" dirty="0"/>
              <a:t>(issue =&gt;</a:t>
            </a:r>
          </a:p>
          <a:p>
            <a:pPr marL="749808" lvl="4" indent="0">
              <a:spcBef>
                <a:spcPts val="0"/>
              </a:spcBef>
              <a:spcAft>
                <a:spcPts val="0"/>
              </a:spcAft>
              <a:buNone/>
            </a:pPr>
            <a:r>
              <a:rPr lang="en-IN" sz="1400" b="1" dirty="0" err="1"/>
              <a:t>const</a:t>
            </a:r>
            <a:r>
              <a:rPr lang="en-IN" sz="1400" b="1" dirty="0"/>
              <a:t> </a:t>
            </a:r>
            <a:r>
              <a:rPr lang="en-IN" sz="1400" b="1" dirty="0" err="1"/>
              <a:t>issueRows</a:t>
            </a:r>
            <a:r>
              <a:rPr lang="en-IN" sz="1400" b="1" dirty="0"/>
              <a:t> = </a:t>
            </a:r>
            <a:r>
              <a:rPr lang="en-IN" sz="1400" b="1" dirty="0" err="1"/>
              <a:t>this.state.issues.map</a:t>
            </a:r>
            <a:r>
              <a:rPr lang="en-IN" sz="1400" b="1" dirty="0"/>
              <a:t>(issue =&gt;</a:t>
            </a:r>
          </a:p>
          <a:p>
            <a:pPr marL="749808" lvl="4" indent="0">
              <a:spcBef>
                <a:spcPts val="0"/>
              </a:spcBef>
              <a:spcAft>
                <a:spcPts val="0"/>
              </a:spcAft>
              <a:buNone/>
            </a:pPr>
            <a:r>
              <a:rPr lang="en-IN" sz="1400" b="1" dirty="0"/>
              <a:t>&lt;</a:t>
            </a:r>
            <a:r>
              <a:rPr lang="en-IN" sz="1400" b="1" dirty="0" err="1"/>
              <a:t>IssueRow</a:t>
            </a:r>
            <a:r>
              <a:rPr lang="en-IN" sz="1400" b="1" dirty="0"/>
              <a:t> key={issue.id} issue={issue} /&gt;</a:t>
            </a:r>
          </a:p>
          <a:p>
            <a:pPr marL="749808" lvl="4" indent="0">
              <a:spcBef>
                <a:spcPts val="0"/>
              </a:spcBef>
              <a:spcAft>
                <a:spcPts val="0"/>
              </a:spcAft>
              <a:buNone/>
            </a:pPr>
            <a:r>
              <a:rPr lang="en-IN" sz="1400" b="1" dirty="0"/>
              <a:t>);</a:t>
            </a:r>
          </a:p>
          <a:p>
            <a:pPr marL="749808" lvl="4" indent="0">
              <a:spcBef>
                <a:spcPts val="0"/>
              </a:spcBef>
              <a:spcAft>
                <a:spcPts val="0"/>
              </a:spcAft>
              <a:buNone/>
            </a:pPr>
            <a:r>
              <a:rPr lang="en-IN" sz="1400" b="1" dirty="0"/>
              <a:t>...</a:t>
            </a:r>
          </a:p>
          <a:p>
            <a:pPr lvl="1">
              <a:buFont typeface="Arial" panose="020B0604020202020204" pitchFamily="34" charset="0"/>
              <a:buChar char="•"/>
            </a:pP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428026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301CC-5298-D179-866D-0EB2150DB8B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C4560DA-7AB9-FF84-4F1E-DBA65ED0349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400" dirty="0"/>
              <a:t>Async State Initialization</a:t>
            </a:r>
          </a:p>
          <a:p>
            <a:pPr>
              <a:buNone/>
            </a:pPr>
            <a:r>
              <a:rPr lang="en-IN" dirty="0"/>
              <a:t>This section explains </a:t>
            </a:r>
            <a:r>
              <a:rPr lang="en-IN" b="1" dirty="0"/>
              <a:t>Async State Initialization</a:t>
            </a:r>
            <a:r>
              <a:rPr lang="en-IN" dirty="0"/>
              <a:t> in React. The key idea is that the initial state is usually </a:t>
            </a:r>
            <a:r>
              <a:rPr lang="en-IN" b="1" dirty="0"/>
              <a:t>not hard-coded</a:t>
            </a:r>
            <a:r>
              <a:rPr lang="en-IN" dirty="0"/>
              <a:t>; instead, it is obtained asynchronously from a server through an API call.</a:t>
            </a:r>
          </a:p>
          <a:p>
            <a:pPr marL="342900" lvl="0" indent="-342900">
              <a:buFont typeface="+mj-lt"/>
              <a:buAutoNum type="arabicPeriod"/>
            </a:pPr>
            <a:r>
              <a:rPr lang="en-IN" b="1" dirty="0"/>
              <a:t>Initial State</a:t>
            </a:r>
            <a:r>
              <a:rPr lang="en-IN" dirty="0"/>
              <a:t> </a:t>
            </a:r>
          </a:p>
          <a:p>
            <a:pPr marL="742950" lvl="1" indent="-285750">
              <a:buFont typeface="+mj-lt"/>
              <a:buAutoNum type="arabicPeriod"/>
            </a:pPr>
            <a:r>
              <a:rPr lang="en-IN" dirty="0"/>
              <a:t>Previously, the </a:t>
            </a:r>
            <a:r>
              <a:rPr lang="en-IN" dirty="0" err="1">
                <a:latin typeface="Courier New" panose="02070309020205020404" pitchFamily="49" charset="0"/>
              </a:rPr>
              <a:t>IssueTable</a:t>
            </a:r>
            <a:r>
              <a:rPr lang="en-IN" dirty="0"/>
              <a:t> initialized its state using a hard-coded </a:t>
            </a:r>
            <a:r>
              <a:rPr lang="en-IN" dirty="0" err="1">
                <a:latin typeface="Courier New" panose="02070309020205020404" pitchFamily="49" charset="0"/>
              </a:rPr>
              <a:t>initialIssues</a:t>
            </a:r>
            <a:r>
              <a:rPr lang="en-IN" dirty="0"/>
              <a:t> array. </a:t>
            </a:r>
          </a:p>
          <a:p>
            <a:pPr marL="742950" lvl="1" indent="-285750">
              <a:buFont typeface="+mj-lt"/>
              <a:buAutoNum type="arabicPeriod"/>
            </a:pPr>
            <a:r>
              <a:rPr lang="en-IN" dirty="0"/>
              <a:t>In a real Single Page Application (SPA), data is normally obtained from a server. </a:t>
            </a:r>
          </a:p>
          <a:p>
            <a:pPr marL="342900" lvl="0" indent="-342900">
              <a:buFont typeface="+mj-lt"/>
              <a:buAutoNum type="arabicPeriod"/>
            </a:pPr>
            <a:r>
              <a:rPr lang="en-IN" b="1" dirty="0"/>
              <a:t>Fetching Data from Server</a:t>
            </a:r>
            <a:r>
              <a:rPr lang="en-IN" dirty="0"/>
              <a:t> </a:t>
            </a:r>
          </a:p>
          <a:p>
            <a:pPr marL="742950" lvl="1" indent="-285750">
              <a:buFont typeface="+mj-lt"/>
              <a:buAutoNum type="arabicPeriod"/>
            </a:pPr>
            <a:r>
              <a:rPr lang="en-IN" dirty="0"/>
              <a:t>The initial list of issues should be retrieved through an </a:t>
            </a:r>
            <a:r>
              <a:rPr lang="en-IN" b="1" dirty="0"/>
              <a:t>API call</a:t>
            </a:r>
            <a:r>
              <a:rPr lang="en-IN" dirty="0"/>
              <a:t>. </a:t>
            </a:r>
          </a:p>
          <a:p>
            <a:pPr marL="742950" lvl="1" indent="-285750">
              <a:buFont typeface="+mj-lt"/>
              <a:buAutoNum type="arabicPeriod"/>
            </a:pPr>
            <a:r>
              <a:rPr lang="en-IN" dirty="0"/>
              <a:t>Since API communication takes time, the data is obtained </a:t>
            </a:r>
            <a:r>
              <a:rPr lang="en-IN" b="1" dirty="0"/>
              <a:t>asynchronously</a:t>
            </a:r>
            <a:r>
              <a:rPr lang="en-IN" dirty="0"/>
              <a:t>. </a:t>
            </a:r>
          </a:p>
          <a:p>
            <a:pPr marL="342900" lvl="0" indent="-342900">
              <a:buFont typeface="+mj-lt"/>
              <a:buAutoNum type="arabicPeriod"/>
            </a:pPr>
            <a:r>
              <a:rPr lang="en-IN" b="1" dirty="0"/>
              <a:t>State During API Call</a:t>
            </a:r>
            <a:r>
              <a:rPr lang="en-IN" dirty="0"/>
              <a:t> </a:t>
            </a:r>
          </a:p>
          <a:p>
            <a:pPr marL="742950" lvl="1" indent="-285750">
              <a:buFont typeface="+mj-lt"/>
              <a:buAutoNum type="arabicPeriod"/>
            </a:pPr>
            <a:r>
              <a:rPr lang="en-IN" dirty="0"/>
              <a:t>When the component is first created, the issue data may not yet be available. </a:t>
            </a:r>
          </a:p>
          <a:p>
            <a:pPr marL="742950" lvl="1" indent="-285750">
              <a:buFont typeface="+mj-lt"/>
              <a:buAutoNum type="arabicPeriod"/>
            </a:pPr>
            <a:r>
              <a:rPr lang="en-IN" dirty="0"/>
              <a:t>The component can initially have an empty </a:t>
            </a:r>
            <a:r>
              <a:rPr lang="en-IN" dirty="0">
                <a:latin typeface="Courier New" panose="02070309020205020404" pitchFamily="49" charset="0"/>
              </a:rPr>
              <a:t>issues</a:t>
            </a:r>
            <a:r>
              <a:rPr lang="en-IN" dirty="0"/>
              <a:t> array. </a:t>
            </a:r>
          </a:p>
          <a:p>
            <a:pPr marL="342900" lvl="0" indent="-342900">
              <a:buFont typeface="+mj-lt"/>
              <a:buAutoNum type="arabicPeriod"/>
            </a:pPr>
            <a:r>
              <a:rPr lang="en-IN" b="1" dirty="0"/>
              <a:t>Updating State</a:t>
            </a:r>
            <a:r>
              <a:rPr lang="en-IN" dirty="0"/>
              <a:t> </a:t>
            </a:r>
          </a:p>
          <a:p>
            <a:pPr marL="742950" lvl="1" indent="-285750">
              <a:buFont typeface="+mj-lt"/>
              <a:buAutoNum type="arabicPeriod"/>
            </a:pPr>
            <a:r>
              <a:rPr lang="en-IN" dirty="0"/>
              <a:t>After the server responds with the issue data, the component's state is updated. </a:t>
            </a:r>
          </a:p>
          <a:p>
            <a:pPr marL="742950" lvl="1" indent="-285750">
              <a:buFont typeface="+mj-lt"/>
              <a:buAutoNum type="arabicPeriod"/>
            </a:pPr>
            <a:r>
              <a:rPr lang="en-IN" dirty="0"/>
              <a:t>React then automatically re-renders the </a:t>
            </a:r>
            <a:r>
              <a:rPr lang="en-IN" dirty="0" err="1">
                <a:latin typeface="Courier New" panose="02070309020205020404" pitchFamily="49" charset="0"/>
              </a:rPr>
              <a:t>IssueTable</a:t>
            </a:r>
            <a:r>
              <a:rPr lang="en-IN" dirty="0"/>
              <a:t> with the fetched issues.</a:t>
            </a:r>
          </a:p>
          <a:p>
            <a:pPr lvl="1">
              <a:buFont typeface="Arial" panose="020B0604020202020204" pitchFamily="34" charset="0"/>
              <a:buChar char="•"/>
            </a:pP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139282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48F26-4D43-5109-F74F-F8065C2908D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90836F8-5C25-7DAC-522F-F32678DE7BA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The state can only be assigned a value in the constructor. After that, the state can be modified, but only via a call to </a:t>
            </a:r>
            <a:r>
              <a:rPr lang="en-IN" sz="1800" dirty="0" err="1"/>
              <a:t>React.Component’s</a:t>
            </a:r>
            <a:r>
              <a:rPr lang="en-IN" sz="1800" dirty="0"/>
              <a:t> </a:t>
            </a:r>
            <a:r>
              <a:rPr lang="en-IN" sz="1800" dirty="0" err="1">
                <a:solidFill>
                  <a:srgbClr val="FF0000"/>
                </a:solidFill>
              </a:rPr>
              <a:t>this.setState</a:t>
            </a:r>
            <a:r>
              <a:rPr lang="en-IN" sz="1800" dirty="0">
                <a:solidFill>
                  <a:srgbClr val="FF0000"/>
                </a:solidFill>
              </a:rPr>
              <a:t>() </a:t>
            </a:r>
            <a:r>
              <a:rPr lang="en-IN" sz="1800" dirty="0"/>
              <a:t>method. </a:t>
            </a:r>
          </a:p>
          <a:p>
            <a:pPr lvl="1">
              <a:buFont typeface="Arial" panose="020B0604020202020204" pitchFamily="34" charset="0"/>
              <a:buChar char="•"/>
            </a:pPr>
            <a:r>
              <a:rPr lang="en-IN" sz="1800" dirty="0"/>
              <a:t>This method takes in one argument, which is an object containing all the changed state variables and their values. </a:t>
            </a:r>
          </a:p>
          <a:p>
            <a:pPr lvl="1">
              <a:buFont typeface="Arial" panose="020B0604020202020204" pitchFamily="34" charset="0"/>
              <a:buChar char="•"/>
            </a:pPr>
            <a:r>
              <a:rPr lang="en-IN" sz="1800" dirty="0"/>
              <a:t>The only state variable that we have is the one called issues, which can be set to any list of issues in a call to </a:t>
            </a:r>
            <a:r>
              <a:rPr lang="en-IN" sz="1800" dirty="0" err="1"/>
              <a:t>this.setState</a:t>
            </a:r>
            <a:r>
              <a:rPr lang="en-IN" sz="1800" dirty="0"/>
              <a:t>() like this:</a:t>
            </a:r>
          </a:p>
          <a:p>
            <a:pPr marL="566928" lvl="3" indent="0">
              <a:buNone/>
            </a:pPr>
            <a:r>
              <a:rPr lang="en-IN" sz="1800" b="1" dirty="0"/>
              <a:t>...</a:t>
            </a:r>
          </a:p>
          <a:p>
            <a:pPr marL="566928" lvl="3" indent="0">
              <a:buNone/>
            </a:pPr>
            <a:r>
              <a:rPr lang="en-IN" sz="1800" b="1" dirty="0" err="1"/>
              <a:t>this.setState</a:t>
            </a:r>
            <a:r>
              <a:rPr lang="en-IN" sz="1800" b="1" dirty="0"/>
              <a:t>({ issues: </a:t>
            </a:r>
            <a:r>
              <a:rPr lang="en-IN" sz="1800" b="1" dirty="0" err="1"/>
              <a:t>newIssues</a:t>
            </a:r>
            <a:r>
              <a:rPr lang="en-IN" sz="1800" b="1" dirty="0"/>
              <a:t> });</a:t>
            </a:r>
          </a:p>
          <a:p>
            <a:pPr marL="566928" lvl="3" indent="0">
              <a:buNone/>
            </a:pPr>
            <a:r>
              <a:rPr lang="en-IN" sz="1800" b="1" dirty="0"/>
              <a:t>...</a:t>
            </a:r>
          </a:p>
          <a:p>
            <a:pPr lvl="1">
              <a:buFont typeface="Arial" panose="020B0604020202020204" pitchFamily="34" charset="0"/>
              <a:buChar char="•"/>
            </a:pPr>
            <a:r>
              <a:rPr lang="en-IN" sz="1800" dirty="0"/>
              <a:t>If there were additional state variables, setting only one variable (issues) will cause it to get merged with the existing state. </a:t>
            </a:r>
          </a:p>
          <a:p>
            <a:pPr lvl="1">
              <a:buFont typeface="Arial" panose="020B0604020202020204" pitchFamily="34" charset="0"/>
              <a:buChar char="•"/>
            </a:pPr>
            <a:r>
              <a:rPr lang="en-IN" sz="1800" dirty="0"/>
              <a:t>For example, if we had stored the current page as another state variable, the new value of the state variable issues will be merged into the state, keeping the value of the current page unchanged.</a:t>
            </a:r>
          </a:p>
          <a:p>
            <a:pPr lvl="1">
              <a:buFont typeface="Arial" panose="020B0604020202020204" pitchFamily="34" charset="0"/>
              <a:buChar char="•"/>
            </a:pPr>
            <a:r>
              <a:rPr lang="en-IN" sz="1800" dirty="0"/>
              <a:t>Since at the time of constructing the component, we don’t have the initial data, we will have to assign an empty array to the issues state variable in the constructor.</a:t>
            </a:r>
          </a:p>
          <a:p>
            <a:pPr marL="566928" lvl="3" indent="0">
              <a:buNone/>
            </a:pPr>
            <a:r>
              <a:rPr lang="en-IN" sz="1800" b="1" dirty="0"/>
              <a:t>...</a:t>
            </a:r>
          </a:p>
          <a:p>
            <a:pPr marL="566928" lvl="3" indent="0">
              <a:buNone/>
            </a:pPr>
            <a:r>
              <a:rPr lang="en-IN" sz="1800" b="1" dirty="0"/>
              <a:t>constructor() {</a:t>
            </a:r>
          </a:p>
          <a:p>
            <a:pPr marL="566928" lvl="3" indent="0">
              <a:buNone/>
            </a:pPr>
            <a:r>
              <a:rPr lang="en-IN" sz="1800" b="1" dirty="0" err="1"/>
              <a:t>this.state</a:t>
            </a:r>
            <a:r>
              <a:rPr lang="en-IN" sz="1800" b="1" dirty="0"/>
              <a:t> = { issues: [] };</a:t>
            </a:r>
          </a:p>
          <a:p>
            <a:pPr marL="566928" lvl="3" indent="0">
              <a:buNone/>
            </a:pPr>
            <a:r>
              <a:rPr lang="en-IN" sz="1800" b="1" dirty="0"/>
              <a:t>...</a:t>
            </a:r>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IN" sz="1800" dirty="0"/>
          </a:p>
          <a:p>
            <a:pPr lvl="1">
              <a:buFont typeface="Arial" panose="020B0604020202020204" pitchFamily="34" charset="0"/>
              <a:buChar char="•"/>
            </a:pP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4292601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B99FD-5EB1-18B8-8518-A68B24F3498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2AFCD58-D793-0297-967E-EA0BF2E5D5E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800" dirty="0"/>
              <a:t>The key difference between a global array of issues and a call to the server is that the latter needs an asynchronous call.</a:t>
            </a:r>
          </a:p>
          <a:p>
            <a:pPr lvl="1">
              <a:buFont typeface="Arial" panose="020B0604020202020204" pitchFamily="34" charset="0"/>
              <a:buChar char="•"/>
            </a:pPr>
            <a:r>
              <a:rPr lang="en-IN" sz="1800" dirty="0"/>
              <a:t>Let’s add a method to the </a:t>
            </a:r>
            <a:r>
              <a:rPr lang="en-IN" sz="1800" dirty="0" err="1"/>
              <a:t>IssueTable</a:t>
            </a:r>
            <a:r>
              <a:rPr lang="en-IN" sz="1800" dirty="0"/>
              <a:t> class that asynchronously returns an array of issues.</a:t>
            </a:r>
          </a:p>
          <a:p>
            <a:pPr lvl="1">
              <a:buFont typeface="Arial" panose="020B0604020202020204" pitchFamily="34" charset="0"/>
              <a:buChar char="•"/>
            </a:pPr>
            <a:r>
              <a:rPr lang="en-IN" sz="1800" dirty="0"/>
              <a:t>we’ll use a </a:t>
            </a:r>
            <a:r>
              <a:rPr lang="en-IN" sz="1800" dirty="0" err="1"/>
              <a:t>setTimeout</a:t>
            </a:r>
            <a:r>
              <a:rPr lang="en-IN" sz="1800" dirty="0"/>
              <a:t>() call to make it asynchronous.</a:t>
            </a:r>
          </a:p>
          <a:p>
            <a:pPr lvl="1">
              <a:buFont typeface="Arial" panose="020B0604020202020204" pitchFamily="34" charset="0"/>
              <a:buChar char="•"/>
            </a:pPr>
            <a:r>
              <a:rPr lang="en-IN" sz="1800" dirty="0"/>
              <a:t>In the callback to the </a:t>
            </a:r>
            <a:r>
              <a:rPr lang="en-IN" sz="1800" dirty="0" err="1"/>
              <a:t>setTimeout</a:t>
            </a:r>
            <a:r>
              <a:rPr lang="en-IN" sz="1800" dirty="0"/>
              <a:t>() call (which will eventually be an Ajax call), let’s call </a:t>
            </a:r>
            <a:r>
              <a:rPr lang="en-IN" sz="1800" dirty="0" err="1"/>
              <a:t>this.setState</a:t>
            </a:r>
            <a:r>
              <a:rPr lang="en-IN" sz="1800" dirty="0"/>
              <a:t>() with the static array of initial issues like this:</a:t>
            </a:r>
          </a:p>
          <a:p>
            <a:pPr marL="566928" lvl="3" indent="0">
              <a:buNone/>
            </a:pPr>
            <a:r>
              <a:rPr lang="en-US" sz="1800" dirty="0"/>
              <a:t>...</a:t>
            </a:r>
          </a:p>
          <a:p>
            <a:pPr marL="566928" lvl="3" indent="0">
              <a:buNone/>
            </a:pPr>
            <a:r>
              <a:rPr lang="en-US" sz="1800" dirty="0" err="1"/>
              <a:t>loadData</a:t>
            </a:r>
            <a:r>
              <a:rPr lang="en-US" sz="1800" dirty="0"/>
              <a:t>() {</a:t>
            </a:r>
          </a:p>
          <a:p>
            <a:pPr marL="566928" lvl="3" indent="0">
              <a:buNone/>
            </a:pPr>
            <a:r>
              <a:rPr lang="en-US" sz="1800" dirty="0" err="1"/>
              <a:t>setTimeout</a:t>
            </a:r>
            <a:r>
              <a:rPr lang="en-US" sz="1800" dirty="0"/>
              <a:t>(() =&gt; {</a:t>
            </a:r>
          </a:p>
          <a:p>
            <a:pPr marL="566928" lvl="3" indent="0">
              <a:buNone/>
            </a:pPr>
            <a:r>
              <a:rPr lang="en-US" sz="1800" dirty="0" err="1"/>
              <a:t>this.setState</a:t>
            </a:r>
            <a:r>
              <a:rPr lang="en-US" sz="1800" dirty="0"/>
              <a:t>({ issues: </a:t>
            </a:r>
            <a:r>
              <a:rPr lang="en-US" sz="1800" dirty="0" err="1"/>
              <a:t>initialIssues</a:t>
            </a:r>
            <a:r>
              <a:rPr lang="en-US" sz="1800" dirty="0"/>
              <a:t> });</a:t>
            </a:r>
          </a:p>
          <a:p>
            <a:pPr marL="566928" lvl="3" indent="0">
              <a:buNone/>
            </a:pPr>
            <a:r>
              <a:rPr lang="en-US" sz="1800" dirty="0"/>
              <a:t>}, 500);</a:t>
            </a:r>
          </a:p>
          <a:p>
            <a:pPr marL="566928" lvl="3" indent="0">
              <a:buNone/>
            </a:pPr>
            <a:r>
              <a:rPr lang="en-US" sz="1800" dirty="0"/>
              <a:t>}</a:t>
            </a:r>
          </a:p>
          <a:p>
            <a:pPr marL="566928" lvl="3" indent="0">
              <a:buNone/>
            </a:pPr>
            <a:r>
              <a:rPr lang="en-US" sz="1400" dirty="0"/>
              <a:t>...</a:t>
            </a:r>
          </a:p>
          <a:p>
            <a:pPr lvl="1">
              <a:buFont typeface="Arial" panose="020B0604020202020204" pitchFamily="34" charset="0"/>
              <a:buChar char="•"/>
            </a:pPr>
            <a:r>
              <a:rPr lang="en-IN" sz="1800" dirty="0"/>
              <a:t>The timeout value of 500 milliseconds is somewhat arbitrary: it’s reasonable to expect a real API call to fetch the initial list of issues within this time.</a:t>
            </a:r>
            <a:endParaRPr lang="en-US" sz="1800" dirty="0"/>
          </a:p>
          <a:p>
            <a:pPr lvl="1">
              <a:buFont typeface="Arial" panose="020B0604020202020204" pitchFamily="34" charset="0"/>
              <a:buChar char="•"/>
            </a:pP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095477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0AB1D-92C9-A1EA-2358-A78E3F862FA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1164B3D-0E1A-3AEB-7B5B-D50316AE5FAB}"/>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Arial" panose="020B0604020202020204" pitchFamily="34" charset="0"/>
              <a:buChar char="•"/>
            </a:pPr>
            <a:r>
              <a:rPr lang="en-IN" sz="2000" dirty="0"/>
              <a:t>Now, it is very tempting to call </a:t>
            </a:r>
            <a:r>
              <a:rPr lang="en-IN" sz="2000" dirty="0" err="1"/>
              <a:t>loadData</a:t>
            </a:r>
            <a:r>
              <a:rPr lang="en-IN" sz="2000" dirty="0"/>
              <a:t>() within the constructor of </a:t>
            </a:r>
            <a:r>
              <a:rPr lang="en-IN" sz="2000" dirty="0" err="1"/>
              <a:t>IssueTable</a:t>
            </a:r>
            <a:r>
              <a:rPr lang="en-IN" sz="2000" dirty="0"/>
              <a:t>. </a:t>
            </a:r>
          </a:p>
          <a:p>
            <a:pPr algn="just">
              <a:buFont typeface="Arial" panose="020B0604020202020204" pitchFamily="34" charset="0"/>
              <a:buChar char="•"/>
            </a:pPr>
            <a:r>
              <a:rPr lang="en-IN" sz="2000" dirty="0"/>
              <a:t>It may even seem to work, but the fact is that the constructor only constructs the component (i.e., does all the initialization of the object in memory) and does not render the UI. </a:t>
            </a:r>
          </a:p>
          <a:p>
            <a:pPr algn="just">
              <a:buFont typeface="Arial" panose="020B0604020202020204" pitchFamily="34" charset="0"/>
              <a:buChar char="•"/>
            </a:pPr>
            <a:r>
              <a:rPr lang="en-IN" sz="2000" dirty="0"/>
              <a:t>The rendering happens later, when the component needs to be shown on the screen. If </a:t>
            </a:r>
            <a:r>
              <a:rPr lang="en-IN" sz="2000" dirty="0" err="1">
                <a:solidFill>
                  <a:srgbClr val="FF0000"/>
                </a:solidFill>
              </a:rPr>
              <a:t>this.setState</a:t>
            </a:r>
            <a:r>
              <a:rPr lang="en-IN" sz="2000" dirty="0">
                <a:solidFill>
                  <a:srgbClr val="FF0000"/>
                </a:solidFill>
              </a:rPr>
              <a:t>() </a:t>
            </a:r>
            <a:r>
              <a:rPr lang="en-IN" sz="2000" dirty="0"/>
              <a:t>gets called before the component is ready to be rendered, things will go awry. </a:t>
            </a:r>
          </a:p>
          <a:p>
            <a:pPr algn="just">
              <a:buFont typeface="Arial" panose="020B0604020202020204" pitchFamily="34" charset="0"/>
              <a:buChar char="•"/>
            </a:pPr>
            <a:r>
              <a:rPr lang="en-IN" sz="2000" dirty="0"/>
              <a:t>You may not see this happening in simple pages, but if the initial page is complex and takes time to render, and if the Ajax call returns before rendering is finished, you will get an error.</a:t>
            </a:r>
          </a:p>
          <a:p>
            <a:pPr algn="just">
              <a:buFont typeface="Arial" panose="020B0604020202020204" pitchFamily="34" charset="0"/>
              <a:buChar char="•"/>
            </a:pPr>
            <a:r>
              <a:rPr lang="en-IN" sz="1800" dirty="0"/>
              <a:t>React provides many other methods called lifecycle methods to cater to this and other situations where something needs to be done depending on the stage, or changes in the status of the component. Apart from the constructor and the render() methods, the following lifecycle methods of a component could be of interest:</a:t>
            </a:r>
          </a:p>
          <a:p>
            <a:pPr lvl="1" algn="just">
              <a:buFont typeface="Arial" panose="020B0604020202020204" pitchFamily="34" charset="0"/>
              <a:buChar char="•"/>
            </a:pPr>
            <a:r>
              <a:rPr lang="en-IN" sz="1600" dirty="0" err="1"/>
              <a:t>componentDidMount</a:t>
            </a:r>
            <a:r>
              <a:rPr lang="en-IN" sz="1600" dirty="0"/>
              <a:t>():</a:t>
            </a:r>
          </a:p>
          <a:p>
            <a:pPr lvl="1" algn="just">
              <a:buFont typeface="Arial" panose="020B0604020202020204" pitchFamily="34" charset="0"/>
              <a:buChar char="•"/>
            </a:pPr>
            <a:r>
              <a:rPr lang="en-IN" sz="1600" dirty="0" err="1"/>
              <a:t>componentDidUpdate</a:t>
            </a:r>
            <a:r>
              <a:rPr lang="en-IN" sz="1600" dirty="0"/>
              <a:t>():</a:t>
            </a:r>
          </a:p>
          <a:p>
            <a:pPr lvl="1" algn="just">
              <a:buFont typeface="Arial" panose="020B0604020202020204" pitchFamily="34" charset="0"/>
              <a:buChar char="•"/>
            </a:pPr>
            <a:r>
              <a:rPr lang="en-IN" sz="1600" dirty="0" err="1"/>
              <a:t>componentWillUnmount</a:t>
            </a:r>
            <a:r>
              <a:rPr lang="en-IN" sz="1600" dirty="0"/>
              <a:t>():</a:t>
            </a:r>
          </a:p>
          <a:p>
            <a:pPr lvl="1" algn="just">
              <a:buFont typeface="Arial" panose="020B0604020202020204" pitchFamily="34" charset="0"/>
              <a:buChar char="•"/>
            </a:pPr>
            <a:r>
              <a:rPr lang="en-IN" sz="1600" dirty="0" err="1"/>
              <a:t>shouldComponentUpdate</a:t>
            </a:r>
            <a:r>
              <a:rPr lang="en-IN" sz="1600" dirty="0"/>
              <a:t>():</a:t>
            </a:r>
            <a:endParaRPr lang="en-US" sz="16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189993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E1304-66E9-5E7E-516B-A2FE210469C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991B5E4-F91F-8FA9-C2C6-A9DC26C4ED59}"/>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Arial" panose="020B0604020202020204" pitchFamily="34" charset="0"/>
              <a:buChar char="•"/>
            </a:pPr>
            <a:r>
              <a:rPr lang="en-IN" sz="1800" dirty="0"/>
              <a:t>• </a:t>
            </a:r>
            <a:r>
              <a:rPr lang="en-IN" sz="1800" dirty="0" err="1"/>
              <a:t>componentDidMount</a:t>
            </a:r>
            <a:r>
              <a:rPr lang="en-IN" sz="1800" dirty="0"/>
              <a:t>(): This method is called as soon as the component’s representation has been converted and inserted into the DOM. A </a:t>
            </a:r>
            <a:r>
              <a:rPr lang="en-IN" sz="1800" dirty="0" err="1"/>
              <a:t>setState</a:t>
            </a:r>
            <a:r>
              <a:rPr lang="en-IN" sz="1800" dirty="0"/>
              <a:t>() can be called within this method. </a:t>
            </a:r>
          </a:p>
          <a:p>
            <a:pPr algn="just">
              <a:buFont typeface="Arial" panose="020B0604020202020204" pitchFamily="34" charset="0"/>
              <a:buChar char="•"/>
            </a:pPr>
            <a:r>
              <a:rPr lang="en-IN" sz="1800" dirty="0"/>
              <a:t>• </a:t>
            </a:r>
            <a:r>
              <a:rPr lang="en-IN" sz="1800" dirty="0" err="1"/>
              <a:t>componentDidUpdate</a:t>
            </a:r>
            <a:r>
              <a:rPr lang="en-IN" sz="1800" dirty="0"/>
              <a:t>(): This method is invoked immediately after an update occurs, but it is not called for the initial render. </a:t>
            </a:r>
            <a:r>
              <a:rPr lang="en-IN" sz="1800" dirty="0" err="1"/>
              <a:t>this.setState</a:t>
            </a:r>
            <a:r>
              <a:rPr lang="en-IN" sz="1800" dirty="0"/>
              <a:t>() can be called within this method. The method is also supplied the previous props and previous state as arguments, so that the function has a chance to check the differences between the previous props and state and the current props and state before taking an action. </a:t>
            </a:r>
          </a:p>
          <a:p>
            <a:pPr algn="just">
              <a:buFont typeface="Arial" panose="020B0604020202020204" pitchFamily="34" charset="0"/>
              <a:buChar char="•"/>
            </a:pPr>
            <a:r>
              <a:rPr lang="en-IN" sz="1800" dirty="0"/>
              <a:t>• </a:t>
            </a:r>
            <a:r>
              <a:rPr lang="en-IN" sz="1800" dirty="0" err="1"/>
              <a:t>componentWillUnmount</a:t>
            </a:r>
            <a:r>
              <a:rPr lang="en-IN" sz="1800" dirty="0"/>
              <a:t>(): This method is useful for cleanup such as cancelling timers and pending network requests. </a:t>
            </a:r>
          </a:p>
          <a:p>
            <a:pPr algn="just">
              <a:buFont typeface="Arial" panose="020B0604020202020204" pitchFamily="34" charset="0"/>
              <a:buChar char="•"/>
            </a:pPr>
            <a:r>
              <a:rPr lang="en-IN" sz="1800" dirty="0"/>
              <a:t>• </a:t>
            </a:r>
            <a:r>
              <a:rPr lang="en-IN" sz="1800" dirty="0" err="1"/>
              <a:t>shouldComponentUpdate</a:t>
            </a:r>
            <a:r>
              <a:rPr lang="en-IN" sz="1800" dirty="0"/>
              <a:t>(): This method can be used to optimize and prevent a </a:t>
            </a:r>
            <a:r>
              <a:rPr lang="en-IN" sz="1800" dirty="0" err="1"/>
              <a:t>rerender</a:t>
            </a:r>
            <a:r>
              <a:rPr lang="en-IN" sz="1800" dirty="0"/>
              <a:t> in case there is a change in the props or state that really doesn’t affect the output or the view. This method is rarely used because, when the state and props are designed well, there will rarely be a case when the state or props change but an update is not required for the view.</a:t>
            </a:r>
            <a:endParaRPr lang="en-US" sz="20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3153304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1D1C-EB46-6F06-18E7-6BF05E38CB5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781ABC1-E5E2-79DF-F1D7-1C9BBD8AE57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The best place to initiate the loading of data in this case is the </a:t>
            </a:r>
            <a:r>
              <a:rPr lang="en-IN" sz="1800" dirty="0" err="1"/>
              <a:t>componentDidMount</a:t>
            </a:r>
            <a:r>
              <a:rPr lang="en-IN" sz="1800" dirty="0"/>
              <a:t>() method. At this point in time, the DOM is guaranteed to be ready, and </a:t>
            </a:r>
            <a:r>
              <a:rPr lang="en-IN" sz="1800" dirty="0" err="1"/>
              <a:t>setState</a:t>
            </a:r>
            <a:r>
              <a:rPr lang="en-IN" sz="1800" dirty="0"/>
              <a:t>() can be called to </a:t>
            </a:r>
            <a:r>
              <a:rPr lang="en-IN" sz="1800" dirty="0" err="1"/>
              <a:t>rerender</a:t>
            </a:r>
            <a:r>
              <a:rPr lang="en-IN" sz="1800" dirty="0"/>
              <a:t> the component.</a:t>
            </a:r>
          </a:p>
          <a:p>
            <a:pPr lvl="1">
              <a:buFont typeface="Arial" panose="020B0604020202020204" pitchFamily="34" charset="0"/>
              <a:buChar char="•"/>
            </a:pPr>
            <a:r>
              <a:rPr lang="en-US" sz="1800" dirty="0"/>
              <a:t>...</a:t>
            </a:r>
          </a:p>
          <a:p>
            <a:pPr lvl="1">
              <a:buFont typeface="Arial" panose="020B0604020202020204" pitchFamily="34" charset="0"/>
              <a:buChar char="•"/>
            </a:pPr>
            <a:r>
              <a:rPr lang="en-US" sz="1800" dirty="0" err="1"/>
              <a:t>componentDidMount</a:t>
            </a:r>
            <a:r>
              <a:rPr lang="en-US" sz="1800" dirty="0"/>
              <a:t>() {</a:t>
            </a:r>
          </a:p>
          <a:p>
            <a:pPr lvl="1">
              <a:buFont typeface="Arial" panose="020B0604020202020204" pitchFamily="34" charset="0"/>
              <a:buChar char="•"/>
            </a:pPr>
            <a:r>
              <a:rPr lang="en-US" sz="1800" dirty="0" err="1"/>
              <a:t>this.loadData</a:t>
            </a:r>
            <a:r>
              <a:rPr lang="en-US" sz="1800" dirty="0"/>
              <a:t>();</a:t>
            </a:r>
          </a:p>
          <a:p>
            <a:pPr lvl="1">
              <a:buFont typeface="Arial" panose="020B0604020202020204" pitchFamily="34" charset="0"/>
              <a:buChar char="•"/>
            </a:pPr>
            <a:r>
              <a:rPr lang="en-US" sz="1800" dirty="0"/>
              <a:t>}</a:t>
            </a:r>
          </a:p>
          <a:p>
            <a:pPr lvl="1">
              <a:buFont typeface="Arial" panose="020B0604020202020204" pitchFamily="34" charset="0"/>
              <a:buChar char="•"/>
            </a:pPr>
            <a:r>
              <a:rPr lang="en-US" sz="1800" dirty="0"/>
              <a:t>...</a:t>
            </a:r>
          </a:p>
        </p:txBody>
      </p:sp>
    </p:spTree>
    <p:extLst>
      <p:ext uri="{BB962C8B-B14F-4D97-AF65-F5344CB8AC3E}">
        <p14:creationId xmlns:p14="http://schemas.microsoft.com/office/powerpoint/2010/main" val="2687514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C00A5-E44B-FE1C-6C5E-2EFE1F4CD59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8CD34DE-526D-9B05-1575-95B5C0C67E1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2000" b="0" i="0" u="none" strike="noStrike" kern="1200" cap="none" spc="0" normalizeH="0" baseline="0" noProof="0" dirty="0">
                <a:ln>
                  <a:noFill/>
                </a:ln>
                <a:solidFill>
                  <a:srgbClr val="000000"/>
                </a:solidFill>
                <a:effectLst/>
                <a:uLnTx/>
                <a:uFillTx/>
                <a:latin typeface="Franklin Gothic Book" panose="020F0502020204030204"/>
                <a:ea typeface="+mn-ea"/>
                <a:cs typeface="+mn-cs"/>
              </a:rPr>
              <a:t>The complete set of changes in the </a:t>
            </a:r>
            <a:r>
              <a:rPr kumimoji="0" lang="en-IN" sz="20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IssueTable</a:t>
            </a:r>
            <a:r>
              <a:rPr kumimoji="0" lang="en-IN" sz="2000" b="0" i="0" u="none" strike="noStrike" kern="1200" cap="none" spc="0" normalizeH="0" baseline="0" noProof="0" dirty="0">
                <a:ln>
                  <a:noFill/>
                </a:ln>
                <a:solidFill>
                  <a:srgbClr val="000000"/>
                </a:solidFill>
                <a:effectLst/>
                <a:uLnTx/>
                <a:uFillTx/>
                <a:latin typeface="Franklin Gothic Book" panose="020F0502020204030204"/>
                <a:ea typeface="+mn-ea"/>
                <a:cs typeface="+mn-cs"/>
              </a:rPr>
              <a:t> class is shown in Listing</a:t>
            </a:r>
            <a:endParaRPr kumimoji="0" lang="en-US" sz="2000" b="0" i="0" u="none" strike="noStrike" kern="1200" cap="none" spc="0" normalizeH="0" baseline="0" noProof="0" dirty="0">
              <a:ln>
                <a:noFill/>
              </a:ln>
              <a:solidFill>
                <a:srgbClr val="000000"/>
              </a:solidFill>
              <a:effectLst/>
              <a:uLnTx/>
              <a:uFillTx/>
              <a:latin typeface="Franklin Gothic Book"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class </a:t>
            </a:r>
            <a:r>
              <a:rPr kumimoji="0" lang="en-IN" sz="18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IssueTable</a:t>
            </a: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extends </a:t>
            </a:r>
            <a:r>
              <a:rPr kumimoji="0" lang="en-IN" sz="18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React.Component</a:t>
            </a: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constructor()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super();</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800" b="0" i="0" u="none" strike="sngStrike" kern="1200" cap="none" spc="0" normalizeH="0" baseline="0" noProof="0" dirty="0" err="1">
                <a:ln>
                  <a:noFill/>
                </a:ln>
                <a:solidFill>
                  <a:srgbClr val="000000"/>
                </a:solidFill>
                <a:effectLst/>
                <a:uLnTx/>
                <a:uFillTx/>
                <a:latin typeface="Franklin Gothic Book" panose="020F0502020204030204"/>
                <a:ea typeface="+mn-ea"/>
                <a:cs typeface="+mn-cs"/>
              </a:rPr>
              <a:t>this.state</a:t>
            </a:r>
            <a:r>
              <a:rPr kumimoji="0" lang="en-IN" sz="1800" b="0" i="0" u="none" strike="sngStrike" kern="1200" cap="none" spc="0" normalizeH="0" baseline="0" noProof="0" dirty="0">
                <a:ln>
                  <a:noFill/>
                </a:ln>
                <a:solidFill>
                  <a:srgbClr val="000000"/>
                </a:solidFill>
                <a:effectLst/>
                <a:uLnTx/>
                <a:uFillTx/>
                <a:latin typeface="Franklin Gothic Book" panose="020F0502020204030204"/>
                <a:ea typeface="+mn-ea"/>
                <a:cs typeface="+mn-cs"/>
              </a:rPr>
              <a:t> = { issues: </a:t>
            </a:r>
            <a:r>
              <a:rPr kumimoji="0" lang="en-IN" sz="1800" b="0" i="0" u="none" strike="sngStrike" kern="1200" cap="none" spc="0" normalizeH="0" baseline="0" noProof="0" dirty="0" err="1">
                <a:ln>
                  <a:noFill/>
                </a:ln>
                <a:solidFill>
                  <a:srgbClr val="000000"/>
                </a:solidFill>
                <a:effectLst/>
                <a:uLnTx/>
                <a:uFillTx/>
                <a:latin typeface="Franklin Gothic Book" panose="020F0502020204030204"/>
                <a:ea typeface="+mn-ea"/>
                <a:cs typeface="+mn-cs"/>
              </a:rPr>
              <a:t>initialIssues</a:t>
            </a:r>
            <a:r>
              <a:rPr kumimoji="0" lang="en-IN" sz="1800" b="0" i="0" u="none" strike="sngStrike" kern="1200" cap="none" spc="0" normalizeH="0" baseline="0" noProof="0" dirty="0">
                <a:ln>
                  <a:noFill/>
                </a:ln>
                <a:solidFill>
                  <a:srgbClr val="000000"/>
                </a:solidFill>
                <a:effectLst/>
                <a:uLnTx/>
                <a:uFillTx/>
                <a:latin typeface="Franklin Gothic Book"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8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this.state</a:t>
            </a: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 { issues: []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8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componentDidMount</a:t>
            </a: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8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this.loadData</a:t>
            </a: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8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loadData</a:t>
            </a: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8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setTimeout</a:t>
            </a: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=&gt;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r>
              <a:rPr kumimoji="0" lang="en-IN" sz="18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this.setState</a:t>
            </a: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issues: </a:t>
            </a:r>
            <a:r>
              <a:rPr kumimoji="0" lang="en-IN" sz="1800" b="0" i="0" u="none" strike="noStrike" kern="1200" cap="none" spc="0" normalizeH="0" baseline="0" noProof="0" dirty="0" err="1">
                <a:ln>
                  <a:noFill/>
                </a:ln>
                <a:solidFill>
                  <a:srgbClr val="000000"/>
                </a:solidFill>
                <a:effectLst/>
                <a:uLnTx/>
                <a:uFillTx/>
                <a:latin typeface="Franklin Gothic Book" panose="020F0502020204030204"/>
                <a:ea typeface="+mn-ea"/>
                <a:cs typeface="+mn-cs"/>
              </a:rPr>
              <a:t>initialIssues</a:t>
            </a: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 500);</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 typeface="Calibri" panose="020F0502020204030204" pitchFamily="34" charset="0"/>
              <a:buNone/>
              <a:tabLst/>
              <a:defRPr/>
            </a:pPr>
            <a:r>
              <a:rPr kumimoji="0" lang="en-IN" sz="1800" b="0" i="0" u="none" strike="noStrike" kern="1200" cap="none" spc="0" normalizeH="0" baseline="0" noProof="0" dirty="0">
                <a:ln>
                  <a:noFill/>
                </a:ln>
                <a:solidFill>
                  <a:srgbClr val="000000"/>
                </a:solidFill>
                <a:effectLst/>
                <a:uLnTx/>
                <a:uFillTx/>
                <a:latin typeface="Franklin Gothic Book" panose="020F0502020204030204"/>
                <a:ea typeface="+mn-ea"/>
                <a:cs typeface="+mn-cs"/>
              </a:rPr>
              <a:t>...</a:t>
            </a:r>
          </a:p>
          <a:p>
            <a:pPr lvl="1" algn="just">
              <a:buFont typeface="Arial" panose="020B0604020202020204" pitchFamily="34" charset="0"/>
              <a:buChar char="•"/>
            </a:pPr>
            <a:r>
              <a:rPr lang="en-IN" sz="1800" dirty="0"/>
              <a:t>If you refresh the browser (assuming you’re still running </a:t>
            </a:r>
            <a:r>
              <a:rPr lang="en-IN" sz="1800" dirty="0" err="1"/>
              <a:t>npm</a:t>
            </a:r>
            <a:r>
              <a:rPr lang="en-IN" sz="1800" dirty="0"/>
              <a:t> run watch and </a:t>
            </a:r>
            <a:r>
              <a:rPr lang="en-IN" sz="1800" dirty="0" err="1"/>
              <a:t>npm</a:t>
            </a:r>
            <a:r>
              <a:rPr lang="en-IN" sz="1800" dirty="0"/>
              <a:t> start on two different consoles), you will find that the list of issues is displayed as it used to be in the previous steps. But, you will also see that for a fraction of a second after the page is loaded, the table is empty</a:t>
            </a:r>
            <a:endParaRPr lang="en-US" sz="1800" dirty="0"/>
          </a:p>
          <a:p>
            <a:pPr marL="0" indent="0">
              <a:buFont typeface="Calibri" panose="020F0502020204030204" pitchFamily="34" charset="0"/>
              <a:buNone/>
            </a:pPr>
            <a:endParaRPr lang="en-IN" dirty="0"/>
          </a:p>
        </p:txBody>
      </p:sp>
    </p:spTree>
    <p:extLst>
      <p:ext uri="{BB962C8B-B14F-4D97-AF65-F5344CB8AC3E}">
        <p14:creationId xmlns:p14="http://schemas.microsoft.com/office/powerpoint/2010/main" val="2336452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2B61D-D59A-7DA1-A88B-0CDEDD2E5E3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9152E72-18CC-8AA9-5184-F4E4D653E968}"/>
              </a:ext>
            </a:extLst>
          </p:cNvPr>
          <p:cNvSpPr txBox="1">
            <a:spLocks/>
          </p:cNvSpPr>
          <p:nvPr/>
        </p:nvSpPr>
        <p:spPr>
          <a:xfrm>
            <a:off x="360728" y="343949"/>
            <a:ext cx="3036814"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Bef>
                <a:spcPts val="0"/>
              </a:spcBef>
              <a:spcAft>
                <a:spcPts val="0"/>
              </a:spcAft>
              <a:buFont typeface="Arial" panose="020B0604020202020204" pitchFamily="34" charset="0"/>
              <a:buChar char="•"/>
            </a:pPr>
            <a:r>
              <a:rPr lang="en-US" sz="1800" dirty="0" err="1"/>
              <a:t>App.jsx</a:t>
            </a:r>
            <a:endParaRPr lang="en-US" sz="1800" dirty="0"/>
          </a:p>
          <a:p>
            <a:pPr>
              <a:spcBef>
                <a:spcPts val="0"/>
              </a:spcBef>
              <a:spcAft>
                <a:spcPts val="0"/>
              </a:spcAft>
              <a:buFont typeface="Arial" panose="020B0604020202020204" pitchFamily="34" charset="0"/>
              <a:buChar char="•"/>
            </a:pPr>
            <a:endParaRPr lang="en-US" sz="1800" dirty="0"/>
          </a:p>
          <a:p>
            <a:pPr>
              <a:spcBef>
                <a:spcPts val="0"/>
              </a:spcBef>
              <a:spcAft>
                <a:spcPts val="0"/>
              </a:spcAft>
              <a:buFont typeface="Arial" panose="020B0604020202020204" pitchFamily="34" charset="0"/>
              <a:buChar char="•"/>
            </a:pPr>
            <a:r>
              <a:rPr lang="en-US" sz="1800" dirty="0"/>
              <a:t>const </a:t>
            </a:r>
            <a:r>
              <a:rPr lang="en-US" sz="1800" dirty="0" err="1"/>
              <a:t>initialIssues</a:t>
            </a:r>
            <a:r>
              <a:rPr lang="en-US" sz="1800" dirty="0"/>
              <a:t> = [</a:t>
            </a:r>
          </a:p>
          <a:p>
            <a:pPr>
              <a:spcBef>
                <a:spcPts val="0"/>
              </a:spcBef>
              <a:spcAft>
                <a:spcPts val="0"/>
              </a:spcAft>
              <a:buFont typeface="Arial" panose="020B0604020202020204" pitchFamily="34" charset="0"/>
              <a:buChar char="•"/>
            </a:pPr>
            <a:r>
              <a:rPr lang="en-US" sz="1800" dirty="0"/>
              <a:t>    {</a:t>
            </a:r>
          </a:p>
          <a:p>
            <a:pPr>
              <a:spcBef>
                <a:spcPts val="0"/>
              </a:spcBef>
              <a:spcAft>
                <a:spcPts val="0"/>
              </a:spcAft>
              <a:buFont typeface="Arial" panose="020B0604020202020204" pitchFamily="34" charset="0"/>
              <a:buChar char="•"/>
            </a:pPr>
            <a:r>
              <a:rPr lang="en-US" sz="1800" dirty="0"/>
              <a:t>        id: 1,</a:t>
            </a:r>
          </a:p>
          <a:p>
            <a:pPr>
              <a:spcBef>
                <a:spcPts val="0"/>
              </a:spcBef>
              <a:spcAft>
                <a:spcPts val="0"/>
              </a:spcAft>
              <a:buFont typeface="Arial" panose="020B0604020202020204" pitchFamily="34" charset="0"/>
              <a:buChar char="•"/>
            </a:pPr>
            <a:r>
              <a:rPr lang="en-US" sz="1800" dirty="0"/>
              <a:t>        status: "New",</a:t>
            </a:r>
          </a:p>
          <a:p>
            <a:pPr>
              <a:spcBef>
                <a:spcPts val="0"/>
              </a:spcBef>
              <a:spcAft>
                <a:spcPts val="0"/>
              </a:spcAft>
              <a:buFont typeface="Arial" panose="020B0604020202020204" pitchFamily="34" charset="0"/>
              <a:buChar char="•"/>
            </a:pPr>
            <a:r>
              <a:rPr lang="en-US" sz="1800" dirty="0"/>
              <a:t>        owner: "Rohan",</a:t>
            </a:r>
          </a:p>
          <a:p>
            <a:pPr>
              <a:spcBef>
                <a:spcPts val="0"/>
              </a:spcBef>
              <a:spcAft>
                <a:spcPts val="0"/>
              </a:spcAft>
              <a:buFont typeface="Arial" panose="020B0604020202020204" pitchFamily="34" charset="0"/>
              <a:buChar char="•"/>
            </a:pPr>
            <a:r>
              <a:rPr lang="en-US" sz="1800" dirty="0"/>
              <a:t>        effort: 5</a:t>
            </a:r>
          </a:p>
          <a:p>
            <a:pPr>
              <a:spcBef>
                <a:spcPts val="0"/>
              </a:spcBef>
              <a:spcAft>
                <a:spcPts val="0"/>
              </a:spcAft>
              <a:buFont typeface="Arial" panose="020B0604020202020204" pitchFamily="34" charset="0"/>
              <a:buChar char="•"/>
            </a:pPr>
            <a:r>
              <a:rPr lang="en-US" sz="1800" dirty="0"/>
              <a:t>    },</a:t>
            </a:r>
          </a:p>
          <a:p>
            <a:pPr>
              <a:spcBef>
                <a:spcPts val="0"/>
              </a:spcBef>
              <a:spcAft>
                <a:spcPts val="0"/>
              </a:spcAft>
              <a:buFont typeface="Arial" panose="020B0604020202020204" pitchFamily="34" charset="0"/>
              <a:buChar char="•"/>
            </a:pPr>
            <a:r>
              <a:rPr lang="en-US" sz="1800" dirty="0"/>
              <a:t>    {</a:t>
            </a:r>
          </a:p>
          <a:p>
            <a:pPr>
              <a:spcBef>
                <a:spcPts val="0"/>
              </a:spcBef>
              <a:spcAft>
                <a:spcPts val="0"/>
              </a:spcAft>
              <a:buFont typeface="Arial" panose="020B0604020202020204" pitchFamily="34" charset="0"/>
              <a:buChar char="•"/>
            </a:pPr>
            <a:r>
              <a:rPr lang="en-US" sz="1800" dirty="0"/>
              <a:t>        id: 2,</a:t>
            </a:r>
          </a:p>
          <a:p>
            <a:pPr>
              <a:spcBef>
                <a:spcPts val="0"/>
              </a:spcBef>
              <a:spcAft>
                <a:spcPts val="0"/>
              </a:spcAft>
              <a:buFont typeface="Arial" panose="020B0604020202020204" pitchFamily="34" charset="0"/>
              <a:buChar char="•"/>
            </a:pPr>
            <a:r>
              <a:rPr lang="en-US" sz="1800" dirty="0"/>
              <a:t>        status: "Assigned",</a:t>
            </a:r>
          </a:p>
          <a:p>
            <a:pPr>
              <a:spcBef>
                <a:spcPts val="0"/>
              </a:spcBef>
              <a:spcAft>
                <a:spcPts val="0"/>
              </a:spcAft>
              <a:buFont typeface="Arial" panose="020B0604020202020204" pitchFamily="34" charset="0"/>
              <a:buChar char="•"/>
            </a:pPr>
            <a:r>
              <a:rPr lang="en-US" sz="1800" dirty="0"/>
              <a:t>        owner: "Priya",</a:t>
            </a:r>
          </a:p>
          <a:p>
            <a:pPr>
              <a:spcBef>
                <a:spcPts val="0"/>
              </a:spcBef>
              <a:spcAft>
                <a:spcPts val="0"/>
              </a:spcAft>
              <a:buFont typeface="Arial" panose="020B0604020202020204" pitchFamily="34" charset="0"/>
              <a:buChar char="•"/>
            </a:pPr>
            <a:r>
              <a:rPr lang="en-US" sz="1800" dirty="0"/>
              <a:t>        effort: 10</a:t>
            </a:r>
          </a:p>
          <a:p>
            <a:pPr>
              <a:spcBef>
                <a:spcPts val="0"/>
              </a:spcBef>
              <a:spcAft>
                <a:spcPts val="0"/>
              </a:spcAft>
              <a:buFont typeface="Arial" panose="020B0604020202020204" pitchFamily="34" charset="0"/>
              <a:buChar char="•"/>
            </a:pPr>
            <a:r>
              <a:rPr lang="en-US" sz="1800" dirty="0"/>
              <a:t>    }</a:t>
            </a:r>
          </a:p>
          <a:p>
            <a:pPr>
              <a:spcBef>
                <a:spcPts val="0"/>
              </a:spcBef>
              <a:spcAft>
                <a:spcPts val="0"/>
              </a:spcAft>
              <a:buFont typeface="Arial" panose="020B0604020202020204" pitchFamily="34" charset="0"/>
              <a:buChar char="•"/>
            </a:pPr>
            <a:r>
              <a:rPr lang="en-US" sz="1800" dirty="0"/>
              <a:t>];</a:t>
            </a:r>
          </a:p>
        </p:txBody>
      </p:sp>
      <p:sp>
        <p:nvSpPr>
          <p:cNvPr id="2" name="TextBox 1">
            <a:extLst>
              <a:ext uri="{FF2B5EF4-FFF2-40B4-BE49-F238E27FC236}">
                <a16:creationId xmlns:a16="http://schemas.microsoft.com/office/drawing/2014/main" id="{78577B14-E9B5-D253-019C-F85BAE4D9881}"/>
              </a:ext>
            </a:extLst>
          </p:cNvPr>
          <p:cNvSpPr txBox="1"/>
          <p:nvPr/>
        </p:nvSpPr>
        <p:spPr>
          <a:xfrm>
            <a:off x="3624044" y="302004"/>
            <a:ext cx="4127384" cy="4524315"/>
          </a:xfrm>
          <a:prstGeom prst="rect">
            <a:avLst/>
          </a:prstGeom>
          <a:noFill/>
        </p:spPr>
        <p:txBody>
          <a:bodyPr wrap="square" rtlCol="0">
            <a:spAutoFit/>
          </a:bodyPr>
          <a:lstStyle/>
          <a:p>
            <a:r>
              <a:rPr lang="en-IN" sz="1600" dirty="0"/>
              <a:t>class </a:t>
            </a:r>
            <a:r>
              <a:rPr lang="en-IN" sz="1600" dirty="0" err="1"/>
              <a:t>IssueTable</a:t>
            </a:r>
            <a:r>
              <a:rPr lang="en-IN" sz="1600" dirty="0"/>
              <a:t> extends </a:t>
            </a:r>
            <a:r>
              <a:rPr lang="en-IN" sz="1600" dirty="0" err="1"/>
              <a:t>React.Component</a:t>
            </a:r>
            <a:r>
              <a:rPr lang="en-IN" sz="1600" dirty="0"/>
              <a:t> {</a:t>
            </a:r>
          </a:p>
          <a:p>
            <a:r>
              <a:rPr lang="en-IN" sz="1600" dirty="0"/>
              <a:t>    constructor() {</a:t>
            </a:r>
          </a:p>
          <a:p>
            <a:r>
              <a:rPr lang="en-IN" sz="1600" dirty="0"/>
              <a:t>        super();</a:t>
            </a:r>
          </a:p>
          <a:p>
            <a:r>
              <a:rPr lang="en-IN" sz="1600" dirty="0"/>
              <a:t>        </a:t>
            </a:r>
            <a:r>
              <a:rPr lang="en-IN" sz="1600" dirty="0" err="1"/>
              <a:t>this.state</a:t>
            </a:r>
            <a:r>
              <a:rPr lang="en-IN" sz="1600" dirty="0"/>
              <a:t> = { issues: [] };</a:t>
            </a:r>
          </a:p>
          <a:p>
            <a:r>
              <a:rPr lang="en-IN" sz="1600" dirty="0"/>
              <a:t>    }</a:t>
            </a:r>
          </a:p>
          <a:p>
            <a:endParaRPr lang="en-IN" sz="1600" dirty="0"/>
          </a:p>
          <a:p>
            <a:r>
              <a:rPr lang="en-IN" sz="1600" dirty="0"/>
              <a:t>    </a:t>
            </a:r>
            <a:r>
              <a:rPr lang="en-IN" sz="1600" dirty="0" err="1"/>
              <a:t>componentDidMount</a:t>
            </a:r>
            <a:r>
              <a:rPr lang="en-IN" sz="1600" dirty="0"/>
              <a:t>() {</a:t>
            </a:r>
          </a:p>
          <a:p>
            <a:r>
              <a:rPr lang="en-IN" sz="1600" dirty="0"/>
              <a:t>        </a:t>
            </a:r>
            <a:r>
              <a:rPr lang="en-IN" sz="1600" dirty="0" err="1"/>
              <a:t>this.loadData</a:t>
            </a:r>
            <a:r>
              <a:rPr lang="en-IN" sz="1600" dirty="0"/>
              <a:t>();</a:t>
            </a:r>
          </a:p>
          <a:p>
            <a:r>
              <a:rPr lang="en-IN" sz="1600" dirty="0"/>
              <a:t>    }</a:t>
            </a:r>
          </a:p>
          <a:p>
            <a:endParaRPr lang="en-IN" sz="1600" dirty="0"/>
          </a:p>
          <a:p>
            <a:r>
              <a:rPr lang="en-IN" sz="1600" dirty="0"/>
              <a:t>    </a:t>
            </a:r>
            <a:r>
              <a:rPr lang="en-IN" sz="1600" dirty="0" err="1"/>
              <a:t>loadData</a:t>
            </a:r>
            <a:r>
              <a:rPr lang="en-IN" sz="1600" dirty="0"/>
              <a:t>() {</a:t>
            </a:r>
          </a:p>
          <a:p>
            <a:r>
              <a:rPr lang="en-IN" sz="1600" dirty="0"/>
              <a:t>        </a:t>
            </a:r>
            <a:r>
              <a:rPr lang="en-IN" sz="1600" dirty="0" err="1"/>
              <a:t>setTimeout</a:t>
            </a:r>
            <a:r>
              <a:rPr lang="en-IN" sz="1600" dirty="0"/>
              <a:t>(() =&gt; {</a:t>
            </a:r>
          </a:p>
          <a:p>
            <a:r>
              <a:rPr lang="en-IN" sz="1600" dirty="0"/>
              <a:t>            </a:t>
            </a:r>
            <a:r>
              <a:rPr lang="en-IN" sz="1600" dirty="0" err="1"/>
              <a:t>this.setState</a:t>
            </a:r>
            <a:r>
              <a:rPr lang="en-IN" sz="1600" dirty="0"/>
              <a:t>({</a:t>
            </a:r>
          </a:p>
          <a:p>
            <a:r>
              <a:rPr lang="en-IN" sz="1600" dirty="0"/>
              <a:t>                issues: </a:t>
            </a:r>
            <a:r>
              <a:rPr lang="en-IN" sz="1600" dirty="0" err="1"/>
              <a:t>initialIssues</a:t>
            </a:r>
            <a:endParaRPr lang="en-IN" sz="1600" dirty="0"/>
          </a:p>
          <a:p>
            <a:r>
              <a:rPr lang="en-IN" sz="1600" dirty="0"/>
              <a:t>            });</a:t>
            </a:r>
          </a:p>
          <a:p>
            <a:r>
              <a:rPr lang="en-IN" sz="1600" dirty="0"/>
              <a:t>        }, 500);</a:t>
            </a:r>
          </a:p>
          <a:p>
            <a:r>
              <a:rPr lang="en-IN" sz="1600" dirty="0"/>
              <a:t>    }</a:t>
            </a:r>
          </a:p>
          <a:p>
            <a:pPr lvl="1"/>
            <a:endParaRPr lang="en-IN" sz="1600" dirty="0"/>
          </a:p>
        </p:txBody>
      </p:sp>
      <p:sp>
        <p:nvSpPr>
          <p:cNvPr id="3" name="TextBox 2">
            <a:extLst>
              <a:ext uri="{FF2B5EF4-FFF2-40B4-BE49-F238E27FC236}">
                <a16:creationId xmlns:a16="http://schemas.microsoft.com/office/drawing/2014/main" id="{C4ECC610-D780-DA7C-176C-8440155A6812}"/>
              </a:ext>
            </a:extLst>
          </p:cNvPr>
          <p:cNvSpPr txBox="1"/>
          <p:nvPr/>
        </p:nvSpPr>
        <p:spPr>
          <a:xfrm>
            <a:off x="8011486" y="251670"/>
            <a:ext cx="3819786" cy="5016758"/>
          </a:xfrm>
          <a:prstGeom prst="rect">
            <a:avLst/>
          </a:prstGeom>
          <a:noFill/>
        </p:spPr>
        <p:txBody>
          <a:bodyPr wrap="square" rtlCol="0">
            <a:spAutoFit/>
          </a:bodyPr>
          <a:lstStyle/>
          <a:p>
            <a:r>
              <a:rPr lang="en-IN" sz="1600" dirty="0"/>
              <a:t> render() {</a:t>
            </a:r>
          </a:p>
          <a:p>
            <a:r>
              <a:rPr lang="en-IN" sz="1600" dirty="0"/>
              <a:t>        return (</a:t>
            </a:r>
          </a:p>
          <a:p>
            <a:r>
              <a:rPr lang="en-IN" sz="1600" dirty="0"/>
              <a:t>            &lt;div&gt;</a:t>
            </a:r>
          </a:p>
          <a:p>
            <a:r>
              <a:rPr lang="en-IN" sz="1600" dirty="0"/>
              <a:t>                &lt;h2&gt;Issue Tracker&lt;/h2&gt;</a:t>
            </a:r>
          </a:p>
          <a:p>
            <a:endParaRPr lang="en-IN" sz="1600" dirty="0"/>
          </a:p>
          <a:p>
            <a:r>
              <a:rPr lang="en-IN" sz="1600" dirty="0"/>
              <a:t>                {</a:t>
            </a:r>
            <a:r>
              <a:rPr lang="en-IN" sz="1600" dirty="0" err="1"/>
              <a:t>this.state.issues.map</a:t>
            </a:r>
            <a:r>
              <a:rPr lang="en-IN" sz="1600" dirty="0"/>
              <a:t>(issue =&gt; (</a:t>
            </a:r>
          </a:p>
          <a:p>
            <a:r>
              <a:rPr lang="en-IN" sz="1600" dirty="0"/>
              <a:t>                    &lt;div key={issue.id}&gt;</a:t>
            </a:r>
          </a:p>
          <a:p>
            <a:r>
              <a:rPr lang="en-IN" sz="1600" dirty="0"/>
              <a:t>                        {issue.id} - {</a:t>
            </a:r>
            <a:r>
              <a:rPr lang="en-IN" sz="1600" dirty="0" err="1"/>
              <a:t>issue.status</a:t>
            </a:r>
            <a:r>
              <a:rPr lang="en-IN" sz="1600" dirty="0"/>
              <a:t>} - {</a:t>
            </a:r>
            <a:r>
              <a:rPr lang="en-IN" sz="1600" dirty="0" err="1"/>
              <a:t>issue.owner</a:t>
            </a:r>
            <a:r>
              <a:rPr lang="en-IN" sz="1600" dirty="0"/>
              <a:t>}</a:t>
            </a:r>
          </a:p>
          <a:p>
            <a:r>
              <a:rPr lang="en-IN" sz="1600" dirty="0"/>
              <a:t>                    &lt;/div&gt;</a:t>
            </a:r>
          </a:p>
          <a:p>
            <a:r>
              <a:rPr lang="en-IN" sz="1600" dirty="0"/>
              <a:t>                ))}</a:t>
            </a:r>
          </a:p>
          <a:p>
            <a:r>
              <a:rPr lang="en-IN" sz="1600" dirty="0"/>
              <a:t>            &lt;/div&gt;</a:t>
            </a:r>
          </a:p>
          <a:p>
            <a:r>
              <a:rPr lang="en-IN" sz="1600" dirty="0"/>
              <a:t>        );</a:t>
            </a:r>
          </a:p>
          <a:p>
            <a:r>
              <a:rPr lang="en-IN" sz="1600" dirty="0"/>
              <a:t>    }</a:t>
            </a:r>
          </a:p>
          <a:p>
            <a:r>
              <a:rPr lang="en-IN" sz="1600" dirty="0"/>
              <a:t>}</a:t>
            </a:r>
          </a:p>
          <a:p>
            <a:endParaRPr lang="en-IN" sz="1600" dirty="0"/>
          </a:p>
          <a:p>
            <a:r>
              <a:rPr lang="en-IN" sz="1600" dirty="0" err="1"/>
              <a:t>ReactDOM.render</a:t>
            </a:r>
            <a:r>
              <a:rPr lang="en-IN" sz="1600" dirty="0"/>
              <a:t>(</a:t>
            </a:r>
          </a:p>
          <a:p>
            <a:r>
              <a:rPr lang="en-IN" sz="1600" dirty="0"/>
              <a:t>    &lt;</a:t>
            </a:r>
            <a:r>
              <a:rPr lang="en-IN" sz="1600" dirty="0" err="1"/>
              <a:t>IssueTable</a:t>
            </a:r>
            <a:r>
              <a:rPr lang="en-IN" sz="1600" dirty="0"/>
              <a:t> /&gt;,</a:t>
            </a:r>
          </a:p>
          <a:p>
            <a:r>
              <a:rPr lang="en-IN" sz="1600" dirty="0"/>
              <a:t>    </a:t>
            </a:r>
            <a:r>
              <a:rPr lang="en-IN" sz="1600" dirty="0" err="1"/>
              <a:t>document.getElementById</a:t>
            </a:r>
            <a:r>
              <a:rPr lang="en-IN" sz="1600" dirty="0"/>
              <a:t>("contents")</a:t>
            </a:r>
          </a:p>
          <a:p>
            <a:r>
              <a:rPr lang="en-IN" sz="1600" dirty="0"/>
              <a:t>);</a:t>
            </a:r>
            <a:endParaRPr lang="en-IN" dirty="0"/>
          </a:p>
        </p:txBody>
      </p:sp>
      <p:sp>
        <p:nvSpPr>
          <p:cNvPr id="4" name="Arrow: Right 3">
            <a:extLst>
              <a:ext uri="{FF2B5EF4-FFF2-40B4-BE49-F238E27FC236}">
                <a16:creationId xmlns:a16="http://schemas.microsoft.com/office/drawing/2014/main" id="{8D7D3A5A-714A-2EDF-B3A5-B614B1EB378A}"/>
              </a:ext>
            </a:extLst>
          </p:cNvPr>
          <p:cNvSpPr/>
          <p:nvPr/>
        </p:nvSpPr>
        <p:spPr>
          <a:xfrm>
            <a:off x="1191237" y="5494789"/>
            <a:ext cx="1216403" cy="2936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Right 5">
            <a:extLst>
              <a:ext uri="{FF2B5EF4-FFF2-40B4-BE49-F238E27FC236}">
                <a16:creationId xmlns:a16="http://schemas.microsoft.com/office/drawing/2014/main" id="{F432ACAD-1BC3-483A-801B-5F09BF1D0B99}"/>
              </a:ext>
            </a:extLst>
          </p:cNvPr>
          <p:cNvSpPr/>
          <p:nvPr/>
        </p:nvSpPr>
        <p:spPr>
          <a:xfrm>
            <a:off x="4380451" y="5469622"/>
            <a:ext cx="1216403" cy="2936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85674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F7AE0-8D38-68F5-EEA8-80068F4E7E4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149A090-AF5A-9918-0760-E9FB3A8B710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000" dirty="0"/>
              <a:t>Updating State</a:t>
            </a:r>
          </a:p>
          <a:p>
            <a:r>
              <a:rPr lang="en-IN" b="1" dirty="0"/>
              <a:t>1. Updating State</a:t>
            </a:r>
          </a:p>
          <a:p>
            <a:r>
              <a:rPr lang="en-IN" dirty="0"/>
              <a:t>In React, the state is initially assigned in the </a:t>
            </a:r>
            <a:r>
              <a:rPr lang="en-IN" b="1" dirty="0"/>
              <a:t>constructor</a:t>
            </a:r>
            <a:r>
              <a:rPr lang="en-IN" dirty="0"/>
              <a:t> and can later be changed using the </a:t>
            </a:r>
            <a:r>
              <a:rPr lang="en-IN" b="1" dirty="0" err="1"/>
              <a:t>this.setState</a:t>
            </a:r>
            <a:r>
              <a:rPr lang="en-IN" b="1" dirty="0"/>
              <a:t>()</a:t>
            </a:r>
            <a:r>
              <a:rPr lang="en-IN" dirty="0"/>
              <a:t> method. When only a part of the state needs to be changed, we should not directly modify the existing state variable.</a:t>
            </a:r>
          </a:p>
          <a:p>
            <a:r>
              <a:rPr lang="en-IN" b="1" dirty="0"/>
              <a:t>2. State Should Be Treated as Immutable</a:t>
            </a:r>
          </a:p>
          <a:p>
            <a:r>
              <a:rPr lang="en-IN" dirty="0"/>
              <a:t>The </a:t>
            </a:r>
            <a:r>
              <a:rPr lang="en-IN" dirty="0" err="1"/>
              <a:t>this.state</a:t>
            </a:r>
            <a:r>
              <a:rPr lang="en-IN" dirty="0"/>
              <a:t> object should always be treated as </a:t>
            </a:r>
            <a:r>
              <a:rPr lang="en-IN" b="1" dirty="0"/>
              <a:t>immutable</a:t>
            </a:r>
            <a:r>
              <a:rPr lang="en-IN" dirty="0"/>
              <a:t>. We should not directly modify the state or its contents.</a:t>
            </a:r>
          </a:p>
          <a:p>
            <a:r>
              <a:rPr lang="en-IN" dirty="0"/>
              <a:t>For example, the following is incorrect:</a:t>
            </a:r>
          </a:p>
          <a:p>
            <a:pPr lvl="1">
              <a:buFont typeface="Arial" panose="020B0604020202020204" pitchFamily="34" charset="0"/>
              <a:buChar char="•"/>
            </a:pPr>
            <a:r>
              <a:rPr lang="en-IN" sz="1600" dirty="0" err="1"/>
              <a:t>this.state.issues.push</a:t>
            </a:r>
            <a:r>
              <a:rPr lang="en-IN" sz="1600" dirty="0"/>
              <a:t>(issue);</a:t>
            </a:r>
          </a:p>
          <a:p>
            <a:pPr marL="0" indent="0">
              <a:buNone/>
            </a:pPr>
            <a:r>
              <a:rPr lang="en-IN" sz="1800" dirty="0"/>
              <a:t>  React may not detect this change because the state was modified directly without using </a:t>
            </a:r>
            <a:r>
              <a:rPr lang="en-IN" dirty="0" err="1"/>
              <a:t>setState</a:t>
            </a:r>
            <a:r>
              <a:rPr lang="en-IN" dirty="0"/>
              <a:t>()</a:t>
            </a:r>
            <a:r>
              <a:rPr lang="en-IN" sz="1800" dirty="0"/>
              <a:t>.</a:t>
            </a:r>
            <a:endParaRPr lang="en-US" sz="1800" dirty="0"/>
          </a:p>
        </p:txBody>
      </p:sp>
    </p:spTree>
    <p:extLst>
      <p:ext uri="{BB962C8B-B14F-4D97-AF65-F5344CB8AC3E}">
        <p14:creationId xmlns:p14="http://schemas.microsoft.com/office/powerpoint/2010/main" val="162870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D1F77-62E5-D290-73DF-9C5B8B8F1A7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AD52E82-7076-3586-AF51-8CEB3F13E65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000" b="1" dirty="0"/>
              <a:t>3. Why </a:t>
            </a:r>
            <a:r>
              <a:rPr lang="en-IN" b="1" dirty="0" err="1"/>
              <a:t>setState</a:t>
            </a:r>
            <a:r>
              <a:rPr lang="en-IN" b="1" dirty="0"/>
              <a:t>()</a:t>
            </a:r>
            <a:r>
              <a:rPr lang="en-IN" sz="2000" b="1" dirty="0"/>
              <a:t> Is Required</a:t>
            </a:r>
          </a:p>
          <a:p>
            <a:r>
              <a:rPr lang="en-IN" sz="2000" dirty="0"/>
              <a:t>The </a:t>
            </a:r>
            <a:r>
              <a:rPr lang="en-IN" dirty="0" err="1"/>
              <a:t>this.setState</a:t>
            </a:r>
            <a:r>
              <a:rPr lang="en-IN" dirty="0"/>
              <a:t>()</a:t>
            </a:r>
            <a:r>
              <a:rPr lang="en-IN" sz="2000" dirty="0"/>
              <a:t> method tells React that the state has changed. React can then compare the previous state with the new state and automatically </a:t>
            </a:r>
            <a:r>
              <a:rPr lang="en-IN" sz="2000" b="1" dirty="0"/>
              <a:t>re-render the component</a:t>
            </a:r>
            <a:r>
              <a:rPr lang="en-IN" sz="2000" dirty="0"/>
              <a:t> and update the required parts of the UI.</a:t>
            </a:r>
          </a:p>
          <a:p>
            <a:r>
              <a:rPr lang="en-IN" sz="2000" dirty="0"/>
              <a:t>Therefore, state changes should always be performed through:</a:t>
            </a:r>
          </a:p>
          <a:p>
            <a:pPr lvl="1"/>
            <a:r>
              <a:rPr lang="en-IN" sz="1800" dirty="0" err="1"/>
              <a:t>this.setState</a:t>
            </a:r>
            <a:r>
              <a:rPr lang="en-IN" sz="1800" dirty="0"/>
              <a:t>(...)</a:t>
            </a:r>
          </a:p>
          <a:p>
            <a:r>
              <a:rPr lang="en-IN" sz="1800" b="1" dirty="0"/>
              <a:t>4. Do Not Modify the Original Array</a:t>
            </a:r>
          </a:p>
          <a:p>
            <a:r>
              <a:rPr lang="en-IN" sz="1800" dirty="0"/>
              <a:t>Even the following approach should be avoided:</a:t>
            </a:r>
          </a:p>
          <a:p>
            <a:pPr marL="384048" lvl="2" indent="0">
              <a:spcBef>
                <a:spcPts val="0"/>
              </a:spcBef>
              <a:spcAft>
                <a:spcPts val="0"/>
              </a:spcAft>
              <a:buNone/>
            </a:pPr>
            <a:r>
              <a:rPr lang="en-US" sz="1800" dirty="0"/>
              <a:t>let issues = </a:t>
            </a:r>
            <a:r>
              <a:rPr lang="en-US" sz="1800" dirty="0" err="1"/>
              <a:t>this.state.issues</a:t>
            </a:r>
            <a:r>
              <a:rPr lang="en-US" sz="1800" dirty="0"/>
              <a:t>;</a:t>
            </a:r>
          </a:p>
          <a:p>
            <a:pPr marL="384048" lvl="2" indent="0">
              <a:spcBef>
                <a:spcPts val="0"/>
              </a:spcBef>
              <a:spcAft>
                <a:spcPts val="0"/>
              </a:spcAft>
              <a:buNone/>
            </a:pPr>
            <a:r>
              <a:rPr lang="en-US" sz="1800" dirty="0" err="1"/>
              <a:t>issues.push</a:t>
            </a:r>
            <a:r>
              <a:rPr lang="en-US" sz="1800" dirty="0"/>
              <a:t>(issue);</a:t>
            </a:r>
          </a:p>
          <a:p>
            <a:pPr marL="384048" lvl="2" indent="0">
              <a:spcBef>
                <a:spcPts val="0"/>
              </a:spcBef>
              <a:spcAft>
                <a:spcPts val="0"/>
              </a:spcAft>
              <a:buNone/>
            </a:pPr>
            <a:r>
              <a:rPr lang="en-US" sz="1800" dirty="0" err="1"/>
              <a:t>this.setState</a:t>
            </a:r>
            <a:r>
              <a:rPr lang="en-US" sz="1800" dirty="0"/>
              <a:t>({</a:t>
            </a:r>
          </a:p>
          <a:p>
            <a:pPr marL="384048" lvl="2" indent="0">
              <a:spcBef>
                <a:spcPts val="0"/>
              </a:spcBef>
              <a:spcAft>
                <a:spcPts val="0"/>
              </a:spcAft>
              <a:buNone/>
            </a:pPr>
            <a:r>
              <a:rPr lang="en-US" sz="1800" dirty="0"/>
              <a:t>    issues: issues</a:t>
            </a:r>
          </a:p>
          <a:p>
            <a:pPr marL="384048" lvl="2" indent="0">
              <a:spcBef>
                <a:spcPts val="0"/>
              </a:spcBef>
              <a:spcAft>
                <a:spcPts val="0"/>
              </a:spcAft>
              <a:buNone/>
            </a:pPr>
            <a:r>
              <a:rPr lang="en-US" sz="1800" dirty="0"/>
              <a:t>});</a:t>
            </a:r>
          </a:p>
          <a:p>
            <a:pPr>
              <a:spcBef>
                <a:spcPts val="0"/>
              </a:spcBef>
              <a:spcAft>
                <a:spcPts val="0"/>
              </a:spcAft>
            </a:pPr>
            <a:r>
              <a:rPr lang="en-IN" dirty="0"/>
              <a:t>Here, issues is still referring to the original state array. Therefore, the original state has been modified.</a:t>
            </a:r>
          </a:p>
          <a:p>
            <a:pPr>
              <a:spcBef>
                <a:spcPts val="0"/>
              </a:spcBef>
              <a:spcAft>
                <a:spcPts val="0"/>
              </a:spcAft>
            </a:pPr>
            <a:r>
              <a:rPr lang="en-IN" dirty="0"/>
              <a:t>Instead, we should first create a </a:t>
            </a:r>
            <a:r>
              <a:rPr lang="en-IN" b="1" dirty="0"/>
              <a:t>new copy of the array</a:t>
            </a:r>
            <a:r>
              <a:rPr lang="en-IN" dirty="0"/>
              <a:t>.</a:t>
            </a:r>
          </a:p>
          <a:p>
            <a:pPr marL="384048" lvl="2" indent="0">
              <a:spcBef>
                <a:spcPts val="0"/>
              </a:spcBef>
              <a:spcAft>
                <a:spcPts val="0"/>
              </a:spcAft>
              <a:buNone/>
            </a:pPr>
            <a:endParaRPr lang="en-US" sz="1800" dirty="0"/>
          </a:p>
          <a:p>
            <a:pPr marL="384048" lvl="2" indent="0">
              <a:spcBef>
                <a:spcPts val="0"/>
              </a:spcBef>
              <a:spcAft>
                <a:spcPts val="0"/>
              </a:spcAft>
              <a:buNone/>
            </a:pPr>
            <a:endParaRPr lang="en-US" sz="1800" dirty="0"/>
          </a:p>
        </p:txBody>
      </p:sp>
    </p:spTree>
    <p:extLst>
      <p:ext uri="{BB962C8B-B14F-4D97-AF65-F5344CB8AC3E}">
        <p14:creationId xmlns:p14="http://schemas.microsoft.com/office/powerpoint/2010/main" val="559488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FDD89-AF4D-E831-EEFC-785CA1E9034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076007A-FF54-B5AB-5FFA-059F6A5A321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000" b="1" dirty="0"/>
              <a:t>5. Creating a Copy Using </a:t>
            </a:r>
            <a:r>
              <a:rPr lang="en-IN" b="1" dirty="0"/>
              <a:t>slice()</a:t>
            </a:r>
            <a:endParaRPr lang="en-IN" sz="2000" b="1" dirty="0"/>
          </a:p>
          <a:p>
            <a:r>
              <a:rPr lang="en-IN" sz="2000" dirty="0"/>
              <a:t>The </a:t>
            </a:r>
            <a:r>
              <a:rPr lang="en-IN" dirty="0"/>
              <a:t>slice()</a:t>
            </a:r>
            <a:r>
              <a:rPr lang="en-IN" sz="2000" dirty="0"/>
              <a:t> method creates a shallow copy of the existing array:</a:t>
            </a:r>
          </a:p>
          <a:p>
            <a:pPr lvl="1">
              <a:buFont typeface="Arial" panose="020B0604020202020204" pitchFamily="34" charset="0"/>
              <a:buChar char="•"/>
            </a:pPr>
            <a:r>
              <a:rPr lang="en-IN" sz="1600" dirty="0" err="1"/>
              <a:t>const</a:t>
            </a:r>
            <a:r>
              <a:rPr lang="en-IN" sz="1600" dirty="0"/>
              <a:t> </a:t>
            </a:r>
            <a:r>
              <a:rPr lang="en-IN" sz="1600" dirty="0" err="1"/>
              <a:t>newIssueList</a:t>
            </a:r>
            <a:r>
              <a:rPr lang="en-IN" sz="1600" dirty="0"/>
              <a:t> = </a:t>
            </a:r>
            <a:r>
              <a:rPr lang="en-IN" sz="1600" dirty="0" err="1"/>
              <a:t>this.state.issues.slice</a:t>
            </a:r>
            <a:r>
              <a:rPr lang="en-IN" sz="1600" dirty="0"/>
              <a:t>();</a:t>
            </a:r>
          </a:p>
          <a:p>
            <a:pPr marL="0" indent="0">
              <a:buNone/>
            </a:pPr>
            <a:r>
              <a:rPr lang="en-IN" sz="1800" dirty="0"/>
              <a:t>  We can then add the new issue to this new array:</a:t>
            </a:r>
          </a:p>
          <a:p>
            <a:pPr lvl="1">
              <a:buFont typeface="Arial" panose="020B0604020202020204" pitchFamily="34" charset="0"/>
              <a:buChar char="•"/>
            </a:pPr>
            <a:r>
              <a:rPr lang="en-IN" sz="1600" dirty="0" err="1"/>
              <a:t>newIssueList.push</a:t>
            </a:r>
            <a:r>
              <a:rPr lang="en-IN" sz="1600" dirty="0"/>
              <a:t>(issue);</a:t>
            </a:r>
          </a:p>
          <a:p>
            <a:pPr marL="0" indent="0">
              <a:buNone/>
            </a:pPr>
            <a:r>
              <a:rPr lang="en-IN" sz="1800" dirty="0"/>
              <a:t>  Finally, update the state:</a:t>
            </a:r>
          </a:p>
          <a:p>
            <a:pPr lvl="1">
              <a:buFont typeface="Arial" panose="020B0604020202020204" pitchFamily="34" charset="0"/>
              <a:buChar char="•"/>
            </a:pPr>
            <a:r>
              <a:rPr lang="en-US" sz="1600" dirty="0" err="1"/>
              <a:t>this.setState</a:t>
            </a:r>
            <a:r>
              <a:rPr lang="en-US" sz="1600" dirty="0"/>
              <a:t>({</a:t>
            </a:r>
          </a:p>
          <a:p>
            <a:pPr lvl="1">
              <a:buFont typeface="Arial" panose="020B0604020202020204" pitchFamily="34" charset="0"/>
              <a:buChar char="•"/>
            </a:pPr>
            <a:r>
              <a:rPr lang="en-US" sz="1600" dirty="0"/>
              <a:t>    issues: </a:t>
            </a:r>
            <a:r>
              <a:rPr lang="en-US" sz="1600" dirty="0" err="1"/>
              <a:t>newIssueList</a:t>
            </a:r>
            <a:endParaRPr lang="en-US" sz="1600" dirty="0"/>
          </a:p>
          <a:p>
            <a:pPr lvl="1">
              <a:buFont typeface="Arial" panose="020B0604020202020204" pitchFamily="34" charset="0"/>
              <a:buChar char="•"/>
            </a:pPr>
            <a:r>
              <a:rPr lang="en-US" sz="1600" dirty="0"/>
              <a:t>});</a:t>
            </a:r>
          </a:p>
          <a:p>
            <a:pPr marL="0" indent="0">
              <a:buNone/>
            </a:pPr>
            <a:r>
              <a:rPr lang="en-IN" sz="1800" dirty="0"/>
              <a:t>  The original state array remains unchanged.</a:t>
            </a:r>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934584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316AD-A906-C472-8478-EB4AD9BD642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2F92D07-29F0-7929-6EEC-7B6F32B1938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000" b="1" dirty="0"/>
              <a:t>6. Creating a New Issue</a:t>
            </a:r>
          </a:p>
          <a:p>
            <a:r>
              <a:rPr lang="en-IN" sz="2000" dirty="0"/>
              <a:t>The </a:t>
            </a:r>
            <a:r>
              <a:rPr lang="en-IN" dirty="0" err="1"/>
              <a:t>createIssue</a:t>
            </a:r>
            <a:r>
              <a:rPr lang="en-IN" dirty="0"/>
              <a:t>()</a:t>
            </a:r>
            <a:r>
              <a:rPr lang="en-IN" sz="2000" dirty="0"/>
              <a:t> method receives an issue object as an argument. It assigns a new ID and creation date to the issue.</a:t>
            </a:r>
          </a:p>
          <a:p>
            <a:pPr lvl="1">
              <a:spcBef>
                <a:spcPts val="0"/>
              </a:spcBef>
              <a:spcAft>
                <a:spcPts val="0"/>
              </a:spcAft>
              <a:buFont typeface="Arial" panose="020B0604020202020204" pitchFamily="34" charset="0"/>
              <a:buChar char="•"/>
            </a:pPr>
            <a:r>
              <a:rPr lang="en-US" sz="1600" dirty="0" err="1"/>
              <a:t>createIssue</a:t>
            </a:r>
            <a:r>
              <a:rPr lang="en-US" sz="1600" dirty="0"/>
              <a:t>(issue) {</a:t>
            </a:r>
          </a:p>
          <a:p>
            <a:pPr lvl="1">
              <a:spcBef>
                <a:spcPts val="0"/>
              </a:spcBef>
              <a:spcAft>
                <a:spcPts val="0"/>
              </a:spcAft>
              <a:buFont typeface="Arial" panose="020B0604020202020204" pitchFamily="34" charset="0"/>
              <a:buChar char="•"/>
            </a:pPr>
            <a:r>
              <a:rPr lang="en-US" sz="1600" dirty="0"/>
              <a:t>    issue.id = </a:t>
            </a:r>
            <a:r>
              <a:rPr lang="en-US" sz="1600" dirty="0" err="1"/>
              <a:t>this.state.issues.length</a:t>
            </a:r>
            <a:r>
              <a:rPr lang="en-US" sz="1600" dirty="0"/>
              <a:t> + 1;</a:t>
            </a:r>
          </a:p>
          <a:p>
            <a:pPr lvl="1">
              <a:spcBef>
                <a:spcPts val="0"/>
              </a:spcBef>
              <a:spcAft>
                <a:spcPts val="0"/>
              </a:spcAft>
              <a:buFont typeface="Arial" panose="020B0604020202020204" pitchFamily="34" charset="0"/>
              <a:buChar char="•"/>
            </a:pPr>
            <a:r>
              <a:rPr lang="en-US" sz="1600" dirty="0"/>
              <a:t>    </a:t>
            </a:r>
            <a:r>
              <a:rPr lang="en-US" sz="1600" dirty="0" err="1"/>
              <a:t>issue.created</a:t>
            </a:r>
            <a:r>
              <a:rPr lang="en-US" sz="1600" dirty="0"/>
              <a:t> = new Date();</a:t>
            </a:r>
          </a:p>
          <a:p>
            <a:pPr lvl="1">
              <a:spcBef>
                <a:spcPts val="0"/>
              </a:spcBef>
              <a:spcAft>
                <a:spcPts val="0"/>
              </a:spcAft>
              <a:buFont typeface="Arial" panose="020B0604020202020204" pitchFamily="34" charset="0"/>
              <a:buChar char="•"/>
            </a:pPr>
            <a:endParaRPr lang="en-US" sz="1600" dirty="0"/>
          </a:p>
          <a:p>
            <a:pPr lvl="1">
              <a:spcBef>
                <a:spcPts val="0"/>
              </a:spcBef>
              <a:spcAft>
                <a:spcPts val="0"/>
              </a:spcAft>
              <a:buFont typeface="Arial" panose="020B0604020202020204" pitchFamily="34" charset="0"/>
              <a:buChar char="•"/>
            </a:pPr>
            <a:r>
              <a:rPr lang="en-US" sz="1600" dirty="0"/>
              <a:t>    const </a:t>
            </a:r>
            <a:r>
              <a:rPr lang="en-US" sz="1600" dirty="0" err="1"/>
              <a:t>newIssueList</a:t>
            </a:r>
            <a:r>
              <a:rPr lang="en-US" sz="1600" dirty="0"/>
              <a:t> = </a:t>
            </a:r>
            <a:r>
              <a:rPr lang="en-US" sz="1600" dirty="0" err="1"/>
              <a:t>this.state.issues.slice</a:t>
            </a:r>
            <a:r>
              <a:rPr lang="en-US" sz="1600" dirty="0"/>
              <a:t>();</a:t>
            </a:r>
          </a:p>
          <a:p>
            <a:pPr lvl="1">
              <a:spcBef>
                <a:spcPts val="0"/>
              </a:spcBef>
              <a:spcAft>
                <a:spcPts val="0"/>
              </a:spcAft>
              <a:buFont typeface="Arial" panose="020B0604020202020204" pitchFamily="34" charset="0"/>
              <a:buChar char="•"/>
            </a:pPr>
            <a:r>
              <a:rPr lang="en-US" sz="1600" dirty="0"/>
              <a:t>    </a:t>
            </a:r>
            <a:r>
              <a:rPr lang="en-US" sz="1600" dirty="0" err="1"/>
              <a:t>newIssueList.push</a:t>
            </a:r>
            <a:r>
              <a:rPr lang="en-US" sz="1600" dirty="0"/>
              <a:t>(issue);</a:t>
            </a:r>
          </a:p>
          <a:p>
            <a:pPr lvl="1">
              <a:spcBef>
                <a:spcPts val="0"/>
              </a:spcBef>
              <a:spcAft>
                <a:spcPts val="0"/>
              </a:spcAft>
              <a:buFont typeface="Arial" panose="020B0604020202020204" pitchFamily="34" charset="0"/>
              <a:buChar char="•"/>
            </a:pPr>
            <a:endParaRPr lang="en-US" sz="1600" dirty="0"/>
          </a:p>
          <a:p>
            <a:pPr lvl="1">
              <a:spcBef>
                <a:spcPts val="0"/>
              </a:spcBef>
              <a:spcAft>
                <a:spcPts val="0"/>
              </a:spcAft>
              <a:buFont typeface="Arial" panose="020B0604020202020204" pitchFamily="34" charset="0"/>
              <a:buChar char="•"/>
            </a:pPr>
            <a:r>
              <a:rPr lang="en-US" sz="1600" dirty="0"/>
              <a:t>    </a:t>
            </a:r>
            <a:r>
              <a:rPr lang="en-US" sz="1600" dirty="0" err="1"/>
              <a:t>this.setState</a:t>
            </a:r>
            <a:r>
              <a:rPr lang="en-US" sz="1600" dirty="0"/>
              <a:t>({</a:t>
            </a:r>
          </a:p>
          <a:p>
            <a:pPr lvl="1">
              <a:spcBef>
                <a:spcPts val="0"/>
              </a:spcBef>
              <a:spcAft>
                <a:spcPts val="0"/>
              </a:spcAft>
              <a:buFont typeface="Arial" panose="020B0604020202020204" pitchFamily="34" charset="0"/>
              <a:buChar char="•"/>
            </a:pPr>
            <a:r>
              <a:rPr lang="en-US" sz="1600" dirty="0"/>
              <a:t>        issues: </a:t>
            </a:r>
            <a:r>
              <a:rPr lang="en-US" sz="1600" dirty="0" err="1"/>
              <a:t>newIssueList</a:t>
            </a:r>
            <a:endParaRPr lang="en-US" sz="1600" dirty="0"/>
          </a:p>
          <a:p>
            <a:pPr lvl="1">
              <a:spcBef>
                <a:spcPts val="0"/>
              </a:spcBef>
              <a:spcAft>
                <a:spcPts val="0"/>
              </a:spcAft>
              <a:buFont typeface="Arial" panose="020B0604020202020204" pitchFamily="34" charset="0"/>
              <a:buChar char="•"/>
            </a:pPr>
            <a:r>
              <a:rPr lang="en-US" sz="1600" dirty="0"/>
              <a:t>    });</a:t>
            </a:r>
          </a:p>
          <a:p>
            <a:pPr lvl="1">
              <a:spcBef>
                <a:spcPts val="0"/>
              </a:spcBef>
              <a:spcAft>
                <a:spcPts val="0"/>
              </a:spcAft>
              <a:buFont typeface="Arial" panose="020B0604020202020204" pitchFamily="34" charset="0"/>
              <a:buChar char="•"/>
            </a:pPr>
            <a:r>
              <a:rPr lang="en-US" sz="1600" dirty="0"/>
              <a:t>}</a:t>
            </a:r>
          </a:p>
        </p:txBody>
      </p:sp>
    </p:spTree>
    <p:extLst>
      <p:ext uri="{BB962C8B-B14F-4D97-AF65-F5344CB8AC3E}">
        <p14:creationId xmlns:p14="http://schemas.microsoft.com/office/powerpoint/2010/main" val="2865359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9C823-CE0F-9444-7C45-0CA63087B10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669F9B2-49EC-C6A5-8C7B-52746B78C86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2000" b="1" dirty="0"/>
              <a:t>7. Using </a:t>
            </a:r>
            <a:r>
              <a:rPr lang="en-IN" b="1" dirty="0" err="1"/>
              <a:t>setTimeout</a:t>
            </a:r>
            <a:r>
              <a:rPr lang="en-IN" b="1" dirty="0"/>
              <a:t>()</a:t>
            </a:r>
            <a:r>
              <a:rPr lang="en-IN" sz="2000" b="1" dirty="0"/>
              <a:t> to Simulate Adding an Issue</a:t>
            </a:r>
          </a:p>
          <a:p>
            <a:r>
              <a:rPr lang="en-IN" sz="2000" dirty="0"/>
              <a:t>Instead of creating a user interface and event handling at this stage, the example uses </a:t>
            </a:r>
            <a:r>
              <a:rPr lang="en-IN" dirty="0" err="1"/>
              <a:t>setTimeout</a:t>
            </a:r>
            <a:r>
              <a:rPr lang="en-IN" dirty="0"/>
              <a:t>()</a:t>
            </a:r>
            <a:r>
              <a:rPr lang="en-IN" sz="2000" dirty="0"/>
              <a:t> to add a sample issue automatically after </a:t>
            </a:r>
            <a:r>
              <a:rPr lang="en-IN" sz="2000" b="1" dirty="0"/>
              <a:t>2 seconds</a:t>
            </a:r>
            <a:r>
              <a:rPr lang="en-IN" sz="2000" dirty="0"/>
              <a:t>.</a:t>
            </a:r>
          </a:p>
          <a:p>
            <a:pPr lvl="1">
              <a:buFont typeface="Arial" panose="020B0604020202020204" pitchFamily="34" charset="0"/>
              <a:buChar char="•"/>
            </a:pPr>
            <a:r>
              <a:rPr lang="en-US" sz="1600" dirty="0" err="1"/>
              <a:t>setTimeout</a:t>
            </a:r>
            <a:r>
              <a:rPr lang="en-US" sz="1600" dirty="0"/>
              <a:t>(() =&gt; {</a:t>
            </a:r>
          </a:p>
          <a:p>
            <a:pPr lvl="1">
              <a:buFont typeface="Arial" panose="020B0604020202020204" pitchFamily="34" charset="0"/>
              <a:buChar char="•"/>
            </a:pPr>
            <a:r>
              <a:rPr lang="en-US" sz="1600" dirty="0"/>
              <a:t>    </a:t>
            </a:r>
            <a:r>
              <a:rPr lang="en-US" sz="1600" dirty="0" err="1"/>
              <a:t>this.createIssue</a:t>
            </a:r>
            <a:r>
              <a:rPr lang="en-US" sz="1600" dirty="0"/>
              <a:t>(</a:t>
            </a:r>
            <a:r>
              <a:rPr lang="en-US" sz="1600" dirty="0" err="1"/>
              <a:t>sampleIssue</a:t>
            </a:r>
            <a:r>
              <a:rPr lang="en-US" sz="1600" dirty="0"/>
              <a:t>);</a:t>
            </a:r>
          </a:p>
          <a:p>
            <a:pPr lvl="1">
              <a:buFont typeface="Arial" panose="020B0604020202020204" pitchFamily="34" charset="0"/>
              <a:buChar char="•"/>
            </a:pPr>
            <a:r>
              <a:rPr lang="en-US" sz="1600" dirty="0"/>
              <a:t>}, 2000);</a:t>
            </a:r>
          </a:p>
          <a:p>
            <a:pPr lvl="1">
              <a:buFont typeface="Arial" panose="020B0604020202020204" pitchFamily="34" charset="0"/>
              <a:buChar char="•"/>
            </a:pPr>
            <a:endParaRPr lang="en-US" sz="1600" dirty="0"/>
          </a:p>
          <a:p>
            <a:pPr marL="0" indent="0">
              <a:buNone/>
            </a:pPr>
            <a:r>
              <a:rPr lang="en-IN" sz="1800" dirty="0"/>
              <a:t>  This simulates an event that causes the state to change.</a:t>
            </a:r>
          </a:p>
          <a:p>
            <a:r>
              <a:rPr lang="en-IN" sz="1800" b="1" dirty="0"/>
              <a:t>8. React Automatically Updates Child Components</a:t>
            </a:r>
          </a:p>
          <a:p>
            <a:r>
              <a:rPr lang="en-IN" sz="1800" dirty="0"/>
              <a:t>When </a:t>
            </a:r>
            <a:r>
              <a:rPr lang="en-IN" dirty="0" err="1"/>
              <a:t>IssueTable</a:t>
            </a:r>
            <a:r>
              <a:rPr lang="en-IN" sz="1800" dirty="0"/>
              <a:t> updates its state, React automatically passes the changed data to its child components such as </a:t>
            </a:r>
            <a:r>
              <a:rPr lang="en-IN" dirty="0" err="1"/>
              <a:t>IssueRow</a:t>
            </a:r>
            <a:r>
              <a:rPr lang="en-IN" sz="1800" dirty="0"/>
              <a:t>.</a:t>
            </a:r>
          </a:p>
          <a:p>
            <a:r>
              <a:rPr lang="en-IN" sz="1800" dirty="0"/>
              <a:t>We do </a:t>
            </a:r>
            <a:r>
              <a:rPr lang="en-IN" sz="1800" b="1" dirty="0"/>
              <a:t>not</a:t>
            </a:r>
            <a:r>
              <a:rPr lang="en-IN" sz="1800" dirty="0"/>
              <a:t> need to manually call </a:t>
            </a:r>
            <a:r>
              <a:rPr lang="en-IN" dirty="0" err="1"/>
              <a:t>setState</a:t>
            </a:r>
            <a:r>
              <a:rPr lang="en-IN" dirty="0"/>
              <a:t>()</a:t>
            </a:r>
            <a:r>
              <a:rPr lang="en-IN" sz="1800" dirty="0"/>
              <a:t> on the child component.</a:t>
            </a:r>
          </a:p>
          <a:p>
            <a:r>
              <a:rPr lang="en-IN" sz="1800" dirty="0"/>
              <a:t>React also calculates the difference between the old and new </a:t>
            </a:r>
            <a:r>
              <a:rPr lang="en-IN" sz="1800" b="1" dirty="0"/>
              <a:t>Virtual DOM</a:t>
            </a:r>
            <a:r>
              <a:rPr lang="en-IN" sz="1800" dirty="0"/>
              <a:t> and updates only the required part of the actual DOM.</a:t>
            </a:r>
          </a:p>
          <a:p>
            <a:pPr marL="0" indent="0">
              <a:buNone/>
            </a:pPr>
            <a:endParaRPr lang="en-US" sz="1800" dirty="0"/>
          </a:p>
        </p:txBody>
      </p:sp>
    </p:spTree>
    <p:extLst>
      <p:ext uri="{BB962C8B-B14F-4D97-AF65-F5344CB8AC3E}">
        <p14:creationId xmlns:p14="http://schemas.microsoft.com/office/powerpoint/2010/main" val="572310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14C9-9514-769D-F835-731CF45E4E4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C423783-660A-0A19-4DAB-829455B63BDA}"/>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000" dirty="0"/>
              <a:t>At this point, the hierarchy of the components and the data flow can be visually depicted, as shown in Figure</a:t>
            </a:r>
          </a:p>
          <a:p>
            <a:pPr>
              <a:buFont typeface="Arial" panose="020B0604020202020204" pitchFamily="34" charset="0"/>
              <a:buChar char="•"/>
            </a:pPr>
            <a:endParaRPr lang="en-US" sz="1800" dirty="0"/>
          </a:p>
        </p:txBody>
      </p:sp>
      <p:pic>
        <p:nvPicPr>
          <p:cNvPr id="3" name="Picture 2">
            <a:extLst>
              <a:ext uri="{FF2B5EF4-FFF2-40B4-BE49-F238E27FC236}">
                <a16:creationId xmlns:a16="http://schemas.microsoft.com/office/drawing/2014/main" id="{1F0DE0DF-0DBC-6393-BF26-260A5588E05B}"/>
              </a:ext>
            </a:extLst>
          </p:cNvPr>
          <p:cNvPicPr>
            <a:picLocks noChangeAspect="1"/>
          </p:cNvPicPr>
          <p:nvPr/>
        </p:nvPicPr>
        <p:blipFill>
          <a:blip r:embed="rId2"/>
          <a:stretch>
            <a:fillRect/>
          </a:stretch>
        </p:blipFill>
        <p:spPr>
          <a:xfrm>
            <a:off x="2902592" y="906090"/>
            <a:ext cx="4121594" cy="4579549"/>
          </a:xfrm>
          <a:prstGeom prst="rect">
            <a:avLst/>
          </a:prstGeom>
        </p:spPr>
      </p:pic>
    </p:spTree>
    <p:extLst>
      <p:ext uri="{BB962C8B-B14F-4D97-AF65-F5344CB8AC3E}">
        <p14:creationId xmlns:p14="http://schemas.microsoft.com/office/powerpoint/2010/main" val="3407705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EF732-7508-22D7-7CEB-1FCF8F63027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B23EBFB-A5C1-B6AC-736C-E868E14D815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Lifting State Up</a:t>
            </a:r>
          </a:p>
          <a:p>
            <a:pPr lvl="1">
              <a:buFont typeface="Arial" panose="020B0604020202020204" pitchFamily="34" charset="0"/>
              <a:buChar char="•"/>
            </a:pPr>
            <a:r>
              <a:rPr lang="en-IN" sz="1600" dirty="0"/>
              <a:t>explains </a:t>
            </a:r>
            <a:r>
              <a:rPr lang="en-IN" sz="1600" b="1" dirty="0"/>
              <a:t>how to pass a function from a parent component to a child component</a:t>
            </a:r>
            <a:r>
              <a:rPr lang="en-IN" sz="1600" dirty="0"/>
              <a:t>.</a:t>
            </a:r>
          </a:p>
          <a:p>
            <a:pPr lvl="1">
              <a:buFont typeface="Arial" panose="020B0604020202020204" pitchFamily="34" charset="0"/>
              <a:buChar char="•"/>
            </a:pPr>
            <a:endParaRPr lang="en-IN" sz="1600" dirty="0"/>
          </a:p>
          <a:p>
            <a:pPr>
              <a:buFont typeface="Arial" panose="020B0604020202020204" pitchFamily="34" charset="0"/>
              <a:buChar char="•"/>
            </a:pPr>
            <a:r>
              <a:rPr lang="en-IN" sz="1800" dirty="0"/>
              <a:t>What was the problem?</a:t>
            </a:r>
          </a:p>
          <a:p>
            <a:pPr lvl="1">
              <a:buFont typeface="Arial" panose="020B0604020202020204" pitchFamily="34" charset="0"/>
              <a:buChar char="•"/>
            </a:pPr>
            <a:r>
              <a:rPr lang="en-IN" sz="1600" dirty="0"/>
              <a:t>The application has three components:</a:t>
            </a:r>
          </a:p>
          <a:p>
            <a:pPr lvl="1">
              <a:buFont typeface="Arial" panose="020B0604020202020204" pitchFamily="34" charset="0"/>
              <a:buChar char="•"/>
            </a:pPr>
            <a:r>
              <a:rPr lang="en-IN" sz="1600" dirty="0" err="1">
                <a:solidFill>
                  <a:srgbClr val="FF0000"/>
                </a:solidFill>
              </a:rPr>
              <a:t>IssueList</a:t>
            </a:r>
            <a:r>
              <a:rPr lang="en-IN" sz="1600" dirty="0">
                <a:solidFill>
                  <a:srgbClr val="FF0000"/>
                </a:solidFill>
              </a:rPr>
              <a:t>   </a:t>
            </a:r>
          </a:p>
          <a:p>
            <a:pPr lvl="1">
              <a:buFont typeface="Arial" panose="020B0604020202020204" pitchFamily="34" charset="0"/>
              <a:buChar char="•"/>
            </a:pPr>
            <a:r>
              <a:rPr lang="en-IN" sz="1600" dirty="0">
                <a:solidFill>
                  <a:srgbClr val="FF0000"/>
                </a:solidFill>
              </a:rPr>
              <a:t>├── </a:t>
            </a:r>
            <a:r>
              <a:rPr lang="en-IN" sz="1600" dirty="0" err="1">
                <a:solidFill>
                  <a:srgbClr val="FF0000"/>
                </a:solidFill>
              </a:rPr>
              <a:t>IssueAdd</a:t>
            </a:r>
            <a:r>
              <a:rPr lang="en-IN" sz="1600" dirty="0">
                <a:solidFill>
                  <a:srgbClr val="FF0000"/>
                </a:solidFill>
              </a:rPr>
              <a:t>   </a:t>
            </a:r>
          </a:p>
          <a:p>
            <a:pPr lvl="1">
              <a:buFont typeface="Arial" panose="020B0604020202020204" pitchFamily="34" charset="0"/>
              <a:buChar char="•"/>
            </a:pPr>
            <a:r>
              <a:rPr lang="en-IN" sz="1600" dirty="0">
                <a:solidFill>
                  <a:srgbClr val="FF0000"/>
                </a:solidFill>
              </a:rPr>
              <a:t>└── </a:t>
            </a:r>
            <a:r>
              <a:rPr lang="en-IN" sz="1600" dirty="0" err="1">
                <a:solidFill>
                  <a:srgbClr val="FF0000"/>
                </a:solidFill>
              </a:rPr>
              <a:t>IssueTable</a:t>
            </a:r>
            <a:endParaRPr lang="en-IN" sz="1600" dirty="0">
              <a:solidFill>
                <a:srgbClr val="FF0000"/>
              </a:solidFill>
            </a:endParaRPr>
          </a:p>
          <a:p>
            <a:pPr lvl="1">
              <a:buFont typeface="Arial" panose="020B0604020202020204" pitchFamily="34" charset="0"/>
              <a:buChar char="•"/>
            </a:pPr>
            <a:endParaRPr lang="en-IN" sz="1600" dirty="0"/>
          </a:p>
          <a:p>
            <a:pPr lvl="1"/>
            <a:r>
              <a:rPr lang="en-IN" dirty="0"/>
              <a:t>Think of them like this:</a:t>
            </a:r>
          </a:p>
          <a:p>
            <a:pPr lvl="1"/>
            <a:r>
              <a:rPr lang="en-IN" b="1" dirty="0" err="1"/>
              <a:t>IssueList</a:t>
            </a:r>
            <a:r>
              <a:rPr lang="en-IN" dirty="0"/>
              <a:t> → Parent component </a:t>
            </a:r>
          </a:p>
          <a:p>
            <a:pPr lvl="1"/>
            <a:r>
              <a:rPr lang="en-IN" b="1" dirty="0" err="1"/>
              <a:t>IssueAdd</a:t>
            </a:r>
            <a:r>
              <a:rPr lang="en-IN" dirty="0"/>
              <a:t> → Child component for adding an issue </a:t>
            </a:r>
          </a:p>
          <a:p>
            <a:pPr lvl="1"/>
            <a:r>
              <a:rPr lang="en-IN" b="1" dirty="0" err="1"/>
              <a:t>IssueTable</a:t>
            </a:r>
            <a:r>
              <a:rPr lang="en-IN" dirty="0"/>
              <a:t> → Child component for displaying issues</a:t>
            </a:r>
          </a:p>
          <a:p>
            <a:pPr lvl="1">
              <a:buFont typeface="Arial" panose="020B0604020202020204" pitchFamily="34" charset="0"/>
              <a:buChar char="•"/>
            </a:pPr>
            <a:endParaRPr lang="en-IN" sz="1600" dirty="0"/>
          </a:p>
          <a:p>
            <a:pPr lvl="1"/>
            <a:r>
              <a:rPr lang="en-IN" dirty="0"/>
              <a:t>Initially, the issues data and the </a:t>
            </a:r>
            <a:r>
              <a:rPr lang="en-IN" dirty="0" err="1"/>
              <a:t>createIssue</a:t>
            </a:r>
            <a:r>
              <a:rPr lang="en-IN" dirty="0"/>
              <a:t>() method were inside </a:t>
            </a:r>
            <a:r>
              <a:rPr lang="en-IN" b="1" dirty="0" err="1"/>
              <a:t>IssueTable</a:t>
            </a:r>
            <a:r>
              <a:rPr lang="en-IN" dirty="0"/>
              <a:t>.</a:t>
            </a:r>
          </a:p>
          <a:p>
            <a:pPr lvl="1"/>
            <a:r>
              <a:rPr lang="en-IN" dirty="0"/>
              <a:t>But now we want the </a:t>
            </a:r>
            <a:r>
              <a:rPr lang="en-IN" b="1" dirty="0" err="1"/>
              <a:t>IssueAdd</a:t>
            </a:r>
            <a:r>
              <a:rPr lang="en-IN" b="1" dirty="0"/>
              <a:t> component</a:t>
            </a:r>
            <a:r>
              <a:rPr lang="en-IN" dirty="0"/>
              <a:t> to create a new issue.</a:t>
            </a:r>
          </a:p>
          <a:p>
            <a:pPr lvl="1">
              <a:buFont typeface="Arial" panose="020B0604020202020204" pitchFamily="34" charset="0"/>
              <a:buChar char="•"/>
            </a:pPr>
            <a:endParaRPr lang="en-IN" sz="1600" dirty="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3135606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6E3FC-48E0-AAC7-F945-9F8ED7E6F47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0C264C3-372E-141F-7E8C-9750F4DAE47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The problem is:</a:t>
            </a:r>
          </a:p>
          <a:p>
            <a:pPr lvl="1"/>
            <a:r>
              <a:rPr lang="en-IN" dirty="0" err="1"/>
              <a:t>IssueAdd</a:t>
            </a:r>
            <a:r>
              <a:rPr lang="en-IN" dirty="0"/>
              <a:t> and </a:t>
            </a:r>
            <a:r>
              <a:rPr lang="en-IN" dirty="0" err="1"/>
              <a:t>IssueTable</a:t>
            </a:r>
            <a:r>
              <a:rPr lang="en-IN" dirty="0"/>
              <a:t> are </a:t>
            </a:r>
            <a:r>
              <a:rPr lang="en-IN" b="1" dirty="0"/>
              <a:t>siblings</a:t>
            </a:r>
            <a:r>
              <a:rPr lang="en-IN" dirty="0"/>
              <a:t>.</a:t>
            </a:r>
          </a:p>
          <a:p>
            <a:pPr lvl="1"/>
            <a:r>
              <a:rPr lang="en-IN" dirty="0"/>
              <a:t>React does not normally allow one sibling to directly communicate with another sibling.</a:t>
            </a:r>
          </a:p>
          <a:p>
            <a:pPr lvl="1">
              <a:buFont typeface="Arial" panose="020B0604020202020204" pitchFamily="34" charset="0"/>
              <a:buChar char="•"/>
            </a:pPr>
            <a:endParaRPr lang="en-US" sz="1600" dirty="0"/>
          </a:p>
          <a:p>
            <a:pPr>
              <a:buFont typeface="Arial" panose="020B0604020202020204" pitchFamily="34" charset="0"/>
              <a:buChar char="•"/>
            </a:pPr>
            <a:r>
              <a:rPr lang="en-IN" sz="1800" dirty="0"/>
              <a:t>How do we solve this?</a:t>
            </a:r>
          </a:p>
          <a:p>
            <a:pPr lvl="1">
              <a:buFont typeface="Arial" panose="020B0604020202020204" pitchFamily="34" charset="0"/>
              <a:buChar char="•"/>
            </a:pPr>
            <a:r>
              <a:rPr lang="en-IN" sz="1600" dirty="0"/>
              <a:t>We move the state to their </a:t>
            </a:r>
            <a:r>
              <a:rPr lang="en-IN" sz="1600" b="1" dirty="0"/>
              <a:t>common parent</a:t>
            </a:r>
            <a:r>
              <a:rPr lang="en-IN" sz="1600" dirty="0"/>
              <a:t>.</a:t>
            </a:r>
          </a:p>
          <a:p>
            <a:pPr lvl="1">
              <a:buFont typeface="Arial" panose="020B0604020202020204" pitchFamily="34" charset="0"/>
              <a:buChar char="•"/>
            </a:pPr>
            <a:endParaRPr lang="en-IN" sz="1600" dirty="0"/>
          </a:p>
          <a:p>
            <a:pPr lvl="1">
              <a:buFont typeface="Arial" panose="020B0604020202020204" pitchFamily="34" charset="0"/>
              <a:buChar char="•"/>
            </a:pPr>
            <a:endParaRPr lang="en-IN" sz="1600" dirty="0"/>
          </a:p>
          <a:p>
            <a:pPr lvl="1">
              <a:buFont typeface="Arial" panose="020B0604020202020204" pitchFamily="34" charset="0"/>
              <a:buChar char="•"/>
            </a:pPr>
            <a:endParaRPr lang="en-IN" sz="1600" dirty="0"/>
          </a:p>
          <a:p>
            <a:pPr lvl="1">
              <a:buFont typeface="Arial" panose="020B0604020202020204" pitchFamily="34" charset="0"/>
              <a:buChar char="•"/>
            </a:pPr>
            <a:endParaRPr lang="en-IN" sz="1600" dirty="0"/>
          </a:p>
          <a:p>
            <a:pPr lvl="1">
              <a:buFont typeface="Arial" panose="020B0604020202020204" pitchFamily="34" charset="0"/>
              <a:buChar char="•"/>
            </a:pPr>
            <a:endParaRPr lang="en-IN" sz="1600" dirty="0"/>
          </a:p>
          <a:p>
            <a:pPr lvl="1">
              <a:buFont typeface="Arial" panose="020B0604020202020204" pitchFamily="34" charset="0"/>
              <a:buChar char="•"/>
            </a:pPr>
            <a:endParaRPr lang="en-IN" sz="1600" dirty="0"/>
          </a:p>
          <a:p>
            <a:pPr lvl="1">
              <a:buFont typeface="Arial" panose="020B0604020202020204" pitchFamily="34" charset="0"/>
              <a:buChar char="•"/>
            </a:pPr>
            <a:r>
              <a:rPr lang="en-IN" sz="1600" dirty="0"/>
              <a:t>Now </a:t>
            </a:r>
            <a:r>
              <a:rPr lang="en-IN" dirty="0" err="1"/>
              <a:t>IssueList</a:t>
            </a:r>
            <a:r>
              <a:rPr lang="en-IN" sz="1600" dirty="0"/>
              <a:t> owns the </a:t>
            </a:r>
            <a:r>
              <a:rPr lang="en-IN" dirty="0"/>
              <a:t>issues</a:t>
            </a:r>
            <a:r>
              <a:rPr lang="en-IN" sz="1600" dirty="0"/>
              <a:t> state.</a:t>
            </a:r>
          </a:p>
          <a:p>
            <a:pPr lvl="1">
              <a:buFont typeface="Arial" panose="020B0604020202020204" pitchFamily="34" charset="0"/>
              <a:buChar char="•"/>
            </a:pPr>
            <a:endParaRPr lang="en-IN" sz="1600" dirty="0"/>
          </a:p>
          <a:p>
            <a:pPr lvl="1"/>
            <a:r>
              <a:rPr lang="en-IN" dirty="0"/>
              <a:t>This is called: </a:t>
            </a:r>
            <a:r>
              <a:rPr lang="en-IN" b="1" dirty="0"/>
              <a:t>Lifting State Up</a:t>
            </a:r>
          </a:p>
          <a:p>
            <a:pPr lvl="1"/>
            <a:r>
              <a:rPr lang="en-IN" b="1" dirty="0"/>
              <a:t>Lifting state up means moving shared state from a child component to their common parent component.</a:t>
            </a:r>
            <a:endParaRPr lang="en-IN" dirty="0"/>
          </a:p>
          <a:p>
            <a:pPr lvl="1">
              <a:buFont typeface="Arial" panose="020B0604020202020204" pitchFamily="34" charset="0"/>
              <a:buChar char="•"/>
            </a:pPr>
            <a:endParaRPr lang="en-IN" sz="1600" dirty="0"/>
          </a:p>
          <a:p>
            <a:pPr lvl="1">
              <a:buFont typeface="Arial" panose="020B0604020202020204" pitchFamily="34" charset="0"/>
              <a:buChar char="•"/>
            </a:pPr>
            <a:endParaRPr lang="en-US" sz="1600" dirty="0"/>
          </a:p>
        </p:txBody>
      </p:sp>
      <p:pic>
        <p:nvPicPr>
          <p:cNvPr id="3" name="Picture 2">
            <a:extLst>
              <a:ext uri="{FF2B5EF4-FFF2-40B4-BE49-F238E27FC236}">
                <a16:creationId xmlns:a16="http://schemas.microsoft.com/office/drawing/2014/main" id="{0BF03F73-60A7-BC3F-C5CC-F136F9495CAF}"/>
              </a:ext>
            </a:extLst>
          </p:cNvPr>
          <p:cNvPicPr>
            <a:picLocks noChangeAspect="1"/>
          </p:cNvPicPr>
          <p:nvPr/>
        </p:nvPicPr>
        <p:blipFill>
          <a:blip r:embed="rId2"/>
          <a:stretch>
            <a:fillRect/>
          </a:stretch>
        </p:blipFill>
        <p:spPr>
          <a:xfrm>
            <a:off x="833107" y="2579233"/>
            <a:ext cx="2187130" cy="1531753"/>
          </a:xfrm>
          <a:prstGeom prst="rect">
            <a:avLst/>
          </a:prstGeom>
        </p:spPr>
      </p:pic>
      <p:pic>
        <p:nvPicPr>
          <p:cNvPr id="5" name="Picture 4">
            <a:extLst>
              <a:ext uri="{FF2B5EF4-FFF2-40B4-BE49-F238E27FC236}">
                <a16:creationId xmlns:a16="http://schemas.microsoft.com/office/drawing/2014/main" id="{84D27F59-326D-4831-8418-E3D4898D5058}"/>
              </a:ext>
            </a:extLst>
          </p:cNvPr>
          <p:cNvPicPr>
            <a:picLocks noChangeAspect="1"/>
          </p:cNvPicPr>
          <p:nvPr/>
        </p:nvPicPr>
        <p:blipFill>
          <a:blip r:embed="rId3"/>
          <a:stretch>
            <a:fillRect/>
          </a:stretch>
        </p:blipFill>
        <p:spPr>
          <a:xfrm>
            <a:off x="3671016" y="2579233"/>
            <a:ext cx="2568163" cy="1531753"/>
          </a:xfrm>
          <a:prstGeom prst="rect">
            <a:avLst/>
          </a:prstGeom>
        </p:spPr>
      </p:pic>
    </p:spTree>
    <p:extLst>
      <p:ext uri="{BB962C8B-B14F-4D97-AF65-F5344CB8AC3E}">
        <p14:creationId xmlns:p14="http://schemas.microsoft.com/office/powerpoint/2010/main" val="2155754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662AB-21A8-15CF-39FF-3621E24E0598}"/>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8010ABC-1F01-B762-0237-39387213F44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Why move the state to </a:t>
            </a:r>
            <a:r>
              <a:rPr lang="en-IN" sz="1800" dirty="0" err="1"/>
              <a:t>IssueList</a:t>
            </a:r>
            <a:r>
              <a:rPr lang="en-IN" sz="1800" dirty="0"/>
              <a:t>?</a:t>
            </a:r>
          </a:p>
          <a:p>
            <a:pPr lvl="1">
              <a:buFont typeface="Arial" panose="020B0604020202020204" pitchFamily="34" charset="0"/>
              <a:buChar char="•"/>
            </a:pPr>
            <a:r>
              <a:rPr lang="en-IN" sz="1600" dirty="0"/>
              <a:t>Because both components need the issue information:</a:t>
            </a:r>
          </a:p>
          <a:p>
            <a:pPr lvl="1">
              <a:buFont typeface="Arial" panose="020B0604020202020204" pitchFamily="34" charset="0"/>
              <a:buChar char="•"/>
            </a:pPr>
            <a:endParaRPr lang="en-IN" sz="1600" dirty="0"/>
          </a:p>
          <a:p>
            <a:pPr lvl="1">
              <a:buFont typeface="Arial" panose="020B0604020202020204" pitchFamily="34" charset="0"/>
              <a:buChar char="•"/>
            </a:pPr>
            <a:endParaRPr lang="en-IN" sz="1600" dirty="0"/>
          </a:p>
          <a:p>
            <a:pPr lvl="1">
              <a:buFont typeface="Arial" panose="020B0604020202020204" pitchFamily="34" charset="0"/>
              <a:buChar char="•"/>
            </a:pPr>
            <a:endParaRPr lang="en-IN" sz="1600" dirty="0"/>
          </a:p>
          <a:p>
            <a:pPr lvl="1">
              <a:buFont typeface="Arial" panose="020B0604020202020204" pitchFamily="34" charset="0"/>
              <a:buChar char="•"/>
            </a:pPr>
            <a:endParaRPr lang="en-IN" sz="1600" dirty="0"/>
          </a:p>
          <a:p>
            <a:pPr lvl="1"/>
            <a:r>
              <a:rPr lang="en-IN" dirty="0" err="1"/>
              <a:t>IssueAdd</a:t>
            </a:r>
            <a:r>
              <a:rPr lang="en-IN" dirty="0"/>
              <a:t> needs to </a:t>
            </a:r>
            <a:r>
              <a:rPr lang="en-IN" b="1" dirty="0"/>
              <a:t>create</a:t>
            </a:r>
            <a:r>
              <a:rPr lang="en-IN" dirty="0"/>
              <a:t> an issue.</a:t>
            </a:r>
          </a:p>
          <a:p>
            <a:pPr lvl="1"/>
            <a:r>
              <a:rPr lang="en-IN" dirty="0" err="1"/>
              <a:t>IssueTable</a:t>
            </a:r>
            <a:r>
              <a:rPr lang="en-IN" dirty="0"/>
              <a:t> needs to </a:t>
            </a:r>
            <a:r>
              <a:rPr lang="en-IN" b="1" dirty="0"/>
              <a:t>display</a:t>
            </a:r>
            <a:r>
              <a:rPr lang="en-IN" dirty="0"/>
              <a:t> the issues.</a:t>
            </a:r>
          </a:p>
          <a:p>
            <a:pPr lvl="1"/>
            <a:r>
              <a:rPr lang="en-IN" dirty="0"/>
              <a:t>Therefore, </a:t>
            </a:r>
            <a:r>
              <a:rPr lang="en-IN" dirty="0" err="1"/>
              <a:t>IssueList</a:t>
            </a:r>
            <a:r>
              <a:rPr lang="en-IN" dirty="0"/>
              <a:t> becomes the central place that manages the issue data.</a:t>
            </a:r>
          </a:p>
          <a:p>
            <a:pPr lvl="1">
              <a:buFont typeface="Arial" panose="020B0604020202020204" pitchFamily="34" charset="0"/>
              <a:buChar char="•"/>
            </a:pPr>
            <a:endParaRPr lang="en-US" sz="1600" dirty="0"/>
          </a:p>
        </p:txBody>
      </p:sp>
      <p:pic>
        <p:nvPicPr>
          <p:cNvPr id="3" name="Picture 2">
            <a:extLst>
              <a:ext uri="{FF2B5EF4-FFF2-40B4-BE49-F238E27FC236}">
                <a16:creationId xmlns:a16="http://schemas.microsoft.com/office/drawing/2014/main" id="{4CA93506-87CA-3F6A-AD43-DFFD9B017905}"/>
              </a:ext>
            </a:extLst>
          </p:cNvPr>
          <p:cNvPicPr>
            <a:picLocks noChangeAspect="1"/>
          </p:cNvPicPr>
          <p:nvPr/>
        </p:nvPicPr>
        <p:blipFill>
          <a:blip r:embed="rId2"/>
          <a:stretch>
            <a:fillRect/>
          </a:stretch>
        </p:blipFill>
        <p:spPr>
          <a:xfrm>
            <a:off x="1001593" y="1069059"/>
            <a:ext cx="2034716" cy="1112616"/>
          </a:xfrm>
          <a:prstGeom prst="rect">
            <a:avLst/>
          </a:prstGeom>
        </p:spPr>
      </p:pic>
    </p:spTree>
    <p:extLst>
      <p:ext uri="{BB962C8B-B14F-4D97-AF65-F5344CB8AC3E}">
        <p14:creationId xmlns:p14="http://schemas.microsoft.com/office/powerpoint/2010/main" val="9065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7502C-CD72-D029-CD71-E2A8203F778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DDC9C13A-2D74-A1A5-142C-8333BADC77C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r>
              <a:rPr lang="en-IN" sz="1600" b="1" dirty="0"/>
              <a:t>Problem:</a:t>
            </a:r>
            <a:br>
              <a:rPr lang="en-IN" sz="1600" dirty="0"/>
            </a:br>
            <a:r>
              <a:rPr lang="en-IN" dirty="0" err="1">
                <a:solidFill>
                  <a:srgbClr val="FF0000"/>
                </a:solidFill>
              </a:rPr>
              <a:t>IssueAdd</a:t>
            </a:r>
            <a:r>
              <a:rPr lang="en-IN" sz="1600" dirty="0"/>
              <a:t> and </a:t>
            </a:r>
            <a:r>
              <a:rPr lang="en-IN" dirty="0" err="1">
                <a:solidFill>
                  <a:srgbClr val="FF0000"/>
                </a:solidFill>
              </a:rPr>
              <a:t>IssueTable</a:t>
            </a:r>
            <a:r>
              <a:rPr lang="en-IN" sz="1600" dirty="0"/>
              <a:t> are sibling components. </a:t>
            </a:r>
            <a:r>
              <a:rPr lang="en-IN" dirty="0" err="1">
                <a:solidFill>
                  <a:srgbClr val="0070C0"/>
                </a:solidFill>
              </a:rPr>
              <a:t>IssueAdd</a:t>
            </a:r>
            <a:r>
              <a:rPr lang="en-IN" sz="1600" dirty="0"/>
              <a:t> needs to add a new issue, while </a:t>
            </a:r>
            <a:r>
              <a:rPr lang="en-IN" dirty="0" err="1">
                <a:solidFill>
                  <a:srgbClr val="0070C0"/>
                </a:solidFill>
              </a:rPr>
              <a:t>IssueTable</a:t>
            </a:r>
            <a:r>
              <a:rPr lang="en-IN" sz="1600" dirty="0"/>
              <a:t> needs to display the issues.</a:t>
            </a:r>
          </a:p>
          <a:p>
            <a:pPr lvl="1"/>
            <a:r>
              <a:rPr lang="en-IN" sz="1600" dirty="0"/>
              <a:t>Since sibling components do not directly share state, we move the common state to their </a:t>
            </a:r>
            <a:r>
              <a:rPr lang="en-IN" sz="1600" b="1" dirty="0"/>
              <a:t>parent component, </a:t>
            </a:r>
            <a:r>
              <a:rPr lang="en-IN" b="1" dirty="0" err="1">
                <a:solidFill>
                  <a:srgbClr val="FF0000"/>
                </a:solidFill>
              </a:rPr>
              <a:t>IssueList</a:t>
            </a:r>
            <a:r>
              <a:rPr lang="en-IN" sz="1600" dirty="0"/>
              <a:t>.</a:t>
            </a:r>
          </a:p>
          <a:p>
            <a:pPr lvl="1"/>
            <a:endParaRPr lang="en-IN" sz="1600" dirty="0"/>
          </a:p>
          <a:p>
            <a:pPr lvl="1">
              <a:buNone/>
            </a:pPr>
            <a:r>
              <a:rPr lang="en-IN" sz="1800" b="1" dirty="0"/>
              <a:t>1. Move State to the Parent</a:t>
            </a:r>
          </a:p>
          <a:p>
            <a:pPr lvl="2">
              <a:buNone/>
            </a:pPr>
            <a:r>
              <a:rPr lang="en-IN" sz="1800" dirty="0"/>
              <a:t>Instead of keeping </a:t>
            </a:r>
            <a:r>
              <a:rPr lang="en-IN" sz="1800" dirty="0">
                <a:latin typeface="Courier New" panose="02070309020205020404" pitchFamily="49" charset="0"/>
              </a:rPr>
              <a:t>issues</a:t>
            </a:r>
            <a:r>
              <a:rPr lang="en-IN" sz="1800" dirty="0"/>
              <a:t> inside </a:t>
            </a:r>
            <a:r>
              <a:rPr lang="en-IN" sz="1800" dirty="0" err="1">
                <a:latin typeface="Courier New" panose="02070309020205020404" pitchFamily="49" charset="0"/>
              </a:rPr>
              <a:t>IssueTable</a:t>
            </a:r>
            <a:r>
              <a:rPr lang="en-IN" sz="1800" dirty="0"/>
              <a:t>, keep it inside </a:t>
            </a:r>
            <a:r>
              <a:rPr lang="en-IN" sz="1800" dirty="0" err="1">
                <a:latin typeface="Courier New" panose="02070309020205020404" pitchFamily="49" charset="0"/>
              </a:rPr>
              <a:t>IssueList</a:t>
            </a:r>
            <a:r>
              <a:rPr lang="en-IN" sz="1800" dirty="0"/>
              <a:t>.</a:t>
            </a:r>
          </a:p>
          <a:p>
            <a:pPr lvl="2">
              <a:buNone/>
            </a:pPr>
            <a:r>
              <a:rPr lang="en-IN" sz="1800" dirty="0">
                <a:latin typeface="Courier New" panose="02070309020205020404" pitchFamily="49" charset="0"/>
              </a:rPr>
              <a:t>class </a:t>
            </a:r>
            <a:r>
              <a:rPr lang="en-IN" sz="1800" dirty="0" err="1">
                <a:latin typeface="Courier New" panose="02070309020205020404" pitchFamily="49" charset="0"/>
              </a:rPr>
              <a:t>IssueList</a:t>
            </a:r>
            <a:r>
              <a:rPr lang="en-IN" sz="1800" dirty="0">
                <a:latin typeface="Courier New" panose="02070309020205020404" pitchFamily="49" charset="0"/>
              </a:rPr>
              <a:t> extends </a:t>
            </a:r>
            <a:r>
              <a:rPr lang="en-IN" sz="1800" dirty="0" err="1">
                <a:latin typeface="Courier New" panose="02070309020205020404" pitchFamily="49" charset="0"/>
              </a:rPr>
              <a:t>React.Component</a:t>
            </a:r>
            <a:r>
              <a:rPr lang="en-IN" sz="1800" dirty="0">
                <a:latin typeface="Courier New" panose="02070309020205020404" pitchFamily="49" charset="0"/>
              </a:rPr>
              <a:t> {</a:t>
            </a:r>
          </a:p>
          <a:p>
            <a:pPr lvl="2">
              <a:buNone/>
            </a:pPr>
            <a:r>
              <a:rPr lang="en-IN" sz="1800" dirty="0">
                <a:latin typeface="Courier New" panose="02070309020205020404" pitchFamily="49" charset="0"/>
              </a:rPr>
              <a:t>  constructor() {</a:t>
            </a:r>
          </a:p>
          <a:p>
            <a:pPr lvl="2">
              <a:buNone/>
            </a:pPr>
            <a:r>
              <a:rPr lang="en-IN" sz="1800" dirty="0">
                <a:latin typeface="Courier New" panose="02070309020205020404" pitchFamily="49" charset="0"/>
              </a:rPr>
              <a:t>    super();</a:t>
            </a:r>
          </a:p>
          <a:p>
            <a:pPr lvl="2">
              <a:buNone/>
            </a:pPr>
            <a:r>
              <a:rPr lang="en-IN" sz="1800" dirty="0">
                <a:latin typeface="Courier New" panose="02070309020205020404" pitchFamily="49" charset="0"/>
              </a:rPr>
              <a:t>    </a:t>
            </a:r>
            <a:r>
              <a:rPr lang="en-IN" sz="1800" dirty="0" err="1">
                <a:latin typeface="Courier New" panose="02070309020205020404" pitchFamily="49" charset="0"/>
              </a:rPr>
              <a:t>this.state</a:t>
            </a:r>
            <a:r>
              <a:rPr lang="en-IN" sz="1800" dirty="0">
                <a:latin typeface="Courier New" panose="02070309020205020404" pitchFamily="49" charset="0"/>
              </a:rPr>
              <a:t> = {</a:t>
            </a:r>
          </a:p>
          <a:p>
            <a:pPr lvl="2">
              <a:buNone/>
            </a:pPr>
            <a:r>
              <a:rPr lang="en-IN" sz="1800" dirty="0">
                <a:latin typeface="Courier New" panose="02070309020205020404" pitchFamily="49" charset="0"/>
              </a:rPr>
              <a:t>      issues: []</a:t>
            </a:r>
          </a:p>
          <a:p>
            <a:pPr lvl="2">
              <a:buNone/>
            </a:pPr>
            <a:r>
              <a:rPr lang="en-IN" sz="1800" dirty="0">
                <a:latin typeface="Courier New" panose="02070309020205020404" pitchFamily="49" charset="0"/>
              </a:rPr>
              <a:t>    };</a:t>
            </a:r>
          </a:p>
          <a:p>
            <a:pPr lvl="2">
              <a:buNone/>
            </a:pPr>
            <a:r>
              <a:rPr lang="en-IN" sz="1800" dirty="0">
                <a:latin typeface="Courier New" panose="02070309020205020404" pitchFamily="49" charset="0"/>
              </a:rPr>
              <a:t>  }</a:t>
            </a:r>
          </a:p>
          <a:p>
            <a:pPr lvl="2">
              <a:buNone/>
            </a:pPr>
            <a:r>
              <a:rPr lang="en-IN" sz="1800" dirty="0">
                <a:latin typeface="Courier New" panose="02070309020205020404" pitchFamily="49" charset="0"/>
              </a:rPr>
              <a:t>}</a:t>
            </a:r>
          </a:p>
          <a:p>
            <a:pPr lvl="1">
              <a:buNone/>
            </a:pPr>
            <a:endParaRPr lang="en-IN" sz="1800" dirty="0">
              <a:latin typeface="Courier New" panose="02070309020205020404" pitchFamily="49" charset="0"/>
            </a:endParaRPr>
          </a:p>
          <a:p>
            <a:pPr lvl="1">
              <a:buNone/>
            </a:pPr>
            <a:r>
              <a:rPr lang="en-IN" sz="1800" dirty="0"/>
              <a:t>Now, </a:t>
            </a:r>
            <a:r>
              <a:rPr lang="en-IN" dirty="0" err="1"/>
              <a:t>IssueList</a:t>
            </a:r>
            <a:r>
              <a:rPr lang="en-IN" sz="1800" dirty="0"/>
              <a:t> becomes the </a:t>
            </a:r>
            <a:r>
              <a:rPr lang="en-IN" sz="1800" b="1" dirty="0"/>
              <a:t>owner of the issues data</a:t>
            </a:r>
            <a:r>
              <a:rPr lang="en-IN" sz="1800" dirty="0"/>
              <a:t>.</a:t>
            </a:r>
            <a:endParaRPr lang="en-IN" sz="1800" dirty="0">
              <a:latin typeface="Courier New" panose="02070309020205020404" pitchFamily="49" charset="0"/>
            </a:endParaRPr>
          </a:p>
          <a:p>
            <a:pPr lvl="1"/>
            <a:endParaRPr lang="en-IN" sz="1600" dirty="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2002901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C0BF2-679E-B216-E78B-A5B290B6F25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1DB135C-2DE3-C642-B9EA-3156896FB08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None/>
            </a:pPr>
            <a:r>
              <a:rPr lang="en-IN" sz="1600" b="1" dirty="0"/>
              <a:t>2. Pass Data to </a:t>
            </a:r>
            <a:r>
              <a:rPr lang="en-IN" sz="1600" b="1" dirty="0" err="1"/>
              <a:t>IssueTable</a:t>
            </a:r>
            <a:endParaRPr lang="en-IN" sz="1600" b="1" dirty="0"/>
          </a:p>
          <a:p>
            <a:pPr>
              <a:buNone/>
            </a:pPr>
            <a:r>
              <a:rPr lang="en-IN" sz="1600" dirty="0" err="1">
                <a:latin typeface="Courier New" panose="02070309020205020404" pitchFamily="49" charset="0"/>
              </a:rPr>
              <a:t>IssueList</a:t>
            </a:r>
            <a:r>
              <a:rPr lang="en-IN" sz="1600" dirty="0"/>
              <a:t> sends the issues to </a:t>
            </a:r>
            <a:r>
              <a:rPr lang="en-IN" sz="1600" dirty="0" err="1">
                <a:latin typeface="Courier New" panose="02070309020205020404" pitchFamily="49" charset="0"/>
              </a:rPr>
              <a:t>IssueTable</a:t>
            </a:r>
            <a:r>
              <a:rPr lang="en-IN" sz="1600" dirty="0"/>
              <a:t> using </a:t>
            </a:r>
            <a:r>
              <a:rPr lang="en-IN" sz="1600" b="1" dirty="0"/>
              <a:t>props</a:t>
            </a:r>
            <a:r>
              <a:rPr lang="en-IN" sz="1600" dirty="0"/>
              <a:t>.</a:t>
            </a:r>
          </a:p>
          <a:p>
            <a:pPr rtl="0">
              <a:buNone/>
            </a:pPr>
            <a:r>
              <a:rPr lang="en-IN" sz="1600" dirty="0">
                <a:latin typeface="Courier New" panose="02070309020205020404" pitchFamily="49" charset="0"/>
              </a:rPr>
              <a:t>		&lt;</a:t>
            </a:r>
            <a:r>
              <a:rPr lang="en-IN" sz="1600" dirty="0" err="1">
                <a:latin typeface="Courier New" panose="02070309020205020404" pitchFamily="49" charset="0"/>
              </a:rPr>
              <a:t>IssueTable</a:t>
            </a:r>
            <a:r>
              <a:rPr lang="en-IN" sz="1600" dirty="0">
                <a:latin typeface="Courier New" panose="02070309020205020404" pitchFamily="49" charset="0"/>
              </a:rPr>
              <a:t> issues={</a:t>
            </a:r>
            <a:r>
              <a:rPr lang="en-IN" sz="1600" dirty="0" err="1">
                <a:latin typeface="Courier New" panose="02070309020205020404" pitchFamily="49" charset="0"/>
              </a:rPr>
              <a:t>this.state.issues</a:t>
            </a:r>
            <a:r>
              <a:rPr lang="en-IN" sz="1600" dirty="0">
                <a:latin typeface="Courier New" panose="02070309020205020404" pitchFamily="49" charset="0"/>
              </a:rPr>
              <a:t>} /&gt;</a:t>
            </a:r>
          </a:p>
          <a:p>
            <a:pPr>
              <a:buNone/>
            </a:pPr>
            <a:r>
              <a:rPr lang="en-IN" sz="1600" dirty="0"/>
              <a:t>Inside </a:t>
            </a:r>
            <a:r>
              <a:rPr lang="en-IN" sz="1600" dirty="0" err="1">
                <a:latin typeface="Courier New" panose="02070309020205020404" pitchFamily="49" charset="0"/>
              </a:rPr>
              <a:t>IssueTable</a:t>
            </a:r>
            <a:r>
              <a:rPr lang="en-IN" sz="1600" dirty="0"/>
              <a:t>:</a:t>
            </a:r>
          </a:p>
          <a:p>
            <a:pPr rtl="0">
              <a:buNone/>
            </a:pPr>
            <a:r>
              <a:rPr lang="en-IN" sz="1600" dirty="0">
                <a:latin typeface="Courier New" panose="02070309020205020404" pitchFamily="49" charset="0"/>
              </a:rPr>
              <a:t>		</a:t>
            </a:r>
            <a:r>
              <a:rPr lang="en-IN" sz="1600" dirty="0" err="1">
                <a:latin typeface="Courier New" panose="02070309020205020404" pitchFamily="49" charset="0"/>
              </a:rPr>
              <a:t>const</a:t>
            </a:r>
            <a:r>
              <a:rPr lang="en-IN" sz="1600" dirty="0">
                <a:latin typeface="Courier New" panose="02070309020205020404" pitchFamily="49" charset="0"/>
              </a:rPr>
              <a:t> </a:t>
            </a:r>
            <a:r>
              <a:rPr lang="en-IN" sz="1600" dirty="0" err="1">
                <a:latin typeface="Courier New" panose="02070309020205020404" pitchFamily="49" charset="0"/>
              </a:rPr>
              <a:t>issueRows</a:t>
            </a:r>
            <a:r>
              <a:rPr lang="en-IN" sz="1600" dirty="0">
                <a:latin typeface="Courier New" panose="02070309020205020404" pitchFamily="49" charset="0"/>
              </a:rPr>
              <a:t> = </a:t>
            </a:r>
            <a:r>
              <a:rPr lang="en-IN" sz="1600" dirty="0" err="1">
                <a:latin typeface="Courier New" panose="02070309020205020404" pitchFamily="49" charset="0"/>
              </a:rPr>
              <a:t>this.props.issues.map</a:t>
            </a:r>
            <a:r>
              <a:rPr lang="en-IN" sz="1600" dirty="0">
                <a:latin typeface="Courier New" panose="02070309020205020404" pitchFamily="49" charset="0"/>
              </a:rPr>
              <a:t>(issue =&gt;</a:t>
            </a:r>
          </a:p>
          <a:p>
            <a:pPr rtl="0">
              <a:buNone/>
            </a:pPr>
            <a:r>
              <a:rPr lang="en-IN" sz="1600" dirty="0">
                <a:latin typeface="Courier New" panose="02070309020205020404" pitchFamily="49" charset="0"/>
              </a:rPr>
              <a:t>  	&lt;</a:t>
            </a:r>
            <a:r>
              <a:rPr lang="en-IN" sz="1600" dirty="0" err="1">
                <a:latin typeface="Courier New" panose="02070309020205020404" pitchFamily="49" charset="0"/>
              </a:rPr>
              <a:t>IssueRow</a:t>
            </a:r>
            <a:r>
              <a:rPr lang="en-IN" sz="1600" dirty="0">
                <a:latin typeface="Courier New" panose="02070309020205020404" pitchFamily="49" charset="0"/>
              </a:rPr>
              <a:t> key={issue.id} issue={issue} /&gt;</a:t>
            </a:r>
          </a:p>
          <a:p>
            <a:pPr rtl="0">
              <a:buNone/>
            </a:pPr>
            <a:r>
              <a:rPr lang="en-IN" sz="1600" dirty="0">
                <a:latin typeface="Courier New" panose="02070309020205020404" pitchFamily="49" charset="0"/>
              </a:rPr>
              <a:t>		);</a:t>
            </a:r>
          </a:p>
          <a:p>
            <a:pPr>
              <a:buNone/>
            </a:pPr>
            <a:r>
              <a:rPr lang="en-IN" sz="1600" dirty="0"/>
              <a:t>So the data flows:</a:t>
            </a:r>
          </a:p>
          <a:p>
            <a:pPr>
              <a:buNone/>
            </a:pPr>
            <a:r>
              <a:rPr lang="en-IN" sz="1600" b="1" dirty="0" err="1"/>
              <a:t>IssueList</a:t>
            </a:r>
            <a:r>
              <a:rPr lang="en-IN" sz="1600" b="1" dirty="0"/>
              <a:t> → </a:t>
            </a:r>
            <a:r>
              <a:rPr lang="en-IN" sz="1600" b="1" dirty="0" err="1"/>
              <a:t>IssueTable</a:t>
            </a:r>
            <a:endParaRPr lang="en-IN" sz="1600" dirty="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964279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9A531-57E1-D0B9-6819-F10860ABF2F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145D6F0-164D-C1BC-0849-26CDFAE17F5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None/>
            </a:pPr>
            <a:r>
              <a:rPr lang="en-IN" sz="1600" b="1" dirty="0"/>
              <a:t>3. Pass Function to </a:t>
            </a:r>
            <a:r>
              <a:rPr lang="en-IN" sz="1600" b="1" dirty="0" err="1"/>
              <a:t>IssueAdd</a:t>
            </a:r>
            <a:endParaRPr lang="en-IN" sz="1600" b="1" dirty="0"/>
          </a:p>
          <a:p>
            <a:pPr>
              <a:buNone/>
            </a:pPr>
            <a:r>
              <a:rPr lang="en-IN" sz="1600" dirty="0" err="1">
                <a:latin typeface="Courier New" panose="02070309020205020404" pitchFamily="49" charset="0"/>
              </a:rPr>
              <a:t>IssueList</a:t>
            </a:r>
            <a:r>
              <a:rPr lang="en-IN" sz="1600" dirty="0"/>
              <a:t> also sends the </a:t>
            </a:r>
            <a:r>
              <a:rPr lang="en-IN" sz="1600" dirty="0" err="1">
                <a:latin typeface="Courier New" panose="02070309020205020404" pitchFamily="49" charset="0"/>
              </a:rPr>
              <a:t>createIssue</a:t>
            </a:r>
            <a:r>
              <a:rPr lang="en-IN" sz="1600" dirty="0">
                <a:latin typeface="Courier New" panose="02070309020205020404" pitchFamily="49" charset="0"/>
              </a:rPr>
              <a:t>()</a:t>
            </a:r>
            <a:r>
              <a:rPr lang="en-IN" sz="1600" dirty="0"/>
              <a:t> function to </a:t>
            </a:r>
            <a:r>
              <a:rPr lang="en-IN" sz="1600" dirty="0" err="1">
                <a:latin typeface="Courier New" panose="02070309020205020404" pitchFamily="49" charset="0"/>
              </a:rPr>
              <a:t>IssueAdd</a:t>
            </a:r>
            <a:r>
              <a:rPr lang="en-IN" sz="1600" dirty="0"/>
              <a:t>.</a:t>
            </a:r>
          </a:p>
          <a:p>
            <a:pPr rtl="0">
              <a:buNone/>
            </a:pPr>
            <a:r>
              <a:rPr lang="en-IN" sz="1600" dirty="0">
                <a:latin typeface="Courier New" panose="02070309020205020404" pitchFamily="49" charset="0"/>
              </a:rPr>
              <a:t>		&lt;</a:t>
            </a:r>
            <a:r>
              <a:rPr lang="en-IN" sz="1600" dirty="0" err="1">
                <a:latin typeface="Courier New" panose="02070309020205020404" pitchFamily="49" charset="0"/>
              </a:rPr>
              <a:t>IssueAdd</a:t>
            </a:r>
            <a:r>
              <a:rPr lang="en-IN" sz="1600" dirty="0">
                <a:latin typeface="Courier New" panose="02070309020205020404" pitchFamily="49" charset="0"/>
              </a:rPr>
              <a:t> </a:t>
            </a:r>
            <a:r>
              <a:rPr lang="en-IN" sz="1600" dirty="0" err="1">
                <a:latin typeface="Courier New" panose="02070309020205020404" pitchFamily="49" charset="0"/>
              </a:rPr>
              <a:t>createIssue</a:t>
            </a:r>
            <a:r>
              <a:rPr lang="en-IN" sz="1600" dirty="0">
                <a:latin typeface="Courier New" panose="02070309020205020404" pitchFamily="49" charset="0"/>
              </a:rPr>
              <a:t>={</a:t>
            </a:r>
            <a:r>
              <a:rPr lang="en-IN" sz="1600" dirty="0" err="1">
                <a:latin typeface="Courier New" panose="02070309020205020404" pitchFamily="49" charset="0"/>
              </a:rPr>
              <a:t>this.createIssue</a:t>
            </a:r>
            <a:r>
              <a:rPr lang="en-IN" sz="1600" dirty="0">
                <a:latin typeface="Courier New" panose="02070309020205020404" pitchFamily="49" charset="0"/>
              </a:rPr>
              <a:t>} /&gt;</a:t>
            </a:r>
          </a:p>
          <a:p>
            <a:pPr>
              <a:buNone/>
            </a:pPr>
            <a:r>
              <a:rPr lang="en-IN" sz="1600" dirty="0"/>
              <a:t>Inside </a:t>
            </a:r>
            <a:r>
              <a:rPr lang="en-IN" sz="1600" dirty="0" err="1">
                <a:latin typeface="Courier New" panose="02070309020205020404" pitchFamily="49" charset="0"/>
              </a:rPr>
              <a:t>IssueAdd</a:t>
            </a:r>
            <a:r>
              <a:rPr lang="en-IN" sz="1600" dirty="0"/>
              <a:t>, the function can be called:</a:t>
            </a:r>
          </a:p>
          <a:p>
            <a:pPr rtl="0">
              <a:buNone/>
            </a:pPr>
            <a:r>
              <a:rPr lang="en-IN" sz="1600" dirty="0">
                <a:latin typeface="Courier New" panose="02070309020205020404" pitchFamily="49" charset="0"/>
              </a:rPr>
              <a:t>		</a:t>
            </a:r>
            <a:r>
              <a:rPr lang="en-IN" sz="1600" dirty="0" err="1">
                <a:latin typeface="Courier New" panose="02070309020205020404" pitchFamily="49" charset="0"/>
              </a:rPr>
              <a:t>this.props.createIssue</a:t>
            </a:r>
            <a:r>
              <a:rPr lang="en-IN" sz="1600" dirty="0">
                <a:latin typeface="Courier New" panose="02070309020205020404" pitchFamily="49" charset="0"/>
              </a:rPr>
              <a:t>(</a:t>
            </a:r>
            <a:r>
              <a:rPr lang="en-IN" sz="1600" dirty="0" err="1">
                <a:latin typeface="Courier New" panose="02070309020205020404" pitchFamily="49" charset="0"/>
              </a:rPr>
              <a:t>sampleIssue</a:t>
            </a:r>
            <a:r>
              <a:rPr lang="en-IN" sz="1600" dirty="0">
                <a:latin typeface="Courier New" panose="02070309020205020404" pitchFamily="49" charset="0"/>
              </a:rPr>
              <a:t>);</a:t>
            </a:r>
          </a:p>
          <a:p>
            <a:pPr>
              <a:buNone/>
            </a:pPr>
            <a:r>
              <a:rPr lang="en-IN" sz="1600" dirty="0"/>
              <a:t>So the function flows:</a:t>
            </a:r>
          </a:p>
          <a:p>
            <a:pPr>
              <a:buNone/>
            </a:pPr>
            <a:r>
              <a:rPr lang="en-IN" sz="1600" b="1" dirty="0" err="1"/>
              <a:t>IssueList</a:t>
            </a:r>
            <a:r>
              <a:rPr lang="en-IN" sz="1600" b="1" dirty="0"/>
              <a:t> → </a:t>
            </a:r>
            <a:r>
              <a:rPr lang="en-IN" sz="1600" b="1" dirty="0" err="1"/>
              <a:t>IssueAdd</a:t>
            </a:r>
            <a:endParaRPr lang="en-IN" sz="1600" dirty="0"/>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2072158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6A509-703A-BA61-9B9D-2835DBA6A1B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EEAA7D5-BAE9-E051-2D5B-CA86F4782CA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1800" b="1" dirty="0"/>
              <a:t>Why Do We Do This?</a:t>
            </a:r>
          </a:p>
          <a:p>
            <a:pPr lvl="1"/>
            <a:r>
              <a:rPr lang="en-IN" sz="1600" dirty="0"/>
              <a:t>If </a:t>
            </a:r>
            <a:r>
              <a:rPr lang="en-IN" dirty="0" err="1">
                <a:solidFill>
                  <a:srgbClr val="FF0000"/>
                </a:solidFill>
              </a:rPr>
              <a:t>IssueTable</a:t>
            </a:r>
            <a:r>
              <a:rPr lang="en-IN" sz="1600" dirty="0"/>
              <a:t> owns the state, </a:t>
            </a:r>
            <a:r>
              <a:rPr lang="en-IN" dirty="0" err="1">
                <a:solidFill>
                  <a:srgbClr val="FF0000"/>
                </a:solidFill>
              </a:rPr>
              <a:t>IssueAdd</a:t>
            </a:r>
            <a:r>
              <a:rPr lang="en-IN" sz="1600" dirty="0"/>
              <a:t> cannot easily update that state because they are siblings.</a:t>
            </a:r>
          </a:p>
          <a:p>
            <a:pPr lvl="1"/>
            <a:r>
              <a:rPr lang="en-IN" sz="1600" dirty="0"/>
              <a:t>By moving the state to their common parent:</a:t>
            </a:r>
          </a:p>
          <a:p>
            <a:pPr lvl="1"/>
            <a:r>
              <a:rPr lang="en-IN" sz="1600" b="1" dirty="0" err="1"/>
              <a:t>IssueList</a:t>
            </a:r>
            <a:r>
              <a:rPr lang="en-IN" sz="1600" b="1" dirty="0"/>
              <a:t> becomes the single source of truth.</a:t>
            </a:r>
          </a:p>
          <a:p>
            <a:pPr lvl="1"/>
            <a:endParaRPr lang="en-IN" dirty="0"/>
          </a:p>
          <a:p>
            <a:pPr lvl="1"/>
            <a:r>
              <a:rPr lang="en-IN" dirty="0"/>
              <a:t>It can:</a:t>
            </a:r>
          </a:p>
          <a:p>
            <a:pPr lvl="1"/>
            <a:r>
              <a:rPr lang="en-IN" dirty="0"/>
              <a:t>store the issues</a:t>
            </a:r>
          </a:p>
          <a:p>
            <a:pPr lvl="1"/>
            <a:r>
              <a:rPr lang="en-IN" dirty="0"/>
              <a:t>add new issues</a:t>
            </a:r>
          </a:p>
          <a:p>
            <a:pPr lvl="1"/>
            <a:r>
              <a:rPr lang="en-IN" dirty="0"/>
              <a:t>send issues to </a:t>
            </a:r>
            <a:r>
              <a:rPr lang="en-IN" dirty="0" err="1"/>
              <a:t>IssueTable</a:t>
            </a:r>
            <a:endParaRPr lang="en-IN" dirty="0"/>
          </a:p>
          <a:p>
            <a:pPr lvl="1"/>
            <a:r>
              <a:rPr lang="en-IN" dirty="0"/>
              <a:t>send </a:t>
            </a:r>
            <a:r>
              <a:rPr lang="en-IN" dirty="0" err="1"/>
              <a:t>createIssue</a:t>
            </a:r>
            <a:r>
              <a:rPr lang="en-IN" dirty="0"/>
              <a:t>() to </a:t>
            </a:r>
            <a:r>
              <a:rPr lang="en-IN" dirty="0" err="1"/>
              <a:t>IssueAdd</a:t>
            </a:r>
            <a:endParaRPr lang="en-IN" dirty="0"/>
          </a:p>
          <a:p>
            <a:pPr lvl="1"/>
            <a:endParaRPr lang="en-IN" sz="1600" dirty="0"/>
          </a:p>
          <a:p>
            <a:pPr>
              <a:buFont typeface="Arial" panose="020B0604020202020204" pitchFamily="34" charset="0"/>
              <a:buChar char="•"/>
            </a:pPr>
            <a:endParaRPr lang="en-US" sz="1800" dirty="0"/>
          </a:p>
        </p:txBody>
      </p:sp>
      <p:pic>
        <p:nvPicPr>
          <p:cNvPr id="3" name="Picture 2">
            <a:extLst>
              <a:ext uri="{FF2B5EF4-FFF2-40B4-BE49-F238E27FC236}">
                <a16:creationId xmlns:a16="http://schemas.microsoft.com/office/drawing/2014/main" id="{CE8931A5-4CDF-DD29-8957-AD8609312433}"/>
              </a:ext>
            </a:extLst>
          </p:cNvPr>
          <p:cNvPicPr>
            <a:picLocks noChangeAspect="1"/>
          </p:cNvPicPr>
          <p:nvPr/>
        </p:nvPicPr>
        <p:blipFill>
          <a:blip r:embed="rId2"/>
          <a:stretch>
            <a:fillRect/>
          </a:stretch>
        </p:blipFill>
        <p:spPr>
          <a:xfrm>
            <a:off x="1520941" y="4005331"/>
            <a:ext cx="2019475" cy="1447925"/>
          </a:xfrm>
          <a:prstGeom prst="rect">
            <a:avLst/>
          </a:prstGeom>
        </p:spPr>
      </p:pic>
    </p:spTree>
    <p:extLst>
      <p:ext uri="{BB962C8B-B14F-4D97-AF65-F5344CB8AC3E}">
        <p14:creationId xmlns:p14="http://schemas.microsoft.com/office/powerpoint/2010/main" val="1622883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68ECA-6942-23C0-9A4E-F98ED24D4168}"/>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D02F42A-C730-FE57-BE1E-A217D52787E6}"/>
              </a:ext>
            </a:extLst>
          </p:cNvPr>
          <p:cNvSpPr txBox="1">
            <a:spLocks/>
          </p:cNvSpPr>
          <p:nvPr/>
        </p:nvSpPr>
        <p:spPr>
          <a:xfrm>
            <a:off x="360727" y="92279"/>
            <a:ext cx="11442583" cy="577681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Event Handling</a:t>
            </a:r>
          </a:p>
          <a:p>
            <a:pPr>
              <a:buFont typeface="Arial" panose="020B0604020202020204" pitchFamily="34" charset="0"/>
              <a:buChar char="•"/>
            </a:pPr>
            <a:r>
              <a:rPr lang="en-IN" sz="1800" b="1" dirty="0"/>
              <a:t>Event Handling in React</a:t>
            </a:r>
          </a:p>
          <a:p>
            <a:pPr lvl="1">
              <a:buFont typeface="Arial" panose="020B0604020202020204" pitchFamily="34" charset="0"/>
              <a:buChar char="•"/>
            </a:pPr>
            <a:r>
              <a:rPr lang="en-IN" sz="1600" dirty="0"/>
              <a:t>React allows us to respond to user actions such as </a:t>
            </a:r>
            <a:r>
              <a:rPr lang="en-IN" sz="1600" b="1" dirty="0"/>
              <a:t>clicking a button, submitting a form, typing, etc.</a:t>
            </a:r>
          </a:p>
          <a:p>
            <a:pPr lvl="1"/>
            <a:r>
              <a:rPr lang="en-IN" dirty="0"/>
              <a:t>Event handlers are written using properties such as: </a:t>
            </a:r>
            <a:r>
              <a:rPr lang="en-IN" dirty="0" err="1"/>
              <a:t>onClick</a:t>
            </a:r>
            <a:r>
              <a:rPr lang="en-IN" dirty="0"/>
              <a:t>, </a:t>
            </a:r>
            <a:r>
              <a:rPr lang="en-IN" dirty="0" err="1"/>
              <a:t>onSubmit</a:t>
            </a:r>
            <a:r>
              <a:rPr lang="en-IN" dirty="0"/>
              <a:t>, </a:t>
            </a:r>
            <a:r>
              <a:rPr lang="en-IN" dirty="0" err="1"/>
              <a:t>onChange</a:t>
            </a:r>
            <a:endParaRPr lang="en-IN" dirty="0"/>
          </a:p>
          <a:p>
            <a:pPr lvl="1"/>
            <a:r>
              <a:rPr lang="en-IN" dirty="0"/>
              <a:t>In the Issue Tracker, we use the </a:t>
            </a:r>
            <a:r>
              <a:rPr lang="en-IN" b="1" dirty="0"/>
              <a:t>form submission event</a:t>
            </a:r>
            <a:r>
              <a:rPr lang="en-IN" dirty="0"/>
              <a:t> to add a new issue.</a:t>
            </a:r>
          </a:p>
          <a:p>
            <a:pPr>
              <a:buFont typeface="Arial" panose="020B0604020202020204" pitchFamily="34" charset="0"/>
              <a:buChar char="•"/>
            </a:pPr>
            <a:r>
              <a:rPr lang="en-IN" b="1" dirty="0"/>
              <a:t>Creating the Issue Form</a:t>
            </a:r>
          </a:p>
          <a:p>
            <a:pPr lvl="1">
              <a:buNone/>
            </a:pPr>
            <a:r>
              <a:rPr lang="en-IN" dirty="0"/>
              <a:t>Instead of creating an issue automatically using a timer, we allow the user to enter the details.</a:t>
            </a:r>
          </a:p>
          <a:p>
            <a:pPr lvl="1">
              <a:buNone/>
            </a:pPr>
            <a:r>
              <a:rPr lang="en-IN" dirty="0"/>
              <a:t>The form contains:</a:t>
            </a:r>
          </a:p>
          <a:p>
            <a:pPr marL="635508" lvl="1" indent="-342900">
              <a:buFont typeface="Arial" panose="020B0604020202020204" pitchFamily="34" charset="0"/>
              <a:buChar char="•"/>
            </a:pPr>
            <a:r>
              <a:rPr lang="en-IN" b="1" dirty="0"/>
              <a:t>Owner</a:t>
            </a:r>
            <a:r>
              <a:rPr lang="en-IN" dirty="0"/>
              <a:t> – name of the person responsible</a:t>
            </a:r>
          </a:p>
          <a:p>
            <a:pPr marL="635508" lvl="1" indent="-342900">
              <a:buFont typeface="Arial" panose="020B0604020202020204" pitchFamily="34" charset="0"/>
              <a:buChar char="•"/>
            </a:pPr>
            <a:r>
              <a:rPr lang="en-IN" b="1" dirty="0"/>
              <a:t>Title</a:t>
            </a:r>
            <a:r>
              <a:rPr lang="en-IN" dirty="0"/>
              <a:t> – description of the issue</a:t>
            </a:r>
          </a:p>
          <a:p>
            <a:pPr marL="635508" lvl="1" indent="-342900">
              <a:buFont typeface="Arial" panose="020B0604020202020204" pitchFamily="34" charset="0"/>
              <a:buChar char="•"/>
            </a:pPr>
            <a:r>
              <a:rPr lang="en-IN" b="1" dirty="0"/>
              <a:t>Add button</a:t>
            </a:r>
            <a:r>
              <a:rPr lang="en-IN" dirty="0"/>
              <a:t> – submits the form</a:t>
            </a:r>
          </a:p>
          <a:p>
            <a:pPr lvl="2">
              <a:buNone/>
            </a:pPr>
            <a:r>
              <a:rPr lang="en-IN" dirty="0"/>
              <a:t>Example:</a:t>
            </a:r>
          </a:p>
          <a:p>
            <a:pPr lvl="2">
              <a:buNone/>
            </a:pPr>
            <a:r>
              <a:rPr lang="en-IN" dirty="0">
                <a:latin typeface="Courier New" panose="02070309020205020404" pitchFamily="49" charset="0"/>
              </a:rPr>
              <a:t>&lt;form&gt;</a:t>
            </a:r>
          </a:p>
          <a:p>
            <a:pPr lvl="2">
              <a:buNone/>
            </a:pPr>
            <a:r>
              <a:rPr lang="en-IN" dirty="0">
                <a:latin typeface="Courier New" panose="02070309020205020404" pitchFamily="49" charset="0"/>
              </a:rPr>
              <a:t>  &lt;input type="text" name="owner" placeholder="Owner" /&gt;</a:t>
            </a:r>
          </a:p>
          <a:p>
            <a:pPr lvl="2">
              <a:buNone/>
            </a:pPr>
            <a:r>
              <a:rPr lang="en-IN" dirty="0">
                <a:latin typeface="Courier New" panose="02070309020205020404" pitchFamily="49" charset="0"/>
              </a:rPr>
              <a:t>  &lt;input type="text" name="title" placeholder="Title" /&gt;</a:t>
            </a:r>
          </a:p>
          <a:p>
            <a:pPr lvl="2">
              <a:buNone/>
            </a:pPr>
            <a:r>
              <a:rPr lang="en-IN" dirty="0">
                <a:latin typeface="Courier New" panose="02070309020205020404" pitchFamily="49" charset="0"/>
              </a:rPr>
              <a:t>  &lt;button&gt;Add&lt;/button&gt;</a:t>
            </a:r>
          </a:p>
          <a:p>
            <a:pPr lvl="2">
              <a:buNone/>
            </a:pPr>
            <a:r>
              <a:rPr lang="en-IN" dirty="0">
                <a:latin typeface="Courier New" panose="02070309020205020404" pitchFamily="49" charset="0"/>
              </a:rPr>
              <a:t>&lt;/form&gt;</a:t>
            </a:r>
          </a:p>
          <a:p>
            <a:endParaRPr lang="en-IN" dirty="0"/>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3440206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FD4B8-17EB-F2C8-A3B6-70B413AADAD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820720B-B764-CCEE-A57E-7BEC944F7F94}"/>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b="1" dirty="0"/>
              <a:t>Handling Form Submission</a:t>
            </a:r>
          </a:p>
          <a:p>
            <a:pPr lvl="1">
              <a:buFont typeface="Arial" panose="020B0604020202020204" pitchFamily="34" charset="0"/>
              <a:buChar char="•"/>
            </a:pPr>
            <a:r>
              <a:rPr lang="en-IN" sz="1600" dirty="0"/>
              <a:t>When the user clicks </a:t>
            </a:r>
            <a:r>
              <a:rPr lang="en-IN" sz="1600" b="1" dirty="0"/>
              <a:t>Add</a:t>
            </a:r>
            <a:r>
              <a:rPr lang="en-IN" sz="1600" dirty="0"/>
              <a:t>, the form normally submits and reloads the page.</a:t>
            </a:r>
          </a:p>
          <a:p>
            <a:pPr lvl="1">
              <a:buFont typeface="Arial" panose="020B0604020202020204" pitchFamily="34" charset="0"/>
              <a:buChar char="•"/>
            </a:pPr>
            <a:r>
              <a:rPr lang="en-IN" sz="1600" dirty="0"/>
              <a:t>We don't want this.</a:t>
            </a:r>
          </a:p>
          <a:p>
            <a:pPr lvl="1">
              <a:buFont typeface="Arial" panose="020B0604020202020204" pitchFamily="34" charset="0"/>
              <a:buChar char="•"/>
            </a:pPr>
            <a:r>
              <a:rPr lang="en-IN" sz="1600" dirty="0"/>
              <a:t>So, we use:</a:t>
            </a:r>
          </a:p>
          <a:p>
            <a:pPr lvl="1">
              <a:buNone/>
            </a:pPr>
            <a:r>
              <a:rPr lang="en-IN" sz="1600" dirty="0">
                <a:latin typeface="Courier New" panose="02070309020205020404" pitchFamily="49" charset="0"/>
              </a:rPr>
              <a:t>&lt;form name="</a:t>
            </a:r>
            <a:r>
              <a:rPr lang="en-IN" sz="1600" dirty="0" err="1">
                <a:latin typeface="Courier New" panose="02070309020205020404" pitchFamily="49" charset="0"/>
              </a:rPr>
              <a:t>issueAdd</a:t>
            </a:r>
            <a:r>
              <a:rPr lang="en-IN" sz="1600" dirty="0">
                <a:latin typeface="Courier New" panose="02070309020205020404" pitchFamily="49" charset="0"/>
              </a:rPr>
              <a:t>" </a:t>
            </a:r>
            <a:r>
              <a:rPr lang="en-IN" sz="1600" dirty="0" err="1">
                <a:latin typeface="Courier New" panose="02070309020205020404" pitchFamily="49" charset="0"/>
              </a:rPr>
              <a:t>onSubmit</a:t>
            </a:r>
            <a:r>
              <a:rPr lang="en-IN" sz="1600" dirty="0">
                <a:latin typeface="Courier New" panose="02070309020205020404" pitchFamily="49" charset="0"/>
              </a:rPr>
              <a:t>={</a:t>
            </a:r>
            <a:r>
              <a:rPr lang="en-IN" sz="1600" dirty="0" err="1">
                <a:latin typeface="Courier New" panose="02070309020205020404" pitchFamily="49" charset="0"/>
              </a:rPr>
              <a:t>this.handleSubmit</a:t>
            </a:r>
            <a:r>
              <a:rPr lang="en-IN" sz="1600" dirty="0">
                <a:latin typeface="Courier New" panose="02070309020205020404" pitchFamily="49" charset="0"/>
              </a:rPr>
              <a:t>}&gt;</a:t>
            </a:r>
          </a:p>
          <a:p>
            <a:pPr lvl="1">
              <a:buNone/>
            </a:pPr>
            <a:r>
              <a:rPr lang="en-IN" sz="1600" dirty="0"/>
              <a:t>Here:</a:t>
            </a:r>
          </a:p>
          <a:p>
            <a:pPr marL="635508" lvl="1" indent="-342900">
              <a:buFont typeface="Arial" panose="020B0604020202020204" pitchFamily="34" charset="0"/>
              <a:buChar char="•"/>
            </a:pPr>
            <a:r>
              <a:rPr lang="en-IN" sz="1600" dirty="0" err="1">
                <a:latin typeface="Courier New" panose="02070309020205020404" pitchFamily="49" charset="0"/>
              </a:rPr>
              <a:t>onSubmit</a:t>
            </a:r>
            <a:r>
              <a:rPr lang="en-IN" sz="1600" dirty="0"/>
              <a:t> connects the form to </a:t>
            </a:r>
            <a:r>
              <a:rPr lang="en-IN" sz="1600" dirty="0" err="1">
                <a:latin typeface="Courier New" panose="02070309020205020404" pitchFamily="49" charset="0"/>
              </a:rPr>
              <a:t>handleSubmit</a:t>
            </a:r>
            <a:r>
              <a:rPr lang="en-IN" sz="1600" dirty="0">
                <a:latin typeface="Courier New" panose="02070309020205020404" pitchFamily="49" charset="0"/>
              </a:rPr>
              <a:t>()</a:t>
            </a:r>
            <a:r>
              <a:rPr lang="en-IN" sz="1600" dirty="0"/>
              <a:t>.</a:t>
            </a:r>
          </a:p>
          <a:p>
            <a:pPr marL="635508" lvl="1" indent="-342900">
              <a:buFont typeface="Arial" panose="020B0604020202020204" pitchFamily="34" charset="0"/>
              <a:buChar char="•"/>
            </a:pPr>
            <a:r>
              <a:rPr lang="en-IN" sz="1600" dirty="0" err="1">
                <a:latin typeface="Courier New" panose="02070309020205020404" pitchFamily="49" charset="0"/>
              </a:rPr>
              <a:t>handleSubmit</a:t>
            </a:r>
            <a:r>
              <a:rPr lang="en-IN" sz="1600" dirty="0">
                <a:latin typeface="Courier New" panose="02070309020205020404" pitchFamily="49" charset="0"/>
              </a:rPr>
              <a:t>()</a:t>
            </a:r>
            <a:r>
              <a:rPr lang="en-IN" sz="1600" dirty="0"/>
              <a:t> is executed when the form is submitted.</a:t>
            </a:r>
          </a:p>
          <a:p>
            <a:pPr>
              <a:buFont typeface="Arial" panose="020B0604020202020204" pitchFamily="34" charset="0"/>
              <a:buChar char="•"/>
            </a:pPr>
            <a:r>
              <a:rPr lang="en-IN" sz="1800" b="1" dirty="0"/>
              <a:t>Preventing Default Form Submission</a:t>
            </a:r>
          </a:p>
          <a:p>
            <a:pPr lvl="1">
              <a:buFont typeface="Arial" panose="020B0604020202020204" pitchFamily="34" charset="0"/>
              <a:buChar char="•"/>
            </a:pPr>
            <a:r>
              <a:rPr lang="en-IN" sz="1600" dirty="0"/>
              <a:t>Inside </a:t>
            </a:r>
            <a:r>
              <a:rPr lang="en-IN" sz="1600" dirty="0" err="1">
                <a:latin typeface="Courier New" panose="02070309020205020404" pitchFamily="49" charset="0"/>
              </a:rPr>
              <a:t>handleSubmit</a:t>
            </a:r>
            <a:r>
              <a:rPr lang="en-IN" sz="1600" dirty="0">
                <a:latin typeface="Courier New" panose="02070309020205020404" pitchFamily="49" charset="0"/>
              </a:rPr>
              <a:t>()</a:t>
            </a:r>
            <a:r>
              <a:rPr lang="en-IN" sz="1600" dirty="0"/>
              <a:t>:</a:t>
            </a:r>
          </a:p>
          <a:p>
            <a:pPr lvl="2">
              <a:buNone/>
            </a:pPr>
            <a:r>
              <a:rPr lang="en-IN" sz="1600" dirty="0" err="1">
                <a:latin typeface="Courier New" panose="02070309020205020404" pitchFamily="49" charset="0"/>
              </a:rPr>
              <a:t>handleSubmit</a:t>
            </a:r>
            <a:r>
              <a:rPr lang="en-IN" sz="1600" dirty="0">
                <a:latin typeface="Courier New" panose="02070309020205020404" pitchFamily="49" charset="0"/>
              </a:rPr>
              <a:t>(e) {</a:t>
            </a:r>
          </a:p>
          <a:p>
            <a:pPr lvl="2">
              <a:buNone/>
            </a:pPr>
            <a:r>
              <a:rPr lang="en-IN" sz="1600" dirty="0">
                <a:latin typeface="Courier New" panose="02070309020205020404" pitchFamily="49" charset="0"/>
              </a:rPr>
              <a:t>  </a:t>
            </a:r>
            <a:r>
              <a:rPr lang="en-IN" sz="1600" dirty="0" err="1">
                <a:latin typeface="Courier New" panose="02070309020205020404" pitchFamily="49" charset="0"/>
              </a:rPr>
              <a:t>e.preventDefault</a:t>
            </a:r>
            <a:r>
              <a:rPr lang="en-IN" sz="1600" dirty="0">
                <a:latin typeface="Courier New" panose="02070309020205020404" pitchFamily="49" charset="0"/>
              </a:rPr>
              <a:t>();</a:t>
            </a:r>
          </a:p>
          <a:p>
            <a:pPr lvl="2">
              <a:buNone/>
            </a:pPr>
            <a:r>
              <a:rPr lang="en-IN" sz="1600" dirty="0">
                <a:latin typeface="Courier New" panose="02070309020205020404" pitchFamily="49" charset="0"/>
              </a:rPr>
              <a:t>}</a:t>
            </a:r>
          </a:p>
          <a:p>
            <a:pPr lvl="1">
              <a:buFont typeface="Arial" panose="020B0604020202020204" pitchFamily="34" charset="0"/>
              <a:buChar char="•"/>
            </a:pPr>
            <a:r>
              <a:rPr lang="en-IN" sz="1600" dirty="0" err="1">
                <a:latin typeface="Courier New" panose="02070309020205020404" pitchFamily="49" charset="0"/>
              </a:rPr>
              <a:t>e.preventDefault</a:t>
            </a:r>
            <a:r>
              <a:rPr lang="en-IN" sz="1600" dirty="0">
                <a:latin typeface="Courier New" panose="02070309020205020404" pitchFamily="49" charset="0"/>
              </a:rPr>
              <a:t>()</a:t>
            </a:r>
            <a:r>
              <a:rPr lang="en-IN" sz="1600" dirty="0"/>
              <a:t> stops the browser's normal form submission.</a:t>
            </a:r>
          </a:p>
          <a:p>
            <a:pPr lvl="1">
              <a:buFont typeface="Arial" panose="020B0604020202020204" pitchFamily="34" charset="0"/>
              <a:buChar char="•"/>
            </a:pPr>
            <a:r>
              <a:rPr lang="en-IN" sz="1600" dirty="0"/>
              <a:t>This allows React to handle the event itself without reloading the page.</a:t>
            </a:r>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3970129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C0FA3-3D00-0BFE-2A48-A9CF9F32B3EC}"/>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A897D6A7-778E-9545-231D-19804E6025E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b="1" dirty="0"/>
              <a:t>Reading Form Values</a:t>
            </a:r>
          </a:p>
          <a:p>
            <a:pPr lvl="1">
              <a:buFont typeface="Arial" panose="020B0604020202020204" pitchFamily="34" charset="0"/>
              <a:buChar char="•"/>
            </a:pPr>
            <a:r>
              <a:rPr lang="en-IN" sz="1600" dirty="0"/>
              <a:t>We can access the form using:</a:t>
            </a:r>
          </a:p>
          <a:p>
            <a:pPr lvl="1">
              <a:buNone/>
            </a:pPr>
            <a:r>
              <a:rPr lang="en-IN" sz="1600" dirty="0">
                <a:latin typeface="Courier New" panose="02070309020205020404" pitchFamily="49" charset="0"/>
              </a:rPr>
              <a:t>	</a:t>
            </a:r>
            <a:r>
              <a:rPr lang="en-IN" sz="1600" dirty="0" err="1">
                <a:latin typeface="Courier New" panose="02070309020205020404" pitchFamily="49" charset="0"/>
              </a:rPr>
              <a:t>const</a:t>
            </a:r>
            <a:r>
              <a:rPr lang="en-IN" sz="1600" dirty="0">
                <a:latin typeface="Courier New" panose="02070309020205020404" pitchFamily="49" charset="0"/>
              </a:rPr>
              <a:t> form = </a:t>
            </a:r>
            <a:r>
              <a:rPr lang="en-IN" sz="1600" dirty="0" err="1">
                <a:latin typeface="Courier New" panose="02070309020205020404" pitchFamily="49" charset="0"/>
              </a:rPr>
              <a:t>document.forms.issueAdd</a:t>
            </a:r>
            <a:r>
              <a:rPr lang="en-IN" sz="1600" dirty="0">
                <a:latin typeface="Courier New" panose="02070309020205020404" pitchFamily="49" charset="0"/>
              </a:rPr>
              <a:t>;</a:t>
            </a:r>
          </a:p>
          <a:p>
            <a:pPr lvl="1">
              <a:buFont typeface="Arial" panose="020B0604020202020204" pitchFamily="34" charset="0"/>
              <a:buChar char="•"/>
            </a:pPr>
            <a:r>
              <a:rPr lang="en-IN" sz="1600" dirty="0"/>
              <a:t>Then retrieve the values:</a:t>
            </a:r>
          </a:p>
          <a:p>
            <a:pPr lvl="2">
              <a:buNone/>
            </a:pPr>
            <a:r>
              <a:rPr lang="en-IN" sz="1600" dirty="0" err="1">
                <a:latin typeface="Courier New" panose="02070309020205020404" pitchFamily="49" charset="0"/>
              </a:rPr>
              <a:t>form.owner.value</a:t>
            </a:r>
            <a:endParaRPr lang="en-IN" sz="1600" dirty="0">
              <a:latin typeface="Courier New" panose="02070309020205020404" pitchFamily="49" charset="0"/>
            </a:endParaRPr>
          </a:p>
          <a:p>
            <a:pPr lvl="2">
              <a:buNone/>
            </a:pPr>
            <a:r>
              <a:rPr lang="en-IN" sz="1600" dirty="0" err="1">
                <a:latin typeface="Courier New" panose="02070309020205020404" pitchFamily="49" charset="0"/>
              </a:rPr>
              <a:t>form.title.value</a:t>
            </a:r>
            <a:endParaRPr lang="en-IN" sz="1600" dirty="0">
              <a:latin typeface="Courier New" panose="02070309020205020404" pitchFamily="49" charset="0"/>
            </a:endParaRPr>
          </a:p>
          <a:p>
            <a:pPr lvl="1">
              <a:buFont typeface="Arial" panose="020B0604020202020204" pitchFamily="34" charset="0"/>
              <a:buChar char="•"/>
            </a:pPr>
            <a:r>
              <a:rPr lang="en-IN" sz="1600" dirty="0"/>
              <a:t>For example, if the user enters:</a:t>
            </a:r>
          </a:p>
          <a:p>
            <a:pPr lvl="2">
              <a:buNone/>
            </a:pPr>
            <a:r>
              <a:rPr lang="en-IN" sz="1600" dirty="0">
                <a:latin typeface="Courier New" panose="02070309020205020404" pitchFamily="49" charset="0"/>
              </a:rPr>
              <a:t>Owner: Ravi</a:t>
            </a:r>
          </a:p>
          <a:p>
            <a:pPr lvl="2">
              <a:buNone/>
            </a:pPr>
            <a:r>
              <a:rPr lang="en-IN" sz="1600" dirty="0">
                <a:latin typeface="Courier New" panose="02070309020205020404" pitchFamily="49" charset="0"/>
              </a:rPr>
              <a:t>Title: Login Problem</a:t>
            </a:r>
          </a:p>
          <a:p>
            <a:pPr lvl="1">
              <a:buFont typeface="Arial" panose="020B0604020202020204" pitchFamily="34" charset="0"/>
              <a:buChar char="•"/>
            </a:pPr>
            <a:r>
              <a:rPr lang="en-IN" sz="1600" dirty="0"/>
              <a:t>We can create:</a:t>
            </a:r>
          </a:p>
          <a:p>
            <a:pPr lvl="2">
              <a:buNone/>
            </a:pPr>
            <a:r>
              <a:rPr lang="en-IN" sz="1600" dirty="0" err="1">
                <a:latin typeface="Courier New" panose="02070309020205020404" pitchFamily="49" charset="0"/>
              </a:rPr>
              <a:t>const</a:t>
            </a:r>
            <a:r>
              <a:rPr lang="en-IN" sz="1600" dirty="0">
                <a:latin typeface="Courier New" panose="02070309020205020404" pitchFamily="49" charset="0"/>
              </a:rPr>
              <a:t> issue = {</a:t>
            </a:r>
          </a:p>
          <a:p>
            <a:pPr lvl="2">
              <a:buNone/>
            </a:pPr>
            <a:r>
              <a:rPr lang="en-IN" sz="1600" dirty="0">
                <a:latin typeface="Courier New" panose="02070309020205020404" pitchFamily="49" charset="0"/>
              </a:rPr>
              <a:t>  owner: </a:t>
            </a:r>
            <a:r>
              <a:rPr lang="en-IN" sz="1600" dirty="0" err="1">
                <a:latin typeface="Courier New" panose="02070309020205020404" pitchFamily="49" charset="0"/>
              </a:rPr>
              <a:t>form.owner.value</a:t>
            </a:r>
            <a:r>
              <a:rPr lang="en-IN" sz="1600" dirty="0">
                <a:latin typeface="Courier New" panose="02070309020205020404" pitchFamily="49" charset="0"/>
              </a:rPr>
              <a:t>,</a:t>
            </a:r>
          </a:p>
          <a:p>
            <a:pPr lvl="2">
              <a:buNone/>
            </a:pPr>
            <a:r>
              <a:rPr lang="en-IN" sz="1600" dirty="0">
                <a:latin typeface="Courier New" panose="02070309020205020404" pitchFamily="49" charset="0"/>
              </a:rPr>
              <a:t>  title: </a:t>
            </a:r>
            <a:r>
              <a:rPr lang="en-IN" sz="1600" dirty="0" err="1">
                <a:latin typeface="Courier New" panose="02070309020205020404" pitchFamily="49" charset="0"/>
              </a:rPr>
              <a:t>form.title.value</a:t>
            </a:r>
            <a:r>
              <a:rPr lang="en-IN" sz="1600" dirty="0">
                <a:latin typeface="Courier New" panose="02070309020205020404" pitchFamily="49" charset="0"/>
              </a:rPr>
              <a:t>,</a:t>
            </a:r>
          </a:p>
          <a:p>
            <a:pPr lvl="2">
              <a:buNone/>
            </a:pPr>
            <a:r>
              <a:rPr lang="en-IN" sz="1600" dirty="0">
                <a:latin typeface="Courier New" panose="02070309020205020404" pitchFamily="49" charset="0"/>
              </a:rPr>
              <a:t>  status: 'New'</a:t>
            </a:r>
          </a:p>
          <a:p>
            <a:pPr lvl="2">
              <a:buNone/>
            </a:pPr>
            <a:r>
              <a:rPr lang="en-IN" sz="1600" dirty="0">
                <a:latin typeface="Courier New" panose="02070309020205020404" pitchFamily="49" charset="0"/>
              </a:rPr>
              <a:t>};</a:t>
            </a:r>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3784255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B0676-CC12-65FF-9F67-3780DF0A0F1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6782A25-4763-A90D-F890-F9FEA803AE0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IN" sz="1800" b="1" dirty="0"/>
              <a:t>Adding the Issue</a:t>
            </a:r>
          </a:p>
          <a:p>
            <a:pPr lvl="1"/>
            <a:r>
              <a:rPr lang="en-IN" sz="1600" dirty="0"/>
              <a:t>The new issue is sent to the parent component using the callback passed through props:</a:t>
            </a:r>
          </a:p>
          <a:p>
            <a:pPr lvl="2"/>
            <a:r>
              <a:rPr lang="en-IN" sz="1600" dirty="0" err="1"/>
              <a:t>this.props.createIssue</a:t>
            </a:r>
            <a:r>
              <a:rPr lang="en-IN" sz="1600" dirty="0"/>
              <a:t>(issue);</a:t>
            </a:r>
          </a:p>
          <a:p>
            <a:pPr lvl="1"/>
            <a:r>
              <a:rPr lang="en-IN" sz="1600" dirty="0"/>
              <a:t>The flow is:</a:t>
            </a:r>
          </a:p>
          <a:p>
            <a:pPr marL="384048" lvl="2" indent="0">
              <a:buNone/>
            </a:pPr>
            <a:r>
              <a:rPr lang="en-IN" sz="1600" dirty="0"/>
              <a:t>User enters data</a:t>
            </a:r>
          </a:p>
          <a:p>
            <a:pPr marL="384048" lvl="2" indent="0">
              <a:buNone/>
            </a:pPr>
            <a:r>
              <a:rPr lang="en-IN" sz="1600" dirty="0"/>
              <a:t>       ↓</a:t>
            </a:r>
          </a:p>
          <a:p>
            <a:pPr marL="384048" lvl="2" indent="0">
              <a:buNone/>
            </a:pPr>
            <a:r>
              <a:rPr lang="en-IN" sz="1600" dirty="0"/>
              <a:t>Clicks Add</a:t>
            </a:r>
          </a:p>
          <a:p>
            <a:pPr marL="384048" lvl="2" indent="0">
              <a:buNone/>
            </a:pPr>
            <a:r>
              <a:rPr lang="en-IN" sz="1600" dirty="0"/>
              <a:t>       ↓</a:t>
            </a:r>
          </a:p>
          <a:p>
            <a:pPr marL="384048" lvl="2" indent="0">
              <a:buNone/>
            </a:pPr>
            <a:r>
              <a:rPr lang="en-IN" sz="1600" dirty="0" err="1"/>
              <a:t>handleSubmit</a:t>
            </a:r>
            <a:r>
              <a:rPr lang="en-IN" sz="1600" dirty="0"/>
              <a:t>()</a:t>
            </a:r>
          </a:p>
          <a:p>
            <a:pPr marL="384048" lvl="2" indent="0">
              <a:buNone/>
            </a:pPr>
            <a:r>
              <a:rPr lang="en-IN" sz="1600" dirty="0"/>
              <a:t>       ↓</a:t>
            </a:r>
          </a:p>
          <a:p>
            <a:pPr marL="384048" lvl="2" indent="0">
              <a:buNone/>
            </a:pPr>
            <a:r>
              <a:rPr lang="en-IN" sz="1600" dirty="0"/>
              <a:t>Create issue object</a:t>
            </a:r>
          </a:p>
          <a:p>
            <a:pPr marL="384048" lvl="2" indent="0">
              <a:buNone/>
            </a:pPr>
            <a:r>
              <a:rPr lang="en-IN" sz="1600" dirty="0"/>
              <a:t>       ↓</a:t>
            </a:r>
          </a:p>
          <a:p>
            <a:pPr marL="384048" lvl="2" indent="0">
              <a:buNone/>
            </a:pPr>
            <a:r>
              <a:rPr lang="en-IN" sz="1600" dirty="0" err="1"/>
              <a:t>createIssue</a:t>
            </a:r>
            <a:r>
              <a:rPr lang="en-IN" sz="1600" dirty="0"/>
              <a:t>() in </a:t>
            </a:r>
            <a:r>
              <a:rPr lang="en-IN" sz="1600" dirty="0" err="1"/>
              <a:t>IssueList</a:t>
            </a:r>
            <a:endParaRPr lang="en-IN" sz="1600" dirty="0"/>
          </a:p>
          <a:p>
            <a:pPr marL="384048" lvl="2" indent="0">
              <a:buNone/>
            </a:pPr>
            <a:r>
              <a:rPr lang="en-IN" sz="1600" dirty="0"/>
              <a:t>       ↓</a:t>
            </a:r>
          </a:p>
          <a:p>
            <a:pPr marL="384048" lvl="2" indent="0">
              <a:buNone/>
            </a:pPr>
            <a:r>
              <a:rPr lang="en-IN" sz="1600" dirty="0"/>
              <a:t>State is updated</a:t>
            </a:r>
          </a:p>
          <a:p>
            <a:pPr marL="384048" lvl="2" indent="0">
              <a:buNone/>
            </a:pPr>
            <a:r>
              <a:rPr lang="en-IN" sz="1600" dirty="0"/>
              <a:t>       ↓</a:t>
            </a:r>
          </a:p>
          <a:p>
            <a:pPr marL="384048" lvl="2" indent="0">
              <a:buNone/>
            </a:pPr>
            <a:r>
              <a:rPr lang="en-IN" sz="1600" dirty="0" err="1"/>
              <a:t>IssueTable</a:t>
            </a:r>
            <a:r>
              <a:rPr lang="en-IN" sz="1600" dirty="0"/>
              <a:t> displays new issue</a:t>
            </a:r>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6076231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0F7F0-B539-EE63-CBAF-9A83A2C1C72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75A9772-DD87-DC9D-00DD-00CE73CE6F82}"/>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b="1" dirty="0"/>
              <a:t>Clearing the Form</a:t>
            </a:r>
          </a:p>
          <a:p>
            <a:pPr lvl="1">
              <a:buNone/>
            </a:pPr>
            <a:r>
              <a:rPr lang="en-IN" sz="1600" dirty="0"/>
              <a:t>After adding the issue, the input fields are cleared:</a:t>
            </a:r>
          </a:p>
          <a:p>
            <a:pPr lvl="1">
              <a:buNone/>
            </a:pPr>
            <a:r>
              <a:rPr lang="en-IN" sz="1600" dirty="0" err="1">
                <a:latin typeface="Courier New" panose="02070309020205020404" pitchFamily="49" charset="0"/>
              </a:rPr>
              <a:t>form.owner.value</a:t>
            </a:r>
            <a:r>
              <a:rPr lang="en-IN" sz="1600" dirty="0">
                <a:latin typeface="Courier New" panose="02070309020205020404" pitchFamily="49" charset="0"/>
              </a:rPr>
              <a:t> = "";</a:t>
            </a:r>
          </a:p>
          <a:p>
            <a:pPr lvl="1">
              <a:buNone/>
            </a:pPr>
            <a:r>
              <a:rPr lang="en-IN" sz="1600" dirty="0" err="1">
                <a:latin typeface="Courier New" panose="02070309020205020404" pitchFamily="49" charset="0"/>
              </a:rPr>
              <a:t>form.title.value</a:t>
            </a:r>
            <a:r>
              <a:rPr lang="en-IN" sz="1600" dirty="0">
                <a:latin typeface="Courier New" panose="02070309020205020404" pitchFamily="49" charset="0"/>
              </a:rPr>
              <a:t> = "";</a:t>
            </a:r>
          </a:p>
          <a:p>
            <a:pPr lvl="1">
              <a:buNone/>
            </a:pPr>
            <a:r>
              <a:rPr lang="en-IN" sz="1600" dirty="0"/>
              <a:t>This makes the form ready to enter another issue</a:t>
            </a:r>
            <a:r>
              <a:rPr lang="en-IN" sz="1400" dirty="0"/>
              <a:t>.</a:t>
            </a:r>
          </a:p>
          <a:p>
            <a:pPr lvl="1">
              <a:buNone/>
            </a:pPr>
            <a:endParaRPr lang="en-IN" sz="1600" dirty="0"/>
          </a:p>
          <a:p>
            <a:pPr>
              <a:buFont typeface="Arial" panose="020B0604020202020204" pitchFamily="34" charset="0"/>
              <a:buChar char="•"/>
            </a:pPr>
            <a:r>
              <a:rPr lang="en-IN" sz="1800" b="1" dirty="0"/>
              <a:t>Binding the Event Handler</a:t>
            </a:r>
          </a:p>
          <a:p>
            <a:pPr lvl="1">
              <a:buNone/>
            </a:pPr>
            <a:r>
              <a:rPr lang="en-IN" sz="1800" dirty="0"/>
              <a:t>Since </a:t>
            </a:r>
            <a:r>
              <a:rPr lang="en-IN" sz="1800" dirty="0" err="1">
                <a:latin typeface="Courier New" panose="02070309020205020404" pitchFamily="49" charset="0"/>
              </a:rPr>
              <a:t>handleSubmit</a:t>
            </a:r>
            <a:r>
              <a:rPr lang="en-IN" sz="1800" dirty="0">
                <a:latin typeface="Courier New" panose="02070309020205020404" pitchFamily="49" charset="0"/>
              </a:rPr>
              <a:t>()</a:t>
            </a:r>
            <a:r>
              <a:rPr lang="en-IN" sz="1800" dirty="0"/>
              <a:t> is called as an event handler, we bind it in the constructor:</a:t>
            </a:r>
          </a:p>
          <a:p>
            <a:pPr lvl="1">
              <a:buNone/>
            </a:pPr>
            <a:r>
              <a:rPr lang="en-IN" sz="1800" dirty="0">
                <a:latin typeface="Courier New" panose="02070309020205020404" pitchFamily="49" charset="0"/>
              </a:rPr>
              <a:t>constructor() {</a:t>
            </a:r>
          </a:p>
          <a:p>
            <a:pPr lvl="1">
              <a:buNone/>
            </a:pPr>
            <a:r>
              <a:rPr lang="en-IN" sz="1800" dirty="0">
                <a:latin typeface="Courier New" panose="02070309020205020404" pitchFamily="49" charset="0"/>
              </a:rPr>
              <a:t>  super();</a:t>
            </a:r>
          </a:p>
          <a:p>
            <a:pPr lvl="1">
              <a:buNone/>
            </a:pPr>
            <a:r>
              <a:rPr lang="en-IN" sz="1800" dirty="0">
                <a:latin typeface="Courier New" panose="02070309020205020404" pitchFamily="49" charset="0"/>
              </a:rPr>
              <a:t>  </a:t>
            </a:r>
            <a:r>
              <a:rPr lang="en-IN" sz="1800" dirty="0" err="1">
                <a:latin typeface="Courier New" panose="02070309020205020404" pitchFamily="49" charset="0"/>
              </a:rPr>
              <a:t>this.handleSubmit</a:t>
            </a:r>
            <a:r>
              <a:rPr lang="en-IN" sz="1800" dirty="0">
                <a:latin typeface="Courier New" panose="02070309020205020404" pitchFamily="49" charset="0"/>
              </a:rPr>
              <a:t> = </a:t>
            </a:r>
            <a:r>
              <a:rPr lang="en-IN" sz="1800" dirty="0" err="1">
                <a:latin typeface="Courier New" panose="02070309020205020404" pitchFamily="49" charset="0"/>
              </a:rPr>
              <a:t>this.handleSubmit.bind</a:t>
            </a:r>
            <a:r>
              <a:rPr lang="en-IN" sz="1800" dirty="0">
                <a:latin typeface="Courier New" panose="02070309020205020404" pitchFamily="49" charset="0"/>
              </a:rPr>
              <a:t>(this);</a:t>
            </a:r>
          </a:p>
          <a:p>
            <a:pPr lvl="1">
              <a:buNone/>
            </a:pPr>
            <a:r>
              <a:rPr lang="en-IN" sz="1800" dirty="0">
                <a:latin typeface="Courier New" panose="02070309020205020404" pitchFamily="49" charset="0"/>
              </a:rPr>
              <a:t>}</a:t>
            </a:r>
          </a:p>
          <a:p>
            <a:pPr lvl="1">
              <a:buNone/>
            </a:pPr>
            <a:r>
              <a:rPr lang="en-IN" sz="1800" dirty="0"/>
              <a:t>This ensures that </a:t>
            </a:r>
            <a:r>
              <a:rPr lang="en-IN" sz="1800" dirty="0">
                <a:latin typeface="Courier New" panose="02070309020205020404" pitchFamily="49" charset="0"/>
              </a:rPr>
              <a:t>this</a:t>
            </a:r>
            <a:r>
              <a:rPr lang="en-IN" sz="1800" dirty="0"/>
              <a:t> inside </a:t>
            </a:r>
            <a:r>
              <a:rPr lang="en-IN" sz="1800" dirty="0" err="1">
                <a:latin typeface="Courier New" panose="02070309020205020404" pitchFamily="49" charset="0"/>
              </a:rPr>
              <a:t>handleSubmit</a:t>
            </a:r>
            <a:r>
              <a:rPr lang="en-IN" sz="1800" dirty="0">
                <a:latin typeface="Courier New" panose="02070309020205020404" pitchFamily="49" charset="0"/>
              </a:rPr>
              <a:t>()</a:t>
            </a:r>
            <a:r>
              <a:rPr lang="en-IN" sz="1800" dirty="0"/>
              <a:t> refers to the </a:t>
            </a:r>
            <a:r>
              <a:rPr lang="en-IN" sz="1800" dirty="0" err="1">
                <a:latin typeface="Courier New" panose="02070309020205020404" pitchFamily="49" charset="0"/>
              </a:rPr>
              <a:t>IssueAdd</a:t>
            </a:r>
            <a:r>
              <a:rPr lang="en-IN" sz="1800" dirty="0"/>
              <a:t> component</a:t>
            </a:r>
            <a:r>
              <a:rPr lang="en-IN" sz="1400" dirty="0"/>
              <a:t>.</a:t>
            </a:r>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35115170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9F932-C4C3-A596-479C-D52F99E8236E}"/>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B4AFF88-AC53-14C4-CB83-CE04689FDCB5}"/>
              </a:ext>
            </a:extLst>
          </p:cNvPr>
          <p:cNvSpPr txBox="1">
            <a:spLocks/>
          </p:cNvSpPr>
          <p:nvPr/>
        </p:nvSpPr>
        <p:spPr>
          <a:xfrm>
            <a:off x="226504" y="343949"/>
            <a:ext cx="6300132"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Complete </a:t>
            </a:r>
            <a:r>
              <a:rPr lang="en-IN" sz="1800" dirty="0" err="1"/>
              <a:t>IssueAdd</a:t>
            </a:r>
            <a:r>
              <a:rPr lang="en-IN" sz="1800" dirty="0"/>
              <a:t> Example</a:t>
            </a:r>
          </a:p>
          <a:p>
            <a:pPr lvl="1">
              <a:buNone/>
            </a:pPr>
            <a:r>
              <a:rPr lang="en-IN" sz="1400" dirty="0">
                <a:latin typeface="Courier New" panose="02070309020205020404" pitchFamily="49" charset="0"/>
              </a:rPr>
              <a:t>class </a:t>
            </a:r>
            <a:r>
              <a:rPr lang="en-IN" sz="1400" dirty="0" err="1">
                <a:latin typeface="Courier New" panose="02070309020205020404" pitchFamily="49" charset="0"/>
              </a:rPr>
              <a:t>IssueAdd</a:t>
            </a:r>
            <a:r>
              <a:rPr lang="en-IN" sz="1400" dirty="0">
                <a:latin typeface="Courier New" panose="02070309020205020404" pitchFamily="49" charset="0"/>
              </a:rPr>
              <a:t> extends </a:t>
            </a:r>
            <a:r>
              <a:rPr lang="en-IN" sz="1400" dirty="0" err="1">
                <a:latin typeface="Courier New" panose="02070309020205020404" pitchFamily="49" charset="0"/>
              </a:rPr>
              <a:t>React.Component</a:t>
            </a:r>
            <a:r>
              <a:rPr lang="en-IN" sz="1400" dirty="0">
                <a:latin typeface="Courier New" panose="02070309020205020404" pitchFamily="49" charset="0"/>
              </a:rPr>
              <a:t> {</a:t>
            </a:r>
          </a:p>
          <a:p>
            <a:pPr lvl="1">
              <a:buNone/>
            </a:pPr>
            <a:r>
              <a:rPr lang="en-IN" sz="1400" dirty="0">
                <a:latin typeface="Courier New" panose="02070309020205020404" pitchFamily="49" charset="0"/>
              </a:rPr>
              <a:t>  constructor() {</a:t>
            </a:r>
          </a:p>
          <a:p>
            <a:pPr lvl="1">
              <a:buNone/>
            </a:pPr>
            <a:r>
              <a:rPr lang="en-IN" sz="1400" dirty="0">
                <a:latin typeface="Courier New" panose="02070309020205020404" pitchFamily="49" charset="0"/>
              </a:rPr>
              <a:t>    super();</a:t>
            </a:r>
          </a:p>
          <a:p>
            <a:pPr lvl="1">
              <a:buNone/>
            </a:pPr>
            <a:r>
              <a:rPr lang="en-IN" sz="1400" dirty="0">
                <a:latin typeface="Courier New" panose="02070309020205020404" pitchFamily="49" charset="0"/>
              </a:rPr>
              <a:t>    </a:t>
            </a:r>
            <a:r>
              <a:rPr lang="en-IN" sz="1400" dirty="0" err="1">
                <a:latin typeface="Courier New" panose="02070309020205020404" pitchFamily="49" charset="0"/>
              </a:rPr>
              <a:t>this.handleSubmit</a:t>
            </a:r>
            <a:r>
              <a:rPr lang="en-IN" sz="1400" dirty="0">
                <a:latin typeface="Courier New" panose="02070309020205020404" pitchFamily="49" charset="0"/>
              </a:rPr>
              <a:t> = </a:t>
            </a:r>
            <a:r>
              <a:rPr lang="en-IN" sz="1400" dirty="0" err="1">
                <a:latin typeface="Courier New" panose="02070309020205020404" pitchFamily="49" charset="0"/>
              </a:rPr>
              <a:t>this.handleSubmit.bind</a:t>
            </a:r>
            <a:r>
              <a:rPr lang="en-IN" sz="1400" dirty="0">
                <a:latin typeface="Courier New" panose="02070309020205020404" pitchFamily="49" charset="0"/>
              </a:rPr>
              <a:t>(this);</a:t>
            </a:r>
          </a:p>
          <a:p>
            <a:pPr lvl="1">
              <a:buNone/>
            </a:pPr>
            <a:r>
              <a:rPr lang="en-IN" sz="1400" dirty="0">
                <a:latin typeface="Courier New" panose="02070309020205020404" pitchFamily="49" charset="0"/>
              </a:rPr>
              <a:t>  }</a:t>
            </a:r>
          </a:p>
          <a:p>
            <a:pPr lvl="1">
              <a:buNone/>
            </a:pPr>
            <a:r>
              <a:rPr lang="en-IN" sz="1400" dirty="0">
                <a:latin typeface="Courier New" panose="02070309020205020404" pitchFamily="49" charset="0"/>
              </a:rPr>
              <a:t>  </a:t>
            </a:r>
            <a:r>
              <a:rPr lang="en-IN" sz="1400" dirty="0" err="1">
                <a:latin typeface="Courier New" panose="02070309020205020404" pitchFamily="49" charset="0"/>
              </a:rPr>
              <a:t>handleSubmit</a:t>
            </a:r>
            <a:r>
              <a:rPr lang="en-IN" sz="1400" dirty="0">
                <a:latin typeface="Courier New" panose="02070309020205020404" pitchFamily="49" charset="0"/>
              </a:rPr>
              <a:t>(e) {</a:t>
            </a:r>
          </a:p>
          <a:p>
            <a:pPr lvl="1">
              <a:buNone/>
            </a:pPr>
            <a:r>
              <a:rPr lang="en-IN" sz="1400" dirty="0">
                <a:latin typeface="Courier New" panose="02070309020205020404" pitchFamily="49" charset="0"/>
              </a:rPr>
              <a:t>    </a:t>
            </a:r>
            <a:r>
              <a:rPr lang="en-IN" sz="1400" dirty="0" err="1">
                <a:latin typeface="Courier New" panose="02070309020205020404" pitchFamily="49" charset="0"/>
              </a:rPr>
              <a:t>e.preventDefault</a:t>
            </a:r>
            <a:r>
              <a:rPr lang="en-IN" sz="1400" dirty="0">
                <a:latin typeface="Courier New" panose="02070309020205020404" pitchFamily="49" charset="0"/>
              </a:rPr>
              <a:t>();</a:t>
            </a:r>
          </a:p>
          <a:p>
            <a:pPr lvl="1">
              <a:buNone/>
            </a:pPr>
            <a:r>
              <a:rPr lang="en-IN" sz="1400" dirty="0">
                <a:latin typeface="Courier New" panose="02070309020205020404" pitchFamily="49" charset="0"/>
              </a:rPr>
              <a:t>    </a:t>
            </a:r>
            <a:r>
              <a:rPr lang="en-IN" sz="1400" dirty="0" err="1">
                <a:latin typeface="Courier New" panose="02070309020205020404" pitchFamily="49" charset="0"/>
              </a:rPr>
              <a:t>const</a:t>
            </a:r>
            <a:r>
              <a:rPr lang="en-IN" sz="1400" dirty="0">
                <a:latin typeface="Courier New" panose="02070309020205020404" pitchFamily="49" charset="0"/>
              </a:rPr>
              <a:t> form = </a:t>
            </a:r>
            <a:r>
              <a:rPr lang="en-IN" sz="1400" dirty="0" err="1">
                <a:latin typeface="Courier New" panose="02070309020205020404" pitchFamily="49" charset="0"/>
              </a:rPr>
              <a:t>document.forms.issueAdd</a:t>
            </a:r>
            <a:r>
              <a:rPr lang="en-IN" sz="1400" dirty="0">
                <a:latin typeface="Courier New" panose="02070309020205020404" pitchFamily="49" charset="0"/>
              </a:rPr>
              <a:t>;</a:t>
            </a:r>
          </a:p>
          <a:p>
            <a:pPr lvl="1">
              <a:buNone/>
            </a:pPr>
            <a:r>
              <a:rPr lang="en-IN" sz="1400" dirty="0">
                <a:latin typeface="Courier New" panose="02070309020205020404" pitchFamily="49" charset="0"/>
              </a:rPr>
              <a:t>    </a:t>
            </a:r>
            <a:r>
              <a:rPr lang="en-IN" sz="1400" dirty="0" err="1">
                <a:latin typeface="Courier New" panose="02070309020205020404" pitchFamily="49" charset="0"/>
              </a:rPr>
              <a:t>const</a:t>
            </a:r>
            <a:r>
              <a:rPr lang="en-IN" sz="1400" dirty="0">
                <a:latin typeface="Courier New" panose="02070309020205020404" pitchFamily="49" charset="0"/>
              </a:rPr>
              <a:t> issue = {</a:t>
            </a:r>
          </a:p>
          <a:p>
            <a:pPr lvl="1">
              <a:buNone/>
            </a:pPr>
            <a:r>
              <a:rPr lang="en-IN" sz="1400" dirty="0">
                <a:latin typeface="Courier New" panose="02070309020205020404" pitchFamily="49" charset="0"/>
              </a:rPr>
              <a:t>      owner: </a:t>
            </a:r>
            <a:r>
              <a:rPr lang="en-IN" sz="1400" dirty="0" err="1">
                <a:latin typeface="Courier New" panose="02070309020205020404" pitchFamily="49" charset="0"/>
              </a:rPr>
              <a:t>form.owner.value</a:t>
            </a:r>
            <a:r>
              <a:rPr lang="en-IN" sz="1400" dirty="0">
                <a:latin typeface="Courier New" panose="02070309020205020404" pitchFamily="49" charset="0"/>
              </a:rPr>
              <a:t>,</a:t>
            </a:r>
          </a:p>
          <a:p>
            <a:pPr lvl="1">
              <a:buNone/>
            </a:pPr>
            <a:r>
              <a:rPr lang="en-IN" sz="1400" dirty="0">
                <a:latin typeface="Courier New" panose="02070309020205020404" pitchFamily="49" charset="0"/>
              </a:rPr>
              <a:t>      title: </a:t>
            </a:r>
            <a:r>
              <a:rPr lang="en-IN" sz="1400" dirty="0" err="1">
                <a:latin typeface="Courier New" panose="02070309020205020404" pitchFamily="49" charset="0"/>
              </a:rPr>
              <a:t>form.title.value</a:t>
            </a:r>
            <a:r>
              <a:rPr lang="en-IN" sz="1400" dirty="0">
                <a:latin typeface="Courier New" panose="02070309020205020404" pitchFamily="49" charset="0"/>
              </a:rPr>
              <a:t>,</a:t>
            </a:r>
          </a:p>
          <a:p>
            <a:pPr lvl="1">
              <a:buNone/>
            </a:pPr>
            <a:r>
              <a:rPr lang="en-IN" sz="1400" dirty="0">
                <a:latin typeface="Courier New" panose="02070309020205020404" pitchFamily="49" charset="0"/>
              </a:rPr>
              <a:t>      status: "New"</a:t>
            </a:r>
          </a:p>
          <a:p>
            <a:pPr lvl="1">
              <a:buNone/>
            </a:pPr>
            <a:r>
              <a:rPr lang="en-IN" sz="1400" dirty="0">
                <a:latin typeface="Courier New" panose="02070309020205020404" pitchFamily="49" charset="0"/>
              </a:rPr>
              <a:t>    };</a:t>
            </a:r>
          </a:p>
          <a:p>
            <a:pPr lvl="1">
              <a:buNone/>
            </a:pPr>
            <a:endParaRPr lang="en-IN" sz="1400" dirty="0">
              <a:latin typeface="Courier New" panose="02070309020205020404" pitchFamily="49" charset="0"/>
            </a:endParaRPr>
          </a:p>
          <a:p>
            <a:pPr lvl="1">
              <a:buNone/>
            </a:pPr>
            <a:r>
              <a:rPr lang="en-IN" sz="1400" dirty="0">
                <a:latin typeface="Courier New" panose="02070309020205020404" pitchFamily="49" charset="0"/>
              </a:rPr>
              <a:t>	</a:t>
            </a:r>
            <a:r>
              <a:rPr lang="en-IN" sz="1400" dirty="0" err="1">
                <a:latin typeface="Courier New" panose="02070309020205020404" pitchFamily="49" charset="0"/>
              </a:rPr>
              <a:t>this.props.createIssue</a:t>
            </a:r>
            <a:r>
              <a:rPr lang="en-IN" sz="1400" dirty="0">
                <a:latin typeface="Courier New" panose="02070309020205020404" pitchFamily="49" charset="0"/>
              </a:rPr>
              <a:t>(issue); </a:t>
            </a:r>
          </a:p>
          <a:p>
            <a:pPr lvl="1">
              <a:buNone/>
            </a:pPr>
            <a:r>
              <a:rPr lang="en-IN" sz="1400" dirty="0">
                <a:latin typeface="Courier New" panose="02070309020205020404" pitchFamily="49" charset="0"/>
              </a:rPr>
              <a:t>	</a:t>
            </a:r>
            <a:r>
              <a:rPr lang="en-IN" sz="1400" dirty="0" err="1">
                <a:latin typeface="Courier New" panose="02070309020205020404" pitchFamily="49" charset="0"/>
              </a:rPr>
              <a:t>form.owner.value</a:t>
            </a:r>
            <a:r>
              <a:rPr lang="en-IN" sz="1400" dirty="0">
                <a:latin typeface="Courier New" panose="02070309020205020404" pitchFamily="49" charset="0"/>
              </a:rPr>
              <a:t> = ""; </a:t>
            </a:r>
          </a:p>
          <a:p>
            <a:pPr lvl="1">
              <a:buNone/>
            </a:pPr>
            <a:r>
              <a:rPr lang="en-IN" sz="1400" dirty="0">
                <a:latin typeface="Courier New" panose="02070309020205020404" pitchFamily="49" charset="0"/>
              </a:rPr>
              <a:t>	</a:t>
            </a:r>
            <a:r>
              <a:rPr lang="en-IN" sz="1400" dirty="0" err="1">
                <a:latin typeface="Courier New" panose="02070309020205020404" pitchFamily="49" charset="0"/>
              </a:rPr>
              <a:t>form.title.value</a:t>
            </a:r>
            <a:r>
              <a:rPr lang="en-IN" sz="1400" dirty="0">
                <a:latin typeface="Courier New" panose="02070309020205020404" pitchFamily="49" charset="0"/>
              </a:rPr>
              <a:t> = ""; }</a:t>
            </a:r>
          </a:p>
          <a:p>
            <a:pPr lvl="1">
              <a:buFont typeface="Arial" panose="020B0604020202020204" pitchFamily="34" charset="0"/>
              <a:buChar char="•"/>
            </a:pPr>
            <a:endParaRPr lang="en-US" sz="1600" dirty="0"/>
          </a:p>
        </p:txBody>
      </p:sp>
      <p:sp>
        <p:nvSpPr>
          <p:cNvPr id="2" name="TextBox 1">
            <a:extLst>
              <a:ext uri="{FF2B5EF4-FFF2-40B4-BE49-F238E27FC236}">
                <a16:creationId xmlns:a16="http://schemas.microsoft.com/office/drawing/2014/main" id="{92796277-FE94-9586-DF4A-3724C63AA6E1}"/>
              </a:ext>
            </a:extLst>
          </p:cNvPr>
          <p:cNvSpPr txBox="1"/>
          <p:nvPr/>
        </p:nvSpPr>
        <p:spPr>
          <a:xfrm>
            <a:off x="6258187" y="335560"/>
            <a:ext cx="5729681" cy="2708434"/>
          </a:xfrm>
          <a:prstGeom prst="rect">
            <a:avLst/>
          </a:prstGeom>
          <a:noFill/>
        </p:spPr>
        <p:txBody>
          <a:bodyPr wrap="square" rtlCol="0">
            <a:spAutoFit/>
          </a:bodyPr>
          <a:lstStyle/>
          <a:p>
            <a:pPr>
              <a:spcAft>
                <a:spcPts val="600"/>
              </a:spcAft>
            </a:pPr>
            <a:r>
              <a:rPr lang="en-IN" sz="1400" dirty="0">
                <a:latin typeface="Courier New" panose="02070309020205020404" pitchFamily="49" charset="0"/>
                <a:cs typeface="Courier New" panose="02070309020205020404" pitchFamily="49" charset="0"/>
              </a:rPr>
              <a:t>render() </a:t>
            </a:r>
          </a:p>
          <a:p>
            <a:pPr>
              <a:spcAft>
                <a:spcPts val="600"/>
              </a:spcAft>
            </a:pPr>
            <a:r>
              <a:rPr lang="en-IN" sz="1400" dirty="0">
                <a:latin typeface="Courier New" panose="02070309020205020404" pitchFamily="49" charset="0"/>
                <a:cs typeface="Courier New" panose="02070309020205020404" pitchFamily="49" charset="0"/>
              </a:rPr>
              <a:t>{ </a:t>
            </a:r>
          </a:p>
          <a:p>
            <a:pPr>
              <a:spcAft>
                <a:spcPts val="600"/>
              </a:spcAft>
            </a:pPr>
            <a:r>
              <a:rPr lang="en-IN" sz="1400" dirty="0">
                <a:latin typeface="Courier New" panose="02070309020205020404" pitchFamily="49" charset="0"/>
                <a:cs typeface="Courier New" panose="02070309020205020404" pitchFamily="49" charset="0"/>
              </a:rPr>
              <a:t>return ( </a:t>
            </a:r>
          </a:p>
          <a:p>
            <a:pPr>
              <a:spcAft>
                <a:spcPts val="600"/>
              </a:spcAft>
            </a:pPr>
            <a:r>
              <a:rPr lang="en-IN" sz="1400" dirty="0">
                <a:latin typeface="Courier New" panose="02070309020205020404" pitchFamily="49" charset="0"/>
                <a:cs typeface="Courier New" panose="02070309020205020404" pitchFamily="49" charset="0"/>
              </a:rPr>
              <a:t>&lt;form name="</a:t>
            </a:r>
            <a:r>
              <a:rPr lang="en-IN" sz="1400" dirty="0" err="1">
                <a:latin typeface="Courier New" panose="02070309020205020404" pitchFamily="49" charset="0"/>
                <a:cs typeface="Courier New" panose="02070309020205020404" pitchFamily="49" charset="0"/>
              </a:rPr>
              <a:t>issueAdd</a:t>
            </a:r>
            <a:r>
              <a:rPr lang="en-IN" sz="1400" dirty="0">
                <a:latin typeface="Courier New" panose="02070309020205020404" pitchFamily="49" charset="0"/>
                <a:cs typeface="Courier New" panose="02070309020205020404" pitchFamily="49" charset="0"/>
              </a:rPr>
              <a:t>" </a:t>
            </a:r>
            <a:r>
              <a:rPr lang="en-IN" sz="1400" dirty="0" err="1">
                <a:latin typeface="Courier New" panose="02070309020205020404" pitchFamily="49" charset="0"/>
                <a:cs typeface="Courier New" panose="02070309020205020404" pitchFamily="49" charset="0"/>
              </a:rPr>
              <a:t>onSubmit</a:t>
            </a:r>
            <a:r>
              <a:rPr lang="en-IN" sz="1400" dirty="0">
                <a:latin typeface="Courier New" panose="02070309020205020404" pitchFamily="49" charset="0"/>
                <a:cs typeface="Courier New" panose="02070309020205020404" pitchFamily="49" charset="0"/>
              </a:rPr>
              <a:t>={</a:t>
            </a:r>
            <a:r>
              <a:rPr lang="en-IN" sz="1400" dirty="0" err="1">
                <a:latin typeface="Courier New" panose="02070309020205020404" pitchFamily="49" charset="0"/>
                <a:cs typeface="Courier New" panose="02070309020205020404" pitchFamily="49" charset="0"/>
              </a:rPr>
              <a:t>this.handleSubmit</a:t>
            </a:r>
            <a:r>
              <a:rPr lang="en-IN" sz="1400" dirty="0">
                <a:latin typeface="Courier New" panose="02070309020205020404" pitchFamily="49" charset="0"/>
                <a:cs typeface="Courier New" panose="02070309020205020404" pitchFamily="49" charset="0"/>
              </a:rPr>
              <a:t>}&gt; &lt;input type="text" name="owner" placeholder="Owner" /&gt; </a:t>
            </a:r>
          </a:p>
          <a:p>
            <a:pPr>
              <a:spcAft>
                <a:spcPts val="600"/>
              </a:spcAft>
            </a:pPr>
            <a:r>
              <a:rPr lang="en-IN" sz="1400" dirty="0">
                <a:latin typeface="Courier New" panose="02070309020205020404" pitchFamily="49" charset="0"/>
                <a:cs typeface="Courier New" panose="02070309020205020404" pitchFamily="49" charset="0"/>
              </a:rPr>
              <a:t>&lt;input type="text" name="title" placeholder="Title" /&gt; &lt;button&gt;Add&lt;/button&gt; &lt;/form&gt; ); </a:t>
            </a:r>
          </a:p>
          <a:p>
            <a:pPr>
              <a:spcAft>
                <a:spcPts val="600"/>
              </a:spcAft>
            </a:pPr>
            <a:r>
              <a:rPr lang="en-IN" sz="1400" dirty="0">
                <a:latin typeface="Courier New" panose="02070309020205020404" pitchFamily="49" charset="0"/>
                <a:cs typeface="Courier New" panose="02070309020205020404" pitchFamily="49" charset="0"/>
              </a:rPr>
              <a:t>} </a:t>
            </a:r>
          </a:p>
          <a:p>
            <a:pPr>
              <a:spcAft>
                <a:spcPts val="600"/>
              </a:spcAft>
            </a:pPr>
            <a:r>
              <a:rPr lang="en-IN" sz="14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5775814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6C382-0453-2402-AB50-1C476B89783D}"/>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09444D7-CFF3-41E8-5399-3E20B516517D}"/>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600" b="1" dirty="0"/>
              <a:t>Key Concept – Lifting State Up</a:t>
            </a:r>
          </a:p>
          <a:p>
            <a:pPr>
              <a:buFont typeface="Arial" panose="020B0604020202020204" pitchFamily="34" charset="0"/>
              <a:buChar char="•"/>
            </a:pPr>
            <a:r>
              <a:rPr lang="en-IN" sz="1600" dirty="0">
                <a:latin typeface="Courier New" panose="02070309020205020404" pitchFamily="49" charset="0"/>
              </a:rPr>
              <a:t>	</a:t>
            </a:r>
            <a:r>
              <a:rPr lang="en-IN" sz="1600" dirty="0" err="1">
                <a:latin typeface="Courier New" panose="02070309020205020404" pitchFamily="49" charset="0"/>
              </a:rPr>
              <a:t>IssueAdd</a:t>
            </a:r>
            <a:r>
              <a:rPr lang="en-IN" sz="1600" dirty="0"/>
              <a:t> does not directly modify the issue list.</a:t>
            </a:r>
          </a:p>
          <a:p>
            <a:pPr lvl="1">
              <a:buNone/>
            </a:pPr>
            <a:r>
              <a:rPr lang="en-IN" sz="1600" dirty="0"/>
              <a:t>Instead:</a:t>
            </a:r>
          </a:p>
          <a:p>
            <a:pPr marL="635508" lvl="1" indent="-342900">
              <a:buFont typeface="Arial" panose="020B0604020202020204" pitchFamily="34" charset="0"/>
              <a:buChar char="•"/>
            </a:pPr>
            <a:r>
              <a:rPr lang="en-IN" sz="1600" dirty="0" err="1">
                <a:latin typeface="Courier New" panose="02070309020205020404" pitchFamily="49" charset="0"/>
              </a:rPr>
              <a:t>IssueList</a:t>
            </a:r>
            <a:r>
              <a:rPr lang="en-IN" sz="1600" dirty="0"/>
              <a:t> </a:t>
            </a:r>
            <a:r>
              <a:rPr lang="en-IN" sz="1600" b="1" dirty="0"/>
              <a:t>owns the state</a:t>
            </a:r>
            <a:r>
              <a:rPr lang="en-IN" sz="1600" dirty="0"/>
              <a:t>.</a:t>
            </a:r>
          </a:p>
          <a:p>
            <a:pPr marL="635508" lvl="1" indent="-342900">
              <a:buFont typeface="Arial" panose="020B0604020202020204" pitchFamily="34" charset="0"/>
              <a:buChar char="•"/>
            </a:pPr>
            <a:r>
              <a:rPr lang="en-IN" sz="1600" dirty="0" err="1">
                <a:latin typeface="Courier New" panose="02070309020205020404" pitchFamily="49" charset="0"/>
              </a:rPr>
              <a:t>IssueAdd</a:t>
            </a:r>
            <a:r>
              <a:rPr lang="en-IN" sz="1600" dirty="0"/>
              <a:t> receives </a:t>
            </a:r>
            <a:r>
              <a:rPr lang="en-IN" sz="1600" dirty="0" err="1">
                <a:latin typeface="Courier New" panose="02070309020205020404" pitchFamily="49" charset="0"/>
              </a:rPr>
              <a:t>createIssue</a:t>
            </a:r>
            <a:r>
              <a:rPr lang="en-IN" sz="1600" dirty="0">
                <a:latin typeface="Courier New" panose="02070309020205020404" pitchFamily="49" charset="0"/>
              </a:rPr>
              <a:t>()</a:t>
            </a:r>
            <a:r>
              <a:rPr lang="en-IN" sz="1600" dirty="0"/>
              <a:t> through props.</a:t>
            </a:r>
          </a:p>
          <a:p>
            <a:pPr marL="635508" lvl="1" indent="-342900">
              <a:buFont typeface="Arial" panose="020B0604020202020204" pitchFamily="34" charset="0"/>
              <a:buChar char="•"/>
            </a:pPr>
            <a:r>
              <a:rPr lang="en-IN" sz="1600" dirty="0" err="1">
                <a:latin typeface="Courier New" panose="02070309020205020404" pitchFamily="49" charset="0"/>
              </a:rPr>
              <a:t>IssueAdd</a:t>
            </a:r>
            <a:r>
              <a:rPr lang="en-IN" sz="1600" dirty="0"/>
              <a:t> calls the function when the user submits the form.</a:t>
            </a:r>
          </a:p>
          <a:p>
            <a:pPr marL="635508" lvl="1" indent="-342900">
              <a:buFont typeface="Arial" panose="020B0604020202020204" pitchFamily="34" charset="0"/>
              <a:buChar char="•"/>
            </a:pPr>
            <a:r>
              <a:rPr lang="en-IN" sz="1600" dirty="0" err="1">
                <a:latin typeface="Courier New" panose="02070309020205020404" pitchFamily="49" charset="0"/>
              </a:rPr>
              <a:t>IssueList</a:t>
            </a:r>
            <a:r>
              <a:rPr lang="en-IN" sz="1600" dirty="0"/>
              <a:t> updates its state.</a:t>
            </a:r>
          </a:p>
          <a:p>
            <a:pPr marL="635508" lvl="1" indent="-342900">
              <a:buFont typeface="Arial" panose="020B0604020202020204" pitchFamily="34" charset="0"/>
              <a:buChar char="•"/>
            </a:pPr>
            <a:r>
              <a:rPr lang="en-IN" sz="1600" dirty="0" err="1">
                <a:latin typeface="Courier New" panose="02070309020205020404" pitchFamily="49" charset="0"/>
              </a:rPr>
              <a:t>IssueTable</a:t>
            </a:r>
            <a:r>
              <a:rPr lang="en-IN" sz="1600" dirty="0"/>
              <a:t> receives the updated issues through props.</a:t>
            </a:r>
          </a:p>
          <a:p>
            <a:pPr lvl="1">
              <a:buNone/>
            </a:pPr>
            <a:endParaRPr lang="en-IN" sz="1600" b="1" dirty="0"/>
          </a:p>
          <a:p>
            <a:pPr lvl="1">
              <a:buNone/>
            </a:pPr>
            <a:r>
              <a:rPr lang="en-IN" sz="1600" b="1" dirty="0"/>
              <a:t>Important Points</a:t>
            </a:r>
          </a:p>
          <a:p>
            <a:pPr marL="635508" lvl="1" indent="-342900">
              <a:buFont typeface="Arial" panose="020B0604020202020204" pitchFamily="34" charset="0"/>
              <a:buChar char="•"/>
            </a:pPr>
            <a:r>
              <a:rPr lang="en-IN" sz="1600" dirty="0" err="1">
                <a:latin typeface="Courier New" panose="02070309020205020404" pitchFamily="49" charset="0"/>
              </a:rPr>
              <a:t>onSubmit</a:t>
            </a:r>
            <a:r>
              <a:rPr lang="en-IN" sz="1600" dirty="0"/>
              <a:t> handles form submission.</a:t>
            </a:r>
          </a:p>
          <a:p>
            <a:pPr marL="635508" lvl="1" indent="-342900">
              <a:buFont typeface="Arial" panose="020B0604020202020204" pitchFamily="34" charset="0"/>
              <a:buChar char="•"/>
            </a:pPr>
            <a:r>
              <a:rPr lang="en-IN" sz="1600" dirty="0" err="1">
                <a:latin typeface="Courier New" panose="02070309020205020404" pitchFamily="49" charset="0"/>
              </a:rPr>
              <a:t>preventDefault</a:t>
            </a:r>
            <a:r>
              <a:rPr lang="en-IN" sz="1600" dirty="0">
                <a:latin typeface="Courier New" panose="02070309020205020404" pitchFamily="49" charset="0"/>
              </a:rPr>
              <a:t>()</a:t>
            </a:r>
            <a:r>
              <a:rPr lang="en-IN" sz="1600" dirty="0"/>
              <a:t> prevents page reload.</a:t>
            </a:r>
          </a:p>
          <a:p>
            <a:pPr marL="635508" lvl="1" indent="-342900">
              <a:buFont typeface="Arial" panose="020B0604020202020204" pitchFamily="34" charset="0"/>
              <a:buChar char="•"/>
            </a:pPr>
            <a:r>
              <a:rPr lang="en-IN" sz="1600" dirty="0"/>
              <a:t>Form values are obtained using </a:t>
            </a:r>
            <a:r>
              <a:rPr lang="en-IN" sz="1600" dirty="0" err="1">
                <a:latin typeface="Courier New" panose="02070309020205020404" pitchFamily="49" charset="0"/>
              </a:rPr>
              <a:t>form.fieldName.value</a:t>
            </a:r>
            <a:r>
              <a:rPr lang="en-IN" sz="1600" dirty="0"/>
              <a:t>.</a:t>
            </a:r>
          </a:p>
          <a:p>
            <a:pPr marL="635508" lvl="1" indent="-342900">
              <a:buFont typeface="Arial" panose="020B0604020202020204" pitchFamily="34" charset="0"/>
              <a:buChar char="•"/>
            </a:pPr>
            <a:r>
              <a:rPr lang="en-IN" sz="1600" dirty="0" err="1">
                <a:latin typeface="Courier New" panose="02070309020205020404" pitchFamily="49" charset="0"/>
              </a:rPr>
              <a:t>createIssue</a:t>
            </a:r>
            <a:r>
              <a:rPr lang="en-IN" sz="1600" dirty="0">
                <a:latin typeface="Courier New" panose="02070309020205020404" pitchFamily="49" charset="0"/>
              </a:rPr>
              <a:t>()</a:t>
            </a:r>
            <a:r>
              <a:rPr lang="en-IN" sz="1600" dirty="0"/>
              <a:t> is passed from parent to child through props.</a:t>
            </a:r>
          </a:p>
          <a:p>
            <a:pPr marL="635508" lvl="1" indent="-342900">
              <a:buFont typeface="Arial" panose="020B0604020202020204" pitchFamily="34" charset="0"/>
              <a:buChar char="•"/>
            </a:pPr>
            <a:r>
              <a:rPr lang="en-IN" sz="1600" dirty="0"/>
              <a:t>State remains in the common parent.</a:t>
            </a:r>
          </a:p>
          <a:p>
            <a:pPr marL="635508" lvl="1" indent="-342900">
              <a:buFont typeface="Arial" panose="020B0604020202020204" pitchFamily="34" charset="0"/>
              <a:buChar char="•"/>
            </a:pPr>
            <a:r>
              <a:rPr lang="en-IN" sz="1600" dirty="0"/>
              <a:t>Updated state automatically flows to </a:t>
            </a:r>
            <a:r>
              <a:rPr lang="en-IN" sz="1600" dirty="0" err="1">
                <a:latin typeface="Courier New" panose="02070309020205020404" pitchFamily="49" charset="0"/>
              </a:rPr>
              <a:t>IssueTable</a:t>
            </a:r>
            <a:r>
              <a:rPr lang="en-IN" sz="1600" dirty="0"/>
              <a:t>.</a:t>
            </a:r>
          </a:p>
          <a:p>
            <a:pPr marL="635508" lvl="1" indent="-342900">
              <a:buFont typeface="Arial" panose="020B0604020202020204" pitchFamily="34" charset="0"/>
              <a:buChar char="•"/>
            </a:pPr>
            <a:r>
              <a:rPr lang="en-IN" sz="1600" dirty="0"/>
              <a:t>This follows </a:t>
            </a:r>
            <a:r>
              <a:rPr lang="en-IN" sz="1600" dirty="0" err="1"/>
              <a:t>React's</a:t>
            </a:r>
            <a:r>
              <a:rPr lang="en-IN" sz="1600" dirty="0"/>
              <a:t> </a:t>
            </a:r>
            <a:r>
              <a:rPr lang="en-IN" sz="1600" b="1" dirty="0"/>
              <a:t>one-way data flow</a:t>
            </a:r>
            <a:r>
              <a:rPr lang="en-IN" sz="1600" dirty="0"/>
              <a:t>.</a:t>
            </a:r>
          </a:p>
          <a:p>
            <a:pPr>
              <a:buFont typeface="Arial" panose="020B0604020202020204" pitchFamily="34" charset="0"/>
              <a:buChar char="•"/>
            </a:pPr>
            <a:endParaRPr lang="en-US" sz="1800" dirty="0"/>
          </a:p>
        </p:txBody>
      </p:sp>
      <p:pic>
        <p:nvPicPr>
          <p:cNvPr id="3" name="Picture 2">
            <a:extLst>
              <a:ext uri="{FF2B5EF4-FFF2-40B4-BE49-F238E27FC236}">
                <a16:creationId xmlns:a16="http://schemas.microsoft.com/office/drawing/2014/main" id="{4E22A429-F908-B42C-7D4D-4D66C2286D5B}"/>
              </a:ext>
            </a:extLst>
          </p:cNvPr>
          <p:cNvPicPr>
            <a:picLocks noChangeAspect="1"/>
          </p:cNvPicPr>
          <p:nvPr/>
        </p:nvPicPr>
        <p:blipFill>
          <a:blip r:embed="rId2"/>
          <a:stretch>
            <a:fillRect/>
          </a:stretch>
        </p:blipFill>
        <p:spPr>
          <a:xfrm>
            <a:off x="7404148" y="469772"/>
            <a:ext cx="2651990" cy="2636748"/>
          </a:xfrm>
          <a:prstGeom prst="rect">
            <a:avLst/>
          </a:prstGeom>
        </p:spPr>
      </p:pic>
    </p:spTree>
    <p:extLst>
      <p:ext uri="{BB962C8B-B14F-4D97-AF65-F5344CB8AC3E}">
        <p14:creationId xmlns:p14="http://schemas.microsoft.com/office/powerpoint/2010/main" val="19033864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CD865-D15B-3197-1C74-35B366E8324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551F104-B5ED-0F7F-6786-7A29EFB4503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endParaRPr lang="en-US" sz="1800" dirty="0"/>
          </a:p>
        </p:txBody>
      </p:sp>
      <p:pic>
        <p:nvPicPr>
          <p:cNvPr id="3" name="Picture 2">
            <a:extLst>
              <a:ext uri="{FF2B5EF4-FFF2-40B4-BE49-F238E27FC236}">
                <a16:creationId xmlns:a16="http://schemas.microsoft.com/office/drawing/2014/main" id="{6119BF99-41DC-DB48-BB87-82498FCEE322}"/>
              </a:ext>
            </a:extLst>
          </p:cNvPr>
          <p:cNvPicPr>
            <a:picLocks noChangeAspect="1"/>
          </p:cNvPicPr>
          <p:nvPr/>
        </p:nvPicPr>
        <p:blipFill>
          <a:blip r:embed="rId2"/>
          <a:stretch>
            <a:fillRect/>
          </a:stretch>
        </p:blipFill>
        <p:spPr>
          <a:xfrm>
            <a:off x="2802400" y="343949"/>
            <a:ext cx="6064762" cy="5879107"/>
          </a:xfrm>
          <a:prstGeom prst="rect">
            <a:avLst/>
          </a:prstGeom>
        </p:spPr>
      </p:pic>
    </p:spTree>
    <p:extLst>
      <p:ext uri="{BB962C8B-B14F-4D97-AF65-F5344CB8AC3E}">
        <p14:creationId xmlns:p14="http://schemas.microsoft.com/office/powerpoint/2010/main" val="38866391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6C1CC-AFEA-2B36-4AAD-DFCAE26BA124}"/>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5A4CF3B-1A3B-EEF7-2030-FC40D75B7B6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Stateless Components</a:t>
            </a:r>
          </a:p>
          <a:p>
            <a:pPr lvl="1"/>
            <a:r>
              <a:rPr lang="en-IN" sz="2000" b="1" dirty="0"/>
              <a:t>What is a Stateless Component?</a:t>
            </a:r>
          </a:p>
          <a:p>
            <a:pPr lvl="2"/>
            <a:r>
              <a:rPr lang="en-IN" sz="1600" dirty="0"/>
              <a:t>A </a:t>
            </a:r>
            <a:r>
              <a:rPr lang="en-IN" sz="1600" b="1" dirty="0"/>
              <a:t>stateless component</a:t>
            </a:r>
            <a:r>
              <a:rPr lang="en-IN" sz="1600" dirty="0"/>
              <a:t> is a React component that does not maintain its own state.</a:t>
            </a:r>
          </a:p>
          <a:p>
            <a:pPr lvl="2"/>
            <a:r>
              <a:rPr lang="en-IN" sz="1600" dirty="0"/>
              <a:t>Its output depends mainly on the </a:t>
            </a:r>
            <a:r>
              <a:rPr lang="en-IN" sz="1600" b="1" dirty="0"/>
              <a:t>props</a:t>
            </a:r>
            <a:r>
              <a:rPr lang="en-IN" sz="1600" dirty="0"/>
              <a:t> received from the parent.</a:t>
            </a:r>
          </a:p>
          <a:p>
            <a:pPr lvl="2"/>
            <a:r>
              <a:rPr lang="en-IN" sz="1600" dirty="0"/>
              <a:t>It can be written as a </a:t>
            </a:r>
            <a:r>
              <a:rPr lang="en-IN" sz="1600" b="1" dirty="0"/>
              <a:t>JavaScript function</a:t>
            </a:r>
            <a:r>
              <a:rPr lang="en-IN" sz="1600" dirty="0"/>
              <a:t> instead of a class.</a:t>
            </a:r>
          </a:p>
          <a:p>
            <a:pPr lvl="2"/>
            <a:r>
              <a:rPr lang="en-IN" sz="1600" dirty="0"/>
              <a:t>It is useful when a component only needs to </a:t>
            </a:r>
            <a:r>
              <a:rPr lang="en-IN" sz="1600" b="1" dirty="0"/>
              <a:t>display data</a:t>
            </a:r>
            <a:r>
              <a:rPr lang="en-IN" sz="1600" dirty="0"/>
              <a:t>.</a:t>
            </a:r>
          </a:p>
          <a:p>
            <a:pPr lvl="1">
              <a:buNone/>
            </a:pPr>
            <a:endParaRPr lang="en-IN" sz="1600" b="1" dirty="0"/>
          </a:p>
          <a:p>
            <a:pPr lvl="1">
              <a:buNone/>
            </a:pPr>
            <a:r>
              <a:rPr lang="en-IN" sz="1800" b="1" dirty="0"/>
              <a:t>Class Component vs Stateless Component</a:t>
            </a:r>
          </a:p>
          <a:p>
            <a:pPr lvl="1">
              <a:buNone/>
            </a:pPr>
            <a:r>
              <a:rPr lang="en-IN" sz="1800" dirty="0"/>
              <a:t>A class component:</a:t>
            </a:r>
          </a:p>
          <a:p>
            <a:pPr lvl="2">
              <a:buNone/>
            </a:pPr>
            <a:r>
              <a:rPr lang="en-IN" sz="1400" dirty="0">
                <a:latin typeface="Courier New" panose="02070309020205020404" pitchFamily="49" charset="0"/>
              </a:rPr>
              <a:t>class HelloWorld extends </a:t>
            </a:r>
            <a:r>
              <a:rPr lang="en-IN" sz="1400" dirty="0" err="1">
                <a:latin typeface="Courier New" panose="02070309020205020404" pitchFamily="49" charset="0"/>
              </a:rPr>
              <a:t>React.Component</a:t>
            </a:r>
            <a:r>
              <a:rPr lang="en-IN" sz="1400" dirty="0">
                <a:latin typeface="Courier New" panose="02070309020205020404" pitchFamily="49" charset="0"/>
              </a:rPr>
              <a:t> {</a:t>
            </a:r>
          </a:p>
          <a:p>
            <a:pPr lvl="2">
              <a:buNone/>
            </a:pPr>
            <a:r>
              <a:rPr lang="en-IN" sz="1400" dirty="0">
                <a:latin typeface="Courier New" panose="02070309020205020404" pitchFamily="49" charset="0"/>
              </a:rPr>
              <a:t>  render() {</a:t>
            </a:r>
          </a:p>
          <a:p>
            <a:pPr lvl="2">
              <a:buNone/>
            </a:pPr>
            <a:r>
              <a:rPr lang="en-IN" sz="1400" dirty="0">
                <a:latin typeface="Courier New" panose="02070309020205020404" pitchFamily="49" charset="0"/>
              </a:rPr>
              <a:t>    return &lt;h1&gt;Hello World!&lt;/h1&gt;;</a:t>
            </a:r>
          </a:p>
          <a:p>
            <a:pPr lvl="2">
              <a:buNone/>
            </a:pPr>
            <a:r>
              <a:rPr lang="en-IN" sz="1400" dirty="0">
                <a:latin typeface="Courier New" panose="02070309020205020404" pitchFamily="49" charset="0"/>
              </a:rPr>
              <a:t>  }</a:t>
            </a:r>
          </a:p>
          <a:p>
            <a:pPr lvl="2">
              <a:buNone/>
            </a:pPr>
            <a:r>
              <a:rPr lang="en-IN" sz="1400" dirty="0">
                <a:latin typeface="Courier New" panose="02070309020205020404" pitchFamily="49" charset="0"/>
              </a:rPr>
              <a:t>}</a:t>
            </a:r>
          </a:p>
          <a:p>
            <a:pPr lvl="1">
              <a:buNone/>
            </a:pPr>
            <a:r>
              <a:rPr lang="en-IN" sz="1800" dirty="0"/>
              <a:t>The same component can be written as a function:</a:t>
            </a:r>
          </a:p>
          <a:p>
            <a:pPr lvl="2">
              <a:buNone/>
            </a:pPr>
            <a:r>
              <a:rPr lang="en-IN" sz="1400" dirty="0">
                <a:latin typeface="Courier New" panose="02070309020205020404" pitchFamily="49" charset="0"/>
              </a:rPr>
              <a:t>function HelloWorld() {</a:t>
            </a:r>
          </a:p>
          <a:p>
            <a:pPr lvl="2">
              <a:buNone/>
            </a:pPr>
            <a:r>
              <a:rPr lang="en-IN" sz="1400" dirty="0">
                <a:latin typeface="Courier New" panose="02070309020205020404" pitchFamily="49" charset="0"/>
              </a:rPr>
              <a:t>  return &lt;h1&gt;Hello World!&lt;/h1&gt;;</a:t>
            </a:r>
          </a:p>
          <a:p>
            <a:pPr lvl="2">
              <a:buNone/>
            </a:pPr>
            <a:r>
              <a:rPr lang="en-IN" sz="1400" dirty="0">
                <a:latin typeface="Courier New" panose="02070309020205020404" pitchFamily="49" charset="0"/>
              </a:rPr>
              <a:t>}</a:t>
            </a:r>
          </a:p>
          <a:p>
            <a:pPr lvl="1">
              <a:buNone/>
            </a:pPr>
            <a:r>
              <a:rPr lang="en-IN" sz="1800" dirty="0"/>
              <a:t>The functional version is shorter and easier to understand.</a:t>
            </a:r>
          </a:p>
          <a:p>
            <a:pPr lvl="2"/>
            <a:endParaRPr lang="en-IN" sz="1600" dirty="0"/>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33805576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0A3BC-0107-AE83-9FBC-0A18F43368B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68453BA4-9189-6336-49B3-E5316C11E2A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b="1" dirty="0"/>
              <a:t>Stateless Component with Props</a:t>
            </a:r>
          </a:p>
          <a:p>
            <a:pPr lvl="1">
              <a:buFont typeface="Arial" panose="020B0604020202020204" pitchFamily="34" charset="0"/>
              <a:buChar char="•"/>
            </a:pPr>
            <a:r>
              <a:rPr lang="en-IN" sz="2000" dirty="0"/>
              <a:t>If the component receives data through props:</a:t>
            </a:r>
          </a:p>
          <a:p>
            <a:pPr lvl="2">
              <a:buNone/>
            </a:pPr>
            <a:r>
              <a:rPr lang="en-IN" sz="1600" dirty="0">
                <a:latin typeface="Courier New" panose="02070309020205020404" pitchFamily="49" charset="0"/>
              </a:rPr>
              <a:t>function HelloWorld(props) {</a:t>
            </a:r>
          </a:p>
          <a:p>
            <a:pPr lvl="2">
              <a:buNone/>
            </a:pPr>
            <a:r>
              <a:rPr lang="en-IN" sz="1600" dirty="0">
                <a:latin typeface="Courier New" panose="02070309020205020404" pitchFamily="49" charset="0"/>
              </a:rPr>
              <a:t>  return &lt;h1&gt;{</a:t>
            </a:r>
            <a:r>
              <a:rPr lang="en-IN" sz="1600" dirty="0" err="1">
                <a:latin typeface="Courier New" panose="02070309020205020404" pitchFamily="49" charset="0"/>
              </a:rPr>
              <a:t>props.message</a:t>
            </a:r>
            <a:r>
              <a:rPr lang="en-IN" sz="1600" dirty="0">
                <a:latin typeface="Courier New" panose="02070309020205020404" pitchFamily="49" charset="0"/>
              </a:rPr>
              <a:t>}&lt;/h1&gt;;</a:t>
            </a:r>
          </a:p>
          <a:p>
            <a:pPr lvl="2">
              <a:buNone/>
            </a:pPr>
            <a:r>
              <a:rPr lang="en-IN" sz="1600" dirty="0">
                <a:latin typeface="Courier New" panose="02070309020205020404" pitchFamily="49" charset="0"/>
              </a:rPr>
              <a:t>}</a:t>
            </a:r>
          </a:p>
          <a:p>
            <a:pPr lvl="1">
              <a:buFont typeface="Arial" panose="020B0604020202020204" pitchFamily="34" charset="0"/>
              <a:buChar char="•"/>
            </a:pPr>
            <a:r>
              <a:rPr lang="en-IN" sz="2000" dirty="0"/>
              <a:t>It can be used as:</a:t>
            </a:r>
          </a:p>
          <a:p>
            <a:pPr lvl="2">
              <a:buNone/>
            </a:pPr>
            <a:r>
              <a:rPr lang="en-IN" sz="1600" dirty="0">
                <a:latin typeface="Courier New" panose="02070309020205020404" pitchFamily="49" charset="0"/>
              </a:rPr>
              <a:t>&lt;HelloWorld message="Hello World" /&gt;</a:t>
            </a:r>
          </a:p>
          <a:p>
            <a:pPr lvl="1">
              <a:buFont typeface="Arial" panose="020B0604020202020204" pitchFamily="34" charset="0"/>
              <a:buChar char="•"/>
            </a:pPr>
            <a:r>
              <a:rPr lang="en-IN" sz="2000" dirty="0"/>
              <a:t>Here:</a:t>
            </a:r>
          </a:p>
          <a:p>
            <a:pPr marL="635508" lvl="1" indent="-342900">
              <a:buFont typeface="Arial" panose="020B0604020202020204" pitchFamily="34" charset="0"/>
              <a:buChar char="•"/>
            </a:pPr>
            <a:r>
              <a:rPr lang="en-IN" sz="2000" dirty="0">
                <a:latin typeface="Courier New" panose="02070309020205020404" pitchFamily="49" charset="0"/>
              </a:rPr>
              <a:t>message</a:t>
            </a:r>
            <a:r>
              <a:rPr lang="en-IN" sz="2000" dirty="0"/>
              <a:t> is passed from the parent.</a:t>
            </a:r>
          </a:p>
          <a:p>
            <a:pPr marL="635508" lvl="1" indent="-342900">
              <a:buFont typeface="Arial" panose="020B0604020202020204" pitchFamily="34" charset="0"/>
              <a:buChar char="•"/>
            </a:pPr>
            <a:r>
              <a:rPr lang="en-IN" sz="2000" dirty="0"/>
              <a:t>The component does not modify it.</a:t>
            </a:r>
          </a:p>
          <a:p>
            <a:pPr marL="635508" lvl="1" indent="-342900">
              <a:buFont typeface="Arial" panose="020B0604020202020204" pitchFamily="34" charset="0"/>
              <a:buChar char="•"/>
            </a:pPr>
            <a:r>
              <a:rPr lang="en-IN" sz="2000" dirty="0"/>
              <a:t>It simply uses the prop to display the output.</a:t>
            </a:r>
          </a:p>
          <a:p>
            <a:pPr>
              <a:buFont typeface="Arial" panose="020B0604020202020204" pitchFamily="34" charset="0"/>
              <a:buChar char="•"/>
            </a:pPr>
            <a:r>
              <a:rPr lang="en-IN" sz="1800" b="1" dirty="0"/>
              <a:t>Arrow Function</a:t>
            </a:r>
          </a:p>
          <a:p>
            <a:pPr lvl="1">
              <a:buFont typeface="Arial" panose="020B0604020202020204" pitchFamily="34" charset="0"/>
              <a:buChar char="•"/>
            </a:pPr>
            <a:r>
              <a:rPr lang="en-IN" sz="1600" dirty="0"/>
              <a:t>A stateless component can also be written using an arrow function:</a:t>
            </a:r>
          </a:p>
          <a:p>
            <a:pPr lvl="2">
              <a:buNone/>
            </a:pPr>
            <a:r>
              <a:rPr lang="en-IN" sz="1600" dirty="0" err="1">
                <a:latin typeface="Courier New" panose="02070309020205020404" pitchFamily="49" charset="0"/>
              </a:rPr>
              <a:t>const</a:t>
            </a:r>
            <a:r>
              <a:rPr lang="en-IN" sz="1600" dirty="0">
                <a:latin typeface="Courier New" panose="02070309020205020404" pitchFamily="49" charset="0"/>
              </a:rPr>
              <a:t> HelloWorld = (props) =&gt; (</a:t>
            </a:r>
          </a:p>
          <a:p>
            <a:pPr lvl="2">
              <a:buNone/>
            </a:pPr>
            <a:r>
              <a:rPr lang="en-IN" sz="1600" dirty="0">
                <a:latin typeface="Courier New" panose="02070309020205020404" pitchFamily="49" charset="0"/>
              </a:rPr>
              <a:t>  &lt;h1&gt;{</a:t>
            </a:r>
            <a:r>
              <a:rPr lang="en-IN" sz="1600" dirty="0" err="1">
                <a:latin typeface="Courier New" panose="02070309020205020404" pitchFamily="49" charset="0"/>
              </a:rPr>
              <a:t>props.message</a:t>
            </a:r>
            <a:r>
              <a:rPr lang="en-IN" sz="1600" dirty="0">
                <a:latin typeface="Courier New" panose="02070309020205020404" pitchFamily="49" charset="0"/>
              </a:rPr>
              <a:t>}&lt;/h1&gt;</a:t>
            </a:r>
          </a:p>
          <a:p>
            <a:pPr lvl="2">
              <a:buNone/>
            </a:pPr>
            <a:r>
              <a:rPr lang="en-IN" sz="1600" dirty="0">
                <a:latin typeface="Courier New" panose="02070309020205020404" pitchFamily="49" charset="0"/>
              </a:rPr>
              <a:t>);</a:t>
            </a:r>
          </a:p>
          <a:p>
            <a:pPr lvl="1">
              <a:buFont typeface="Arial" panose="020B0604020202020204" pitchFamily="34" charset="0"/>
              <a:buChar char="•"/>
            </a:pPr>
            <a:r>
              <a:rPr lang="en-IN" sz="1600" dirty="0"/>
              <a:t>This is a shorter form of a functional component.</a:t>
            </a:r>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2459617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DDB8F-CDF7-234D-7B26-14F572BABEE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EBF1D76-E61B-FF66-252F-0B9B8D90BD15}"/>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Arial" panose="020B0604020202020204" pitchFamily="34" charset="0"/>
              <a:buChar char="•"/>
            </a:pPr>
            <a:r>
              <a:rPr lang="en-IN" sz="1600" b="1" dirty="0" err="1"/>
              <a:t>IssueRow</a:t>
            </a:r>
            <a:r>
              <a:rPr lang="en-IN" sz="1600" b="1" dirty="0"/>
              <a:t> as a Stateless Component</a:t>
            </a:r>
          </a:p>
          <a:p>
            <a:pPr lvl="1">
              <a:buFont typeface="Arial" panose="020B0604020202020204" pitchFamily="34" charset="0"/>
              <a:buChar char="•"/>
            </a:pPr>
            <a:r>
              <a:rPr lang="en-IN" sz="1400" dirty="0" err="1">
                <a:latin typeface="Courier New" panose="02070309020205020404" pitchFamily="49" charset="0"/>
              </a:rPr>
              <a:t>IssueRow</a:t>
            </a:r>
            <a:r>
              <a:rPr lang="en-IN" sz="1400" dirty="0"/>
              <a:t> only receives an issue and displays its information.</a:t>
            </a:r>
          </a:p>
          <a:p>
            <a:pPr lvl="2">
              <a:buNone/>
            </a:pPr>
            <a:r>
              <a:rPr lang="en-IN" sz="1400" dirty="0">
                <a:latin typeface="Courier New" panose="02070309020205020404" pitchFamily="49" charset="0"/>
              </a:rPr>
              <a:t>function </a:t>
            </a:r>
            <a:r>
              <a:rPr lang="en-IN" sz="1400" dirty="0" err="1">
                <a:latin typeface="Courier New" panose="02070309020205020404" pitchFamily="49" charset="0"/>
              </a:rPr>
              <a:t>IssueRow</a:t>
            </a:r>
            <a:r>
              <a:rPr lang="en-IN" sz="1400" dirty="0">
                <a:latin typeface="Courier New" panose="02070309020205020404" pitchFamily="49" charset="0"/>
              </a:rPr>
              <a:t>(props) {</a:t>
            </a:r>
          </a:p>
          <a:p>
            <a:pPr lvl="2">
              <a:buNone/>
            </a:pPr>
            <a:endParaRPr lang="en-IN" sz="1400" dirty="0">
              <a:latin typeface="Courier New" panose="02070309020205020404" pitchFamily="49" charset="0"/>
            </a:endParaRPr>
          </a:p>
          <a:p>
            <a:pPr lvl="2">
              <a:buNone/>
            </a:pPr>
            <a:r>
              <a:rPr lang="en-IN" sz="1400" dirty="0">
                <a:latin typeface="Courier New" panose="02070309020205020404" pitchFamily="49" charset="0"/>
              </a:rPr>
              <a:t>  </a:t>
            </a:r>
            <a:r>
              <a:rPr lang="en-IN" sz="1400" dirty="0" err="1">
                <a:latin typeface="Courier New" panose="02070309020205020404" pitchFamily="49" charset="0"/>
              </a:rPr>
              <a:t>const</a:t>
            </a:r>
            <a:r>
              <a:rPr lang="en-IN" sz="1400" dirty="0">
                <a:latin typeface="Courier New" panose="02070309020205020404" pitchFamily="49" charset="0"/>
              </a:rPr>
              <a:t> issue = </a:t>
            </a:r>
            <a:r>
              <a:rPr lang="en-IN" sz="1400" dirty="0" err="1">
                <a:latin typeface="Courier New" panose="02070309020205020404" pitchFamily="49" charset="0"/>
              </a:rPr>
              <a:t>props.issue</a:t>
            </a:r>
            <a:r>
              <a:rPr lang="en-IN" sz="1400" dirty="0">
                <a:latin typeface="Courier New" panose="02070309020205020404" pitchFamily="49" charset="0"/>
              </a:rPr>
              <a:t>;</a:t>
            </a:r>
          </a:p>
          <a:p>
            <a:pPr lvl="2">
              <a:buNone/>
            </a:pPr>
            <a:endParaRPr lang="en-IN" sz="1400" dirty="0">
              <a:latin typeface="Courier New" panose="02070309020205020404" pitchFamily="49" charset="0"/>
            </a:endParaRPr>
          </a:p>
          <a:p>
            <a:pPr lvl="2">
              <a:buNone/>
            </a:pPr>
            <a:r>
              <a:rPr lang="en-IN" sz="1400" dirty="0">
                <a:latin typeface="Courier New" panose="02070309020205020404" pitchFamily="49" charset="0"/>
              </a:rPr>
              <a:t>  return (</a:t>
            </a:r>
          </a:p>
          <a:p>
            <a:pPr lvl="2">
              <a:buNone/>
            </a:pPr>
            <a:r>
              <a:rPr lang="en-IN" sz="1400" dirty="0">
                <a:latin typeface="Courier New" panose="02070309020205020404" pitchFamily="49" charset="0"/>
              </a:rPr>
              <a:t>    &lt;tr&gt;</a:t>
            </a:r>
          </a:p>
          <a:p>
            <a:pPr lvl="2">
              <a:buNone/>
            </a:pPr>
            <a:r>
              <a:rPr lang="en-IN" sz="1400" dirty="0">
                <a:latin typeface="Courier New" panose="02070309020205020404" pitchFamily="49" charset="0"/>
              </a:rPr>
              <a:t>      &lt;td&gt;{issue.id}&lt;/td&gt;</a:t>
            </a:r>
          </a:p>
          <a:p>
            <a:pPr lvl="2">
              <a:buNone/>
            </a:pPr>
            <a:r>
              <a:rPr lang="en-IN" sz="1400" dirty="0">
                <a:latin typeface="Courier New" panose="02070309020205020404" pitchFamily="49" charset="0"/>
              </a:rPr>
              <a:t>      &lt;td&gt;{</a:t>
            </a:r>
            <a:r>
              <a:rPr lang="en-IN" sz="1400" dirty="0" err="1">
                <a:latin typeface="Courier New" panose="02070309020205020404" pitchFamily="49" charset="0"/>
              </a:rPr>
              <a:t>issue.status</a:t>
            </a:r>
            <a:r>
              <a:rPr lang="en-IN" sz="1400" dirty="0">
                <a:latin typeface="Courier New" panose="02070309020205020404" pitchFamily="49" charset="0"/>
              </a:rPr>
              <a:t>}&lt;/td&gt;</a:t>
            </a:r>
          </a:p>
          <a:p>
            <a:pPr lvl="2">
              <a:buNone/>
            </a:pPr>
            <a:r>
              <a:rPr lang="en-IN" sz="1400" dirty="0">
                <a:latin typeface="Courier New" panose="02070309020205020404" pitchFamily="49" charset="0"/>
              </a:rPr>
              <a:t>      &lt;td&gt;{</a:t>
            </a:r>
            <a:r>
              <a:rPr lang="en-IN" sz="1400" dirty="0" err="1">
                <a:latin typeface="Courier New" panose="02070309020205020404" pitchFamily="49" charset="0"/>
              </a:rPr>
              <a:t>issue.owner</a:t>
            </a:r>
            <a:r>
              <a:rPr lang="en-IN" sz="1400" dirty="0">
                <a:latin typeface="Courier New" panose="02070309020205020404" pitchFamily="49" charset="0"/>
              </a:rPr>
              <a:t>}&lt;/td&gt;</a:t>
            </a:r>
          </a:p>
          <a:p>
            <a:pPr lvl="2">
              <a:buNone/>
            </a:pPr>
            <a:r>
              <a:rPr lang="en-IN" sz="1400" dirty="0">
                <a:latin typeface="Courier New" panose="02070309020205020404" pitchFamily="49" charset="0"/>
              </a:rPr>
              <a:t>      &lt;td&gt;{</a:t>
            </a:r>
            <a:r>
              <a:rPr lang="en-IN" sz="1400" dirty="0" err="1">
                <a:latin typeface="Courier New" panose="02070309020205020404" pitchFamily="49" charset="0"/>
              </a:rPr>
              <a:t>issue.title</a:t>
            </a:r>
            <a:r>
              <a:rPr lang="en-IN" sz="1400" dirty="0">
                <a:latin typeface="Courier New" panose="02070309020205020404" pitchFamily="49" charset="0"/>
              </a:rPr>
              <a:t>}&lt;/td&gt;</a:t>
            </a:r>
          </a:p>
          <a:p>
            <a:pPr lvl="2">
              <a:buNone/>
            </a:pPr>
            <a:r>
              <a:rPr lang="en-IN" sz="1400" dirty="0">
                <a:latin typeface="Courier New" panose="02070309020205020404" pitchFamily="49" charset="0"/>
              </a:rPr>
              <a:t>    &lt;/tr&gt;</a:t>
            </a:r>
          </a:p>
          <a:p>
            <a:pPr lvl="2">
              <a:buNone/>
            </a:pPr>
            <a:r>
              <a:rPr lang="en-IN" sz="1400" dirty="0">
                <a:latin typeface="Courier New" panose="02070309020205020404" pitchFamily="49" charset="0"/>
              </a:rPr>
              <a:t>  );</a:t>
            </a:r>
          </a:p>
          <a:p>
            <a:pPr lvl="2">
              <a:buNone/>
            </a:pPr>
            <a:r>
              <a:rPr lang="en-IN" sz="1400" dirty="0">
                <a:latin typeface="Courier New" panose="02070309020205020404" pitchFamily="49" charset="0"/>
              </a:rPr>
              <a:t>}</a:t>
            </a:r>
          </a:p>
          <a:p>
            <a:pPr lvl="1">
              <a:buNone/>
            </a:pPr>
            <a:r>
              <a:rPr lang="en-IN" sz="1400" dirty="0"/>
              <a:t>It does not:</a:t>
            </a:r>
          </a:p>
          <a:p>
            <a:pPr marL="635508" lvl="1" indent="-342900">
              <a:buFont typeface="Arial" panose="020B0604020202020204" pitchFamily="34" charset="0"/>
              <a:buChar char="•"/>
            </a:pPr>
            <a:r>
              <a:rPr lang="en-IN" sz="1400" dirty="0"/>
              <a:t>maintain state</a:t>
            </a:r>
          </a:p>
          <a:p>
            <a:pPr marL="635508" lvl="1" indent="-342900">
              <a:buFont typeface="Arial" panose="020B0604020202020204" pitchFamily="34" charset="0"/>
              <a:buChar char="•"/>
            </a:pPr>
            <a:r>
              <a:rPr lang="en-IN" sz="1400" dirty="0"/>
              <a:t>modify state</a:t>
            </a:r>
          </a:p>
          <a:p>
            <a:pPr marL="635508" lvl="1" indent="-342900">
              <a:buFont typeface="Arial" panose="020B0604020202020204" pitchFamily="34" charset="0"/>
              <a:buChar char="•"/>
            </a:pPr>
            <a:r>
              <a:rPr lang="en-IN" sz="1400" dirty="0"/>
              <a:t>contain lifecycle methods</a:t>
            </a:r>
          </a:p>
          <a:p>
            <a:pPr lvl="1">
              <a:buNone/>
            </a:pPr>
            <a:r>
              <a:rPr lang="en-IN" sz="1400" dirty="0"/>
              <a:t>Therefore, it can be written as a function.</a:t>
            </a:r>
          </a:p>
          <a:p>
            <a:pPr lvl="1">
              <a:buFont typeface="Arial" panose="020B0604020202020204" pitchFamily="34" charset="0"/>
              <a:buChar char="•"/>
            </a:pPr>
            <a:endParaRPr lang="en-US" sz="1600" dirty="0"/>
          </a:p>
        </p:txBody>
      </p:sp>
    </p:spTree>
    <p:extLst>
      <p:ext uri="{BB962C8B-B14F-4D97-AF65-F5344CB8AC3E}">
        <p14:creationId xmlns:p14="http://schemas.microsoft.com/office/powerpoint/2010/main" val="1019288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52D89-7077-356A-72D8-65CA29BF9796}"/>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965E918C-21D7-58B5-33F8-DF9902592417}"/>
              </a:ext>
            </a:extLst>
          </p:cNvPr>
          <p:cNvSpPr txBox="1">
            <a:spLocks/>
          </p:cNvSpPr>
          <p:nvPr/>
        </p:nvSpPr>
        <p:spPr>
          <a:xfrm>
            <a:off x="360727" y="343949"/>
            <a:ext cx="5889071" cy="5964572"/>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err="1"/>
              <a:t>IssueTable</a:t>
            </a:r>
            <a:r>
              <a:rPr lang="en-IN" sz="1800" dirty="0"/>
              <a:t> as a Stateless Component</a:t>
            </a:r>
          </a:p>
          <a:p>
            <a:pPr lvl="1">
              <a:buFont typeface="Arial" panose="020B0604020202020204" pitchFamily="34" charset="0"/>
              <a:buChar char="•"/>
            </a:pPr>
            <a:r>
              <a:rPr lang="en-IN" sz="1400" dirty="0" err="1">
                <a:latin typeface="Courier New" panose="02070309020205020404" pitchFamily="49" charset="0"/>
              </a:rPr>
              <a:t>IssueTable</a:t>
            </a:r>
            <a:r>
              <a:rPr lang="en-IN" sz="1400" dirty="0"/>
              <a:t> receives the issues array through props and displays it.</a:t>
            </a:r>
          </a:p>
          <a:p>
            <a:pPr lvl="2">
              <a:buNone/>
            </a:pPr>
            <a:r>
              <a:rPr lang="en-IN" sz="1400" dirty="0">
                <a:latin typeface="Courier New" panose="02070309020205020404" pitchFamily="49" charset="0"/>
              </a:rPr>
              <a:t>function </a:t>
            </a:r>
            <a:r>
              <a:rPr lang="en-IN" sz="1400" dirty="0" err="1">
                <a:latin typeface="Courier New" panose="02070309020205020404" pitchFamily="49" charset="0"/>
              </a:rPr>
              <a:t>IssueTable</a:t>
            </a:r>
            <a:r>
              <a:rPr lang="en-IN" sz="1400" dirty="0">
                <a:latin typeface="Courier New" panose="02070309020205020404" pitchFamily="49" charset="0"/>
              </a:rPr>
              <a:t>(props) {</a:t>
            </a:r>
          </a:p>
          <a:p>
            <a:pPr lvl="2">
              <a:buNone/>
            </a:pPr>
            <a:r>
              <a:rPr lang="en-IN" sz="1400" dirty="0">
                <a:latin typeface="Courier New" panose="02070309020205020404" pitchFamily="49" charset="0"/>
              </a:rPr>
              <a:t>  </a:t>
            </a:r>
            <a:r>
              <a:rPr lang="en-IN" sz="1400" dirty="0" err="1">
                <a:latin typeface="Courier New" panose="02070309020205020404" pitchFamily="49" charset="0"/>
              </a:rPr>
              <a:t>const</a:t>
            </a:r>
            <a:r>
              <a:rPr lang="en-IN" sz="1400" dirty="0">
                <a:latin typeface="Courier New" panose="02070309020205020404" pitchFamily="49" charset="0"/>
              </a:rPr>
              <a:t> </a:t>
            </a:r>
            <a:r>
              <a:rPr lang="en-IN" sz="1400" dirty="0" err="1">
                <a:latin typeface="Courier New" panose="02070309020205020404" pitchFamily="49" charset="0"/>
              </a:rPr>
              <a:t>issueRows</a:t>
            </a:r>
            <a:r>
              <a:rPr lang="en-IN" sz="1400" dirty="0">
                <a:latin typeface="Courier New" panose="02070309020205020404" pitchFamily="49" charset="0"/>
              </a:rPr>
              <a:t> = </a:t>
            </a:r>
            <a:r>
              <a:rPr lang="en-IN" sz="1400" dirty="0" err="1">
                <a:latin typeface="Courier New" panose="02070309020205020404" pitchFamily="49" charset="0"/>
              </a:rPr>
              <a:t>props.issues.map</a:t>
            </a:r>
            <a:r>
              <a:rPr lang="en-IN" sz="1400" dirty="0">
                <a:latin typeface="Courier New" panose="02070309020205020404" pitchFamily="49" charset="0"/>
              </a:rPr>
              <a:t>(issue =&gt;</a:t>
            </a:r>
          </a:p>
          <a:p>
            <a:pPr lvl="2">
              <a:buNone/>
            </a:pPr>
            <a:r>
              <a:rPr lang="en-IN" sz="1400" dirty="0">
                <a:latin typeface="Courier New" panose="02070309020205020404" pitchFamily="49" charset="0"/>
              </a:rPr>
              <a:t>    &lt;</a:t>
            </a:r>
            <a:r>
              <a:rPr lang="en-IN" sz="1400" dirty="0" err="1">
                <a:latin typeface="Courier New" panose="02070309020205020404" pitchFamily="49" charset="0"/>
              </a:rPr>
              <a:t>IssueRow</a:t>
            </a:r>
            <a:endParaRPr lang="en-IN" sz="1400" dirty="0">
              <a:latin typeface="Courier New" panose="02070309020205020404" pitchFamily="49" charset="0"/>
            </a:endParaRPr>
          </a:p>
          <a:p>
            <a:pPr lvl="2">
              <a:buNone/>
            </a:pPr>
            <a:r>
              <a:rPr lang="en-IN" sz="1400" dirty="0">
                <a:latin typeface="Courier New" panose="02070309020205020404" pitchFamily="49" charset="0"/>
              </a:rPr>
              <a:t>      key={issue.id}</a:t>
            </a:r>
          </a:p>
          <a:p>
            <a:pPr lvl="2">
              <a:buNone/>
            </a:pPr>
            <a:r>
              <a:rPr lang="en-IN" sz="1400" dirty="0">
                <a:latin typeface="Courier New" panose="02070309020205020404" pitchFamily="49" charset="0"/>
              </a:rPr>
              <a:t>      issue={issue}</a:t>
            </a:r>
          </a:p>
          <a:p>
            <a:pPr lvl="2">
              <a:buNone/>
            </a:pPr>
            <a:r>
              <a:rPr lang="en-IN" sz="1400" dirty="0">
                <a:latin typeface="Courier New" panose="02070309020205020404" pitchFamily="49" charset="0"/>
              </a:rPr>
              <a:t>    /&gt;</a:t>
            </a:r>
          </a:p>
          <a:p>
            <a:pPr lvl="2">
              <a:buNone/>
            </a:pPr>
            <a:r>
              <a:rPr lang="en-IN" sz="1400" dirty="0">
                <a:latin typeface="Courier New" panose="02070309020205020404" pitchFamily="49" charset="0"/>
              </a:rPr>
              <a:t>  );</a:t>
            </a:r>
          </a:p>
          <a:p>
            <a:pPr lvl="2">
              <a:buNone/>
            </a:pPr>
            <a:endParaRPr lang="en-IN" sz="1400" dirty="0">
              <a:latin typeface="Courier New" panose="02070309020205020404" pitchFamily="49" charset="0"/>
            </a:endParaRPr>
          </a:p>
          <a:p>
            <a:pPr lvl="2">
              <a:buNone/>
            </a:pPr>
            <a:r>
              <a:rPr lang="en-IN" sz="1400" dirty="0">
                <a:latin typeface="Courier New" panose="02070309020205020404" pitchFamily="49" charset="0"/>
              </a:rPr>
              <a:t>  return (</a:t>
            </a:r>
          </a:p>
          <a:p>
            <a:pPr lvl="2">
              <a:buNone/>
            </a:pPr>
            <a:r>
              <a:rPr lang="en-IN" sz="1400" dirty="0">
                <a:latin typeface="Courier New" panose="02070309020205020404" pitchFamily="49" charset="0"/>
              </a:rPr>
              <a:t>    &lt;table border="1"&gt;</a:t>
            </a:r>
          </a:p>
          <a:p>
            <a:pPr lvl="2">
              <a:buNone/>
            </a:pPr>
            <a:r>
              <a:rPr lang="en-IN" sz="1400" dirty="0">
                <a:latin typeface="Courier New" panose="02070309020205020404" pitchFamily="49" charset="0"/>
              </a:rPr>
              <a:t>      &lt;</a:t>
            </a:r>
            <a:r>
              <a:rPr lang="en-IN" sz="1400" dirty="0" err="1">
                <a:latin typeface="Courier New" panose="02070309020205020404" pitchFamily="49" charset="0"/>
              </a:rPr>
              <a:t>thead</a:t>
            </a:r>
            <a:r>
              <a:rPr lang="en-IN" sz="1400" dirty="0">
                <a:latin typeface="Courier New" panose="02070309020205020404" pitchFamily="49" charset="0"/>
              </a:rPr>
              <a:t>&gt;</a:t>
            </a:r>
          </a:p>
          <a:p>
            <a:pPr lvl="2">
              <a:buNone/>
            </a:pPr>
            <a:r>
              <a:rPr lang="en-IN" sz="1400" dirty="0">
                <a:latin typeface="Courier New" panose="02070309020205020404" pitchFamily="49" charset="0"/>
              </a:rPr>
              <a:t>        &lt;tr&gt;</a:t>
            </a:r>
          </a:p>
          <a:p>
            <a:pPr lvl="2">
              <a:buNone/>
            </a:pPr>
            <a:r>
              <a:rPr lang="en-IN" sz="1400" dirty="0">
                <a:latin typeface="Courier New" panose="02070309020205020404" pitchFamily="49" charset="0"/>
              </a:rPr>
              <a:t>          &lt;</a:t>
            </a:r>
            <a:r>
              <a:rPr lang="en-IN" sz="1400" dirty="0" err="1">
                <a:latin typeface="Courier New" panose="02070309020205020404" pitchFamily="49" charset="0"/>
              </a:rPr>
              <a:t>th</a:t>
            </a:r>
            <a:r>
              <a:rPr lang="en-IN" sz="1400" dirty="0">
                <a:latin typeface="Courier New" panose="02070309020205020404" pitchFamily="49" charset="0"/>
              </a:rPr>
              <a:t>&gt;ID&lt;/</a:t>
            </a:r>
            <a:r>
              <a:rPr lang="en-IN" sz="1400" dirty="0" err="1">
                <a:latin typeface="Courier New" panose="02070309020205020404" pitchFamily="49" charset="0"/>
              </a:rPr>
              <a:t>th</a:t>
            </a:r>
            <a:r>
              <a:rPr lang="en-IN" sz="1400" dirty="0">
                <a:latin typeface="Courier New" panose="02070309020205020404" pitchFamily="49" charset="0"/>
              </a:rPr>
              <a:t>&gt;</a:t>
            </a:r>
          </a:p>
          <a:p>
            <a:pPr lvl="2">
              <a:buNone/>
            </a:pPr>
            <a:r>
              <a:rPr lang="en-IN" sz="1400" dirty="0">
                <a:latin typeface="Courier New" panose="02070309020205020404" pitchFamily="49" charset="0"/>
              </a:rPr>
              <a:t>          &lt;</a:t>
            </a:r>
            <a:r>
              <a:rPr lang="en-IN" sz="1400" dirty="0" err="1">
                <a:latin typeface="Courier New" panose="02070309020205020404" pitchFamily="49" charset="0"/>
              </a:rPr>
              <a:t>th</a:t>
            </a:r>
            <a:r>
              <a:rPr lang="en-IN" sz="1400" dirty="0">
                <a:latin typeface="Courier New" panose="02070309020205020404" pitchFamily="49" charset="0"/>
              </a:rPr>
              <a:t>&gt;Status&lt;/</a:t>
            </a:r>
            <a:r>
              <a:rPr lang="en-IN" sz="1400" dirty="0" err="1">
                <a:latin typeface="Courier New" panose="02070309020205020404" pitchFamily="49" charset="0"/>
              </a:rPr>
              <a:t>th</a:t>
            </a:r>
            <a:r>
              <a:rPr lang="en-IN" sz="1400" dirty="0">
                <a:latin typeface="Courier New" panose="02070309020205020404" pitchFamily="49" charset="0"/>
              </a:rPr>
              <a:t>&gt;</a:t>
            </a:r>
          </a:p>
          <a:p>
            <a:pPr lvl="2">
              <a:buNone/>
            </a:pPr>
            <a:r>
              <a:rPr lang="en-IN" sz="1400" dirty="0">
                <a:latin typeface="Courier New" panose="02070309020205020404" pitchFamily="49" charset="0"/>
              </a:rPr>
              <a:t>          &lt;</a:t>
            </a:r>
            <a:r>
              <a:rPr lang="en-IN" sz="1400" dirty="0" err="1">
                <a:latin typeface="Courier New" panose="02070309020205020404" pitchFamily="49" charset="0"/>
              </a:rPr>
              <a:t>th</a:t>
            </a:r>
            <a:r>
              <a:rPr lang="en-IN" sz="1400" dirty="0">
                <a:latin typeface="Courier New" panose="02070309020205020404" pitchFamily="49" charset="0"/>
              </a:rPr>
              <a:t>&gt;Owner&lt;/</a:t>
            </a:r>
            <a:r>
              <a:rPr lang="en-IN" sz="1400" dirty="0" err="1">
                <a:latin typeface="Courier New" panose="02070309020205020404" pitchFamily="49" charset="0"/>
              </a:rPr>
              <a:t>th</a:t>
            </a:r>
            <a:r>
              <a:rPr lang="en-IN" sz="1400" dirty="0">
                <a:latin typeface="Courier New" panose="02070309020205020404" pitchFamily="49" charset="0"/>
              </a:rPr>
              <a:t>&gt;</a:t>
            </a:r>
          </a:p>
          <a:p>
            <a:pPr lvl="2">
              <a:buNone/>
            </a:pPr>
            <a:r>
              <a:rPr lang="en-IN" sz="1400" dirty="0">
                <a:latin typeface="Courier New" panose="02070309020205020404" pitchFamily="49" charset="0"/>
              </a:rPr>
              <a:t>          &lt;</a:t>
            </a:r>
            <a:r>
              <a:rPr lang="en-IN" sz="1400" dirty="0" err="1">
                <a:latin typeface="Courier New" panose="02070309020205020404" pitchFamily="49" charset="0"/>
              </a:rPr>
              <a:t>th</a:t>
            </a:r>
            <a:r>
              <a:rPr lang="en-IN" sz="1400" dirty="0">
                <a:latin typeface="Courier New" panose="02070309020205020404" pitchFamily="49" charset="0"/>
              </a:rPr>
              <a:t>&gt;Title&lt;/</a:t>
            </a:r>
            <a:r>
              <a:rPr lang="en-IN" sz="1400" dirty="0" err="1">
                <a:latin typeface="Courier New" panose="02070309020205020404" pitchFamily="49" charset="0"/>
              </a:rPr>
              <a:t>th</a:t>
            </a:r>
            <a:r>
              <a:rPr lang="en-IN" sz="1400" dirty="0">
                <a:latin typeface="Courier New" panose="02070309020205020404" pitchFamily="49" charset="0"/>
              </a:rPr>
              <a:t>&gt;</a:t>
            </a:r>
          </a:p>
          <a:p>
            <a:pPr lvl="2">
              <a:buNone/>
            </a:pPr>
            <a:r>
              <a:rPr lang="en-IN" sz="1400" dirty="0">
                <a:latin typeface="Courier New" panose="02070309020205020404" pitchFamily="49" charset="0"/>
              </a:rPr>
              <a:t>        &lt;/tr&gt;</a:t>
            </a:r>
          </a:p>
          <a:p>
            <a:pPr lvl="2">
              <a:buNone/>
            </a:pPr>
            <a:r>
              <a:rPr lang="en-IN" sz="1400" dirty="0">
                <a:latin typeface="Courier New" panose="02070309020205020404" pitchFamily="49" charset="0"/>
              </a:rPr>
              <a:t>      &lt;/</a:t>
            </a:r>
            <a:r>
              <a:rPr lang="en-IN" sz="1400" dirty="0" err="1">
                <a:latin typeface="Courier New" panose="02070309020205020404" pitchFamily="49" charset="0"/>
              </a:rPr>
              <a:t>thead</a:t>
            </a:r>
            <a:r>
              <a:rPr lang="en-IN" sz="1400" dirty="0">
                <a:latin typeface="Courier New" panose="02070309020205020404" pitchFamily="49" charset="0"/>
              </a:rPr>
              <a:t>&gt;</a:t>
            </a:r>
          </a:p>
          <a:p>
            <a:pPr lvl="2">
              <a:buNone/>
            </a:pPr>
            <a:endParaRPr lang="en-IN" sz="1000" dirty="0">
              <a:latin typeface="Courier New" panose="02070309020205020404" pitchFamily="49" charset="0"/>
            </a:endParaRPr>
          </a:p>
        </p:txBody>
      </p:sp>
      <p:sp>
        <p:nvSpPr>
          <p:cNvPr id="2" name="TextBox 1">
            <a:extLst>
              <a:ext uri="{FF2B5EF4-FFF2-40B4-BE49-F238E27FC236}">
                <a16:creationId xmlns:a16="http://schemas.microsoft.com/office/drawing/2014/main" id="{9F089BE9-1A0A-3678-4AEC-1F13D6FEA521}"/>
              </a:ext>
            </a:extLst>
          </p:cNvPr>
          <p:cNvSpPr txBox="1"/>
          <p:nvPr/>
        </p:nvSpPr>
        <p:spPr>
          <a:xfrm>
            <a:off x="6425967" y="352338"/>
            <a:ext cx="5478011" cy="1600438"/>
          </a:xfrm>
          <a:prstGeom prst="rect">
            <a:avLst/>
          </a:prstGeom>
          <a:noFill/>
        </p:spPr>
        <p:txBody>
          <a:bodyPr wrap="square" rtlCol="0">
            <a:spAutoFit/>
          </a:bodyPr>
          <a:lstStyle/>
          <a:p>
            <a:pPr lvl="2">
              <a:buNone/>
            </a:pPr>
            <a:endParaRPr lang="en-IN" sz="1400" dirty="0">
              <a:latin typeface="Courier New" panose="02070309020205020404" pitchFamily="49" charset="0"/>
            </a:endParaRPr>
          </a:p>
          <a:p>
            <a:pPr lvl="2">
              <a:buNone/>
            </a:pPr>
            <a:r>
              <a:rPr lang="en-IN" sz="1400" dirty="0">
                <a:latin typeface="Courier New" panose="02070309020205020404" pitchFamily="49" charset="0"/>
              </a:rPr>
              <a:t>      &lt;</a:t>
            </a:r>
            <a:r>
              <a:rPr lang="en-IN" sz="1400" dirty="0" err="1">
                <a:latin typeface="Courier New" panose="02070309020205020404" pitchFamily="49" charset="0"/>
              </a:rPr>
              <a:t>tbody</a:t>
            </a:r>
            <a:r>
              <a:rPr lang="en-IN" sz="1400" dirty="0">
                <a:latin typeface="Courier New" panose="02070309020205020404" pitchFamily="49" charset="0"/>
              </a:rPr>
              <a:t>&gt;</a:t>
            </a:r>
          </a:p>
          <a:p>
            <a:pPr lvl="2">
              <a:buNone/>
            </a:pPr>
            <a:r>
              <a:rPr lang="en-IN" sz="1400" dirty="0">
                <a:latin typeface="Courier New" panose="02070309020205020404" pitchFamily="49" charset="0"/>
              </a:rPr>
              <a:t>        {</a:t>
            </a:r>
            <a:r>
              <a:rPr lang="en-IN" sz="1400" dirty="0" err="1">
                <a:latin typeface="Courier New" panose="02070309020205020404" pitchFamily="49" charset="0"/>
              </a:rPr>
              <a:t>issueRows</a:t>
            </a:r>
            <a:r>
              <a:rPr lang="en-IN" sz="1400" dirty="0">
                <a:latin typeface="Courier New" panose="02070309020205020404" pitchFamily="49" charset="0"/>
              </a:rPr>
              <a:t>}</a:t>
            </a:r>
          </a:p>
          <a:p>
            <a:pPr lvl="2">
              <a:buNone/>
            </a:pPr>
            <a:r>
              <a:rPr lang="en-IN" sz="1400" dirty="0">
                <a:latin typeface="Courier New" panose="02070309020205020404" pitchFamily="49" charset="0"/>
              </a:rPr>
              <a:t>      &lt;/</a:t>
            </a:r>
            <a:r>
              <a:rPr lang="en-IN" sz="1400" dirty="0" err="1">
                <a:latin typeface="Courier New" panose="02070309020205020404" pitchFamily="49" charset="0"/>
              </a:rPr>
              <a:t>tbody</a:t>
            </a:r>
            <a:r>
              <a:rPr lang="en-IN" sz="1400" dirty="0">
                <a:latin typeface="Courier New" panose="02070309020205020404" pitchFamily="49" charset="0"/>
              </a:rPr>
              <a:t>&gt;</a:t>
            </a:r>
          </a:p>
          <a:p>
            <a:pPr lvl="2">
              <a:buNone/>
            </a:pPr>
            <a:r>
              <a:rPr lang="en-IN" sz="1400" dirty="0">
                <a:latin typeface="Courier New" panose="02070309020205020404" pitchFamily="49" charset="0"/>
              </a:rPr>
              <a:t>    &lt;/table&gt;</a:t>
            </a:r>
          </a:p>
          <a:p>
            <a:pPr lvl="2">
              <a:buNone/>
            </a:pPr>
            <a:r>
              <a:rPr lang="en-IN" sz="1400" dirty="0">
                <a:latin typeface="Courier New" panose="02070309020205020404" pitchFamily="49" charset="0"/>
              </a:rPr>
              <a:t>  );</a:t>
            </a:r>
          </a:p>
          <a:p>
            <a:pPr lvl="2">
              <a:buNone/>
            </a:pPr>
            <a:r>
              <a:rPr lang="en-IN" sz="1400" dirty="0">
                <a:latin typeface="Courier New" panose="02070309020205020404" pitchFamily="49" charset="0"/>
              </a:rPr>
              <a:t>}</a:t>
            </a:r>
            <a:endParaRPr lang="en-IN" dirty="0"/>
          </a:p>
        </p:txBody>
      </p:sp>
    </p:spTree>
    <p:extLst>
      <p:ext uri="{BB962C8B-B14F-4D97-AF65-F5344CB8AC3E}">
        <p14:creationId xmlns:p14="http://schemas.microsoft.com/office/powerpoint/2010/main" val="2508053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78ACD-9EBF-0D8C-50E3-65E38CBEA70F}"/>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308B8FC-C26F-4B7F-1788-DDE3C5FB319F}"/>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b="1" dirty="0"/>
              <a:t>Example of Data Flow</a:t>
            </a:r>
          </a:p>
          <a:p>
            <a:pPr lvl="1"/>
            <a:r>
              <a:rPr lang="en-IN" sz="1600" dirty="0"/>
              <a:t>In the Issue Tracker:</a:t>
            </a:r>
          </a:p>
          <a:p>
            <a:pPr lvl="1"/>
            <a:endParaRPr lang="en-IN" sz="1600" dirty="0"/>
          </a:p>
          <a:p>
            <a:pPr lvl="1"/>
            <a:endParaRPr lang="en-IN" sz="1600" dirty="0"/>
          </a:p>
          <a:p>
            <a:pPr lvl="1"/>
            <a:endParaRPr lang="en-IN" sz="1600" dirty="0"/>
          </a:p>
          <a:p>
            <a:pPr lvl="1"/>
            <a:endParaRPr lang="en-IN" sz="1600" dirty="0"/>
          </a:p>
          <a:p>
            <a:pPr lvl="1"/>
            <a:endParaRPr lang="en-IN" sz="1600" dirty="0"/>
          </a:p>
          <a:p>
            <a:pPr lvl="1"/>
            <a:endParaRPr lang="en-IN" dirty="0"/>
          </a:p>
          <a:p>
            <a:pPr lvl="1"/>
            <a:endParaRPr lang="en-IN" dirty="0"/>
          </a:p>
          <a:p>
            <a:pPr lvl="1"/>
            <a:endParaRPr lang="en-IN" dirty="0"/>
          </a:p>
          <a:p>
            <a:pPr lvl="1"/>
            <a:endParaRPr lang="en-IN" dirty="0"/>
          </a:p>
          <a:p>
            <a:pPr lvl="1"/>
            <a:endParaRPr lang="en-IN" dirty="0"/>
          </a:p>
          <a:p>
            <a:pPr lvl="1"/>
            <a:endParaRPr lang="en-IN" dirty="0"/>
          </a:p>
          <a:p>
            <a:pPr lvl="1"/>
            <a:r>
              <a:rPr lang="en-IN" dirty="0" err="1"/>
              <a:t>IssueList</a:t>
            </a:r>
            <a:r>
              <a:rPr lang="en-IN" dirty="0"/>
              <a:t> maintains the state.</a:t>
            </a:r>
          </a:p>
          <a:p>
            <a:pPr lvl="1"/>
            <a:r>
              <a:rPr lang="en-IN" dirty="0" err="1"/>
              <a:t>IssueTable</a:t>
            </a:r>
            <a:r>
              <a:rPr lang="en-IN" dirty="0"/>
              <a:t> and </a:t>
            </a:r>
            <a:r>
              <a:rPr lang="en-IN" dirty="0" err="1"/>
              <a:t>IssueRow</a:t>
            </a:r>
            <a:r>
              <a:rPr lang="en-IN" dirty="0"/>
              <a:t> simply receive data through props and display it.</a:t>
            </a:r>
          </a:p>
          <a:p>
            <a:pPr lvl="2"/>
            <a:endParaRPr lang="en-IN" sz="1200" dirty="0"/>
          </a:p>
          <a:p>
            <a:pPr>
              <a:buFont typeface="Arial" panose="020B0604020202020204" pitchFamily="34" charset="0"/>
              <a:buChar char="•"/>
            </a:pPr>
            <a:endParaRPr lang="en-US" sz="1800" dirty="0"/>
          </a:p>
        </p:txBody>
      </p:sp>
      <p:pic>
        <p:nvPicPr>
          <p:cNvPr id="3" name="Picture 2">
            <a:extLst>
              <a:ext uri="{FF2B5EF4-FFF2-40B4-BE49-F238E27FC236}">
                <a16:creationId xmlns:a16="http://schemas.microsoft.com/office/drawing/2014/main" id="{77205C03-7D5C-9ABF-BB06-61932C58668A}"/>
              </a:ext>
            </a:extLst>
          </p:cNvPr>
          <p:cNvPicPr>
            <a:picLocks noChangeAspect="1"/>
          </p:cNvPicPr>
          <p:nvPr/>
        </p:nvPicPr>
        <p:blipFill>
          <a:blip r:embed="rId2"/>
          <a:stretch>
            <a:fillRect/>
          </a:stretch>
        </p:blipFill>
        <p:spPr>
          <a:xfrm>
            <a:off x="625813" y="1325460"/>
            <a:ext cx="2568163" cy="2911092"/>
          </a:xfrm>
          <a:prstGeom prst="rect">
            <a:avLst/>
          </a:prstGeom>
        </p:spPr>
      </p:pic>
    </p:spTree>
    <p:extLst>
      <p:ext uri="{BB962C8B-B14F-4D97-AF65-F5344CB8AC3E}">
        <p14:creationId xmlns:p14="http://schemas.microsoft.com/office/powerpoint/2010/main" val="818092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D663A-380E-FFBF-DD68-75330E93235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2FA04DCC-7A8F-CB6B-F8F1-ABCF2C0D9D3C}"/>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b="1" dirty="0"/>
              <a:t>Key Points</a:t>
            </a:r>
          </a:p>
          <a:p>
            <a:pPr lvl="1">
              <a:buFont typeface="Arial" panose="020B0604020202020204" pitchFamily="34" charset="0"/>
              <a:buChar char="•"/>
            </a:pPr>
            <a:r>
              <a:rPr lang="en-IN" sz="1800" dirty="0"/>
              <a:t>Stateless components do not maintain their own state.</a:t>
            </a:r>
          </a:p>
          <a:p>
            <a:pPr lvl="1">
              <a:buFont typeface="Arial" panose="020B0604020202020204" pitchFamily="34" charset="0"/>
              <a:buChar char="•"/>
            </a:pPr>
            <a:r>
              <a:rPr lang="en-IN" sz="1800" dirty="0"/>
              <a:t>They generally receive data through </a:t>
            </a:r>
            <a:r>
              <a:rPr lang="en-IN" sz="1800" b="1" dirty="0"/>
              <a:t>props</a:t>
            </a:r>
            <a:r>
              <a:rPr lang="en-IN" sz="1800" dirty="0"/>
              <a:t>.</a:t>
            </a:r>
          </a:p>
          <a:p>
            <a:pPr lvl="1">
              <a:buFont typeface="Arial" panose="020B0604020202020204" pitchFamily="34" charset="0"/>
              <a:buChar char="•"/>
            </a:pPr>
            <a:r>
              <a:rPr lang="en-IN" sz="1800" dirty="0"/>
              <a:t>They can be written as </a:t>
            </a:r>
            <a:r>
              <a:rPr lang="en-IN" sz="1800" b="1" dirty="0"/>
              <a:t>functions</a:t>
            </a:r>
            <a:r>
              <a:rPr lang="en-IN" sz="1800" dirty="0"/>
              <a:t>.</a:t>
            </a:r>
          </a:p>
          <a:p>
            <a:pPr lvl="1">
              <a:buFont typeface="Arial" panose="020B0604020202020204" pitchFamily="34" charset="0"/>
              <a:buChar char="•"/>
            </a:pPr>
            <a:r>
              <a:rPr lang="en-IN" sz="1800" dirty="0"/>
              <a:t>They are simpler and easier to read.</a:t>
            </a:r>
          </a:p>
          <a:p>
            <a:pPr lvl="1">
              <a:buFont typeface="Arial" panose="020B0604020202020204" pitchFamily="34" charset="0"/>
              <a:buChar char="•"/>
            </a:pPr>
            <a:r>
              <a:rPr lang="en-IN" sz="1800" dirty="0"/>
              <a:t>They are suitable for components whose main responsibility is </a:t>
            </a:r>
            <a:r>
              <a:rPr lang="en-IN" sz="1800" b="1" dirty="0"/>
              <a:t>rendering UI</a:t>
            </a:r>
            <a:r>
              <a:rPr lang="en-IN" sz="1800" dirty="0"/>
              <a:t>.</a:t>
            </a:r>
          </a:p>
          <a:p>
            <a:pPr lvl="1">
              <a:buFont typeface="Arial" panose="020B0604020202020204" pitchFamily="34" charset="0"/>
              <a:buChar char="•"/>
            </a:pPr>
            <a:r>
              <a:rPr lang="en-IN" sz="1800" dirty="0" err="1"/>
              <a:t>IssueRow</a:t>
            </a:r>
            <a:r>
              <a:rPr lang="en-IN" sz="1800" dirty="0"/>
              <a:t> and </a:t>
            </a:r>
            <a:r>
              <a:rPr lang="en-IN" sz="1800" dirty="0" err="1"/>
              <a:t>IssueTable</a:t>
            </a:r>
            <a:r>
              <a:rPr lang="en-IN" sz="1800" dirty="0"/>
              <a:t> are examples of stateless components.</a:t>
            </a:r>
          </a:p>
          <a:p>
            <a:pPr>
              <a:buFont typeface="Arial" panose="020B0604020202020204" pitchFamily="34" charset="0"/>
              <a:buChar char="•"/>
            </a:pPr>
            <a:endParaRPr lang="en-US" sz="1800" dirty="0"/>
          </a:p>
        </p:txBody>
      </p:sp>
    </p:spTree>
    <p:extLst>
      <p:ext uri="{BB962C8B-B14F-4D97-AF65-F5344CB8AC3E}">
        <p14:creationId xmlns:p14="http://schemas.microsoft.com/office/powerpoint/2010/main" val="10891111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DFD2-3258-9D3C-7BED-CA339C4FC2F3}"/>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9B71116-0657-5CF2-077B-C4323DEEA7B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2000" b="1" dirty="0"/>
              <a:t>Designing Components </a:t>
            </a:r>
          </a:p>
          <a:p>
            <a:pPr lvl="1">
              <a:buFont typeface="Arial" panose="020B0604020202020204" pitchFamily="34" charset="0"/>
              <a:buChar char="•"/>
            </a:pPr>
            <a:r>
              <a:rPr lang="en-IN" sz="1800" dirty="0"/>
              <a:t>Most beginners will have a bit of confusion between state and props, when to use which, </a:t>
            </a:r>
          </a:p>
          <a:p>
            <a:pPr lvl="1">
              <a:buFont typeface="Arial" panose="020B0604020202020204" pitchFamily="34" charset="0"/>
              <a:buChar char="•"/>
            </a:pPr>
            <a:r>
              <a:rPr lang="en-IN" sz="1800" dirty="0"/>
              <a:t>what granularity of components should one choose, and how to go about it all.</a:t>
            </a:r>
          </a:p>
          <a:p>
            <a:pPr lvl="1">
              <a:buFont typeface="Arial" panose="020B0604020202020204" pitchFamily="34" charset="0"/>
              <a:buChar char="•"/>
            </a:pPr>
            <a:endParaRPr lang="en-IN" sz="1600" dirty="0"/>
          </a:p>
          <a:p>
            <a:pPr lvl="1">
              <a:buFont typeface="Arial" panose="020B0604020202020204" pitchFamily="34" charset="0"/>
              <a:buChar char="•"/>
            </a:pPr>
            <a:r>
              <a:rPr lang="en-IN" sz="2000" dirty="0"/>
              <a:t>State vs. Props</a:t>
            </a:r>
            <a:endParaRPr lang="en-US" sz="1200" dirty="0"/>
          </a:p>
          <a:p>
            <a:pPr lvl="2" algn="just">
              <a:buFont typeface="Arial" panose="020B0604020202020204" pitchFamily="34" charset="0"/>
              <a:buChar char="•"/>
            </a:pPr>
            <a:r>
              <a:rPr lang="en-IN" sz="1800" dirty="0"/>
              <a:t>Both state and props hold model information, but they are different. </a:t>
            </a:r>
          </a:p>
          <a:p>
            <a:pPr lvl="2" algn="just">
              <a:buFont typeface="Arial" panose="020B0604020202020204" pitchFamily="34" charset="0"/>
              <a:buChar char="•"/>
            </a:pPr>
            <a:r>
              <a:rPr lang="en-IN" sz="1800" dirty="0"/>
              <a:t>The props are immutable, whereas state is not. </a:t>
            </a:r>
          </a:p>
          <a:p>
            <a:pPr lvl="2" algn="just">
              <a:buFont typeface="Arial" panose="020B0604020202020204" pitchFamily="34" charset="0"/>
              <a:buChar char="•"/>
            </a:pPr>
            <a:r>
              <a:rPr lang="en-IN" sz="1800" dirty="0"/>
              <a:t>Typically, state variables are passed down to child components as props because the children don’t maintain or modify them.</a:t>
            </a:r>
          </a:p>
          <a:p>
            <a:pPr lvl="2" algn="just">
              <a:buFont typeface="Arial" panose="020B0604020202020204" pitchFamily="34" charset="0"/>
              <a:buChar char="•"/>
            </a:pPr>
            <a:r>
              <a:rPr lang="en-IN" sz="1800" dirty="0"/>
              <a:t>They take in a read-only copy and use it only to render the view of the component.</a:t>
            </a:r>
          </a:p>
          <a:p>
            <a:pPr lvl="2" algn="just">
              <a:buFont typeface="Arial" panose="020B0604020202020204" pitchFamily="34" charset="0"/>
              <a:buChar char="•"/>
            </a:pPr>
            <a:r>
              <a:rPr lang="en-IN" sz="1800" dirty="0"/>
              <a:t>If any event in the child affects the parent’s state, the child calls a method defined in the parent. Access to this method should have been explicitly given by passing it as a callback via props.</a:t>
            </a:r>
          </a:p>
          <a:p>
            <a:pPr lvl="2" algn="just">
              <a:buFont typeface="Arial" panose="020B0604020202020204" pitchFamily="34" charset="0"/>
              <a:buChar char="•"/>
            </a:pPr>
            <a:r>
              <a:rPr lang="en-IN" sz="1800" dirty="0"/>
              <a:t>Anything that can change due to an event anywhere in the component hierarchy qualifies as being part of the state. </a:t>
            </a:r>
          </a:p>
          <a:p>
            <a:pPr lvl="2" algn="just">
              <a:buFont typeface="Arial" panose="020B0604020202020204" pitchFamily="34" charset="0"/>
              <a:buChar char="•"/>
            </a:pPr>
            <a:r>
              <a:rPr lang="en-IN" sz="1800" dirty="0"/>
              <a:t>Do not copy props into state, just because props are immutable. If you feel the need to do this, think of modifying the original state from which these props were derived.</a:t>
            </a:r>
          </a:p>
        </p:txBody>
      </p:sp>
    </p:spTree>
    <p:extLst>
      <p:ext uri="{BB962C8B-B14F-4D97-AF65-F5344CB8AC3E}">
        <p14:creationId xmlns:p14="http://schemas.microsoft.com/office/powerpoint/2010/main" val="25086551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7B63C-299B-9357-E461-B3F2CB78AF4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74F7B291-6DD7-1FF0-F223-0E3CDDABF32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endParaRPr lang="en-US" sz="2000" dirty="0"/>
          </a:p>
          <a:p>
            <a:pPr>
              <a:buFont typeface="Arial" panose="020B0604020202020204" pitchFamily="34" charset="0"/>
              <a:buChar char="•"/>
            </a:pPr>
            <a:endParaRPr lang="en-US" sz="2000" dirty="0"/>
          </a:p>
          <a:p>
            <a:pPr>
              <a:buFont typeface="Arial" panose="020B0604020202020204" pitchFamily="34" charset="0"/>
              <a:buChar char="•"/>
            </a:pPr>
            <a:endParaRPr lang="en-US" sz="2000" dirty="0"/>
          </a:p>
          <a:p>
            <a:pPr marL="0" indent="0">
              <a:buNone/>
            </a:pPr>
            <a:endParaRPr lang="en-US" sz="2000" dirty="0"/>
          </a:p>
          <a:p>
            <a:pPr>
              <a:buFont typeface="Arial" panose="020B0604020202020204" pitchFamily="34" charset="0"/>
              <a:buChar char="•"/>
            </a:pPr>
            <a:r>
              <a:rPr lang="en-IN" sz="2000" dirty="0"/>
              <a:t>Component Hierarchy</a:t>
            </a:r>
          </a:p>
          <a:p>
            <a:pPr lvl="1">
              <a:buFont typeface="Arial" panose="020B0604020202020204" pitchFamily="34" charset="0"/>
              <a:buChar char="•"/>
            </a:pPr>
            <a:r>
              <a:rPr lang="en-IN" sz="1800" dirty="0"/>
              <a:t>Split the application into components and subcomponents. </a:t>
            </a:r>
          </a:p>
          <a:p>
            <a:pPr lvl="1">
              <a:buFont typeface="Arial" panose="020B0604020202020204" pitchFamily="34" charset="0"/>
              <a:buChar char="•"/>
            </a:pPr>
            <a:r>
              <a:rPr lang="en-IN" sz="1800" dirty="0"/>
              <a:t>Typically, this will reflect the data model itself. </a:t>
            </a:r>
          </a:p>
          <a:p>
            <a:pPr lvl="1">
              <a:buFont typeface="Arial" panose="020B0604020202020204" pitchFamily="34" charset="0"/>
              <a:buChar char="•"/>
            </a:pPr>
            <a:r>
              <a:rPr lang="en-IN" sz="1800" dirty="0"/>
              <a:t>For example, in the Issue Tracker, the issues array was represented by the </a:t>
            </a:r>
            <a:r>
              <a:rPr lang="en-IN" sz="1800" dirty="0" err="1">
                <a:solidFill>
                  <a:srgbClr val="FF0000"/>
                </a:solidFill>
              </a:rPr>
              <a:t>IssueTable</a:t>
            </a:r>
            <a:r>
              <a:rPr lang="en-IN" sz="1800" dirty="0"/>
              <a:t> component, and each issue was represented by the </a:t>
            </a:r>
            <a:r>
              <a:rPr lang="en-IN" sz="1800" dirty="0" err="1">
                <a:solidFill>
                  <a:srgbClr val="FF0000"/>
                </a:solidFill>
              </a:rPr>
              <a:t>IssueRow</a:t>
            </a:r>
            <a:r>
              <a:rPr lang="en-IN" sz="1800" dirty="0"/>
              <a:t> component.</a:t>
            </a:r>
          </a:p>
          <a:p>
            <a:pPr lvl="1">
              <a:buFont typeface="Arial" panose="020B0604020202020204" pitchFamily="34" charset="0"/>
              <a:buChar char="•"/>
            </a:pPr>
            <a:r>
              <a:rPr lang="en-IN" sz="1800" dirty="0"/>
              <a:t>Decide on the granularity just as you would for splitting functions and objects. </a:t>
            </a:r>
          </a:p>
          <a:p>
            <a:pPr lvl="1">
              <a:buFont typeface="Arial" panose="020B0604020202020204" pitchFamily="34" charset="0"/>
              <a:buChar char="•"/>
            </a:pPr>
            <a:r>
              <a:rPr lang="en-IN" sz="1800" dirty="0"/>
              <a:t>The component should be self-contained with minimal and logical interfaces to the parent. </a:t>
            </a:r>
          </a:p>
          <a:p>
            <a:pPr lvl="1">
              <a:buFont typeface="Arial" panose="020B0604020202020204" pitchFamily="34" charset="0"/>
              <a:buChar char="•"/>
            </a:pPr>
            <a:r>
              <a:rPr lang="en-IN" sz="1800" dirty="0"/>
              <a:t>If you find it doing too many things, just like in functions, it should probably be split into multiple components, so that it follows the Single Responsibility principle</a:t>
            </a:r>
          </a:p>
          <a:p>
            <a:pPr lvl="1">
              <a:buFont typeface="Arial" panose="020B0604020202020204" pitchFamily="34" charset="0"/>
              <a:buChar char="•"/>
            </a:pPr>
            <a:r>
              <a:rPr lang="en-IN" sz="1800" dirty="0"/>
              <a:t>If you are passing in too many props to a component, it is an indication that either the component needs to be split, or it need not exist</a:t>
            </a:r>
            <a:endParaRPr lang="en-US" sz="1800" dirty="0"/>
          </a:p>
        </p:txBody>
      </p:sp>
      <p:pic>
        <p:nvPicPr>
          <p:cNvPr id="3" name="Picture 2">
            <a:extLst>
              <a:ext uri="{FF2B5EF4-FFF2-40B4-BE49-F238E27FC236}">
                <a16:creationId xmlns:a16="http://schemas.microsoft.com/office/drawing/2014/main" id="{C2A8D89C-B572-3C32-36B3-5BF9772DAA2E}"/>
              </a:ext>
            </a:extLst>
          </p:cNvPr>
          <p:cNvPicPr>
            <a:picLocks noChangeAspect="1"/>
          </p:cNvPicPr>
          <p:nvPr/>
        </p:nvPicPr>
        <p:blipFill>
          <a:blip r:embed="rId2"/>
          <a:stretch>
            <a:fillRect/>
          </a:stretch>
        </p:blipFill>
        <p:spPr>
          <a:xfrm>
            <a:off x="1982160" y="113858"/>
            <a:ext cx="7674005" cy="2133785"/>
          </a:xfrm>
          <a:prstGeom prst="rect">
            <a:avLst/>
          </a:prstGeom>
        </p:spPr>
      </p:pic>
    </p:spTree>
    <p:extLst>
      <p:ext uri="{BB962C8B-B14F-4D97-AF65-F5344CB8AC3E}">
        <p14:creationId xmlns:p14="http://schemas.microsoft.com/office/powerpoint/2010/main" val="1197500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D0256-8CB0-6BF1-0503-C391B5D244D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B8EA5D7-30DB-D9AB-F8BE-09D24C5BEE9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IN" sz="1800" dirty="0"/>
              <a:t>Communication</a:t>
            </a:r>
          </a:p>
          <a:p>
            <a:pPr lvl="1" algn="just">
              <a:buFont typeface="Arial" panose="020B0604020202020204" pitchFamily="34" charset="0"/>
              <a:buChar char="•"/>
            </a:pPr>
            <a:r>
              <a:rPr lang="en-IN" sz="1800" dirty="0"/>
              <a:t>Communication between components depends on the direction. </a:t>
            </a:r>
          </a:p>
          <a:p>
            <a:pPr lvl="1" algn="just">
              <a:buFont typeface="Arial" panose="020B0604020202020204" pitchFamily="34" charset="0"/>
              <a:buChar char="•"/>
            </a:pPr>
            <a:r>
              <a:rPr lang="en-IN" sz="1800" dirty="0"/>
              <a:t>Parents communicate to children via props; when state changes, the props automatically change. </a:t>
            </a:r>
          </a:p>
          <a:p>
            <a:pPr lvl="1" algn="just">
              <a:buFont typeface="Arial" panose="020B0604020202020204" pitchFamily="34" charset="0"/>
              <a:buChar char="•"/>
            </a:pPr>
            <a:r>
              <a:rPr lang="en-IN" sz="1800" dirty="0"/>
              <a:t>Children communicate to parents via callbacks.</a:t>
            </a:r>
          </a:p>
          <a:p>
            <a:pPr lvl="1" algn="just">
              <a:buFont typeface="Arial" panose="020B0604020202020204" pitchFamily="34" charset="0"/>
              <a:buChar char="•"/>
            </a:pPr>
            <a:r>
              <a:rPr lang="en-IN" sz="1800" dirty="0"/>
              <a:t>Siblings and cousins can’t communicate with each other, so if there is a need, the information has to go up the hierarchy and then back down – Lifting up state</a:t>
            </a:r>
          </a:p>
          <a:p>
            <a:pPr lvl="1" algn="just">
              <a:buFont typeface="Arial" panose="020B0604020202020204" pitchFamily="34" charset="0"/>
              <a:buChar char="•"/>
            </a:pPr>
            <a:r>
              <a:rPr lang="en-IN" sz="1800" dirty="0"/>
              <a:t>If there is a need to know the state of a child in a parent, you’re probably doing it wrong.</a:t>
            </a:r>
          </a:p>
          <a:p>
            <a:pPr>
              <a:buFont typeface="Arial" panose="020B0604020202020204" pitchFamily="34" charset="0"/>
              <a:buChar char="•"/>
            </a:pPr>
            <a:r>
              <a:rPr lang="en-IN" sz="1800" dirty="0"/>
              <a:t>Stateless Components</a:t>
            </a:r>
          </a:p>
          <a:p>
            <a:pPr lvl="1" algn="just">
              <a:buFont typeface="Arial" panose="020B0604020202020204" pitchFamily="34" charset="0"/>
              <a:buChar char="•"/>
            </a:pPr>
            <a:r>
              <a:rPr lang="en-IN" sz="1800" dirty="0"/>
              <a:t>In a well-designed application, most components would be stateless functions of their properties. </a:t>
            </a:r>
          </a:p>
          <a:p>
            <a:pPr lvl="1" algn="just">
              <a:buFont typeface="Arial" panose="020B0604020202020204" pitchFamily="34" charset="0"/>
              <a:buChar char="•"/>
            </a:pPr>
            <a:r>
              <a:rPr lang="en-IN" sz="1800" dirty="0"/>
              <a:t>All states would be captured in a few components at the top of the hierarchy, from where the props of all the descendants are derived.</a:t>
            </a:r>
          </a:p>
          <a:p>
            <a:pPr lvl="1" algn="just">
              <a:buFont typeface="Arial" panose="020B0604020202020204" pitchFamily="34" charset="0"/>
              <a:buChar char="•"/>
            </a:pPr>
            <a:r>
              <a:rPr lang="en-IN" sz="1800" dirty="0"/>
              <a:t>We did just that with the </a:t>
            </a:r>
            <a:r>
              <a:rPr lang="en-IN" sz="1800" dirty="0" err="1"/>
              <a:t>IssueList</a:t>
            </a:r>
            <a:r>
              <a:rPr lang="en-IN" sz="1800" dirty="0"/>
              <a:t>, where we kept the state. </a:t>
            </a:r>
          </a:p>
          <a:p>
            <a:pPr lvl="1" algn="just">
              <a:buFont typeface="Arial" panose="020B0604020202020204" pitchFamily="34" charset="0"/>
              <a:buChar char="•"/>
            </a:pPr>
            <a:r>
              <a:rPr lang="en-IN" sz="1800" dirty="0"/>
              <a:t>We converted all descendent components to stateless components, relying only on props passed down the hierarchy to render themselves. </a:t>
            </a:r>
          </a:p>
          <a:p>
            <a:pPr lvl="1" algn="just">
              <a:buFont typeface="Arial" panose="020B0604020202020204" pitchFamily="34" charset="0"/>
              <a:buChar char="•"/>
            </a:pPr>
            <a:r>
              <a:rPr lang="en-IN" sz="1800" dirty="0"/>
              <a:t>We kept the state in </a:t>
            </a:r>
            <a:r>
              <a:rPr lang="en-IN" sz="1800" dirty="0" err="1"/>
              <a:t>IssueList</a:t>
            </a:r>
            <a:r>
              <a:rPr lang="en-IN" sz="1800" dirty="0"/>
              <a:t> because that was the least common component above all the descendants that depended on that state. </a:t>
            </a:r>
          </a:p>
          <a:p>
            <a:pPr lvl="1" algn="just">
              <a:buFont typeface="Arial" panose="020B0604020202020204" pitchFamily="34" charset="0"/>
              <a:buChar char="•"/>
            </a:pPr>
            <a:r>
              <a:rPr lang="en-IN" sz="1800" dirty="0"/>
              <a:t>Sometimes, you may find that there is no logical common ancestor. In such cases, you may have to invent a new component just to hold the state, even though visually the component has nothing.</a:t>
            </a:r>
            <a:endParaRPr lang="en-US" sz="1800" dirty="0"/>
          </a:p>
        </p:txBody>
      </p:sp>
    </p:spTree>
    <p:extLst>
      <p:ext uri="{BB962C8B-B14F-4D97-AF65-F5344CB8AC3E}">
        <p14:creationId xmlns:p14="http://schemas.microsoft.com/office/powerpoint/2010/main" val="2282526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FF168-494B-ACB9-1D34-CF11FE915AEB}"/>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18320ADF-FEB7-F0B5-A04B-3BB28468E3A1}"/>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100866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0F067-B94F-3C82-46A8-093CC190814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BD5D329-1659-713F-3712-F3176A6E28E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067737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C16C7-EE57-CF8B-6520-BDE424439C10}"/>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787610D-85C9-51C5-EAD1-3A8BF3539528}"/>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9422080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E175A-1386-080F-CDAD-72F427CAE227}"/>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3836DF45-D350-2A8D-205E-7FE0DB93C443}"/>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4639950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5ADDA-30DB-7145-959E-99D108602571}"/>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8303A11-912A-9CF4-0B60-21C871942B60}"/>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29853233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A2CDF-5002-5066-ABA6-0F22DF7206C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61BDBE0-7EB0-F2CB-94D0-148DC145ED37}"/>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20846009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4FD05-6674-76ED-E95B-7C976444EDE2}"/>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420B5E06-8AF9-C380-D9CD-B7D39B9CBCA6}"/>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25126548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01751-42D3-1991-5AB9-EF6F232E046A}"/>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AF12AAD-41C9-764B-B565-4CD2CAFA0C6E}"/>
              </a:ext>
            </a:extLst>
          </p:cNvPr>
          <p:cNvSpPr txBox="1">
            <a:spLocks/>
          </p:cNvSpPr>
          <p:nvPr/>
        </p:nvSpPr>
        <p:spPr>
          <a:xfrm>
            <a:off x="360727" y="343949"/>
            <a:ext cx="11442583" cy="5525143"/>
          </a:xfrm>
          <a:prstGeom prst="rect">
            <a:avLst/>
          </a:prstGeom>
        </p:spPr>
        <p:txBody>
          <a:bodyPr/>
          <a:lst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000" dirty="0"/>
              <a:t>x</a:t>
            </a:r>
            <a:endParaRPr lang="en-US" sz="1800" dirty="0"/>
          </a:p>
        </p:txBody>
      </p:sp>
    </p:spTree>
    <p:extLst>
      <p:ext uri="{BB962C8B-B14F-4D97-AF65-F5344CB8AC3E}">
        <p14:creationId xmlns:p14="http://schemas.microsoft.com/office/powerpoint/2010/main" val="1749710417"/>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{36DD5CE7-46AA-4A3B-8BDD-33A0D3929DF2}TFf0a5ceae-4542-492d-822e-d65a94fb0e1e3b562c5a_win32-009a0557e699</Template>
  <TotalTime>49666</TotalTime>
  <Words>5022</Words>
  <Application>Microsoft Office PowerPoint</Application>
  <PresentationFormat>Widescreen</PresentationFormat>
  <Paragraphs>596</Paragraphs>
  <Slides>51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Bookman Old Style</vt:lpstr>
      <vt:lpstr>Calibri</vt:lpstr>
      <vt:lpstr>Courier New</vt:lpstr>
      <vt:lpstr>Franklin Gothic Book</vt:lpstr>
      <vt:lpstr>Custom</vt:lpstr>
      <vt:lpstr>UNIT III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Roshan D Suvaris</cp:lastModifiedBy>
  <cp:revision>60</cp:revision>
  <dcterms:created xsi:type="dcterms:W3CDTF">2026-07-30T09:23:35Z</dcterms:created>
  <dcterms:modified xsi:type="dcterms:W3CDTF">2026-09-26T18:16:02Z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