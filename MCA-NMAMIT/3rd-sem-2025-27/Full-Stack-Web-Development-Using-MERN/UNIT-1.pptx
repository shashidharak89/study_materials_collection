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96" r:id="rId3"/>
    <p:sldId id="297" r:id="rId4"/>
    <p:sldId id="298" r:id="rId5"/>
    <p:sldId id="299" r:id="rId6"/>
    <p:sldId id="257" r:id="rId7"/>
    <p:sldId id="259" r:id="rId8"/>
    <p:sldId id="323" r:id="rId9"/>
    <p:sldId id="260" r:id="rId10"/>
    <p:sldId id="300" r:id="rId11"/>
    <p:sldId id="301" r:id="rId12"/>
    <p:sldId id="261" r:id="rId13"/>
    <p:sldId id="262" r:id="rId14"/>
    <p:sldId id="263" r:id="rId15"/>
    <p:sldId id="264" r:id="rId16"/>
    <p:sldId id="266" r:id="rId17"/>
    <p:sldId id="267" r:id="rId18"/>
    <p:sldId id="302" r:id="rId19"/>
    <p:sldId id="270" r:id="rId20"/>
    <p:sldId id="271" r:id="rId21"/>
    <p:sldId id="303" r:id="rId22"/>
    <p:sldId id="269" r:id="rId23"/>
    <p:sldId id="274" r:id="rId24"/>
    <p:sldId id="276" r:id="rId25"/>
    <p:sldId id="277" r:id="rId26"/>
    <p:sldId id="324" r:id="rId27"/>
    <p:sldId id="278" r:id="rId28"/>
    <p:sldId id="279" r:id="rId29"/>
    <p:sldId id="280" r:id="rId30"/>
    <p:sldId id="281" r:id="rId31"/>
    <p:sldId id="282" r:id="rId32"/>
    <p:sldId id="325" r:id="rId33"/>
    <p:sldId id="326" r:id="rId34"/>
    <p:sldId id="283" r:id="rId35"/>
    <p:sldId id="285" r:id="rId36"/>
    <p:sldId id="286" r:id="rId37"/>
    <p:sldId id="287" r:id="rId38"/>
    <p:sldId id="288" r:id="rId39"/>
    <p:sldId id="289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28" r:id="rId50"/>
    <p:sldId id="314" r:id="rId51"/>
    <p:sldId id="315" r:id="rId52"/>
    <p:sldId id="316" r:id="rId53"/>
    <p:sldId id="317" r:id="rId54"/>
    <p:sldId id="290" r:id="rId55"/>
    <p:sldId id="291" r:id="rId56"/>
    <p:sldId id="318" r:id="rId57"/>
    <p:sldId id="319" r:id="rId58"/>
    <p:sldId id="320" r:id="rId59"/>
    <p:sldId id="321" r:id="rId60"/>
    <p:sldId id="322" r:id="rId61"/>
    <p:sldId id="294" r:id="rId62"/>
    <p:sldId id="295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35" autoAdjust="0"/>
    <p:restoredTop sz="85856" autoAdjust="0"/>
  </p:normalViewPr>
  <p:slideViewPr>
    <p:cSldViewPr snapToGrid="0">
      <p:cViewPr varScale="1">
        <p:scale>
          <a:sx n="62" d="100"/>
          <a:sy n="62" d="100"/>
        </p:scale>
        <p:origin x="5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6D982-DDCB-4B20-BAD0-66403CEA2A1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C85FC-97CF-409B-8ED1-F0C91AFC1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87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C85FC-97CF-409B-8ED1-F0C91AFC10A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36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9E43-6038-87DA-7AD6-370BFEE4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C7C84-6BCB-2CF0-9C12-BB80B3A3C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1267-4797-1353-680C-D8C3DF95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CC9B-B9D5-C034-7518-10E6D8C2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CA39C-6BA3-B50C-D931-C3696DD7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7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5911-F156-E987-F405-F9A51B13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36A0-5103-E03A-9EB7-9C9BF2DCC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6C02A-D249-F08E-3BDA-0C6B305E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E6CB-2E8C-C73B-F933-16EE009B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F6586-494E-C4E7-4149-0D96F33B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8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61CD-C1F8-424D-1A58-0EC2AE28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BFE4B-4BD6-0383-7737-E2A8FB1A7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47AED-B714-C1FA-D9F6-0D7539AE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8956-14AF-B6AF-ECAA-7F42E668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64AE6-D85C-3851-5EC0-41622B3A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A705-998B-F086-4DE0-1EE920A6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829D-54A5-16B7-421E-2805313F2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DF41B-335B-B6EB-54F0-D29DBF74B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61DAD-CBE6-A6AD-1626-EF2BDC40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C5583-8EC6-BA95-D84C-ED1A8791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09C9D-A279-0C71-ED9C-5F989474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9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7949-8E1A-D3DD-FAFC-1690C019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ED681-7D96-1F8C-E67D-7E5E5C93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BBE14-2F57-6364-49C3-28575136C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FAB01-60C6-5A1A-510E-61A1BBD5D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B1BC2-CF0F-3FD0-3F06-7B3B11ED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9369F-EF5A-AD2D-D6BF-2051066AA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B9C42-121C-E2B8-25D5-3410915A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08380-593D-3FDD-A172-F00069EF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5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7FFB-D240-0151-41A8-B6037435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479AB-0A17-BA0B-F10D-3941D055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790B6-B7A0-2BBA-615A-3C675F92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5C96E-3FEE-BAF2-D3A1-3FFF3A4A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8D147-7EE4-3DC9-63E0-FEE8CAA8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6107B-70E5-5954-1860-2411AB6E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5AB73-7A86-A3EB-48EF-A9B731D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81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0CFF-2837-0EC6-3278-F774B445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020C-9DE2-1521-F786-B6D937538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F2D58-7AFF-112D-2038-F1345D259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9224A-EF8F-6C29-17FC-392FAC64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8DB0-CCE0-05E9-5C17-A1E81E4C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5120B-E384-8C63-39B0-4CCE542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8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FF27-367C-3B3A-B770-559F20A7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B0A38-902F-2BE0-F55E-61AFA4E3C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BC1A3-1496-F4FE-860D-BCD787EC2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384A4-3C37-B161-6C4D-6E3CA98D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4744-D600-BAA7-3B18-C99DD3DD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1D71-8A72-B09D-A4D8-0815EA4F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7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AAA4-4099-28C4-E46B-67D1FED7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410D2-FE3B-9DEE-2A8C-C44C93873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493CC-BDC2-1F78-93D6-DA5FBDB6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AB025-9977-69DF-D174-897D17F9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E4E9-E836-F139-1AFF-5A140BDF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66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1E445-8371-D917-1140-D641EB2B3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0FBAA-C41B-79C8-6EFE-CEF6260EC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6BB3-F9BC-C894-2168-1E0BA38D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EEB9-8A67-AD85-F439-3454A5E2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2D40A-909F-E28D-8B68-22D394F0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0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DAE6B-2B26-3263-021C-E36EA402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1C28-2B84-D4CB-9CDE-1417A44D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F3886-5E64-8B2C-8AD7-CF5B7D4E2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FAE2A-9811-44F2-B798-903D87932B2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389BB-6C41-0036-7B38-FD0FACC01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DEFB-A1F7-7898-1AC5-582632BFC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16ED-2D06-4F8C-A299-645F9FB7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7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543D-E411-6057-B292-16AD3EEB5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176B9-2F55-8709-6ABD-2E5A23D99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			By Rakshitha P</a:t>
            </a:r>
          </a:p>
        </p:txBody>
      </p:sp>
    </p:spTree>
    <p:extLst>
      <p:ext uri="{BB962C8B-B14F-4D97-AF65-F5344CB8AC3E}">
        <p14:creationId xmlns:p14="http://schemas.microsoft.com/office/powerpoint/2010/main" val="286492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1596-85B9-E1D5-B5BA-C50ECA56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48"/>
            <a:ext cx="10515600" cy="709531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Introduction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9F94D-1CCA-43F1-AF04-67CEFD1CE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04" y="1018095"/>
            <a:ext cx="11070996" cy="5158868"/>
          </a:xfrm>
        </p:spPr>
        <p:txBody>
          <a:bodyPr>
            <a:normAutofit/>
          </a:bodyPr>
          <a:lstStyle/>
          <a:p>
            <a:r>
              <a:rPr lang="en-US" dirty="0"/>
              <a:t>Modern web applications are developed using multiple technologies that work together. The combination of these technologies is called a </a:t>
            </a:r>
            <a:r>
              <a:rPr lang="en-US" b="1" i="1" dirty="0">
                <a:solidFill>
                  <a:srgbClr val="FF0000"/>
                </a:solidFill>
              </a:rPr>
              <a:t>Technology Stack</a:t>
            </a:r>
            <a:r>
              <a:rPr lang="en-US" dirty="0"/>
              <a:t>.</a:t>
            </a:r>
          </a:p>
          <a:p>
            <a:r>
              <a:rPr lang="en-US" dirty="0"/>
              <a:t>One of the earliest and most popular technology stacks was the </a:t>
            </a:r>
            <a:r>
              <a:rPr lang="en-US" b="1" i="1" dirty="0">
                <a:solidFill>
                  <a:srgbClr val="FF0000"/>
                </a:solidFill>
              </a:rPr>
              <a:t>LAMP Stack</a:t>
            </a:r>
            <a:r>
              <a:rPr lang="en-US" dirty="0"/>
              <a:t>, which consists of: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– Linux 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 – Apache 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 – MySQL </a:t>
            </a:r>
          </a:p>
          <a:p>
            <a:pPr lvl="1"/>
            <a:r>
              <a:rPr lang="en-US" b="1" dirty="0"/>
              <a:t>P</a:t>
            </a:r>
            <a:r>
              <a:rPr lang="en-US" dirty="0"/>
              <a:t> – PHP </a:t>
            </a:r>
          </a:p>
          <a:p>
            <a:r>
              <a:rPr lang="en-US" dirty="0"/>
              <a:t>LAMP provided an open-source platform for developing </a:t>
            </a:r>
            <a:r>
              <a:rPr lang="en-US" i="1" dirty="0">
                <a:solidFill>
                  <a:srgbClr val="FF0000"/>
                </a:solidFill>
              </a:rPr>
              <a:t>dynamic web applications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55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14FE-5AF0-D3A9-726B-590CF255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845"/>
            <a:ext cx="10515600" cy="728384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Evolution of Web Applications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BEC1-99F4-C473-ABCD-9345B8421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150070"/>
            <a:ext cx="11642103" cy="5486400"/>
          </a:xfrm>
        </p:spPr>
        <p:txBody>
          <a:bodyPr>
            <a:normAutofit/>
          </a:bodyPr>
          <a:lstStyle/>
          <a:p>
            <a:r>
              <a:rPr lang="en-US" dirty="0"/>
              <a:t>Initially, web applications followed the traditional approach where the </a:t>
            </a:r>
            <a:r>
              <a:rPr lang="en-US" b="1" i="1" dirty="0">
                <a:solidFill>
                  <a:srgbClr val="FF0000"/>
                </a:solidFill>
              </a:rPr>
              <a:t>entire web page was reloaded</a:t>
            </a:r>
            <a:r>
              <a:rPr lang="en-US" dirty="0"/>
              <a:t> whenever the user requested new information.</a:t>
            </a:r>
          </a:p>
          <a:p>
            <a:r>
              <a:rPr lang="en-US" dirty="0"/>
              <a:t>As web applications became more interactive, </a:t>
            </a:r>
            <a:r>
              <a:rPr lang="en-US" b="1" i="1" dirty="0">
                <a:solidFill>
                  <a:srgbClr val="FF0000"/>
                </a:solidFill>
              </a:rPr>
              <a:t>Single Page Applications (SPAs)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gained popularity.</a:t>
            </a:r>
          </a:p>
          <a:p>
            <a:pPr marL="0" indent="0">
              <a:buNone/>
            </a:pPr>
            <a:r>
              <a:rPr lang="en-US" b="1" dirty="0"/>
              <a:t>Single Page Application (SPA)</a:t>
            </a:r>
          </a:p>
          <a:p>
            <a:r>
              <a:rPr lang="en-US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Single Page Application (SPA)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updates only the required part of the web page instead of reloading the entire page.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 lvl="1"/>
            <a:r>
              <a:rPr lang="en-US" dirty="0"/>
              <a:t>Faster page updates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50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E046-8840-81E6-04F0-E7B9A0E7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149"/>
            <a:ext cx="10515600" cy="709531"/>
          </a:xfrm>
        </p:spPr>
        <p:txBody>
          <a:bodyPr/>
          <a:lstStyle/>
          <a:p>
            <a:pPr algn="ctr"/>
            <a:r>
              <a:rPr lang="en-US" b="1" dirty="0"/>
              <a:t>Evolution from MEAN to MERN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8FD4-60A3-62B1-9687-F4E48A0DC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85" y="1121790"/>
            <a:ext cx="11491274" cy="5363851"/>
          </a:xfrm>
        </p:spPr>
        <p:txBody>
          <a:bodyPr>
            <a:normAutofit/>
          </a:bodyPr>
          <a:lstStyle/>
          <a:p>
            <a:r>
              <a:rPr lang="en-US" dirty="0"/>
              <a:t>The increasing popularity of SPAs and NoSQL databases led to the development of the </a:t>
            </a:r>
            <a:r>
              <a:rPr lang="en-US" b="1" i="1" dirty="0">
                <a:solidFill>
                  <a:srgbClr val="FF0000"/>
                </a:solidFill>
              </a:rPr>
              <a:t>MEAN Stack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MEAN Stack</a:t>
            </a:r>
            <a:r>
              <a:rPr lang="en-US" dirty="0"/>
              <a:t> consists of:</a:t>
            </a:r>
          </a:p>
          <a:p>
            <a:pPr lvl="1"/>
            <a:r>
              <a:rPr lang="en-US" b="1" dirty="0"/>
              <a:t>MongoDB</a:t>
            </a:r>
            <a:r>
              <a:rPr lang="en-US" dirty="0"/>
              <a:t> – NoSQL Database </a:t>
            </a:r>
          </a:p>
          <a:p>
            <a:pPr lvl="1"/>
            <a:r>
              <a:rPr lang="en-US" b="1" dirty="0"/>
              <a:t>Express.js</a:t>
            </a:r>
            <a:r>
              <a:rPr lang="en-US" dirty="0"/>
              <a:t> – Web Application Framework </a:t>
            </a:r>
          </a:p>
          <a:p>
            <a:pPr lvl="1"/>
            <a:r>
              <a:rPr lang="en-US" b="1" dirty="0"/>
              <a:t>AngularJS</a:t>
            </a:r>
            <a:r>
              <a:rPr lang="en-US" dirty="0"/>
              <a:t> – Front-end Framework </a:t>
            </a:r>
          </a:p>
          <a:p>
            <a:pPr lvl="1"/>
            <a:r>
              <a:rPr lang="en-US" b="1" dirty="0"/>
              <a:t>Node.js</a:t>
            </a:r>
            <a:r>
              <a:rPr lang="en-US" dirty="0"/>
              <a:t> – JavaScript Runtime Environment </a:t>
            </a:r>
          </a:p>
          <a:p>
            <a:r>
              <a:rPr lang="en-US" dirty="0"/>
              <a:t>MEAN became one of the most popular open-source stacks for developing modern web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46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E00D-22C8-6B6A-1239-BE7A36E3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57"/>
            <a:ext cx="10515600" cy="860360"/>
          </a:xfrm>
        </p:spPr>
        <p:txBody>
          <a:bodyPr/>
          <a:lstStyle/>
          <a:p>
            <a:pPr algn="ctr"/>
            <a:r>
              <a:rPr lang="en-US" b="1" dirty="0"/>
              <a:t>Introduction to MERN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FD449-8BCE-7D56-A803-039C3624B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03" y="1376313"/>
            <a:ext cx="11472421" cy="4800650"/>
          </a:xfrm>
        </p:spPr>
        <p:txBody>
          <a:bodyPr/>
          <a:lstStyle/>
          <a:p>
            <a:r>
              <a:rPr lang="en-US" dirty="0"/>
              <a:t>As web development evolved, </a:t>
            </a:r>
            <a:r>
              <a:rPr lang="en-US" b="1" i="1" dirty="0">
                <a:solidFill>
                  <a:srgbClr val="FF0000"/>
                </a:solidFill>
              </a:rPr>
              <a:t>React</a:t>
            </a:r>
            <a:r>
              <a:rPr lang="en-US" dirty="0"/>
              <a:t>, developed by </a:t>
            </a:r>
            <a:r>
              <a:rPr lang="en-US" b="1" i="1" dirty="0">
                <a:solidFill>
                  <a:srgbClr val="FF0000"/>
                </a:solidFill>
              </a:rPr>
              <a:t>Facebook</a:t>
            </a:r>
            <a:r>
              <a:rPr lang="en-US" dirty="0"/>
              <a:t>, emerged as an alternative to AngularJS.</a:t>
            </a:r>
          </a:p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MERN Stack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consists of:</a:t>
            </a:r>
          </a:p>
          <a:p>
            <a:pPr lvl="1"/>
            <a:r>
              <a:rPr lang="en-US" b="1" dirty="0"/>
              <a:t>MongoDB</a:t>
            </a:r>
            <a:r>
              <a:rPr lang="en-US" dirty="0"/>
              <a:t> – NoSQL Database </a:t>
            </a:r>
          </a:p>
          <a:p>
            <a:pPr lvl="1"/>
            <a:r>
              <a:rPr lang="en-US" b="1" dirty="0"/>
              <a:t>Express.js</a:t>
            </a:r>
            <a:r>
              <a:rPr lang="en-US" dirty="0"/>
              <a:t> – Web Application Framework </a:t>
            </a:r>
          </a:p>
          <a:p>
            <a:pPr lvl="1"/>
            <a:r>
              <a:rPr lang="en-US" b="1" dirty="0"/>
              <a:t>React</a:t>
            </a:r>
            <a:r>
              <a:rPr lang="en-US" dirty="0"/>
              <a:t> –JavaScript library for Front End</a:t>
            </a:r>
          </a:p>
          <a:p>
            <a:pPr lvl="1"/>
            <a:r>
              <a:rPr lang="en-US" b="1" dirty="0"/>
              <a:t>Node.js</a:t>
            </a:r>
            <a:r>
              <a:rPr lang="en-US" dirty="0"/>
              <a:t> – JavaScript Runtime Environment </a:t>
            </a:r>
          </a:p>
          <a:p>
            <a:r>
              <a:rPr lang="en-US" dirty="0"/>
              <a:t>React focuses on building </a:t>
            </a:r>
            <a:r>
              <a:rPr lang="en-US" b="1" i="1" dirty="0">
                <a:solidFill>
                  <a:srgbClr val="FF0000"/>
                </a:solidFill>
              </a:rPr>
              <a:t>interactive user interfaces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and replaces AngularJS in the MEAN stack.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1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2352-E2EC-60DB-CA37-655B8EA0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74" y="166242"/>
            <a:ext cx="10515600" cy="56560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The MVC architectural pattern</a:t>
            </a:r>
            <a:endParaRPr lang="en-IN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12D3FB7-2A79-8C96-62B1-9585C01EF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2903" y="1448905"/>
            <a:ext cx="5304256" cy="4471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929EF-E0A3-C669-1E23-B3D12BBF193A}"/>
              </a:ext>
            </a:extLst>
          </p:cNvPr>
          <p:cNvSpPr txBox="1"/>
          <p:nvPr/>
        </p:nvSpPr>
        <p:spPr>
          <a:xfrm>
            <a:off x="219174" y="863172"/>
            <a:ext cx="640786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PalatinoLinotype-Bold"/>
              </a:rPr>
              <a:t>View</a:t>
            </a:r>
            <a:r>
              <a:rPr lang="en-US" sz="2800" dirty="0">
                <a:latin typeface="PalatinoLinotype-Roman"/>
              </a:rPr>
              <a:t>: Any </a:t>
            </a:r>
            <a:r>
              <a:rPr lang="en-US" sz="2800" b="1" i="1" dirty="0">
                <a:solidFill>
                  <a:srgbClr val="FF0000"/>
                </a:solidFill>
                <a:latin typeface="PalatinoLinotype-Roman"/>
              </a:rPr>
              <a:t>visual</a:t>
            </a:r>
            <a:r>
              <a:rPr lang="en-US" sz="2800" dirty="0">
                <a:latin typeface="PalatinoLinotype-Roman"/>
              </a:rPr>
              <a:t> representation of the data or information</a:t>
            </a:r>
          </a:p>
          <a:p>
            <a:pPr algn="just"/>
            <a:endParaRPr lang="en-US" sz="2800" dirty="0">
              <a:latin typeface="PalatinoLinotype-Roman"/>
            </a:endParaRPr>
          </a:p>
          <a:p>
            <a:pPr algn="just"/>
            <a:r>
              <a:rPr lang="en-US" sz="2800" b="1" dirty="0">
                <a:latin typeface="PalatinoLinotype-Bold"/>
              </a:rPr>
              <a:t>Controller</a:t>
            </a:r>
            <a:r>
              <a:rPr lang="en-US" sz="2800" dirty="0">
                <a:latin typeface="PalatinoLinotype-Roman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PalatinoLinotype-Roman"/>
              </a:rPr>
              <a:t>Interprets</a:t>
            </a:r>
            <a:r>
              <a:rPr lang="en-US" sz="2800" dirty="0">
                <a:latin typeface="PalatinoLinotype-Roman"/>
              </a:rPr>
              <a:t> user-generated events and </a:t>
            </a:r>
            <a:r>
              <a:rPr lang="en-US" sz="2800" dirty="0">
                <a:solidFill>
                  <a:srgbClr val="FF0000"/>
                </a:solidFill>
                <a:latin typeface="PalatinoLinotype-Roman"/>
              </a:rPr>
              <a:t>transforms </a:t>
            </a:r>
            <a:r>
              <a:rPr lang="en-US" sz="2800" dirty="0">
                <a:latin typeface="PalatinoLinotype-Roman"/>
              </a:rPr>
              <a:t>them into commands for the </a:t>
            </a:r>
            <a:r>
              <a:rPr lang="en-US" sz="2800" b="1" i="1" dirty="0">
                <a:solidFill>
                  <a:srgbClr val="FF0000"/>
                </a:solidFill>
                <a:latin typeface="PalatinoLinotype-Roman"/>
              </a:rPr>
              <a:t>model and view</a:t>
            </a:r>
            <a:r>
              <a:rPr lang="en-US" sz="2800" dirty="0">
                <a:latin typeface="PalatinoLinotype-Roman"/>
              </a:rPr>
              <a:t> to </a:t>
            </a:r>
            <a:r>
              <a:rPr lang="en-US" sz="2800">
                <a:latin typeface="PalatinoLinotype-Roman"/>
              </a:rPr>
              <a:t>update accordingly.</a:t>
            </a:r>
            <a:endParaRPr lang="en-US" sz="2800" dirty="0">
              <a:latin typeface="PalatinoLinotype-Roman"/>
            </a:endParaRPr>
          </a:p>
          <a:p>
            <a:pPr algn="just"/>
            <a:endParaRPr lang="en-US" sz="2800" b="1" i="0" u="none" strike="noStrike" baseline="0" dirty="0">
              <a:latin typeface="PalatinoLinotype-Bold"/>
            </a:endParaRPr>
          </a:p>
          <a:p>
            <a:pPr algn="just"/>
            <a:r>
              <a:rPr lang="en-US" sz="2800" b="1" i="0" u="none" strike="noStrike" baseline="0" dirty="0">
                <a:latin typeface="PalatinoLinotype-Bold"/>
              </a:rPr>
              <a:t>Model</a:t>
            </a:r>
            <a:r>
              <a:rPr lang="en-US" sz="2800" b="0" i="0" u="none" strike="noStrike" baseline="0" dirty="0">
                <a:latin typeface="PalatinoLinotype-Roman"/>
              </a:rPr>
              <a:t>: Manages the business logic of an application that determines how data should be </a:t>
            </a:r>
            <a:r>
              <a:rPr lang="en-US" sz="2800" b="1" i="1" u="none" strike="noStrike" baseline="0" dirty="0">
                <a:solidFill>
                  <a:srgbClr val="FF0000"/>
                </a:solidFill>
                <a:latin typeface="PalatinoLinotype-Roman"/>
              </a:rPr>
              <a:t>stored, created, and modified</a:t>
            </a:r>
            <a:r>
              <a:rPr lang="en-US" sz="2800" b="1" i="1" u="none" strike="noStrike" baseline="0" dirty="0">
                <a:latin typeface="PalatinoLinotype-Roman"/>
              </a:rPr>
              <a:t>.</a:t>
            </a:r>
          </a:p>
          <a:p>
            <a:pPr algn="just"/>
            <a:endParaRPr lang="en-US" sz="2800" b="1" i="1" u="none" strike="noStrike" baseline="0" dirty="0">
              <a:latin typeface="PalatinoLinotype-Roman"/>
            </a:endParaRPr>
          </a:p>
        </p:txBody>
      </p:sp>
    </p:spTree>
    <p:extLst>
      <p:ext uri="{BB962C8B-B14F-4D97-AF65-F5344CB8AC3E}">
        <p14:creationId xmlns:p14="http://schemas.microsoft.com/office/powerpoint/2010/main" val="164014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317-4BDA-935E-3F25-37C54B10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8" y="82321"/>
            <a:ext cx="11972827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+mn-lt"/>
              </a:rPr>
              <a:t>MERN COMPONENT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D6D96-7A93-59A3-BF87-3EF8D16A0715}"/>
              </a:ext>
            </a:extLst>
          </p:cNvPr>
          <p:cNvSpPr txBox="1"/>
          <p:nvPr/>
        </p:nvSpPr>
        <p:spPr>
          <a:xfrm>
            <a:off x="229385" y="866422"/>
            <a:ext cx="118180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React is an </a:t>
            </a:r>
            <a:r>
              <a:rPr lang="en-US" sz="2800" i="1" dirty="0">
                <a:solidFill>
                  <a:srgbClr val="FF0000"/>
                </a:solidFill>
              </a:rPr>
              <a:t>open-source JavaScript library </a:t>
            </a:r>
            <a:r>
              <a:rPr lang="en-US" sz="2800" dirty="0"/>
              <a:t>developed by </a:t>
            </a:r>
            <a:r>
              <a:rPr lang="en-US" sz="2800" i="1" dirty="0">
                <a:solidFill>
                  <a:srgbClr val="FF0000"/>
                </a:solidFill>
              </a:rPr>
              <a:t>Facebook</a:t>
            </a:r>
            <a:r>
              <a:rPr lang="en-US" sz="2800" dirty="0"/>
              <a:t> that can be used for creating views </a:t>
            </a:r>
            <a:r>
              <a:rPr lang="en-IN" sz="2800" dirty="0"/>
              <a:t>rendered in HTML.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 is responsible for creating the </a:t>
            </a:r>
            <a:r>
              <a:rPr lang="en-US" sz="2800" i="1" dirty="0">
                <a:solidFill>
                  <a:srgbClr val="FF0000"/>
                </a:solidFill>
              </a:rPr>
              <a:t>user interface (UI) </a:t>
            </a:r>
            <a:r>
              <a:rPr lang="en-US" sz="2800" dirty="0"/>
              <a:t>of web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 is used to create </a:t>
            </a:r>
            <a:r>
              <a:rPr lang="en-US" sz="2800" i="1" dirty="0">
                <a:solidFill>
                  <a:srgbClr val="FF0000"/>
                </a:solidFill>
              </a:rPr>
              <a:t>interactive and dynamic web pages </a:t>
            </a:r>
            <a:r>
              <a:rPr lang="en-US" sz="2800" dirty="0"/>
              <a:t>by rendering HTML elements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Unlike AngularJS, </a:t>
            </a:r>
            <a:r>
              <a:rPr lang="en-US" sz="2800" i="1" dirty="0">
                <a:solidFill>
                  <a:srgbClr val="FF0000"/>
                </a:solidFill>
              </a:rPr>
              <a:t>React is a library, not a framework</a:t>
            </a:r>
            <a:r>
              <a:rPr lang="en-US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just Facebook itself, but many other companies that use React in production like Airbnb, </a:t>
            </a:r>
            <a:r>
              <a:rPr lang="en-IN" sz="2800" dirty="0"/>
              <a:t>Atlassian, Bitbucket, Disqus, Walmart, etc.</a:t>
            </a:r>
          </a:p>
        </p:txBody>
      </p:sp>
    </p:spTree>
    <p:extLst>
      <p:ext uri="{BB962C8B-B14F-4D97-AF65-F5344CB8AC3E}">
        <p14:creationId xmlns:p14="http://schemas.microsoft.com/office/powerpoint/2010/main" val="90034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489D-840C-67A4-8BE1-520B656F0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233" y="585626"/>
            <a:ext cx="7730447" cy="2948684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/>
              <a:t>Without react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heading = </a:t>
            </a:r>
            <a:r>
              <a:rPr lang="en-IN" dirty="0" err="1"/>
              <a:t>document.createElement</a:t>
            </a:r>
            <a:r>
              <a:rPr lang="en-IN" dirty="0"/>
              <a:t>("h1");</a:t>
            </a:r>
          </a:p>
          <a:p>
            <a:pPr marL="0" indent="0">
              <a:buNone/>
            </a:pPr>
            <a:r>
              <a:rPr lang="en-IN" dirty="0" err="1"/>
              <a:t>heading.textContent</a:t>
            </a:r>
            <a:r>
              <a:rPr lang="en-IN" dirty="0"/>
              <a:t> = "Hello Students";</a:t>
            </a:r>
          </a:p>
          <a:p>
            <a:pPr marL="0" indent="0">
              <a:buNone/>
            </a:pPr>
            <a:r>
              <a:rPr lang="en-IN" dirty="0" err="1"/>
              <a:t>document.body.appendChild</a:t>
            </a:r>
            <a:r>
              <a:rPr lang="en-IN" dirty="0"/>
              <a:t>(heading);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6D2F3-85EA-66DC-2DD6-DCE3A0283BBC}"/>
              </a:ext>
            </a:extLst>
          </p:cNvPr>
          <p:cNvSpPr txBox="1"/>
          <p:nvPr/>
        </p:nvSpPr>
        <p:spPr>
          <a:xfrm>
            <a:off x="3945276" y="4275124"/>
            <a:ext cx="74616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With react</a:t>
            </a:r>
          </a:p>
          <a:p>
            <a:r>
              <a:rPr lang="en-IN" sz="2800" dirty="0"/>
              <a:t>function App() {</a:t>
            </a:r>
          </a:p>
          <a:p>
            <a:r>
              <a:rPr lang="en-IN" sz="2800" dirty="0"/>
              <a:t>  return &lt;h1&gt;Hello Students&lt;/h1&gt;;</a:t>
            </a:r>
          </a:p>
          <a:p>
            <a:r>
              <a:rPr lang="en-IN" sz="2800" dirty="0"/>
              <a:t>}</a:t>
            </a:r>
          </a:p>
          <a:p>
            <a:r>
              <a:rPr lang="en-IN" sz="2800" dirty="0"/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24208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2CD0-B8D0-01F6-0B9F-BAD58DFB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6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Why Facebook Invented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EB53-58FE-C7B9-0003-D36C6EC67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5" y="1156321"/>
            <a:ext cx="10515600" cy="5336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Before React,</a:t>
            </a:r>
          </a:p>
          <a:p>
            <a:r>
              <a:rPr lang="en-US" dirty="0"/>
              <a:t>Facebook initially used the traditional </a:t>
            </a:r>
            <a:r>
              <a:rPr lang="en-US" i="1" dirty="0">
                <a:solidFill>
                  <a:srgbClr val="FF0000"/>
                </a:solidFill>
              </a:rPr>
              <a:t>MVC (Model-View-Controller) </a:t>
            </a:r>
            <a:r>
              <a:rPr lang="en-US" dirty="0"/>
              <a:t>architecture for developing its applications.</a:t>
            </a:r>
          </a:p>
          <a:p>
            <a:r>
              <a:rPr lang="en-US" dirty="0"/>
              <a:t>In this approach:</a:t>
            </a:r>
          </a:p>
          <a:p>
            <a:pPr lvl="1"/>
            <a:r>
              <a:rPr lang="en-US" sz="2800" dirty="0"/>
              <a:t>The </a:t>
            </a:r>
            <a:r>
              <a:rPr lang="en-US" sz="2800" b="1" i="1" dirty="0">
                <a:solidFill>
                  <a:srgbClr val="FF0000"/>
                </a:solidFill>
              </a:rPr>
              <a:t>Model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stores the data. </a:t>
            </a:r>
          </a:p>
          <a:p>
            <a:pPr lvl="1"/>
            <a:r>
              <a:rPr lang="en-US" sz="2800" dirty="0"/>
              <a:t>The </a:t>
            </a:r>
            <a:r>
              <a:rPr lang="en-US" sz="2800" b="1" i="1" dirty="0">
                <a:solidFill>
                  <a:srgbClr val="FF0000"/>
                </a:solidFill>
              </a:rPr>
              <a:t>View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displays the data. </a:t>
            </a:r>
          </a:p>
          <a:p>
            <a:pPr lvl="1"/>
            <a:r>
              <a:rPr lang="en-US" sz="2800" dirty="0"/>
              <a:t>Whenever the </a:t>
            </a:r>
            <a:r>
              <a:rPr lang="en-US" sz="2800" b="1" i="1" dirty="0">
                <a:solidFill>
                  <a:srgbClr val="FF0000"/>
                </a:solidFill>
              </a:rPr>
              <a:t>Model changes</a:t>
            </a:r>
            <a:r>
              <a:rPr lang="en-US" sz="2800" dirty="0"/>
              <a:t>, the </a:t>
            </a:r>
            <a:r>
              <a:rPr lang="en-US" sz="2800" b="1" i="1" dirty="0">
                <a:solidFill>
                  <a:srgbClr val="FF0000"/>
                </a:solidFill>
              </a:rPr>
              <a:t>View updates automatically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using </a:t>
            </a:r>
            <a:r>
              <a:rPr lang="en-US" sz="2800" b="1" i="1" dirty="0">
                <a:solidFill>
                  <a:srgbClr val="FF0000"/>
                </a:solidFill>
              </a:rPr>
              <a:t>two-way data binding</a:t>
            </a:r>
            <a:r>
              <a:rPr lang="en-US" sz="2800" dirty="0"/>
              <a:t>. </a:t>
            </a:r>
          </a:p>
          <a:p>
            <a:r>
              <a:rPr lang="en-US" dirty="0"/>
              <a:t>Initially, this worked well for small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957976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7BDE-2816-3D07-6F9A-2E9754289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58" y="527901"/>
            <a:ext cx="11632676" cy="5649062"/>
          </a:xfrm>
        </p:spPr>
        <p:txBody>
          <a:bodyPr>
            <a:normAutofit/>
          </a:bodyPr>
          <a:lstStyle/>
          <a:p>
            <a:r>
              <a:rPr lang="en-US" dirty="0"/>
              <a:t>As Facebook's Ads application became larger and more complex, managing updates became difficult.</a:t>
            </a:r>
          </a:p>
          <a:p>
            <a:r>
              <a:rPr lang="en-US" dirty="0"/>
              <a:t>Suppose a user changes one piece of data.</a:t>
            </a:r>
          </a:p>
          <a:p>
            <a:r>
              <a:rPr lang="en-US" dirty="0"/>
              <a:t>One update triggered another update, which triggered another, creating a </a:t>
            </a:r>
            <a:r>
              <a:rPr lang="en-US" b="1" dirty="0"/>
              <a:t>chain of updates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b="1" i="1" dirty="0">
                <a:solidFill>
                  <a:srgbClr val="FF0000"/>
                </a:solidFill>
              </a:rPr>
              <a:t>cascading updates</a:t>
            </a:r>
            <a:r>
              <a:rPr lang="en-US" dirty="0"/>
              <a:t>.</a:t>
            </a:r>
          </a:p>
          <a:p>
            <a:r>
              <a:rPr lang="en-US" dirty="0"/>
              <a:t>As the application grew, it became:</a:t>
            </a:r>
          </a:p>
          <a:p>
            <a:pPr lvl="1"/>
            <a:r>
              <a:rPr lang="en-US" sz="2800" dirty="0"/>
              <a:t>Difficult to understand </a:t>
            </a:r>
          </a:p>
          <a:p>
            <a:pPr lvl="1"/>
            <a:r>
              <a:rPr lang="en-US" sz="2800" dirty="0"/>
              <a:t>Difficult to debug </a:t>
            </a:r>
          </a:p>
          <a:p>
            <a:pPr lvl="1"/>
            <a:r>
              <a:rPr lang="en-US" sz="2800" dirty="0"/>
              <a:t>Difficult to maintain </a:t>
            </a:r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4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BECE-6EE2-3C5E-8D67-6B175DAB4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8" y="169683"/>
            <a:ext cx="11325519" cy="6598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Developers had to write extra code to manage each update.</a:t>
            </a:r>
          </a:p>
          <a:p>
            <a:r>
              <a:rPr lang="en-US" dirty="0"/>
              <a:t>One small change could affect many parts of the application.</a:t>
            </a:r>
          </a:p>
          <a:p>
            <a:r>
              <a:rPr lang="en-US" dirty="0"/>
              <a:t>Finding bugs became difficult because developers had to trace all these updates.</a:t>
            </a:r>
          </a:p>
          <a:p>
            <a:pPr marL="0" indent="0">
              <a:buNone/>
            </a:pPr>
            <a:r>
              <a:rPr lang="en-US" dirty="0"/>
              <a:t>Facebook developers asked: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	Why are we writing separate code every time the data changes?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/>
              <a:t>The </a:t>
            </a:r>
            <a:r>
              <a:rPr lang="en-US" b="1" dirty="0"/>
              <a:t>View (UI)</a:t>
            </a:r>
            <a:r>
              <a:rPr lang="en-US" dirty="0"/>
              <a:t> already knows how to display the data.</a:t>
            </a:r>
          </a:p>
          <a:p>
            <a:r>
              <a:rPr lang="en-US" dirty="0"/>
              <a:t>Instead of manually updating different parts of the UI,</a:t>
            </a:r>
          </a:p>
          <a:p>
            <a:pPr marL="0" indent="0">
              <a:buNone/>
            </a:pPr>
            <a:r>
              <a:rPr lang="en-US" dirty="0"/>
              <a:t>why not simply:</a:t>
            </a:r>
          </a:p>
          <a:p>
            <a:pPr lvl="1"/>
            <a:r>
              <a:rPr lang="en-US" sz="2800" dirty="0"/>
              <a:t>Change the data. </a:t>
            </a:r>
          </a:p>
          <a:p>
            <a:pPr lvl="1"/>
            <a:r>
              <a:rPr lang="en-US" sz="2800" dirty="0"/>
              <a:t>Let the UI automatically redraw itself based on the new data.</a:t>
            </a:r>
          </a:p>
          <a:p>
            <a:r>
              <a:rPr lang="en-US" dirty="0"/>
              <a:t>This led to the idea of </a:t>
            </a:r>
            <a:r>
              <a:rPr lang="en-US" b="1" dirty="0"/>
              <a:t>Declarative Programming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Imperative Approach :</a:t>
            </a:r>
            <a:r>
              <a:rPr lang="en-US" dirty="0"/>
              <a:t>Tell the computer </a:t>
            </a:r>
            <a:r>
              <a:rPr lang="en-US" b="1" dirty="0">
                <a:solidFill>
                  <a:srgbClr val="FF0000"/>
                </a:solidFill>
              </a:rPr>
              <a:t>how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update the UI step by step. The programmer specifies every action.</a:t>
            </a:r>
          </a:p>
          <a:p>
            <a:pPr marL="0" indent="0">
              <a:buNone/>
            </a:pPr>
            <a:r>
              <a:rPr lang="en-US" b="1" dirty="0"/>
              <a:t>Declarative Approach</a:t>
            </a:r>
            <a:r>
              <a:rPr lang="en-US" dirty="0"/>
              <a:t>: Tell React </a:t>
            </a:r>
            <a:r>
              <a:rPr lang="en-US" b="1" dirty="0">
                <a:solidFill>
                  <a:srgbClr val="FF0000"/>
                </a:solidFill>
              </a:rPr>
              <a:t>what</a:t>
            </a:r>
            <a:r>
              <a:rPr lang="en-US" dirty="0"/>
              <a:t> the UI should look like. If name changes from </a:t>
            </a:r>
            <a:r>
              <a:rPr lang="en-US" b="1" dirty="0"/>
              <a:t>Rahul</a:t>
            </a:r>
            <a:r>
              <a:rPr lang="en-US" dirty="0"/>
              <a:t> to </a:t>
            </a:r>
            <a:r>
              <a:rPr lang="en-US" b="1" dirty="0"/>
              <a:t>Priya</a:t>
            </a:r>
            <a:r>
              <a:rPr lang="en-US" dirty="0"/>
              <a:t>, React automatically updates the screen. The programmer only changes the data. React handles the UI update.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778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1477-F7D5-D1F6-4CDC-539ADF6D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560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b="1" dirty="0"/>
              <a:t>Declarative Programming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BB624-E256-F3C2-0707-21BF839C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69" y="829560"/>
            <a:ext cx="11802359" cy="5844617"/>
          </a:xfrm>
        </p:spPr>
        <p:txBody>
          <a:bodyPr>
            <a:noAutofit/>
          </a:bodyPr>
          <a:lstStyle/>
          <a:p>
            <a:r>
              <a:rPr lang="en-US" dirty="0"/>
              <a:t>In React, the developer only specifies </a:t>
            </a:r>
            <a:r>
              <a:rPr lang="en-US" b="1" i="1" dirty="0">
                <a:solidFill>
                  <a:srgbClr val="FF0000"/>
                </a:solidFill>
              </a:rPr>
              <a:t>what the user interface should look like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based on the current data.</a:t>
            </a:r>
          </a:p>
          <a:p>
            <a:r>
              <a:rPr lang="en-US" dirty="0"/>
              <a:t>React automatically determines </a:t>
            </a:r>
            <a:r>
              <a:rPr lang="en-US" b="1" i="1" dirty="0">
                <a:solidFill>
                  <a:srgbClr val="FF0000"/>
                </a:solidFill>
              </a:rPr>
              <a:t>how to update the webpage</a:t>
            </a:r>
            <a:r>
              <a:rPr lang="en-US" dirty="0"/>
              <a:t>.</a:t>
            </a:r>
          </a:p>
          <a:p>
            <a:r>
              <a:rPr lang="en-US" dirty="0"/>
              <a:t>The developer does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dirty="0"/>
              <a:t> manually manipulate the HTML elements.</a:t>
            </a:r>
          </a:p>
          <a:p>
            <a:pPr marL="0" indent="0">
              <a:buNone/>
            </a:pPr>
            <a:r>
              <a:rPr lang="en-US" b="1" dirty="0"/>
              <a:t>	React Approach</a:t>
            </a:r>
          </a:p>
          <a:p>
            <a:pPr lvl="2"/>
            <a:r>
              <a:rPr lang="en-US" sz="2800" dirty="0"/>
              <a:t>When a new student is added,</a:t>
            </a:r>
          </a:p>
          <a:p>
            <a:pPr lvl="2"/>
            <a:r>
              <a:rPr lang="en-US" sz="2800" dirty="0"/>
              <a:t>the developer simply updates the </a:t>
            </a:r>
            <a:r>
              <a:rPr lang="en-US" sz="2800" b="1" i="1" dirty="0">
                <a:solidFill>
                  <a:srgbClr val="FF0000"/>
                </a:solidFill>
              </a:rPr>
              <a:t>data</a:t>
            </a:r>
            <a:r>
              <a:rPr lang="en-US" sz="2800" b="1" dirty="0"/>
              <a:t> </a:t>
            </a:r>
            <a:r>
              <a:rPr lang="en-US" sz="2800" dirty="0"/>
              <a:t>.</a:t>
            </a:r>
          </a:p>
          <a:p>
            <a:r>
              <a:rPr lang="en-US" dirty="0"/>
              <a:t>React automatically:</a:t>
            </a:r>
          </a:p>
          <a:p>
            <a:pPr lvl="1"/>
            <a:r>
              <a:rPr lang="en-US" sz="2800" dirty="0"/>
              <a:t>Detects the change </a:t>
            </a:r>
          </a:p>
          <a:p>
            <a:pPr lvl="1"/>
            <a:r>
              <a:rPr lang="en-US" sz="2800" dirty="0"/>
              <a:t>Determines what needs updating </a:t>
            </a:r>
          </a:p>
          <a:p>
            <a:pPr lvl="1"/>
            <a:r>
              <a:rPr lang="en-US" sz="2800" dirty="0"/>
              <a:t>Updates only the required part of the webpage </a:t>
            </a:r>
          </a:p>
          <a:p>
            <a:pPr lvl="1"/>
            <a:r>
              <a:rPr lang="en-US" sz="2800" dirty="0"/>
              <a:t>The programmer only describes the final user interface.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319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6B86-B5EF-FB19-B5AB-557C92DF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48"/>
            <a:ext cx="10515600" cy="6246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Virtual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8722D-1177-E21C-ECF6-F87523989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933254"/>
            <a:ext cx="10920167" cy="5243709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“If React redraws the page every time data changes, won't it be slow?”</a:t>
            </a:r>
          </a:p>
          <a:p>
            <a:r>
              <a:rPr lang="en-US" dirty="0"/>
              <a:t>The Virtual DOM is an </a:t>
            </a:r>
            <a:r>
              <a:rPr lang="en-US" b="1" i="1" dirty="0">
                <a:solidFill>
                  <a:srgbClr val="FF0000"/>
                </a:solidFill>
              </a:rPr>
              <a:t>in-memory copy of the actual DOM</a:t>
            </a:r>
            <a:r>
              <a:rPr lang="en-US" dirty="0"/>
              <a:t>.</a:t>
            </a:r>
          </a:p>
          <a:p>
            <a:r>
              <a:rPr lang="en-US" dirty="0"/>
              <a:t>It acts as an intermediate layer between React and the browser.</a:t>
            </a:r>
          </a:p>
          <a:p>
            <a:r>
              <a:rPr lang="en-US" dirty="0"/>
              <a:t>When data changes,</a:t>
            </a:r>
          </a:p>
          <a:p>
            <a:pPr lvl="1"/>
            <a:r>
              <a:rPr lang="en-US" sz="2800" dirty="0"/>
              <a:t>React creates a </a:t>
            </a:r>
            <a:r>
              <a:rPr lang="en-US" sz="2800" b="1" i="1" dirty="0">
                <a:solidFill>
                  <a:srgbClr val="FF0000"/>
                </a:solidFill>
              </a:rPr>
              <a:t>new Virtual DOM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It compares the new Virtual DOM with the previous Virtual DOM. </a:t>
            </a:r>
          </a:p>
          <a:p>
            <a:pPr lvl="1"/>
            <a:r>
              <a:rPr lang="en-US" sz="2800" dirty="0"/>
              <a:t>It identifies only the differences. </a:t>
            </a:r>
          </a:p>
          <a:p>
            <a:pPr lvl="1"/>
            <a:r>
              <a:rPr lang="en-US" sz="2800" dirty="0"/>
              <a:t>Only the changed parts are updated in the actual browser DOM. </a:t>
            </a:r>
          </a:p>
          <a:p>
            <a:pPr lvl="1"/>
            <a:r>
              <a:rPr lang="en-US" sz="2800" dirty="0"/>
              <a:t>This process is called </a:t>
            </a:r>
            <a:r>
              <a:rPr lang="en-US" sz="2800" b="1" i="1" dirty="0">
                <a:solidFill>
                  <a:srgbClr val="FF0000"/>
                </a:solidFill>
              </a:rPr>
              <a:t>DOM Diffing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71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F523-2753-B1F4-1B83-C5988166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49"/>
            <a:ext cx="10515600" cy="748007"/>
          </a:xfrm>
        </p:spPr>
        <p:txBody>
          <a:bodyPr/>
          <a:lstStyle/>
          <a:p>
            <a:pPr algn="ctr"/>
            <a:r>
              <a:rPr lang="en-IN" b="1" dirty="0"/>
              <a:t>Component-Based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54C6-452A-03DD-8ACD-10E973F7A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02" y="870556"/>
            <a:ext cx="11212398" cy="5864895"/>
          </a:xfrm>
        </p:spPr>
        <p:txBody>
          <a:bodyPr>
            <a:noAutofit/>
          </a:bodyPr>
          <a:lstStyle/>
          <a:p>
            <a:r>
              <a:rPr lang="en-US" dirty="0"/>
              <a:t>A component is a </a:t>
            </a:r>
            <a:r>
              <a:rPr lang="en-US" b="1" i="1" dirty="0">
                <a:solidFill>
                  <a:srgbClr val="FF0000"/>
                </a:solidFill>
              </a:rPr>
              <a:t>small, reusable, independent piece of the user interface</a:t>
            </a:r>
            <a:r>
              <a:rPr lang="en-US" i="1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Each component maintains its own state and displays its own content.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Communication Between Components</a:t>
            </a:r>
          </a:p>
          <a:p>
            <a:r>
              <a:rPr lang="en-US" dirty="0"/>
              <a:t>React components communicate using:</a:t>
            </a:r>
          </a:p>
          <a:p>
            <a:r>
              <a:rPr lang="en-US" b="1" dirty="0"/>
              <a:t>Properties (Props)</a:t>
            </a:r>
            <a:r>
              <a:rPr lang="en-US" dirty="0"/>
              <a:t> :Parent sends data to child components (read-only). </a:t>
            </a:r>
          </a:p>
          <a:p>
            <a:r>
              <a:rPr lang="en-US" b="1" dirty="0"/>
              <a:t>Callbacks</a:t>
            </a:r>
            <a:r>
              <a:rPr lang="en-US" dirty="0"/>
              <a:t> :Child components send information back to parent components. </a:t>
            </a:r>
          </a:p>
          <a:p>
            <a:pPr marL="0" indent="0">
              <a:buNone/>
            </a:pPr>
            <a:r>
              <a:rPr lang="en-US" dirty="0"/>
              <a:t>This design keeps components:</a:t>
            </a:r>
          </a:p>
          <a:p>
            <a:pPr lvl="1"/>
            <a:r>
              <a:rPr lang="en-US" sz="2800" dirty="0"/>
              <a:t>Highly cohesive </a:t>
            </a:r>
          </a:p>
          <a:p>
            <a:pPr lvl="1"/>
            <a:r>
              <a:rPr lang="en-US" sz="2800" dirty="0"/>
              <a:t>Loosely coupled </a:t>
            </a:r>
          </a:p>
          <a:p>
            <a:pPr lvl="1"/>
            <a:r>
              <a:rPr lang="en-US" sz="2800" dirty="0"/>
              <a:t>Easy to maintain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893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590F-59E7-062A-7AB6-1DD350A4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694"/>
            <a:ext cx="10515600" cy="738581"/>
          </a:xfrm>
        </p:spPr>
        <p:txBody>
          <a:bodyPr/>
          <a:lstStyle/>
          <a:p>
            <a:pPr algn="ctr"/>
            <a:r>
              <a:rPr lang="en-IN" b="1" dirty="0"/>
              <a:t>No Templates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ECFBBA-F729-38B8-A9A8-C838D7A0BA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9319" y="1228397"/>
            <a:ext cx="1151336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React does not use separate template languages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create HTML elements, unlike many other web frameworks.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React uses JavaScript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build the user interface, allowing developers to use loops, conditions, and functions for dynamic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JSX (JavaScript XML)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an HTML-like syntax to create UI elements, making React code simple and readable.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JSX is not a programming language</a:t>
            </a:r>
            <a:r>
              <a:rPr lang="en-US" altLang="en-US" b="1" dirty="0"/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a syntax extension that is converted into JavaScript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Babel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before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React can also be written without JSX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React.createElement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()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JSX is preferred because it is easier to read and write. </a:t>
            </a:r>
          </a:p>
        </p:txBody>
      </p:sp>
    </p:spTree>
    <p:extLst>
      <p:ext uri="{BB962C8B-B14F-4D97-AF65-F5344CB8AC3E}">
        <p14:creationId xmlns:p14="http://schemas.microsoft.com/office/powerpoint/2010/main" val="423322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4F0D-29F6-1C07-4611-65F211D4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Isomorphic React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645A74-26A4-636A-24E3-69299FFA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48" y="1342840"/>
            <a:ext cx="1172593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React is Isomorphic, which means the </a:t>
            </a:r>
            <a:r>
              <a:rPr lang="en-US" altLang="en-US" sz="2800" b="1" i="1" dirty="0">
                <a:solidFill>
                  <a:srgbClr val="FF0000"/>
                </a:solidFill>
              </a:rPr>
              <a:t>same React code can run on both the server and the browser</a:t>
            </a:r>
            <a:r>
              <a:rPr lang="en-US" altLang="en-US" sz="2800" i="1" dirty="0">
                <a:solidFill>
                  <a:srgbClr val="FF0000"/>
                </a:solidFill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Server-side rendering (SSR) allows </a:t>
            </a:r>
            <a:r>
              <a:rPr lang="en-US" altLang="en-US" sz="2800" i="1" dirty="0">
                <a:solidFill>
                  <a:srgbClr val="FF0000"/>
                </a:solidFill>
              </a:rPr>
              <a:t>React to generate web pages on the server </a:t>
            </a:r>
            <a:r>
              <a:rPr lang="en-US" altLang="en-US" sz="2800" dirty="0"/>
              <a:t>before sending them to the browser.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Server-side rendering improves Search Engine Optimization (SEO), making web pages easier for search engines to index.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The browser receives a fully rendered page, resulting in faster initial page loading and a better user experience.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Node.js enables React to run on the server, making server-side rendering possible. </a:t>
            </a:r>
          </a:p>
        </p:txBody>
      </p:sp>
    </p:spTree>
    <p:extLst>
      <p:ext uri="{BB962C8B-B14F-4D97-AF65-F5344CB8AC3E}">
        <p14:creationId xmlns:p14="http://schemas.microsoft.com/office/powerpoint/2010/main" val="270205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D7AA-C43F-60DB-DE71-264E2EE7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094"/>
            <a:ext cx="10515600" cy="63411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52CB-500E-C68A-E3E4-AC7ADCFB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773210"/>
            <a:ext cx="11934334" cy="5802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“Where does JavaScript normally execute?”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	JavaScript normally executes inside a web browser.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Node.js is a JavaScript runtime environment that allows JavaScript to execute outside the browser, such as on a server.</a:t>
            </a:r>
            <a:r>
              <a:rPr lang="en-US" altLang="en-US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is built on Google's Chrome V8 JavaScript Engine, which executes JavaScript efficiently.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enables developers to use JavaScript for backend development, including web servers and REST APIs.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Since React is written in JavaScript, Node.js can execute React code on the server, enabling </a:t>
            </a:r>
            <a:r>
              <a:rPr lang="en-US" altLang="en-US" b="1" dirty="0"/>
              <a:t>Server-Side Rendering (SSR)</a:t>
            </a:r>
            <a:r>
              <a:rPr lang="en-US" altLang="en-US" dirty="0"/>
              <a:t>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Popular companies such as Netflix, Uber, LinkedIn, and PayPal use Node.js in production. </a:t>
            </a:r>
          </a:p>
        </p:txBody>
      </p:sp>
    </p:spTree>
    <p:extLst>
      <p:ext uri="{BB962C8B-B14F-4D97-AF65-F5344CB8AC3E}">
        <p14:creationId xmlns:p14="http://schemas.microsoft.com/office/powerpoint/2010/main" val="3861788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FD02-2615-02E9-1979-C2B7B9C3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48" y="87723"/>
            <a:ext cx="10515600" cy="6828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Node.js modules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ABE855-B6BF-00BD-A7D2-0D567E690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5757" y="937777"/>
            <a:ext cx="114906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Node.js uses the </a:t>
            </a:r>
            <a:r>
              <a:rPr kumimoji="0" lang="en-US" altLang="en-US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CommonJS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module system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organize and manage multiple JavaScript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Modules are imported using the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require()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developers to reuse code across different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Node.js includes built-in (core) modules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provide functionality such as file handling, networking, input/output operations, and operating system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Developers can create custom modules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organize application-specific code into separate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Node.js also supports third-party modules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can be easily installed and managed using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(Node Package Manager)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3825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6261-0F7E-C8F2-3EAA-045CBDB9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73"/>
            <a:ext cx="10515600" cy="52176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Types</a:t>
            </a:r>
            <a:r>
              <a:rPr lang="en-IN" dirty="0"/>
              <a:t> </a:t>
            </a:r>
            <a:r>
              <a:rPr lang="en-IN" b="1" dirty="0"/>
              <a:t>of</a:t>
            </a:r>
            <a:r>
              <a:rPr lang="en-IN" dirty="0"/>
              <a:t> </a:t>
            </a:r>
            <a:r>
              <a:rPr lang="en-IN" b="1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60AF6-3A27-8414-BB72-85244C580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84" y="832555"/>
            <a:ext cx="7202864" cy="20049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User/Custom Modules</a:t>
            </a:r>
          </a:p>
          <a:p>
            <a:r>
              <a:rPr lang="en-US" dirty="0"/>
              <a:t>Modules created by the </a:t>
            </a:r>
            <a:r>
              <a:rPr lang="en-US" b="1" i="1" dirty="0">
                <a:solidFill>
                  <a:srgbClr val="FF0000"/>
                </a:solidFill>
              </a:rPr>
              <a:t>programmer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	student.js, employee.js, login.js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BE9AE-26A5-E628-B511-76D4C1E5C970}"/>
              </a:ext>
            </a:extLst>
          </p:cNvPr>
          <p:cNvSpPr txBox="1"/>
          <p:nvPr/>
        </p:nvSpPr>
        <p:spPr>
          <a:xfrm>
            <a:off x="7569723" y="809962"/>
            <a:ext cx="46222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Third-Party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Developers all over the world publish </a:t>
            </a:r>
            <a:r>
              <a:rPr lang="en-US" sz="2800" b="1" i="1" dirty="0">
                <a:solidFill>
                  <a:srgbClr val="FF0000"/>
                </a:solidFill>
              </a:rPr>
              <a:t>reusable modules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b="1" dirty="0"/>
              <a:t>Examples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Express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React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Mongoose </a:t>
            </a:r>
          </a:p>
          <a:p>
            <a:pPr>
              <a:buNone/>
            </a:pPr>
            <a:r>
              <a:rPr lang="en-US" sz="2800" dirty="0">
                <a:highlight>
                  <a:srgbClr val="FFFF00"/>
                </a:highlight>
              </a:rPr>
              <a:t>These are downloaded using </a:t>
            </a:r>
            <a:r>
              <a:rPr lang="en-US" sz="2800" b="1" dirty="0" err="1">
                <a:highlight>
                  <a:srgbClr val="FFFF00"/>
                </a:highlight>
              </a:rPr>
              <a:t>npm</a:t>
            </a:r>
            <a:r>
              <a:rPr lang="en-US"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74C08-64E9-05C7-DBC9-64D63C8D9BF9}"/>
              </a:ext>
            </a:extLst>
          </p:cNvPr>
          <p:cNvSpPr txBox="1"/>
          <p:nvPr/>
        </p:nvSpPr>
        <p:spPr>
          <a:xfrm>
            <a:off x="168895" y="2618910"/>
            <a:ext cx="757051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2. Core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Node.js already provides many </a:t>
            </a:r>
            <a:r>
              <a:rPr lang="en-US" sz="2800" b="1" i="1" dirty="0">
                <a:solidFill>
                  <a:srgbClr val="FF0000"/>
                </a:solidFill>
              </a:rPr>
              <a:t>built-in modules</a:t>
            </a:r>
            <a:r>
              <a:rPr lang="en-US" sz="2800" dirty="0"/>
              <a:t>.</a:t>
            </a:r>
          </a:p>
          <a:p>
            <a:r>
              <a:rPr lang="en-US" sz="2800" dirty="0"/>
              <a:t>These help programmers work with</a:t>
            </a:r>
          </a:p>
          <a:p>
            <a:r>
              <a:rPr lang="en-US" sz="2800" dirty="0"/>
              <a:t>	File system </a:t>
            </a:r>
          </a:p>
          <a:p>
            <a:r>
              <a:rPr lang="en-US" sz="2800" dirty="0"/>
              <a:t>	Networking </a:t>
            </a:r>
          </a:p>
          <a:p>
            <a:r>
              <a:rPr lang="en-US" sz="2800" dirty="0"/>
              <a:t>	Input and Output </a:t>
            </a:r>
          </a:p>
          <a:p>
            <a:r>
              <a:rPr lang="en-US" sz="2800" dirty="0"/>
              <a:t>	Operating System</a:t>
            </a:r>
          </a:p>
          <a:p>
            <a:r>
              <a:rPr lang="en-US" sz="2800" b="1" dirty="0"/>
              <a:t>Examples include:</a:t>
            </a:r>
          </a:p>
          <a:p>
            <a:r>
              <a:rPr lang="en-US" sz="2800" dirty="0"/>
              <a:t>fs (File System) , http, </a:t>
            </a:r>
            <a:r>
              <a:rPr lang="en-US" sz="2800" dirty="0" err="1"/>
              <a:t>os</a:t>
            </a:r>
            <a:r>
              <a:rPr lang="en-US" sz="2800" dirty="0"/>
              <a:t> , path </a:t>
            </a:r>
          </a:p>
          <a:p>
            <a:r>
              <a:rPr lang="en-US" sz="2800" dirty="0">
                <a:highlight>
                  <a:srgbClr val="FFFF00"/>
                </a:highlight>
              </a:rPr>
              <a:t>These are available without downloading anything.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4865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0E19-6B1E-0993-3502-417071822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468" y="216816"/>
            <a:ext cx="10515600" cy="55004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Node.js and </a:t>
            </a:r>
            <a:r>
              <a:rPr lang="en-IN" b="1" dirty="0" err="1"/>
              <a:t>npm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F446-E450-1C24-7BBC-0AA70AD7B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766862"/>
            <a:ext cx="8107051" cy="5313428"/>
          </a:xfrm>
        </p:spPr>
        <p:txBody>
          <a:bodyPr>
            <a:noAutofit/>
          </a:bodyPr>
          <a:lstStyle/>
          <a:p>
            <a:r>
              <a:rPr lang="en-IN" b="1" i="1" dirty="0" err="1">
                <a:solidFill>
                  <a:srgbClr val="FF0000"/>
                </a:solidFill>
              </a:rPr>
              <a:t>npm</a:t>
            </a:r>
            <a:r>
              <a:rPr lang="en-IN" dirty="0"/>
              <a:t> stands for </a:t>
            </a:r>
            <a:r>
              <a:rPr lang="en-IN" b="1" i="1" dirty="0">
                <a:solidFill>
                  <a:srgbClr val="FF0000"/>
                </a:solidFill>
              </a:rPr>
              <a:t>Node Package Manager</a:t>
            </a:r>
            <a:r>
              <a:rPr lang="en-IN" dirty="0"/>
              <a:t>.</a:t>
            </a:r>
          </a:p>
          <a:p>
            <a:r>
              <a:rPr lang="en-IN" dirty="0"/>
              <a:t>It is the default package manager for Node.js.</a:t>
            </a:r>
          </a:p>
          <a:p>
            <a:pPr lvl="1"/>
            <a:r>
              <a:rPr lang="en-IN" sz="2800" dirty="0"/>
              <a:t>It allows developers to</a:t>
            </a:r>
          </a:p>
          <a:p>
            <a:pPr lvl="1"/>
            <a:r>
              <a:rPr lang="en-IN" sz="2800" dirty="0"/>
              <a:t>Install packages </a:t>
            </a:r>
          </a:p>
          <a:p>
            <a:pPr lvl="1"/>
            <a:r>
              <a:rPr lang="en-IN" sz="2800" dirty="0"/>
              <a:t>Update packages </a:t>
            </a:r>
          </a:p>
          <a:p>
            <a:pPr lvl="1"/>
            <a:r>
              <a:rPr lang="en-IN" sz="2800" dirty="0"/>
              <a:t>Remove packages </a:t>
            </a:r>
          </a:p>
          <a:p>
            <a:pPr lvl="1"/>
            <a:r>
              <a:rPr lang="en-IN" sz="2800" dirty="0"/>
              <a:t>Manage project dependencies </a:t>
            </a:r>
          </a:p>
          <a:p>
            <a:pPr marL="457200" lvl="1" indent="0">
              <a:buNone/>
            </a:pPr>
            <a:r>
              <a:rPr lang="en-IN" sz="2800" i="1" dirty="0">
                <a:solidFill>
                  <a:srgbClr val="FF0000"/>
                </a:solidFill>
              </a:rPr>
              <a:t>What is a Package?</a:t>
            </a:r>
          </a:p>
          <a:p>
            <a:r>
              <a:rPr lang="en-US" dirty="0"/>
              <a:t>A package is a collection of reusable JavaScript code.</a:t>
            </a:r>
          </a:p>
          <a:p>
            <a:r>
              <a:rPr lang="en-US" dirty="0"/>
              <a:t>Instead of writing everything from scratch,</a:t>
            </a:r>
          </a:p>
          <a:p>
            <a:r>
              <a:rPr lang="en-US" dirty="0"/>
              <a:t>developers install ready-made packages.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24187-F3DE-C73A-C591-4D6CA15E2D5E}"/>
              </a:ext>
            </a:extLst>
          </p:cNvPr>
          <p:cNvSpPr txBox="1"/>
          <p:nvPr/>
        </p:nvSpPr>
        <p:spPr>
          <a:xfrm>
            <a:off x="6516279" y="2495292"/>
            <a:ext cx="6094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highlight>
                  <a:srgbClr val="FFFF00"/>
                </a:highlight>
              </a:rPr>
              <a:t>Example: 	</a:t>
            </a:r>
            <a:r>
              <a:rPr lang="en-US" sz="2800" dirty="0" err="1">
                <a:highlight>
                  <a:srgbClr val="FFFF00"/>
                </a:highlight>
              </a:rPr>
              <a:t>npm</a:t>
            </a:r>
            <a:r>
              <a:rPr lang="en-US" sz="2800" dirty="0">
                <a:highlight>
                  <a:srgbClr val="FFFF00"/>
                </a:highlight>
              </a:rPr>
              <a:t> install express</a:t>
            </a:r>
          </a:p>
          <a:p>
            <a:pPr marL="457200" lvl="1" indent="0">
              <a:buNone/>
            </a:pPr>
            <a:r>
              <a:rPr lang="en-IN" sz="2800" dirty="0">
                <a:highlight>
                  <a:srgbClr val="FFFF00"/>
                </a:highlight>
              </a:rPr>
              <a:t>		</a:t>
            </a:r>
            <a:r>
              <a:rPr lang="en-IN" sz="2800" dirty="0" err="1">
                <a:highlight>
                  <a:srgbClr val="FFFF00"/>
                </a:highlight>
              </a:rPr>
              <a:t>npm</a:t>
            </a:r>
            <a:r>
              <a:rPr lang="en-IN" sz="2800" dirty="0">
                <a:highlight>
                  <a:srgbClr val="FFFF00"/>
                </a:highlight>
              </a:rPr>
              <a:t> install react</a:t>
            </a:r>
          </a:p>
          <a:p>
            <a:pPr marL="457200" lvl="1" indent="0">
              <a:buNone/>
            </a:pPr>
            <a:r>
              <a:rPr lang="en-IN" sz="2800" dirty="0">
                <a:highlight>
                  <a:srgbClr val="FFFF00"/>
                </a:highlight>
              </a:rPr>
              <a:t>		</a:t>
            </a:r>
            <a:r>
              <a:rPr lang="en-IN" sz="2800" dirty="0" err="1">
                <a:highlight>
                  <a:srgbClr val="FFFF00"/>
                </a:highlight>
              </a:rPr>
              <a:t>npm</a:t>
            </a:r>
            <a:r>
              <a:rPr lang="en-IN" sz="2800" dirty="0">
                <a:highlight>
                  <a:srgbClr val="FFFF00"/>
                </a:highlight>
              </a:rPr>
              <a:t> install mongoose</a:t>
            </a:r>
          </a:p>
        </p:txBody>
      </p:sp>
    </p:spTree>
    <p:extLst>
      <p:ext uri="{BB962C8B-B14F-4D97-AF65-F5344CB8AC3E}">
        <p14:creationId xmlns:p14="http://schemas.microsoft.com/office/powerpoint/2010/main" val="382081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2125-774F-CDB2-114F-0AF7426C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46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Node.js and </a:t>
            </a:r>
            <a:r>
              <a:rPr lang="en-IN" b="1" dirty="0" err="1"/>
              <a:t>npm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4067-6A41-7F6E-D749-7CF682443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4" y="1109608"/>
            <a:ext cx="11373493" cy="5527497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 err="1">
                <a:solidFill>
                  <a:srgbClr val="FF0000"/>
                </a:solidFill>
                <a:latin typeface="Arial" panose="020B0604020202020204" pitchFamily="34" charset="0"/>
              </a:rPr>
              <a:t>npm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</a:rPr>
              <a:t> is the default package manager for Node.js</a:t>
            </a:r>
            <a:r>
              <a:rPr lang="en-US" altLang="en-US" dirty="0">
                <a:latin typeface="Arial" panose="020B0604020202020204" pitchFamily="34" charset="0"/>
              </a:rPr>
              <a:t>, used to install and manage third-party packages.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The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npm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Registry </a:t>
            </a:r>
            <a:r>
              <a:rPr lang="en-US" altLang="en-US" dirty="0">
                <a:latin typeface="Arial" panose="020B0604020202020204" pitchFamily="34" charset="0"/>
              </a:rPr>
              <a:t>is a public repository that contains thousands of open-source JavaScript packages published by developers.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npm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manages project dependencies</a:t>
            </a:r>
            <a:r>
              <a:rPr lang="en-US" altLang="en-US" dirty="0">
                <a:latin typeface="Arial" panose="020B0604020202020204" pitchFamily="34" charset="0"/>
              </a:rPr>
              <a:t>, ensuring that all required libraries are installed and maintained automatically.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Both server-side and client-side libraries</a:t>
            </a:r>
            <a:r>
              <a:rPr lang="en-US" altLang="en-US" dirty="0">
                <a:latin typeface="Arial" panose="020B0604020202020204" pitchFamily="34" charset="0"/>
              </a:rPr>
              <a:t>, such as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Express, React, jQuery, and Mongoose</a:t>
            </a:r>
            <a:r>
              <a:rPr lang="en-US" altLang="en-US" dirty="0">
                <a:latin typeface="Arial" panose="020B0604020202020204" pitchFamily="34" charset="0"/>
              </a:rPr>
              <a:t>, can be installed using </a:t>
            </a:r>
            <a:r>
              <a:rPr lang="en-US" altLang="en-US" dirty="0" err="1">
                <a:latin typeface="Arial" panose="020B0604020202020204" pitchFamily="34" charset="0"/>
              </a:rPr>
              <a:t>npm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npm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supports multiple versions of the same package</a:t>
            </a:r>
            <a:r>
              <a:rPr lang="en-US" altLang="en-US" dirty="0">
                <a:latin typeface="Arial" panose="020B0604020202020204" pitchFamily="34" charset="0"/>
              </a:rPr>
              <a:t>, allowing different projects or dependencies to use compatible versions without conflicts.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329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E59251-1A65-1BD1-2919-EF30D003C9C2}"/>
              </a:ext>
            </a:extLst>
          </p:cNvPr>
          <p:cNvSpPr txBox="1"/>
          <p:nvPr/>
        </p:nvSpPr>
        <p:spPr>
          <a:xfrm>
            <a:off x="2829586" y="60453"/>
            <a:ext cx="76812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Browser JavaScript vs Node.js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85F5B-CAC8-642D-EA45-5AC665FC3DA4}"/>
              </a:ext>
            </a:extLst>
          </p:cNvPr>
          <p:cNvSpPr txBox="1"/>
          <p:nvPr/>
        </p:nvSpPr>
        <p:spPr>
          <a:xfrm>
            <a:off x="369870" y="1141640"/>
            <a:ext cx="111910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 a </a:t>
            </a:r>
            <a:r>
              <a:rPr lang="en-IN" sz="2800" dirty="0">
                <a:solidFill>
                  <a:srgbClr val="FF0000"/>
                </a:solidFill>
              </a:rPr>
              <a:t>browser</a:t>
            </a:r>
            <a:r>
              <a:rPr lang="en-IN" sz="2800" dirty="0"/>
              <a:t>, JavaScript files are loaded using an HTML page.</a:t>
            </a:r>
          </a:p>
          <a:p>
            <a:pPr algn="ctr"/>
            <a:r>
              <a:rPr lang="en-IN" sz="2800" dirty="0">
                <a:highlight>
                  <a:srgbClr val="FFFF00"/>
                </a:highlight>
              </a:rPr>
              <a:t>&lt;script </a:t>
            </a:r>
            <a:r>
              <a:rPr lang="en-IN" sz="2800" dirty="0" err="1">
                <a:highlight>
                  <a:srgbClr val="FFFF00"/>
                </a:highlight>
              </a:rPr>
              <a:t>src</a:t>
            </a:r>
            <a:r>
              <a:rPr lang="en-IN" sz="2800" dirty="0">
                <a:highlight>
                  <a:srgbClr val="FFFF00"/>
                </a:highlight>
              </a:rPr>
              <a:t>="app.js"&gt;&lt;/script&gt;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Without HTML, JavaScript files cannot directly include each other.</a:t>
            </a:r>
          </a:p>
          <a:p>
            <a:pPr algn="ctr"/>
            <a:endParaRPr lang="en-IN" sz="2800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Node.js </a:t>
            </a:r>
            <a:r>
              <a:rPr lang="en-US" sz="2800" dirty="0"/>
              <a:t>does not need an HTML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Instead, it uses its own </a:t>
            </a:r>
            <a:r>
              <a:rPr lang="en-US" sz="2800" b="1" i="1" dirty="0">
                <a:solidFill>
                  <a:srgbClr val="FF0000"/>
                </a:solidFill>
              </a:rPr>
              <a:t>module system</a:t>
            </a:r>
            <a:r>
              <a:rPr lang="en-US" sz="2800" dirty="0"/>
              <a:t>, called </a:t>
            </a:r>
            <a:r>
              <a:rPr lang="en-US" sz="2800" b="1" i="1" dirty="0" err="1">
                <a:solidFill>
                  <a:srgbClr val="FF0000"/>
                </a:solidFill>
              </a:rPr>
              <a:t>CommonJS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Modules are imported using the </a:t>
            </a:r>
            <a:r>
              <a:rPr lang="en-US" sz="2800" b="1" i="1" dirty="0">
                <a:solidFill>
                  <a:srgbClr val="FF0000"/>
                </a:solidFill>
              </a:rPr>
              <a:t>require()</a:t>
            </a:r>
            <a:r>
              <a:rPr lang="en-US" sz="2800" dirty="0"/>
              <a:t> function.</a:t>
            </a:r>
          </a:p>
          <a:p>
            <a:pPr algn="ctr"/>
            <a:r>
              <a:rPr lang="en-IN" sz="2800" dirty="0" err="1">
                <a:highlight>
                  <a:srgbClr val="FFFF00"/>
                </a:highlight>
              </a:rPr>
              <a:t>const</a:t>
            </a:r>
            <a:r>
              <a:rPr lang="en-IN" sz="2800" dirty="0">
                <a:highlight>
                  <a:srgbClr val="FFFF00"/>
                </a:highlight>
              </a:rPr>
              <a:t> math = require('./math');</a:t>
            </a:r>
            <a:endParaRPr lang="en-US" sz="2800" dirty="0">
              <a:highlight>
                <a:srgbClr val="FFFF00"/>
              </a:highlight>
            </a:endParaRPr>
          </a:p>
          <a:p>
            <a:pPr algn="ctr">
              <a:buNone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This allows one JavaScript file to use code from another JavaScript file.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550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B3DCF-2937-5E61-3DA2-D1F7EA605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81" y="1031902"/>
            <a:ext cx="11627318" cy="5580654"/>
          </a:xfrm>
        </p:spPr>
        <p:txBody>
          <a:bodyPr>
            <a:normAutofit/>
          </a:bodyPr>
          <a:lstStyle/>
          <a:p>
            <a:r>
              <a:rPr lang="en-US" dirty="0"/>
              <a:t>Node.js follows an </a:t>
            </a:r>
            <a:r>
              <a:rPr lang="en-US" i="1" dirty="0">
                <a:solidFill>
                  <a:srgbClr val="FF0000"/>
                </a:solidFill>
              </a:rPr>
              <a:t>asynchronous, event-driven, non-blocking I/O model</a:t>
            </a:r>
            <a:r>
              <a:rPr lang="en-US" dirty="0"/>
              <a:t>, allowing it to handle multiple requests efficiently without using multiple threads.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Unlike traditional programming languages, Node.js does not create a separate thread for each request. Instead, it efficiently manages requests using an </a:t>
            </a:r>
            <a:r>
              <a:rPr lang="en-US" altLang="en-US" b="1" i="1" dirty="0">
                <a:solidFill>
                  <a:srgbClr val="FF0000"/>
                </a:solidFill>
              </a:rPr>
              <a:t>Event Loop</a:t>
            </a:r>
            <a:r>
              <a:rPr lang="en-US" altLang="en-US" i="1" dirty="0">
                <a:solidFill>
                  <a:srgbClr val="FF0000"/>
                </a:solidFill>
              </a:rPr>
              <a:t>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Callback functions are executed only after the requested operation is completed</a:t>
            </a:r>
            <a:r>
              <a:rPr lang="en-US" altLang="en-US" dirty="0"/>
              <a:t>, improving application responsiveness.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The event-driven architecture makes Node.js fast, scalable, and suitable for applications that handle many concurrent users</a:t>
            </a:r>
            <a:r>
              <a:rPr lang="en-US" altLang="en-US" dirty="0"/>
              <a:t>, such as chat applications, streaming services, and APIs.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4459A3F-F1E1-D523-8835-9AC07E746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458" y="33017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Node.js is Event Driven</a:t>
            </a:r>
          </a:p>
        </p:txBody>
      </p:sp>
    </p:spTree>
    <p:extLst>
      <p:ext uri="{BB962C8B-B14F-4D97-AF65-F5344CB8AC3E}">
        <p14:creationId xmlns:p14="http://schemas.microsoft.com/office/powerpoint/2010/main" val="457013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E65B-CD15-4F98-50D1-56D008C0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1031"/>
          </a:xfrm>
        </p:spPr>
        <p:txBody>
          <a:bodyPr/>
          <a:lstStyle/>
          <a:p>
            <a:pPr algn="ctr"/>
            <a:r>
              <a:rPr lang="en-IN" b="1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FA2C-9857-BBA3-F127-82E77CB3B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42" y="1207559"/>
            <a:ext cx="11042715" cy="878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Express</a:t>
            </a:r>
            <a:r>
              <a:rPr lang="en-US" dirty="0"/>
              <a:t> is a </a:t>
            </a:r>
            <a:r>
              <a:rPr lang="en-US" b="1" dirty="0"/>
              <a:t>web application framework for Node.js</a:t>
            </a:r>
            <a:r>
              <a:rPr lang="en-US" dirty="0"/>
              <a:t> that simplifies the development of web servers and web applications.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B5B4E-7112-B63A-9340-E50D5284EC89}"/>
              </a:ext>
            </a:extLst>
          </p:cNvPr>
          <p:cNvSpPr txBox="1"/>
          <p:nvPr/>
        </p:nvSpPr>
        <p:spPr>
          <a:xfrm>
            <a:off x="259422" y="2385487"/>
            <a:ext cx="54555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Without express</a:t>
            </a:r>
          </a:p>
          <a:p>
            <a:r>
              <a:rPr lang="en-US" sz="2800" dirty="0"/>
              <a:t>const http = require("http");</a:t>
            </a:r>
          </a:p>
          <a:p>
            <a:r>
              <a:rPr lang="en-US" sz="2800" dirty="0" err="1"/>
              <a:t>http.createServer</a:t>
            </a:r>
            <a:r>
              <a:rPr lang="en-US" sz="2800" dirty="0"/>
              <a:t>((req, res) =&gt; {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res.send</a:t>
            </a:r>
            <a:r>
              <a:rPr lang="en-US" sz="2800" dirty="0"/>
              <a:t>("Hello Students");</a:t>
            </a:r>
          </a:p>
          <a:p>
            <a:r>
              <a:rPr lang="en-US" sz="2800" dirty="0"/>
              <a:t>}).listen(3000);</a:t>
            </a:r>
          </a:p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BA902-6E58-A129-7B85-9E5053B59EA5}"/>
              </a:ext>
            </a:extLst>
          </p:cNvPr>
          <p:cNvSpPr txBox="1"/>
          <p:nvPr/>
        </p:nvSpPr>
        <p:spPr>
          <a:xfrm>
            <a:off x="6477001" y="2303294"/>
            <a:ext cx="54555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With express</a:t>
            </a:r>
          </a:p>
          <a:p>
            <a:r>
              <a:rPr lang="en-IN" sz="2800" dirty="0" err="1"/>
              <a:t>const</a:t>
            </a:r>
            <a:r>
              <a:rPr lang="en-IN" sz="2800" dirty="0"/>
              <a:t> express = require("express");</a:t>
            </a:r>
          </a:p>
          <a:p>
            <a:endParaRPr lang="en-IN" sz="2800" dirty="0"/>
          </a:p>
          <a:p>
            <a:r>
              <a:rPr lang="en-IN" sz="2800" dirty="0" err="1"/>
              <a:t>const</a:t>
            </a:r>
            <a:r>
              <a:rPr lang="en-IN" sz="2800" dirty="0"/>
              <a:t> app = express();</a:t>
            </a:r>
          </a:p>
          <a:p>
            <a:endParaRPr lang="en-IN" sz="2800" dirty="0"/>
          </a:p>
          <a:p>
            <a:r>
              <a:rPr lang="en-IN" sz="2800" dirty="0" err="1"/>
              <a:t>app.get</a:t>
            </a:r>
            <a:r>
              <a:rPr lang="en-IN" sz="2800" dirty="0"/>
              <a:t>("/", (</a:t>
            </a:r>
            <a:r>
              <a:rPr lang="en-IN" sz="2800" dirty="0" err="1"/>
              <a:t>req</a:t>
            </a:r>
            <a:r>
              <a:rPr lang="en-IN" sz="2800" dirty="0"/>
              <a:t>, res) =&gt; {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res.send</a:t>
            </a:r>
            <a:r>
              <a:rPr lang="en-IN" sz="2800" dirty="0"/>
              <a:t>("Hello Students");</a:t>
            </a:r>
          </a:p>
          <a:p>
            <a:r>
              <a:rPr lang="en-IN" sz="2800" dirty="0"/>
              <a:t>});</a:t>
            </a:r>
          </a:p>
          <a:p>
            <a:endParaRPr lang="en-IN" sz="2800" dirty="0"/>
          </a:p>
          <a:p>
            <a:r>
              <a:rPr lang="en-IN" sz="2800" dirty="0" err="1"/>
              <a:t>app.listen</a:t>
            </a:r>
            <a:r>
              <a:rPr lang="en-IN" sz="2800" dirty="0"/>
              <a:t>(3000);</a:t>
            </a:r>
          </a:p>
        </p:txBody>
      </p:sp>
    </p:spTree>
    <p:extLst>
      <p:ext uri="{BB962C8B-B14F-4D97-AF65-F5344CB8AC3E}">
        <p14:creationId xmlns:p14="http://schemas.microsoft.com/office/powerpoint/2010/main" val="3883646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E5DB-9D86-9BBD-CCD9-4680B8F8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3254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Routing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1767-B3EF-8145-9D29-61FB60EF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23" y="1244338"/>
            <a:ext cx="10712777" cy="49326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Express Routing</a:t>
            </a:r>
          </a:p>
          <a:p>
            <a:r>
              <a:rPr lang="en-US" b="1" dirty="0"/>
              <a:t>Routing</a:t>
            </a:r>
            <a:r>
              <a:rPr lang="en-US" dirty="0"/>
              <a:t> defines how an application responds to different HTTP requests. </a:t>
            </a:r>
          </a:p>
          <a:p>
            <a:r>
              <a:rPr lang="en-US" dirty="0"/>
              <a:t>A </a:t>
            </a:r>
            <a:r>
              <a:rPr lang="en-US" b="1" dirty="0"/>
              <a:t>route</a:t>
            </a:r>
            <a:r>
              <a:rPr lang="en-US" dirty="0"/>
              <a:t> specifies a URL/path and the action to perform when a matching request arrives. </a:t>
            </a:r>
          </a:p>
          <a:p>
            <a:r>
              <a:rPr lang="en-US" dirty="0"/>
              <a:t>Express uses the </a:t>
            </a:r>
            <a:r>
              <a:rPr lang="en-US" b="1" dirty="0"/>
              <a:t>HTTP method and URL path</a:t>
            </a:r>
            <a:r>
              <a:rPr lang="en-US" dirty="0"/>
              <a:t> to identify the appropriate route. </a:t>
            </a:r>
          </a:p>
          <a:p>
            <a:r>
              <a:rPr lang="en-US" dirty="0"/>
              <a:t>The action is defined using a </a:t>
            </a:r>
            <a:r>
              <a:rPr lang="en-US" b="1" dirty="0"/>
              <a:t>callback function</a:t>
            </a:r>
            <a:r>
              <a:rPr lang="en-US" dirty="0"/>
              <a:t>. </a:t>
            </a:r>
          </a:p>
          <a:p>
            <a:r>
              <a:rPr lang="en-US" dirty="0"/>
              <a:t>The callback function receives two objects: </a:t>
            </a:r>
          </a:p>
          <a:p>
            <a:pPr lvl="1"/>
            <a:r>
              <a:rPr lang="en-US" b="1" dirty="0"/>
              <a:t>req</a:t>
            </a:r>
            <a:r>
              <a:rPr lang="en-US" dirty="0"/>
              <a:t> – contains information about the client request. </a:t>
            </a:r>
          </a:p>
          <a:p>
            <a:pPr lvl="1"/>
            <a:r>
              <a:rPr lang="en-US" b="1" dirty="0"/>
              <a:t>res</a:t>
            </a:r>
            <a:r>
              <a:rPr lang="en-US" dirty="0"/>
              <a:t> – used to send a response to the client. </a:t>
            </a:r>
          </a:p>
          <a:p>
            <a:r>
              <a:rPr lang="en-US" dirty="0"/>
              <a:t>Common routing methods: </a:t>
            </a:r>
            <a:r>
              <a:rPr lang="en-US" b="1" dirty="0"/>
              <a:t>GET, POST, PUT, DELETE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030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1F53-8D61-2E84-10EC-45F9C83F6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465" y="955497"/>
            <a:ext cx="10624335" cy="52214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Multiple route</a:t>
            </a:r>
          </a:p>
          <a:p>
            <a:pPr marL="0" indent="0">
              <a:buNone/>
            </a:pPr>
            <a:r>
              <a:rPr lang="en-IN" dirty="0" err="1"/>
              <a:t>app.get</a:t>
            </a:r>
            <a:r>
              <a:rPr lang="en-IN" dirty="0"/>
              <a:t>("/",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("Home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app.get</a:t>
            </a:r>
            <a:r>
              <a:rPr lang="en-IN" dirty="0"/>
              <a:t>("/products",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("Products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app.get</a:t>
            </a:r>
            <a:r>
              <a:rPr lang="en-IN" dirty="0"/>
              <a:t>("/cart",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("Shopping Cart");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913984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A162-F543-8276-9687-9EEE0F37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696"/>
            <a:ext cx="10515600" cy="67873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Request Handling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179D0-FDF3-7B8A-C6E2-12D72507F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89" y="1131216"/>
            <a:ext cx="10759911" cy="50457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Request Handling in Express.js</a:t>
            </a:r>
          </a:p>
          <a:p>
            <a:r>
              <a:rPr lang="en-US" dirty="0"/>
              <a:t>Express receives requests sent by the browser. </a:t>
            </a:r>
          </a:p>
          <a:p>
            <a:r>
              <a:rPr lang="en-US" dirty="0"/>
              <a:t>It provides the request information through the </a:t>
            </a:r>
            <a:r>
              <a:rPr lang="en-US" b="1" dirty="0"/>
              <a:t>req object</a:t>
            </a:r>
            <a:r>
              <a:rPr lang="en-US" dirty="0"/>
              <a:t>. </a:t>
            </a:r>
          </a:p>
          <a:p>
            <a:r>
              <a:rPr lang="en-US" dirty="0"/>
              <a:t>This information can include: </a:t>
            </a:r>
          </a:p>
          <a:p>
            <a:pPr lvl="1"/>
            <a:r>
              <a:rPr lang="en-US" b="1" dirty="0"/>
              <a:t>URL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Headers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Parameters</a:t>
            </a:r>
            <a:r>
              <a:rPr lang="en-US" dirty="0"/>
              <a:t> </a:t>
            </a:r>
          </a:p>
          <a:p>
            <a:r>
              <a:rPr lang="en-US" dirty="0"/>
              <a:t>Developers can easily access this information using req.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98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D908-35E8-A8E5-4D13-7E8ADAA5A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308"/>
            <a:ext cx="10515600" cy="6152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Response Handling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B2F8-7800-D271-DF9C-4CE100FF2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03" y="1093509"/>
            <a:ext cx="10684497" cy="5083454"/>
          </a:xfrm>
        </p:spPr>
        <p:txBody>
          <a:bodyPr/>
          <a:lstStyle/>
          <a:p>
            <a:r>
              <a:rPr lang="en-US" dirty="0"/>
              <a:t>Express provides all the functionality required to send responses to the client.</a:t>
            </a:r>
          </a:p>
          <a:p>
            <a:r>
              <a:rPr lang="en-US" dirty="0"/>
              <a:t>It supports:</a:t>
            </a:r>
          </a:p>
          <a:p>
            <a:pPr lvl="1"/>
            <a:r>
              <a:rPr lang="en-US" sz="2800" dirty="0"/>
              <a:t>Determining response status codes </a:t>
            </a:r>
          </a:p>
          <a:p>
            <a:pPr lvl="1"/>
            <a:r>
              <a:rPr lang="en-US" sz="2800" dirty="0"/>
              <a:t>Setting cookies </a:t>
            </a:r>
          </a:p>
          <a:p>
            <a:pPr lvl="1"/>
            <a:r>
              <a:rPr lang="en-US" sz="2800" dirty="0"/>
              <a:t>Sending custom headers </a:t>
            </a:r>
          </a:p>
          <a:p>
            <a:r>
              <a:rPr lang="en-US" dirty="0"/>
              <a:t>These features help developers generate appropriate </a:t>
            </a:r>
            <a:r>
              <a:rPr lang="en-US" dirty="0">
                <a:solidFill>
                  <a:srgbClr val="FF0000"/>
                </a:solidFill>
              </a:rPr>
              <a:t>HTTP responses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367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C1FD-3A71-C1A0-FABE-FB26F188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175"/>
            <a:ext cx="10515600" cy="747238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Middleware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43CBA-37C5-1F34-D55C-785581B4F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989814"/>
            <a:ext cx="10920167" cy="5187149"/>
          </a:xfrm>
        </p:spPr>
        <p:txBody>
          <a:bodyPr>
            <a:normAutofit/>
          </a:bodyPr>
          <a:lstStyle/>
          <a:p>
            <a:r>
              <a:rPr lang="en-US" dirty="0"/>
              <a:t>Express allows developers to create </a:t>
            </a:r>
            <a:r>
              <a:rPr lang="en-US" b="1" i="1" dirty="0">
                <a:solidFill>
                  <a:srgbClr val="FF0000"/>
                </a:solidFill>
              </a:rPr>
              <a:t>middleware</a:t>
            </a:r>
            <a:r>
              <a:rPr lang="en-US" dirty="0"/>
              <a:t>.</a:t>
            </a:r>
          </a:p>
          <a:p>
            <a:r>
              <a:rPr lang="en-US" dirty="0"/>
              <a:t>Middleware consists of custom pieces of code that can be </a:t>
            </a:r>
            <a:r>
              <a:rPr lang="en-US" i="1" dirty="0">
                <a:solidFill>
                  <a:srgbClr val="FF0000"/>
                </a:solidFill>
              </a:rPr>
              <a:t>inserted into the request/response processing path</a:t>
            </a:r>
            <a:r>
              <a:rPr lang="en-US" dirty="0"/>
              <a:t>.</a:t>
            </a:r>
          </a:p>
          <a:p>
            <a:r>
              <a:rPr lang="en-US" dirty="0"/>
              <a:t>Middleware is commonly used for:</a:t>
            </a:r>
          </a:p>
          <a:p>
            <a:pPr lvl="1"/>
            <a:r>
              <a:rPr lang="en-US" sz="2800" dirty="0"/>
              <a:t>Logging </a:t>
            </a:r>
          </a:p>
          <a:p>
            <a:pPr lvl="1"/>
            <a:r>
              <a:rPr lang="en-US" sz="2800" dirty="0"/>
              <a:t>Authentication </a:t>
            </a:r>
          </a:p>
          <a:p>
            <a:r>
              <a:rPr lang="en-US" dirty="0"/>
              <a:t>This enables common functionality to be reused across different requests.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114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6FF6-066B-8E07-7FD3-8EC7F76C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250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b="1" dirty="0"/>
              <a:t>T</a:t>
            </a:r>
            <a:r>
              <a:rPr lang="en-US" b="1" dirty="0"/>
              <a:t>emplate Engine Support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1CE4-2CCE-AB15-5FB2-94F16265D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>
            <a:normAutofit/>
          </a:bodyPr>
          <a:lstStyle/>
          <a:p>
            <a:r>
              <a:rPr lang="en-US" dirty="0"/>
              <a:t>Express does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dirty="0"/>
              <a:t> include a built-in template engine.</a:t>
            </a:r>
          </a:p>
          <a:p>
            <a:r>
              <a:rPr lang="en-US" dirty="0"/>
              <a:t>However, it supports various template engines such as:</a:t>
            </a:r>
          </a:p>
          <a:p>
            <a:pPr lvl="1"/>
            <a:r>
              <a:rPr lang="en-US" sz="2800" dirty="0"/>
              <a:t>Pug </a:t>
            </a:r>
          </a:p>
          <a:p>
            <a:pPr lvl="1"/>
            <a:r>
              <a:rPr lang="en-US" sz="2800" dirty="0"/>
              <a:t>Mustache </a:t>
            </a:r>
          </a:p>
          <a:p>
            <a:r>
              <a:rPr lang="en-US" dirty="0"/>
              <a:t>Developers can choose any template engine according to their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998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BE13-C4E6-7DC1-9EFB-D5E383DF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Express in Single Page Applications (SPA)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4FCB-F1DE-FFF6-9A4F-8F2D6727A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5" y="1371714"/>
            <a:ext cx="10515600" cy="5121161"/>
          </a:xfrm>
        </p:spPr>
        <p:txBody>
          <a:bodyPr>
            <a:normAutofit/>
          </a:bodyPr>
          <a:lstStyle/>
          <a:p>
            <a:r>
              <a:rPr lang="en-US" dirty="0"/>
              <a:t>For a </a:t>
            </a:r>
            <a:r>
              <a:rPr lang="en-US" b="1" i="1" dirty="0">
                <a:solidFill>
                  <a:srgbClr val="FF0000"/>
                </a:solidFill>
              </a:rPr>
              <a:t>Single Page Application (SPA)</a:t>
            </a:r>
            <a:r>
              <a:rPr lang="en-US" dirty="0"/>
              <a:t>:</a:t>
            </a:r>
          </a:p>
          <a:p>
            <a:r>
              <a:rPr lang="en-US" dirty="0"/>
              <a:t>A server-side template engine is not required. </a:t>
            </a:r>
          </a:p>
          <a:p>
            <a:r>
              <a:rPr lang="en-US" dirty="0"/>
              <a:t>Dynamic content is generated on the </a:t>
            </a:r>
            <a:r>
              <a:rPr lang="en-US" b="1" i="1" dirty="0">
                <a:solidFill>
                  <a:srgbClr val="FF0000"/>
                </a:solidFill>
              </a:rPr>
              <a:t>client side</a:t>
            </a:r>
            <a:r>
              <a:rPr lang="en-US" dirty="0"/>
              <a:t>. </a:t>
            </a:r>
          </a:p>
          <a:p>
            <a:r>
              <a:rPr lang="en-US" dirty="0"/>
              <a:t>The Express server only serves: </a:t>
            </a:r>
          </a:p>
          <a:p>
            <a:pPr lvl="1"/>
            <a:r>
              <a:rPr lang="en-US" sz="2800" dirty="0"/>
              <a:t>Static files </a:t>
            </a:r>
          </a:p>
          <a:p>
            <a:pPr lvl="1"/>
            <a:r>
              <a:rPr lang="en-US" sz="2800" dirty="0"/>
              <a:t>Data through API calls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254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B66A-72EA-6544-215E-D7AAA28A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B490-17BE-4A73-A44E-24F2F54E7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MongoDB is a NoSQL, document-oriented database</a:t>
            </a:r>
            <a:endParaRPr lang="en-US" dirty="0"/>
          </a:p>
          <a:p>
            <a:r>
              <a:rPr lang="en-US" dirty="0"/>
              <a:t>Data is organized as </a:t>
            </a:r>
            <a:r>
              <a:rPr lang="en-US" b="1" dirty="0"/>
              <a:t>Databases - Collections - Documents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Collection</a:t>
            </a:r>
            <a:r>
              <a:rPr lang="en-US" dirty="0"/>
              <a:t> is a group of related documents. </a:t>
            </a:r>
          </a:p>
          <a:p>
            <a:r>
              <a:rPr lang="en-US" dirty="0"/>
              <a:t>A </a:t>
            </a:r>
            <a:r>
              <a:rPr lang="en-US" b="1" dirty="0"/>
              <a:t>Document</a:t>
            </a:r>
            <a:r>
              <a:rPr lang="en-US" dirty="0"/>
              <a:t> stores the data of one record. </a:t>
            </a:r>
          </a:p>
          <a:p>
            <a:r>
              <a:rPr lang="en-US" dirty="0"/>
              <a:t>Documents use </a:t>
            </a:r>
            <a:r>
              <a:rPr lang="en-US" b="1" dirty="0"/>
              <a:t>key-value pairs</a:t>
            </a:r>
            <a:r>
              <a:rPr lang="en-US" dirty="0"/>
              <a:t>, similar to JavaScript objects. </a:t>
            </a:r>
          </a:p>
          <a:p>
            <a:r>
              <a:rPr lang="en-US" dirty="0"/>
              <a:t>Documents can have </a:t>
            </a:r>
            <a:r>
              <a:rPr lang="en-US" b="1" dirty="0"/>
              <a:t>different fields</a:t>
            </a:r>
            <a:r>
              <a:rPr lang="en-US" dirty="0"/>
              <a:t>, so MongoDB has a </a:t>
            </a:r>
            <a:r>
              <a:rPr lang="en-US" b="1" dirty="0"/>
              <a:t>flexible/schema-less structure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538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7AD2D8B-EDAA-4A41-55D6-70D36DCBD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38" y="1212916"/>
            <a:ext cx="111474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stores data 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JSON-like document format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structure is very similar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objects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in React and Node.js.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Developers can perform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CRUD operations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JSON-like syntax.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does not require a fixed schema before storing data.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fields can be added easily as application requirements change.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 horizontally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distributing data across multiple servers. </a:t>
            </a:r>
          </a:p>
        </p:txBody>
      </p:sp>
    </p:spTree>
    <p:extLst>
      <p:ext uri="{BB962C8B-B14F-4D97-AF65-F5344CB8AC3E}">
        <p14:creationId xmlns:p14="http://schemas.microsoft.com/office/powerpoint/2010/main" val="4066561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AFD7-5992-B15F-1A5F-B7D42D55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8412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855C-0430-E119-A246-A2C11869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848413"/>
            <a:ext cx="11174691" cy="5328550"/>
          </a:xfrm>
        </p:spPr>
        <p:txBody>
          <a:bodyPr>
            <a:noAutofit/>
          </a:bodyPr>
          <a:lstStyle/>
          <a:p>
            <a:r>
              <a:rPr lang="en-US" dirty="0"/>
              <a:t>MongoDB is the </a:t>
            </a:r>
            <a:r>
              <a:rPr lang="en-US" b="1" i="1" dirty="0">
                <a:solidFill>
                  <a:srgbClr val="FF0000"/>
                </a:solidFill>
              </a:rPr>
              <a:t>database used in the MERN stack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is a:</a:t>
            </a:r>
          </a:p>
          <a:p>
            <a:pPr lvl="1"/>
            <a:r>
              <a:rPr lang="en-US" sz="2800" b="1" i="1" dirty="0">
                <a:solidFill>
                  <a:srgbClr val="FF0000"/>
                </a:solidFill>
              </a:rPr>
              <a:t>NoSQL database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sz="2800" b="1" i="1" dirty="0">
                <a:solidFill>
                  <a:srgbClr val="FF0000"/>
                </a:solidFill>
              </a:rPr>
              <a:t>Document-oriented database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sz="2800" dirty="0"/>
              <a:t>Database with a </a:t>
            </a:r>
            <a:r>
              <a:rPr lang="en-US" sz="2800" b="1" i="1" dirty="0">
                <a:solidFill>
                  <a:srgbClr val="FF0000"/>
                </a:solidFill>
              </a:rPr>
              <a:t>flexible schema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sz="2800" dirty="0"/>
              <a:t>Database that uses a </a:t>
            </a:r>
            <a:r>
              <a:rPr lang="en-US" sz="2800" b="1" i="1" dirty="0">
                <a:solidFill>
                  <a:srgbClr val="FF0000"/>
                </a:solidFill>
              </a:rPr>
              <a:t>JSON-based query language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MongoDB is widely used in production by many companies, including:</a:t>
            </a:r>
          </a:p>
          <a:p>
            <a:pPr lvl="1"/>
            <a:r>
              <a:rPr lang="en-US" sz="2800" dirty="0"/>
              <a:t>Facebook </a:t>
            </a:r>
          </a:p>
          <a:p>
            <a:pPr lvl="1"/>
            <a:r>
              <a:rPr lang="en-US" sz="2800" dirty="0"/>
              <a:t>Google </a:t>
            </a:r>
          </a:p>
          <a:p>
            <a:pPr lvl="1"/>
            <a:r>
              <a:rPr lang="en-US" sz="2800" dirty="0"/>
              <a:t>SAP </a:t>
            </a:r>
          </a:p>
          <a:p>
            <a:pPr lvl="1"/>
            <a:r>
              <a:rPr lang="en-US" sz="2800" dirty="0"/>
              <a:t>Royal Bank of Scotland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841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A59C-0E80-2258-9317-B8850196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6665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1. Horizontal Scalability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F76E3-31F7-312B-DFC8-AC566872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NoSQL databases can </a:t>
            </a:r>
            <a:r>
              <a:rPr lang="en-US" b="1" dirty="0">
                <a:solidFill>
                  <a:srgbClr val="FF0000"/>
                </a:solidFill>
              </a:rPr>
              <a:t>scale horizontally</a:t>
            </a:r>
            <a:r>
              <a:rPr lang="en-US" dirty="0"/>
              <a:t> by distributing the workload across multiple servers.</a:t>
            </a:r>
          </a:p>
          <a:p>
            <a:r>
              <a:rPr lang="en-US" dirty="0"/>
              <a:t>To achieve this, they sacrifice </a:t>
            </a:r>
            <a:r>
              <a:rPr lang="en-US" b="1" dirty="0">
                <a:solidFill>
                  <a:srgbClr val="FF0000"/>
                </a:solidFill>
              </a:rPr>
              <a:t>strong consistency</a:t>
            </a:r>
            <a:r>
              <a:rPr lang="en-US" dirty="0"/>
              <a:t>.</a:t>
            </a:r>
          </a:p>
          <a:p>
            <a:r>
              <a:rPr lang="en-US" dirty="0"/>
              <a:t>This means that:</a:t>
            </a:r>
          </a:p>
          <a:p>
            <a:r>
              <a:rPr lang="en-US" dirty="0"/>
              <a:t>Data across different replicas may not be consistent for a very short period of time. </a:t>
            </a:r>
          </a:p>
          <a:p>
            <a:r>
              <a:rPr lang="en-US" dirty="0"/>
              <a:t>This concept is related to the </a:t>
            </a:r>
            <a:r>
              <a:rPr lang="en-US" b="1" dirty="0">
                <a:solidFill>
                  <a:srgbClr val="FF0000"/>
                </a:solidFill>
              </a:rPr>
              <a:t>CAP theorem</a:t>
            </a:r>
            <a:r>
              <a:rPr lang="en-US" dirty="0"/>
              <a:t>. </a:t>
            </a:r>
          </a:p>
          <a:p>
            <a:r>
              <a:rPr lang="en-US" dirty="0"/>
              <a:t>However, the text states that this feature is required only for applications that operate at a very large (web) scale.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6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EF45-881F-4DB2-0C00-2B40C4BB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799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Non-Relational Data Model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E20F-92D0-56A2-397A-F7C6178D4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26" y="1263192"/>
            <a:ext cx="10957874" cy="49137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NoSQL databases </a:t>
            </a:r>
            <a:r>
              <a:rPr lang="en-US" i="1" dirty="0">
                <a:solidFill>
                  <a:srgbClr val="FF0000"/>
                </a:solidFill>
              </a:rPr>
              <a:t>are </a:t>
            </a:r>
            <a:r>
              <a:rPr lang="en-US" b="1" i="1" dirty="0">
                <a:solidFill>
                  <a:srgbClr val="FF0000"/>
                </a:solidFill>
              </a:rPr>
              <a:t>not necessarily relational</a:t>
            </a:r>
            <a:r>
              <a:rPr lang="en-US" dirty="0"/>
              <a:t>.</a:t>
            </a:r>
          </a:p>
          <a:p>
            <a:r>
              <a:rPr lang="en-US" dirty="0"/>
              <a:t>In relational databases:</a:t>
            </a:r>
          </a:p>
          <a:p>
            <a:r>
              <a:rPr lang="en-US" dirty="0"/>
              <a:t>Data is stored as rows and columns in tables. </a:t>
            </a:r>
          </a:p>
          <a:p>
            <a:r>
              <a:rPr lang="en-US" dirty="0"/>
              <a:t>Objects in the application must be converted into relational tables. </a:t>
            </a:r>
          </a:p>
          <a:p>
            <a:r>
              <a:rPr lang="en-US" dirty="0"/>
              <a:t>This difference between application objects and database tables is called </a:t>
            </a:r>
            <a:r>
              <a:rPr lang="en-US" b="1" i="1" dirty="0">
                <a:solidFill>
                  <a:srgbClr val="FF0000"/>
                </a:solidFill>
              </a:rPr>
              <a:t>Impedance Mismatch</a:t>
            </a:r>
            <a:r>
              <a:rPr lang="en-US" i="1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Because of this mismatch, relational databases require an </a:t>
            </a:r>
            <a:r>
              <a:rPr lang="en-US" b="1" i="1" dirty="0">
                <a:solidFill>
                  <a:srgbClr val="FF0000"/>
                </a:solidFill>
              </a:rPr>
              <a:t>Object Relational Mapping (ORM)</a:t>
            </a:r>
            <a:r>
              <a:rPr lang="en-US" dirty="0"/>
              <a:t> layer to convert objects into tables and vice versa.</a:t>
            </a:r>
          </a:p>
          <a:p>
            <a:r>
              <a:rPr lang="en-US" dirty="0"/>
              <a:t>In MongoDB:</a:t>
            </a:r>
          </a:p>
          <a:p>
            <a:r>
              <a:rPr lang="en-US" dirty="0"/>
              <a:t>Data is stored as </a:t>
            </a:r>
            <a:r>
              <a:rPr lang="en-US" b="1" i="1" dirty="0">
                <a:solidFill>
                  <a:srgbClr val="FF0000"/>
                </a:solidFill>
              </a:rPr>
              <a:t>objects or documents</a:t>
            </a:r>
            <a:r>
              <a:rPr lang="en-US" dirty="0"/>
              <a:t>. </a:t>
            </a:r>
          </a:p>
          <a:p>
            <a:r>
              <a:rPr lang="en-US" dirty="0"/>
              <a:t>The data structure in the database is similar to the data structure used in the application. </a:t>
            </a:r>
          </a:p>
          <a:p>
            <a:r>
              <a:rPr lang="en-US" dirty="0"/>
              <a:t>Therefore, the ORM layer is not required.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891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CC672-3B01-896A-B155-689A79C6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48"/>
            <a:ext cx="10515600" cy="624689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Document-Oriented Database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9AA65-4561-837E-4BE7-782D23578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58" y="1131216"/>
            <a:ext cx="11052142" cy="5045747"/>
          </a:xfrm>
        </p:spPr>
        <p:txBody>
          <a:bodyPr/>
          <a:lstStyle/>
          <a:p>
            <a:r>
              <a:rPr lang="en-US" dirty="0"/>
              <a:t>MongoDB is a </a:t>
            </a:r>
            <a:r>
              <a:rPr lang="en-US" b="1" i="1" dirty="0">
                <a:solidFill>
                  <a:srgbClr val="FF0000"/>
                </a:solidFill>
              </a:rPr>
              <a:t>document-oriented database</a:t>
            </a:r>
            <a:r>
              <a:rPr lang="en-US" dirty="0"/>
              <a:t>.</a:t>
            </a:r>
          </a:p>
          <a:p>
            <a:r>
              <a:rPr lang="en-US" dirty="0"/>
              <a:t>Instead of storing data in tables, MongoDB stores data as </a:t>
            </a:r>
            <a:r>
              <a:rPr lang="en-US" b="1" i="1" dirty="0">
                <a:solidFill>
                  <a:srgbClr val="FF0000"/>
                </a:solidFill>
              </a:rPr>
              <a:t>documents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collection</a:t>
            </a:r>
            <a:r>
              <a:rPr lang="en-US" dirty="0"/>
              <a:t> stores multiple </a:t>
            </a:r>
            <a:r>
              <a:rPr lang="en-US" b="1" i="1" dirty="0">
                <a:solidFill>
                  <a:srgbClr val="FF0000"/>
                </a:solidFill>
              </a:rPr>
              <a:t>documents</a:t>
            </a:r>
            <a:r>
              <a:rPr lang="en-US" dirty="0"/>
              <a:t>.</a:t>
            </a:r>
          </a:p>
          <a:p>
            <a:r>
              <a:rPr lang="en-US" dirty="0"/>
              <a:t>Each document has a </a:t>
            </a:r>
            <a:r>
              <a:rPr lang="en-US" b="1" i="1" dirty="0">
                <a:solidFill>
                  <a:srgbClr val="FF0000"/>
                </a:solidFill>
              </a:rPr>
              <a:t>unique identifier</a:t>
            </a:r>
            <a:r>
              <a:rPr lang="en-US" dirty="0"/>
              <a:t>, which is automatically indexed for easy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055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0B3F-9BCC-6329-F99C-BFCB543C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29"/>
            <a:ext cx="10515600" cy="86036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Indexing Nested Fields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DB87-ED47-00A6-DE12-5868468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1131216"/>
            <a:ext cx="11581383" cy="5036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MongoDB – Nested Documents</a:t>
            </a:r>
          </a:p>
          <a:p>
            <a:r>
              <a:rPr lang="en-US" sz="2400" dirty="0"/>
              <a:t>MongoDB allows </a:t>
            </a:r>
            <a:r>
              <a:rPr lang="en-US" sz="2400" b="1" dirty="0"/>
              <a:t>documents to contain nested data</a:t>
            </a:r>
            <a:r>
              <a:rPr lang="en-US" sz="2400" dirty="0"/>
              <a:t>. </a:t>
            </a:r>
          </a:p>
          <a:p>
            <a:r>
              <a:rPr lang="en-US" sz="2400" dirty="0"/>
              <a:t>Nested data means </a:t>
            </a:r>
            <a:r>
              <a:rPr lang="en-US" sz="2400" b="1" dirty="0"/>
              <a:t>one field can contain another object or array</a:t>
            </a:r>
            <a:r>
              <a:rPr lang="en-US" sz="2400" dirty="0"/>
              <a:t>. </a:t>
            </a:r>
          </a:p>
          <a:p>
            <a:r>
              <a:rPr lang="en-US" sz="2400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name: "Rahul",</a:t>
            </a:r>
          </a:p>
          <a:p>
            <a:pPr marL="0" indent="0">
              <a:buNone/>
            </a:pPr>
            <a:r>
              <a:rPr lang="en-US" sz="2400" dirty="0"/>
              <a:t>    address: {</a:t>
            </a:r>
          </a:p>
          <a:p>
            <a:pPr marL="0" indent="0">
              <a:buNone/>
            </a:pPr>
            <a:r>
              <a:rPr lang="en-US" sz="2400" dirty="0"/>
              <a:t>        city: "Mangalore",</a:t>
            </a:r>
          </a:p>
          <a:p>
            <a:pPr marL="0" indent="0">
              <a:buNone/>
            </a:pPr>
            <a:r>
              <a:rPr lang="en-US" sz="2400" dirty="0"/>
              <a:t>        state: "Karnataka"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17B094-055D-A3DA-CB72-C4918DA78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3A32C-2AD2-6378-4438-287ED49B75F7}"/>
              </a:ext>
            </a:extLst>
          </p:cNvPr>
          <p:cNvSpPr txBox="1"/>
          <p:nvPr/>
        </p:nvSpPr>
        <p:spPr>
          <a:xfrm>
            <a:off x="4492334" y="3173506"/>
            <a:ext cx="76996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Here, </a:t>
            </a:r>
            <a:r>
              <a:rPr lang="en-US" altLang="en-US" sz="2400" dirty="0">
                <a:latin typeface="Arial Unicode MS"/>
              </a:rPr>
              <a:t>city</a:t>
            </a:r>
            <a:r>
              <a:rPr lang="en-US" altLang="en-US" sz="2400" dirty="0"/>
              <a:t> and </a:t>
            </a:r>
            <a:r>
              <a:rPr lang="en-US" altLang="en-US" sz="2400" dirty="0">
                <a:latin typeface="Arial Unicode MS"/>
              </a:rPr>
              <a:t>state</a:t>
            </a:r>
            <a:r>
              <a:rPr lang="en-US" altLang="en-US" sz="2400" dirty="0"/>
              <a:t> are </a:t>
            </a:r>
            <a:r>
              <a:rPr lang="en-US" altLang="en-US" sz="2400" b="1" dirty="0">
                <a:latin typeface="Arial" panose="020B0604020202020204" pitchFamily="34" charset="0"/>
              </a:rPr>
              <a:t>nested inside </a:t>
            </a:r>
            <a:r>
              <a:rPr lang="en-US" altLang="en-US" sz="2400" b="1" dirty="0">
                <a:latin typeface="Arial Unicode MS"/>
              </a:rPr>
              <a:t>address</a:t>
            </a:r>
            <a:r>
              <a:rPr lang="en-US" altLang="en-US" sz="2400" dirty="0"/>
              <a:t>.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MongoDB can create </a:t>
            </a:r>
            <a:r>
              <a:rPr lang="en-US" altLang="en-US" sz="2400" b="1" dirty="0">
                <a:latin typeface="Arial" panose="020B0604020202020204" pitchFamily="34" charset="0"/>
              </a:rPr>
              <a:t>indexes on nested fields</a:t>
            </a:r>
            <a:r>
              <a:rPr lang="en-US" altLang="en-US" sz="2400" dirty="0">
                <a:latin typeface="Arial" panose="020B0604020202020204" pitchFamily="34" charset="0"/>
              </a:rPr>
              <a:t> such as </a:t>
            </a:r>
            <a:r>
              <a:rPr lang="en-US" altLang="en-US" sz="2400" dirty="0" err="1">
                <a:latin typeface="Arial Unicode MS"/>
              </a:rPr>
              <a:t>address.city</a:t>
            </a:r>
            <a:r>
              <a:rPr lang="en-US" altLang="en-US" sz="2400" dirty="0"/>
              <a:t>.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Indexes help MongoDB </a:t>
            </a:r>
            <a:r>
              <a:rPr lang="en-US" altLang="en-US" sz="2400" b="1" dirty="0">
                <a:latin typeface="Arial" panose="020B0604020202020204" pitchFamily="34" charset="0"/>
              </a:rPr>
              <a:t>find data faster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71959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213A-0A8C-D604-7F48-1F27DC10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Disadvantage of Document-Oriented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55D3A-93D6-FE33-62D2-E20C7316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60" y="1791093"/>
            <a:ext cx="10910740" cy="4385870"/>
          </a:xfrm>
        </p:spPr>
        <p:txBody>
          <a:bodyPr/>
          <a:lstStyle/>
          <a:p>
            <a:r>
              <a:rPr lang="en-US" dirty="0"/>
              <a:t>MongoDB stores data in a </a:t>
            </a:r>
            <a:r>
              <a:rPr lang="en-US" b="1" i="1" dirty="0">
                <a:solidFill>
                  <a:srgbClr val="FF0000"/>
                </a:solidFill>
              </a:rPr>
              <a:t>de-normalized</a:t>
            </a:r>
            <a:r>
              <a:rPr lang="en-US" dirty="0"/>
              <a:t> form.</a:t>
            </a:r>
          </a:p>
          <a:p>
            <a:r>
              <a:rPr lang="en-US" dirty="0"/>
              <a:t>This means:</a:t>
            </a:r>
          </a:p>
          <a:p>
            <a:pPr lvl="1"/>
            <a:r>
              <a:rPr lang="en-US" sz="2800" dirty="0"/>
              <a:t>Data may be duplicated. </a:t>
            </a:r>
          </a:p>
          <a:p>
            <a:pPr lvl="1"/>
            <a:r>
              <a:rPr lang="en-US" sz="2800" dirty="0"/>
              <a:t>More storage space is required. </a:t>
            </a:r>
          </a:p>
          <a:p>
            <a:r>
              <a:rPr lang="en-US" dirty="0"/>
              <a:t>Updating duplicated information (such as changing a master or catalog entry) requires updating every occurrence of that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650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0892-5FD9-1FA8-C6FA-61525AC4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pPr algn="ctr"/>
            <a:r>
              <a:rPr lang="en-IN" dirty="0"/>
              <a:t>Schema-Less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E8387E-733B-5569-B697-F09255E2E4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720" y="1331035"/>
            <a:ext cx="115925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MongoDB does not require a predefined schema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storing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Documents in the same collection can have different fields.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fields can be added without modifying the database structure.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Schema-less design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speeds up application development, especially during the early stages.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Data validation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the responsibility of the application, often using tools like Mongoose.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3D604-0787-B02B-CCB8-7EC96652E310}"/>
              </a:ext>
            </a:extLst>
          </p:cNvPr>
          <p:cNvSpPr txBox="1"/>
          <p:nvPr/>
        </p:nvSpPr>
        <p:spPr>
          <a:xfrm>
            <a:off x="6664960" y="4439578"/>
            <a:ext cx="5303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1"/>
                </a:solidFill>
              </a:rPr>
              <a:t>db</a:t>
            </a:r>
            <a:r>
              <a:rPr lang="en-US" sz="2400" dirty="0" err="1"/>
              <a:t>.students.insertOne</a:t>
            </a:r>
            <a:r>
              <a:rPr lang="en-US" sz="2400" dirty="0"/>
              <a:t>({</a:t>
            </a:r>
          </a:p>
          <a:p>
            <a:r>
              <a:rPr lang="en-US" sz="2400" dirty="0"/>
              <a:t>    name: "</a:t>
            </a:r>
            <a:r>
              <a:rPr lang="en-US" sz="2400" dirty="0">
                <a:solidFill>
                  <a:schemeClr val="accent6"/>
                </a:solidFill>
              </a:rPr>
              <a:t>Rahul</a:t>
            </a:r>
            <a:r>
              <a:rPr lang="en-US" sz="2400" dirty="0"/>
              <a:t>",</a:t>
            </a:r>
          </a:p>
          <a:p>
            <a:r>
              <a:rPr lang="en-US" sz="2400" dirty="0"/>
              <a:t>    course: "</a:t>
            </a:r>
            <a:r>
              <a:rPr lang="en-US" sz="2400" dirty="0">
                <a:solidFill>
                  <a:schemeClr val="accent6"/>
                </a:solidFill>
              </a:rPr>
              <a:t>MCA</a:t>
            </a:r>
            <a:r>
              <a:rPr lang="en-US" sz="2400" dirty="0"/>
              <a:t>",</a:t>
            </a:r>
          </a:p>
          <a:p>
            <a:r>
              <a:rPr lang="en-US" sz="2400" dirty="0"/>
              <a:t>    age: </a:t>
            </a:r>
            <a:r>
              <a:rPr lang="en-US" sz="2400" dirty="0">
                <a:solidFill>
                  <a:srgbClr val="C00000"/>
                </a:solidFill>
              </a:rPr>
              <a:t>22</a:t>
            </a:r>
          </a:p>
          <a:p>
            <a:r>
              <a:rPr lang="en-US" sz="2400" dirty="0"/>
              <a:t>});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95213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5C98-A562-C796-9FA8-DA7319DD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JavaScript-Based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A088-1A4C-F1FF-CC9D-0A5B6EE3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589280"/>
            <a:ext cx="11841480" cy="558768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MongoDB uses a </a:t>
            </a:r>
            <a:r>
              <a:rPr lang="en-US" i="1" dirty="0">
                <a:solidFill>
                  <a:srgbClr val="FF0000"/>
                </a:solidFill>
              </a:rPr>
              <a:t>JavaScript-based query language</a:t>
            </a:r>
            <a:r>
              <a:rPr lang="en-US" dirty="0"/>
              <a:t>, allowing developers to perform database operations using JSON-like documents.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Unlike relational databases that use SQL, MongoDB uses JSON-based queries </a:t>
            </a:r>
            <a:r>
              <a:rPr lang="en-US" altLang="en-US" dirty="0"/>
              <a:t>for database operations.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CRUD operations (Create, Read, Update, Delete) </a:t>
            </a:r>
            <a:r>
              <a:rPr lang="en-US" altLang="en-US" dirty="0"/>
              <a:t>are performed by specifying operations using </a:t>
            </a:r>
            <a:r>
              <a:rPr lang="en-US" altLang="en-US" dirty="0">
                <a:solidFill>
                  <a:srgbClr val="FF0000"/>
                </a:solidFill>
              </a:rPr>
              <a:t>JSON objects</a:t>
            </a:r>
            <a:r>
              <a:rPr lang="en-US" altLang="en-US" dirty="0"/>
              <a:t>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Data is stored internally in BSON (Binary JSON)</a:t>
            </a:r>
            <a:r>
              <a:rPr lang="en-US" altLang="en-US" i="1" dirty="0"/>
              <a:t>, </a:t>
            </a:r>
            <a:r>
              <a:rPr lang="en-US" altLang="en-US" dirty="0"/>
              <a:t>an efficient binary representation of JSON.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Retrieved documents are returned in JSON format</a:t>
            </a:r>
            <a:r>
              <a:rPr lang="en-US" altLang="en-US" dirty="0"/>
              <a:t>, making data exchange simple and compatible with web applications.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MongoDB provides a JavaScript-based shell (</a:t>
            </a:r>
            <a:r>
              <a:rPr lang="en-US" altLang="en-US" i="1" dirty="0" err="1">
                <a:solidFill>
                  <a:srgbClr val="FF0000"/>
                </a:solidFill>
              </a:rPr>
              <a:t>mongosh</a:t>
            </a:r>
            <a:r>
              <a:rPr lang="en-US" altLang="en-US" i="1" dirty="0">
                <a:solidFill>
                  <a:srgbClr val="FF0000"/>
                </a:solidFill>
              </a:rPr>
              <a:t>) </a:t>
            </a:r>
            <a:r>
              <a:rPr lang="en-US" altLang="en-US" dirty="0"/>
              <a:t>for interacting with the database from the command line.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Developers can write and execute JavaScript code snippets </a:t>
            </a:r>
            <a:r>
              <a:rPr lang="en-US" altLang="en-US" dirty="0"/>
              <a:t>in the MongoDB shell to automate database tasks. 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317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3AF9-A196-E171-A6FC-B0E435AB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BBBE-A2BE-77AD-AF3C-07EB5F3F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JavaScript-Based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12C3B-17B3-8A41-7471-781FF9354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589280"/>
            <a:ext cx="11841480" cy="6167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FF0000"/>
                </a:solidFill>
              </a:rPr>
              <a:t>SQL:</a:t>
            </a:r>
          </a:p>
          <a:p>
            <a:pPr marL="0" indent="0" algn="just">
              <a:buNone/>
            </a:pPr>
            <a:r>
              <a:rPr lang="en-US" dirty="0"/>
              <a:t>SELECT * FROM Student;</a:t>
            </a:r>
          </a:p>
          <a:p>
            <a:pPr marL="0" indent="0" algn="just">
              <a:buNone/>
            </a:pPr>
            <a:r>
              <a:rPr lang="en-US" dirty="0"/>
              <a:t>INSERT INTO Student(Name, Course)</a:t>
            </a:r>
          </a:p>
          <a:p>
            <a:pPr marL="0" indent="0" algn="just">
              <a:buNone/>
            </a:pPr>
            <a:r>
              <a:rPr lang="en-US" dirty="0"/>
              <a:t>VALUES ('Rahul', 'MCA');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b="1" u="sng" dirty="0">
                <a:solidFill>
                  <a:srgbClr val="FF0000"/>
                </a:solidFill>
              </a:rPr>
              <a:t>MongoDB:</a:t>
            </a:r>
          </a:p>
          <a:p>
            <a:pPr marL="0" indent="0" algn="just">
              <a:buNone/>
            </a:pPr>
            <a:r>
              <a:rPr lang="en-IN" dirty="0" err="1">
                <a:solidFill>
                  <a:srgbClr val="7030A0"/>
                </a:solidFill>
              </a:rPr>
              <a:t>db</a:t>
            </a:r>
            <a:r>
              <a:rPr lang="en-IN" dirty="0" err="1"/>
              <a:t>.students.find</a:t>
            </a:r>
            <a:r>
              <a:rPr lang="en-IN" dirty="0"/>
              <a:t>();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 err="1">
                <a:solidFill>
                  <a:srgbClr val="7030A0"/>
                </a:solidFill>
              </a:rPr>
              <a:t>db</a:t>
            </a:r>
            <a:r>
              <a:rPr lang="en-IN" dirty="0" err="1"/>
              <a:t>.students.insertOne</a:t>
            </a:r>
            <a:r>
              <a:rPr lang="en-IN" dirty="0"/>
              <a:t>({</a:t>
            </a:r>
          </a:p>
          <a:p>
            <a:pPr marL="0" indent="0" algn="just">
              <a:buNone/>
            </a:pPr>
            <a:r>
              <a:rPr lang="en-IN" dirty="0"/>
              <a:t>    name: "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Rahul</a:t>
            </a:r>
            <a:r>
              <a:rPr lang="en-IN" dirty="0"/>
              <a:t>",</a:t>
            </a:r>
          </a:p>
          <a:p>
            <a:pPr marL="0" indent="0" algn="just">
              <a:buNone/>
            </a:pPr>
            <a:r>
              <a:rPr lang="en-IN" dirty="0"/>
              <a:t>    course: "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MCA</a:t>
            </a:r>
            <a:r>
              <a:rPr lang="en-IN" dirty="0"/>
              <a:t>"</a:t>
            </a:r>
          </a:p>
          <a:p>
            <a:pPr marL="0" indent="0" algn="just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26734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98CF-F979-F616-4F29-841287D6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442"/>
            <a:ext cx="105156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Tools and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C8FC-0E7D-EEA6-E489-A62B69A9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960" y="975360"/>
            <a:ext cx="11038840" cy="5201603"/>
          </a:xfrm>
        </p:spPr>
        <p:txBody>
          <a:bodyPr>
            <a:normAutofit/>
          </a:bodyPr>
          <a:lstStyle/>
          <a:p>
            <a:r>
              <a:rPr lang="en-US" dirty="0"/>
              <a:t>Tools and libraries simplify web application development by providing ready-made features, reducing development time, and improving code quality.</a:t>
            </a:r>
          </a:p>
          <a:p>
            <a:pPr marL="514350" indent="-514350">
              <a:buAutoNum type="arabicPeriod"/>
            </a:pPr>
            <a:r>
              <a:rPr lang="en-IN" dirty="0"/>
              <a:t>React Router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Manages navigation between different views/components.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Keeps the browser URL synchronized with the application state.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Supports browser </a:t>
            </a:r>
            <a:r>
              <a:rPr lang="en-US" altLang="en-US" sz="2800" b="1" dirty="0"/>
              <a:t>Back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Forward</a:t>
            </a:r>
            <a:r>
              <a:rPr lang="en-US" altLang="en-US" sz="2800" dirty="0"/>
              <a:t> button functionality.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Enables </a:t>
            </a:r>
            <a:r>
              <a:rPr lang="en-US" altLang="en-US" sz="2800" b="1" dirty="0"/>
              <a:t>Single Page Application (SPA)</a:t>
            </a:r>
            <a:r>
              <a:rPr lang="en-US" altLang="en-US" sz="2800" dirty="0"/>
              <a:t> navigation.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Eliminates the need to reload the entire page. </a:t>
            </a:r>
          </a:p>
          <a:p>
            <a:pPr marL="457200" lvl="1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508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9A25C-BF39-366B-C18D-A6AB8AB82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203200"/>
            <a:ext cx="11109960" cy="597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React-Bootstrap</a:t>
            </a:r>
          </a:p>
          <a:p>
            <a:r>
              <a:rPr lang="en-US" dirty="0"/>
              <a:t>React-Bootstrap is a React library that provides Bootstrap components for building responsive and attractive user interfaces.</a:t>
            </a:r>
          </a:p>
          <a:p>
            <a:pPr lvl="1"/>
            <a:r>
              <a:rPr lang="en-US" sz="2800" dirty="0"/>
              <a:t>React version of the Bootstrap framework. </a:t>
            </a:r>
          </a:p>
          <a:p>
            <a:pPr lvl="1"/>
            <a:r>
              <a:rPr lang="en-US" sz="2800" dirty="0"/>
              <a:t>Provides ready-made UI components. </a:t>
            </a:r>
          </a:p>
          <a:p>
            <a:pPr lvl="1"/>
            <a:r>
              <a:rPr lang="en-US" sz="2800" dirty="0"/>
              <a:t>Helps create responsive web applications. </a:t>
            </a:r>
          </a:p>
          <a:p>
            <a:pPr lvl="1"/>
            <a:r>
              <a:rPr lang="en-US" sz="2800" dirty="0"/>
              <a:t>Simplifies UI development. </a:t>
            </a:r>
          </a:p>
          <a:p>
            <a:pPr lvl="1"/>
            <a:r>
              <a:rPr lang="en-US" sz="2800" dirty="0"/>
              <a:t>Serves as a reference for creating custom React components.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043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42F4-8AD7-F2B8-F730-626697D7B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325120"/>
            <a:ext cx="11120120" cy="5851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 Webpack</a:t>
            </a:r>
          </a:p>
          <a:p>
            <a:r>
              <a:rPr lang="en-IN" dirty="0"/>
              <a:t>Webpack is a </a:t>
            </a:r>
            <a:r>
              <a:rPr lang="en-IN" b="1" dirty="0"/>
              <a:t>module bundler</a:t>
            </a:r>
            <a:r>
              <a:rPr lang="en-IN" dirty="0"/>
              <a:t> that combines JavaScript modules and application resources into optimized bundles.</a:t>
            </a:r>
          </a:p>
          <a:p>
            <a:endParaRPr lang="en-IN" dirty="0"/>
          </a:p>
          <a:p>
            <a:pPr lvl="1"/>
            <a:r>
              <a:rPr lang="en-IN" sz="2800" dirty="0"/>
              <a:t>Bundles multiple JavaScript files into a single file. </a:t>
            </a:r>
          </a:p>
          <a:p>
            <a:pPr lvl="1"/>
            <a:r>
              <a:rPr lang="en-IN" sz="2800" dirty="0"/>
              <a:t>Supports modular application development. </a:t>
            </a:r>
          </a:p>
          <a:p>
            <a:pPr lvl="1"/>
            <a:r>
              <a:rPr lang="en-US" sz="2800" dirty="0"/>
              <a:t>Works with tools such as Babel to process JSX and prepare it for the browser.</a:t>
            </a:r>
          </a:p>
          <a:p>
            <a:pPr lvl="1"/>
            <a:r>
              <a:rPr lang="en-IN" sz="2800" dirty="0"/>
              <a:t>Simplifies the build process. </a:t>
            </a:r>
          </a:p>
          <a:p>
            <a:pPr lvl="1"/>
            <a:r>
              <a:rPr lang="en-IN" sz="2800" dirty="0"/>
              <a:t>Delivers optimized code to the browser.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6863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F7A3-5AE5-A3A3-46B2-C3B77356B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213360"/>
            <a:ext cx="11191240" cy="63398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4. Other Libraries</a:t>
            </a:r>
          </a:p>
          <a:p>
            <a:pPr marL="0" indent="0">
              <a:buNone/>
            </a:pPr>
            <a:r>
              <a:rPr lang="en-IN" b="1" dirty="0"/>
              <a:t>body-parser</a:t>
            </a:r>
          </a:p>
          <a:p>
            <a:r>
              <a:rPr lang="en-IN" dirty="0"/>
              <a:t>Parses incoming HTTP request data. </a:t>
            </a:r>
          </a:p>
          <a:p>
            <a:r>
              <a:rPr lang="en-IN" dirty="0"/>
              <a:t>Converts JSON and form data into JavaScript objects. </a:t>
            </a:r>
          </a:p>
          <a:p>
            <a:r>
              <a:rPr lang="en-IN" dirty="0"/>
              <a:t>Commonly used in Express applications.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ESLint</a:t>
            </a:r>
            <a:endParaRPr lang="en-IN" b="1" dirty="0"/>
          </a:p>
          <a:p>
            <a:r>
              <a:rPr lang="en-IN" dirty="0"/>
              <a:t>Checks JavaScript code for errors. </a:t>
            </a:r>
          </a:p>
          <a:p>
            <a:r>
              <a:rPr lang="en-IN" dirty="0"/>
              <a:t>Enforces coding standards. </a:t>
            </a:r>
          </a:p>
          <a:p>
            <a:r>
              <a:rPr lang="en-IN" dirty="0"/>
              <a:t>Improves code quality and consistency.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react-select</a:t>
            </a:r>
          </a:p>
          <a:p>
            <a:r>
              <a:rPr lang="en-IN" dirty="0"/>
              <a:t>Provides customizable dropdown components. </a:t>
            </a:r>
          </a:p>
          <a:p>
            <a:r>
              <a:rPr lang="en-IN" dirty="0"/>
              <a:t>Improves user interaction and form design.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324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60F5-BCCB-CE2E-6772-923CDC18F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386080"/>
            <a:ext cx="11150600" cy="5790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Other Popular Libraries</a:t>
            </a:r>
          </a:p>
          <a:p>
            <a:pPr marL="0" indent="0">
              <a:buNone/>
            </a:pPr>
            <a:r>
              <a:rPr lang="en-US" b="1" dirty="0"/>
              <a:t>Redux</a:t>
            </a:r>
          </a:p>
          <a:p>
            <a:r>
              <a:rPr lang="en-US" dirty="0"/>
              <a:t>Redux is a state management library used to manage shared application data in a centralized place.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800" dirty="0"/>
              <a:t>Centralized state management. </a:t>
            </a:r>
          </a:p>
          <a:p>
            <a:pPr lvl="1"/>
            <a:r>
              <a:rPr lang="en-US" sz="2800" dirty="0"/>
              <a:t>Suitable for large and complex applications. </a:t>
            </a:r>
          </a:p>
          <a:p>
            <a:pPr lvl="1"/>
            <a:r>
              <a:rPr lang="en-US" sz="2800" dirty="0"/>
              <a:t>Follows the Flux architecture. </a:t>
            </a:r>
          </a:p>
          <a:p>
            <a:pPr lvl="1"/>
            <a:r>
              <a:rPr lang="en-US" sz="2800" dirty="0"/>
              <a:t>Makes state predictable and easier to manage.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025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56582-045E-1D7F-FDE6-B57EAEC2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436880"/>
            <a:ext cx="11099800" cy="5740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Mongoose</a:t>
            </a:r>
          </a:p>
          <a:p>
            <a:r>
              <a:rPr lang="en-IN" dirty="0"/>
              <a:t>Mongoose is an </a:t>
            </a:r>
            <a:r>
              <a:rPr lang="en-IN" b="1" dirty="0"/>
              <a:t>Object Document Mapper (ODM)</a:t>
            </a:r>
            <a:r>
              <a:rPr lang="en-IN" dirty="0"/>
              <a:t> for MongoDB that provides an abstraction layer between Node.js applications and the MongoDB database.</a:t>
            </a:r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IN" sz="2800" dirty="0"/>
              <a:t>Simplifies interaction with MongoDB. </a:t>
            </a:r>
          </a:p>
          <a:p>
            <a:pPr lvl="1"/>
            <a:r>
              <a:rPr lang="en-IN" sz="2800" dirty="0"/>
              <a:t>Represents database records as JavaScript objects. </a:t>
            </a:r>
          </a:p>
          <a:p>
            <a:pPr lvl="1"/>
            <a:r>
              <a:rPr lang="en-IN" sz="2800" dirty="0"/>
              <a:t>Supports schema definition and data validation. </a:t>
            </a:r>
          </a:p>
          <a:p>
            <a:pPr lvl="1"/>
            <a:r>
              <a:rPr lang="en-IN" sz="2800" dirty="0"/>
              <a:t>Reduces complexity in database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021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A7CB-C51D-9803-8EBD-04FBFB3F0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729"/>
            <a:ext cx="7588624" cy="26176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studentSchema</a:t>
            </a:r>
            <a:r>
              <a:rPr lang="en-US" dirty="0"/>
              <a:t> = new </a:t>
            </a:r>
            <a:r>
              <a:rPr lang="en-US" dirty="0" err="1"/>
              <a:t>mongoose.Schema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name: String,</a:t>
            </a:r>
          </a:p>
          <a:p>
            <a:pPr marL="0" indent="0">
              <a:buNone/>
            </a:pPr>
            <a:r>
              <a:rPr lang="en-US" dirty="0"/>
              <a:t>    age: Number,</a:t>
            </a:r>
          </a:p>
          <a:p>
            <a:pPr marL="0" indent="0">
              <a:buNone/>
            </a:pPr>
            <a:r>
              <a:rPr lang="en-US" dirty="0"/>
              <a:t>    course: String</a:t>
            </a:r>
          </a:p>
          <a:p>
            <a:pPr marL="0" indent="0">
              <a:buNone/>
            </a:pPr>
            <a:r>
              <a:rPr lang="en-US" dirty="0"/>
              <a:t>});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418D2-CBA2-0B1B-91D7-B7402312676F}"/>
              </a:ext>
            </a:extLst>
          </p:cNvPr>
          <p:cNvSpPr txBox="1"/>
          <p:nvPr/>
        </p:nvSpPr>
        <p:spPr>
          <a:xfrm>
            <a:off x="609599" y="3244334"/>
            <a:ext cx="10524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const</a:t>
            </a:r>
            <a:r>
              <a:rPr lang="en-IN" sz="2800" dirty="0"/>
              <a:t> Student = </a:t>
            </a:r>
            <a:r>
              <a:rPr lang="en-IN" sz="2800" dirty="0" err="1"/>
              <a:t>mongoose.model</a:t>
            </a:r>
            <a:r>
              <a:rPr lang="en-IN" sz="2800" dirty="0"/>
              <a:t>("Student", </a:t>
            </a:r>
            <a:r>
              <a:rPr lang="en-IN" sz="2800" dirty="0" err="1"/>
              <a:t>studentSchema</a:t>
            </a:r>
            <a:r>
              <a:rPr lang="en-IN" sz="2800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900D0-2B6F-EB81-B46E-94F9A2404D9B}"/>
              </a:ext>
            </a:extLst>
          </p:cNvPr>
          <p:cNvSpPr txBox="1"/>
          <p:nvPr/>
        </p:nvSpPr>
        <p:spPr>
          <a:xfrm>
            <a:off x="735105" y="4196406"/>
            <a:ext cx="94129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Student.create</a:t>
            </a:r>
            <a:r>
              <a:rPr lang="en-IN" sz="2800" dirty="0"/>
              <a:t>({</a:t>
            </a:r>
          </a:p>
          <a:p>
            <a:r>
              <a:rPr lang="en-IN" sz="2800" dirty="0"/>
              <a:t>    name: "Rahul",</a:t>
            </a:r>
          </a:p>
          <a:p>
            <a:r>
              <a:rPr lang="en-IN" sz="2800" dirty="0"/>
              <a:t>    age: 22,</a:t>
            </a:r>
          </a:p>
          <a:p>
            <a:r>
              <a:rPr lang="en-IN" sz="2800" dirty="0"/>
              <a:t>    course: "MCA"</a:t>
            </a:r>
          </a:p>
          <a:p>
            <a:r>
              <a:rPr lang="en-IN" sz="28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5426489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D9D5-8D1E-C9CD-7B40-040CEF98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420" y="71121"/>
            <a:ext cx="10515600" cy="711200"/>
          </a:xfrm>
        </p:spPr>
        <p:txBody>
          <a:bodyPr/>
          <a:lstStyle/>
          <a:p>
            <a:pPr algn="ctr"/>
            <a:r>
              <a:rPr lang="en-IN" b="1" dirty="0"/>
              <a:t>Why MERN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DAED9DE-7840-E9E5-B8E5-77BD9AC39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360" y="537899"/>
            <a:ext cx="1197864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Everywhere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is the only programming language used across the MERN stack.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Frontend development is done using React (JavaScript).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Backend development is done using Node.js and Express (JavaScript).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database operations and scripts are also written using JavaScript.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 eliminates the need for a separate template language by generating HTML (DOM elements) using JavaScript.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Developers do not need to switch between multiple programming languages, improving productivity.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logic and validation code can be shared between the client and the server.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Code reuse reduces duplication and helps maintain consistency throughout the application. </a:t>
            </a:r>
          </a:p>
        </p:txBody>
      </p:sp>
    </p:spTree>
    <p:extLst>
      <p:ext uri="{BB962C8B-B14F-4D97-AF65-F5344CB8AC3E}">
        <p14:creationId xmlns:p14="http://schemas.microsoft.com/office/powerpoint/2010/main" val="445577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B2A449A-8098-40E9-49E3-7C484EA53C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6075" y="646023"/>
            <a:ext cx="11713845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u="sng" dirty="0"/>
              <a:t>JSON Everywhere</a:t>
            </a: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JSON is used throughout the MERN stack for representing and exchanging data.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stores data in BSON, a binary representation of JSON.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application server (Node.js/Express) processes data as JSON objects.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client (React) receives and works with JSON data.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is transferred between the client and server in JSON format.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JSON everywhere reduces the need for data transformations.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Object Relational Mapping (ORM) is required to convert objects into database tables.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 Document Mappers (ODM) such as Mongoose can be used to enforce schemas and simplify database operations.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Developers can work directly with native JavaScript objects, making development and debugging easier. </a:t>
            </a:r>
          </a:p>
        </p:txBody>
      </p:sp>
    </p:spTree>
    <p:extLst>
      <p:ext uri="{BB962C8B-B14F-4D97-AF65-F5344CB8AC3E}">
        <p14:creationId xmlns:p14="http://schemas.microsoft.com/office/powerpoint/2010/main" val="2881007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1547-9588-FDE1-9917-8FE5B7389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690880"/>
            <a:ext cx="11089640" cy="5486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Node.js Performance</a:t>
            </a:r>
            <a:endParaRPr lang="en-US" b="1" dirty="0"/>
          </a:p>
          <a:p>
            <a:r>
              <a:rPr lang="en-US" dirty="0"/>
              <a:t>Node.js uses an event-driven architecture to efficiently handle multiple client requests. </a:t>
            </a:r>
          </a:p>
          <a:p>
            <a:r>
              <a:rPr lang="en-US" dirty="0"/>
              <a:t>It performs non-blocking I/O operations, allowing other tasks to continue while waiting for input/output operations to complete. </a:t>
            </a:r>
          </a:p>
          <a:p>
            <a:r>
              <a:rPr lang="en-US" dirty="0"/>
              <a:t>Node.js is designed to be fast and resilient, making it suitable for web server applications. </a:t>
            </a:r>
          </a:p>
          <a:p>
            <a:r>
              <a:rPr lang="en-US" dirty="0"/>
              <a:t>As application traffic increases, Node.js scales efficiently to handle a large number of concurrent requests. </a:t>
            </a:r>
          </a:p>
          <a:p>
            <a:r>
              <a:rPr lang="en-US" dirty="0"/>
              <a:t>The event-driven model helps reduce server CPU usage and I/O bottlenecks, improving overall performance. </a:t>
            </a:r>
          </a:p>
          <a:p>
            <a:r>
              <a:rPr lang="en-US" dirty="0"/>
              <a:t>This results in lower operational costs and less time spent troubleshooting server performance issues.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104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A059-4C33-8A42-F3CC-950A456AA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54000"/>
            <a:ext cx="10713720" cy="5922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The </a:t>
            </a:r>
            <a:r>
              <a:rPr lang="en-IN" b="1" dirty="0" err="1"/>
              <a:t>npm</a:t>
            </a:r>
            <a:r>
              <a:rPr lang="en-IN" b="1" dirty="0"/>
              <a:t> Ecosystem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npm</a:t>
            </a:r>
            <a:r>
              <a:rPr lang="en-US" altLang="en-US" dirty="0"/>
              <a:t> provides a large repository of freely available packages for developers.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Most common programming problems already have an </a:t>
            </a:r>
            <a:r>
              <a:rPr lang="en-US" altLang="en-US" dirty="0" err="1"/>
              <a:t>npm</a:t>
            </a:r>
            <a:r>
              <a:rPr lang="en-US" altLang="en-US" dirty="0"/>
              <a:t> package as a solution.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Developers can modify existing packages (fork them) to create customized solutions.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npm</a:t>
            </a:r>
            <a:r>
              <a:rPr lang="en-US" altLang="en-US" dirty="0"/>
              <a:t> incorporates best practices learned from other package managers.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It is easy to use and efficient for managing project dependencies.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Packages are generally reusable</a:t>
            </a:r>
            <a:r>
              <a:rPr lang="en-US" altLang="en-US" dirty="0"/>
              <a:t>.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544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0498-E107-383E-12B9-4612D230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40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Advantages of MERN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495A-7BC8-E6F7-C4D1-D3EA6D3D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85" y="1093508"/>
            <a:ext cx="11042715" cy="5476973"/>
          </a:xfrm>
        </p:spPr>
        <p:txBody>
          <a:bodyPr>
            <a:noAutofit/>
          </a:bodyPr>
          <a:lstStyle/>
          <a:p>
            <a:r>
              <a:rPr lang="en-IN" dirty="0"/>
              <a:t>JavaScript Throughout the Stack </a:t>
            </a:r>
          </a:p>
          <a:p>
            <a:r>
              <a:rPr lang="en-IN" dirty="0"/>
              <a:t>Open Source </a:t>
            </a:r>
          </a:p>
          <a:p>
            <a:r>
              <a:rPr lang="en-IN" dirty="0"/>
              <a:t>Component-Based Architecture </a:t>
            </a:r>
          </a:p>
          <a:p>
            <a:r>
              <a:rPr lang="en-IN" dirty="0"/>
              <a:t>High Performance </a:t>
            </a:r>
          </a:p>
          <a:p>
            <a:r>
              <a:rPr lang="en-IN" dirty="0"/>
              <a:t>Flexible Database (MongoDB) </a:t>
            </a:r>
          </a:p>
          <a:p>
            <a:r>
              <a:rPr lang="en-IN" dirty="0"/>
              <a:t>Fast Development </a:t>
            </a:r>
          </a:p>
          <a:p>
            <a:r>
              <a:rPr lang="en-IN" dirty="0"/>
              <a:t>Scalable Architecture </a:t>
            </a:r>
          </a:p>
          <a:p>
            <a:r>
              <a:rPr lang="en-IN" dirty="0"/>
              <a:t>Easy API Development </a:t>
            </a:r>
          </a:p>
          <a:p>
            <a:r>
              <a:rPr lang="en-IN" dirty="0"/>
              <a:t>Rich Package Ecosystem (</a:t>
            </a:r>
            <a:r>
              <a:rPr lang="en-IN" dirty="0" err="1"/>
              <a:t>npm</a:t>
            </a:r>
            <a:r>
              <a:rPr lang="en-IN" dirty="0"/>
              <a:t>) </a:t>
            </a:r>
          </a:p>
          <a:p>
            <a:r>
              <a:rPr lang="en-IN" dirty="0"/>
              <a:t>Cross-Platform Compatibility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640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D58E-CBB2-07D8-BC90-E248EE50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 – Amazon (E-Commerce Application)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7A49-EB0D-44E6-0E7A-2BCA7CAC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Scenario:</a:t>
            </a:r>
            <a:r>
              <a:rPr lang="en-IN" dirty="0"/>
              <a:t> </a:t>
            </a:r>
            <a:r>
              <a:rPr lang="en-IN" b="1" i="1" dirty="0">
                <a:solidFill>
                  <a:srgbClr val="FF0000"/>
                </a:solidFill>
              </a:rPr>
              <a:t>Customer searches for a laptop</a:t>
            </a:r>
            <a:r>
              <a:rPr lang="en-IN" dirty="0"/>
              <a:t>.</a:t>
            </a:r>
          </a:p>
          <a:p>
            <a:pPr lvl="1"/>
            <a:r>
              <a:rPr lang="en-IN" sz="2800" b="1" dirty="0"/>
              <a:t>React</a:t>
            </a:r>
            <a:r>
              <a:rPr lang="en-IN" sz="2800" dirty="0"/>
              <a:t> – Displays the user interface (search bar, product list) </a:t>
            </a:r>
          </a:p>
          <a:p>
            <a:pPr lvl="1"/>
            <a:r>
              <a:rPr lang="en-IN" sz="2800" b="1" dirty="0"/>
              <a:t>Express.js</a:t>
            </a:r>
            <a:r>
              <a:rPr lang="en-IN" sz="2800" dirty="0"/>
              <a:t> – Handles the search request </a:t>
            </a:r>
          </a:p>
          <a:p>
            <a:pPr lvl="1"/>
            <a:r>
              <a:rPr lang="en-IN" sz="2800" b="1" dirty="0"/>
              <a:t>Node.js</a:t>
            </a:r>
            <a:r>
              <a:rPr lang="en-IN" sz="2800" dirty="0"/>
              <a:t> – Processes the request and business logic </a:t>
            </a:r>
          </a:p>
          <a:p>
            <a:pPr lvl="1"/>
            <a:r>
              <a:rPr lang="en-IN" sz="2800" b="1" dirty="0"/>
              <a:t>MongoDB</a:t>
            </a:r>
            <a:r>
              <a:rPr lang="en-IN" sz="2800" dirty="0"/>
              <a:t> – Retrieves product information from the database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045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A58E-83C3-C1F2-6BF6-2A2579412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"/>
            <a:ext cx="10515600" cy="4984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Isomorphic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D7B3-E48C-F6DC-D742-E5878FF1A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863600"/>
            <a:ext cx="10967720" cy="53133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same React code can run on both the browser (client) and the server</a:t>
            </a:r>
            <a:r>
              <a:rPr lang="en-US" dirty="0"/>
              <a:t>, enabling both </a:t>
            </a:r>
            <a:r>
              <a:rPr lang="en-US" b="1" dirty="0"/>
              <a:t>Single Page Application (SPA)</a:t>
            </a:r>
            <a:r>
              <a:rPr lang="en-US" dirty="0"/>
              <a:t> rendering and </a:t>
            </a:r>
            <a:r>
              <a:rPr lang="en-US" b="1" dirty="0"/>
              <a:t>Server-Side Rendering (SSR)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Why Isomorphic?</a:t>
            </a:r>
          </a:p>
          <a:p>
            <a:r>
              <a:rPr lang="en-US" dirty="0"/>
              <a:t>Traditional SPAs were </a:t>
            </a:r>
            <a:r>
              <a:rPr lang="en-US" b="1" dirty="0"/>
              <a:t>not SEO-friendly</a:t>
            </a:r>
            <a:r>
              <a:rPr lang="en-US" dirty="0"/>
              <a:t> because search engines could not execute JavaScript or make AJAX requests. </a:t>
            </a:r>
          </a:p>
          <a:p>
            <a:r>
              <a:rPr lang="en-US" dirty="0"/>
              <a:t>This required additional tools such as </a:t>
            </a:r>
            <a:r>
              <a:rPr lang="en-US" b="1" dirty="0" err="1"/>
              <a:t>PhantomJS</a:t>
            </a:r>
            <a:r>
              <a:rPr lang="en-US" dirty="0"/>
              <a:t> or </a:t>
            </a:r>
            <a:r>
              <a:rPr lang="en-US" b="1" dirty="0"/>
              <a:t>Prerender.io</a:t>
            </a:r>
            <a:r>
              <a:rPr lang="en-US" dirty="0"/>
              <a:t> to generate HTML pages. </a:t>
            </a:r>
          </a:p>
          <a:p>
            <a:r>
              <a:rPr lang="en-US" dirty="0"/>
              <a:t>MERN eliminates this complexity by allowing </a:t>
            </a:r>
            <a:r>
              <a:rPr lang="en-US" b="1" dirty="0"/>
              <a:t>React to run on both the client and the server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3251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0C73987-4F4B-E7E2-398D-EE14F2F41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" y="1417592"/>
            <a:ext cx="116535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SPA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React renders the user interface in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browser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after fetching data from the API server.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SSR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React renders the page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sends complete HTML to the browser.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Server-Side Rendering (SSR)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Engine Optimization (SEO)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is the common language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on both the client and server, making isomorphic rendering possible. </a:t>
            </a:r>
          </a:p>
        </p:txBody>
      </p:sp>
    </p:spTree>
    <p:extLst>
      <p:ext uri="{BB962C8B-B14F-4D97-AF65-F5344CB8AC3E}">
        <p14:creationId xmlns:p14="http://schemas.microsoft.com/office/powerpoint/2010/main" val="35939569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2296A-0279-BD5F-8DA4-373B1246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52400"/>
            <a:ext cx="11150600" cy="6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Types of Isomorphic Rendering</a:t>
            </a:r>
          </a:p>
          <a:p>
            <a:pPr marL="0" indent="0">
              <a:buNone/>
            </a:pPr>
            <a:r>
              <a:rPr lang="en-US" sz="2400" b="1" dirty="0"/>
              <a:t>1. Client-Side Rendering (CSR) / Single Page Application (SPA)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browser downloads the React application</a:t>
            </a:r>
            <a:r>
              <a:rPr lang="en-US" sz="2400" dirty="0"/>
              <a:t>, fetches data from the server, and </a:t>
            </a:r>
            <a:r>
              <a:rPr lang="en-US" sz="2400" b="1" dirty="0"/>
              <a:t>renders the UI in the browser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Process</a:t>
            </a:r>
          </a:p>
          <a:p>
            <a:pPr lvl="1"/>
            <a:r>
              <a:rPr lang="en-US" dirty="0"/>
              <a:t>Browser requests the application. </a:t>
            </a:r>
          </a:p>
          <a:p>
            <a:pPr lvl="1"/>
            <a:r>
              <a:rPr lang="en-US" dirty="0"/>
              <a:t>React JavaScript files are downloaded. </a:t>
            </a:r>
          </a:p>
          <a:p>
            <a:pPr lvl="1"/>
            <a:r>
              <a:rPr lang="en-US" dirty="0"/>
              <a:t>React requests data from the API server. </a:t>
            </a:r>
          </a:p>
          <a:p>
            <a:pPr lvl="1"/>
            <a:r>
              <a:rPr lang="en-US" dirty="0"/>
              <a:t>Browser renders the page. </a:t>
            </a:r>
          </a:p>
          <a:p>
            <a:pPr marL="0" indent="0">
              <a:buNone/>
            </a:pPr>
            <a:r>
              <a:rPr lang="en-US" sz="2400" b="1" dirty="0"/>
              <a:t>Characteristics</a:t>
            </a:r>
          </a:p>
          <a:p>
            <a:pPr lvl="1"/>
            <a:r>
              <a:rPr lang="en-US" dirty="0"/>
              <a:t>React runs in the </a:t>
            </a:r>
            <a:r>
              <a:rPr lang="en-US" b="1" dirty="0"/>
              <a:t>browser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Rendering happens on the </a:t>
            </a:r>
            <a:r>
              <a:rPr lang="en-US" b="1" dirty="0"/>
              <a:t>client side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Suitable for highly interactive applications. </a:t>
            </a:r>
          </a:p>
          <a:p>
            <a:pPr lvl="1"/>
            <a:r>
              <a:rPr lang="en-US" dirty="0"/>
              <a:t>Initial page load may be slower. </a:t>
            </a:r>
          </a:p>
          <a:p>
            <a:pPr lvl="1"/>
            <a:r>
              <a:rPr lang="en-US" dirty="0"/>
              <a:t>Less SEO-friendly.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33101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E3E5-BD47-715C-EB4D-87382C64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25120"/>
            <a:ext cx="11170920" cy="645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2. Server-Side Rendering (SSR)</a:t>
            </a:r>
          </a:p>
          <a:p>
            <a:r>
              <a:rPr lang="en-US" dirty="0"/>
              <a:t>The </a:t>
            </a:r>
            <a:r>
              <a:rPr lang="en-US" b="1" dirty="0"/>
              <a:t>server executes the React code</a:t>
            </a:r>
            <a:r>
              <a:rPr lang="en-US" dirty="0"/>
              <a:t>, generates the complete HTML page, and sends it to the browser.</a:t>
            </a:r>
          </a:p>
          <a:p>
            <a:pPr marL="0" indent="0">
              <a:buNone/>
            </a:pPr>
            <a:r>
              <a:rPr lang="en-US" b="1" dirty="0"/>
              <a:t>Process</a:t>
            </a:r>
          </a:p>
          <a:p>
            <a:pPr lvl="1"/>
            <a:r>
              <a:rPr lang="en-US" sz="2800" dirty="0"/>
              <a:t>Browser requests a page. </a:t>
            </a:r>
          </a:p>
          <a:p>
            <a:pPr lvl="1"/>
            <a:r>
              <a:rPr lang="en-US" sz="2800" dirty="0"/>
              <a:t>Server fetches data from the API. </a:t>
            </a:r>
          </a:p>
          <a:p>
            <a:pPr lvl="1"/>
            <a:r>
              <a:rPr lang="en-US" sz="2800" dirty="0"/>
              <a:t>React renders HTML on the server. </a:t>
            </a:r>
          </a:p>
          <a:p>
            <a:pPr lvl="1"/>
            <a:r>
              <a:rPr lang="en-US" sz="2800" dirty="0"/>
              <a:t>Complete HTML is sent to the browser. 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lvl="1"/>
            <a:r>
              <a:rPr lang="en-US" sz="2800" dirty="0"/>
              <a:t>React runs on the </a:t>
            </a:r>
            <a:r>
              <a:rPr lang="en-US" sz="2800" b="1" dirty="0"/>
              <a:t>server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Rendering happens on the </a:t>
            </a:r>
            <a:r>
              <a:rPr lang="en-US" sz="2800" b="1" dirty="0"/>
              <a:t>server side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Faster initial page load. </a:t>
            </a:r>
          </a:p>
          <a:p>
            <a:pPr lvl="1"/>
            <a:r>
              <a:rPr lang="en-US" sz="2800" dirty="0"/>
              <a:t>Better SEO. </a:t>
            </a:r>
          </a:p>
          <a:p>
            <a:pPr lvl="1"/>
            <a:r>
              <a:rPr lang="en-US" sz="2800" dirty="0"/>
              <a:t>Browser immediately displays the page.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4595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5D44-F6FA-7813-EC94-CA8A8BA22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14960"/>
            <a:ext cx="11785600" cy="5862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It's Not a Framework!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React is a library, not a framework.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 framework is opinionated, providing a predefined way of building applications.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 library provides tools, allowing developers to design applications according to their own requirements.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Frameworks help developers get started quickly by handling common application structures.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Libraries provide greater flexibility and control over application design.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Experienced developers and architects can choose only the required features from React to build customized applications.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React allows developers to create applications that meet unique business requirements without being restricted by a framework.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8762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B21B-07C2-298E-DD45-03F3E251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Obstacles and Roadblocks in React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E2B708-490F-1598-C3F4-9381B1111F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753" y="1563409"/>
            <a:ext cx="11563911" cy="4096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Although React is a powerful </a:t>
            </a:r>
            <a:r>
              <a:rPr lang="en-US" i="1" dirty="0">
                <a:solidFill>
                  <a:srgbClr val="FF0000"/>
                </a:solidFill>
              </a:rPr>
              <a:t>JavaScript library, </a:t>
            </a:r>
            <a:r>
              <a:rPr lang="en-US" dirty="0"/>
              <a:t>several challenges while learning and developing applications.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lang="en-US" sz="2800" dirty="0"/>
              <a:t>Learning JSX </a:t>
            </a:r>
          </a:p>
          <a:p>
            <a:pPr lvl="1"/>
            <a:r>
              <a:rPr lang="en-US" sz="2800" dirty="0"/>
              <a:t>Component-Based Development </a:t>
            </a:r>
          </a:p>
          <a:p>
            <a:pPr lvl="1"/>
            <a:r>
              <a:rPr lang="en-US" sz="2800" dirty="0"/>
              <a:t>Understanding State and Props </a:t>
            </a:r>
          </a:p>
          <a:p>
            <a:pPr lvl="1"/>
            <a:r>
              <a:rPr lang="en-US" sz="2800" dirty="0"/>
              <a:t>Complex Project Structure </a:t>
            </a:r>
          </a:p>
          <a:p>
            <a:pPr lvl="1"/>
            <a:r>
              <a:rPr lang="en-US" sz="2800" dirty="0"/>
              <a:t>Strong JavaScript Knowledge Required </a:t>
            </a:r>
          </a:p>
          <a:p>
            <a:pPr lvl="1"/>
            <a:r>
              <a:rPr lang="en-US" sz="2800" dirty="0"/>
              <a:t>Debugging Challenges </a:t>
            </a:r>
          </a:p>
        </p:txBody>
      </p:sp>
    </p:spTree>
    <p:extLst>
      <p:ext uri="{BB962C8B-B14F-4D97-AF65-F5344CB8AC3E}">
        <p14:creationId xmlns:p14="http://schemas.microsoft.com/office/powerpoint/2010/main" val="8804233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540-AD7A-CEB4-6027-4A436BA5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84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React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DE88-E681-6B26-11F5-57FE370D8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58" y="1178351"/>
            <a:ext cx="11052142" cy="4998612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React</a:t>
            </a:r>
            <a:r>
              <a:rPr lang="en-US" dirty="0"/>
              <a:t> is expected to remain one of the leading technologies for </a:t>
            </a:r>
            <a:r>
              <a:rPr lang="en-US" i="1" dirty="0">
                <a:solidFill>
                  <a:srgbClr val="FF0000"/>
                </a:solidFill>
              </a:rPr>
              <a:t>frontend</a:t>
            </a:r>
            <a:r>
              <a:rPr lang="en-US" dirty="0"/>
              <a:t> development because of: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Increasing Industry Adoption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Continuous Feature Enhancements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Improved Performance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Strong Open-Source Community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Expanding Ecosystem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Cross-Platform Development (React Native)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56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</TotalTime>
  <Words>4617</Words>
  <Application>Microsoft Office PowerPoint</Application>
  <PresentationFormat>Widescreen</PresentationFormat>
  <Paragraphs>557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Arial Unicode MS</vt:lpstr>
      <vt:lpstr>Calibri</vt:lpstr>
      <vt:lpstr>Calibri Light</vt:lpstr>
      <vt:lpstr>PalatinoLinotype-Bold</vt:lpstr>
      <vt:lpstr>PalatinoLinotype-Roman</vt:lpstr>
      <vt:lpstr>Office Theme</vt:lpstr>
      <vt:lpstr>UNIT-1</vt:lpstr>
      <vt:lpstr>Introduction</vt:lpstr>
      <vt:lpstr> Evolution of Web Applications </vt:lpstr>
      <vt:lpstr>Evolution from MEAN to MERN</vt:lpstr>
      <vt:lpstr>Introduction to MERN Stack</vt:lpstr>
      <vt:lpstr>The MVC architectural pattern</vt:lpstr>
      <vt:lpstr>MERN COMPONENT</vt:lpstr>
      <vt:lpstr>PowerPoint Presentation</vt:lpstr>
      <vt:lpstr>Why Facebook Invented React</vt:lpstr>
      <vt:lpstr>PowerPoint Presentation</vt:lpstr>
      <vt:lpstr>PowerPoint Presentation</vt:lpstr>
      <vt:lpstr> Declarative Programming </vt:lpstr>
      <vt:lpstr>Virtual DOM</vt:lpstr>
      <vt:lpstr>Component-Based Architecture</vt:lpstr>
      <vt:lpstr>No Templates</vt:lpstr>
      <vt:lpstr>Isomorphic React</vt:lpstr>
      <vt:lpstr>Node.js</vt:lpstr>
      <vt:lpstr>Node.js modules</vt:lpstr>
      <vt:lpstr>Types of Modules</vt:lpstr>
      <vt:lpstr>Node.js and npm</vt:lpstr>
      <vt:lpstr>Node.js and npm</vt:lpstr>
      <vt:lpstr>PowerPoint Presentation</vt:lpstr>
      <vt:lpstr>Node.js is Event Driven</vt:lpstr>
      <vt:lpstr>Express</vt:lpstr>
      <vt:lpstr> Routing </vt:lpstr>
      <vt:lpstr>PowerPoint Presentation</vt:lpstr>
      <vt:lpstr> Request Handling </vt:lpstr>
      <vt:lpstr> Response Handling </vt:lpstr>
      <vt:lpstr> Middleware </vt:lpstr>
      <vt:lpstr> Template Engine Support </vt:lpstr>
      <vt:lpstr> Express in Single Page Applications (SPA) </vt:lpstr>
      <vt:lpstr>MongoDB</vt:lpstr>
      <vt:lpstr>PowerPoint Presentation</vt:lpstr>
      <vt:lpstr>MongoDB</vt:lpstr>
      <vt:lpstr> 1. Horizontal Scalability </vt:lpstr>
      <vt:lpstr> Non-Relational Data Model </vt:lpstr>
      <vt:lpstr> Document-Oriented Database </vt:lpstr>
      <vt:lpstr> Indexing Nested Fields </vt:lpstr>
      <vt:lpstr>Disadvantage of Document-Oriented Storage</vt:lpstr>
      <vt:lpstr>Schema-Less</vt:lpstr>
      <vt:lpstr>JavaScript-Based MongoDB</vt:lpstr>
      <vt:lpstr>JavaScript-Based MongoDB</vt:lpstr>
      <vt:lpstr>Tools and Libraries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MERN</vt:lpstr>
      <vt:lpstr>PowerPoint Presentation</vt:lpstr>
      <vt:lpstr>PowerPoint Presentation</vt:lpstr>
      <vt:lpstr>PowerPoint Presentation</vt:lpstr>
      <vt:lpstr>Advantages of MERN Stack </vt:lpstr>
      <vt:lpstr>Real-World Example – Amazon (E-Commerce Application)</vt:lpstr>
      <vt:lpstr>Isomorphic</vt:lpstr>
      <vt:lpstr>PowerPoint Presentation</vt:lpstr>
      <vt:lpstr>PowerPoint Presentation</vt:lpstr>
      <vt:lpstr>PowerPoint Presentation</vt:lpstr>
      <vt:lpstr>PowerPoint Presentation</vt:lpstr>
      <vt:lpstr>Obstacles and Roadblocks in React</vt:lpstr>
      <vt:lpstr>React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p</dc:creator>
  <cp:lastModifiedBy>rakshitha p</cp:lastModifiedBy>
  <cp:revision>18</cp:revision>
  <dcterms:created xsi:type="dcterms:W3CDTF">2026-07-20T05:29:58Z</dcterms:created>
  <dcterms:modified xsi:type="dcterms:W3CDTF">2026-09-02T10:04:29Z</dcterms:modified>
</cp:coreProperties>
</file>