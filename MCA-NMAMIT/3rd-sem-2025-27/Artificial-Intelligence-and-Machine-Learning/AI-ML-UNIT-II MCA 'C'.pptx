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89" r:id="rId2"/>
    <p:sldId id="258" r:id="rId3"/>
    <p:sldId id="259" r:id="rId4"/>
    <p:sldId id="260" r:id="rId5"/>
    <p:sldId id="270" r:id="rId6"/>
    <p:sldId id="261" r:id="rId7"/>
    <p:sldId id="262" r:id="rId8"/>
    <p:sldId id="265" r:id="rId9"/>
    <p:sldId id="266" r:id="rId10"/>
    <p:sldId id="272" r:id="rId11"/>
    <p:sldId id="267" r:id="rId12"/>
    <p:sldId id="268" r:id="rId13"/>
    <p:sldId id="273" r:id="rId14"/>
    <p:sldId id="274" r:id="rId15"/>
    <p:sldId id="288" r:id="rId16"/>
    <p:sldId id="275" r:id="rId17"/>
    <p:sldId id="277" r:id="rId18"/>
    <p:sldId id="278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9/4/2026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889770"/>
            <a:ext cx="8825658" cy="2677648"/>
          </a:xfrm>
        </p:spPr>
        <p:txBody>
          <a:bodyPr/>
          <a:lstStyle/>
          <a:p>
            <a:r>
              <a:rPr lang="en-US" dirty="0"/>
              <a:t>ARTIFICIAL INTELLIGENCE AND MACHINE LEARNING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         </a:t>
            </a:r>
            <a:r>
              <a:rPr lang="en-US" sz="3200" dirty="0" smtClean="0"/>
              <a:t>UNIT -  II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1755" y="4398688"/>
            <a:ext cx="9984100" cy="1004584"/>
          </a:xfrm>
        </p:spPr>
        <p:txBody>
          <a:bodyPr>
            <a:noAutofit/>
          </a:bodyPr>
          <a:lstStyle/>
          <a:p>
            <a:pPr lvl="1"/>
            <a:r>
              <a:rPr lang="en-US" sz="1800" dirty="0" smtClean="0"/>
              <a:t>                                                                                            </a:t>
            </a:r>
            <a:r>
              <a:rPr lang="en-US" sz="1800" dirty="0" smtClean="0">
                <a:solidFill>
                  <a:schemeClr val="bg1"/>
                </a:solidFill>
              </a:rPr>
              <a:t>Shreya J Shetty</a:t>
            </a:r>
          </a:p>
          <a:p>
            <a:pPr lvl="1"/>
            <a:r>
              <a:rPr lang="en-US" sz="1800" dirty="0" smtClean="0">
                <a:solidFill>
                  <a:schemeClr val="bg1"/>
                </a:solidFill>
              </a:rPr>
              <a:t>                                                                                                         Assistant </a:t>
            </a:r>
            <a:r>
              <a:rPr lang="en-US" sz="1800" dirty="0">
                <a:solidFill>
                  <a:schemeClr val="bg1"/>
                </a:solidFill>
              </a:rPr>
              <a:t>P</a:t>
            </a:r>
            <a:r>
              <a:rPr lang="en-US" sz="1800" dirty="0" smtClean="0">
                <a:solidFill>
                  <a:schemeClr val="bg1"/>
                </a:solidFill>
              </a:rPr>
              <a:t>rofessor </a:t>
            </a:r>
            <a:r>
              <a:rPr lang="en-US" sz="1800" dirty="0" err="1">
                <a:solidFill>
                  <a:schemeClr val="bg1"/>
                </a:solidFill>
              </a:rPr>
              <a:t>G</a:t>
            </a:r>
            <a:r>
              <a:rPr lang="en-US" sz="1800" dirty="0" err="1" smtClean="0">
                <a:solidFill>
                  <a:schemeClr val="bg1"/>
                </a:solidFill>
              </a:rPr>
              <a:t>d</a:t>
            </a:r>
            <a:r>
              <a:rPr lang="en-US" sz="1800" dirty="0" smtClean="0">
                <a:solidFill>
                  <a:schemeClr val="bg1"/>
                </a:solidFill>
              </a:rPr>
              <a:t>-I</a:t>
            </a:r>
          </a:p>
          <a:p>
            <a:pPr lvl="1"/>
            <a:r>
              <a:rPr lang="en-US" sz="1800" dirty="0" smtClean="0">
                <a:solidFill>
                  <a:schemeClr val="bg1"/>
                </a:solidFill>
              </a:rPr>
              <a:t>                                                                                                 MCA Department </a:t>
            </a:r>
          </a:p>
          <a:p>
            <a:pPr lvl="1"/>
            <a:r>
              <a:rPr lang="en-US" sz="1800" dirty="0" smtClean="0">
                <a:solidFill>
                  <a:schemeClr val="bg1"/>
                </a:solidFill>
              </a:rPr>
              <a:t>                                                                                         </a:t>
            </a:r>
            <a:r>
              <a:rPr lang="en-US" sz="1800" dirty="0" err="1" smtClean="0">
                <a:solidFill>
                  <a:schemeClr val="bg1"/>
                </a:solidFill>
              </a:rPr>
              <a:t>NMAMIT,Nitte</a:t>
            </a:r>
            <a:endParaRPr lang="en-IN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513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(ML)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19928"/>
            <a:ext cx="10150763" cy="4359563"/>
          </a:xfrm>
        </p:spPr>
        <p:txBody>
          <a:bodyPr>
            <a:normAutofit/>
          </a:bodyPr>
          <a:lstStyle/>
          <a:p>
            <a:r>
              <a:rPr lang="en-US" dirty="0" smtClean="0"/>
              <a:t>Machine </a:t>
            </a:r>
            <a:r>
              <a:rPr lang="en-US" dirty="0"/>
              <a:t>Learning (ML) is a subset of Artificial Intelligence (AI). </a:t>
            </a:r>
          </a:p>
          <a:p>
            <a:r>
              <a:rPr lang="en-US" dirty="0"/>
              <a:t>It enables computers to learn automatically from data without being explicitly programmed. </a:t>
            </a:r>
          </a:p>
          <a:p>
            <a:r>
              <a:rPr lang="en-US" dirty="0"/>
              <a:t>ML algorithms identify patterns in historical data and make predictions or decisions. </a:t>
            </a:r>
          </a:p>
          <a:p>
            <a:pPr marL="0" indent="0">
              <a:buNone/>
            </a:pPr>
            <a:r>
              <a:rPr lang="en-US" b="1" dirty="0"/>
              <a:t>Key Points</a:t>
            </a:r>
          </a:p>
          <a:p>
            <a:r>
              <a:rPr lang="en-US" dirty="0"/>
              <a:t>Learns from </a:t>
            </a:r>
            <a:r>
              <a:rPr lang="en-US" b="1" dirty="0"/>
              <a:t>past data (training data)</a:t>
            </a:r>
            <a:r>
              <a:rPr lang="en-US" dirty="0"/>
              <a:t>. </a:t>
            </a:r>
          </a:p>
          <a:p>
            <a:r>
              <a:rPr lang="en-US" dirty="0"/>
              <a:t>Improves performance through </a:t>
            </a:r>
            <a:r>
              <a:rPr lang="en-US" b="1" dirty="0"/>
              <a:t>experience</a:t>
            </a:r>
            <a:r>
              <a:rPr lang="en-US" dirty="0"/>
              <a:t>. </a:t>
            </a:r>
          </a:p>
          <a:p>
            <a:r>
              <a:rPr lang="en-US" dirty="0" smtClean="0"/>
              <a:t>Combines </a:t>
            </a:r>
            <a:r>
              <a:rPr lang="en-US" b="1" dirty="0"/>
              <a:t>Computer Science</a:t>
            </a:r>
            <a:r>
              <a:rPr lang="en-US" dirty="0"/>
              <a:t> and </a:t>
            </a:r>
            <a:r>
              <a:rPr lang="en-US" b="1" dirty="0"/>
              <a:t>Statistics</a:t>
            </a:r>
            <a:r>
              <a:rPr lang="en-US" dirty="0"/>
              <a:t>. </a:t>
            </a:r>
          </a:p>
          <a:p>
            <a:r>
              <a:rPr lang="en-US" dirty="0"/>
              <a:t>Introduced by </a:t>
            </a:r>
            <a:r>
              <a:rPr lang="en-US" b="1" dirty="0"/>
              <a:t>Arthur Samuel (1959)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933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Image </a:t>
            </a:r>
            <a:r>
              <a:rPr lang="en-US" dirty="0"/>
              <a:t>Recognition</a:t>
            </a:r>
          </a:p>
          <a:p>
            <a:r>
              <a:rPr lang="en-US" dirty="0"/>
              <a:t>Speech Recognition</a:t>
            </a:r>
          </a:p>
          <a:p>
            <a:r>
              <a:rPr lang="en-US" dirty="0"/>
              <a:t>Email Spam Filtering</a:t>
            </a:r>
          </a:p>
          <a:p>
            <a:r>
              <a:rPr lang="en-US" dirty="0"/>
              <a:t>Facebook Auto-Tagging</a:t>
            </a:r>
          </a:p>
          <a:p>
            <a:r>
              <a:rPr lang="en-US" dirty="0"/>
              <a:t>Recommendation Systems (Netflix, Amazon, YouTube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Simple Definition</a:t>
            </a:r>
          </a:p>
          <a:p>
            <a:pPr marL="0" indent="0">
              <a:buNone/>
            </a:pPr>
            <a:r>
              <a:rPr lang="en-US" dirty="0" smtClean="0"/>
              <a:t>Machine </a:t>
            </a:r>
            <a:r>
              <a:rPr lang="en-US" dirty="0"/>
              <a:t>Learning is the ability of a computer to learn from data, improve with experience, and make predictions without being explicitly programmed.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9869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vs. Traditional Programming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827" y="2335645"/>
            <a:ext cx="10575228" cy="4794827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 smtClean="0"/>
              <a:t> Traditional </a:t>
            </a:r>
            <a:r>
              <a:rPr lang="en-US" sz="2400" dirty="0"/>
              <a:t>programming differs significantly from machine learning.</a:t>
            </a:r>
          </a:p>
          <a:p>
            <a:r>
              <a:rPr lang="en-US" sz="2400" dirty="0" smtClean="0"/>
              <a:t> In </a:t>
            </a:r>
            <a:r>
              <a:rPr lang="en-US" sz="2400" dirty="0"/>
              <a:t>traditional programming, a programmer code all the rules in consultation with </a:t>
            </a:r>
            <a:r>
              <a:rPr lang="en-US" sz="2400" dirty="0" smtClean="0"/>
              <a:t>an expert </a:t>
            </a:r>
            <a:r>
              <a:rPr lang="en-US" sz="2400" dirty="0"/>
              <a:t>in the industry for which software is </a:t>
            </a:r>
            <a:r>
              <a:rPr lang="en-US" sz="2400" dirty="0" smtClean="0"/>
              <a:t>being developed</a:t>
            </a:r>
            <a:r>
              <a:rPr lang="en-US" sz="2400" dirty="0"/>
              <a:t>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Each rule is based on a logical foundation; the machine will execute an output </a:t>
            </a:r>
            <a:r>
              <a:rPr lang="en-US" sz="2400" dirty="0" smtClean="0"/>
              <a:t>following the </a:t>
            </a:r>
            <a:r>
              <a:rPr lang="en-US" sz="2400" dirty="0"/>
              <a:t>logical statement.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When the system grows complex, more rules need to be written. It </a:t>
            </a:r>
            <a:r>
              <a:rPr lang="en-US" sz="2400" dirty="0" smtClean="0"/>
              <a:t>can quickly become unsustainable </a:t>
            </a:r>
            <a:r>
              <a:rPr lang="en-US" sz="2400" dirty="0"/>
              <a:t>to maintain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Machine learning is supposed to overcome this issue.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The machine learns how the input and output data are correlated and it writes a rule.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The programmers do not need to write new rules each time there is new data.</a:t>
            </a:r>
          </a:p>
          <a:p>
            <a:r>
              <a:rPr lang="en-US" sz="2400" dirty="0" smtClean="0"/>
              <a:t>The </a:t>
            </a:r>
            <a:r>
              <a:rPr lang="en-US" sz="2400" dirty="0"/>
              <a:t>algorithms adapt in response to new data and experiences to </a:t>
            </a:r>
            <a:r>
              <a:rPr lang="en-US" sz="2400" dirty="0" smtClean="0"/>
              <a:t>improve efficacy over time</a:t>
            </a:r>
            <a:r>
              <a:rPr lang="en-US" sz="2400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066702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546" y="267856"/>
            <a:ext cx="9042400" cy="640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9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Does Machine Learning Work?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992" y="2187863"/>
            <a:ext cx="11739008" cy="4536209"/>
          </a:xfrm>
        </p:spPr>
        <p:txBody>
          <a:bodyPr>
            <a:normAutofit/>
          </a:bodyPr>
          <a:lstStyle/>
          <a:p>
            <a:r>
              <a:rPr lang="en-US" dirty="0" smtClean="0"/>
              <a:t>Machine </a:t>
            </a:r>
            <a:r>
              <a:rPr lang="en-US" dirty="0"/>
              <a:t>learning is the </a:t>
            </a:r>
            <a:r>
              <a:rPr lang="en-US" b="1" dirty="0"/>
              <a:t>brain</a:t>
            </a:r>
            <a:r>
              <a:rPr lang="en-US" dirty="0"/>
              <a:t> where all the learning takes place. </a:t>
            </a:r>
          </a:p>
          <a:p>
            <a:r>
              <a:rPr lang="en-US" dirty="0"/>
              <a:t>The way a machine learns is similar to how humans learn. </a:t>
            </a:r>
          </a:p>
          <a:p>
            <a:r>
              <a:rPr lang="en-US" dirty="0"/>
              <a:t>Humans learn from </a:t>
            </a:r>
            <a:r>
              <a:rPr lang="en-US" b="1" dirty="0"/>
              <a:t>experience</a:t>
            </a:r>
            <a:r>
              <a:rPr lang="en-US" dirty="0"/>
              <a:t>. The more experience they have, the better they can make decisions and predictions. </a:t>
            </a:r>
          </a:p>
          <a:p>
            <a:r>
              <a:rPr lang="en-US" dirty="0"/>
              <a:t>Likewise, machines learn from </a:t>
            </a:r>
            <a:r>
              <a:rPr lang="en-US" b="1" dirty="0"/>
              <a:t>historical (past) data</a:t>
            </a:r>
            <a:r>
              <a:rPr lang="en-US" dirty="0"/>
              <a:t>. </a:t>
            </a:r>
          </a:p>
          <a:p>
            <a:r>
              <a:rPr lang="en-US" dirty="0"/>
              <a:t>During training, the machine is shown many examples along with their correct outputs. </a:t>
            </a:r>
          </a:p>
          <a:p>
            <a:r>
              <a:rPr lang="en-US" dirty="0"/>
              <a:t>By analyzing these examples, the machine identifies patterns and relationships in the data. </a:t>
            </a:r>
          </a:p>
          <a:p>
            <a:r>
              <a:rPr lang="en-US" dirty="0"/>
              <a:t>After learning these patterns, it builds a </a:t>
            </a:r>
            <a:r>
              <a:rPr lang="en-US" b="1" dirty="0"/>
              <a:t>prediction model</a:t>
            </a:r>
            <a:r>
              <a:rPr lang="en-US" dirty="0"/>
              <a:t>. </a:t>
            </a:r>
          </a:p>
          <a:p>
            <a:r>
              <a:rPr lang="en-US" dirty="0"/>
              <a:t>When new data is provided, the trained model predicts the most likely output. </a:t>
            </a:r>
          </a:p>
          <a:p>
            <a:r>
              <a:rPr lang="en-US" dirty="0"/>
              <a:t>If the new data is similar to the training data, the prediction is usually accurate. </a:t>
            </a:r>
          </a:p>
          <a:p>
            <a:r>
              <a:rPr lang="en-US" dirty="0"/>
              <a:t>However, if the machine encounters completely new or unseen data, its prediction may be less accurate.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3626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Learning, Inference and Data: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/>
              <a:t>The core objective of machine learning is the learning and inference.</a:t>
            </a:r>
          </a:p>
          <a:p>
            <a:r>
              <a:rPr lang="en-US" dirty="0" smtClean="0"/>
              <a:t> </a:t>
            </a:r>
            <a:r>
              <a:rPr lang="en-US" dirty="0"/>
              <a:t>First of all, the machine learns through the discovery of patterns.</a:t>
            </a:r>
          </a:p>
          <a:p>
            <a:r>
              <a:rPr lang="en-US" dirty="0" smtClean="0"/>
              <a:t> </a:t>
            </a:r>
            <a:r>
              <a:rPr lang="en-US" dirty="0"/>
              <a:t>This discovery is made by using the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139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in Machine Learning: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7236" y="2346036"/>
            <a:ext cx="11342255" cy="4835236"/>
          </a:xfrm>
        </p:spPr>
        <p:txBody>
          <a:bodyPr>
            <a:normAutofit/>
          </a:bodyPr>
          <a:lstStyle/>
          <a:p>
            <a:r>
              <a:rPr lang="en-US" dirty="0" smtClean="0"/>
              <a:t>1</a:t>
            </a:r>
            <a:r>
              <a:rPr lang="en-US" dirty="0"/>
              <a:t>. Define a question</a:t>
            </a:r>
          </a:p>
          <a:p>
            <a:r>
              <a:rPr lang="en-US" dirty="0"/>
              <a:t>2. Collect data</a:t>
            </a:r>
          </a:p>
          <a:p>
            <a:r>
              <a:rPr lang="en-US" dirty="0"/>
              <a:t>3. Visualize data</a:t>
            </a:r>
          </a:p>
          <a:p>
            <a:r>
              <a:rPr lang="en-US" dirty="0"/>
              <a:t>4. Train algorithm</a:t>
            </a:r>
          </a:p>
          <a:p>
            <a:r>
              <a:rPr lang="en-US" dirty="0"/>
              <a:t>5. Test the Algorithm</a:t>
            </a:r>
          </a:p>
          <a:p>
            <a:r>
              <a:rPr lang="en-US" dirty="0"/>
              <a:t>6. Collect feedback</a:t>
            </a:r>
          </a:p>
          <a:p>
            <a:r>
              <a:rPr lang="en-US" dirty="0"/>
              <a:t>7. Refine the algorithm</a:t>
            </a:r>
          </a:p>
          <a:p>
            <a:r>
              <a:rPr lang="en-US" dirty="0"/>
              <a:t>8. Loop 4-7 until the results are satisfying</a:t>
            </a:r>
          </a:p>
          <a:p>
            <a:r>
              <a:rPr lang="en-US" dirty="0"/>
              <a:t>9. Use the model to make a </a:t>
            </a:r>
            <a:r>
              <a:rPr lang="en-US" dirty="0" smtClean="0"/>
              <a:t>prediction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56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Machine Learning: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Machine learning uses data to detect various patterns in a given dataset.</a:t>
            </a:r>
          </a:p>
          <a:p>
            <a:r>
              <a:rPr lang="en-US" dirty="0" smtClean="0"/>
              <a:t> </a:t>
            </a:r>
            <a:r>
              <a:rPr lang="en-US" dirty="0"/>
              <a:t>It can learn from past data and improve automatically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 </a:t>
            </a:r>
            <a:r>
              <a:rPr lang="en-US" dirty="0"/>
              <a:t>It is a data-driven technology.</a:t>
            </a:r>
          </a:p>
          <a:p>
            <a:r>
              <a:rPr lang="en-US" dirty="0" smtClean="0"/>
              <a:t> </a:t>
            </a:r>
            <a:r>
              <a:rPr lang="en-US" dirty="0"/>
              <a:t>Machine learning is much similar to data mining as it also deals with the huge amount </a:t>
            </a:r>
            <a:r>
              <a:rPr lang="en-US" dirty="0" smtClean="0"/>
              <a:t>of the </a:t>
            </a:r>
            <a:r>
              <a:rPr lang="en-US" dirty="0"/>
              <a:t>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634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Machine Learning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10723010" cy="4254500"/>
          </a:xfrm>
        </p:spPr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/>
              <a:t>The need for machine learning is increasing day by day. The reason behind the need for</a:t>
            </a:r>
          </a:p>
          <a:p>
            <a:pPr marL="0" indent="0">
              <a:buNone/>
            </a:pPr>
            <a:r>
              <a:rPr lang="en-US" dirty="0"/>
              <a:t>machine learning is that it is capable of doing tasks that are too complex for a person to</a:t>
            </a:r>
          </a:p>
          <a:p>
            <a:pPr marL="0" indent="0">
              <a:buNone/>
            </a:pPr>
            <a:r>
              <a:rPr lang="en-US" dirty="0"/>
              <a:t>implement directly.</a:t>
            </a:r>
          </a:p>
          <a:p>
            <a:r>
              <a:rPr lang="en-US" dirty="0" smtClean="0"/>
              <a:t> </a:t>
            </a:r>
            <a:r>
              <a:rPr lang="en-US" dirty="0"/>
              <a:t>As a human, we have some limitations as we cannot access the huge amount of data</a:t>
            </a:r>
          </a:p>
          <a:p>
            <a:pPr marL="0" indent="0">
              <a:buNone/>
            </a:pPr>
            <a:r>
              <a:rPr lang="en-US" dirty="0"/>
              <a:t>manually, so for this, we need some computer systems and here comes the machine</a:t>
            </a:r>
          </a:p>
          <a:p>
            <a:pPr marL="0" indent="0">
              <a:buNone/>
            </a:pPr>
            <a:r>
              <a:rPr lang="en-US" dirty="0"/>
              <a:t>learning to make things easy for us.</a:t>
            </a:r>
          </a:p>
          <a:p>
            <a:r>
              <a:rPr lang="en-US" dirty="0" smtClean="0"/>
              <a:t> </a:t>
            </a:r>
            <a:r>
              <a:rPr lang="en-US" dirty="0"/>
              <a:t>We can train machine learning algorithms by providing them the huge amount of data</a:t>
            </a:r>
          </a:p>
          <a:p>
            <a:pPr marL="0" indent="0">
              <a:buNone/>
            </a:pPr>
            <a:r>
              <a:rPr lang="en-US" dirty="0"/>
              <a:t>and let them explore the data, construct the models, and predict the required output</a:t>
            </a:r>
          </a:p>
          <a:p>
            <a:pPr marL="0" indent="0">
              <a:buNone/>
            </a:pPr>
            <a:r>
              <a:rPr lang="en-US" dirty="0"/>
              <a:t>automatically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548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9956391" cy="4074391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performance of the machine learning algorithm depends on the amount of data, </a:t>
            </a:r>
            <a:r>
              <a:rPr lang="en-US" dirty="0" smtClean="0"/>
              <a:t> and it can </a:t>
            </a:r>
            <a:r>
              <a:rPr lang="en-US" dirty="0"/>
              <a:t>be determined by the cost function.</a:t>
            </a:r>
          </a:p>
          <a:p>
            <a:r>
              <a:rPr lang="en-US" dirty="0" smtClean="0"/>
              <a:t> </a:t>
            </a:r>
            <a:r>
              <a:rPr lang="en-US" dirty="0"/>
              <a:t>With the help of machine learning, we can save both time and money.</a:t>
            </a:r>
          </a:p>
          <a:p>
            <a:r>
              <a:rPr lang="en-US" dirty="0" smtClean="0"/>
              <a:t>The </a:t>
            </a:r>
            <a:r>
              <a:rPr lang="en-US" dirty="0"/>
              <a:t>importance of machine learning can be easily understood by its uses cases,</a:t>
            </a:r>
          </a:p>
          <a:p>
            <a:r>
              <a:rPr lang="en-US" dirty="0" smtClean="0"/>
              <a:t> </a:t>
            </a:r>
            <a:r>
              <a:rPr lang="en-US" dirty="0"/>
              <a:t>Currently, machine learning is used in self-driving cars, cyber fraud detection, </a:t>
            </a:r>
            <a:r>
              <a:rPr lang="en-US" dirty="0" smtClean="0"/>
              <a:t>face recognition</a:t>
            </a:r>
            <a:r>
              <a:rPr lang="en-US" dirty="0"/>
              <a:t>, and friend suggestion by Facebook, etc.</a:t>
            </a:r>
          </a:p>
          <a:p>
            <a:r>
              <a:rPr lang="en-US" dirty="0" smtClean="0"/>
              <a:t>Various </a:t>
            </a:r>
            <a:r>
              <a:rPr lang="en-US" dirty="0"/>
              <a:t>top companies such as Netflix and Amazon have built machine learning </a:t>
            </a:r>
            <a:r>
              <a:rPr lang="en-US" dirty="0" smtClean="0"/>
              <a:t>models that </a:t>
            </a:r>
            <a:r>
              <a:rPr lang="en-US" dirty="0"/>
              <a:t>are using a vast amount of data to analyze the user interest and recommend </a:t>
            </a:r>
            <a:r>
              <a:rPr lang="en-US" dirty="0" smtClean="0"/>
              <a:t>product accordingly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/>
          <a:p>
            <a:r>
              <a:rPr lang="en-US" dirty="0"/>
              <a:t>Need for Machine Learning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3973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Following are some key points which show the importance of Machine Learning:</a:t>
            </a:r>
          </a:p>
          <a:p>
            <a:r>
              <a:rPr lang="en-US" dirty="0" smtClean="0"/>
              <a:t>Rapid </a:t>
            </a:r>
            <a:r>
              <a:rPr lang="en-US" dirty="0"/>
              <a:t>increment in the production of data</a:t>
            </a:r>
          </a:p>
          <a:p>
            <a:r>
              <a:rPr lang="en-US" dirty="0" smtClean="0"/>
              <a:t>Solving </a:t>
            </a:r>
            <a:r>
              <a:rPr lang="en-US" dirty="0"/>
              <a:t>complex problems, which are difficult for a human</a:t>
            </a:r>
          </a:p>
          <a:p>
            <a:r>
              <a:rPr lang="en-US" dirty="0" smtClean="0"/>
              <a:t>Decision </a:t>
            </a:r>
            <a:r>
              <a:rPr lang="en-US" dirty="0"/>
              <a:t>making in various sector including finance</a:t>
            </a:r>
          </a:p>
          <a:p>
            <a:r>
              <a:rPr lang="en-US" dirty="0" smtClean="0"/>
              <a:t>Finding </a:t>
            </a:r>
            <a:r>
              <a:rPr lang="en-US" dirty="0"/>
              <a:t>hidden patterns and extracting useful information from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5374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472" y="2576947"/>
            <a:ext cx="11397673" cy="5098472"/>
          </a:xfrm>
        </p:spPr>
        <p:txBody>
          <a:bodyPr/>
          <a:lstStyle/>
          <a:p>
            <a:r>
              <a:rPr lang="en-IN" sz="2400" b="1" dirty="0"/>
              <a:t>1. Data </a:t>
            </a:r>
            <a:r>
              <a:rPr lang="en-IN" sz="2400" b="1" dirty="0" smtClean="0"/>
              <a:t>Collection</a:t>
            </a:r>
          </a:p>
          <a:p>
            <a:pPr marL="0" indent="0">
              <a:buNone/>
            </a:pPr>
            <a:r>
              <a:rPr lang="en-US" dirty="0"/>
              <a:t>Machine Learning models need a large amount of </a:t>
            </a:r>
            <a:r>
              <a:rPr lang="en-US" b="1" dirty="0"/>
              <a:t>relevant and useful data</a:t>
            </a:r>
            <a:r>
              <a:rPr lang="en-US" dirty="0"/>
              <a:t> to learn patterns.</a:t>
            </a:r>
          </a:p>
          <a:p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For a disease prediction system, we need patient data such as age, symptoms, test results, and medical history.</a:t>
            </a:r>
          </a:p>
          <a:p>
            <a:r>
              <a:rPr lang="en-US" b="1" dirty="0"/>
              <a:t>Problem: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Collecting real-world data can be difficult and time-consuming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494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781" y="2392218"/>
            <a:ext cx="11268363" cy="4618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2. Less Amount of Training Data</a:t>
            </a:r>
          </a:p>
          <a:p>
            <a:r>
              <a:rPr lang="en-US" sz="2800" b="1" dirty="0"/>
              <a:t>Meaning: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A model needs enough examples to learn accurately. If the training data is too small, the model may not learn the pattern properly.</a:t>
            </a:r>
          </a:p>
          <a:p>
            <a:r>
              <a:rPr lang="en-US" sz="2800" b="1" dirty="0"/>
              <a:t>Example: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If a model is given only </a:t>
            </a:r>
            <a:r>
              <a:rPr lang="en-US" sz="2800" b="1" dirty="0"/>
              <a:t>20 images of cats and 20 images of dogs</a:t>
            </a:r>
            <a:r>
              <a:rPr lang="en-US" sz="2800" dirty="0"/>
              <a:t>, it may struggle to identify new images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1766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9892" y="2466109"/>
            <a:ext cx="11102108" cy="47382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3. Non-Representative Training </a:t>
            </a:r>
            <a:r>
              <a:rPr lang="en-US" sz="2400" b="1" dirty="0" smtClean="0"/>
              <a:t>Data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The training data should represent the </a:t>
            </a:r>
            <a:r>
              <a:rPr lang="en-US" sz="2400" b="1" dirty="0"/>
              <a:t>real-world situations</a:t>
            </a:r>
            <a:r>
              <a:rPr lang="en-US" sz="2400" dirty="0"/>
              <a:t> where the model will be used.</a:t>
            </a:r>
          </a:p>
          <a:p>
            <a:r>
              <a:rPr lang="en-US" sz="2400" b="1" dirty="0"/>
              <a:t>Example: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Suppose a face recognition system is trained only using images of </a:t>
            </a:r>
            <a:r>
              <a:rPr lang="en-US" sz="2400" b="1" dirty="0"/>
              <a:t>young people</a:t>
            </a:r>
            <a:r>
              <a:rPr lang="en-US" sz="2400" dirty="0"/>
              <a:t>. It may not perform well when recognizing older people.</a:t>
            </a:r>
          </a:p>
          <a:p>
            <a:r>
              <a:rPr lang="en-US" sz="2400" b="1" dirty="0"/>
              <a:t>Key Point: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Training data should include different types of users, conditions, and situations.</a:t>
            </a:r>
          </a:p>
        </p:txBody>
      </p:sp>
    </p:spTree>
    <p:extLst>
      <p:ext uri="{BB962C8B-B14F-4D97-AF65-F5344CB8AC3E}">
        <p14:creationId xmlns:p14="http://schemas.microsoft.com/office/powerpoint/2010/main" val="2660830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8218" y="2299855"/>
            <a:ext cx="11037455" cy="514465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 smtClean="0"/>
              <a:t>4. </a:t>
            </a:r>
            <a:r>
              <a:rPr lang="en-US" sz="2400" b="1" dirty="0"/>
              <a:t>Poor Quality of Data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2000" dirty="0"/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000" dirty="0" smtClean="0"/>
              <a:t>The </a:t>
            </a:r>
            <a:r>
              <a:rPr lang="en-US" sz="2000" dirty="0"/>
              <a:t>collected data may contain missing, incorrect, duplicate, or noisy values.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20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Example: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20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Age = 25       → Correct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Age = 250      → Possibly incorrect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Height = Missing → Missing value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2000" dirty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Solution: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2000" dirty="0"/>
              <a:t>Data must be cleaned and preprocessed before training.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1968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5856" y="2244436"/>
            <a:ext cx="11139054" cy="461356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/>
              <a:t>5. Irrelevant / Unwanted </a:t>
            </a:r>
            <a:r>
              <a:rPr lang="en-US" sz="2000" b="1" dirty="0" smtClean="0"/>
              <a:t>Features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 smtClean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 smtClean="0"/>
              <a:t>Some </a:t>
            </a:r>
            <a:r>
              <a:rPr lang="en-US" dirty="0"/>
              <a:t>features in the dataset may not contribute to the prediction.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Example: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To predict a person's required exercise time, we may use: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Age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Weight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Height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/>
              <a:t>Gender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Location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dirty="0" smtClean="0"/>
              <a:t>Location may not be useful for this prediction.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0142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967345"/>
            <a:ext cx="11794836" cy="489065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/>
              <a:t>6. </a:t>
            </a:r>
            <a:r>
              <a:rPr lang="en-US" sz="2000" b="1" dirty="0" err="1"/>
              <a:t>Overfitting</a:t>
            </a:r>
            <a:endParaRPr lang="en-US" sz="2000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 err="1" smtClean="0"/>
              <a:t>Overfitting</a:t>
            </a:r>
            <a:r>
              <a:rPr lang="en-US" sz="1600" dirty="0" smtClean="0"/>
              <a:t> </a:t>
            </a:r>
            <a:r>
              <a:rPr lang="en-US" sz="1600" dirty="0"/>
              <a:t>occurs when the </a:t>
            </a:r>
            <a:r>
              <a:rPr lang="en-US" sz="1600" b="1" dirty="0"/>
              <a:t>model learns the training data too closely </a:t>
            </a:r>
            <a:r>
              <a:rPr lang="en-US" sz="1600" dirty="0"/>
              <a:t>instead of learning the general pattern</a:t>
            </a:r>
            <a:r>
              <a:rPr lang="en-US" sz="1600" dirty="0" smtClean="0"/>
              <a:t>.</a:t>
            </a: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b="1" dirty="0"/>
              <a:t>Example: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A student memorizes the exact questions from a previous exam and gets high marks when the same questions are repeated, but performs poorly when new questions are asked.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/>
              <a:t>Similarly</a:t>
            </a:r>
            <a:r>
              <a:rPr lang="en-US" sz="1600" b="1" dirty="0" smtClean="0"/>
              <a:t>:</a:t>
            </a:r>
            <a:endParaRPr lang="en-US" sz="1600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Training Data → Very Good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New Data      → Poor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/>
              <a:t>Solution</a:t>
            </a:r>
            <a:r>
              <a:rPr lang="en-US" sz="1600" b="1" dirty="0" smtClean="0"/>
              <a:t>:</a:t>
            </a:r>
            <a:endParaRPr lang="en-US" sz="1600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Use more training data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Remove unnecessary features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/>
              <a:t>Use a simpler </a:t>
            </a:r>
            <a:r>
              <a:rPr lang="en-US" sz="1600" dirty="0" smtClean="0"/>
              <a:t>model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4972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445" y="1984663"/>
            <a:ext cx="11369555" cy="34163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000" b="1" dirty="0"/>
              <a:t>7. </a:t>
            </a:r>
            <a:r>
              <a:rPr lang="en-US" sz="2000" b="1" dirty="0" err="1"/>
              <a:t>Underfitting</a:t>
            </a:r>
            <a:endParaRPr lang="en-US" sz="2000" b="1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 err="1" smtClean="0">
                <a:solidFill>
                  <a:schemeClr val="tx1"/>
                </a:solidFill>
              </a:rPr>
              <a:t>Underfitting</a:t>
            </a:r>
            <a:r>
              <a:rPr lang="en-US" sz="1600" dirty="0" smtClean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occurs when the model is too simple to understand the important patterns in the data.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Example: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To predict house prices, if we consider only house area and ignore location, number of rooms, age, etc., the model may be too simple.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Training Data → Poor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New Data      → Poor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tx1"/>
                </a:solidFill>
              </a:rPr>
              <a:t>Solution</a:t>
            </a:r>
            <a:r>
              <a:rPr lang="en-US" sz="1600" dirty="0" smtClean="0">
                <a:solidFill>
                  <a:schemeClr val="tx1"/>
                </a:solidFill>
              </a:rPr>
              <a:t>:</a:t>
            </a:r>
            <a:endParaRPr lang="en-US" sz="16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Use better features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Perform feature engineering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600" dirty="0">
                <a:solidFill>
                  <a:schemeClr val="tx1"/>
                </a:solidFill>
              </a:rPr>
              <a:t>Use a more suitable/powerful model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723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8. Offline Learning &amp; Deployment</a:t>
            </a:r>
          </a:p>
          <a:p>
            <a:r>
              <a:rPr lang="en-US" sz="2000" b="1" dirty="0"/>
              <a:t>Meaning: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A model may be trained using </a:t>
            </a:r>
            <a:r>
              <a:rPr lang="en-US" sz="2000" b="1" dirty="0"/>
              <a:t>old or fixed data</a:t>
            </a:r>
            <a:r>
              <a:rPr lang="en-US" sz="2000" dirty="0"/>
              <a:t>, but real-world data can continuously change.</a:t>
            </a:r>
          </a:p>
          <a:p>
            <a:r>
              <a:rPr lang="en-US" sz="2000" b="1" dirty="0"/>
              <a:t>Example: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A fraud detection model trained using old fraud patterns may fail when criminals introduce </a:t>
            </a:r>
            <a:r>
              <a:rPr lang="en-US" sz="2000" b="1" dirty="0"/>
              <a:t>new fraud techniques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6769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1175</TotalTime>
  <Words>1164</Words>
  <Application>Microsoft Office PowerPoint</Application>
  <PresentationFormat>Widescreen</PresentationFormat>
  <Paragraphs>150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Century Gothic</vt:lpstr>
      <vt:lpstr>Wingdings 3</vt:lpstr>
      <vt:lpstr>Ion Boardroom</vt:lpstr>
      <vt:lpstr>ARTIFICIAL INTELLIGENCE AND MACHINE LEARNING                  UNIT -  II</vt:lpstr>
      <vt:lpstr>Machine Learning (ML)</vt:lpstr>
      <vt:lpstr>Applications </vt:lpstr>
      <vt:lpstr>Machine Learning vs. Traditional Programming </vt:lpstr>
      <vt:lpstr>PowerPoint Presentation</vt:lpstr>
      <vt:lpstr>How Does Machine Learning Work? </vt:lpstr>
      <vt:lpstr>Learning, Inference and Data: </vt:lpstr>
      <vt:lpstr>Steps in Machine Learning: </vt:lpstr>
      <vt:lpstr>Features of Machine Learning: </vt:lpstr>
      <vt:lpstr>Need for Machine Learning </vt:lpstr>
      <vt:lpstr>Need for Machine Learning </vt:lpstr>
      <vt:lpstr>PowerPoint Presentation</vt:lpstr>
      <vt:lpstr>Challenges in Machine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AND MACHINE LEARNING</dc:title>
  <dc:creator>HP</dc:creator>
  <cp:lastModifiedBy>HP</cp:lastModifiedBy>
  <cp:revision>46</cp:revision>
  <dcterms:created xsi:type="dcterms:W3CDTF">2026-07-31T05:17:47Z</dcterms:created>
  <dcterms:modified xsi:type="dcterms:W3CDTF">2026-09-04T09:13:09Z</dcterms:modified>
</cp:coreProperties>
</file>