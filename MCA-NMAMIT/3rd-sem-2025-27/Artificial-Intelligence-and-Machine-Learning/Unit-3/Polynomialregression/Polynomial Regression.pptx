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6" r:id="rId17"/>
    <p:sldId id="270" r:id="rId18"/>
    <p:sldId id="271" r:id="rId19"/>
    <p:sldId id="272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59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8211-4500-4F66-AE2B-E2B7A52642DE}" type="datetimeFigureOut">
              <a:rPr lang="en-IN" smtClean="0"/>
              <a:t>07-11-2021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C34E7-1879-4475-BA6C-EFC5BB266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84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8211-4500-4F66-AE2B-E2B7A52642DE}" type="datetimeFigureOut">
              <a:rPr lang="en-IN" smtClean="0"/>
              <a:t>07-11-2021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C34E7-1879-4475-BA6C-EFC5BB266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54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8211-4500-4F66-AE2B-E2B7A52642DE}" type="datetimeFigureOut">
              <a:rPr lang="en-IN" smtClean="0"/>
              <a:t>07-11-2021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C34E7-1879-4475-BA6C-EFC5BB266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159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8211-4500-4F66-AE2B-E2B7A52642DE}" type="datetimeFigureOut">
              <a:rPr lang="en-IN" smtClean="0"/>
              <a:t>07-11-2021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C34E7-1879-4475-BA6C-EFC5BB266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68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8211-4500-4F66-AE2B-E2B7A52642DE}" type="datetimeFigureOut">
              <a:rPr lang="en-IN" smtClean="0"/>
              <a:t>07-11-2021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C34E7-1879-4475-BA6C-EFC5BB266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162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8211-4500-4F66-AE2B-E2B7A52642DE}" type="datetimeFigureOut">
              <a:rPr lang="en-IN" smtClean="0"/>
              <a:t>07-11-2021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C34E7-1879-4475-BA6C-EFC5BB266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66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8211-4500-4F66-AE2B-E2B7A52642DE}" type="datetimeFigureOut">
              <a:rPr lang="en-IN" smtClean="0"/>
              <a:t>07-11-2021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C34E7-1879-4475-BA6C-EFC5BB266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79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8211-4500-4F66-AE2B-E2B7A52642DE}" type="datetimeFigureOut">
              <a:rPr lang="en-IN" smtClean="0"/>
              <a:t>07-11-2021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C34E7-1879-4475-BA6C-EFC5BB266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16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8211-4500-4F66-AE2B-E2B7A52642DE}" type="datetimeFigureOut">
              <a:rPr lang="en-IN" smtClean="0"/>
              <a:t>07-11-2021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C34E7-1879-4475-BA6C-EFC5BB266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6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8211-4500-4F66-AE2B-E2B7A52642DE}" type="datetimeFigureOut">
              <a:rPr lang="en-IN" smtClean="0"/>
              <a:t>07-11-2021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C34E7-1879-4475-BA6C-EFC5BB266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16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8211-4500-4F66-AE2B-E2B7A52642DE}" type="datetimeFigureOut">
              <a:rPr lang="en-IN" smtClean="0"/>
              <a:t>07-11-2021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C34E7-1879-4475-BA6C-EFC5BB266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36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C8211-4500-4F66-AE2B-E2B7A52642DE}" type="datetimeFigureOut">
              <a:rPr lang="en-IN" smtClean="0"/>
              <a:t>07-11-2021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C34E7-1879-4475-BA6C-EFC5BB266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682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Polynomial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898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450" y="434256"/>
            <a:ext cx="2516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Simple Linear Regression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884255" y="1597688"/>
            <a:ext cx="1019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Equation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817860" y="1597688"/>
                <a:ext cx="1963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860" y="1597688"/>
                <a:ext cx="1963806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miro.medium.com/max/1280/1*LEmBCYAttxS6uI6rEyPLM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31" y="2117746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042799" y="294278"/>
            <a:ext cx="90051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In Linear Regression, the relationship between the dependent and independent variable is </a:t>
            </a:r>
            <a:r>
              <a:rPr lang="en-IN" dirty="0" smtClean="0"/>
              <a:t>linear</a:t>
            </a:r>
          </a:p>
          <a:p>
            <a:r>
              <a:rPr lang="en-IN" dirty="0" smtClean="0"/>
              <a:t>But here you have one dependent and one independent variable.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557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450" y="434256"/>
            <a:ext cx="2332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 smtClean="0"/>
              <a:t>MultiLinear</a:t>
            </a:r>
            <a:r>
              <a:rPr lang="en-IN" dirty="0" smtClean="0"/>
              <a:t> Regression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042799" y="294278"/>
            <a:ext cx="90051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In Linear Regression, the relationship between the dependent and independent variable is </a:t>
            </a:r>
            <a:r>
              <a:rPr lang="en-IN" dirty="0" smtClean="0"/>
              <a:t>linear</a:t>
            </a:r>
          </a:p>
          <a:p>
            <a:r>
              <a:rPr lang="en-IN" dirty="0" smtClean="0"/>
              <a:t>But here you have one dependent and multiple independent variable.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48349" y="1788607"/>
            <a:ext cx="1019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Equation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3042799" y="1788607"/>
                <a:ext cx="56149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+…………..+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799" y="1788607"/>
                <a:ext cx="5614999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https://miro.medium.com/max/1280/1*LEmBCYAttxS6uI6rEyPLM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61" y="2438168"/>
            <a:ext cx="5668769" cy="425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81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2611" y="462224"/>
            <a:ext cx="1604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Complex Data: 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007806" y="280015"/>
            <a:ext cx="89497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0" i="1" dirty="0" smtClean="0">
                <a:solidFill>
                  <a:srgbClr val="292929"/>
                </a:solidFill>
                <a:effectLst/>
                <a:latin typeface="charter"/>
              </a:rPr>
              <a:t>Some times the data or the distribution of the data is more complex.</a:t>
            </a:r>
          </a:p>
          <a:p>
            <a:r>
              <a:rPr lang="en-IN" i="1" dirty="0" smtClean="0">
                <a:solidFill>
                  <a:srgbClr val="292929"/>
                </a:solidFill>
                <a:latin typeface="charter"/>
              </a:rPr>
              <a:t>The data may not be Linear.</a:t>
            </a:r>
            <a:endParaRPr lang="en-IN" i="1" dirty="0">
              <a:solidFill>
                <a:srgbClr val="292929"/>
              </a:solidFill>
              <a:latin typeface="charter"/>
            </a:endParaRPr>
          </a:p>
          <a:p>
            <a:r>
              <a:rPr lang="en-IN" b="0" i="1" dirty="0" smtClean="0">
                <a:solidFill>
                  <a:srgbClr val="292929"/>
                </a:solidFill>
                <a:effectLst/>
                <a:latin typeface="charter"/>
              </a:rPr>
              <a:t>The Linear models we have seen will not be able to fit non linear data.</a:t>
            </a:r>
            <a:endParaRPr lang="en-IN" dirty="0"/>
          </a:p>
        </p:txBody>
      </p:sp>
      <p:pic>
        <p:nvPicPr>
          <p:cNvPr id="2050" name="Picture 2" descr="https://miro.medium.com/max/1245/1*yim5OMiku3dNMXEv3GiIt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269" y="1203345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www.w3schools.com/python/img_polynomial_scatt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194" y="1331407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2949" y="6218592"/>
            <a:ext cx="4039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 above line under fits the data points.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24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403" y="144923"/>
            <a:ext cx="3550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/>
              <a:t>Polynomial Regression:</a:t>
            </a:r>
            <a:endParaRPr lang="en-IN" sz="2800" dirty="0"/>
          </a:p>
        </p:txBody>
      </p:sp>
      <p:sp>
        <p:nvSpPr>
          <p:cNvPr id="3" name="Rectangle 2"/>
          <p:cNvSpPr/>
          <p:nvPr/>
        </p:nvSpPr>
        <p:spPr>
          <a:xfrm>
            <a:off x="291403" y="612504"/>
            <a:ext cx="113445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Polynomial regression, like linear regression, uses the relationship between the variables x and y to find the best way to draw a line through the data points.</a:t>
            </a:r>
          </a:p>
          <a:p>
            <a:endParaRPr lang="en-IN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IN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So instead of a straight line we require a curve fitting line.</a:t>
            </a:r>
          </a:p>
          <a:p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pic>
        <p:nvPicPr>
          <p:cNvPr id="6" name="Picture 2" descr="https://miro.medium.com/max/1245/1*yim5OMiku3dNMXEv3GiIt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632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82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https://miro.medium.com/max/1245/1*uJtlIlaT-o3DDh5VaGsy4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82" y="590394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miro.medium.com/max/1245/1*Pa_Ma_X-IQNMn7ZbtT5lP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716" y="658274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8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www.w3schools.com/python/img_polynomial_regress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4" y="358356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s://miro.medium.com/max/1245/1*ELey2wytlZvKYFLbLbhCo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616" y="28515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93336" y="5627078"/>
            <a:ext cx="9775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It is </a:t>
            </a:r>
            <a:r>
              <a:rPr lang="en-IN" dirty="0" smtClean="0"/>
              <a:t>clear </a:t>
            </a:r>
            <a:r>
              <a:rPr lang="en-IN" dirty="0"/>
              <a:t>from </a:t>
            </a:r>
            <a:r>
              <a:rPr lang="en-IN" dirty="0" smtClean="0"/>
              <a:t>the above  </a:t>
            </a:r>
            <a:r>
              <a:rPr lang="en-IN" dirty="0"/>
              <a:t>plot that the quadratic curve is able to fit the data better than the linear line.</a:t>
            </a:r>
          </a:p>
        </p:txBody>
      </p:sp>
    </p:spTree>
    <p:extLst>
      <p:ext uri="{BB962C8B-B14F-4D97-AF65-F5344CB8AC3E}">
        <p14:creationId xmlns:p14="http://schemas.microsoft.com/office/powerpoint/2010/main" val="332365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8088" y="21495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i="1" dirty="0" smtClean="0">
                <a:solidFill>
                  <a:srgbClr val="292929"/>
                </a:solidFill>
                <a:effectLst/>
                <a:latin typeface="charter"/>
              </a:rPr>
              <a:t>To overcome under-fitting, we need to increase the complexity of the model.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78088" y="1113701"/>
            <a:ext cx="86281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0" i="0" dirty="0" smtClean="0">
                <a:solidFill>
                  <a:srgbClr val="292929"/>
                </a:solidFill>
                <a:effectLst/>
                <a:latin typeface="charter"/>
              </a:rPr>
              <a:t>To generate a higher order equation we can add powers of the original features as new features. </a:t>
            </a:r>
          </a:p>
          <a:p>
            <a:r>
              <a:rPr lang="en-IN" dirty="0" smtClean="0">
                <a:solidFill>
                  <a:srgbClr val="292929"/>
                </a:solidFill>
                <a:latin typeface="charter"/>
              </a:rPr>
              <a:t>Therefore t</a:t>
            </a:r>
            <a:r>
              <a:rPr lang="en-IN" b="0" i="0" dirty="0" smtClean="0">
                <a:solidFill>
                  <a:srgbClr val="292929"/>
                </a:solidFill>
                <a:effectLst/>
                <a:latin typeface="charter"/>
              </a:rPr>
              <a:t>he linear model,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339833" y="2426962"/>
                <a:ext cx="15733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33" y="2426962"/>
                <a:ext cx="1573379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56491" y="3283331"/>
            <a:ext cx="234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Can be transformed to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339833" y="3837330"/>
                <a:ext cx="52011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+………+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33" y="3837330"/>
                <a:ext cx="5201103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656490" y="4984486"/>
            <a:ext cx="1124075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The order can be 2 or 3 or 4, so on till n.</a:t>
            </a:r>
          </a:p>
          <a:p>
            <a:r>
              <a:rPr lang="en-IN" dirty="0" smtClean="0"/>
              <a:t>But the most we will go for is the 2</a:t>
            </a:r>
            <a:r>
              <a:rPr lang="en-IN" baseline="30000" dirty="0" smtClean="0"/>
              <a:t>nd</a:t>
            </a:r>
            <a:r>
              <a:rPr lang="en-IN" dirty="0" smtClean="0"/>
              <a:t> order.</a:t>
            </a:r>
          </a:p>
          <a:p>
            <a:r>
              <a:rPr lang="en-IN" dirty="0" smtClean="0"/>
              <a:t>This is still considered to be </a:t>
            </a:r>
            <a:r>
              <a:rPr lang="en-IN" b="1" dirty="0" smtClean="0">
                <a:effectLst/>
                <a:latin typeface="charter"/>
              </a:rPr>
              <a:t>linear model</a:t>
            </a:r>
            <a:r>
              <a:rPr lang="en-IN" dirty="0" smtClean="0"/>
              <a:t> as the coefficients/weights associated with the features are still linear. </a:t>
            </a:r>
          </a:p>
          <a:p>
            <a:r>
              <a:rPr lang="en-IN" dirty="0" smtClean="0"/>
              <a:t>x² is only a feature. </a:t>
            </a:r>
          </a:p>
          <a:p>
            <a:r>
              <a:rPr lang="en-IN" dirty="0" smtClean="0"/>
              <a:t>However the curve that we are fitting is </a:t>
            </a:r>
            <a:r>
              <a:rPr lang="en-IN" b="1" dirty="0" smtClean="0">
                <a:effectLst/>
                <a:latin typeface="charter"/>
              </a:rPr>
              <a:t>quadratic </a:t>
            </a:r>
            <a:r>
              <a:rPr lang="en-IN" dirty="0" smtClean="0"/>
              <a:t>in nature.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854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6490" y="2351818"/>
            <a:ext cx="1124075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The order can be 2 or 3 or 4, so on till n.</a:t>
            </a:r>
          </a:p>
          <a:p>
            <a:r>
              <a:rPr lang="en-IN" dirty="0" smtClean="0"/>
              <a:t>But the most we will go for is the 2</a:t>
            </a:r>
            <a:r>
              <a:rPr lang="en-IN" baseline="30000" dirty="0" smtClean="0"/>
              <a:t>nd</a:t>
            </a:r>
            <a:r>
              <a:rPr lang="en-IN" dirty="0" smtClean="0"/>
              <a:t> order.</a:t>
            </a:r>
          </a:p>
          <a:p>
            <a:r>
              <a:rPr lang="en-IN" dirty="0" smtClean="0"/>
              <a:t>This is still considered to be </a:t>
            </a:r>
            <a:r>
              <a:rPr lang="en-IN" b="1" dirty="0" smtClean="0">
                <a:effectLst/>
                <a:latin typeface="charter"/>
              </a:rPr>
              <a:t>linear model</a:t>
            </a:r>
            <a:r>
              <a:rPr lang="en-IN" dirty="0" smtClean="0"/>
              <a:t> as the coefficients/weights associated with the features are still linear. </a:t>
            </a:r>
          </a:p>
          <a:p>
            <a:r>
              <a:rPr lang="en-IN" dirty="0" smtClean="0"/>
              <a:t>x² is only a feature. </a:t>
            </a:r>
          </a:p>
          <a:p>
            <a:r>
              <a:rPr lang="en-IN" dirty="0" smtClean="0"/>
              <a:t>However the curve that we are fitting is </a:t>
            </a:r>
            <a:r>
              <a:rPr lang="en-IN" b="1" dirty="0" smtClean="0">
                <a:effectLst/>
                <a:latin typeface="charter"/>
              </a:rPr>
              <a:t>quadratic </a:t>
            </a:r>
            <a:r>
              <a:rPr lang="en-IN" dirty="0" smtClean="0"/>
              <a:t>in nature.</a:t>
            </a:r>
          </a:p>
          <a:p>
            <a:r>
              <a:rPr lang="en-IN" dirty="0" smtClean="0"/>
              <a:t>It can be cubic also.</a:t>
            </a:r>
          </a:p>
          <a:p>
            <a:r>
              <a:rPr lang="en-IN" dirty="0" smtClean="0"/>
              <a:t>It can be 15 or 20 and so on.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802387" y="1204520"/>
                <a:ext cx="27390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387" y="1204520"/>
                <a:ext cx="2739083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755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miro.medium.com/max/1245/1*uJtlIlaT-o3DDh5VaGsy4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827" y="1996238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56391" y="1335149"/>
                <a:ext cx="27390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91" y="1335149"/>
                <a:ext cx="2739083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556391" y="663191"/>
            <a:ext cx="2098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</a:t>
            </a:r>
            <a:r>
              <a:rPr lang="en-IN" baseline="30000" dirty="0" smtClean="0"/>
              <a:t>nd</a:t>
            </a:r>
            <a:r>
              <a:rPr lang="en-IN" dirty="0" smtClean="0"/>
              <a:t> Order: Quadratic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50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miro.medium.com/max/1245/1*Pa_Ma_X-IQNMn7ZbtT5lP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553" y="2136914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56391" y="663191"/>
            <a:ext cx="1718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</a:t>
            </a:r>
            <a:r>
              <a:rPr lang="en-IN" baseline="30000" dirty="0" smtClean="0"/>
              <a:t>rd</a:t>
            </a:r>
            <a:r>
              <a:rPr lang="en-IN" dirty="0" smtClean="0"/>
              <a:t>  Order: Cubic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37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090" y="80476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i="0" dirty="0" smtClean="0">
                <a:solidFill>
                  <a:srgbClr val="292929"/>
                </a:solidFill>
                <a:effectLst/>
                <a:latin typeface="charter"/>
              </a:rPr>
              <a:t>Below is a comparison of fitting linear, quadratic and cubic curves on the dataset.</a:t>
            </a:r>
            <a:endParaRPr lang="en-IN" dirty="0"/>
          </a:p>
        </p:txBody>
      </p:sp>
      <p:pic>
        <p:nvPicPr>
          <p:cNvPr id="9218" name="Picture 2" descr="https://miro.medium.com/max/1245/1*eXe8BOlfP-yTbHZtdnGS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77" y="1785222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92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331" y="575826"/>
            <a:ext cx="113914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0" i="0" dirty="0" smtClean="0">
                <a:solidFill>
                  <a:srgbClr val="292929"/>
                </a:solidFill>
                <a:effectLst/>
                <a:latin typeface="charter"/>
              </a:rPr>
              <a:t>If we further increase the degree to 20, we can see that the curve passes through more data points. Below is a comparison of curves for degree 3 and 20.</a:t>
            </a:r>
            <a:endParaRPr lang="en-IN" dirty="0"/>
          </a:p>
        </p:txBody>
      </p:sp>
      <p:pic>
        <p:nvPicPr>
          <p:cNvPr id="10242" name="Picture 2" descr="https://miro.medium.com/max/1245/1*5UNAfcSSf7okQLQSKj0HV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14" y="1222157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22514" y="5657671"/>
            <a:ext cx="112842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0" i="0" dirty="0" smtClean="0">
                <a:solidFill>
                  <a:srgbClr val="292929"/>
                </a:solidFill>
                <a:effectLst/>
                <a:latin typeface="charter"/>
              </a:rPr>
              <a:t>For degree=20, the model is also capturing the noise in the data. This is an example of </a:t>
            </a:r>
            <a:r>
              <a:rPr lang="en-IN" b="1" i="0" dirty="0" smtClean="0">
                <a:solidFill>
                  <a:srgbClr val="292929"/>
                </a:solidFill>
                <a:effectLst/>
                <a:latin typeface="charter"/>
              </a:rPr>
              <a:t>over-fitting</a:t>
            </a:r>
            <a:r>
              <a:rPr lang="en-IN" b="0" i="0" dirty="0" smtClean="0">
                <a:solidFill>
                  <a:srgbClr val="292929"/>
                </a:solidFill>
                <a:effectLst/>
                <a:latin typeface="charter"/>
              </a:rPr>
              <a:t>. Even though this model passes through most of the data, it will fail to generalize on unseen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123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34" y="656214"/>
            <a:ext cx="114417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i="1" dirty="0" smtClean="0">
                <a:solidFill>
                  <a:srgbClr val="292929"/>
                </a:solidFill>
                <a:effectLst/>
                <a:latin typeface="charter"/>
              </a:rPr>
              <a:t>To prevent over-fitting, we can add more training samples so that the algorithm doesn’t learn the noise in the system and can become more generalized.</a:t>
            </a:r>
            <a:r>
              <a:rPr lang="en-IN" b="0" i="1" dirty="0" smtClean="0">
                <a:solidFill>
                  <a:srgbClr val="292929"/>
                </a:solidFill>
                <a:effectLst/>
                <a:latin typeface="charter"/>
              </a:rPr>
              <a:t> </a:t>
            </a:r>
          </a:p>
          <a:p>
            <a:endParaRPr lang="en-IN" i="1" dirty="0">
              <a:solidFill>
                <a:srgbClr val="292929"/>
              </a:solidFill>
              <a:latin typeface="charter"/>
            </a:endParaRPr>
          </a:p>
          <a:p>
            <a:r>
              <a:rPr lang="en-IN" i="1" dirty="0" smtClean="0">
                <a:solidFill>
                  <a:srgbClr val="292929"/>
                </a:solidFill>
                <a:latin typeface="charter"/>
              </a:rPr>
              <a:t>It is always preferred to have the order of the polynomial to be less than or equal to 2.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341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3178" y="551975"/>
            <a:ext cx="1081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Equation: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13178" y="1245254"/>
                <a:ext cx="27390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78" y="1245254"/>
                <a:ext cx="2739083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043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4378" y="491086"/>
            <a:ext cx="42498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dirty="0" smtClean="0">
                <a:solidFill>
                  <a:srgbClr val="000000"/>
                </a:solidFill>
                <a:effectLst/>
                <a:latin typeface="Linux Libertine"/>
              </a:rPr>
              <a:t>Matrix form and calculation of estimates</a:t>
            </a:r>
            <a:endParaRPr lang="en-IN" b="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6642" y="1305002"/>
            <a:ext cx="35830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0" i="0" dirty="0" smtClean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polynomial regression model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96642" y="2118918"/>
                <a:ext cx="5658472" cy="3858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IN" i="0">
                          <a:latin typeface="Cambria Math" panose="02040503050406030204" pitchFamily="18" charset="0"/>
                        </a:rPr>
                        <m:t>+…………..+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42" y="2118918"/>
                <a:ext cx="5658472" cy="385811"/>
              </a:xfrm>
              <a:prstGeom prst="rect">
                <a:avLst/>
              </a:prstGeom>
              <a:blipFill rotWithShape="0">
                <a:blip r:embed="rId2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6" y="239121"/>
            <a:ext cx="11674548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42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3178" y="551975"/>
            <a:ext cx="1081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Equation: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13178" y="1245254"/>
                <a:ext cx="27390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78" y="1245254"/>
                <a:ext cx="2739083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36931" y="2041323"/>
            <a:ext cx="3752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How to find the X </a:t>
            </a:r>
            <a:r>
              <a:rPr lang="en-IN" dirty="0" err="1" smtClean="0"/>
              <a:t>coeffecients</a:t>
            </a:r>
            <a:r>
              <a:rPr lang="en-IN" dirty="0" smtClean="0"/>
              <a:t>, that is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2757" y="2947970"/>
                <a:ext cx="21536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𝑠𝑜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𝑜𝑛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57" y="2947970"/>
                <a:ext cx="2153602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76301" y="3854617"/>
            <a:ext cx="4495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 equation is the same as Linear Regression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76300" y="4761264"/>
                <a:ext cx="1837041" cy="38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00" y="4761264"/>
                <a:ext cx="1837041" cy="384336"/>
              </a:xfrm>
              <a:prstGeom prst="rect">
                <a:avLst/>
              </a:prstGeom>
              <a:blipFill rotWithShape="0">
                <a:blip r:embed="rId4"/>
                <a:stretch>
                  <a:fillRect t="-7937" b="-1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537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834242" y="2199847"/>
                <a:ext cx="27390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42" y="2199847"/>
                <a:ext cx="2739083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834242" y="1045029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Once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747640" y="1045029"/>
                <a:ext cx="21536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𝑠𝑜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𝑜𝑛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640" y="1045029"/>
                <a:ext cx="2153602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242308" y="1045029"/>
            <a:ext cx="4706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is known, we can fit them in the below equation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041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4110" y="1085222"/>
            <a:ext cx="656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If more number features are there, then the equation will change to: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854110" y="2131925"/>
            <a:ext cx="7620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For example if there are 2 features  X1 and X2, then the equation will change to: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66119" y="3594167"/>
                <a:ext cx="4349396" cy="3730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19" y="3594167"/>
                <a:ext cx="4349396" cy="373051"/>
              </a:xfrm>
              <a:prstGeom prst="rect">
                <a:avLst/>
              </a:prstGeom>
              <a:blipFill rotWithShape="0"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66118" y="4906502"/>
            <a:ext cx="111311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major issue with Multivariate Polynomial Regression is the problem of </a:t>
            </a:r>
            <a:r>
              <a:rPr lang="en-IN" b="1" i="0" dirty="0" err="1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Multicolinearity</a:t>
            </a:r>
            <a:r>
              <a:rPr lang="en-IN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When there are multiple re- </a:t>
            </a:r>
            <a:r>
              <a:rPr lang="en-IN" b="0" i="0" dirty="0" err="1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gression</a:t>
            </a:r>
            <a:r>
              <a:rPr lang="en-IN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variables, there are high chances that the variables are interdependent on each other.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5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3" y="471226"/>
            <a:ext cx="11635992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1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513</Words>
  <Application>Microsoft Office PowerPoint</Application>
  <PresentationFormat>Widescreen</PresentationFormat>
  <Paragraphs>69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</vt:lpstr>
      <vt:lpstr>Calibri</vt:lpstr>
      <vt:lpstr>Calibri Light</vt:lpstr>
      <vt:lpstr>Cambria Math</vt:lpstr>
      <vt:lpstr>charter</vt:lpstr>
      <vt:lpstr>Linux Libertine</vt:lpstr>
      <vt:lpstr>Verdana</vt:lpstr>
      <vt:lpstr>Office Theme</vt:lpstr>
      <vt:lpstr>Polynomial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Polynomial Regression</dc:title>
  <dc:creator>new</dc:creator>
  <cp:lastModifiedBy>new</cp:lastModifiedBy>
  <cp:revision>24</cp:revision>
  <dcterms:created xsi:type="dcterms:W3CDTF">2021-10-31T03:09:55Z</dcterms:created>
  <dcterms:modified xsi:type="dcterms:W3CDTF">2021-11-07T14:17:47Z</dcterms:modified>
</cp:coreProperties>
</file>