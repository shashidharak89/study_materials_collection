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59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4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5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81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6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0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0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06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99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38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75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4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E0C20-C166-4D24-AD41-796065922086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A8F78-B473-4F01-8FF6-6CBCEFFA6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0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LOGISTIC REGRESSION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3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852758"/>
              </p:ext>
            </p:extLst>
          </p:nvPr>
        </p:nvGraphicFramePr>
        <p:xfrm>
          <a:off x="554750" y="1451369"/>
          <a:ext cx="2570286" cy="3894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5143"/>
                <a:gridCol w="1285143"/>
              </a:tblGrid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Time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u="none" strike="noStrike" dirty="0">
                          <a:effectLst/>
                        </a:rPr>
                        <a:t>Clicked on Ad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68.95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80.23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69.45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74.15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Yes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55.5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Yes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</a:rPr>
                        <a:t>80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  <a:tr h="3947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70.5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719565" y="2341486"/>
            <a:ext cx="82391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Now suppose we apply Linear Regression to the data, the points to be considered are:</a:t>
            </a:r>
          </a:p>
          <a:p>
            <a:endParaRPr lang="en-IN" dirty="0"/>
          </a:p>
          <a:p>
            <a:r>
              <a:rPr lang="en-IN" dirty="0" smtClean="0"/>
              <a:t>	There is no continuous numerical data</a:t>
            </a:r>
          </a:p>
          <a:p>
            <a:r>
              <a:rPr lang="en-IN" dirty="0" smtClean="0"/>
              <a:t>	We have categorical data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789903" y="640190"/>
            <a:ext cx="324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 the above we have 2 variables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719565" y="1231032"/>
            <a:ext cx="6456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independent variable X is the Time spent by user on a web site</a:t>
            </a:r>
          </a:p>
          <a:p>
            <a:endParaRPr lang="en-IN" dirty="0"/>
          </a:p>
          <a:p>
            <a:r>
              <a:rPr lang="en-IN" dirty="0" smtClean="0"/>
              <a:t>The dependent variable Y is whether the user clicked on any Ads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789903" y="3900434"/>
            <a:ext cx="365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Now when we plot the graph, we get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2563" y="723481"/>
            <a:ext cx="193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Consider the Data: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122" y="3381042"/>
            <a:ext cx="3801469" cy="290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4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553811"/>
            <a:ext cx="3898760" cy="2976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52" y="3530608"/>
            <a:ext cx="956306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above provides no use in predicting the dependent variables by using the independent variable.</a:t>
            </a:r>
          </a:p>
          <a:p>
            <a:endParaRPr lang="en-IN" dirty="0"/>
          </a:p>
          <a:p>
            <a:r>
              <a:rPr lang="en-IN" dirty="0" smtClean="0"/>
              <a:t>Using the above, it is not possible for us to predict if a user will click on ads for a given time.</a:t>
            </a:r>
          </a:p>
          <a:p>
            <a:endParaRPr lang="en-IN" dirty="0"/>
          </a:p>
          <a:p>
            <a:r>
              <a:rPr lang="en-IN" dirty="0" smtClean="0"/>
              <a:t>Therefore we cannot use Linear Regression for this scenario.</a:t>
            </a:r>
          </a:p>
          <a:p>
            <a:endParaRPr lang="en-IN" dirty="0" smtClean="0"/>
          </a:p>
          <a:p>
            <a:r>
              <a:rPr lang="en-IN" dirty="0" smtClean="0"/>
              <a:t>The main reason is because we have categorical data as dependent variable.</a:t>
            </a:r>
          </a:p>
          <a:p>
            <a:endParaRPr lang="en-IN" dirty="0"/>
          </a:p>
          <a:p>
            <a:r>
              <a:rPr lang="en-IN" dirty="0" smtClean="0"/>
              <a:t>So when we have categorical data </a:t>
            </a:r>
            <a:r>
              <a:rPr lang="en-IN" dirty="0" err="1" smtClean="0"/>
              <a:t>inthe</a:t>
            </a:r>
            <a:r>
              <a:rPr lang="en-IN" dirty="0" smtClean="0"/>
              <a:t> dependent variable , it is better not to use Linear regression</a:t>
            </a:r>
          </a:p>
          <a:p>
            <a:endParaRPr lang="en-IN" dirty="0"/>
          </a:p>
          <a:p>
            <a:r>
              <a:rPr lang="en-IN" dirty="0" smtClean="0"/>
              <a:t>Or if you have yes/no or 0/1 or true/false </a:t>
            </a:r>
            <a:r>
              <a:rPr lang="en-IN" dirty="0" err="1" smtClean="0"/>
              <a:t>etc</a:t>
            </a:r>
            <a:r>
              <a:rPr lang="en-IN" dirty="0" smtClean="0"/>
              <a:t>, then linear regression will not be of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53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692" y="1326382"/>
            <a:ext cx="5867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 such a case go for Logistic Regression.</a:t>
            </a:r>
          </a:p>
          <a:p>
            <a:endParaRPr lang="en-IN" dirty="0" smtClean="0"/>
          </a:p>
          <a:p>
            <a:r>
              <a:rPr lang="en-IN" dirty="0" smtClean="0"/>
              <a:t>That is, basically Logistic Regression is used for Classification.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01451" y="592853"/>
            <a:ext cx="2332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LOGISTIC REGRESSION: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98585" y="343821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Sigmoid Function: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83996" y="5043828"/>
            <a:ext cx="76968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Sigmoid function is the most important function used in Logistic Regression.</a:t>
            </a:r>
          </a:p>
          <a:p>
            <a:endParaRPr lang="en-IN" dirty="0"/>
          </a:p>
          <a:p>
            <a:r>
              <a:rPr lang="en-IN" dirty="0" smtClean="0"/>
              <a:t>Here x is the independent variable that you want to transform.</a:t>
            </a:r>
          </a:p>
          <a:p>
            <a:endParaRPr lang="en-IN" dirty="0"/>
          </a:p>
          <a:p>
            <a:r>
              <a:rPr lang="en-IN" dirty="0" smtClean="0"/>
              <a:t>E is the </a:t>
            </a:r>
            <a:r>
              <a:rPr lang="en-IN" dirty="0" err="1" smtClean="0"/>
              <a:t>Eiuler’s</a:t>
            </a:r>
            <a:r>
              <a:rPr lang="en-IN" dirty="0" smtClean="0"/>
              <a:t> constant which is 2.718</a:t>
            </a:r>
          </a:p>
          <a:p>
            <a:endParaRPr lang="en-IN" dirty="0"/>
          </a:p>
          <a:p>
            <a:r>
              <a:rPr lang="en-IN" dirty="0" smtClean="0"/>
              <a:t>Y is the output or the dependent variable.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68008" y="3984485"/>
                <a:ext cx="1449436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08" y="3984485"/>
                <a:ext cx="1449436" cy="61734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25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474" y="122253"/>
            <a:ext cx="1018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Sigmoid function tries to convert the independent variable into an expression of probability that ranges between 0 and 1 with respect to the dependent variable.</a:t>
            </a:r>
          </a:p>
          <a:p>
            <a:r>
              <a:rPr lang="en-IN" dirty="0" smtClean="0"/>
              <a:t>It will not go below 0 and above 1.</a:t>
            </a:r>
          </a:p>
          <a:p>
            <a:endParaRPr lang="en-IN" dirty="0"/>
          </a:p>
          <a:p>
            <a:r>
              <a:rPr lang="en-IN" dirty="0" smtClean="0"/>
              <a:t>So you can depict the logistic regression as shown below.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98102" y="4931948"/>
            <a:ext cx="1018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As shown </a:t>
            </a:r>
            <a:r>
              <a:rPr lang="en-IN" dirty="0" smtClean="0"/>
              <a:t>above, </a:t>
            </a:r>
            <a:r>
              <a:rPr lang="en-IN" dirty="0" smtClean="0"/>
              <a:t>logistic regression works between 0 and 1.</a:t>
            </a:r>
          </a:p>
          <a:p>
            <a:r>
              <a:rPr lang="en-IN" dirty="0" smtClean="0"/>
              <a:t>We can consider 0.5 as cut off point.</a:t>
            </a:r>
          </a:p>
          <a:p>
            <a:r>
              <a:rPr lang="en-IN" dirty="0" smtClean="0"/>
              <a:t>So there are some points below 0.5 and some points above 0.5.</a:t>
            </a:r>
          </a:p>
          <a:p>
            <a:r>
              <a:rPr lang="en-IN" dirty="0" smtClean="0"/>
              <a:t>Therefore the logistic regression acts as a strong binary classifier.</a:t>
            </a:r>
          </a:p>
          <a:p>
            <a:r>
              <a:rPr lang="en-IN" dirty="0" smtClean="0"/>
              <a:t>It maps the real values of the independent variable in the interval of 0 and 1 </a:t>
            </a:r>
          </a:p>
          <a:p>
            <a:r>
              <a:rPr lang="en-IN" dirty="0" smtClean="0"/>
              <a:t>The points above 0.5 will be considered as Class A and the points below 0.5 will be considered as Class B </a:t>
            </a:r>
          </a:p>
          <a:p>
            <a:r>
              <a:rPr lang="en-IN" dirty="0" smtClean="0"/>
              <a:t>The points that are plotted are the actual output</a:t>
            </a:r>
          </a:p>
          <a:p>
            <a:r>
              <a:rPr lang="en-IN" dirty="0" smtClean="0"/>
              <a:t>So the outputs are classified as belonging to Class A and Class B.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88" y="1599581"/>
            <a:ext cx="4688498" cy="324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1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8" y="218551"/>
            <a:ext cx="5900999" cy="40813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006" y="4549676"/>
            <a:ext cx="1018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As shown </a:t>
            </a:r>
            <a:r>
              <a:rPr lang="en-IN" dirty="0" err="1" smtClean="0"/>
              <a:t>abpve</a:t>
            </a:r>
            <a:r>
              <a:rPr lang="en-IN" dirty="0" smtClean="0"/>
              <a:t>, logistic regression works between 0 and 1.</a:t>
            </a:r>
          </a:p>
          <a:p>
            <a:r>
              <a:rPr lang="en-IN" dirty="0" smtClean="0"/>
              <a:t>We can consider 0.5 as cut off point.</a:t>
            </a:r>
          </a:p>
          <a:p>
            <a:r>
              <a:rPr lang="en-IN" dirty="0" smtClean="0"/>
              <a:t>So there are some points below 0.5 and some points above 0.5.</a:t>
            </a:r>
          </a:p>
          <a:p>
            <a:r>
              <a:rPr lang="en-IN" dirty="0" smtClean="0"/>
              <a:t>Therefore the logistic regression acts as a strong binary classifier.</a:t>
            </a:r>
          </a:p>
          <a:p>
            <a:r>
              <a:rPr lang="en-IN" dirty="0" smtClean="0"/>
              <a:t>It maps the real values of the independent variable in the interval of 0 and 1 </a:t>
            </a:r>
          </a:p>
          <a:p>
            <a:r>
              <a:rPr lang="en-IN" dirty="0" smtClean="0"/>
              <a:t>The points above 0.5 will be considered as Class A and the points below 0.5 will be considered as Class B </a:t>
            </a:r>
          </a:p>
          <a:p>
            <a:r>
              <a:rPr lang="en-IN" dirty="0" smtClean="0"/>
              <a:t>The points that are plotted are the actual output</a:t>
            </a:r>
          </a:p>
          <a:p>
            <a:r>
              <a:rPr lang="en-IN" dirty="0" smtClean="0"/>
              <a:t>So the outputs are classified as belonging to Class A and Class B.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16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295" y="148933"/>
            <a:ext cx="1018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Y axis is always between 0 and 1.</a:t>
            </a:r>
          </a:p>
          <a:p>
            <a:r>
              <a:rPr lang="en-IN" dirty="0" smtClean="0"/>
              <a:t>All the data points will be between 0 and 1.</a:t>
            </a:r>
          </a:p>
          <a:p>
            <a:r>
              <a:rPr lang="en-IN" dirty="0" smtClean="0"/>
              <a:t>0 means no possibility of occurrence</a:t>
            </a:r>
          </a:p>
          <a:p>
            <a:r>
              <a:rPr lang="en-IN" dirty="0" smtClean="0"/>
              <a:t>1 means highest possibility of occurrence.</a:t>
            </a:r>
          </a:p>
          <a:p>
            <a:r>
              <a:rPr lang="en-IN" dirty="0" smtClean="0"/>
              <a:t>So the data points nearer to 1 belong to one class and their possibility is the highest.</a:t>
            </a:r>
          </a:p>
          <a:p>
            <a:r>
              <a:rPr lang="en-IN" dirty="0" smtClean="0"/>
              <a:t>Where as the data points nearer to 0 belong to another class and their probability of occurrence is next to impossible.</a:t>
            </a:r>
          </a:p>
          <a:p>
            <a:r>
              <a:rPr lang="en-IN" dirty="0" smtClean="0"/>
              <a:t>If the data points are located at 0.5, then they are </a:t>
            </a:r>
            <a:r>
              <a:rPr lang="en-IN" dirty="0" err="1" smtClean="0"/>
              <a:t>unclassifieable</a:t>
            </a:r>
            <a:r>
              <a:rPr lang="en-IN" dirty="0" smtClean="0"/>
              <a:t>. But this is rare.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38295" y="2952423"/>
            <a:ext cx="1018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Applications:</a:t>
            </a:r>
          </a:p>
          <a:p>
            <a:endParaRPr lang="en-IN" dirty="0"/>
          </a:p>
          <a:p>
            <a:r>
              <a:rPr lang="en-IN" dirty="0" smtClean="0"/>
              <a:t>Fraud detection</a:t>
            </a:r>
          </a:p>
          <a:p>
            <a:r>
              <a:rPr lang="en-IN" dirty="0" smtClean="0"/>
              <a:t>Disease Diagnosis</a:t>
            </a:r>
          </a:p>
          <a:p>
            <a:r>
              <a:rPr lang="en-IN" dirty="0" smtClean="0"/>
              <a:t>Emergency Detection</a:t>
            </a:r>
          </a:p>
          <a:p>
            <a:r>
              <a:rPr lang="en-IN" dirty="0" smtClean="0"/>
              <a:t>Spam , no spam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92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913" y="3979146"/>
            <a:ext cx="77643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Another example is  Scores by Sachin and whether India has won or lost.</a:t>
            </a:r>
          </a:p>
          <a:p>
            <a:endParaRPr lang="en-IN" dirty="0"/>
          </a:p>
          <a:p>
            <a:r>
              <a:rPr lang="en-IN" dirty="0" smtClean="0"/>
              <a:t>If score by Sachin is plotted against X axis </a:t>
            </a:r>
            <a:r>
              <a:rPr lang="en-IN" dirty="0" smtClean="0"/>
              <a:t>and </a:t>
            </a:r>
            <a:r>
              <a:rPr lang="en-IN" dirty="0" smtClean="0"/>
              <a:t>win/lose against Y axis</a:t>
            </a:r>
          </a:p>
          <a:p>
            <a:endParaRPr lang="en-IN" dirty="0"/>
          </a:p>
          <a:p>
            <a:r>
              <a:rPr lang="en-IN" dirty="0" smtClean="0"/>
              <a:t>The below points may represent scores  10, 40 and 80 and the matches were lost</a:t>
            </a:r>
          </a:p>
          <a:p>
            <a:endParaRPr lang="en-IN" dirty="0"/>
          </a:p>
          <a:p>
            <a:r>
              <a:rPr lang="en-IN" dirty="0" smtClean="0"/>
              <a:t>In the above case, the scores might be 60, 80 and 90 and the matches were won.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13" y="217254"/>
            <a:ext cx="5992742" cy="31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0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790" y="3577212"/>
            <a:ext cx="111436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So if we want to predict if Sachin scores 57, then will the match be won?</a:t>
            </a:r>
          </a:p>
          <a:p>
            <a:endParaRPr lang="en-IN" dirty="0"/>
          </a:p>
          <a:p>
            <a:r>
              <a:rPr lang="en-IN" dirty="0" smtClean="0"/>
              <a:t>For this drawing a regression line will not work or it will not show the relationship between the score and the result of the match.</a:t>
            </a:r>
          </a:p>
          <a:p>
            <a:r>
              <a:rPr lang="en-IN" dirty="0" smtClean="0"/>
              <a:t>Because a Linear Regression Line will not show the Y value as 0(lose) or 1(Win). </a:t>
            </a:r>
          </a:p>
          <a:p>
            <a:r>
              <a:rPr lang="en-IN" dirty="0" smtClean="0"/>
              <a:t>Because it is a straight line and the line may go above 1 or below 0.</a:t>
            </a:r>
          </a:p>
          <a:p>
            <a:r>
              <a:rPr lang="en-IN" dirty="0" smtClean="0"/>
              <a:t>So suppose the score is 140, then the Y value may be 3 or 4.</a:t>
            </a:r>
          </a:p>
          <a:p>
            <a:r>
              <a:rPr lang="en-IN" dirty="0" smtClean="0"/>
              <a:t>But we want the Y value to be either 0 or 1 or maybe in between.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0" y="237351"/>
            <a:ext cx="5992742" cy="31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5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080" y="3205423"/>
            <a:ext cx="111436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Here we are not predicting a value, but we are classifying, whether India will win or lose the match.</a:t>
            </a:r>
          </a:p>
          <a:p>
            <a:r>
              <a:rPr lang="en-IN" dirty="0" smtClean="0"/>
              <a:t>In such cases where we are doing a binary classification, we go for Logistic Regression.</a:t>
            </a:r>
          </a:p>
          <a:p>
            <a:endParaRPr lang="en-IN" dirty="0"/>
          </a:p>
          <a:p>
            <a:r>
              <a:rPr lang="en-IN" dirty="0" smtClean="0"/>
              <a:t>We do not draw a regression line, instead we draw the Regression curve.</a:t>
            </a:r>
          </a:p>
          <a:p>
            <a:r>
              <a:rPr lang="en-IN" dirty="0" smtClean="0"/>
              <a:t>This curve we call it the Sigmoid Curve or the S curve.</a:t>
            </a:r>
          </a:p>
          <a:p>
            <a:endParaRPr lang="en-IN" dirty="0"/>
          </a:p>
          <a:p>
            <a:r>
              <a:rPr lang="en-IN" dirty="0" smtClean="0"/>
              <a:t>There can be any number of data points, but the result will be 1 or 0.</a:t>
            </a:r>
          </a:p>
          <a:p>
            <a:endParaRPr lang="en-IN" dirty="0"/>
          </a:p>
          <a:p>
            <a:r>
              <a:rPr lang="en-IN" dirty="0" smtClean="0"/>
              <a:t>So here we have applied logistic regression and created a Sigmoid curve.</a:t>
            </a:r>
          </a:p>
          <a:p>
            <a:r>
              <a:rPr lang="en-IN" dirty="0" smtClean="0"/>
              <a:t>The Sigmoid curve will tell you the probability of the result Y based on X value.</a:t>
            </a:r>
          </a:p>
          <a:p>
            <a:r>
              <a:rPr lang="en-IN" dirty="0" smtClean="0"/>
              <a:t>That is it will give the winning probability of the match based on the runs scored by Sachin.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24" y="152991"/>
            <a:ext cx="4038706" cy="281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7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080" y="3205423"/>
            <a:ext cx="111436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Here we see that when the runs scored is 20, 30, 40, the </a:t>
            </a:r>
            <a:r>
              <a:rPr lang="en-IN" dirty="0" smtClean="0"/>
              <a:t>probability </a:t>
            </a:r>
            <a:r>
              <a:rPr lang="en-IN" dirty="0" smtClean="0"/>
              <a:t>is that the match will be lost.</a:t>
            </a:r>
          </a:p>
          <a:p>
            <a:endParaRPr lang="en-IN" dirty="0"/>
          </a:p>
          <a:p>
            <a:r>
              <a:rPr lang="en-IN" dirty="0" smtClean="0"/>
              <a:t>When the runs scored is 70, 80, 90, the probability is that the match will be won. </a:t>
            </a:r>
            <a:endParaRPr lang="en-IN" dirty="0"/>
          </a:p>
          <a:p>
            <a:endParaRPr lang="en-IN" dirty="0" smtClean="0"/>
          </a:p>
          <a:p>
            <a:r>
              <a:rPr lang="en-IN" dirty="0" smtClean="0"/>
              <a:t>So as the runs scored increases, the probability of winning the match is more.</a:t>
            </a:r>
          </a:p>
          <a:p>
            <a:endParaRPr lang="en-IN" dirty="0"/>
          </a:p>
          <a:p>
            <a:r>
              <a:rPr lang="en-IN" dirty="0" smtClean="0"/>
              <a:t>The probability </a:t>
            </a:r>
            <a:r>
              <a:rPr lang="en-IN" dirty="0" smtClean="0"/>
              <a:t>of winning </a:t>
            </a:r>
            <a:r>
              <a:rPr lang="en-IN" dirty="0" smtClean="0"/>
              <a:t>will not go above 1 or below 0.</a:t>
            </a:r>
          </a:p>
          <a:p>
            <a:endParaRPr lang="en-IN" dirty="0"/>
          </a:p>
          <a:p>
            <a:r>
              <a:rPr lang="en-IN" dirty="0" smtClean="0"/>
              <a:t>The dependent variable Y will always be categorical.</a:t>
            </a:r>
          </a:p>
          <a:p>
            <a:r>
              <a:rPr lang="en-IN" dirty="0" smtClean="0"/>
              <a:t>So Logistic Regression is used for binary classification.</a:t>
            </a:r>
          </a:p>
          <a:p>
            <a:endParaRPr lang="en-IN" dirty="0" smtClean="0"/>
          </a:p>
          <a:p>
            <a:r>
              <a:rPr lang="en-IN" dirty="0" smtClean="0"/>
              <a:t>Another Example is   Smoking(Yes/No)-------------------</a:t>
            </a:r>
            <a:r>
              <a:rPr lang="en-IN" dirty="0" smtClean="0">
                <a:sym typeface="Wingdings" panose="05000000000000000000" pitchFamily="2" charset="2"/>
              </a:rPr>
              <a:t>Cancer(Yes/No)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80" y="273570"/>
            <a:ext cx="4038706" cy="281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3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3626" y="763675"/>
            <a:ext cx="4679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Formula for the Sigmoid Curve is as follows: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66341" y="1864282"/>
                <a:ext cx="2285562" cy="9089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341" y="1864282"/>
                <a:ext cx="2285562" cy="90896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53626" y="4071258"/>
            <a:ext cx="1037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Here x is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76455" y="1864281"/>
                <a:ext cx="2643672" cy="908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i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455" y="1864281"/>
                <a:ext cx="2643672" cy="90896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119672" y="4071258"/>
                <a:ext cx="6575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672" y="4071258"/>
                <a:ext cx="657551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777223" y="4902870"/>
            <a:ext cx="327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is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37565" y="4856704"/>
                <a:ext cx="6575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565" y="4856704"/>
                <a:ext cx="657551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06026" y="5009104"/>
            <a:ext cx="872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Where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28346" y="4991024"/>
                <a:ext cx="32096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346" y="4991024"/>
                <a:ext cx="3209661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41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1057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44</cp:revision>
  <dcterms:created xsi:type="dcterms:W3CDTF">2021-11-02T17:23:13Z</dcterms:created>
  <dcterms:modified xsi:type="dcterms:W3CDTF">2021-11-08T14:04:17Z</dcterms:modified>
</cp:coreProperties>
</file>