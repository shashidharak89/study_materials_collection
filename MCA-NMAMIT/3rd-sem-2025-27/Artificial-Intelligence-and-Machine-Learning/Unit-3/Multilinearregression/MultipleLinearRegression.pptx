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4" r:id="rId9"/>
    <p:sldId id="265" r:id="rId10"/>
    <p:sldId id="266" r:id="rId11"/>
    <p:sldId id="262" r:id="rId12"/>
    <p:sldId id="267" r:id="rId13"/>
    <p:sldId id="269" r:id="rId14"/>
    <p:sldId id="270" r:id="rId15"/>
    <p:sldId id="271" r:id="rId16"/>
    <p:sldId id="272" r:id="rId17"/>
    <p:sldId id="268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-648" y="-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26460-E806-461F-B359-0C10D6A64FBB}" type="datetimeFigureOut">
              <a:rPr lang="en-IN" smtClean="0"/>
              <a:pPr/>
              <a:t>25-10-2021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B98D-4031-4A25-9D78-4CB8BFA33F4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3434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26460-E806-461F-B359-0C10D6A64FBB}" type="datetimeFigureOut">
              <a:rPr lang="en-IN" smtClean="0"/>
              <a:pPr/>
              <a:t>25-10-2021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B98D-4031-4A25-9D78-4CB8BFA33F4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008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26460-E806-461F-B359-0C10D6A64FBB}" type="datetimeFigureOut">
              <a:rPr lang="en-IN" smtClean="0"/>
              <a:pPr/>
              <a:t>25-10-2021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B98D-4031-4A25-9D78-4CB8BFA33F4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88568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26460-E806-461F-B359-0C10D6A64FBB}" type="datetimeFigureOut">
              <a:rPr lang="en-IN" smtClean="0"/>
              <a:pPr/>
              <a:t>25-10-2021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B98D-4031-4A25-9D78-4CB8BFA33F4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48548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26460-E806-461F-B359-0C10D6A64FBB}" type="datetimeFigureOut">
              <a:rPr lang="en-IN" smtClean="0"/>
              <a:pPr/>
              <a:t>25-10-2021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B98D-4031-4A25-9D78-4CB8BFA33F4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4378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26460-E806-461F-B359-0C10D6A64FBB}" type="datetimeFigureOut">
              <a:rPr lang="en-IN" smtClean="0"/>
              <a:pPr/>
              <a:t>25-10-2021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B98D-4031-4A25-9D78-4CB8BFA33F4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3902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26460-E806-461F-B359-0C10D6A64FBB}" type="datetimeFigureOut">
              <a:rPr lang="en-IN" smtClean="0"/>
              <a:pPr/>
              <a:t>25-10-2021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B98D-4031-4A25-9D78-4CB8BFA33F4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9577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26460-E806-461F-B359-0C10D6A64FBB}" type="datetimeFigureOut">
              <a:rPr lang="en-IN" smtClean="0"/>
              <a:pPr/>
              <a:t>25-10-2021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B98D-4031-4A25-9D78-4CB8BFA33F4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20062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26460-E806-461F-B359-0C10D6A64FBB}" type="datetimeFigureOut">
              <a:rPr lang="en-IN" smtClean="0"/>
              <a:pPr/>
              <a:t>25-10-2021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B98D-4031-4A25-9D78-4CB8BFA33F4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60444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26460-E806-461F-B359-0C10D6A64FBB}" type="datetimeFigureOut">
              <a:rPr lang="en-IN" smtClean="0"/>
              <a:pPr/>
              <a:t>25-10-2021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B98D-4031-4A25-9D78-4CB8BFA33F4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25310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26460-E806-461F-B359-0C10D6A64FBB}" type="datetimeFigureOut">
              <a:rPr lang="en-IN" smtClean="0"/>
              <a:pPr/>
              <a:t>25-10-2021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B98D-4031-4A25-9D78-4CB8BFA33F4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0958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26460-E806-461F-B359-0C10D6A64FBB}" type="datetimeFigureOut">
              <a:rPr lang="en-IN" smtClean="0"/>
              <a:pPr/>
              <a:t>25-10-2021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3B98D-4031-4A25-9D78-4CB8BFA33F4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4062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MULTIPLE LINEAR REGRESSION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227128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4690" y="241160"/>
            <a:ext cx="80057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Predict the value of Y given X1 and X2</a:t>
            </a:r>
            <a:endParaRPr lang="en-IN" sz="4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65995178"/>
              </p:ext>
            </p:extLst>
          </p:nvPr>
        </p:nvGraphicFramePr>
        <p:xfrm>
          <a:off x="1024930" y="1467056"/>
          <a:ext cx="8309988" cy="4521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7497"/>
                <a:gridCol w="2077497"/>
                <a:gridCol w="2077497"/>
                <a:gridCol w="2077497"/>
              </a:tblGrid>
              <a:tr h="645966"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b="1" u="none" strike="noStrike" dirty="0">
                          <a:effectLst/>
                        </a:rPr>
                        <a:t>SUBJECT</a:t>
                      </a:r>
                      <a:endParaRPr lang="en-IN" sz="3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b="1" u="none" strike="noStrike" dirty="0">
                          <a:effectLst/>
                        </a:rPr>
                        <a:t>Y</a:t>
                      </a:r>
                      <a:endParaRPr lang="en-IN" sz="3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b="1" u="none" strike="noStrike" dirty="0">
                          <a:effectLst/>
                        </a:rPr>
                        <a:t>X1</a:t>
                      </a:r>
                      <a:endParaRPr lang="en-IN" sz="3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b="1" u="none" strike="noStrike" dirty="0">
                          <a:effectLst/>
                        </a:rPr>
                        <a:t>X2</a:t>
                      </a:r>
                      <a:endParaRPr lang="en-IN" sz="3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00B0F0"/>
                    </a:solidFill>
                  </a:tcPr>
                </a:tc>
              </a:tr>
              <a:tr h="645966"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1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-3.7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3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 dirty="0">
                          <a:effectLst/>
                        </a:rPr>
                        <a:t>8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645966"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2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3.5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4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 dirty="0">
                          <a:effectLst/>
                        </a:rPr>
                        <a:t>5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645966"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3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2.5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5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 dirty="0">
                          <a:effectLst/>
                        </a:rPr>
                        <a:t>7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645966"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4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11.5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6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 dirty="0">
                          <a:effectLst/>
                        </a:rPr>
                        <a:t>3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645966"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5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5.7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>
                          <a:effectLst/>
                        </a:rPr>
                        <a:t>2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u="none" strike="noStrike" dirty="0">
                          <a:effectLst/>
                        </a:rPr>
                        <a:t>1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645966"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</a:t>
                      </a:r>
                      <a:endParaRPr lang="en-IN" sz="3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en-IN" sz="3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IN" sz="3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IN" sz="3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2453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4690" y="241160"/>
            <a:ext cx="6664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The Multiple Regression Model</a:t>
            </a:r>
            <a:endParaRPr lang="en-IN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974690" y="1296237"/>
            <a:ext cx="96271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 smtClean="0"/>
              <a:t>Multiple Regression Model with k Independent Variables</a:t>
            </a:r>
            <a:endParaRPr lang="en-IN" sz="32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TextBox 6"/>
              <p:cNvSpPr txBox="1"/>
              <p:nvPr/>
            </p:nvSpPr>
            <p:spPr>
              <a:xfrm>
                <a:off x="249363" y="3781609"/>
                <a:ext cx="1151347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5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5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sz="5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5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5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5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5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5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IN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5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sz="5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IN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5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5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54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sz="11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63" y="3781609"/>
                <a:ext cx="11513473" cy="830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356527" y="3081608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 smtClean="0"/>
              <a:t>Y intercept</a:t>
            </a:r>
            <a:endParaRPr lang="en-IN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5345723" y="2496833"/>
            <a:ext cx="3135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 smtClean="0"/>
              <a:t>Population slopes</a:t>
            </a:r>
            <a:endParaRPr lang="en-IN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63395" y="2912330"/>
            <a:ext cx="1928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Random Error</a:t>
            </a:r>
            <a:endParaRPr lang="en-IN" sz="2400" dirty="0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3344572" y="3094892"/>
            <a:ext cx="2845213" cy="854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5707464" y="3081608"/>
            <a:ext cx="653143" cy="867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6439781" y="3074892"/>
            <a:ext cx="2895138" cy="8741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11455121" y="3295859"/>
            <a:ext cx="50242" cy="793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899138" y="3516923"/>
            <a:ext cx="140677" cy="432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4995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4690" y="241160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3868615" y="1738365"/>
                <a:ext cx="37514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615" y="1738365"/>
                <a:ext cx="3751412" cy="4924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/>
              <p:cNvSpPr txBox="1"/>
              <p:nvPr/>
            </p:nvSpPr>
            <p:spPr>
              <a:xfrm>
                <a:off x="2964263" y="2843684"/>
                <a:ext cx="5842753" cy="1351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sSubSup>
                                    <m:sSubSupPr>
                                      <m:ctrlP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d>
                                <m:d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sSub>
                                    <m:sSubPr>
                                      <m:ctrlP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IN" sz="28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sSub>
                                    <m:sSubPr>
                                      <m:ctrlP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sSubSup>
                                    <m:sSubSupPr>
                                      <m:ctrlP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d>
                                <m:d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sSubSup>
                                    <m:sSubSupPr>
                                      <m:ctrlP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∑</m:t>
                                      </m:r>
                                      <m:sSub>
                                        <m:sSubPr>
                                          <m:ctrlP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263" y="2843684"/>
                <a:ext cx="5842753" cy="135165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51162" y="4712676"/>
            <a:ext cx="5795889" cy="11394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962019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3669" y="283363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47778" y="1139484"/>
            <a:ext cx="6302325" cy="914399"/>
          </a:xfrm>
          <a:prstGeom prst="rect">
            <a:avLst/>
          </a:prstGeom>
          <a:noFill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74387" y="2124223"/>
            <a:ext cx="6316394" cy="1012873"/>
          </a:xfrm>
          <a:prstGeom prst="rect">
            <a:avLst/>
          </a:prstGeom>
          <a:noFill/>
        </p:spPr>
      </p:pic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46252" y="3277775"/>
            <a:ext cx="6344530" cy="998804"/>
          </a:xfrm>
          <a:prstGeom prst="rect">
            <a:avLst/>
          </a:prstGeom>
          <a:noFill/>
        </p:spPr>
      </p:pic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32185" y="4417257"/>
            <a:ext cx="6302325" cy="942536"/>
          </a:xfrm>
          <a:prstGeom prst="rect">
            <a:avLst/>
          </a:prstGeom>
          <a:noFill/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60320" y="5598944"/>
            <a:ext cx="6288258" cy="9566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77859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3669" y="283363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2239" y="1862910"/>
          <a:ext cx="8817514" cy="2771461"/>
        </p:xfrm>
        <a:graphic>
          <a:graphicData uri="http://schemas.openxmlformats.org/drawingml/2006/table">
            <a:tbl>
              <a:tblPr/>
              <a:tblGrid>
                <a:gridCol w="1274377"/>
                <a:gridCol w="1057932"/>
                <a:gridCol w="745587"/>
                <a:gridCol w="748919"/>
                <a:gridCol w="1042338"/>
                <a:gridCol w="1060753"/>
                <a:gridCol w="1051546"/>
                <a:gridCol w="918031"/>
                <a:gridCol w="918031"/>
              </a:tblGrid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Calibri"/>
                        </a:rPr>
                        <a:t>SUBJECT</a:t>
                      </a:r>
                      <a:endParaRPr lang="en-US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Calibri"/>
                        </a:rPr>
                        <a:t>Y</a:t>
                      </a:r>
                      <a:endParaRPr lang="en-US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24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en-US" sz="24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-3.7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64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-11.1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-29.6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3.5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17.5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49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35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12.5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17.5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11.5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69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34.5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5.7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11.4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5.7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∑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19.5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90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148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99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95.8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45.6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160338" cy="206375"/>
          </a:xfrm>
          <a:prstGeom prst="rect">
            <a:avLst/>
          </a:prstGeom>
          <a:noFill/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160338" cy="206375"/>
          </a:xfrm>
          <a:prstGeom prst="rect">
            <a:avLst/>
          </a:prstGeom>
          <a:noFill/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312738" cy="206375"/>
          </a:xfrm>
          <a:prstGeom prst="rect">
            <a:avLst/>
          </a:prstGeom>
          <a:noFill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320675" cy="206375"/>
          </a:xfrm>
          <a:prstGeom prst="rect">
            <a:avLst/>
          </a:prstGeom>
          <a:noFill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320675" cy="206375"/>
          </a:xfrm>
          <a:prstGeom prst="rect">
            <a:avLst/>
          </a:prstGeom>
          <a:noFill/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50825" cy="206375"/>
          </a:xfrm>
          <a:prstGeom prst="rect">
            <a:avLst/>
          </a:prstGeom>
          <a:noFill/>
        </p:spPr>
      </p:pic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58763" cy="2063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3669" y="283363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47778" y="1139484"/>
            <a:ext cx="6302325" cy="914399"/>
          </a:xfrm>
          <a:prstGeom prst="rect">
            <a:avLst/>
          </a:prstGeom>
          <a:noFill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74387" y="2124223"/>
            <a:ext cx="6316394" cy="1012873"/>
          </a:xfrm>
          <a:prstGeom prst="rect">
            <a:avLst/>
          </a:prstGeom>
          <a:noFill/>
        </p:spPr>
      </p:pic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46252" y="3277775"/>
            <a:ext cx="6344530" cy="998804"/>
          </a:xfrm>
          <a:prstGeom prst="rect">
            <a:avLst/>
          </a:prstGeom>
          <a:noFill/>
        </p:spPr>
      </p:pic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32185" y="4417257"/>
            <a:ext cx="6302325" cy="942536"/>
          </a:xfrm>
          <a:prstGeom prst="rect">
            <a:avLst/>
          </a:prstGeom>
          <a:noFill/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60320" y="5598944"/>
            <a:ext cx="6288258" cy="9566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77859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3669" y="283363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2239" y="1862910"/>
          <a:ext cx="8817514" cy="2944368"/>
        </p:xfrm>
        <a:graphic>
          <a:graphicData uri="http://schemas.openxmlformats.org/drawingml/2006/table">
            <a:tbl>
              <a:tblPr/>
              <a:tblGrid>
                <a:gridCol w="1274377"/>
                <a:gridCol w="1057932"/>
                <a:gridCol w="745587"/>
                <a:gridCol w="748919"/>
                <a:gridCol w="1042338"/>
                <a:gridCol w="1060753"/>
                <a:gridCol w="1051546"/>
                <a:gridCol w="918031"/>
                <a:gridCol w="918031"/>
              </a:tblGrid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Calibri"/>
                        </a:rPr>
                        <a:t>SUBJECT</a:t>
                      </a:r>
                      <a:endParaRPr lang="en-US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Calibri"/>
                        </a:rPr>
                        <a:t>Y</a:t>
                      </a:r>
                      <a:endParaRPr lang="en-US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24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en-US" sz="24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-3.7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64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-11.1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-29.6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3.5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17.5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49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35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12.5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17.5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11.5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69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34.5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5.7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11.4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5.7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∑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19.5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90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148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99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95.8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45.6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160338" cy="206375"/>
          </a:xfrm>
          <a:prstGeom prst="rect">
            <a:avLst/>
          </a:prstGeom>
          <a:noFill/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160338" cy="206375"/>
          </a:xfrm>
          <a:prstGeom prst="rect">
            <a:avLst/>
          </a:prstGeom>
          <a:noFill/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312738" cy="206375"/>
          </a:xfrm>
          <a:prstGeom prst="rect">
            <a:avLst/>
          </a:prstGeom>
          <a:noFill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320675" cy="206375"/>
          </a:xfrm>
          <a:prstGeom prst="rect">
            <a:avLst/>
          </a:prstGeom>
          <a:noFill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320675" cy="206375"/>
          </a:xfrm>
          <a:prstGeom prst="rect">
            <a:avLst/>
          </a:prstGeom>
          <a:noFill/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50825" cy="206375"/>
          </a:xfrm>
          <a:prstGeom prst="rect">
            <a:avLst/>
          </a:prstGeom>
          <a:noFill/>
        </p:spPr>
      </p:pic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58763" cy="2063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3669" y="283363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47778" y="1139484"/>
            <a:ext cx="6302325" cy="914399"/>
          </a:xfrm>
          <a:prstGeom prst="rect">
            <a:avLst/>
          </a:prstGeom>
          <a:noFill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74387" y="2124223"/>
            <a:ext cx="6316394" cy="1012873"/>
          </a:xfrm>
          <a:prstGeom prst="rect">
            <a:avLst/>
          </a:prstGeom>
          <a:noFill/>
        </p:spPr>
      </p:pic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46252" y="3277775"/>
            <a:ext cx="6344530" cy="998804"/>
          </a:xfrm>
          <a:prstGeom prst="rect">
            <a:avLst/>
          </a:prstGeom>
          <a:noFill/>
        </p:spPr>
      </p:pic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32185" y="4417257"/>
            <a:ext cx="6302325" cy="942536"/>
          </a:xfrm>
          <a:prstGeom prst="rect">
            <a:avLst/>
          </a:prstGeom>
          <a:noFill/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60320" y="5598944"/>
            <a:ext cx="6288258" cy="9566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77859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3669" y="283363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2239" y="1862910"/>
          <a:ext cx="8817514" cy="2944368"/>
        </p:xfrm>
        <a:graphic>
          <a:graphicData uri="http://schemas.openxmlformats.org/drawingml/2006/table">
            <a:tbl>
              <a:tblPr/>
              <a:tblGrid>
                <a:gridCol w="1274377"/>
                <a:gridCol w="1057932"/>
                <a:gridCol w="745587"/>
                <a:gridCol w="748919"/>
                <a:gridCol w="1042338"/>
                <a:gridCol w="1060753"/>
                <a:gridCol w="1051546"/>
                <a:gridCol w="918031"/>
                <a:gridCol w="918031"/>
              </a:tblGrid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Calibri"/>
                        </a:rPr>
                        <a:t>SUBJECT</a:t>
                      </a:r>
                      <a:endParaRPr lang="en-US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Calibri"/>
                        </a:rPr>
                        <a:t>Y</a:t>
                      </a:r>
                      <a:endParaRPr lang="en-US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24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en-US" sz="24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-3.7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64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-11.1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-29.6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3.5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17.5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49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35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12.5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17.5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11.5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69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34.5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5.7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11.4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5.7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∑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19.5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90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148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99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95.8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45.6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160338" cy="206375"/>
          </a:xfrm>
          <a:prstGeom prst="rect">
            <a:avLst/>
          </a:prstGeom>
          <a:noFill/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160338" cy="206375"/>
          </a:xfrm>
          <a:prstGeom prst="rect">
            <a:avLst/>
          </a:prstGeom>
          <a:noFill/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312738" cy="206375"/>
          </a:xfrm>
          <a:prstGeom prst="rect">
            <a:avLst/>
          </a:prstGeom>
          <a:noFill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320675" cy="206375"/>
          </a:xfrm>
          <a:prstGeom prst="rect">
            <a:avLst/>
          </a:prstGeom>
          <a:noFill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320675" cy="206375"/>
          </a:xfrm>
          <a:prstGeom prst="rect">
            <a:avLst/>
          </a:prstGeom>
          <a:noFill/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50825" cy="206375"/>
          </a:xfrm>
          <a:prstGeom prst="rect">
            <a:avLst/>
          </a:prstGeom>
          <a:noFill/>
        </p:spPr>
      </p:pic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58763" cy="2063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553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18450" y="1561514"/>
            <a:ext cx="4084638" cy="701675"/>
          </a:xfrm>
          <a:prstGeom prst="rect">
            <a:avLst/>
          </a:prstGeom>
          <a:noFill/>
        </p:spPr>
      </p:pic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04382" y="2658794"/>
            <a:ext cx="4321175" cy="701675"/>
          </a:xfrm>
          <a:prstGeom prst="rect">
            <a:avLst/>
          </a:prstGeom>
          <a:noFill/>
        </p:spPr>
      </p:pic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90314" y="3699802"/>
            <a:ext cx="4198938" cy="701675"/>
          </a:xfrm>
          <a:prstGeom prst="rect">
            <a:avLst/>
          </a:prstGeom>
          <a:noFill/>
        </p:spPr>
      </p:pic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76247" y="4712676"/>
            <a:ext cx="4213225" cy="701675"/>
          </a:xfrm>
          <a:prstGeom prst="rect">
            <a:avLst/>
          </a:prstGeom>
          <a:noFill/>
        </p:spPr>
      </p:pic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561" name="Picture 9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48112" y="5641144"/>
            <a:ext cx="4191000" cy="701675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1593669" y="0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3669" y="0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9993" y="1244990"/>
            <a:ext cx="9903655" cy="1146518"/>
          </a:xfrm>
          <a:prstGeom prst="rect">
            <a:avLst/>
          </a:prstGeom>
          <a:noFill/>
        </p:spPr>
      </p:pic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0" y="89217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87" name="Picture 1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08295" y="2940147"/>
            <a:ext cx="9383151" cy="1041010"/>
          </a:xfrm>
          <a:prstGeom prst="rect">
            <a:avLst/>
          </a:prstGeom>
          <a:noFill/>
        </p:spPr>
      </p:pic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0" y="89217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90" name="Picture 1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14732" y="4480560"/>
            <a:ext cx="8581293" cy="977705"/>
          </a:xfrm>
          <a:prstGeom prst="rect">
            <a:avLst/>
          </a:prstGeom>
          <a:noFill/>
        </p:spPr>
      </p:pic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0" y="830263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553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18450" y="1561514"/>
            <a:ext cx="4084638" cy="701675"/>
          </a:xfrm>
          <a:prstGeom prst="rect">
            <a:avLst/>
          </a:prstGeom>
          <a:noFill/>
        </p:spPr>
      </p:pic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04382" y="2658794"/>
            <a:ext cx="4321175" cy="701675"/>
          </a:xfrm>
          <a:prstGeom prst="rect">
            <a:avLst/>
          </a:prstGeom>
          <a:noFill/>
        </p:spPr>
      </p:pic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90314" y="3699802"/>
            <a:ext cx="4198938" cy="701675"/>
          </a:xfrm>
          <a:prstGeom prst="rect">
            <a:avLst/>
          </a:prstGeom>
          <a:noFill/>
        </p:spPr>
      </p:pic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76247" y="4712676"/>
            <a:ext cx="4213225" cy="701675"/>
          </a:xfrm>
          <a:prstGeom prst="rect">
            <a:avLst/>
          </a:prstGeom>
          <a:noFill/>
        </p:spPr>
      </p:pic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561" name="Picture 9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48112" y="5641144"/>
            <a:ext cx="4191000" cy="701675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1593669" y="0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3669" y="0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9993" y="1244990"/>
            <a:ext cx="9903655" cy="1146518"/>
          </a:xfrm>
          <a:prstGeom prst="rect">
            <a:avLst/>
          </a:prstGeom>
          <a:noFill/>
        </p:spPr>
      </p:pic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0" y="89217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87" name="Picture 1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08295" y="2940147"/>
            <a:ext cx="9383151" cy="1041010"/>
          </a:xfrm>
          <a:prstGeom prst="rect">
            <a:avLst/>
          </a:prstGeom>
          <a:noFill/>
        </p:spPr>
      </p:pic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0" y="89217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90" name="Picture 1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14732" y="4480560"/>
            <a:ext cx="8581293" cy="977705"/>
          </a:xfrm>
          <a:prstGeom prst="rect">
            <a:avLst/>
          </a:prstGeom>
          <a:noFill/>
        </p:spPr>
      </p:pic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0" y="830263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3669" y="283363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2239" y="1862910"/>
          <a:ext cx="8817514" cy="2944368"/>
        </p:xfrm>
        <a:graphic>
          <a:graphicData uri="http://schemas.openxmlformats.org/drawingml/2006/table">
            <a:tbl>
              <a:tblPr/>
              <a:tblGrid>
                <a:gridCol w="1274377"/>
                <a:gridCol w="1057932"/>
                <a:gridCol w="745587"/>
                <a:gridCol w="748919"/>
                <a:gridCol w="1042338"/>
                <a:gridCol w="1060753"/>
                <a:gridCol w="1051546"/>
                <a:gridCol w="918031"/>
                <a:gridCol w="918031"/>
              </a:tblGrid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Calibri"/>
                        </a:rPr>
                        <a:t>SUBJECT</a:t>
                      </a:r>
                      <a:endParaRPr lang="en-US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Calibri"/>
                        </a:rPr>
                        <a:t>Y</a:t>
                      </a:r>
                      <a:endParaRPr lang="en-US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24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en-US" sz="24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4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en-US" sz="24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-3.7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64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-11.1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-29.6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3.5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17.5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49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35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12.5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17.5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11.5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69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34.5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5.7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11.4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</a:rPr>
                        <a:t>5.7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∑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19.5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90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148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99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95.8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45.6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160338" cy="206375"/>
          </a:xfrm>
          <a:prstGeom prst="rect">
            <a:avLst/>
          </a:prstGeom>
          <a:noFill/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160338" cy="206375"/>
          </a:xfrm>
          <a:prstGeom prst="rect">
            <a:avLst/>
          </a:prstGeom>
          <a:noFill/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312738" cy="206375"/>
          </a:xfrm>
          <a:prstGeom prst="rect">
            <a:avLst/>
          </a:prstGeom>
          <a:noFill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320675" cy="206375"/>
          </a:xfrm>
          <a:prstGeom prst="rect">
            <a:avLst/>
          </a:prstGeom>
          <a:noFill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320675" cy="206375"/>
          </a:xfrm>
          <a:prstGeom prst="rect">
            <a:avLst/>
          </a:prstGeom>
          <a:noFill/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50825" cy="206375"/>
          </a:xfrm>
          <a:prstGeom prst="rect">
            <a:avLst/>
          </a:prstGeom>
          <a:noFill/>
        </p:spPr>
      </p:pic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58763" cy="2063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3669" y="0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9993" y="1244990"/>
            <a:ext cx="9903655" cy="1146518"/>
          </a:xfrm>
          <a:prstGeom prst="rect">
            <a:avLst/>
          </a:prstGeom>
          <a:noFill/>
        </p:spPr>
      </p:pic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0" y="89217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87" name="Picture 1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08295" y="2940147"/>
            <a:ext cx="9383151" cy="1041010"/>
          </a:xfrm>
          <a:prstGeom prst="rect">
            <a:avLst/>
          </a:prstGeom>
          <a:noFill/>
        </p:spPr>
      </p:pic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0" y="89217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90" name="Picture 1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14732" y="4480560"/>
            <a:ext cx="8581293" cy="977705"/>
          </a:xfrm>
          <a:prstGeom prst="rect">
            <a:avLst/>
          </a:prstGeom>
          <a:noFill/>
        </p:spPr>
      </p:pic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0" y="830263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3669" y="0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1350498" y="2124222"/>
            <a:ext cx="8539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Final Regression equation or Model is:</a:t>
            </a:r>
            <a:endParaRPr lang="en-US" sz="3200" b="1" dirty="0"/>
          </a:p>
        </p:txBody>
      </p:sp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1336431" y="3601330"/>
            <a:ext cx="698537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Now given    x</a:t>
            </a:r>
            <a:r>
              <a:rPr kumimoji="0" lang="en-US" sz="32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1 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=3      and      x</a:t>
            </a:r>
            <a:r>
              <a:rPr kumimoji="0" lang="en-US" sz="32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2 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=2        Y=?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8634" y="5022166"/>
            <a:ext cx="454162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Y = 2.796 + 2.28 * 3 – 1.67 * 2</a:t>
            </a:r>
          </a:p>
          <a:p>
            <a:r>
              <a:rPr lang="en-US" sz="2800" dirty="0" smtClean="0"/>
              <a:t> </a:t>
            </a:r>
            <a:r>
              <a:rPr lang="en-US" sz="2800" dirty="0" smtClean="0"/>
              <a:t>  </a:t>
            </a:r>
          </a:p>
          <a:p>
            <a:r>
              <a:rPr lang="en-US" sz="2800" dirty="0" smtClean="0"/>
              <a:t> </a:t>
            </a:r>
            <a:r>
              <a:rPr lang="en-US" sz="2800" dirty="0" smtClean="0"/>
              <a:t>  = </a:t>
            </a:r>
            <a:r>
              <a:rPr lang="en-US" sz="2800" b="1" dirty="0" smtClean="0"/>
              <a:t>6.296   </a:t>
            </a:r>
            <a:r>
              <a:rPr lang="en-US" sz="2800" dirty="0" smtClean="0"/>
              <a:t>               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3669" y="0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9993" y="1244990"/>
            <a:ext cx="9903655" cy="1146518"/>
          </a:xfrm>
          <a:prstGeom prst="rect">
            <a:avLst/>
          </a:prstGeom>
          <a:noFill/>
        </p:spPr>
      </p:pic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0" y="89217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87" name="Picture 1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08295" y="2940147"/>
            <a:ext cx="9383151" cy="1041010"/>
          </a:xfrm>
          <a:prstGeom prst="rect">
            <a:avLst/>
          </a:prstGeom>
          <a:noFill/>
        </p:spPr>
      </p:pic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0" y="89217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90" name="Picture 1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14732" y="4480560"/>
            <a:ext cx="8581293" cy="977705"/>
          </a:xfrm>
          <a:prstGeom prst="rect">
            <a:avLst/>
          </a:prstGeom>
          <a:noFill/>
        </p:spPr>
      </p:pic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0" y="830263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3669" y="0"/>
            <a:ext cx="8809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/>
              <a:t>Linear Regression 2 Independent Variable</a:t>
            </a:r>
            <a:endParaRPr lang="en-IN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1350498" y="2124222"/>
            <a:ext cx="8539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Final Regression equation or Model is:</a:t>
            </a:r>
            <a:endParaRPr lang="en-US" sz="3200" b="1" dirty="0"/>
          </a:p>
        </p:txBody>
      </p:sp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1336431" y="3601330"/>
            <a:ext cx="698537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Now given    x</a:t>
            </a:r>
            <a:r>
              <a:rPr kumimoji="0" lang="en-US" sz="32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1 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=3      and      x</a:t>
            </a:r>
            <a:r>
              <a:rPr kumimoji="0" lang="en-US" sz="32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2 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=2        Y=?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8634" y="5022166"/>
            <a:ext cx="454162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Y = 2.796 + 2.28 * 3 – 1.67 * 2</a:t>
            </a:r>
          </a:p>
          <a:p>
            <a:r>
              <a:rPr lang="en-US" sz="2800" dirty="0" smtClean="0"/>
              <a:t> </a:t>
            </a:r>
            <a:r>
              <a:rPr lang="en-US" sz="2800" dirty="0" smtClean="0"/>
              <a:t>  </a:t>
            </a:r>
          </a:p>
          <a:p>
            <a:r>
              <a:rPr lang="en-US" sz="2800" dirty="0" smtClean="0"/>
              <a:t> </a:t>
            </a:r>
            <a:r>
              <a:rPr lang="en-US" sz="2800" dirty="0" smtClean="0"/>
              <a:t>  = </a:t>
            </a:r>
            <a:r>
              <a:rPr lang="en-US" sz="2800" b="1" dirty="0" smtClean="0"/>
              <a:t>6.296   </a:t>
            </a:r>
            <a:r>
              <a:rPr lang="en-US" sz="2800" dirty="0" smtClean="0"/>
              <a:t>               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488</Words>
  <Application>Microsoft Office PowerPoint</Application>
  <PresentationFormat>Custom</PresentationFormat>
  <Paragraphs>316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MULTIPLE LINEAR REGRESSION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</dc:creator>
  <cp:lastModifiedBy>CFEE</cp:lastModifiedBy>
  <cp:revision>36</cp:revision>
  <dcterms:created xsi:type="dcterms:W3CDTF">2021-10-24T14:45:20Z</dcterms:created>
  <dcterms:modified xsi:type="dcterms:W3CDTF">2021-10-25T08:05:53Z</dcterms:modified>
</cp:coreProperties>
</file>