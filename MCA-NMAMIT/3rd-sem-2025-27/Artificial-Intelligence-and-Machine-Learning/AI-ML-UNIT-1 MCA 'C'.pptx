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9" r:id="rId37"/>
    <p:sldId id="300" r:id="rId38"/>
    <p:sldId id="301" r:id="rId39"/>
    <p:sldId id="302" r:id="rId40"/>
    <p:sldId id="306" r:id="rId41"/>
    <p:sldId id="307" r:id="rId42"/>
    <p:sldId id="308" r:id="rId43"/>
    <p:sldId id="309" r:id="rId44"/>
    <p:sldId id="310" r:id="rId45"/>
    <p:sldId id="311" r:id="rId46"/>
    <p:sldId id="312"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9/4/2026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9/4/2026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9/4/2026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889770"/>
            <a:ext cx="8825658" cy="2677648"/>
          </a:xfrm>
        </p:spPr>
        <p:txBody>
          <a:bodyPr/>
          <a:lstStyle/>
          <a:p>
            <a:r>
              <a:rPr lang="en-US" dirty="0"/>
              <a:t>ARTIFICIAL INTELLIGENCE AND MACHINE LEARNING </a:t>
            </a:r>
            <a:r>
              <a:rPr lang="en-US" dirty="0" smtClean="0"/>
              <a:t/>
            </a:r>
            <a:br>
              <a:rPr lang="en-US" dirty="0" smtClean="0"/>
            </a:br>
            <a:r>
              <a:rPr lang="en-US" dirty="0"/>
              <a:t> </a:t>
            </a:r>
            <a:r>
              <a:rPr lang="en-US" dirty="0" smtClean="0"/>
              <a:t>               </a:t>
            </a:r>
            <a:r>
              <a:rPr lang="en-US" sz="3200" dirty="0" smtClean="0"/>
              <a:t>UNIT -  1</a:t>
            </a:r>
            <a:endParaRPr lang="en-IN" sz="3200" dirty="0"/>
          </a:p>
        </p:txBody>
      </p:sp>
      <p:sp>
        <p:nvSpPr>
          <p:cNvPr id="3" name="Subtitle 2"/>
          <p:cNvSpPr>
            <a:spLocks noGrp="1"/>
          </p:cNvSpPr>
          <p:nvPr>
            <p:ph type="subTitle" idx="1"/>
          </p:nvPr>
        </p:nvSpPr>
        <p:spPr>
          <a:xfrm>
            <a:off x="951755" y="4398688"/>
            <a:ext cx="9984100" cy="1004584"/>
          </a:xfrm>
        </p:spPr>
        <p:txBody>
          <a:bodyPr>
            <a:noAutofit/>
          </a:bodyPr>
          <a:lstStyle/>
          <a:p>
            <a:pPr lvl="1"/>
            <a:r>
              <a:rPr lang="en-US" sz="1800" dirty="0" smtClean="0"/>
              <a:t>                                                                                            </a:t>
            </a:r>
            <a:r>
              <a:rPr lang="en-US" sz="1800" dirty="0" smtClean="0">
                <a:solidFill>
                  <a:schemeClr val="bg1"/>
                </a:solidFill>
              </a:rPr>
              <a:t>Shreya J Shetty</a:t>
            </a:r>
          </a:p>
          <a:p>
            <a:pPr lvl="1"/>
            <a:r>
              <a:rPr lang="en-US" sz="1800" dirty="0" smtClean="0">
                <a:solidFill>
                  <a:schemeClr val="bg1"/>
                </a:solidFill>
              </a:rPr>
              <a:t>                                                                                                         Assistant </a:t>
            </a:r>
            <a:r>
              <a:rPr lang="en-US" sz="1800" dirty="0">
                <a:solidFill>
                  <a:schemeClr val="bg1"/>
                </a:solidFill>
              </a:rPr>
              <a:t>P</a:t>
            </a:r>
            <a:r>
              <a:rPr lang="en-US" sz="1800" dirty="0" smtClean="0">
                <a:solidFill>
                  <a:schemeClr val="bg1"/>
                </a:solidFill>
              </a:rPr>
              <a:t>rofessor </a:t>
            </a:r>
            <a:r>
              <a:rPr lang="en-US" sz="1800" dirty="0" err="1">
                <a:solidFill>
                  <a:schemeClr val="bg1"/>
                </a:solidFill>
              </a:rPr>
              <a:t>G</a:t>
            </a:r>
            <a:r>
              <a:rPr lang="en-US" sz="1800" dirty="0" err="1" smtClean="0">
                <a:solidFill>
                  <a:schemeClr val="bg1"/>
                </a:solidFill>
              </a:rPr>
              <a:t>d</a:t>
            </a:r>
            <a:r>
              <a:rPr lang="en-US" sz="1800" dirty="0" smtClean="0">
                <a:solidFill>
                  <a:schemeClr val="bg1"/>
                </a:solidFill>
              </a:rPr>
              <a:t>-I</a:t>
            </a:r>
          </a:p>
          <a:p>
            <a:pPr lvl="1"/>
            <a:r>
              <a:rPr lang="en-US" sz="1800" dirty="0" smtClean="0">
                <a:solidFill>
                  <a:schemeClr val="bg1"/>
                </a:solidFill>
              </a:rPr>
              <a:t>                                                                                                 MCA Department </a:t>
            </a:r>
          </a:p>
          <a:p>
            <a:pPr lvl="1"/>
            <a:r>
              <a:rPr lang="en-US" sz="1800" dirty="0" smtClean="0">
                <a:solidFill>
                  <a:schemeClr val="bg1"/>
                </a:solidFill>
              </a:rPr>
              <a:t>                                                                                         </a:t>
            </a:r>
            <a:r>
              <a:rPr lang="en-US" sz="1800" dirty="0" err="1" smtClean="0">
                <a:solidFill>
                  <a:schemeClr val="bg1"/>
                </a:solidFill>
              </a:rPr>
              <a:t>NMAMIT,Nitte</a:t>
            </a:r>
            <a:endParaRPr lang="en-IN" sz="1800" dirty="0">
              <a:solidFill>
                <a:schemeClr val="bg1"/>
              </a:solidFill>
            </a:endParaRPr>
          </a:p>
        </p:txBody>
      </p:sp>
    </p:spTree>
    <p:extLst>
      <p:ext uri="{BB962C8B-B14F-4D97-AF65-F5344CB8AC3E}">
        <p14:creationId xmlns:p14="http://schemas.microsoft.com/office/powerpoint/2010/main" val="1534913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Artificial Intelligence?</a:t>
            </a:r>
          </a:p>
        </p:txBody>
      </p:sp>
      <p:sp>
        <p:nvSpPr>
          <p:cNvPr id="3" name="Content Placeholder 2"/>
          <p:cNvSpPr>
            <a:spLocks noGrp="1"/>
          </p:cNvSpPr>
          <p:nvPr>
            <p:ph idx="1"/>
          </p:nvPr>
        </p:nvSpPr>
        <p:spPr>
          <a:xfrm>
            <a:off x="628073" y="2281383"/>
            <a:ext cx="11249891" cy="5200072"/>
          </a:xfrm>
        </p:spPr>
        <p:txBody>
          <a:bodyPr>
            <a:normAutofit/>
          </a:bodyPr>
          <a:lstStyle/>
          <a:p>
            <a:r>
              <a:rPr lang="en-US" sz="2000" dirty="0"/>
              <a:t>Artificial Intelligence (AI) is a way of making a computer, a computer-controlled robot, or software think intelligently, similar to the way intelligent humans think.</a:t>
            </a:r>
          </a:p>
          <a:p>
            <a:r>
              <a:rPr lang="en-US" sz="2000" dirty="0"/>
              <a:t>AI is accomplished by studying how the human brain thinks and how humans learn, decide, work, and solve problems.</a:t>
            </a:r>
          </a:p>
          <a:p>
            <a:r>
              <a:rPr lang="en-US" sz="2000" dirty="0"/>
              <a:t>The outcomes of this study are used as the basis for developing intelligent software and systems.</a:t>
            </a:r>
          </a:p>
          <a:p>
            <a:r>
              <a:rPr lang="en-US" sz="2000" dirty="0"/>
              <a:t>The term Artificial Intelligence was first coined in 1956 by John McCarthy at the Dartmouth Conference.</a:t>
            </a:r>
          </a:p>
          <a:p>
            <a:r>
              <a:rPr lang="en-US" sz="2000" dirty="0"/>
              <a:t>John McCarthy defined AI as "the science and engineering of making intelligent machines."</a:t>
            </a:r>
          </a:p>
        </p:txBody>
      </p:sp>
    </p:spTree>
    <p:extLst>
      <p:ext uri="{BB962C8B-B14F-4D97-AF65-F5344CB8AC3E}">
        <p14:creationId xmlns:p14="http://schemas.microsoft.com/office/powerpoint/2010/main" val="83708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8009" y="2409536"/>
            <a:ext cx="10621409" cy="4647046"/>
          </a:xfrm>
        </p:spPr>
        <p:txBody>
          <a:bodyPr>
            <a:noAutofit/>
          </a:bodyPr>
          <a:lstStyle/>
          <a:p>
            <a:r>
              <a:rPr lang="en-US" sz="2400" dirty="0"/>
              <a:t>Many AI applications are not recognized as AI because people often think AI refers only to robots performing daily chores.</a:t>
            </a:r>
          </a:p>
          <a:p>
            <a:r>
              <a:rPr lang="en-US" sz="2400" dirty="0"/>
              <a:t>In reality, AI has become a part of our everyday lives.</a:t>
            </a:r>
          </a:p>
          <a:p>
            <a:r>
              <a:rPr lang="en-US" sz="2400" dirty="0"/>
              <a:t>AI has become so common that we often use it without realizing it.</a:t>
            </a:r>
          </a:p>
          <a:p>
            <a:r>
              <a:rPr lang="en-US" sz="2400" dirty="0"/>
              <a:t>Google Search uses AI to provide accurate search results.</a:t>
            </a:r>
          </a:p>
          <a:p>
            <a:r>
              <a:rPr lang="en-US" sz="2400" dirty="0"/>
              <a:t>Facebook uses AI to display content based on users' interests and preferences.</a:t>
            </a:r>
          </a:p>
          <a:p>
            <a:r>
              <a:rPr lang="en-US" sz="2400" dirty="0"/>
              <a:t>These are common examples of the application of Artificial Intelligence.</a:t>
            </a:r>
            <a:endParaRPr lang="en-IN" sz="2400" dirty="0"/>
          </a:p>
        </p:txBody>
      </p:sp>
    </p:spTree>
    <p:extLst>
      <p:ext uri="{BB962C8B-B14F-4D97-AF65-F5344CB8AC3E}">
        <p14:creationId xmlns:p14="http://schemas.microsoft.com/office/powerpoint/2010/main" val="297496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Philosophy of Artificial Intelligence (AI) </a:t>
            </a:r>
          </a:p>
        </p:txBody>
      </p:sp>
      <p:sp>
        <p:nvSpPr>
          <p:cNvPr id="3" name="Content Placeholder 2"/>
          <p:cNvSpPr>
            <a:spLocks noGrp="1"/>
          </p:cNvSpPr>
          <p:nvPr>
            <p:ph idx="1"/>
          </p:nvPr>
        </p:nvSpPr>
        <p:spPr>
          <a:xfrm>
            <a:off x="933282" y="2391062"/>
            <a:ext cx="11360318" cy="4887193"/>
          </a:xfrm>
        </p:spPr>
        <p:txBody>
          <a:bodyPr>
            <a:normAutofit/>
          </a:bodyPr>
          <a:lstStyle/>
          <a:p>
            <a:r>
              <a:rPr lang="en-US" sz="2000" dirty="0" smtClean="0"/>
              <a:t>While </a:t>
            </a:r>
            <a:r>
              <a:rPr lang="en-US" sz="2000" dirty="0"/>
              <a:t>exploring the power of computer systems, humans became curious and asked, "Can a machine think and behave like humans?"</a:t>
            </a:r>
          </a:p>
          <a:p>
            <a:r>
              <a:rPr lang="en-US" sz="2000" dirty="0"/>
              <a:t>This curiosity led to the development of Artificial Intelligence (AI).</a:t>
            </a:r>
          </a:p>
          <a:p>
            <a:r>
              <a:rPr lang="en-US" sz="2000" dirty="0"/>
              <a:t>The main goal of AI is to create machines that can exhibit intelligence similar to that of humans</a:t>
            </a:r>
            <a:r>
              <a:rPr lang="en-US" sz="2000" dirty="0" smtClean="0"/>
              <a:t>.    </a:t>
            </a:r>
            <a:endParaRPr lang="en-US" sz="2000" dirty="0"/>
          </a:p>
          <a:p>
            <a:r>
              <a:rPr lang="en-US" sz="2000" dirty="0"/>
              <a:t>AI aims to develop systems that can think, learn, reason, and make decisions like humans.</a:t>
            </a:r>
          </a:p>
          <a:p>
            <a:r>
              <a:rPr lang="en-US" sz="2000" dirty="0"/>
              <a:t>The philosophy of AI is based on understanding and replicating human intelligence in machines.</a:t>
            </a:r>
          </a:p>
          <a:p>
            <a:r>
              <a:rPr lang="en-US" sz="2000" dirty="0"/>
              <a:t>It focuses on creating intelligent machines capable of performing tasks that normally require human intelligence.</a:t>
            </a:r>
            <a:endParaRPr lang="en-IN" sz="2000" dirty="0"/>
          </a:p>
        </p:txBody>
      </p:sp>
    </p:spTree>
    <p:extLst>
      <p:ext uri="{BB962C8B-B14F-4D97-AF65-F5344CB8AC3E}">
        <p14:creationId xmlns:p14="http://schemas.microsoft.com/office/powerpoint/2010/main" val="289085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Artificial Intelligence? </a:t>
            </a:r>
          </a:p>
        </p:txBody>
      </p:sp>
      <p:sp>
        <p:nvSpPr>
          <p:cNvPr id="3" name="Content Placeholder 2"/>
          <p:cNvSpPr>
            <a:spLocks noGrp="1"/>
          </p:cNvSpPr>
          <p:nvPr>
            <p:ph idx="1"/>
          </p:nvPr>
        </p:nvSpPr>
        <p:spPr>
          <a:xfrm>
            <a:off x="683491" y="2309091"/>
            <a:ext cx="11342254" cy="4548909"/>
          </a:xfrm>
        </p:spPr>
        <p:txBody>
          <a:bodyPr>
            <a:normAutofit/>
          </a:bodyPr>
          <a:lstStyle/>
          <a:p>
            <a:r>
              <a:rPr lang="en-US" dirty="0" smtClean="0"/>
              <a:t>AI </a:t>
            </a:r>
            <a:r>
              <a:rPr lang="en-US" dirty="0"/>
              <a:t>helps in developing software and devices that can solve real-world problems accurately and efficiently.</a:t>
            </a:r>
          </a:p>
          <a:p>
            <a:r>
              <a:rPr lang="en-US" dirty="0"/>
              <a:t>AI is used to address problems in various fields such as healthcare, marketing, transportation, and traffic management.</a:t>
            </a:r>
          </a:p>
          <a:p>
            <a:r>
              <a:rPr lang="en-US" dirty="0"/>
              <a:t>AI enables the creation of virtual assistants such as </a:t>
            </a:r>
            <a:r>
              <a:rPr lang="en-US" dirty="0" err="1"/>
              <a:t>Cortana</a:t>
            </a:r>
            <a:r>
              <a:rPr lang="en-US" dirty="0"/>
              <a:t>, Google Assistant, and </a:t>
            </a:r>
            <a:r>
              <a:rPr lang="en-US" dirty="0" err="1"/>
              <a:t>Siri</a:t>
            </a:r>
            <a:r>
              <a:rPr lang="en-US" dirty="0"/>
              <a:t>.</a:t>
            </a:r>
          </a:p>
          <a:p>
            <a:r>
              <a:rPr lang="en-US" dirty="0"/>
              <a:t>AI is used to build intelligent robots that can work in dangerous environments where human survival is at risk.</a:t>
            </a:r>
          </a:p>
          <a:p>
            <a:r>
              <a:rPr lang="en-US" dirty="0"/>
              <a:t>Examples of AI-powered robots include Spirit, Curiosity, and </a:t>
            </a:r>
            <a:r>
              <a:rPr lang="en-US" dirty="0" err="1"/>
              <a:t>Vikram</a:t>
            </a:r>
            <a:r>
              <a:rPr lang="en-US" dirty="0"/>
              <a:t>.</a:t>
            </a:r>
          </a:p>
          <a:p>
            <a:r>
              <a:rPr lang="en-US" dirty="0"/>
              <a:t>AI improves automation, accuracy, and decision-making in various applications.</a:t>
            </a:r>
          </a:p>
          <a:p>
            <a:r>
              <a:rPr lang="en-US" dirty="0"/>
              <a:t>AI opens the way for the development of new technologies, innovative devices, and future opportunities.</a:t>
            </a:r>
          </a:p>
          <a:p>
            <a:r>
              <a:rPr lang="en-US" dirty="0"/>
              <a:t>Learning AI helps in building smart systems capable of performing tasks that normally require human intelligence.</a:t>
            </a:r>
            <a:endParaRPr lang="en-IN" dirty="0"/>
          </a:p>
        </p:txBody>
      </p:sp>
    </p:spTree>
    <p:extLst>
      <p:ext uri="{BB962C8B-B14F-4D97-AF65-F5344CB8AC3E}">
        <p14:creationId xmlns:p14="http://schemas.microsoft.com/office/powerpoint/2010/main" val="1183956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AI</a:t>
            </a:r>
          </a:p>
        </p:txBody>
      </p:sp>
      <p:sp>
        <p:nvSpPr>
          <p:cNvPr id="3" name="Content Placeholder 2"/>
          <p:cNvSpPr>
            <a:spLocks noGrp="1"/>
          </p:cNvSpPr>
          <p:nvPr>
            <p:ph idx="1"/>
          </p:nvPr>
        </p:nvSpPr>
        <p:spPr/>
        <p:txBody>
          <a:bodyPr/>
          <a:lstStyle/>
          <a:p>
            <a:endParaRPr lang="en-US" dirty="0"/>
          </a:p>
          <a:p>
            <a:pPr marL="0" indent="0">
              <a:buNone/>
            </a:pPr>
            <a:r>
              <a:rPr lang="en-US" dirty="0" smtClean="0"/>
              <a:t> </a:t>
            </a:r>
            <a:r>
              <a:rPr lang="en-US" sz="2400" b="1" dirty="0"/>
              <a:t>To Create Expert Systems </a:t>
            </a:r>
            <a:endParaRPr lang="en-US" dirty="0"/>
          </a:p>
          <a:p>
            <a:r>
              <a:rPr lang="en-US" dirty="0" smtClean="0"/>
              <a:t>The </a:t>
            </a:r>
            <a:r>
              <a:rPr lang="en-US" dirty="0"/>
              <a:t>systems which exhibit </a:t>
            </a:r>
            <a:r>
              <a:rPr lang="en-US" dirty="0" smtClean="0"/>
              <a:t>intelligent behavior</a:t>
            </a:r>
            <a:r>
              <a:rPr lang="en-US" dirty="0"/>
              <a:t>, learn, demonstrate, explain, and advice its users.</a:t>
            </a:r>
          </a:p>
          <a:p>
            <a:pPr marL="0" indent="0">
              <a:buNone/>
            </a:pPr>
            <a:r>
              <a:rPr lang="en-US" sz="2400" b="1" dirty="0" smtClean="0"/>
              <a:t> </a:t>
            </a:r>
            <a:r>
              <a:rPr lang="en-US" sz="2400" b="1" dirty="0"/>
              <a:t>To Implement Human Intelligence in Machines </a:t>
            </a:r>
          </a:p>
          <a:p>
            <a:r>
              <a:rPr lang="en-US" dirty="0" smtClean="0"/>
              <a:t>Creating </a:t>
            </a:r>
            <a:r>
              <a:rPr lang="en-US" dirty="0"/>
              <a:t>systems </a:t>
            </a:r>
            <a:r>
              <a:rPr lang="en-US" dirty="0" smtClean="0"/>
              <a:t>that understand</a:t>
            </a:r>
            <a:r>
              <a:rPr lang="en-US" dirty="0"/>
              <a:t>, think, learn, and behave like humans.</a:t>
            </a:r>
            <a:endParaRPr lang="en-IN" dirty="0"/>
          </a:p>
        </p:txBody>
      </p:sp>
    </p:spTree>
    <p:extLst>
      <p:ext uri="{BB962C8B-B14F-4D97-AF65-F5344CB8AC3E}">
        <p14:creationId xmlns:p14="http://schemas.microsoft.com/office/powerpoint/2010/main" val="2349236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Contributes to Artificial Intelligence (AI)?</a:t>
            </a:r>
          </a:p>
        </p:txBody>
      </p:sp>
      <p:sp>
        <p:nvSpPr>
          <p:cNvPr id="3" name="Content Placeholder 2"/>
          <p:cNvSpPr>
            <a:spLocks noGrp="1"/>
          </p:cNvSpPr>
          <p:nvPr>
            <p:ph idx="1"/>
          </p:nvPr>
        </p:nvSpPr>
        <p:spPr>
          <a:xfrm>
            <a:off x="839173" y="2289463"/>
            <a:ext cx="11278936" cy="4249881"/>
          </a:xfrm>
        </p:spPr>
        <p:txBody>
          <a:bodyPr>
            <a:noAutofit/>
          </a:bodyPr>
          <a:lstStyle/>
          <a:p>
            <a:r>
              <a:rPr lang="en-US" sz="2000" b="1" dirty="0" smtClean="0"/>
              <a:t>AI </a:t>
            </a:r>
            <a:r>
              <a:rPr lang="en-US" sz="2000" b="1" dirty="0"/>
              <a:t>is based on the following disciplines:</a:t>
            </a:r>
          </a:p>
          <a:p>
            <a:r>
              <a:rPr lang="en-US" sz="2000" b="1" dirty="0"/>
              <a:t>Computer Science </a:t>
            </a:r>
            <a:r>
              <a:rPr lang="en-US" sz="2000" dirty="0"/>
              <a:t>– Develops algorithms, software, and intelligent systems.</a:t>
            </a:r>
          </a:p>
          <a:p>
            <a:r>
              <a:rPr lang="en-US" sz="2000" b="1" dirty="0"/>
              <a:t>Biology</a:t>
            </a:r>
            <a:r>
              <a:rPr lang="en-US" sz="2000" dirty="0"/>
              <a:t> – Studies the human brain and nervous system to inspire AI models.</a:t>
            </a:r>
          </a:p>
          <a:p>
            <a:r>
              <a:rPr lang="en-US" sz="2000" b="1" dirty="0"/>
              <a:t>Psychology</a:t>
            </a:r>
            <a:r>
              <a:rPr lang="en-US" sz="2000" dirty="0"/>
              <a:t> – Helps AI understand human thinking, learning, and behavior.</a:t>
            </a:r>
          </a:p>
          <a:p>
            <a:r>
              <a:rPr lang="en-US" sz="2000" b="1" dirty="0"/>
              <a:t>Linguistics</a:t>
            </a:r>
            <a:r>
              <a:rPr lang="en-US" sz="2000" dirty="0"/>
              <a:t> – Enables machines to understand and process human language.</a:t>
            </a:r>
          </a:p>
          <a:p>
            <a:r>
              <a:rPr lang="en-US" sz="2000" b="1" dirty="0"/>
              <a:t>Mathematics</a:t>
            </a:r>
            <a:r>
              <a:rPr lang="en-US" sz="2000" dirty="0"/>
              <a:t> – Provides the foundation for algorithms, logic, probability, and machine learning.</a:t>
            </a:r>
          </a:p>
          <a:p>
            <a:r>
              <a:rPr lang="en-US" sz="2000" b="1" dirty="0"/>
              <a:t>Engineering</a:t>
            </a:r>
            <a:r>
              <a:rPr lang="en-US" sz="2000" dirty="0"/>
              <a:t> – Designs and builds AI-based machines, robots, and hardware systems.</a:t>
            </a:r>
          </a:p>
          <a:p>
            <a:pPr marL="0" indent="0">
              <a:buNone/>
            </a:pPr>
            <a:endParaRPr lang="en-US" sz="2000" dirty="0"/>
          </a:p>
        </p:txBody>
      </p:sp>
    </p:spTree>
    <p:extLst>
      <p:ext uri="{BB962C8B-B14F-4D97-AF65-F5344CB8AC3E}">
        <p14:creationId xmlns:p14="http://schemas.microsoft.com/office/powerpoint/2010/main" val="2064085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8382" y="406399"/>
            <a:ext cx="6858000" cy="5814291"/>
          </a:xfrm>
          <a:prstGeom prst="rect">
            <a:avLst/>
          </a:prstGeom>
        </p:spPr>
      </p:pic>
    </p:spTree>
    <p:extLst>
      <p:ext uri="{BB962C8B-B14F-4D97-AF65-F5344CB8AC3E}">
        <p14:creationId xmlns:p14="http://schemas.microsoft.com/office/powerpoint/2010/main" val="103209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4881" y="2354118"/>
            <a:ext cx="8825659" cy="3416300"/>
          </a:xfrm>
        </p:spPr>
        <p:txBody>
          <a:bodyPr>
            <a:noAutofit/>
          </a:bodyPr>
          <a:lstStyle/>
          <a:p>
            <a:pPr marL="0" indent="0">
              <a:buNone/>
            </a:pPr>
            <a:r>
              <a:rPr lang="en-US" sz="2000" b="1" dirty="0"/>
              <a:t>Major Thrust of AI</a:t>
            </a:r>
          </a:p>
          <a:p>
            <a:pPr marL="0" indent="0">
              <a:buNone/>
            </a:pPr>
            <a:endParaRPr lang="en-US" sz="2000" dirty="0"/>
          </a:p>
          <a:p>
            <a:r>
              <a:rPr lang="en-US" sz="2000" dirty="0"/>
              <a:t>AI mainly focuses on developing computer functions associated with human intelligence, such as:</a:t>
            </a:r>
          </a:p>
          <a:p>
            <a:endParaRPr lang="en-US" sz="2000" dirty="0"/>
          </a:p>
          <a:p>
            <a:r>
              <a:rPr lang="en-US" sz="2000" b="1" dirty="0"/>
              <a:t>Reasoning</a:t>
            </a:r>
            <a:r>
              <a:rPr lang="en-US" sz="2000" dirty="0"/>
              <a:t> – Making logical decisions based on available information.</a:t>
            </a:r>
          </a:p>
          <a:p>
            <a:r>
              <a:rPr lang="en-US" sz="2000" b="1" dirty="0"/>
              <a:t>Learning</a:t>
            </a:r>
            <a:r>
              <a:rPr lang="en-US" sz="2000" dirty="0"/>
              <a:t> – Acquiring knowledge from data and improving performance over time.</a:t>
            </a:r>
          </a:p>
          <a:p>
            <a:r>
              <a:rPr lang="en-US" sz="2000" b="1" dirty="0"/>
              <a:t>Problem Solving </a:t>
            </a:r>
            <a:r>
              <a:rPr lang="en-US" sz="2000" dirty="0"/>
              <a:t>– Finding effective solutions to complex problems</a:t>
            </a:r>
            <a:r>
              <a:rPr lang="en-US" sz="2000" dirty="0" smtClean="0"/>
              <a:t>.</a:t>
            </a:r>
            <a:endParaRPr lang="en-US" sz="2000" dirty="0"/>
          </a:p>
        </p:txBody>
      </p:sp>
    </p:spTree>
    <p:extLst>
      <p:ext uri="{BB962C8B-B14F-4D97-AF65-F5344CB8AC3E}">
        <p14:creationId xmlns:p14="http://schemas.microsoft.com/office/powerpoint/2010/main" val="510380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Artificial Intelligence </a:t>
            </a:r>
          </a:p>
        </p:txBody>
      </p:sp>
      <p:sp>
        <p:nvSpPr>
          <p:cNvPr id="3" name="Content Placeholder 2"/>
          <p:cNvSpPr>
            <a:spLocks noGrp="1"/>
          </p:cNvSpPr>
          <p:nvPr>
            <p:ph idx="1"/>
          </p:nvPr>
        </p:nvSpPr>
        <p:spPr>
          <a:xfrm>
            <a:off x="378689" y="2401455"/>
            <a:ext cx="11536219" cy="4922981"/>
          </a:xfrm>
        </p:spPr>
        <p:txBody>
          <a:bodyPr>
            <a:normAutofit/>
          </a:bodyPr>
          <a:lstStyle/>
          <a:p>
            <a:r>
              <a:rPr lang="en-US" b="1" dirty="0" smtClean="0"/>
              <a:t>High </a:t>
            </a:r>
            <a:r>
              <a:rPr lang="en-US" b="1" dirty="0"/>
              <a:t>Accuracy with Fewer </a:t>
            </a:r>
            <a:r>
              <a:rPr lang="en-US" b="1" dirty="0" smtClean="0"/>
              <a:t>Errors </a:t>
            </a:r>
            <a:r>
              <a:rPr lang="en-US" dirty="0" smtClean="0"/>
              <a:t>- AI </a:t>
            </a:r>
            <a:r>
              <a:rPr lang="en-US" dirty="0"/>
              <a:t>systems perform tasks with high precision and reduce human errors by making decisions based on data and experience.</a:t>
            </a:r>
          </a:p>
          <a:p>
            <a:r>
              <a:rPr lang="en-US" b="1" dirty="0"/>
              <a:t>High </a:t>
            </a:r>
            <a:r>
              <a:rPr lang="en-US" b="1" dirty="0" smtClean="0"/>
              <a:t>Speed </a:t>
            </a:r>
            <a:r>
              <a:rPr lang="en-US" dirty="0" smtClean="0"/>
              <a:t>- AI </a:t>
            </a:r>
            <a:r>
              <a:rPr lang="en-US" dirty="0"/>
              <a:t>processes large amounts of data quickly and makes faster decisions than humans.</a:t>
            </a:r>
          </a:p>
          <a:p>
            <a:r>
              <a:rPr lang="en-US" b="1" dirty="0"/>
              <a:t>High </a:t>
            </a:r>
            <a:r>
              <a:rPr lang="en-US" b="1" dirty="0" smtClean="0"/>
              <a:t>Reliability </a:t>
            </a:r>
            <a:r>
              <a:rPr lang="en-US" dirty="0" smtClean="0"/>
              <a:t>- AI </a:t>
            </a:r>
            <a:r>
              <a:rPr lang="en-US" dirty="0"/>
              <a:t>can perform repetitive tasks consistently with the same level of accuracy without getting tired.</a:t>
            </a:r>
          </a:p>
          <a:p>
            <a:r>
              <a:rPr lang="en-US" b="1" dirty="0"/>
              <a:t>Useful in Risky </a:t>
            </a:r>
            <a:r>
              <a:rPr lang="en-US" b="1" dirty="0" smtClean="0"/>
              <a:t>Situations </a:t>
            </a:r>
            <a:r>
              <a:rPr lang="en-US" dirty="0" smtClean="0"/>
              <a:t>- AI </a:t>
            </a:r>
            <a:r>
              <a:rPr lang="en-US" dirty="0"/>
              <a:t>can work in hazardous environments such as bomb disposal, deep-sea exploration, mining, and space missions, reducing risks to humans.</a:t>
            </a:r>
          </a:p>
          <a:p>
            <a:r>
              <a:rPr lang="en-US" b="1" dirty="0"/>
              <a:t>Digital </a:t>
            </a:r>
            <a:r>
              <a:rPr lang="en-US" b="1" dirty="0" smtClean="0"/>
              <a:t>Assistant </a:t>
            </a:r>
            <a:r>
              <a:rPr lang="en-US" dirty="0" smtClean="0"/>
              <a:t>- AI </a:t>
            </a:r>
            <a:r>
              <a:rPr lang="en-US" dirty="0"/>
              <a:t>powers virtual assistants like </a:t>
            </a:r>
            <a:r>
              <a:rPr lang="en-US" dirty="0" err="1"/>
              <a:t>Siri</a:t>
            </a:r>
            <a:r>
              <a:rPr lang="en-US" dirty="0"/>
              <a:t>, Google Assistant, and Alexa, helping users with daily tasks and personalized recommendations.</a:t>
            </a:r>
          </a:p>
          <a:p>
            <a:r>
              <a:rPr lang="en-US" b="1" dirty="0"/>
              <a:t>Useful in Public </a:t>
            </a:r>
            <a:r>
              <a:rPr lang="en-US" b="1" dirty="0" smtClean="0"/>
              <a:t>Services </a:t>
            </a:r>
            <a:r>
              <a:rPr lang="en-US" dirty="0" smtClean="0"/>
              <a:t>- AI </a:t>
            </a:r>
            <a:r>
              <a:rPr lang="en-US" dirty="0"/>
              <a:t>improves public services through applications such as self-driving cars, facial recognition for security, traffic management, and natural language processing for human-computer communication</a:t>
            </a:r>
            <a:r>
              <a:rPr lang="en-US" dirty="0" smtClean="0"/>
              <a:t>.</a:t>
            </a:r>
            <a:endParaRPr lang="en-US" dirty="0"/>
          </a:p>
        </p:txBody>
      </p:sp>
    </p:spTree>
    <p:extLst>
      <p:ext uri="{BB962C8B-B14F-4D97-AF65-F5344CB8AC3E}">
        <p14:creationId xmlns:p14="http://schemas.microsoft.com/office/powerpoint/2010/main" val="3998814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Artificial Intelligence </a:t>
            </a:r>
          </a:p>
        </p:txBody>
      </p:sp>
      <p:sp>
        <p:nvSpPr>
          <p:cNvPr id="3" name="Content Placeholder 2"/>
          <p:cNvSpPr>
            <a:spLocks noGrp="1"/>
          </p:cNvSpPr>
          <p:nvPr>
            <p:ph idx="1"/>
          </p:nvPr>
        </p:nvSpPr>
        <p:spPr>
          <a:xfrm>
            <a:off x="323273" y="2206336"/>
            <a:ext cx="11739418" cy="4563919"/>
          </a:xfrm>
        </p:spPr>
        <p:txBody>
          <a:bodyPr>
            <a:normAutofit lnSpcReduction="10000"/>
          </a:bodyPr>
          <a:lstStyle/>
          <a:p>
            <a:r>
              <a:rPr lang="en-US" b="1" dirty="0" smtClean="0"/>
              <a:t>High </a:t>
            </a:r>
            <a:r>
              <a:rPr lang="en-US" b="1" dirty="0"/>
              <a:t>Cost</a:t>
            </a:r>
            <a:r>
              <a:rPr lang="en-US" dirty="0"/>
              <a:t> </a:t>
            </a:r>
          </a:p>
          <a:p>
            <a:pPr marL="457200" lvl="1" indent="0">
              <a:buNone/>
            </a:pPr>
            <a:r>
              <a:rPr lang="en-US" dirty="0"/>
              <a:t>Developing and maintaining AI systems requires expensive hardware, software, and skilled professionals. </a:t>
            </a:r>
            <a:endParaRPr lang="en-US" b="1" dirty="0" smtClean="0"/>
          </a:p>
          <a:p>
            <a:r>
              <a:rPr lang="en-US" b="1" dirty="0"/>
              <a:t>Can't think out of the box: </a:t>
            </a:r>
            <a:endParaRPr lang="en-US" b="1" dirty="0" smtClean="0"/>
          </a:p>
          <a:p>
            <a:pPr marL="0" indent="0">
              <a:buNone/>
            </a:pPr>
            <a:r>
              <a:rPr lang="en-US" b="1" dirty="0"/>
              <a:t> </a:t>
            </a:r>
            <a:r>
              <a:rPr lang="en-US" b="1" dirty="0" smtClean="0"/>
              <a:t>      </a:t>
            </a:r>
            <a:r>
              <a:rPr lang="en-US" dirty="0" smtClean="0"/>
              <a:t>Even </a:t>
            </a:r>
            <a:r>
              <a:rPr lang="en-US" dirty="0"/>
              <a:t>though we are making smarter machines </a:t>
            </a:r>
            <a:r>
              <a:rPr lang="en-US" dirty="0" smtClean="0"/>
              <a:t>with AI</a:t>
            </a:r>
            <a:r>
              <a:rPr lang="en-US" dirty="0"/>
              <a:t>, but still they cannot work out of the </a:t>
            </a:r>
            <a:r>
              <a:rPr lang="en-US" dirty="0" smtClean="0"/>
              <a:t>                   box</a:t>
            </a:r>
            <a:r>
              <a:rPr lang="en-US" dirty="0"/>
              <a:t>, as the robot will only do that </a:t>
            </a:r>
            <a:r>
              <a:rPr lang="en-US" dirty="0" smtClean="0"/>
              <a:t>work for </a:t>
            </a:r>
            <a:r>
              <a:rPr lang="en-US" dirty="0"/>
              <a:t>which they are trained, or programmed.</a:t>
            </a:r>
          </a:p>
          <a:p>
            <a:r>
              <a:rPr lang="en-US" b="1" dirty="0" smtClean="0"/>
              <a:t>Lack </a:t>
            </a:r>
            <a:r>
              <a:rPr lang="en-US" b="1" dirty="0"/>
              <a:t>of Emotions</a:t>
            </a:r>
            <a:r>
              <a:rPr lang="en-US" dirty="0"/>
              <a:t> </a:t>
            </a:r>
          </a:p>
          <a:p>
            <a:pPr marL="457200" lvl="1" indent="0">
              <a:buNone/>
            </a:pPr>
            <a:r>
              <a:rPr lang="en-US" dirty="0"/>
              <a:t>AI has no feelings, emotions, or empathy, so it cannot build emotional relationships or understand human emotions. </a:t>
            </a:r>
          </a:p>
          <a:p>
            <a:r>
              <a:rPr lang="en-US" b="1" dirty="0"/>
              <a:t>Increased Dependency on Machines</a:t>
            </a:r>
            <a:r>
              <a:rPr lang="en-US" dirty="0"/>
              <a:t> </a:t>
            </a:r>
          </a:p>
          <a:p>
            <a:pPr marL="457200" lvl="1" indent="0">
              <a:buNone/>
            </a:pPr>
            <a:r>
              <a:rPr lang="en-US" dirty="0"/>
              <a:t>Excessive use of AI may make people more dependent on technology and reduce their critical thinking and problem-solving skills. </a:t>
            </a:r>
          </a:p>
          <a:p>
            <a:r>
              <a:rPr lang="en-US" b="1" dirty="0"/>
              <a:t>No Original Creativity</a:t>
            </a:r>
            <a:r>
              <a:rPr lang="en-US" dirty="0"/>
              <a:t> </a:t>
            </a:r>
          </a:p>
          <a:p>
            <a:pPr marL="457200" lvl="1" indent="0">
              <a:buNone/>
            </a:pPr>
            <a:r>
              <a:rPr lang="en-US" dirty="0"/>
              <a:t>AI can generate content based on existing data but cannot create truly original ideas or use imagination like humans.</a:t>
            </a:r>
          </a:p>
        </p:txBody>
      </p:sp>
    </p:spTree>
    <p:extLst>
      <p:ext uri="{BB962C8B-B14F-4D97-AF65-F5344CB8AC3E}">
        <p14:creationId xmlns:p14="http://schemas.microsoft.com/office/powerpoint/2010/main" val="1385357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Artificial Intelligence </a:t>
            </a:r>
          </a:p>
        </p:txBody>
      </p:sp>
      <p:sp>
        <p:nvSpPr>
          <p:cNvPr id="3" name="Content Placeholder 2"/>
          <p:cNvSpPr>
            <a:spLocks noGrp="1"/>
          </p:cNvSpPr>
          <p:nvPr>
            <p:ph idx="1"/>
          </p:nvPr>
        </p:nvSpPr>
        <p:spPr>
          <a:xfrm>
            <a:off x="618837" y="2373745"/>
            <a:ext cx="11573163" cy="4558146"/>
          </a:xfrm>
        </p:spPr>
        <p:txBody>
          <a:bodyPr>
            <a:noAutofit/>
          </a:bodyPr>
          <a:lstStyle/>
          <a:p>
            <a:pPr marL="0" indent="0">
              <a:buNone/>
            </a:pPr>
            <a:r>
              <a:rPr lang="en-US" dirty="0"/>
              <a:t>Artificial Intelligence has various applications in today's society. It is becoming</a:t>
            </a:r>
          </a:p>
          <a:p>
            <a:pPr marL="0" indent="0">
              <a:buNone/>
            </a:pPr>
            <a:r>
              <a:rPr lang="en-US" dirty="0"/>
              <a:t>essential for today's time because it can solve complex problems with an efficient</a:t>
            </a:r>
          </a:p>
          <a:p>
            <a:pPr marL="0" indent="0">
              <a:buNone/>
            </a:pPr>
            <a:r>
              <a:rPr lang="en-US" dirty="0"/>
              <a:t>way in multiple industries, such as Healthcare, entertainment, finance, education,</a:t>
            </a:r>
          </a:p>
          <a:p>
            <a:pPr marL="0" indent="0">
              <a:buNone/>
            </a:pPr>
            <a:r>
              <a:rPr lang="en-US" dirty="0"/>
              <a:t>etc. AI is making our daily life more comfortable and fast</a:t>
            </a:r>
            <a:r>
              <a:rPr lang="en-US" dirty="0" smtClean="0"/>
              <a:t>.</a:t>
            </a:r>
          </a:p>
          <a:p>
            <a:pPr marL="0" indent="0">
              <a:buNone/>
            </a:pPr>
            <a:r>
              <a:rPr lang="en-US" dirty="0"/>
              <a:t>Following are some sectors which have the application of Artificial Intelligence:</a:t>
            </a:r>
          </a:p>
          <a:p>
            <a:pPr marL="0" indent="0">
              <a:buNone/>
            </a:pPr>
            <a:endParaRPr lang="en-US" dirty="0"/>
          </a:p>
          <a:p>
            <a:pPr>
              <a:buFont typeface="Century Gothic" panose="020B0502020202020204" pitchFamily="34" charset="0"/>
              <a:buChar char="►"/>
            </a:pPr>
            <a:r>
              <a:rPr lang="en-US" b="1" dirty="0" smtClean="0"/>
              <a:t>Gaming </a:t>
            </a:r>
            <a:r>
              <a:rPr lang="en-US" dirty="0"/>
              <a:t>− AI plays crucial role in strategic games such as chess, poker, </a:t>
            </a:r>
            <a:r>
              <a:rPr lang="en-US" dirty="0" smtClean="0"/>
              <a:t>tic-tac-toe</a:t>
            </a:r>
            <a:r>
              <a:rPr lang="en-US" dirty="0"/>
              <a:t>, etc., where machine can think of large number of possible </a:t>
            </a:r>
            <a:r>
              <a:rPr lang="en-US" dirty="0" smtClean="0"/>
              <a:t>positions based </a:t>
            </a:r>
            <a:r>
              <a:rPr lang="en-US" dirty="0"/>
              <a:t>on heuristic knowledge.</a:t>
            </a:r>
          </a:p>
          <a:p>
            <a:pPr marL="0" indent="0">
              <a:buNone/>
            </a:pPr>
            <a:endParaRPr lang="en-US" sz="1800" dirty="0"/>
          </a:p>
        </p:txBody>
      </p:sp>
    </p:spTree>
    <p:extLst>
      <p:ext uri="{BB962C8B-B14F-4D97-AF65-F5344CB8AC3E}">
        <p14:creationId xmlns:p14="http://schemas.microsoft.com/office/powerpoint/2010/main" val="232764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455" y="2327564"/>
            <a:ext cx="11314545" cy="4331854"/>
          </a:xfrm>
        </p:spPr>
        <p:txBody>
          <a:bodyPr>
            <a:normAutofit fontScale="92500" lnSpcReduction="10000"/>
          </a:bodyPr>
          <a:lstStyle/>
          <a:p>
            <a:r>
              <a:rPr lang="en-US" b="1" dirty="0"/>
              <a:t>Natural Language Processing (NLP)</a:t>
            </a:r>
          </a:p>
          <a:p>
            <a:pPr marL="0" indent="0">
              <a:buNone/>
            </a:pPr>
            <a:r>
              <a:rPr lang="en-US" dirty="0" smtClean="0"/>
              <a:t>       It </a:t>
            </a:r>
            <a:r>
              <a:rPr lang="en-US" dirty="0"/>
              <a:t>is possible to interact with the computer that understands natural language spoken by humans.</a:t>
            </a:r>
          </a:p>
          <a:p>
            <a:r>
              <a:rPr lang="en-US" b="1" dirty="0"/>
              <a:t>Expert Systems</a:t>
            </a:r>
          </a:p>
          <a:p>
            <a:pPr marL="0" indent="0">
              <a:buNone/>
            </a:pPr>
            <a:r>
              <a:rPr lang="en-US" dirty="0" smtClean="0"/>
              <a:t>        There </a:t>
            </a:r>
            <a:r>
              <a:rPr lang="en-US" dirty="0"/>
              <a:t>are some applications which integrate machine, software, and special information to impart </a:t>
            </a:r>
            <a:r>
              <a:rPr lang="en-US" dirty="0" smtClean="0"/>
              <a:t>          reasoning </a:t>
            </a:r>
            <a:r>
              <a:rPr lang="en-US" dirty="0"/>
              <a:t>and advising. They provide explanation and advice to the users.</a:t>
            </a:r>
          </a:p>
          <a:p>
            <a:r>
              <a:rPr lang="en-US" b="1" dirty="0"/>
              <a:t>Vision Systems</a:t>
            </a:r>
          </a:p>
          <a:p>
            <a:pPr marL="0" indent="0">
              <a:buNone/>
            </a:pPr>
            <a:r>
              <a:rPr lang="en-US" dirty="0" smtClean="0"/>
              <a:t>        These </a:t>
            </a:r>
            <a:r>
              <a:rPr lang="en-US" dirty="0"/>
              <a:t>systems understand, interpret, and comprehend visual input on the computer.</a:t>
            </a:r>
          </a:p>
          <a:p>
            <a:r>
              <a:rPr lang="en-US" b="1" dirty="0"/>
              <a:t>Examples:</a:t>
            </a:r>
            <a:endParaRPr lang="en-US" dirty="0"/>
          </a:p>
          <a:p>
            <a:r>
              <a:rPr lang="en-US" dirty="0"/>
              <a:t>A spying </a:t>
            </a:r>
            <a:r>
              <a:rPr lang="en-US" dirty="0" err="1"/>
              <a:t>aeroplane</a:t>
            </a:r>
            <a:r>
              <a:rPr lang="en-US" dirty="0"/>
              <a:t> takes photographs, which are used to figure out spatial information or map of the areas. </a:t>
            </a:r>
          </a:p>
          <a:p>
            <a:r>
              <a:rPr lang="en-US" dirty="0"/>
              <a:t>Doctors use clinical expert system to diagnose the patient. </a:t>
            </a:r>
          </a:p>
          <a:p>
            <a:r>
              <a:rPr lang="en-US" dirty="0"/>
              <a:t>Police use computer software that can recognize the face of criminal with the stored portrait made by forensic artist. </a:t>
            </a:r>
          </a:p>
        </p:txBody>
      </p:sp>
    </p:spTree>
    <p:extLst>
      <p:ext uri="{BB962C8B-B14F-4D97-AF65-F5344CB8AC3E}">
        <p14:creationId xmlns:p14="http://schemas.microsoft.com/office/powerpoint/2010/main" val="2066990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5" y="2013527"/>
            <a:ext cx="11748655" cy="5726546"/>
          </a:xfrm>
        </p:spPr>
        <p:txBody>
          <a:bodyPr>
            <a:normAutofit/>
          </a:bodyPr>
          <a:lstStyle/>
          <a:p>
            <a:r>
              <a:rPr lang="en-US" sz="2000" b="1" dirty="0"/>
              <a:t>Speech Recognition</a:t>
            </a:r>
          </a:p>
          <a:p>
            <a:pPr marL="0" indent="0">
              <a:buNone/>
            </a:pPr>
            <a:r>
              <a:rPr lang="en-US" sz="2000" dirty="0" smtClean="0"/>
              <a:t>Some </a:t>
            </a:r>
            <a:r>
              <a:rPr lang="en-US" sz="2000" dirty="0"/>
              <a:t>intelligent systems are capable of hearing and comprehending the language in terms of sentences and their meanings while a human talks to it. It can handle different accents, slang words, noise in the background, and changes in a human's voice due to cold, etc.</a:t>
            </a:r>
          </a:p>
          <a:p>
            <a:r>
              <a:rPr lang="en-US" sz="2000" b="1" dirty="0"/>
              <a:t>Handwriting Recognition</a:t>
            </a:r>
          </a:p>
          <a:p>
            <a:pPr marL="0" indent="0">
              <a:buNone/>
            </a:pPr>
            <a:r>
              <a:rPr lang="en-US" sz="2000" dirty="0"/>
              <a:t>The handwriting recognition software reads the text written on paper by a pen or on screen by a stylus. It can recognize the shapes of the letters and convert them into editable text.</a:t>
            </a:r>
          </a:p>
          <a:p>
            <a:r>
              <a:rPr lang="en-US" sz="2000" b="1" dirty="0"/>
              <a:t>Intelligent Robots</a:t>
            </a:r>
          </a:p>
          <a:p>
            <a:pPr marL="0" indent="0">
              <a:buNone/>
            </a:pPr>
            <a:r>
              <a:rPr lang="en-US" sz="2000" dirty="0"/>
              <a:t>Robots are able to perform the tasks given by a human. They have sensors to detect physical data from the real world such as light, heat, temperature, movement, sound, bump, and pressure. They have efficient processors, multiple sensors, and huge memory to exhibit intelligence. In addition, they are capable of learning from their mistakes and can adapt to new environments.</a:t>
            </a:r>
          </a:p>
        </p:txBody>
      </p:sp>
    </p:spTree>
    <p:extLst>
      <p:ext uri="{BB962C8B-B14F-4D97-AF65-F5344CB8AC3E}">
        <p14:creationId xmlns:p14="http://schemas.microsoft.com/office/powerpoint/2010/main" val="318356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AI in Astronomy</a:t>
            </a:r>
          </a:p>
          <a:p>
            <a:r>
              <a:rPr lang="en-US" dirty="0"/>
              <a:t>Solves complex problems related to the universe. </a:t>
            </a:r>
          </a:p>
          <a:p>
            <a:r>
              <a:rPr lang="en-US" dirty="0"/>
              <a:t>Helps understand the origin and working of the universe. </a:t>
            </a:r>
          </a:p>
          <a:p>
            <a:r>
              <a:rPr lang="en-US" dirty="0"/>
              <a:t>Detects and identifies distant planets in solar systems. </a:t>
            </a:r>
          </a:p>
          <a:p>
            <a:r>
              <a:rPr lang="en-US" dirty="0"/>
              <a:t>Can spot planets that are about </a:t>
            </a:r>
            <a:r>
              <a:rPr lang="en-US" b="1" dirty="0"/>
              <a:t>2500 light-years</a:t>
            </a:r>
            <a:r>
              <a:rPr lang="en-US" dirty="0"/>
              <a:t> away.</a:t>
            </a:r>
          </a:p>
        </p:txBody>
      </p:sp>
    </p:spTree>
    <p:extLst>
      <p:ext uri="{BB962C8B-B14F-4D97-AF65-F5344CB8AC3E}">
        <p14:creationId xmlns:p14="http://schemas.microsoft.com/office/powerpoint/2010/main" val="3899228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8982" y="2087419"/>
            <a:ext cx="11416145" cy="4867563"/>
          </a:xfrm>
        </p:spPr>
        <p:txBody>
          <a:bodyPr>
            <a:normAutofit/>
          </a:bodyPr>
          <a:lstStyle/>
          <a:p>
            <a:pPr marL="0" indent="0">
              <a:buNone/>
            </a:pPr>
            <a:r>
              <a:rPr lang="en-US" sz="2000" b="1" dirty="0"/>
              <a:t>AI in Healthcare</a:t>
            </a:r>
          </a:p>
          <a:p>
            <a:r>
              <a:rPr lang="en-US" sz="2000" dirty="0"/>
              <a:t>Improves healthcare by providing </a:t>
            </a:r>
            <a:r>
              <a:rPr lang="en-US" sz="2000" b="1" dirty="0"/>
              <a:t>faster and more accurate diagnosis</a:t>
            </a:r>
            <a:r>
              <a:rPr lang="en-US" sz="2000" dirty="0"/>
              <a:t>. </a:t>
            </a:r>
          </a:p>
          <a:p>
            <a:r>
              <a:rPr lang="en-US" sz="2000" dirty="0"/>
              <a:t>Assists doctors in diagnosing diseases and recommending treatments. </a:t>
            </a:r>
          </a:p>
          <a:p>
            <a:r>
              <a:rPr lang="en-US" sz="2000" dirty="0"/>
              <a:t>Monitors patients and alerts doctors when a patient's condition worsens. </a:t>
            </a:r>
          </a:p>
          <a:p>
            <a:r>
              <a:rPr lang="en-US" sz="2000" b="1" dirty="0"/>
              <a:t>Example:</a:t>
            </a:r>
            <a:r>
              <a:rPr lang="en-US" sz="2000" dirty="0"/>
              <a:t> Apple Watch monitors health conditions. </a:t>
            </a:r>
          </a:p>
          <a:p>
            <a:r>
              <a:rPr lang="en-US" sz="2000" b="1" dirty="0"/>
              <a:t>IBM Watson</a:t>
            </a:r>
            <a:r>
              <a:rPr lang="en-US" sz="2000" dirty="0"/>
              <a:t> is used by over </a:t>
            </a:r>
            <a:r>
              <a:rPr lang="en-US" sz="2000" b="1" dirty="0"/>
              <a:t>230 healthcare organizations</a:t>
            </a:r>
            <a:r>
              <a:rPr lang="en-US" sz="2000" dirty="0"/>
              <a:t> worldwide for medical diagnosis. </a:t>
            </a:r>
          </a:p>
          <a:p>
            <a:r>
              <a:rPr lang="en-US" sz="2000" dirty="0"/>
              <a:t>In </a:t>
            </a:r>
            <a:r>
              <a:rPr lang="en-US" sz="2000" b="1" dirty="0"/>
              <a:t>2016</a:t>
            </a:r>
            <a:r>
              <a:rPr lang="en-US" sz="2000" dirty="0"/>
              <a:t>, IBM Watson correctly diagnosed a </a:t>
            </a:r>
            <a:r>
              <a:rPr lang="en-US" sz="2000" b="1" dirty="0"/>
              <a:t>rare leukemia</a:t>
            </a:r>
            <a:r>
              <a:rPr lang="en-US" sz="2000" dirty="0"/>
              <a:t> case by analyzing </a:t>
            </a:r>
            <a:r>
              <a:rPr lang="en-US" sz="2000" b="1" dirty="0"/>
              <a:t>20 million oncology records</a:t>
            </a:r>
            <a:r>
              <a:rPr lang="en-US" sz="2000" dirty="0"/>
              <a:t>. </a:t>
            </a:r>
          </a:p>
          <a:p>
            <a:r>
              <a:rPr lang="en-US" sz="2000" b="1" dirty="0"/>
              <a:t>Google's AI Eye Doctor</a:t>
            </a:r>
            <a:r>
              <a:rPr lang="en-US" sz="2000" dirty="0"/>
              <a:t> analyzes retinal scans to detect </a:t>
            </a:r>
            <a:r>
              <a:rPr lang="en-US" sz="2000" b="1" dirty="0"/>
              <a:t>diabetic retinopathy</a:t>
            </a:r>
            <a:r>
              <a:rPr lang="en-US" sz="2000" dirty="0"/>
              <a:t>, a disease that can cause blindness.</a:t>
            </a:r>
          </a:p>
        </p:txBody>
      </p:sp>
    </p:spTree>
    <p:extLst>
      <p:ext uri="{BB962C8B-B14F-4D97-AF65-F5344CB8AC3E}">
        <p14:creationId xmlns:p14="http://schemas.microsoft.com/office/powerpoint/2010/main" val="3356678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655" y="2013527"/>
            <a:ext cx="10935853" cy="5384800"/>
          </a:xfrm>
        </p:spPr>
        <p:txBody>
          <a:bodyPr>
            <a:noAutofit/>
          </a:bodyPr>
          <a:lstStyle/>
          <a:p>
            <a:pPr marL="0" indent="0">
              <a:buNone/>
            </a:pPr>
            <a:r>
              <a:rPr lang="en-US" b="1" dirty="0"/>
              <a:t>Google Predictive Search</a:t>
            </a:r>
          </a:p>
          <a:p>
            <a:r>
              <a:rPr lang="en-US" dirty="0"/>
              <a:t>One of the most popular applications of AI. </a:t>
            </a:r>
          </a:p>
          <a:p>
            <a:r>
              <a:rPr lang="en-US" dirty="0"/>
              <a:t>Suggests search queries as the user types. </a:t>
            </a:r>
          </a:p>
          <a:p>
            <a:r>
              <a:rPr lang="en-US" dirty="0"/>
              <a:t>Uses AI to predict what the user is searching for. </a:t>
            </a:r>
          </a:p>
          <a:p>
            <a:r>
              <a:rPr lang="en-US" dirty="0"/>
              <a:t>Recommendations are based on user data such as location, age, and search history. </a:t>
            </a:r>
          </a:p>
          <a:p>
            <a:r>
              <a:rPr lang="en-US" dirty="0"/>
              <a:t>Helps users find information quickly and accurately. </a:t>
            </a:r>
          </a:p>
          <a:p>
            <a:pPr marL="0" indent="0">
              <a:buNone/>
            </a:pPr>
            <a:r>
              <a:rPr lang="en-US" b="1" dirty="0"/>
              <a:t>Virtual Assistants</a:t>
            </a:r>
          </a:p>
          <a:p>
            <a:r>
              <a:rPr lang="en-US" dirty="0"/>
              <a:t>AI-powered assistants such as </a:t>
            </a:r>
            <a:r>
              <a:rPr lang="en-US" b="1" dirty="0" err="1"/>
              <a:t>Siri</a:t>
            </a:r>
            <a:r>
              <a:rPr lang="en-US" b="1" dirty="0"/>
              <a:t>, Alexa, and </a:t>
            </a:r>
            <a:r>
              <a:rPr lang="en-US" b="1" dirty="0" err="1"/>
              <a:t>Cortana</a:t>
            </a:r>
            <a:r>
              <a:rPr lang="en-US" dirty="0"/>
              <a:t>. </a:t>
            </a:r>
          </a:p>
          <a:p>
            <a:r>
              <a:rPr lang="en-US" dirty="0"/>
              <a:t>Understand and respond to voice commands. </a:t>
            </a:r>
          </a:p>
          <a:p>
            <a:r>
              <a:rPr lang="en-US" dirty="0"/>
              <a:t>Help users perform tasks like setting reminders, answering questions, and controlling smart devices. </a:t>
            </a:r>
          </a:p>
          <a:p>
            <a:r>
              <a:rPr lang="en-US" b="1" dirty="0"/>
              <a:t>Google Duplex</a:t>
            </a:r>
            <a:r>
              <a:rPr lang="en-US" dirty="0"/>
              <a:t> can make phone calls and book appointments with a human-like conversation style.</a:t>
            </a:r>
          </a:p>
          <a:p>
            <a:pPr marL="0" indent="0">
              <a:buNone/>
            </a:pPr>
            <a:endParaRPr lang="en-IN" dirty="0"/>
          </a:p>
        </p:txBody>
      </p:sp>
    </p:spTree>
    <p:extLst>
      <p:ext uri="{BB962C8B-B14F-4D97-AF65-F5344CB8AC3E}">
        <p14:creationId xmlns:p14="http://schemas.microsoft.com/office/powerpoint/2010/main" val="150709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4255" y="2309091"/>
            <a:ext cx="10529453" cy="4479636"/>
          </a:xfrm>
        </p:spPr>
        <p:txBody>
          <a:bodyPr>
            <a:normAutofit/>
          </a:bodyPr>
          <a:lstStyle/>
          <a:p>
            <a:pPr marL="0" indent="0">
              <a:buNone/>
            </a:pPr>
            <a:r>
              <a:rPr lang="en-IN" sz="2000" b="1" dirty="0"/>
              <a:t>AI in Finance</a:t>
            </a:r>
          </a:p>
          <a:p>
            <a:r>
              <a:rPr lang="en-IN" dirty="0"/>
              <a:t>AI automates financial processes and improves efficiency. </a:t>
            </a:r>
          </a:p>
          <a:p>
            <a:r>
              <a:rPr lang="en-IN" dirty="0"/>
              <a:t>Used in </a:t>
            </a:r>
            <a:r>
              <a:rPr lang="en-IN" b="1" dirty="0"/>
              <a:t>automation, </a:t>
            </a:r>
            <a:r>
              <a:rPr lang="en-IN" b="1" dirty="0" err="1"/>
              <a:t>chatbots</a:t>
            </a:r>
            <a:r>
              <a:rPr lang="en-IN" b="1" dirty="0"/>
              <a:t>, adaptive intelligence, algorithmic trading, and machine learning</a:t>
            </a:r>
            <a:r>
              <a:rPr lang="en-IN" dirty="0"/>
              <a:t>. </a:t>
            </a:r>
          </a:p>
          <a:p>
            <a:r>
              <a:rPr lang="en-IN" dirty="0"/>
              <a:t>Helps </a:t>
            </a:r>
            <a:r>
              <a:rPr lang="en-IN" dirty="0" err="1"/>
              <a:t>analyze</a:t>
            </a:r>
            <a:r>
              <a:rPr lang="en-IN" dirty="0"/>
              <a:t> financial and legal documents quickly. </a:t>
            </a:r>
          </a:p>
          <a:p>
            <a:r>
              <a:rPr lang="en-IN" b="1" dirty="0"/>
              <a:t>JP Morgan's </a:t>
            </a:r>
            <a:r>
              <a:rPr lang="en-IN" b="1" dirty="0" err="1"/>
              <a:t>COiN</a:t>
            </a:r>
            <a:r>
              <a:rPr lang="en-IN" b="1" dirty="0"/>
              <a:t> (Contract Intelligence) Platform</a:t>
            </a:r>
            <a:r>
              <a:rPr lang="en-IN" dirty="0"/>
              <a:t> uses AI, machine learning, and image recognition to </a:t>
            </a:r>
            <a:r>
              <a:rPr lang="en-IN" dirty="0" err="1"/>
              <a:t>analyze</a:t>
            </a:r>
            <a:r>
              <a:rPr lang="en-IN" dirty="0"/>
              <a:t> legal documents. </a:t>
            </a:r>
          </a:p>
          <a:p>
            <a:r>
              <a:rPr lang="en-IN" dirty="0"/>
              <a:t>AI extracts important data points and clauses within seconds. </a:t>
            </a:r>
          </a:p>
          <a:p>
            <a:r>
              <a:rPr lang="en-IN" dirty="0"/>
              <a:t>Reviewing </a:t>
            </a:r>
            <a:r>
              <a:rPr lang="en-IN" b="1" dirty="0"/>
              <a:t>12,000 agreements</a:t>
            </a:r>
            <a:r>
              <a:rPr lang="en-IN" dirty="0"/>
              <a:t> manually takes over </a:t>
            </a:r>
            <a:r>
              <a:rPr lang="en-IN" b="1" dirty="0"/>
              <a:t>36,000 hours</a:t>
            </a:r>
            <a:r>
              <a:rPr lang="en-IN" dirty="0"/>
              <a:t>, whereas AI completes the task in </a:t>
            </a:r>
            <a:r>
              <a:rPr lang="en-IN" b="1" dirty="0"/>
              <a:t>seconds</a:t>
            </a:r>
            <a:r>
              <a:rPr lang="en-IN" dirty="0"/>
              <a:t>.</a:t>
            </a:r>
          </a:p>
        </p:txBody>
      </p:sp>
    </p:spTree>
    <p:extLst>
      <p:ext uri="{BB962C8B-B14F-4D97-AF65-F5344CB8AC3E}">
        <p14:creationId xmlns:p14="http://schemas.microsoft.com/office/powerpoint/2010/main" val="2461782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5782" y="2115127"/>
            <a:ext cx="10612582" cy="4839854"/>
          </a:xfrm>
        </p:spPr>
        <p:txBody>
          <a:bodyPr>
            <a:normAutofit lnSpcReduction="10000"/>
          </a:bodyPr>
          <a:lstStyle/>
          <a:p>
            <a:pPr marL="0" indent="0">
              <a:buNone/>
            </a:pPr>
            <a:r>
              <a:rPr lang="en-US" b="1" dirty="0"/>
              <a:t>AI in Data Security</a:t>
            </a:r>
          </a:p>
          <a:p>
            <a:r>
              <a:rPr lang="en-US" dirty="0"/>
              <a:t>AI improves the security of data and protects against cyber threats. </a:t>
            </a:r>
          </a:p>
          <a:p>
            <a:r>
              <a:rPr lang="en-US" dirty="0"/>
              <a:t>Detects software bugs and cyber-attacks quickly. </a:t>
            </a:r>
          </a:p>
          <a:p>
            <a:r>
              <a:rPr lang="en-US" dirty="0"/>
              <a:t>Enhances data safety through intelligent threat detection. </a:t>
            </a:r>
          </a:p>
          <a:p>
            <a:r>
              <a:rPr lang="en-US" b="1" dirty="0"/>
              <a:t>Examples:</a:t>
            </a:r>
            <a:r>
              <a:rPr lang="en-US" dirty="0"/>
              <a:t> AEG Bot and AI2 Platform. </a:t>
            </a:r>
          </a:p>
          <a:p>
            <a:pPr marL="0" indent="0">
              <a:buNone/>
            </a:pPr>
            <a:r>
              <a:rPr lang="en-US" b="1" dirty="0"/>
              <a:t>AI in Social Media</a:t>
            </a:r>
          </a:p>
          <a:p>
            <a:r>
              <a:rPr lang="en-US" dirty="0"/>
              <a:t>AI manages and organizes billions of user profiles efficiently. </a:t>
            </a:r>
          </a:p>
          <a:p>
            <a:r>
              <a:rPr lang="en-US" dirty="0"/>
              <a:t>Analyzes large amounts of data to identify trends, hashtags, and user preferences. </a:t>
            </a:r>
          </a:p>
          <a:p>
            <a:r>
              <a:rPr lang="en-US" b="1" dirty="0"/>
              <a:t>Facebook</a:t>
            </a:r>
            <a:r>
              <a:rPr lang="en-US" dirty="0"/>
              <a:t> uses AI for face verification and automatic photo tagging. </a:t>
            </a:r>
          </a:p>
          <a:p>
            <a:r>
              <a:rPr lang="en-US" b="1" dirty="0"/>
              <a:t>Twitter (X)</a:t>
            </a:r>
            <a:r>
              <a:rPr lang="en-US" dirty="0"/>
              <a:t> uses AI, machine learning, deep learning, and NLP to detect hate speech and terrorist content. </a:t>
            </a:r>
          </a:p>
          <a:p>
            <a:r>
              <a:rPr lang="en-US" dirty="0"/>
              <a:t>AI helped identify and ban </a:t>
            </a:r>
            <a:r>
              <a:rPr lang="en-US" b="1" dirty="0"/>
              <a:t>over 300,000 terrorist-linked accounts</a:t>
            </a:r>
            <a:r>
              <a:rPr lang="en-US" dirty="0"/>
              <a:t>, with </a:t>
            </a:r>
            <a:r>
              <a:rPr lang="en-US" b="1" dirty="0"/>
              <a:t>95% detected automatically by AI</a:t>
            </a:r>
            <a:r>
              <a:rPr lang="en-US" dirty="0"/>
              <a:t>.</a:t>
            </a:r>
          </a:p>
        </p:txBody>
      </p:sp>
    </p:spTree>
    <p:extLst>
      <p:ext uri="{BB962C8B-B14F-4D97-AF65-F5344CB8AC3E}">
        <p14:creationId xmlns:p14="http://schemas.microsoft.com/office/powerpoint/2010/main" val="375621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238" y="2133600"/>
            <a:ext cx="11111344" cy="4922982"/>
          </a:xfrm>
        </p:spPr>
        <p:txBody>
          <a:bodyPr>
            <a:normAutofit/>
          </a:bodyPr>
          <a:lstStyle/>
          <a:p>
            <a:pPr marL="0" indent="0">
              <a:buNone/>
            </a:pPr>
            <a:r>
              <a:rPr lang="en-US" b="1" dirty="0"/>
              <a:t>AI in Travel &amp; Transport</a:t>
            </a:r>
          </a:p>
          <a:p>
            <a:r>
              <a:rPr lang="en-US" dirty="0"/>
              <a:t>AI is widely used in the travel and transport industry. </a:t>
            </a:r>
          </a:p>
          <a:p>
            <a:r>
              <a:rPr lang="en-US" dirty="0"/>
              <a:t>Helps in booking trips, suggesting hotels, flights, and the best travel routes. </a:t>
            </a:r>
          </a:p>
          <a:p>
            <a:r>
              <a:rPr lang="en-US" dirty="0"/>
              <a:t>AI-powered </a:t>
            </a:r>
            <a:r>
              <a:rPr lang="en-US" dirty="0" err="1"/>
              <a:t>chatbots</a:t>
            </a:r>
            <a:r>
              <a:rPr lang="en-US" dirty="0"/>
              <a:t> provide quick and human-like customer support. </a:t>
            </a:r>
          </a:p>
          <a:p>
            <a:r>
              <a:rPr lang="en-US" dirty="0"/>
              <a:t>Improves customer experience through personalized travel recommendations. </a:t>
            </a:r>
          </a:p>
          <a:p>
            <a:pPr marL="0" indent="0">
              <a:buNone/>
            </a:pPr>
            <a:r>
              <a:rPr lang="en-US" b="1" dirty="0"/>
              <a:t>AI in Automotive Industry</a:t>
            </a:r>
          </a:p>
          <a:p>
            <a:r>
              <a:rPr lang="en-US" dirty="0"/>
              <a:t>AI provides intelligent virtual assistants in modern vehicles. </a:t>
            </a:r>
          </a:p>
          <a:p>
            <a:r>
              <a:rPr lang="en-US" b="1" dirty="0"/>
              <a:t>Tesla</a:t>
            </a:r>
            <a:r>
              <a:rPr lang="en-US" dirty="0"/>
              <a:t> uses </a:t>
            </a:r>
            <a:r>
              <a:rPr lang="en-US" b="1" dirty="0" err="1"/>
              <a:t>TeslaBot</a:t>
            </a:r>
            <a:r>
              <a:rPr lang="en-US" dirty="0"/>
              <a:t> as an intelligent virtual assistant. </a:t>
            </a:r>
          </a:p>
          <a:p>
            <a:r>
              <a:rPr lang="en-US" dirty="0"/>
              <a:t>AI is used to develop </a:t>
            </a:r>
            <a:r>
              <a:rPr lang="en-US" b="1" dirty="0"/>
              <a:t>self-driving (autonomous) cars</a:t>
            </a:r>
            <a:r>
              <a:rPr lang="en-US" dirty="0"/>
              <a:t>. </a:t>
            </a:r>
          </a:p>
          <a:p>
            <a:r>
              <a:rPr lang="en-US" dirty="0"/>
              <a:t>Self-driving cars use </a:t>
            </a:r>
            <a:r>
              <a:rPr lang="en-US" b="1" dirty="0"/>
              <a:t>computer vision, image detection, and deep learning</a:t>
            </a:r>
            <a:r>
              <a:rPr lang="en-US" dirty="0"/>
              <a:t> to detect objects and drive without human intervention. </a:t>
            </a:r>
          </a:p>
          <a:p>
            <a:r>
              <a:rPr lang="en-US" b="1" dirty="0"/>
              <a:t>Tesla's Autopilot</a:t>
            </a:r>
            <a:r>
              <a:rPr lang="en-US" dirty="0"/>
              <a:t> and </a:t>
            </a:r>
            <a:r>
              <a:rPr lang="en-US" b="1" dirty="0" err="1"/>
              <a:t>RoboTaxi</a:t>
            </a:r>
            <a:r>
              <a:rPr lang="en-US" dirty="0"/>
              <a:t> are examples of AI-powered autonomous driving systems.</a:t>
            </a:r>
          </a:p>
        </p:txBody>
      </p:sp>
    </p:spTree>
    <p:extLst>
      <p:ext uri="{BB962C8B-B14F-4D97-AF65-F5344CB8AC3E}">
        <p14:creationId xmlns:p14="http://schemas.microsoft.com/office/powerpoint/2010/main" val="3720384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8764" y="600364"/>
            <a:ext cx="10861963" cy="5632311"/>
          </a:xfrm>
          <a:prstGeom prst="rect">
            <a:avLst/>
          </a:prstGeom>
        </p:spPr>
        <p:txBody>
          <a:bodyPr wrap="square">
            <a:spAutoFit/>
          </a:bodyPr>
          <a:lstStyle/>
          <a:p>
            <a:r>
              <a:rPr lang="en-US" sz="2000" b="1" dirty="0"/>
              <a:t>AI in Robotics</a:t>
            </a:r>
          </a:p>
          <a:p>
            <a:pPr>
              <a:buFont typeface="Arial" panose="020B0604020202020204" pitchFamily="34" charset="0"/>
              <a:buChar char="•"/>
            </a:pPr>
            <a:r>
              <a:rPr lang="en-US" sz="2000" dirty="0" smtClean="0"/>
              <a:t> AI </a:t>
            </a:r>
            <a:r>
              <a:rPr lang="en-US" sz="2000" dirty="0"/>
              <a:t>enables robots to perform tasks intelligently using learning and experience. </a:t>
            </a:r>
          </a:p>
          <a:p>
            <a:pPr>
              <a:buFont typeface="Arial" panose="020B0604020202020204" pitchFamily="34" charset="0"/>
              <a:buChar char="•"/>
            </a:pPr>
            <a:r>
              <a:rPr lang="en-US" sz="2000" dirty="0"/>
              <a:t>Unlike traditional robots, AI robots are not limited to pre-programmed instructions. </a:t>
            </a:r>
          </a:p>
          <a:p>
            <a:pPr>
              <a:buFont typeface="Arial" panose="020B0604020202020204" pitchFamily="34" charset="0"/>
              <a:buChar char="•"/>
            </a:pPr>
            <a:r>
              <a:rPr lang="en-US" sz="2000" dirty="0"/>
              <a:t>AI-powered robots can adapt to new situations and improve their performance. </a:t>
            </a:r>
          </a:p>
          <a:p>
            <a:pPr>
              <a:buFont typeface="Arial" panose="020B0604020202020204" pitchFamily="34" charset="0"/>
              <a:buChar char="•"/>
            </a:pPr>
            <a:r>
              <a:rPr lang="en-US" sz="2000" b="1" dirty="0"/>
              <a:t>Examples:</a:t>
            </a:r>
            <a:r>
              <a:rPr lang="en-US" sz="2000" dirty="0"/>
              <a:t> </a:t>
            </a:r>
            <a:r>
              <a:rPr lang="en-US" sz="2000" b="1" dirty="0"/>
              <a:t>Sophia</a:t>
            </a:r>
            <a:r>
              <a:rPr lang="en-US" sz="2000" dirty="0"/>
              <a:t> and </a:t>
            </a:r>
            <a:r>
              <a:rPr lang="en-US" sz="2000" b="1" dirty="0"/>
              <a:t>Erica</a:t>
            </a:r>
            <a:r>
              <a:rPr lang="en-US" sz="2000" dirty="0"/>
              <a:t> are humanoid robots that can talk and interact like humans. </a:t>
            </a:r>
            <a:endParaRPr lang="en-US" sz="2000" dirty="0" smtClean="0"/>
          </a:p>
          <a:p>
            <a:endParaRPr lang="en-US" sz="2000" dirty="0"/>
          </a:p>
          <a:p>
            <a:r>
              <a:rPr lang="en-US" sz="2000" b="1" dirty="0"/>
              <a:t>AI in Entertainment</a:t>
            </a:r>
          </a:p>
          <a:p>
            <a:pPr>
              <a:buFont typeface="Arial" panose="020B0604020202020204" pitchFamily="34" charset="0"/>
              <a:buChar char="•"/>
            </a:pPr>
            <a:r>
              <a:rPr lang="en-US" sz="2000" dirty="0"/>
              <a:t>AI is widely used in entertainment platforms such as </a:t>
            </a:r>
            <a:r>
              <a:rPr lang="en-US" sz="2000" b="1" dirty="0"/>
              <a:t>Netflix</a:t>
            </a:r>
            <a:r>
              <a:rPr lang="en-US" sz="2000" dirty="0"/>
              <a:t> and </a:t>
            </a:r>
            <a:r>
              <a:rPr lang="en-US" sz="2000" b="1" dirty="0"/>
              <a:t>Amazon Prime</a:t>
            </a:r>
            <a:r>
              <a:rPr lang="en-US" sz="2000" dirty="0"/>
              <a:t>. </a:t>
            </a:r>
          </a:p>
          <a:p>
            <a:pPr>
              <a:buFont typeface="Arial" panose="020B0604020202020204" pitchFamily="34" charset="0"/>
              <a:buChar char="•"/>
            </a:pPr>
            <a:r>
              <a:rPr lang="en-US" sz="2000" dirty="0"/>
              <a:t>Machine Learning (ML) and AI recommend movies, TV shows, and other content based on user preferences. </a:t>
            </a:r>
          </a:p>
          <a:p>
            <a:pPr>
              <a:buFont typeface="Arial" panose="020B0604020202020204" pitchFamily="34" charset="0"/>
              <a:buChar char="•"/>
            </a:pPr>
            <a:r>
              <a:rPr lang="en-US" sz="2000" dirty="0"/>
              <a:t>Provides personalized recommendations to improve the user experience. </a:t>
            </a:r>
            <a:endParaRPr lang="en-US" sz="2000" dirty="0" smtClean="0"/>
          </a:p>
          <a:p>
            <a:endParaRPr lang="en-US" sz="2000" dirty="0"/>
          </a:p>
          <a:p>
            <a:r>
              <a:rPr lang="en-US" sz="2000" b="1" dirty="0"/>
              <a:t>AI in Agriculture</a:t>
            </a:r>
          </a:p>
          <a:p>
            <a:pPr>
              <a:buFont typeface="Arial" panose="020B0604020202020204" pitchFamily="34" charset="0"/>
              <a:buChar char="•"/>
            </a:pPr>
            <a:r>
              <a:rPr lang="en-US" sz="2000" dirty="0"/>
              <a:t>AI is transforming agriculture by making farming more efficient. </a:t>
            </a:r>
          </a:p>
          <a:p>
            <a:pPr>
              <a:buFont typeface="Arial" panose="020B0604020202020204" pitchFamily="34" charset="0"/>
              <a:buChar char="•"/>
            </a:pPr>
            <a:r>
              <a:rPr lang="en-US" sz="2000" dirty="0"/>
              <a:t>Used in </a:t>
            </a:r>
            <a:r>
              <a:rPr lang="en-US" sz="2000" b="1" dirty="0"/>
              <a:t>agricultural robotics</a:t>
            </a:r>
            <a:r>
              <a:rPr lang="en-US" sz="2000" dirty="0"/>
              <a:t>, </a:t>
            </a:r>
            <a:r>
              <a:rPr lang="en-US" sz="2000" b="1" dirty="0"/>
              <a:t>soil monitoring</a:t>
            </a:r>
            <a:r>
              <a:rPr lang="en-US" sz="2000" dirty="0"/>
              <a:t>, </a:t>
            </a:r>
            <a:r>
              <a:rPr lang="en-US" sz="2000" b="1" dirty="0"/>
              <a:t>crop monitoring</a:t>
            </a:r>
            <a:r>
              <a:rPr lang="en-US" sz="2000" dirty="0"/>
              <a:t>, and </a:t>
            </a:r>
            <a:r>
              <a:rPr lang="en-US" sz="2000" b="1" dirty="0"/>
              <a:t>predictive analysis</a:t>
            </a:r>
            <a:r>
              <a:rPr lang="en-US" sz="2000" dirty="0"/>
              <a:t>. </a:t>
            </a:r>
          </a:p>
          <a:p>
            <a:pPr>
              <a:buFont typeface="Arial" panose="020B0604020202020204" pitchFamily="34" charset="0"/>
              <a:buChar char="•"/>
            </a:pPr>
            <a:r>
              <a:rPr lang="en-US" sz="2000" dirty="0"/>
              <a:t>Helps farmers improve productivity and crop yield. </a:t>
            </a:r>
          </a:p>
          <a:p>
            <a:pPr>
              <a:buFont typeface="Arial" panose="020B0604020202020204" pitchFamily="34" charset="0"/>
              <a:buChar char="•"/>
            </a:pPr>
            <a:r>
              <a:rPr lang="en-US" sz="2000" dirty="0"/>
              <a:t>Reduces the need for labor, time, and resources while increasing efficiency.</a:t>
            </a:r>
          </a:p>
        </p:txBody>
      </p:sp>
    </p:spTree>
    <p:extLst>
      <p:ext uri="{BB962C8B-B14F-4D97-AF65-F5344CB8AC3E}">
        <p14:creationId xmlns:p14="http://schemas.microsoft.com/office/powerpoint/2010/main" val="1005618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836" y="2346036"/>
            <a:ext cx="10769600" cy="4511964"/>
          </a:xfrm>
        </p:spPr>
        <p:txBody>
          <a:bodyPr>
            <a:noAutofit/>
          </a:bodyPr>
          <a:lstStyle/>
          <a:p>
            <a:pPr marL="0" indent="0">
              <a:buNone/>
            </a:pPr>
            <a:r>
              <a:rPr lang="en-US" b="1" dirty="0" smtClean="0"/>
              <a:t>AI </a:t>
            </a:r>
            <a:r>
              <a:rPr lang="en-US" b="1" dirty="0"/>
              <a:t>in E-commerce:</a:t>
            </a:r>
            <a:r>
              <a:rPr lang="en-US" dirty="0"/>
              <a:t> AI is providing a competitive edge to the e-commerce</a:t>
            </a:r>
          </a:p>
          <a:p>
            <a:r>
              <a:rPr lang="en-US" dirty="0"/>
              <a:t>industry, and it is becoming more demanding in the e-commerce business.</a:t>
            </a:r>
          </a:p>
          <a:p>
            <a:r>
              <a:rPr lang="en-US" dirty="0"/>
              <a:t>AI is helping shoppers to discover associated products with </a:t>
            </a:r>
            <a:r>
              <a:rPr lang="en-US" dirty="0" smtClean="0"/>
              <a:t>recommended size</a:t>
            </a:r>
            <a:r>
              <a:rPr lang="en-US" dirty="0"/>
              <a:t>, color, or even brand.</a:t>
            </a:r>
          </a:p>
          <a:p>
            <a:pPr marL="0" indent="0">
              <a:buNone/>
            </a:pPr>
            <a:r>
              <a:rPr lang="en-US" b="1" dirty="0" smtClean="0"/>
              <a:t>AI </a:t>
            </a:r>
            <a:r>
              <a:rPr lang="en-US" b="1" dirty="0"/>
              <a:t>in education: </a:t>
            </a:r>
            <a:r>
              <a:rPr lang="en-US" dirty="0"/>
              <a:t>AI can automate grading so that the tutor can have more</a:t>
            </a:r>
          </a:p>
          <a:p>
            <a:r>
              <a:rPr lang="en-US" dirty="0"/>
              <a:t>time to teach. AI </a:t>
            </a:r>
            <a:r>
              <a:rPr lang="en-US" dirty="0" err="1"/>
              <a:t>chatbot</a:t>
            </a:r>
            <a:r>
              <a:rPr lang="en-US" dirty="0"/>
              <a:t> can communicate with students as a </a:t>
            </a:r>
            <a:r>
              <a:rPr lang="en-US" dirty="0" smtClean="0"/>
              <a:t>teaching assistant</a:t>
            </a:r>
            <a:r>
              <a:rPr lang="en-US" dirty="0"/>
              <a:t>.</a:t>
            </a:r>
          </a:p>
          <a:p>
            <a:r>
              <a:rPr lang="en-US" dirty="0"/>
              <a:t>AI in the future can be work as a personal virtual tutor for students, </a:t>
            </a:r>
            <a:r>
              <a:rPr lang="en-US" dirty="0" smtClean="0"/>
              <a:t>which will </a:t>
            </a:r>
            <a:r>
              <a:rPr lang="en-US" dirty="0"/>
              <a:t>be accessible easily at any time and any place.</a:t>
            </a:r>
          </a:p>
          <a:p>
            <a:pPr marL="0" indent="0">
              <a:buNone/>
            </a:pPr>
            <a:r>
              <a:rPr lang="en-US" b="1" dirty="0" smtClean="0"/>
              <a:t>Literature</a:t>
            </a:r>
            <a:r>
              <a:rPr lang="en-US" b="1" dirty="0"/>
              <a:t>: </a:t>
            </a:r>
            <a:r>
              <a:rPr lang="en-US" dirty="0"/>
              <a:t>composing </a:t>
            </a:r>
            <a:r>
              <a:rPr lang="en-US" dirty="0" smtClean="0"/>
              <a:t> </a:t>
            </a:r>
            <a:r>
              <a:rPr lang="en-US" dirty="0"/>
              <a:t>poems</a:t>
            </a:r>
            <a:endParaRPr lang="en-IN" dirty="0"/>
          </a:p>
        </p:txBody>
      </p:sp>
    </p:spTree>
    <p:extLst>
      <p:ext uri="{BB962C8B-B14F-4D97-AF65-F5344CB8AC3E}">
        <p14:creationId xmlns:p14="http://schemas.microsoft.com/office/powerpoint/2010/main" val="831926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Misconceptions: AI, Machine Learning, and Deep Learning</a:t>
            </a:r>
            <a:endParaRPr lang="en-IN" dirty="0"/>
          </a:p>
        </p:txBody>
      </p:sp>
      <p:sp>
        <p:nvSpPr>
          <p:cNvPr id="3" name="Content Placeholder 2"/>
          <p:cNvSpPr>
            <a:spLocks noGrp="1"/>
          </p:cNvSpPr>
          <p:nvPr>
            <p:ph idx="1"/>
          </p:nvPr>
        </p:nvSpPr>
        <p:spPr>
          <a:xfrm>
            <a:off x="591128" y="2484582"/>
            <a:ext cx="11351490" cy="4373418"/>
          </a:xfrm>
        </p:spPr>
        <p:txBody>
          <a:bodyPr>
            <a:normAutofit fontScale="92500" lnSpcReduction="10000"/>
          </a:bodyPr>
          <a:lstStyle/>
          <a:p>
            <a:r>
              <a:rPr lang="en-US" dirty="0"/>
              <a:t>People often think that </a:t>
            </a:r>
            <a:r>
              <a:rPr lang="en-US" b="1" dirty="0"/>
              <a:t>Artificial Intelligence (AI), Machine Learning (ML), and Deep Learning (DL)</a:t>
            </a:r>
            <a:r>
              <a:rPr lang="en-US" dirty="0"/>
              <a:t> are the same because they are used together in many applications (e.g., </a:t>
            </a:r>
            <a:r>
              <a:rPr lang="en-US" b="1" dirty="0" err="1"/>
              <a:t>Siri</a:t>
            </a:r>
            <a:r>
              <a:rPr lang="en-US" dirty="0"/>
              <a:t>). However, they are different but related technologies.</a:t>
            </a:r>
          </a:p>
          <a:p>
            <a:pPr marL="0" indent="0">
              <a:buNone/>
            </a:pPr>
            <a:r>
              <a:rPr lang="en-US" sz="1900" b="1" dirty="0"/>
              <a:t>Artificial Intelligence (AI)</a:t>
            </a:r>
          </a:p>
          <a:p>
            <a:r>
              <a:rPr lang="en-US" dirty="0"/>
              <a:t>AI is the science of making machines mimic human intelligence and behavior. </a:t>
            </a:r>
          </a:p>
          <a:p>
            <a:r>
              <a:rPr lang="en-US" dirty="0"/>
              <a:t>It is the </a:t>
            </a:r>
            <a:r>
              <a:rPr lang="en-US" b="1" dirty="0"/>
              <a:t>broadest field</a:t>
            </a:r>
            <a:r>
              <a:rPr lang="en-US" dirty="0"/>
              <a:t>. </a:t>
            </a:r>
          </a:p>
          <a:p>
            <a:pPr marL="0" indent="0">
              <a:buNone/>
            </a:pPr>
            <a:r>
              <a:rPr lang="en-US" sz="1900" b="1" dirty="0"/>
              <a:t>Machine Learning (ML)</a:t>
            </a:r>
          </a:p>
          <a:p>
            <a:r>
              <a:rPr lang="en-US" dirty="0"/>
              <a:t>ML is a </a:t>
            </a:r>
            <a:r>
              <a:rPr lang="en-US" b="1" dirty="0"/>
              <a:t>subset of AI</a:t>
            </a:r>
            <a:r>
              <a:rPr lang="en-US" dirty="0"/>
              <a:t>. </a:t>
            </a:r>
          </a:p>
          <a:p>
            <a:r>
              <a:rPr lang="en-US" dirty="0"/>
              <a:t>It enables machines to learn from data and make decisions without being explicitly programmed. </a:t>
            </a:r>
          </a:p>
          <a:p>
            <a:pPr marL="0" indent="0">
              <a:buNone/>
            </a:pPr>
            <a:r>
              <a:rPr lang="en-US" sz="1900" b="1" dirty="0"/>
              <a:t>Deep Learning (DL)</a:t>
            </a:r>
          </a:p>
          <a:p>
            <a:r>
              <a:rPr lang="en-US" dirty="0"/>
              <a:t>DL is a </a:t>
            </a:r>
            <a:r>
              <a:rPr lang="en-US" b="1" dirty="0"/>
              <a:t>subset of Machine Learning</a:t>
            </a:r>
            <a:r>
              <a:rPr lang="en-US" dirty="0"/>
              <a:t>. </a:t>
            </a:r>
          </a:p>
          <a:p>
            <a:r>
              <a:rPr lang="en-US" dirty="0"/>
              <a:t>It uses </a:t>
            </a:r>
            <a:r>
              <a:rPr lang="en-US" b="1" dirty="0"/>
              <a:t>artificial neural networks</a:t>
            </a:r>
            <a:r>
              <a:rPr lang="en-US" dirty="0"/>
              <a:t> to solve complex problems.</a:t>
            </a:r>
          </a:p>
        </p:txBody>
      </p:sp>
    </p:spTree>
    <p:extLst>
      <p:ext uri="{BB962C8B-B14F-4D97-AF65-F5344CB8AC3E}">
        <p14:creationId xmlns:p14="http://schemas.microsoft.com/office/powerpoint/2010/main" val="864131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a:t>
            </a:r>
          </a:p>
        </p:txBody>
      </p:sp>
      <p:sp>
        <p:nvSpPr>
          <p:cNvPr id="3" name="Content Placeholder 2"/>
          <p:cNvSpPr>
            <a:spLocks noGrp="1"/>
          </p:cNvSpPr>
          <p:nvPr>
            <p:ph idx="1"/>
          </p:nvPr>
        </p:nvSpPr>
        <p:spPr/>
        <p:txBody>
          <a:bodyPr>
            <a:normAutofit fontScale="92500" lnSpcReduction="10000"/>
          </a:bodyPr>
          <a:lstStyle/>
          <a:p>
            <a:r>
              <a:rPr lang="en-US" b="1" dirty="0" smtClean="0"/>
              <a:t>Artificial </a:t>
            </a:r>
            <a:r>
              <a:rPr lang="en-US" b="1" dirty="0"/>
              <a:t>Intelligence ⊃ Machine Learning ⊃ Deep Learning</a:t>
            </a:r>
            <a:r>
              <a:rPr lang="en-US" dirty="0"/>
              <a:t> </a:t>
            </a:r>
          </a:p>
          <a:p>
            <a:r>
              <a:rPr lang="en-US" dirty="0"/>
              <a:t>ML and DL help AI solve data-driven problems. </a:t>
            </a:r>
          </a:p>
          <a:p>
            <a:r>
              <a:rPr lang="en-US" dirty="0"/>
              <a:t>AI is not limited to ML and DL; it also includes many other fields. </a:t>
            </a:r>
          </a:p>
          <a:p>
            <a:r>
              <a:rPr lang="en-US" b="1" dirty="0"/>
              <a:t>Other Fields of AI</a:t>
            </a:r>
          </a:p>
          <a:p>
            <a:r>
              <a:rPr lang="en-US" dirty="0"/>
              <a:t>Natural Language Processing (NLP) </a:t>
            </a:r>
          </a:p>
          <a:p>
            <a:r>
              <a:rPr lang="en-US" dirty="0"/>
              <a:t>Object Detection </a:t>
            </a:r>
          </a:p>
          <a:p>
            <a:r>
              <a:rPr lang="en-US" dirty="0"/>
              <a:t>Computer Vision </a:t>
            </a:r>
          </a:p>
          <a:p>
            <a:r>
              <a:rPr lang="en-US" dirty="0"/>
              <a:t>Robotics </a:t>
            </a:r>
          </a:p>
          <a:p>
            <a:r>
              <a:rPr lang="en-US" dirty="0"/>
              <a:t>Expert Systems</a:t>
            </a:r>
          </a:p>
        </p:txBody>
      </p:sp>
    </p:spTree>
    <p:extLst>
      <p:ext uri="{BB962C8B-B14F-4D97-AF65-F5344CB8AC3E}">
        <p14:creationId xmlns:p14="http://schemas.microsoft.com/office/powerpoint/2010/main" val="1897637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Artificial </a:t>
            </a:r>
            <a:r>
              <a:rPr lang="en-US" dirty="0" smtClean="0"/>
              <a:t>Intelligence</a:t>
            </a:r>
            <a:endParaRPr lang="en-US" dirty="0"/>
          </a:p>
        </p:txBody>
      </p:sp>
      <p:sp>
        <p:nvSpPr>
          <p:cNvPr id="3" name="Content Placeholder 2"/>
          <p:cNvSpPr>
            <a:spLocks noGrp="1"/>
          </p:cNvSpPr>
          <p:nvPr>
            <p:ph idx="1"/>
          </p:nvPr>
        </p:nvSpPr>
        <p:spPr>
          <a:xfrm>
            <a:off x="1154954" y="2603500"/>
            <a:ext cx="9965628" cy="4508500"/>
          </a:xfrm>
        </p:spPr>
        <p:txBody>
          <a:bodyPr/>
          <a:lstStyle/>
          <a:p>
            <a:r>
              <a:rPr lang="en-US" dirty="0" smtClean="0"/>
              <a:t>Artificial </a:t>
            </a:r>
            <a:r>
              <a:rPr lang="en-US" dirty="0"/>
              <a:t>Intelligence can be divided in various types, there are </a:t>
            </a:r>
            <a:r>
              <a:rPr lang="en-US" b="1" dirty="0"/>
              <a:t>mainly two </a:t>
            </a:r>
            <a:r>
              <a:rPr lang="en-US" b="1" dirty="0" smtClean="0"/>
              <a:t>types </a:t>
            </a:r>
            <a:r>
              <a:rPr lang="en-US" dirty="0" smtClean="0"/>
              <a:t>of </a:t>
            </a:r>
            <a:r>
              <a:rPr lang="en-US" dirty="0"/>
              <a:t>main categorization which are based on capabilities and based on functionally </a:t>
            </a:r>
            <a:r>
              <a:rPr lang="en-US" dirty="0" smtClean="0"/>
              <a:t>of AI.</a:t>
            </a:r>
          </a:p>
          <a:p>
            <a:r>
              <a:rPr lang="en-US" dirty="0" smtClean="0"/>
              <a:t>Following </a:t>
            </a:r>
            <a:r>
              <a:rPr lang="en-US" dirty="0"/>
              <a:t>is flow diagram which explain the types of AI.</a:t>
            </a:r>
            <a:endParaRPr lang="en-IN" dirty="0"/>
          </a:p>
        </p:txBody>
      </p:sp>
    </p:spTree>
    <p:extLst>
      <p:ext uri="{BB962C8B-B14F-4D97-AF65-F5344CB8AC3E}">
        <p14:creationId xmlns:p14="http://schemas.microsoft.com/office/powerpoint/2010/main" val="4059485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964" y="869032"/>
            <a:ext cx="10058400" cy="5519346"/>
          </a:xfrm>
          <a:prstGeom prst="rect">
            <a:avLst/>
          </a:prstGeom>
        </p:spPr>
      </p:pic>
    </p:spTree>
    <p:extLst>
      <p:ext uri="{BB962C8B-B14F-4D97-AF65-F5344CB8AC3E}">
        <p14:creationId xmlns:p14="http://schemas.microsoft.com/office/powerpoint/2010/main" val="289256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type-1: Based on Capabilities</a:t>
            </a:r>
            <a:br>
              <a:rPr lang="en-US" dirty="0" smtClean="0"/>
            </a:br>
            <a:r>
              <a:rPr lang="en-US" dirty="0"/>
              <a:t>1. Weak AI or Narrow AI:</a:t>
            </a:r>
            <a:br>
              <a:rPr lang="en-US" dirty="0"/>
            </a:br>
            <a:endParaRPr lang="en-IN" dirty="0"/>
          </a:p>
        </p:txBody>
      </p:sp>
      <p:sp>
        <p:nvSpPr>
          <p:cNvPr id="3" name="Content Placeholder 2"/>
          <p:cNvSpPr>
            <a:spLocks noGrp="1"/>
          </p:cNvSpPr>
          <p:nvPr>
            <p:ph idx="1"/>
          </p:nvPr>
        </p:nvSpPr>
        <p:spPr>
          <a:xfrm>
            <a:off x="542925" y="2295525"/>
            <a:ext cx="13392150" cy="5153025"/>
          </a:xfrm>
        </p:spPr>
        <p:txBody>
          <a:bodyPr>
            <a:normAutofit/>
          </a:bodyPr>
          <a:lstStyle/>
          <a:p>
            <a:r>
              <a:rPr lang="en-US" sz="2400" dirty="0" smtClean="0"/>
              <a:t>Narrow </a:t>
            </a:r>
            <a:r>
              <a:rPr lang="en-US" sz="2400" dirty="0"/>
              <a:t>AI is a type of AI which is able to perform a </a:t>
            </a:r>
            <a:r>
              <a:rPr lang="en-US" sz="2400" b="1" dirty="0"/>
              <a:t>dedicated task </a:t>
            </a:r>
            <a:r>
              <a:rPr lang="en-US" sz="2400" dirty="0"/>
              <a:t>with</a:t>
            </a:r>
          </a:p>
          <a:p>
            <a:pPr marL="0" indent="0">
              <a:buNone/>
            </a:pPr>
            <a:r>
              <a:rPr lang="en-US" sz="2400" dirty="0"/>
              <a:t>intelligence. The most common and currently available AI is Narrow AI in</a:t>
            </a:r>
          </a:p>
          <a:p>
            <a:pPr marL="0" indent="0">
              <a:buNone/>
            </a:pPr>
            <a:r>
              <a:rPr lang="en-US" sz="2400" dirty="0"/>
              <a:t>the world of Artificial Intelligence.</a:t>
            </a:r>
          </a:p>
          <a:p>
            <a:r>
              <a:rPr lang="en-US" sz="2400" dirty="0" smtClean="0"/>
              <a:t>Narrow </a:t>
            </a:r>
            <a:r>
              <a:rPr lang="en-US" sz="2400" dirty="0"/>
              <a:t>AI cannot perform beyond its field or limitations, as it is only</a:t>
            </a:r>
          </a:p>
          <a:p>
            <a:pPr marL="0" indent="0">
              <a:buNone/>
            </a:pPr>
            <a:r>
              <a:rPr lang="en-US" sz="2400" dirty="0"/>
              <a:t>trained for one specific task. Hence it is also termed as weak AI. Narrow AI</a:t>
            </a:r>
          </a:p>
          <a:p>
            <a:pPr marL="0" indent="0">
              <a:buNone/>
            </a:pPr>
            <a:r>
              <a:rPr lang="en-US" sz="2400" dirty="0"/>
              <a:t>can fail in unpredictable ways if it goes beyond its limits.</a:t>
            </a:r>
          </a:p>
          <a:p>
            <a:r>
              <a:rPr lang="en-US" sz="2400" dirty="0" smtClean="0"/>
              <a:t> </a:t>
            </a:r>
            <a:r>
              <a:rPr lang="en-US" sz="2400" b="1" dirty="0"/>
              <a:t>Apple </a:t>
            </a:r>
            <a:r>
              <a:rPr lang="en-US" sz="2400" b="1" dirty="0" err="1"/>
              <a:t>Siri</a:t>
            </a:r>
            <a:r>
              <a:rPr lang="en-US" sz="2400" b="1" dirty="0"/>
              <a:t> </a:t>
            </a:r>
            <a:r>
              <a:rPr lang="en-US" sz="2400" dirty="0"/>
              <a:t>is a good example of Narrow AI, but it operates with a limited</a:t>
            </a:r>
          </a:p>
          <a:p>
            <a:pPr marL="0" indent="0">
              <a:buNone/>
            </a:pPr>
            <a:r>
              <a:rPr lang="en-US" sz="2400" dirty="0"/>
              <a:t>pre-defined range of functions</a:t>
            </a:r>
            <a:r>
              <a:rPr lang="en-US" sz="2400" dirty="0" smtClean="0"/>
              <a:t>.</a:t>
            </a:r>
            <a:endParaRPr lang="en-US" sz="2400" dirty="0"/>
          </a:p>
        </p:txBody>
      </p:sp>
    </p:spTree>
    <p:extLst>
      <p:ext uri="{BB962C8B-B14F-4D97-AF65-F5344CB8AC3E}">
        <p14:creationId xmlns:p14="http://schemas.microsoft.com/office/powerpoint/2010/main" val="3790122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IBM's </a:t>
            </a:r>
            <a:r>
              <a:rPr lang="en-US" b="1" dirty="0"/>
              <a:t>Watson </a:t>
            </a:r>
            <a:r>
              <a:rPr lang="en-US" dirty="0"/>
              <a:t>supercomputer also comes under Narrow AI, as it uses an</a:t>
            </a:r>
          </a:p>
          <a:p>
            <a:pPr marL="0" indent="0">
              <a:buNone/>
            </a:pPr>
            <a:r>
              <a:rPr lang="en-US" dirty="0"/>
              <a:t>Expert system approach combined with Machine learning and natural</a:t>
            </a:r>
          </a:p>
          <a:p>
            <a:pPr marL="0" indent="0">
              <a:buNone/>
            </a:pPr>
            <a:r>
              <a:rPr lang="en-US" dirty="0"/>
              <a:t>language processing.</a:t>
            </a:r>
          </a:p>
          <a:p>
            <a:r>
              <a:rPr lang="en-US" dirty="0" smtClean="0"/>
              <a:t> </a:t>
            </a:r>
            <a:r>
              <a:rPr lang="en-US" dirty="0"/>
              <a:t>Some Examples of Narrow AI are playing chess, purchasing suggestions on</a:t>
            </a:r>
          </a:p>
          <a:p>
            <a:pPr marL="0" indent="0">
              <a:buNone/>
            </a:pPr>
            <a:r>
              <a:rPr lang="en-US" dirty="0"/>
              <a:t>e-commerce site, self-driving cars, speech recognition, and image</a:t>
            </a:r>
          </a:p>
          <a:p>
            <a:pPr marL="0" indent="0">
              <a:buNone/>
            </a:pPr>
            <a:r>
              <a:rPr lang="en-US" dirty="0"/>
              <a:t>recognition.</a:t>
            </a:r>
            <a:endParaRPr lang="en-IN" dirty="0"/>
          </a:p>
        </p:txBody>
      </p:sp>
    </p:spTree>
    <p:extLst>
      <p:ext uri="{BB962C8B-B14F-4D97-AF65-F5344CB8AC3E}">
        <p14:creationId xmlns:p14="http://schemas.microsoft.com/office/powerpoint/2010/main" val="901414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General AI:</a:t>
            </a:r>
          </a:p>
        </p:txBody>
      </p:sp>
      <p:sp>
        <p:nvSpPr>
          <p:cNvPr id="3" name="Content Placeholder 2"/>
          <p:cNvSpPr>
            <a:spLocks noGrp="1"/>
          </p:cNvSpPr>
          <p:nvPr>
            <p:ph idx="1"/>
          </p:nvPr>
        </p:nvSpPr>
        <p:spPr>
          <a:xfrm>
            <a:off x="1122830" y="2317173"/>
            <a:ext cx="8825659" cy="3416300"/>
          </a:xfrm>
        </p:spPr>
        <p:txBody>
          <a:bodyPr>
            <a:noAutofit/>
          </a:bodyPr>
          <a:lstStyle/>
          <a:p>
            <a:r>
              <a:rPr lang="en-US" dirty="0" smtClean="0"/>
              <a:t> </a:t>
            </a:r>
            <a:r>
              <a:rPr lang="en-US" dirty="0"/>
              <a:t>General AI is a type of intelligence which could perform any intellectual</a:t>
            </a:r>
          </a:p>
          <a:p>
            <a:pPr marL="0" indent="0">
              <a:buNone/>
            </a:pPr>
            <a:r>
              <a:rPr lang="en-US" dirty="0"/>
              <a:t>task with efficiency like a human.</a:t>
            </a:r>
          </a:p>
          <a:p>
            <a:r>
              <a:rPr lang="en-US" dirty="0" smtClean="0"/>
              <a:t> </a:t>
            </a:r>
            <a:r>
              <a:rPr lang="en-US" dirty="0"/>
              <a:t>The idea behind the general AI to make such a system which could be</a:t>
            </a:r>
          </a:p>
          <a:p>
            <a:pPr marL="0" indent="0">
              <a:buNone/>
            </a:pPr>
            <a:r>
              <a:rPr lang="en-US" dirty="0"/>
              <a:t>smarter and think like a human by its own.</a:t>
            </a:r>
          </a:p>
          <a:p>
            <a:r>
              <a:rPr lang="en-US" dirty="0" smtClean="0"/>
              <a:t> </a:t>
            </a:r>
            <a:r>
              <a:rPr lang="en-US" dirty="0"/>
              <a:t>Currently, there is no such system exist which could come under general </a:t>
            </a:r>
            <a:r>
              <a:rPr lang="en-US" dirty="0" smtClean="0"/>
              <a:t>AI and </a:t>
            </a:r>
            <a:r>
              <a:rPr lang="en-US" dirty="0"/>
              <a:t>can perform any task as perfect as a human.</a:t>
            </a:r>
          </a:p>
          <a:p>
            <a:r>
              <a:rPr lang="en-US" dirty="0" smtClean="0"/>
              <a:t>The </a:t>
            </a:r>
            <a:r>
              <a:rPr lang="en-US" dirty="0"/>
              <a:t>worldwide researchers are now focused on developing machines with</a:t>
            </a:r>
          </a:p>
          <a:p>
            <a:pPr marL="0" indent="0">
              <a:buNone/>
            </a:pPr>
            <a:r>
              <a:rPr lang="en-US" dirty="0"/>
              <a:t>General AI.</a:t>
            </a:r>
          </a:p>
          <a:p>
            <a:r>
              <a:rPr lang="en-US" dirty="0" smtClean="0"/>
              <a:t>As </a:t>
            </a:r>
            <a:r>
              <a:rPr lang="en-US" dirty="0"/>
              <a:t>systems with general AI are still under research, and it will take lots of</a:t>
            </a:r>
          </a:p>
          <a:p>
            <a:pPr marL="0" indent="0">
              <a:buNone/>
            </a:pPr>
            <a:r>
              <a:rPr lang="en-US" dirty="0"/>
              <a:t>efforts and time to develop such systems.</a:t>
            </a:r>
            <a:endParaRPr lang="en-IN" dirty="0"/>
          </a:p>
        </p:txBody>
      </p:sp>
    </p:spTree>
    <p:extLst>
      <p:ext uri="{BB962C8B-B14F-4D97-AF65-F5344CB8AC3E}">
        <p14:creationId xmlns:p14="http://schemas.microsoft.com/office/powerpoint/2010/main" val="3206571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Super AI:</a:t>
            </a:r>
          </a:p>
        </p:txBody>
      </p:sp>
      <p:sp>
        <p:nvSpPr>
          <p:cNvPr id="3" name="Content Placeholder 2"/>
          <p:cNvSpPr>
            <a:spLocks noGrp="1"/>
          </p:cNvSpPr>
          <p:nvPr>
            <p:ph idx="1"/>
          </p:nvPr>
        </p:nvSpPr>
        <p:spPr>
          <a:xfrm>
            <a:off x="849746" y="2235199"/>
            <a:ext cx="10381672" cy="4285673"/>
          </a:xfrm>
        </p:spPr>
        <p:txBody>
          <a:bodyPr>
            <a:noAutofit/>
          </a:bodyPr>
          <a:lstStyle/>
          <a:p>
            <a:r>
              <a:rPr lang="en-US" dirty="0" smtClean="0"/>
              <a:t> </a:t>
            </a:r>
            <a:r>
              <a:rPr lang="en-US" dirty="0"/>
              <a:t>Super AI is a level of Intelligence of Systems at which machines </a:t>
            </a:r>
            <a:r>
              <a:rPr lang="en-US" dirty="0" smtClean="0"/>
              <a:t>could surpass </a:t>
            </a:r>
            <a:r>
              <a:rPr lang="en-US" dirty="0"/>
              <a:t>human intelligence, and can perform any task better than </a:t>
            </a:r>
            <a:r>
              <a:rPr lang="en-US" dirty="0" smtClean="0"/>
              <a:t>human with cognitive properties. It is an outcome of general AI.</a:t>
            </a:r>
          </a:p>
          <a:p>
            <a:r>
              <a:rPr lang="en-US" dirty="0" smtClean="0"/>
              <a:t> </a:t>
            </a:r>
            <a:r>
              <a:rPr lang="en-US" dirty="0"/>
              <a:t>Some key characteristics of strong AI include capability include the </a:t>
            </a:r>
            <a:r>
              <a:rPr lang="en-US" dirty="0" smtClean="0"/>
              <a:t>ability to </a:t>
            </a:r>
            <a:r>
              <a:rPr lang="en-US" dirty="0"/>
              <a:t>think, to reason, solve the puzzle, make judgments, plan, learn, </a:t>
            </a:r>
            <a:r>
              <a:rPr lang="en-US" dirty="0" smtClean="0"/>
              <a:t>and communicate </a:t>
            </a:r>
            <a:r>
              <a:rPr lang="en-US" dirty="0"/>
              <a:t>by its own.</a:t>
            </a:r>
          </a:p>
          <a:p>
            <a:r>
              <a:rPr lang="en-US" dirty="0" smtClean="0"/>
              <a:t> </a:t>
            </a:r>
            <a:r>
              <a:rPr lang="en-US" dirty="0"/>
              <a:t>Super AI is still a hypothetical concept of Artificial </a:t>
            </a:r>
            <a:r>
              <a:rPr lang="en-US" dirty="0" err="1" smtClean="0"/>
              <a:t>Intelligence.Development</a:t>
            </a:r>
            <a:r>
              <a:rPr lang="en-US" dirty="0" smtClean="0"/>
              <a:t> </a:t>
            </a:r>
            <a:r>
              <a:rPr lang="en-US" dirty="0"/>
              <a:t>of such systems in real is still world changing task.</a:t>
            </a:r>
          </a:p>
          <a:p>
            <a:endParaRPr lang="en-US" dirty="0"/>
          </a:p>
          <a:p>
            <a:r>
              <a:rPr lang="en-US" dirty="0"/>
              <a:t>Narrow AI – Dedicated for one task</a:t>
            </a:r>
          </a:p>
          <a:p>
            <a:r>
              <a:rPr lang="en-US" dirty="0"/>
              <a:t>General AI – Performs like human</a:t>
            </a:r>
          </a:p>
          <a:p>
            <a:r>
              <a:rPr lang="en-US" dirty="0"/>
              <a:t>Super AI – Intelligent than human</a:t>
            </a:r>
            <a:endParaRPr lang="en-IN" dirty="0"/>
          </a:p>
        </p:txBody>
      </p:sp>
    </p:spTree>
    <p:extLst>
      <p:ext uri="{BB962C8B-B14F-4D97-AF65-F5344CB8AC3E}">
        <p14:creationId xmlns:p14="http://schemas.microsoft.com/office/powerpoint/2010/main" val="1418174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 type-2: Based on functionality</a:t>
            </a:r>
            <a:br>
              <a:rPr lang="en-US" dirty="0"/>
            </a:br>
            <a:r>
              <a:rPr lang="en-US" dirty="0"/>
              <a:t>1. Reactive Machines</a:t>
            </a:r>
          </a:p>
        </p:txBody>
      </p:sp>
      <p:sp>
        <p:nvSpPr>
          <p:cNvPr id="3" name="Content Placeholder 2"/>
          <p:cNvSpPr>
            <a:spLocks noGrp="1"/>
          </p:cNvSpPr>
          <p:nvPr>
            <p:ph idx="1"/>
          </p:nvPr>
        </p:nvSpPr>
        <p:spPr>
          <a:xfrm>
            <a:off x="896336" y="2557317"/>
            <a:ext cx="9614646" cy="4212937"/>
          </a:xfrm>
        </p:spPr>
        <p:txBody>
          <a:bodyPr>
            <a:normAutofit/>
          </a:bodyPr>
          <a:lstStyle/>
          <a:p>
            <a:r>
              <a:rPr lang="en-US" dirty="0" smtClean="0"/>
              <a:t>Purely </a:t>
            </a:r>
            <a:r>
              <a:rPr lang="en-US" dirty="0"/>
              <a:t>reactive machines are the most basic types of Artificial Intelligence.</a:t>
            </a:r>
          </a:p>
          <a:p>
            <a:r>
              <a:rPr lang="en-US" dirty="0" smtClean="0"/>
              <a:t> </a:t>
            </a:r>
            <a:r>
              <a:rPr lang="en-US" dirty="0"/>
              <a:t>Such AI systems do not store memories or past experiences for </a:t>
            </a:r>
            <a:r>
              <a:rPr lang="en-US" dirty="0" smtClean="0"/>
              <a:t>future actions</a:t>
            </a:r>
            <a:r>
              <a:rPr lang="en-US" dirty="0"/>
              <a:t>.</a:t>
            </a:r>
          </a:p>
          <a:p>
            <a:r>
              <a:rPr lang="en-US" dirty="0" smtClean="0"/>
              <a:t>These </a:t>
            </a:r>
            <a:r>
              <a:rPr lang="en-US" dirty="0"/>
              <a:t>machines only focus on current scenarios and react on it as </a:t>
            </a:r>
            <a:r>
              <a:rPr lang="en-US" dirty="0" smtClean="0"/>
              <a:t>per possible </a:t>
            </a:r>
            <a:r>
              <a:rPr lang="en-US" dirty="0"/>
              <a:t>best action.</a:t>
            </a:r>
          </a:p>
          <a:p>
            <a:r>
              <a:rPr lang="en-US" b="1" dirty="0" smtClean="0"/>
              <a:t>IBM's </a:t>
            </a:r>
            <a:r>
              <a:rPr lang="en-US" b="1" dirty="0"/>
              <a:t>Deep Blue </a:t>
            </a:r>
            <a:r>
              <a:rPr lang="en-US" dirty="0"/>
              <a:t>system is an example of reactive machines.</a:t>
            </a:r>
          </a:p>
          <a:p>
            <a:r>
              <a:rPr lang="en-US" b="1" dirty="0" smtClean="0"/>
              <a:t>Google's </a:t>
            </a:r>
            <a:r>
              <a:rPr lang="en-US" b="1" dirty="0" err="1"/>
              <a:t>AlphaGo</a:t>
            </a:r>
            <a:r>
              <a:rPr lang="en-US" b="1" dirty="0"/>
              <a:t> </a:t>
            </a:r>
            <a:r>
              <a:rPr lang="en-US" dirty="0"/>
              <a:t>is also an example of reactive machines.</a:t>
            </a:r>
          </a:p>
        </p:txBody>
      </p:sp>
    </p:spTree>
    <p:extLst>
      <p:ext uri="{BB962C8B-B14F-4D97-AF65-F5344CB8AC3E}">
        <p14:creationId xmlns:p14="http://schemas.microsoft.com/office/powerpoint/2010/main" val="355226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Limited Memory</a:t>
            </a:r>
          </a:p>
        </p:txBody>
      </p:sp>
      <p:sp>
        <p:nvSpPr>
          <p:cNvPr id="3" name="Content Placeholder 2"/>
          <p:cNvSpPr>
            <a:spLocks noGrp="1"/>
          </p:cNvSpPr>
          <p:nvPr>
            <p:ph idx="1"/>
          </p:nvPr>
        </p:nvSpPr>
        <p:spPr>
          <a:xfrm>
            <a:off x="1154954" y="2603499"/>
            <a:ext cx="9937919" cy="5090391"/>
          </a:xfrm>
        </p:spPr>
        <p:txBody>
          <a:bodyPr>
            <a:normAutofit/>
          </a:bodyPr>
          <a:lstStyle/>
          <a:p>
            <a:r>
              <a:rPr lang="en-US" dirty="0" smtClean="0"/>
              <a:t>Limited </a:t>
            </a:r>
            <a:r>
              <a:rPr lang="en-US" dirty="0"/>
              <a:t>memory machines can store past experiences or some data for </a:t>
            </a:r>
            <a:r>
              <a:rPr lang="en-US" dirty="0" smtClean="0"/>
              <a:t>a short </a:t>
            </a:r>
            <a:r>
              <a:rPr lang="en-US" dirty="0"/>
              <a:t>period of time.</a:t>
            </a:r>
          </a:p>
          <a:p>
            <a:r>
              <a:rPr lang="en-US" dirty="0" smtClean="0"/>
              <a:t>These </a:t>
            </a:r>
            <a:r>
              <a:rPr lang="en-US" dirty="0"/>
              <a:t>machines can use stored data for a limited time period only.</a:t>
            </a:r>
          </a:p>
          <a:p>
            <a:r>
              <a:rPr lang="en-US" dirty="0" smtClean="0"/>
              <a:t> </a:t>
            </a:r>
            <a:r>
              <a:rPr lang="en-US" dirty="0"/>
              <a:t>Self-driving cars are one of the best examples of Limited Memory systems.</a:t>
            </a:r>
          </a:p>
          <a:p>
            <a:r>
              <a:rPr lang="en-US" dirty="0"/>
              <a:t>These cars can store recent speed of nearby cars, the distance of other </a:t>
            </a:r>
            <a:r>
              <a:rPr lang="en-US" dirty="0" err="1" smtClean="0"/>
              <a:t>cars,speed</a:t>
            </a:r>
            <a:r>
              <a:rPr lang="en-US" dirty="0" smtClean="0"/>
              <a:t> </a:t>
            </a:r>
            <a:r>
              <a:rPr lang="en-US" dirty="0"/>
              <a:t>limit, and other information to navigate the road.</a:t>
            </a:r>
            <a:endParaRPr lang="en-IN" dirty="0"/>
          </a:p>
        </p:txBody>
      </p:sp>
    </p:spTree>
    <p:extLst>
      <p:ext uri="{BB962C8B-B14F-4D97-AF65-F5344CB8AC3E}">
        <p14:creationId xmlns:p14="http://schemas.microsoft.com/office/powerpoint/2010/main" val="3216338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Theory of Mind</a:t>
            </a:r>
          </a:p>
        </p:txBody>
      </p:sp>
      <p:sp>
        <p:nvSpPr>
          <p:cNvPr id="3" name="Content Placeholder 2"/>
          <p:cNvSpPr>
            <a:spLocks noGrp="1"/>
          </p:cNvSpPr>
          <p:nvPr>
            <p:ph idx="1"/>
          </p:nvPr>
        </p:nvSpPr>
        <p:spPr>
          <a:xfrm>
            <a:off x="1154954" y="2603499"/>
            <a:ext cx="9743955" cy="3982027"/>
          </a:xfrm>
        </p:spPr>
        <p:txBody>
          <a:bodyPr/>
          <a:lstStyle/>
          <a:p>
            <a:r>
              <a:rPr lang="en-US" dirty="0" smtClean="0"/>
              <a:t>Theory </a:t>
            </a:r>
            <a:r>
              <a:rPr lang="en-US" dirty="0"/>
              <a:t>of Mind AI should understand the human emotions, people, </a:t>
            </a:r>
            <a:r>
              <a:rPr lang="en-US" dirty="0" smtClean="0"/>
              <a:t>beliefs, and </a:t>
            </a:r>
            <a:r>
              <a:rPr lang="en-US" dirty="0"/>
              <a:t>be able to interact socially like humans.</a:t>
            </a:r>
          </a:p>
          <a:p>
            <a:r>
              <a:rPr lang="en-US" dirty="0" smtClean="0"/>
              <a:t>This </a:t>
            </a:r>
            <a:r>
              <a:rPr lang="en-US" dirty="0"/>
              <a:t>type of AI machines are still not developed, but researchers are </a:t>
            </a:r>
            <a:r>
              <a:rPr lang="en-US" dirty="0" smtClean="0"/>
              <a:t>making lots </a:t>
            </a:r>
            <a:r>
              <a:rPr lang="en-US" dirty="0"/>
              <a:t>of efforts and improvement for developing such AI machines.</a:t>
            </a:r>
            <a:endParaRPr lang="en-IN" dirty="0"/>
          </a:p>
        </p:txBody>
      </p:sp>
    </p:spTree>
    <p:extLst>
      <p:ext uri="{BB962C8B-B14F-4D97-AF65-F5344CB8AC3E}">
        <p14:creationId xmlns:p14="http://schemas.microsoft.com/office/powerpoint/2010/main" val="4005254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Self-Awareness</a:t>
            </a:r>
          </a:p>
        </p:txBody>
      </p:sp>
      <p:sp>
        <p:nvSpPr>
          <p:cNvPr id="3" name="Content Placeholder 2"/>
          <p:cNvSpPr>
            <a:spLocks noGrp="1"/>
          </p:cNvSpPr>
          <p:nvPr>
            <p:ph idx="1"/>
          </p:nvPr>
        </p:nvSpPr>
        <p:spPr>
          <a:xfrm>
            <a:off x="914400" y="2327563"/>
            <a:ext cx="11360727" cy="4451927"/>
          </a:xfrm>
        </p:spPr>
        <p:txBody>
          <a:bodyPr>
            <a:normAutofit/>
          </a:bodyPr>
          <a:lstStyle/>
          <a:p>
            <a:r>
              <a:rPr lang="en-US" dirty="0" smtClean="0"/>
              <a:t> </a:t>
            </a:r>
            <a:r>
              <a:rPr lang="en-US" dirty="0"/>
              <a:t>Self-awareness AI is the future of Artificial Intelligence. These </a:t>
            </a:r>
            <a:r>
              <a:rPr lang="en-US" dirty="0" smtClean="0"/>
              <a:t>machines will </a:t>
            </a:r>
            <a:r>
              <a:rPr lang="en-US" dirty="0"/>
              <a:t>be super intelligent, and will have their own consciousness, </a:t>
            </a:r>
            <a:r>
              <a:rPr lang="en-US" dirty="0" smtClean="0"/>
              <a:t>sentiments, and </a:t>
            </a:r>
            <a:r>
              <a:rPr lang="en-US" dirty="0"/>
              <a:t>self-awareness.</a:t>
            </a:r>
          </a:p>
          <a:p>
            <a:r>
              <a:rPr lang="en-US" dirty="0" smtClean="0"/>
              <a:t> These </a:t>
            </a:r>
            <a:r>
              <a:rPr lang="en-US" dirty="0"/>
              <a:t>machines will be smarter than human mind.</a:t>
            </a:r>
          </a:p>
          <a:p>
            <a:r>
              <a:rPr lang="en-US" dirty="0" smtClean="0"/>
              <a:t> </a:t>
            </a:r>
            <a:r>
              <a:rPr lang="en-US" dirty="0"/>
              <a:t>Self-Awareness AI does not exist in reality still and it is a </a:t>
            </a:r>
            <a:r>
              <a:rPr lang="en-US" dirty="0" smtClean="0"/>
              <a:t>hypothetical concept.</a:t>
            </a:r>
          </a:p>
          <a:p>
            <a:pPr marL="0" indent="0">
              <a:buNone/>
            </a:pPr>
            <a:r>
              <a:rPr lang="en-US" dirty="0"/>
              <a:t>Since the emergence of AI in the 1950s, we have seen an exponential growth in its</a:t>
            </a:r>
          </a:p>
          <a:p>
            <a:pPr marL="0" indent="0">
              <a:buNone/>
            </a:pPr>
            <a:r>
              <a:rPr lang="en-US" dirty="0"/>
              <a:t>potential. AI cover domains such as machine learning, deep learning, neural</a:t>
            </a:r>
          </a:p>
          <a:p>
            <a:pPr marL="0" indent="0">
              <a:buNone/>
            </a:pPr>
            <a:r>
              <a:rPr lang="en-US" dirty="0"/>
              <a:t>networks, natural language processing, knowledge base, expert systems, and so on.</a:t>
            </a:r>
          </a:p>
          <a:p>
            <a:pPr marL="0" indent="0">
              <a:buNone/>
            </a:pPr>
            <a:r>
              <a:rPr lang="en-US" dirty="0"/>
              <a:t>It has also made its way into computer vision and image processing.</a:t>
            </a:r>
            <a:endParaRPr lang="en-IN" dirty="0"/>
          </a:p>
        </p:txBody>
      </p:sp>
    </p:spTree>
    <p:extLst>
      <p:ext uri="{BB962C8B-B14F-4D97-AF65-F5344CB8AC3E}">
        <p14:creationId xmlns:p14="http://schemas.microsoft.com/office/powerpoint/2010/main" val="4193379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State Space?</a:t>
            </a:r>
          </a:p>
        </p:txBody>
      </p:sp>
      <p:sp>
        <p:nvSpPr>
          <p:cNvPr id="3" name="Content Placeholder 2"/>
          <p:cNvSpPr>
            <a:spLocks noGrp="1"/>
          </p:cNvSpPr>
          <p:nvPr>
            <p:ph idx="1"/>
          </p:nvPr>
        </p:nvSpPr>
        <p:spPr>
          <a:xfrm>
            <a:off x="545354" y="2141682"/>
            <a:ext cx="10418210" cy="4254500"/>
          </a:xfrm>
        </p:spPr>
        <p:txBody>
          <a:bodyPr>
            <a:noAutofit/>
          </a:bodyPr>
          <a:lstStyle/>
          <a:p>
            <a:pPr fontAlgn="base"/>
            <a:r>
              <a:rPr lang="en-US" sz="2000" dirty="0"/>
              <a:t>State Space Search is used to solve problems by finding different possible states and their transitions. In simple terms it’s like finding the best route to goal by trying different paths.</a:t>
            </a:r>
          </a:p>
          <a:p>
            <a:pPr fontAlgn="base"/>
            <a:r>
              <a:rPr lang="en-US" sz="2000" dirty="0"/>
              <a:t>It works by systematically checking possible states until the goal is reached.</a:t>
            </a:r>
          </a:p>
          <a:p>
            <a:pPr fontAlgn="base"/>
            <a:r>
              <a:rPr lang="en-US" sz="2000" dirty="0"/>
              <a:t>This method can be applied to various AI tasks such as </a:t>
            </a:r>
            <a:r>
              <a:rPr lang="en-US" sz="2000" dirty="0" err="1"/>
              <a:t>pathfinding</a:t>
            </a:r>
            <a:r>
              <a:rPr lang="en-US" sz="2000" dirty="0"/>
              <a:t>, puzzle solving, game playing and more.</a:t>
            </a:r>
          </a:p>
          <a:p>
            <a:r>
              <a:rPr lang="en-US" sz="2000" dirty="0" smtClean="0"/>
              <a:t>State </a:t>
            </a:r>
            <a:r>
              <a:rPr lang="en-US" sz="2000" dirty="0"/>
              <a:t>space = All possible situations/states of a problem</a:t>
            </a:r>
            <a:r>
              <a:rPr lang="en-US" sz="2000" dirty="0" smtClean="0"/>
              <a:t>.</a:t>
            </a:r>
          </a:p>
          <a:p>
            <a:r>
              <a:rPr lang="en-IN" sz="2000" dirty="0" err="1" smtClean="0"/>
              <a:t>Eg</a:t>
            </a:r>
            <a:r>
              <a:rPr lang="en-IN" sz="2000" dirty="0" smtClean="0"/>
              <a:t> ; 8-Puzzle                   </a:t>
            </a:r>
            <a:endParaRPr lang="en-US" sz="2000" dirty="0"/>
          </a:p>
          <a:p>
            <a:r>
              <a:rPr lang="en-US" sz="2000" dirty="0" smtClean="0"/>
              <a:t>Each </a:t>
            </a:r>
            <a:r>
              <a:rPr lang="en-US" sz="2000" dirty="0"/>
              <a:t>configuration is a state.</a:t>
            </a:r>
            <a:r>
              <a:rPr lang="en-IN" sz="2000" dirty="0" smtClean="0"/>
              <a:t> </a:t>
            </a:r>
            <a:endParaRPr lang="en-IN" sz="2000" dirty="0"/>
          </a:p>
        </p:txBody>
      </p:sp>
    </p:spTree>
    <p:extLst>
      <p:ext uri="{BB962C8B-B14F-4D97-AF65-F5344CB8AC3E}">
        <p14:creationId xmlns:p14="http://schemas.microsoft.com/office/powerpoint/2010/main" val="34530280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3564" y="2152073"/>
            <a:ext cx="10307781" cy="4636654"/>
          </a:xfrm>
        </p:spPr>
        <p:txBody>
          <a:bodyPr>
            <a:normAutofit/>
          </a:bodyPr>
          <a:lstStyle/>
          <a:p>
            <a:pPr fontAlgn="base"/>
            <a:r>
              <a:rPr lang="en-US" sz="2000" dirty="0"/>
              <a:t>It works by systematically checking each state and moving to new states until the goal is reached. It consider the problem as a series of steps and it moves from one state to another until the goal is reached.</a:t>
            </a:r>
          </a:p>
          <a:p>
            <a:pPr fontAlgn="base"/>
            <a:r>
              <a:rPr lang="en-US" sz="2000" dirty="0"/>
              <a:t>This method can be applied to various AI tasks such as </a:t>
            </a:r>
            <a:r>
              <a:rPr lang="en-US" sz="2000" dirty="0" err="1"/>
              <a:t>pathfinding</a:t>
            </a:r>
            <a:r>
              <a:rPr lang="en-US" sz="2000" dirty="0"/>
              <a:t>, puzzle solving, game playing and more.</a:t>
            </a:r>
          </a:p>
          <a:p>
            <a:pPr fontAlgn="base"/>
            <a:r>
              <a:rPr lang="en-US" sz="2000" dirty="0"/>
              <a:t>The core idea behind state space search is to think of the problem as a graph where:</a:t>
            </a:r>
          </a:p>
          <a:p>
            <a:pPr fontAlgn="base"/>
            <a:r>
              <a:rPr lang="en-US" sz="2000" b="1" dirty="0"/>
              <a:t>Nodes</a:t>
            </a:r>
            <a:r>
              <a:rPr lang="en-US" sz="2000" dirty="0"/>
              <a:t> represent different states of the problem.</a:t>
            </a:r>
          </a:p>
          <a:p>
            <a:pPr fontAlgn="base"/>
            <a:r>
              <a:rPr lang="en-US" sz="2000" b="1" dirty="0"/>
              <a:t>Edges</a:t>
            </a:r>
            <a:r>
              <a:rPr lang="en-US" sz="2000" dirty="0"/>
              <a:t> represent transitions or actions that change one state into another.</a:t>
            </a:r>
          </a:p>
          <a:p>
            <a:endParaRPr lang="en-IN" sz="2000" dirty="0"/>
          </a:p>
        </p:txBody>
      </p:sp>
    </p:spTree>
    <p:extLst>
      <p:ext uri="{BB962C8B-B14F-4D97-AF65-F5344CB8AC3E}">
        <p14:creationId xmlns:p14="http://schemas.microsoft.com/office/powerpoint/2010/main" val="3385517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Terminologies consist of:</a:t>
            </a:r>
          </a:p>
        </p:txBody>
      </p:sp>
      <p:sp>
        <p:nvSpPr>
          <p:cNvPr id="3" name="Content Placeholder 2"/>
          <p:cNvSpPr>
            <a:spLocks noGrp="1"/>
          </p:cNvSpPr>
          <p:nvPr>
            <p:ph idx="1"/>
          </p:nvPr>
        </p:nvSpPr>
        <p:spPr>
          <a:xfrm>
            <a:off x="1154954" y="2603499"/>
            <a:ext cx="10178064" cy="4333009"/>
          </a:xfrm>
        </p:spPr>
        <p:txBody>
          <a:bodyPr>
            <a:normAutofit/>
          </a:bodyPr>
          <a:lstStyle/>
          <a:p>
            <a:pPr fontAlgn="base"/>
            <a:r>
              <a:rPr lang="en-US" sz="2400" b="1" dirty="0"/>
              <a:t>State:</a:t>
            </a:r>
            <a:r>
              <a:rPr lang="en-US" sz="2400" dirty="0"/>
              <a:t> A specific configuration of the problem.</a:t>
            </a:r>
          </a:p>
          <a:p>
            <a:pPr fontAlgn="base"/>
            <a:r>
              <a:rPr lang="en-US" sz="2400" b="1" dirty="0"/>
              <a:t>Initial State:</a:t>
            </a:r>
            <a:r>
              <a:rPr lang="en-US" sz="2400" dirty="0"/>
              <a:t> Starting point of the search.</a:t>
            </a:r>
          </a:p>
          <a:p>
            <a:pPr fontAlgn="base"/>
            <a:r>
              <a:rPr lang="en-US" sz="2400" b="1" dirty="0"/>
              <a:t>Goal State: </a:t>
            </a:r>
            <a:r>
              <a:rPr lang="en-US" sz="2400" dirty="0"/>
              <a:t>Desired end configuration.</a:t>
            </a:r>
          </a:p>
          <a:p>
            <a:pPr fontAlgn="base"/>
            <a:r>
              <a:rPr lang="en-US" sz="2400" b="1" dirty="0"/>
              <a:t>Transition: </a:t>
            </a:r>
            <a:r>
              <a:rPr lang="en-US" sz="2400" dirty="0"/>
              <a:t>An action that changes one state to another.</a:t>
            </a:r>
          </a:p>
          <a:p>
            <a:pPr fontAlgn="base"/>
            <a:r>
              <a:rPr lang="en-US" sz="2400" b="1" dirty="0"/>
              <a:t>Path: </a:t>
            </a:r>
            <a:r>
              <a:rPr lang="en-US" sz="2400" dirty="0"/>
              <a:t>A sequence of states connected by transitions.</a:t>
            </a:r>
          </a:p>
          <a:p>
            <a:pPr fontAlgn="base"/>
            <a:r>
              <a:rPr lang="en-US" sz="2400" b="1" dirty="0"/>
              <a:t>Search Strategy: </a:t>
            </a:r>
            <a:r>
              <a:rPr lang="en-US" sz="2400" dirty="0"/>
              <a:t>Method used to explore the state space.</a:t>
            </a:r>
          </a:p>
          <a:p>
            <a:endParaRPr lang="en-IN" sz="2400" dirty="0"/>
          </a:p>
        </p:txBody>
      </p:sp>
    </p:spTree>
    <p:extLst>
      <p:ext uri="{BB962C8B-B14F-4D97-AF65-F5344CB8AC3E}">
        <p14:creationId xmlns:p14="http://schemas.microsoft.com/office/powerpoint/2010/main" val="3700594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Features </a:t>
            </a:r>
            <a:r>
              <a:rPr lang="en-US" b="1" dirty="0"/>
              <a:t>of State Space Search</a:t>
            </a:r>
            <a:br>
              <a:rPr lang="en-US" b="1" dirty="0"/>
            </a:br>
            <a:endParaRPr lang="en-IN" dirty="0"/>
          </a:p>
        </p:txBody>
      </p:sp>
      <p:sp>
        <p:nvSpPr>
          <p:cNvPr id="3" name="Content Placeholder 2"/>
          <p:cNvSpPr>
            <a:spLocks noGrp="1"/>
          </p:cNvSpPr>
          <p:nvPr>
            <p:ph idx="1"/>
          </p:nvPr>
        </p:nvSpPr>
        <p:spPr>
          <a:xfrm>
            <a:off x="258618" y="2225965"/>
            <a:ext cx="12007273" cy="4710544"/>
          </a:xfrm>
        </p:spPr>
        <p:txBody>
          <a:bodyPr>
            <a:normAutofit/>
          </a:bodyPr>
          <a:lstStyle/>
          <a:p>
            <a:r>
              <a:rPr lang="en-US" b="1" dirty="0"/>
              <a:t>Branching Factor</a:t>
            </a:r>
            <a:r>
              <a:rPr lang="en-US" dirty="0"/>
              <a:t>: Average number of successors per state. A higher branching factor makes search tree wider which increases time and resources required.</a:t>
            </a:r>
          </a:p>
          <a:p>
            <a:r>
              <a:rPr lang="en-US" b="1" dirty="0"/>
              <a:t>Depth</a:t>
            </a:r>
            <a:r>
              <a:rPr lang="en-US" dirty="0"/>
              <a:t>: Number of steps from the initial state to the goal state. Deeper trees increase the search time as more states must be explored.</a:t>
            </a:r>
          </a:p>
          <a:p>
            <a:r>
              <a:rPr lang="en-US" b="1" dirty="0"/>
              <a:t>Completeness</a:t>
            </a:r>
            <a:r>
              <a:rPr lang="en-US" dirty="0"/>
              <a:t>: A search is complete if it guarantees finding a solution if one exists. It ensures the algorithm will eventually reach the goal.</a:t>
            </a:r>
          </a:p>
          <a:p>
            <a:r>
              <a:rPr lang="en-US" b="1" dirty="0"/>
              <a:t>Optimality</a:t>
            </a:r>
            <a:r>
              <a:rPr lang="en-US" dirty="0"/>
              <a:t>: A search is optimal if it guarantees finding the best solution, according to a specific criterion liked least cost or shortest path.</a:t>
            </a:r>
          </a:p>
          <a:p>
            <a:r>
              <a:rPr lang="en-US" b="1" dirty="0"/>
              <a:t>Time and Space Complexity</a:t>
            </a:r>
            <a:r>
              <a:rPr lang="en-US" dirty="0"/>
              <a:t>: Measure the time and memory required for the search, both of which increase with the branching factor and search depth.</a:t>
            </a:r>
            <a:endParaRPr lang="en-IN" dirty="0"/>
          </a:p>
        </p:txBody>
      </p:sp>
    </p:spTree>
    <p:extLst>
      <p:ext uri="{BB962C8B-B14F-4D97-AF65-F5344CB8AC3E}">
        <p14:creationId xmlns:p14="http://schemas.microsoft.com/office/powerpoint/2010/main" val="2140480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Steps in State Space Search</a:t>
            </a:r>
            <a:br>
              <a:rPr lang="en-US" b="1" dirty="0"/>
            </a:br>
            <a:endParaRPr lang="en-IN" dirty="0"/>
          </a:p>
        </p:txBody>
      </p:sp>
      <p:sp>
        <p:nvSpPr>
          <p:cNvPr id="3" name="Content Placeholder 2"/>
          <p:cNvSpPr>
            <a:spLocks noGrp="1"/>
          </p:cNvSpPr>
          <p:nvPr>
            <p:ph idx="1"/>
          </p:nvPr>
        </p:nvSpPr>
        <p:spPr>
          <a:xfrm>
            <a:off x="1154954" y="2603499"/>
            <a:ext cx="10519810" cy="4018973"/>
          </a:xfrm>
        </p:spPr>
        <p:txBody>
          <a:bodyPr>
            <a:normAutofit/>
          </a:bodyPr>
          <a:lstStyle/>
          <a:p>
            <a:r>
              <a:rPr lang="en-US" b="1" dirty="0"/>
              <a:t>Step 1: Define the State Space</a:t>
            </a:r>
            <a:r>
              <a:rPr lang="en-US" dirty="0"/>
              <a:t/>
            </a:r>
            <a:br>
              <a:rPr lang="en-US" dirty="0"/>
            </a:br>
            <a:r>
              <a:rPr lang="en-US" dirty="0"/>
              <a:t>First, identify all the possible </a:t>
            </a:r>
            <a:r>
              <a:rPr lang="en-US" b="1" dirty="0"/>
              <a:t>states</a:t>
            </a:r>
            <a:r>
              <a:rPr lang="en-US" dirty="0"/>
              <a:t> of the problem and the </a:t>
            </a:r>
            <a:r>
              <a:rPr lang="en-US" b="1" dirty="0"/>
              <a:t>actions/transitions</a:t>
            </a:r>
            <a:r>
              <a:rPr lang="en-US" dirty="0"/>
              <a:t> between them.</a:t>
            </a:r>
          </a:p>
          <a:p>
            <a:r>
              <a:rPr lang="en-US" dirty="0"/>
              <a:t>A </a:t>
            </a:r>
            <a:r>
              <a:rPr lang="en-US" b="1" dirty="0"/>
              <a:t>state</a:t>
            </a:r>
            <a:r>
              <a:rPr lang="en-US" dirty="0"/>
              <a:t> represents a particular situation or configuration. </a:t>
            </a:r>
          </a:p>
          <a:p>
            <a:r>
              <a:rPr lang="en-US" dirty="0"/>
              <a:t>A </a:t>
            </a:r>
            <a:r>
              <a:rPr lang="en-US" b="1" dirty="0"/>
              <a:t>transition</a:t>
            </a:r>
            <a:r>
              <a:rPr lang="en-US" dirty="0"/>
              <a:t> represents an action that changes one state into another. </a:t>
            </a:r>
          </a:p>
          <a:p>
            <a:r>
              <a:rPr lang="en-US" b="1" dirty="0"/>
              <a:t>Example:</a:t>
            </a:r>
            <a:r>
              <a:rPr lang="en-US" dirty="0"/>
              <a:t> In the 8-puzzle problem, each arrangement of the tiles is a state.</a:t>
            </a:r>
          </a:p>
          <a:p>
            <a:pPr fontAlgn="base"/>
            <a:endParaRPr lang="en-IN" dirty="0"/>
          </a:p>
        </p:txBody>
      </p:sp>
    </p:spTree>
    <p:extLst>
      <p:ext uri="{BB962C8B-B14F-4D97-AF65-F5344CB8AC3E}">
        <p14:creationId xmlns:p14="http://schemas.microsoft.com/office/powerpoint/2010/main" val="30212675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 Pick a Search Strategy</a:t>
            </a:r>
            <a:br>
              <a:rPr lang="en-US" b="1" dirty="0"/>
            </a:br>
            <a:endParaRPr lang="en-IN" dirty="0"/>
          </a:p>
        </p:txBody>
      </p:sp>
      <p:sp>
        <p:nvSpPr>
          <p:cNvPr id="3" name="Content Placeholder 2"/>
          <p:cNvSpPr>
            <a:spLocks noGrp="1"/>
          </p:cNvSpPr>
          <p:nvPr>
            <p:ph idx="1"/>
          </p:nvPr>
        </p:nvSpPr>
        <p:spPr>
          <a:xfrm>
            <a:off x="905572" y="2409535"/>
            <a:ext cx="10565992" cy="4683992"/>
          </a:xfrm>
        </p:spPr>
        <p:txBody>
          <a:bodyPr>
            <a:normAutofit/>
          </a:bodyPr>
          <a:lstStyle/>
          <a:p>
            <a:r>
              <a:rPr lang="en-US" dirty="0" smtClean="0"/>
              <a:t>After </a:t>
            </a:r>
            <a:r>
              <a:rPr lang="en-US" dirty="0"/>
              <a:t>defining the state space, choose a method to search for the goal state.</a:t>
            </a:r>
          </a:p>
          <a:p>
            <a:r>
              <a:rPr lang="en-US" b="1" dirty="0"/>
              <a:t>1. Uninformed Search</a:t>
            </a:r>
          </a:p>
          <a:p>
            <a:r>
              <a:rPr lang="en-US" dirty="0"/>
              <a:t>Uninformed search does </a:t>
            </a:r>
            <a:r>
              <a:rPr lang="en-US" b="1" dirty="0"/>
              <a:t>not use additional information</a:t>
            </a:r>
            <a:r>
              <a:rPr lang="en-US" dirty="0"/>
              <a:t> about how close a state is to the goal.</a:t>
            </a:r>
          </a:p>
          <a:p>
            <a:r>
              <a:rPr lang="en-US" b="1" dirty="0"/>
              <a:t>Breadth-First Search (BFS):</a:t>
            </a:r>
            <a:r>
              <a:rPr lang="en-US" dirty="0"/>
              <a:t> Explores all nodes at the current depth before moving to the next depth. It can find the shortest path when all step costs are equal. </a:t>
            </a:r>
          </a:p>
          <a:p>
            <a:r>
              <a:rPr lang="en-US" b="1" dirty="0"/>
              <a:t>Depth-First Search (DFS):</a:t>
            </a:r>
            <a:r>
              <a:rPr lang="en-US" dirty="0"/>
              <a:t> Goes as deep as possible along one branch before backtracking. It generally uses less memory but may not find the shortest solution. </a:t>
            </a:r>
          </a:p>
          <a:p>
            <a:r>
              <a:rPr lang="en-US" b="1" dirty="0"/>
              <a:t>Uniform Cost Search (UCS):</a:t>
            </a:r>
            <a:r>
              <a:rPr lang="en-US" dirty="0"/>
              <a:t> Expands the node with the </a:t>
            </a:r>
            <a:r>
              <a:rPr lang="en-US" b="1" dirty="0"/>
              <a:t>lowest path cost</a:t>
            </a:r>
            <a:r>
              <a:rPr lang="en-US" dirty="0"/>
              <a:t> first. It can find the lowest-cost solution when costs are non-negative.</a:t>
            </a:r>
          </a:p>
          <a:p>
            <a:endParaRPr lang="en-IN" dirty="0"/>
          </a:p>
        </p:txBody>
      </p:sp>
    </p:spTree>
    <p:extLst>
      <p:ext uri="{BB962C8B-B14F-4D97-AF65-F5344CB8AC3E}">
        <p14:creationId xmlns:p14="http://schemas.microsoft.com/office/powerpoint/2010/main" val="14375436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6262" y="2252517"/>
            <a:ext cx="11157119" cy="4286828"/>
          </a:xfrm>
        </p:spPr>
        <p:txBody>
          <a:bodyPr>
            <a:normAutofit lnSpcReduction="10000"/>
          </a:bodyPr>
          <a:lstStyle/>
          <a:p>
            <a:r>
              <a:rPr lang="en-US" b="1" dirty="0"/>
              <a:t>2. Informed Search</a:t>
            </a:r>
          </a:p>
          <a:p>
            <a:pPr marL="0" indent="0">
              <a:buNone/>
            </a:pPr>
            <a:r>
              <a:rPr lang="en-US" dirty="0"/>
              <a:t>Informed search uses </a:t>
            </a:r>
            <a:r>
              <a:rPr lang="en-US" b="1" dirty="0"/>
              <a:t>heuristic information</a:t>
            </a:r>
            <a:r>
              <a:rPr lang="en-US" dirty="0"/>
              <a:t> to decide which states are more promising.</a:t>
            </a:r>
          </a:p>
          <a:p>
            <a:r>
              <a:rPr lang="en-US" b="1" dirty="0"/>
              <a:t>Greedy Best-First Search:</a:t>
            </a:r>
            <a:r>
              <a:rPr lang="en-US" dirty="0"/>
              <a:t> Selects the node that appears closest to the goal according to a heuristic. </a:t>
            </a:r>
          </a:p>
          <a:p>
            <a:r>
              <a:rPr lang="en-US" b="1" dirty="0"/>
              <a:t>A* Search:</a:t>
            </a:r>
            <a:r>
              <a:rPr lang="en-US" dirty="0"/>
              <a:t> Uses both the cost already travelled and the estimated cost to the goal. </a:t>
            </a:r>
          </a:p>
          <a:p>
            <a:pPr marL="0" indent="0">
              <a:buNone/>
            </a:pPr>
            <a:r>
              <a:rPr lang="en-US" dirty="0"/>
              <a:t>The evaluation function is:</a:t>
            </a:r>
          </a:p>
          <a:p>
            <a:pPr marL="0" indent="0">
              <a:buNone/>
            </a:pPr>
            <a:r>
              <a:rPr lang="en-US" b="1" dirty="0"/>
              <a:t>f(n) = g(n) + h(n)</a:t>
            </a:r>
            <a:endParaRPr lang="en-US" dirty="0"/>
          </a:p>
          <a:p>
            <a:pPr marL="0" indent="0">
              <a:buNone/>
            </a:pPr>
            <a:r>
              <a:rPr lang="en-US" dirty="0"/>
              <a:t>where:</a:t>
            </a:r>
          </a:p>
          <a:p>
            <a:pPr marL="0" indent="0">
              <a:buNone/>
            </a:pPr>
            <a:r>
              <a:rPr lang="en-US" b="1" dirty="0"/>
              <a:t>g(n)</a:t>
            </a:r>
            <a:r>
              <a:rPr lang="en-US" dirty="0"/>
              <a:t> = actual cost from the start state to node </a:t>
            </a:r>
            <a:r>
              <a:rPr lang="en-US" i="1" dirty="0"/>
              <a:t>n</a:t>
            </a:r>
            <a:r>
              <a:rPr lang="en-US" dirty="0"/>
              <a:t> </a:t>
            </a:r>
          </a:p>
          <a:p>
            <a:pPr marL="0" indent="0">
              <a:buNone/>
            </a:pPr>
            <a:r>
              <a:rPr lang="en-US" b="1" dirty="0"/>
              <a:t>h(n)</a:t>
            </a:r>
            <a:r>
              <a:rPr lang="en-US" dirty="0"/>
              <a:t> = estimated cost from node </a:t>
            </a:r>
            <a:r>
              <a:rPr lang="en-US" i="1" dirty="0"/>
              <a:t>n</a:t>
            </a:r>
            <a:r>
              <a:rPr lang="en-US" dirty="0"/>
              <a:t> to the goal </a:t>
            </a:r>
          </a:p>
          <a:p>
            <a:pPr marL="0" indent="0">
              <a:buNone/>
            </a:pPr>
            <a:r>
              <a:rPr lang="en-US" b="1" dirty="0"/>
              <a:t>Admissible Heuristic:</a:t>
            </a:r>
            <a:r>
              <a:rPr lang="en-US" dirty="0"/>
              <a:t> A heuristic is admissible if it </a:t>
            </a:r>
            <a:r>
              <a:rPr lang="en-US" b="1" dirty="0"/>
              <a:t>never overestimates</a:t>
            </a:r>
            <a:r>
              <a:rPr lang="en-US" dirty="0"/>
              <a:t> the actual cost to reach the goal. A* is optimal when an admissible heuristic is used under the usual conditions.</a:t>
            </a:r>
          </a:p>
          <a:p>
            <a:endParaRPr lang="en-IN" dirty="0"/>
          </a:p>
        </p:txBody>
      </p:sp>
    </p:spTree>
    <p:extLst>
      <p:ext uri="{BB962C8B-B14F-4D97-AF65-F5344CB8AC3E}">
        <p14:creationId xmlns:p14="http://schemas.microsoft.com/office/powerpoint/2010/main" val="3596817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3: Start the Search and Extend the Nodes</a:t>
            </a:r>
            <a:br>
              <a:rPr lang="en-US" b="1" dirty="0"/>
            </a:br>
            <a:endParaRPr lang="en-IN" dirty="0"/>
          </a:p>
        </p:txBody>
      </p:sp>
      <p:sp>
        <p:nvSpPr>
          <p:cNvPr id="3" name="Content Placeholder 2"/>
          <p:cNvSpPr>
            <a:spLocks noGrp="1"/>
          </p:cNvSpPr>
          <p:nvPr>
            <p:ph idx="1"/>
          </p:nvPr>
        </p:nvSpPr>
        <p:spPr>
          <a:xfrm>
            <a:off x="1154954" y="2603500"/>
            <a:ext cx="9559228" cy="4360718"/>
          </a:xfrm>
        </p:spPr>
        <p:txBody>
          <a:bodyPr>
            <a:normAutofit/>
          </a:bodyPr>
          <a:lstStyle/>
          <a:p>
            <a:r>
              <a:rPr lang="en-US" dirty="0" smtClean="0"/>
              <a:t>Start </a:t>
            </a:r>
            <a:r>
              <a:rPr lang="en-US" dirty="0"/>
              <a:t>from the </a:t>
            </a:r>
            <a:r>
              <a:rPr lang="en-US" b="1" dirty="0"/>
              <a:t>initial state</a:t>
            </a:r>
            <a:r>
              <a:rPr lang="en-US" dirty="0"/>
              <a:t> and apply the selected search strategy.</a:t>
            </a:r>
          </a:p>
          <a:p>
            <a:r>
              <a:rPr lang="en-US" dirty="0"/>
              <a:t>The algorithm:</a:t>
            </a:r>
          </a:p>
          <a:p>
            <a:r>
              <a:rPr lang="en-US" dirty="0"/>
              <a:t>Selects a node from the frontier. </a:t>
            </a:r>
          </a:p>
          <a:p>
            <a:r>
              <a:rPr lang="en-US" dirty="0"/>
              <a:t>Expands the node. </a:t>
            </a:r>
          </a:p>
          <a:p>
            <a:r>
              <a:rPr lang="en-US" dirty="0"/>
              <a:t>Generates its successor states. </a:t>
            </a:r>
          </a:p>
          <a:p>
            <a:r>
              <a:rPr lang="en-US" dirty="0"/>
              <a:t>Adds the successors to the frontier. </a:t>
            </a:r>
          </a:p>
          <a:p>
            <a:r>
              <a:rPr lang="en-US" dirty="0"/>
              <a:t>Checks whether a goal state has been reached. </a:t>
            </a:r>
          </a:p>
          <a:p>
            <a:r>
              <a:rPr lang="en-US" dirty="0"/>
              <a:t>If the goal is found, the algorithm can </a:t>
            </a:r>
            <a:r>
              <a:rPr lang="en-US" b="1" dirty="0"/>
              <a:t>trace back the path</a:t>
            </a:r>
            <a:r>
              <a:rPr lang="en-US" dirty="0"/>
              <a:t> to obtain the solution.</a:t>
            </a:r>
          </a:p>
          <a:p>
            <a:endParaRPr lang="en-IN" dirty="0"/>
          </a:p>
        </p:txBody>
      </p:sp>
    </p:spTree>
    <p:extLst>
      <p:ext uri="{BB962C8B-B14F-4D97-AF65-F5344CB8AC3E}">
        <p14:creationId xmlns:p14="http://schemas.microsoft.com/office/powerpoint/2010/main" val="301136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4: Address State Repetition</a:t>
            </a:r>
            <a:br>
              <a:rPr lang="en-US" b="1" dirty="0"/>
            </a:br>
            <a:endParaRPr lang="en-IN" dirty="0"/>
          </a:p>
        </p:txBody>
      </p:sp>
      <p:sp>
        <p:nvSpPr>
          <p:cNvPr id="3" name="Content Placeholder 2"/>
          <p:cNvSpPr>
            <a:spLocks noGrp="1"/>
          </p:cNvSpPr>
          <p:nvPr>
            <p:ph idx="1"/>
          </p:nvPr>
        </p:nvSpPr>
        <p:spPr/>
        <p:txBody>
          <a:bodyPr>
            <a:normAutofit/>
          </a:bodyPr>
          <a:lstStyle/>
          <a:p>
            <a:r>
              <a:rPr lang="en-US" dirty="0" smtClean="0"/>
              <a:t>The </a:t>
            </a:r>
            <a:r>
              <a:rPr lang="en-US" dirty="0"/>
              <a:t>same state may be reached through different paths. To avoid unnecessary work and infinite loops, the algorithm keeps track of </a:t>
            </a:r>
            <a:r>
              <a:rPr lang="en-US" b="1" dirty="0"/>
              <a:t>visited states</a:t>
            </a:r>
            <a:r>
              <a:rPr lang="en-US" dirty="0"/>
              <a:t>.</a:t>
            </a:r>
          </a:p>
          <a:p>
            <a:r>
              <a:rPr lang="en-US" dirty="0"/>
              <a:t>This helps to:</a:t>
            </a:r>
          </a:p>
          <a:p>
            <a:r>
              <a:rPr lang="en-US" dirty="0"/>
              <a:t>Avoid cycles. </a:t>
            </a:r>
          </a:p>
          <a:p>
            <a:r>
              <a:rPr lang="en-US" dirty="0"/>
              <a:t>Prevent repeated exploration. </a:t>
            </a:r>
          </a:p>
          <a:p>
            <a:r>
              <a:rPr lang="en-US" dirty="0"/>
              <a:t>Reduce unnecessary computation. </a:t>
            </a:r>
          </a:p>
          <a:p>
            <a:r>
              <a:rPr lang="en-US" b="1" dirty="0"/>
              <a:t>Example:</a:t>
            </a:r>
            <a:r>
              <a:rPr lang="en-US" dirty="0"/>
              <a:t> If state A leads to B and B leads back to A, the algorithm should not continue visiting A repeatedly.</a:t>
            </a:r>
          </a:p>
          <a:p>
            <a:endParaRPr lang="en-IN" dirty="0"/>
          </a:p>
        </p:txBody>
      </p:sp>
    </p:spTree>
    <p:extLst>
      <p:ext uri="{BB962C8B-B14F-4D97-AF65-F5344CB8AC3E}">
        <p14:creationId xmlns:p14="http://schemas.microsoft.com/office/powerpoint/2010/main" val="3466855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5: End the Search</a:t>
            </a:r>
            <a:br>
              <a:rPr lang="en-US" b="1" dirty="0"/>
            </a:br>
            <a:endParaRPr lang="en-IN" dirty="0"/>
          </a:p>
        </p:txBody>
      </p:sp>
      <p:sp>
        <p:nvSpPr>
          <p:cNvPr id="3" name="Content Placeholder 2"/>
          <p:cNvSpPr>
            <a:spLocks noGrp="1"/>
          </p:cNvSpPr>
          <p:nvPr>
            <p:ph idx="1"/>
          </p:nvPr>
        </p:nvSpPr>
        <p:spPr/>
        <p:txBody>
          <a:bodyPr/>
          <a:lstStyle/>
          <a:p>
            <a:r>
              <a:rPr lang="en-US" dirty="0" smtClean="0"/>
              <a:t>The </a:t>
            </a:r>
            <a:r>
              <a:rPr lang="en-US" dirty="0"/>
              <a:t>search terminates in either of two situations:</a:t>
            </a:r>
          </a:p>
          <a:p>
            <a:r>
              <a:rPr lang="en-US" b="1" dirty="0"/>
              <a:t>Goal state is found:</a:t>
            </a:r>
            <a:r>
              <a:rPr lang="en-US" dirty="0"/>
              <a:t> The solution path is returned. </a:t>
            </a:r>
          </a:p>
          <a:p>
            <a:r>
              <a:rPr lang="en-US" b="1" dirty="0"/>
              <a:t>No solution is found:</a:t>
            </a:r>
            <a:r>
              <a:rPr lang="en-US" dirty="0"/>
              <a:t> All possible states have been explored without reaching the goal.</a:t>
            </a:r>
          </a:p>
          <a:p>
            <a:endParaRPr lang="en-IN" dirty="0"/>
          </a:p>
        </p:txBody>
      </p:sp>
    </p:spTree>
    <p:extLst>
      <p:ext uri="{BB962C8B-B14F-4D97-AF65-F5344CB8AC3E}">
        <p14:creationId xmlns:p14="http://schemas.microsoft.com/office/powerpoint/2010/main" val="2774891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a:t>
            </a:r>
            <a:br>
              <a:rPr lang="en-US" b="1" dirty="0"/>
            </a:br>
            <a:endParaRPr lang="en-IN" dirty="0"/>
          </a:p>
        </p:txBody>
      </p:sp>
      <p:sp>
        <p:nvSpPr>
          <p:cNvPr id="3" name="Content Placeholder 2"/>
          <p:cNvSpPr>
            <a:spLocks noGrp="1"/>
          </p:cNvSpPr>
          <p:nvPr>
            <p:ph idx="1"/>
          </p:nvPr>
        </p:nvSpPr>
        <p:spPr/>
        <p:txBody>
          <a:bodyPr>
            <a:normAutofit/>
          </a:bodyPr>
          <a:lstStyle/>
          <a:p>
            <a:pPr fontAlgn="base"/>
            <a:r>
              <a:rPr lang="en-US" b="1" dirty="0" err="1" smtClean="0"/>
              <a:t>Pathfinding</a:t>
            </a:r>
            <a:r>
              <a:rPr lang="en-US" b="1" dirty="0"/>
              <a:t>: </a:t>
            </a:r>
            <a:r>
              <a:rPr lang="en-US" dirty="0"/>
              <a:t>Finding the best pathways using algorithms such as A* in robotics and GPS.</a:t>
            </a:r>
          </a:p>
          <a:p>
            <a:pPr fontAlgn="base"/>
            <a:r>
              <a:rPr lang="en-US" b="1" dirty="0"/>
              <a:t>Puzzle solving:</a:t>
            </a:r>
            <a:r>
              <a:rPr lang="en-US" dirty="0"/>
              <a:t> Resolving puzzles like Rubik's Cube, Sudoku and the 8-puzzle.</a:t>
            </a:r>
          </a:p>
          <a:p>
            <a:pPr fontAlgn="base"/>
            <a:r>
              <a:rPr lang="en-US" b="1" dirty="0"/>
              <a:t>AI for gaming: </a:t>
            </a:r>
            <a:r>
              <a:rPr lang="en-US" dirty="0"/>
              <a:t>To identify good moves in board games like chess, checkers and others.</a:t>
            </a:r>
          </a:p>
          <a:p>
            <a:pPr fontAlgn="base"/>
            <a:r>
              <a:rPr lang="en-US" b="1" dirty="0"/>
              <a:t>Planning: </a:t>
            </a:r>
            <a:r>
              <a:rPr lang="en-US" dirty="0"/>
              <a:t>Automated scheduling of tasks in logistics and robotics to achieve a specific objective.</a:t>
            </a:r>
          </a:p>
          <a:p>
            <a:pPr fontAlgn="base"/>
            <a:r>
              <a:rPr lang="en-US" b="1" dirty="0"/>
              <a:t>Natural language processing: </a:t>
            </a:r>
            <a:r>
              <a:rPr lang="en-US" dirty="0"/>
              <a:t>It involves computer translation and sentence parsing by examining many interpretations.</a:t>
            </a:r>
          </a:p>
          <a:p>
            <a:endParaRPr lang="en-IN" dirty="0"/>
          </a:p>
        </p:txBody>
      </p:sp>
    </p:spTree>
    <p:extLst>
      <p:ext uri="{BB962C8B-B14F-4D97-AF65-F5344CB8AC3E}">
        <p14:creationId xmlns:p14="http://schemas.microsoft.com/office/powerpoint/2010/main" val="3550330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Challenges</a:t>
            </a:r>
            <a:br>
              <a:rPr lang="en-US" b="1" dirty="0"/>
            </a:br>
            <a:endParaRPr lang="en-IN" dirty="0"/>
          </a:p>
        </p:txBody>
      </p:sp>
      <p:sp>
        <p:nvSpPr>
          <p:cNvPr id="3" name="Content Placeholder 2"/>
          <p:cNvSpPr>
            <a:spLocks noGrp="1"/>
          </p:cNvSpPr>
          <p:nvPr>
            <p:ph idx="1"/>
          </p:nvPr>
        </p:nvSpPr>
        <p:spPr/>
        <p:txBody>
          <a:bodyPr/>
          <a:lstStyle/>
          <a:p>
            <a:pPr fontAlgn="base"/>
            <a:r>
              <a:rPr lang="en-US" b="1" dirty="0" smtClean="0"/>
              <a:t>Complexity</a:t>
            </a:r>
            <a:r>
              <a:rPr lang="en-US" dirty="0"/>
              <a:t>: High branching factors can cause an exponential growth in the number of states to be explored.</a:t>
            </a:r>
          </a:p>
          <a:p>
            <a:pPr fontAlgn="base"/>
            <a:r>
              <a:rPr lang="en-US" b="1" dirty="0"/>
              <a:t>Resource Limitations</a:t>
            </a:r>
            <a:r>
              <a:rPr lang="en-US" dirty="0"/>
              <a:t>: Memory and processing power limit size of the state space that can be practically searched.</a:t>
            </a:r>
          </a:p>
          <a:p>
            <a:pPr fontAlgn="base"/>
            <a:r>
              <a:rPr lang="en-US" b="1" dirty="0"/>
              <a:t>Quality of Heuristics</a:t>
            </a:r>
            <a:r>
              <a:rPr lang="en-US" dirty="0"/>
              <a:t>: The effectiveness of the search is limited by the quality of the heuristic function.</a:t>
            </a:r>
          </a:p>
          <a:p>
            <a:endParaRPr lang="en-IN" dirty="0"/>
          </a:p>
        </p:txBody>
      </p:sp>
    </p:spTree>
    <p:extLst>
      <p:ext uri="{BB962C8B-B14F-4D97-AF65-F5344CB8AC3E}">
        <p14:creationId xmlns:p14="http://schemas.microsoft.com/office/powerpoint/2010/main" val="23697435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756</TotalTime>
  <Words>3910</Words>
  <Application>Microsoft Office PowerPoint</Application>
  <PresentationFormat>Widescreen</PresentationFormat>
  <Paragraphs>328</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Century Gothic</vt:lpstr>
      <vt:lpstr>Wingdings 3</vt:lpstr>
      <vt:lpstr>Ion Boardroom</vt:lpstr>
      <vt:lpstr>ARTIFICIAL INTELLIGENCE AND MACHINE LEARNING                  UNIT -  1</vt:lpstr>
      <vt:lpstr>What is Artificial Intelligence?</vt:lpstr>
      <vt:lpstr>PowerPoint Presentation</vt:lpstr>
      <vt:lpstr>Philosophy of Artificial Intelligence (AI) </vt:lpstr>
      <vt:lpstr>Why Artificial Intelligence? </vt:lpstr>
      <vt:lpstr>Goals of AI</vt:lpstr>
      <vt:lpstr>What Contributes to Artificial Intelligence (AI)?</vt:lpstr>
      <vt:lpstr>PowerPoint Presentation</vt:lpstr>
      <vt:lpstr>PowerPoint Presentation</vt:lpstr>
      <vt:lpstr>Advantages of Artificial Intelligence </vt:lpstr>
      <vt:lpstr>Disadvantages of Artificial Intelligence </vt:lpstr>
      <vt:lpstr>Applications of Artificial Intelligence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Misconceptions: AI, Machine Learning, and Deep Learning</vt:lpstr>
      <vt:lpstr>Relationship</vt:lpstr>
      <vt:lpstr>Types of Artificial Intelligence</vt:lpstr>
      <vt:lpstr>PowerPoint Presentation</vt:lpstr>
      <vt:lpstr>AI type-1: Based on Capabilities 1. Weak AI or Narrow AI: </vt:lpstr>
      <vt:lpstr>PowerPoint Presentation</vt:lpstr>
      <vt:lpstr>2. General AI:</vt:lpstr>
      <vt:lpstr>3. Super AI:</vt:lpstr>
      <vt:lpstr>Artificial Intelligence type-2: Based on functionality 1. Reactive Machines</vt:lpstr>
      <vt:lpstr>2. Limited Memory</vt:lpstr>
      <vt:lpstr>3. Theory of Mind</vt:lpstr>
      <vt:lpstr>4. Self-Awareness</vt:lpstr>
      <vt:lpstr>What is State Space?</vt:lpstr>
      <vt:lpstr>PowerPoint Presentation</vt:lpstr>
      <vt:lpstr>Terminologies consist of:</vt:lpstr>
      <vt:lpstr>Features of State Space Search </vt:lpstr>
      <vt:lpstr>Steps in State Space Search </vt:lpstr>
      <vt:lpstr>Step 2: Pick a Search Strategy </vt:lpstr>
      <vt:lpstr>PowerPoint Presentation</vt:lpstr>
      <vt:lpstr>Step 3: Start the Search and Extend the Nodes </vt:lpstr>
      <vt:lpstr>Step 4: Address State Repetition </vt:lpstr>
      <vt:lpstr>Step 5: End the Search </vt:lpstr>
      <vt:lpstr>Applications </vt:lpstr>
      <vt:lpstr>Challenges </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97</cp:revision>
  <dcterms:created xsi:type="dcterms:W3CDTF">2026-07-30T05:04:31Z</dcterms:created>
  <dcterms:modified xsi:type="dcterms:W3CDTF">2026-09-04T09:12:38Z</dcterms:modified>
</cp:coreProperties>
</file>