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3280320" cy="534240"/>
          </a:xfrm>
          <a:prstGeom prst="rect">
            <a:avLst/>
          </a:prstGeom>
          <a:noFill/>
          <a:ln>
            <a:noFill/>
          </a:ln>
        </p:spPr>
        <p:txBody>
          <a:bodyPr vert="horz" wrap="non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Droid Sans Fallback" pitchFamily="2"/>
              <a:cs typeface="FreeSans" pitchFamily="2"/>
            </a:endParaRPr>
          </a:p>
        </p:txBody>
      </p:sp>
      <p:sp>
        <p:nvSpPr>
          <p:cNvPr id="3" name="Date Placeholder 2"/>
          <p:cNvSpPr txBox="1">
            <a:spLocks noGrp="1"/>
          </p:cNvSpPr>
          <p:nvPr>
            <p:ph type="dt" sz="quarter" idx="1"/>
          </p:nvPr>
        </p:nvSpPr>
        <p:spPr>
          <a:xfrm>
            <a:off x="4279320" y="0"/>
            <a:ext cx="3280320" cy="53424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Droid Sans Fallback" pitchFamily="2"/>
              <a:cs typeface="FreeSans" pitchFamily="2"/>
            </a:endParaRPr>
          </a:p>
        </p:txBody>
      </p:sp>
      <p:sp>
        <p:nvSpPr>
          <p:cNvPr id="4" name="Footer Placeholder 3"/>
          <p:cNvSpPr txBox="1">
            <a:spLocks noGrp="1"/>
          </p:cNvSpPr>
          <p:nvPr>
            <p:ph type="ftr" sz="quarter" idx="2"/>
          </p:nvPr>
        </p:nvSpPr>
        <p:spPr>
          <a:xfrm>
            <a:off x="0" y="10157400"/>
            <a:ext cx="3280320" cy="534240"/>
          </a:xfrm>
          <a:prstGeom prst="rect">
            <a:avLst/>
          </a:prstGeom>
          <a:noFill/>
          <a:ln>
            <a:noFill/>
          </a:ln>
        </p:spPr>
        <p:txBody>
          <a:bodyPr vert="horz" wrap="non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Droid Sans Fallback" pitchFamily="2"/>
              <a:cs typeface="FreeSans" pitchFamily="2"/>
            </a:endParaRPr>
          </a:p>
        </p:txBody>
      </p:sp>
      <p:sp>
        <p:nvSpPr>
          <p:cNvPr id="5" name="Slide Number Placeholder 4"/>
          <p:cNvSpPr txBox="1">
            <a:spLocks noGrp="1"/>
          </p:cNvSpPr>
          <p:nvPr>
            <p:ph type="sldNum" sz="quarter" idx="3"/>
          </p:nvPr>
        </p:nvSpPr>
        <p:spPr>
          <a:xfrm>
            <a:off x="4279320" y="10157400"/>
            <a:ext cx="3280320" cy="53424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6CA6909F-D62C-4E2B-B636-1D6F27B0E9F2}" type="slidenum">
              <a:t>‹#›</a:t>
            </a:fld>
            <a:endParaRPr lang="en-IN" sz="1400" b="0" i="0" u="none" strike="noStrike" kern="1200" cap="none">
              <a:ln>
                <a:noFill/>
              </a:ln>
              <a:latin typeface="Liberation Sans" pitchFamily="18"/>
              <a:ea typeface="Droid Sans Fallback" pitchFamily="2"/>
              <a:cs typeface="FreeSans" pitchFamily="2"/>
            </a:endParaRPr>
          </a:p>
        </p:txBody>
      </p:sp>
    </p:spTree>
    <p:extLst>
      <p:ext uri="{BB962C8B-B14F-4D97-AF65-F5344CB8AC3E}">
        <p14:creationId xmlns:p14="http://schemas.microsoft.com/office/powerpoint/2010/main" val="18279898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07000" y="812520"/>
            <a:ext cx="5345280" cy="4008600"/>
          </a:xfrm>
          <a:prstGeom prst="rect">
            <a:avLst/>
          </a:prstGeom>
          <a:noFill/>
          <a:ln>
            <a:noFill/>
            <a:prstDash val="solid"/>
          </a:ln>
        </p:spPr>
      </p:sp>
      <p:sp>
        <p:nvSpPr>
          <p:cNvPr id="3" name="Notes Placeholder 2"/>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IN"/>
          </a:p>
        </p:txBody>
      </p:sp>
      <p:sp>
        <p:nvSpPr>
          <p:cNvPr id="4" name="Header Placeholder 3"/>
          <p:cNvSpPr txBox="1">
            <a:spLocks noGrp="1"/>
          </p:cNvSpPr>
          <p:nvPr>
            <p:ph type="hdr" sz="quarter"/>
          </p:nvPr>
        </p:nvSpPr>
        <p:spPr>
          <a:xfrm>
            <a:off x="0" y="0"/>
            <a:ext cx="3280320" cy="534240"/>
          </a:xfrm>
          <a:prstGeom prst="rect">
            <a:avLst/>
          </a:prstGeom>
          <a:noFill/>
          <a:ln>
            <a:noFill/>
          </a:ln>
        </p:spPr>
        <p:txBody>
          <a:bodyPr vert="horz" lIns="0" tIns="0" rIns="0" bIns="0"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5" name="Date Placeholder 4"/>
          <p:cNvSpPr txBox="1">
            <a:spLocks noGrp="1"/>
          </p:cNvSpPr>
          <p:nvPr>
            <p:ph type="dt" idx="1"/>
          </p:nvPr>
        </p:nvSpPr>
        <p:spPr>
          <a:xfrm>
            <a:off x="4279320" y="0"/>
            <a:ext cx="3280320" cy="534240"/>
          </a:xfrm>
          <a:prstGeom prst="rect">
            <a:avLst/>
          </a:prstGeom>
          <a:noFill/>
          <a:ln>
            <a:noFill/>
          </a:ln>
        </p:spPr>
        <p:txBody>
          <a:bodyPr vert="horz" lIns="0" tIns="0" rIns="0" bIns="0"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6" name="Footer Placeholder 5"/>
          <p:cNvSpPr txBox="1">
            <a:spLocks noGrp="1"/>
          </p:cNvSpPr>
          <p:nvPr>
            <p:ph type="ftr" sz="quarter" idx="4"/>
          </p:nvPr>
        </p:nvSpPr>
        <p:spPr>
          <a:xfrm>
            <a:off x="0" y="10157400"/>
            <a:ext cx="3280320" cy="534240"/>
          </a:xfrm>
          <a:prstGeom prst="rect">
            <a:avLst/>
          </a:prstGeom>
          <a:noFill/>
          <a:ln>
            <a:noFill/>
          </a:ln>
        </p:spPr>
        <p:txBody>
          <a:bodyPr vert="horz" lIns="0" tIns="0" rIns="0" bIns="0" anchor="b"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7" name="Slide Number Placeholder 6"/>
          <p:cNvSpPr txBox="1">
            <a:spLocks noGrp="1"/>
          </p:cNvSpPr>
          <p:nvPr>
            <p:ph type="sldNum" sz="quarter" idx="5"/>
          </p:nvPr>
        </p:nvSpPr>
        <p:spPr>
          <a:xfrm>
            <a:off x="4279320" y="10157400"/>
            <a:ext cx="3280320" cy="534240"/>
          </a:xfrm>
          <a:prstGeom prst="rect">
            <a:avLst/>
          </a:prstGeom>
          <a:noFill/>
          <a:ln>
            <a:noFill/>
          </a:ln>
        </p:spPr>
        <p:txBody>
          <a:bodyPr vert="horz" lIns="0" tIns="0" rIns="0" bIns="0" anchor="b"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fld id="{798F16EC-D008-40EB-9B3B-440FFE7CF477}" type="slidenum">
              <a:t>‹#›</a:t>
            </a:fld>
            <a:endParaRPr lang="en-IN"/>
          </a:p>
        </p:txBody>
      </p:sp>
    </p:spTree>
    <p:extLst>
      <p:ext uri="{BB962C8B-B14F-4D97-AF65-F5344CB8AC3E}">
        <p14:creationId xmlns:p14="http://schemas.microsoft.com/office/powerpoint/2010/main" val="3258661613"/>
      </p:ext>
    </p:extLst>
  </p:cSld>
  <p:clrMap bg1="lt1" tx1="dk1" bg2="lt2" tx2="dk2" accent1="accent1" accent2="accent2" accent3="accent3" accent4="accent4" accent5="accent5" accent6="accent6" hlink="hlink" folHlink="folHlink"/>
  <p:notesStyle>
    <a:lvl1pPr marL="216000" marR="0" indent="-216000" hangingPunct="0">
      <a:tabLst/>
      <a:defRPr lang="en-IN" sz="2000" b="0" i="0" u="none" strike="noStrike" kern="1200" cap="none">
        <a:ln>
          <a:noFill/>
        </a:ln>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EE822026-58A9-4035-8C6D-4829959CC051}" type="slidenum">
              <a:t>1</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8636DCD-8A12-4BE6-95CE-262ECA426155}" type="slidenum">
              <a:t>2</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668409ED-E811-4748-B6D4-867E309CCEDB}" type="slidenum">
              <a:t>3</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1BE090E8-74EC-47CC-AF19-8D09FB779325}" type="slidenum">
              <a:t>4</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4844899E-E829-470C-BFE5-5B2144AD8C87}" type="slidenum">
              <a:t>5</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17E85605-D78A-48EC-A2B8-78FD1323B513}" type="slidenum">
              <a:t>6</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E6CE7BF1-9BB7-4384-89CB-BF8B6D317611}" type="slidenum">
              <a:t>7</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3FE811B5-225D-4B86-BA97-A52298174B14}" type="slidenum">
              <a:t>8</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0D6FA3F3-19C8-4CD9-84DF-1C88697E71D1}" type="slidenum">
              <a:t>9</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A2E289C0-54BE-4628-A3F5-1F7802CA600F}" type="slidenum">
              <a:t>10</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6E4B7A2-EEFD-4BD3-8554-5E27B13C06E8}" type="slidenum">
              <a:t>11</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81B8A2C-8D37-4221-8B0A-B5AB8BDF85A0}" type="slidenum">
              <a:t>12</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9E74FA85-8B76-4AC1-9AD2-80A5F00D8EDF}" type="slidenum">
              <a:t>13</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F10332DA-6BA5-4B2C-907E-B7BC8B6C2FAF}" type="slidenum">
              <a:t>14</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24A10A67-6FCC-4559-BA4B-33B861E169F6}" type="slidenum">
              <a:t>15</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3785E881-19A2-4919-8BC1-7D73933CAC73}" type="slidenum">
              <a:t>16</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3E839E4A-4AC2-489C-9DBF-69FF16CB9910}" type="slidenum">
              <a:t>17</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D60161B8-9AB6-4BE9-948C-D574948E0C25}" type="slidenum">
              <a:t>18</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4F898367-5DA7-4401-9831-84F0390A48D4}" type="slidenum">
              <a:t>19</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A33A08F8-99F4-4E57-99BA-4A48793BA1E6}" type="slidenum">
              <a:t>20</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2A877538-C7E0-4D88-8978-B5EEE66D0D20}" type="slidenum">
              <a:t>21</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61BDCB90-BFCA-47A2-8D57-64FE5A0A0FDE}" type="slidenum">
              <a:t>22</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CCC9E9E5-23DF-4588-9D0A-182DD69C2FA1}" type="slidenum">
              <a:t>23</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47537540-9029-4CC4-997D-13160902A81D}" type="slidenum">
              <a:t>24</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A3E58297-31EC-4FC9-AEE6-74657BE34775}" type="slidenum">
              <a:t>25</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414FC4AD-8396-40E6-85DB-961150070818}" type="slidenum">
              <a:t>26</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763AC2FF-96D9-4B64-B977-07EB6627607D}" type="slidenum">
              <a:t>27</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43949EAA-1FCD-4E51-8BE1-FA399B430CAA}" type="slidenum">
              <a:t>28</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AC4A4010-961C-45C2-A16C-79A3FB7815A6}" type="slidenum">
              <a:t>29</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4AF78BF5-FEB2-4FB8-B3E3-E9B4B9B3F1B4}" type="slidenum">
              <a:t>30</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28C6E7CA-BBB4-4A8D-9A49-F53B22E25465}" type="slidenum">
              <a:t>31</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72D1B6D2-0903-4E50-8C74-9BB28C88D8C8}" type="slidenum">
              <a:t>32</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FE7FFEE5-D052-4E81-8F7C-8F02EEBE8EA7}" type="slidenum">
              <a:t>33</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CF8A1142-0B76-43A3-9F5D-A7A792E481A6}" type="slidenum">
              <a:t>34</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66B62442-F661-4F71-AA7C-DC0258DEE539}" type="slidenum">
              <a:t>35</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9285E730-B8DF-4E75-97E3-958BF5EAA47B}" type="slidenum">
              <a:t>36</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0424D0AE-AC71-4EE4-B2B2-6140C27F1A08}" type="slidenum">
              <a:t>37</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FBBCC540-49F9-4F7C-9E25-55B3AAED17D8}" type="slidenum">
              <a:t>38</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C6E28057-017A-4352-8525-71252CE434A0}" type="slidenum">
              <a:t>39</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F3F7D1C8-A28B-4E9C-A07F-FC4569CC5435}" type="slidenum">
              <a:t>40</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71FAE6A1-508A-489A-B18B-82FA185A9847}" type="slidenum">
              <a:t>41</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noAutofit/>
          </a:bodyPr>
          <a:lstStyle/>
          <a:p>
            <a:pPr rtl="0"/>
            <a:endParaRPr lang="en-I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1F1DC18C-4D6D-40B0-A6BD-988D7CACFD44}" type="slidenum">
              <a:t>42</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pPr rtl="0"/>
            <a:endParaRPr lang="en-I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DBD8DA3A-B4D1-4847-8560-0892079FA0EA}" type="slidenum">
              <a:t>43</a:t>
            </a:fld>
            <a:endParaRPr lang="en-IN"/>
          </a:p>
        </p:txBody>
      </p:sp>
      <p:sp>
        <p:nvSpPr>
          <p:cNvPr id="2" name="Slide Image Placeholder 1"/>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pPr rtl="0"/>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0475" y="1236663"/>
            <a:ext cx="7559675" cy="2632075"/>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lvl="0"/>
            <a:endParaRPr lang="en-IN"/>
          </a:p>
        </p:txBody>
      </p:sp>
      <p:sp>
        <p:nvSpPr>
          <p:cNvPr id="5" name="Footer Placeholder 4"/>
          <p:cNvSpPr>
            <a:spLocks noGrp="1"/>
          </p:cNvSpPr>
          <p:nvPr>
            <p:ph type="ftr" sz="quarter" idx="11"/>
          </p:nvPr>
        </p:nvSpPr>
        <p:spPr/>
        <p:txBody>
          <a:bodyPr/>
          <a:lstStyle/>
          <a:p>
            <a:pPr lvl="0"/>
            <a:endParaRPr lang="en-IN"/>
          </a:p>
        </p:txBody>
      </p:sp>
      <p:sp>
        <p:nvSpPr>
          <p:cNvPr id="6" name="Slide Number Placeholder 5"/>
          <p:cNvSpPr>
            <a:spLocks noGrp="1"/>
          </p:cNvSpPr>
          <p:nvPr>
            <p:ph type="sldNum" sz="quarter" idx="12"/>
          </p:nvPr>
        </p:nvSpPr>
        <p:spPr/>
        <p:txBody>
          <a:bodyPr/>
          <a:lstStyle/>
          <a:p>
            <a:pPr lvl="0"/>
            <a:fld id="{09553E0A-8E79-4499-A090-FEB5C783B060}" type="slidenum">
              <a:t>‹#›</a:t>
            </a:fld>
            <a:endParaRPr lang="en-IN"/>
          </a:p>
        </p:txBody>
      </p:sp>
    </p:spTree>
    <p:extLst>
      <p:ext uri="{BB962C8B-B14F-4D97-AF65-F5344CB8AC3E}">
        <p14:creationId xmlns:p14="http://schemas.microsoft.com/office/powerpoint/2010/main" val="8311585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IN"/>
          </a:p>
        </p:txBody>
      </p:sp>
      <p:sp>
        <p:nvSpPr>
          <p:cNvPr id="5" name="Footer Placeholder 4"/>
          <p:cNvSpPr>
            <a:spLocks noGrp="1"/>
          </p:cNvSpPr>
          <p:nvPr>
            <p:ph type="ftr" sz="quarter" idx="11"/>
          </p:nvPr>
        </p:nvSpPr>
        <p:spPr/>
        <p:txBody>
          <a:bodyPr/>
          <a:lstStyle/>
          <a:p>
            <a:pPr lvl="0"/>
            <a:endParaRPr lang="en-IN"/>
          </a:p>
        </p:txBody>
      </p:sp>
      <p:sp>
        <p:nvSpPr>
          <p:cNvPr id="6" name="Slide Number Placeholder 5"/>
          <p:cNvSpPr>
            <a:spLocks noGrp="1"/>
          </p:cNvSpPr>
          <p:nvPr>
            <p:ph type="sldNum" sz="quarter" idx="12"/>
          </p:nvPr>
        </p:nvSpPr>
        <p:spPr/>
        <p:txBody>
          <a:bodyPr/>
          <a:lstStyle/>
          <a:p>
            <a:pPr lvl="0"/>
            <a:fld id="{05236496-0267-4920-8398-C26421ADF10E}" type="slidenum">
              <a:t>‹#›</a:t>
            </a:fld>
            <a:endParaRPr lang="en-IN"/>
          </a:p>
        </p:txBody>
      </p:sp>
    </p:spTree>
    <p:extLst>
      <p:ext uri="{BB962C8B-B14F-4D97-AF65-F5344CB8AC3E}">
        <p14:creationId xmlns:p14="http://schemas.microsoft.com/office/powerpoint/2010/main" val="37699150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7388" y="1884363"/>
            <a:ext cx="8694737" cy="31448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87388" y="5059363"/>
            <a:ext cx="8694737" cy="16525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lvl="0"/>
            <a:endParaRPr lang="en-IN"/>
          </a:p>
        </p:txBody>
      </p:sp>
      <p:sp>
        <p:nvSpPr>
          <p:cNvPr id="5" name="Footer Placeholder 4"/>
          <p:cNvSpPr>
            <a:spLocks noGrp="1"/>
          </p:cNvSpPr>
          <p:nvPr>
            <p:ph type="ftr" sz="quarter" idx="11"/>
          </p:nvPr>
        </p:nvSpPr>
        <p:spPr/>
        <p:txBody>
          <a:bodyPr/>
          <a:lstStyle/>
          <a:p>
            <a:pPr lvl="0"/>
            <a:endParaRPr lang="en-IN"/>
          </a:p>
        </p:txBody>
      </p:sp>
      <p:sp>
        <p:nvSpPr>
          <p:cNvPr id="6" name="Slide Number Placeholder 5"/>
          <p:cNvSpPr>
            <a:spLocks noGrp="1"/>
          </p:cNvSpPr>
          <p:nvPr>
            <p:ph type="sldNum" sz="quarter" idx="12"/>
          </p:nvPr>
        </p:nvSpPr>
        <p:spPr/>
        <p:txBody>
          <a:bodyPr/>
          <a:lstStyle/>
          <a:p>
            <a:pPr lvl="0"/>
            <a:fld id="{706CBB84-342D-4114-B142-4A77C1DC6B3B}" type="slidenum">
              <a:t>‹#›</a:t>
            </a:fld>
            <a:endParaRPr lang="en-IN"/>
          </a:p>
        </p:txBody>
      </p:sp>
    </p:spTree>
    <p:extLst>
      <p:ext uri="{BB962C8B-B14F-4D97-AF65-F5344CB8AC3E}">
        <p14:creationId xmlns:p14="http://schemas.microsoft.com/office/powerpoint/2010/main" val="29890879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3238" y="1768475"/>
            <a:ext cx="4459287" cy="438467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14925" y="1768475"/>
            <a:ext cx="4460875" cy="438467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lvl="0"/>
            <a:endParaRPr lang="en-IN"/>
          </a:p>
        </p:txBody>
      </p:sp>
      <p:sp>
        <p:nvSpPr>
          <p:cNvPr id="6" name="Footer Placeholder 5"/>
          <p:cNvSpPr>
            <a:spLocks noGrp="1"/>
          </p:cNvSpPr>
          <p:nvPr>
            <p:ph type="ftr" sz="quarter" idx="11"/>
          </p:nvPr>
        </p:nvSpPr>
        <p:spPr/>
        <p:txBody>
          <a:bodyPr/>
          <a:lstStyle/>
          <a:p>
            <a:pPr lvl="0"/>
            <a:endParaRPr lang="en-IN"/>
          </a:p>
        </p:txBody>
      </p:sp>
      <p:sp>
        <p:nvSpPr>
          <p:cNvPr id="7" name="Slide Number Placeholder 6"/>
          <p:cNvSpPr>
            <a:spLocks noGrp="1"/>
          </p:cNvSpPr>
          <p:nvPr>
            <p:ph type="sldNum" sz="quarter" idx="12"/>
          </p:nvPr>
        </p:nvSpPr>
        <p:spPr/>
        <p:txBody>
          <a:bodyPr/>
          <a:lstStyle/>
          <a:p>
            <a:pPr lvl="0"/>
            <a:fld id="{D5FB0D40-0148-4F69-99D0-122794073F23}" type="slidenum">
              <a:t>‹#›</a:t>
            </a:fld>
            <a:endParaRPr lang="en-IN"/>
          </a:p>
        </p:txBody>
      </p:sp>
    </p:spTree>
    <p:extLst>
      <p:ext uri="{BB962C8B-B14F-4D97-AF65-F5344CB8AC3E}">
        <p14:creationId xmlns:p14="http://schemas.microsoft.com/office/powerpoint/2010/main" val="2704574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3738" y="403225"/>
            <a:ext cx="8694737" cy="1460500"/>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93738" y="2760663"/>
            <a:ext cx="4265612" cy="40624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103813" y="2760663"/>
            <a:ext cx="4284662" cy="40624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en-IN"/>
          </a:p>
        </p:txBody>
      </p:sp>
      <p:sp>
        <p:nvSpPr>
          <p:cNvPr id="8" name="Footer Placeholder 7"/>
          <p:cNvSpPr>
            <a:spLocks noGrp="1"/>
          </p:cNvSpPr>
          <p:nvPr>
            <p:ph type="ftr" sz="quarter" idx="11"/>
          </p:nvPr>
        </p:nvSpPr>
        <p:spPr/>
        <p:txBody>
          <a:bodyPr/>
          <a:lstStyle/>
          <a:p>
            <a:pPr lvl="0"/>
            <a:endParaRPr lang="en-IN"/>
          </a:p>
        </p:txBody>
      </p:sp>
      <p:sp>
        <p:nvSpPr>
          <p:cNvPr id="9" name="Slide Number Placeholder 8"/>
          <p:cNvSpPr>
            <a:spLocks noGrp="1"/>
          </p:cNvSpPr>
          <p:nvPr>
            <p:ph type="sldNum" sz="quarter" idx="12"/>
          </p:nvPr>
        </p:nvSpPr>
        <p:spPr/>
        <p:txBody>
          <a:bodyPr/>
          <a:lstStyle/>
          <a:p>
            <a:pPr lvl="0"/>
            <a:fld id="{A06DF5F2-86F4-481C-9AFC-5DCF98BA1DCF}" type="slidenum">
              <a:t>‹#›</a:t>
            </a:fld>
            <a:endParaRPr lang="en-IN"/>
          </a:p>
        </p:txBody>
      </p:sp>
    </p:spTree>
    <p:extLst>
      <p:ext uri="{BB962C8B-B14F-4D97-AF65-F5344CB8AC3E}">
        <p14:creationId xmlns:p14="http://schemas.microsoft.com/office/powerpoint/2010/main" val="21058434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lvl="0"/>
            <a:endParaRPr lang="en-IN"/>
          </a:p>
        </p:txBody>
      </p:sp>
      <p:sp>
        <p:nvSpPr>
          <p:cNvPr id="4" name="Footer Placeholder 3"/>
          <p:cNvSpPr>
            <a:spLocks noGrp="1"/>
          </p:cNvSpPr>
          <p:nvPr>
            <p:ph type="ftr" sz="quarter" idx="11"/>
          </p:nvPr>
        </p:nvSpPr>
        <p:spPr/>
        <p:txBody>
          <a:bodyPr/>
          <a:lstStyle/>
          <a:p>
            <a:pPr lvl="0"/>
            <a:endParaRPr lang="en-IN"/>
          </a:p>
        </p:txBody>
      </p:sp>
      <p:sp>
        <p:nvSpPr>
          <p:cNvPr id="5" name="Slide Number Placeholder 4"/>
          <p:cNvSpPr>
            <a:spLocks noGrp="1"/>
          </p:cNvSpPr>
          <p:nvPr>
            <p:ph type="sldNum" sz="quarter" idx="12"/>
          </p:nvPr>
        </p:nvSpPr>
        <p:spPr/>
        <p:txBody>
          <a:bodyPr/>
          <a:lstStyle/>
          <a:p>
            <a:pPr lvl="0"/>
            <a:fld id="{175BF033-89E2-4D1E-99CB-43AB1C70CE71}" type="slidenum">
              <a:t>‹#›</a:t>
            </a:fld>
            <a:endParaRPr lang="en-IN"/>
          </a:p>
        </p:txBody>
      </p:sp>
    </p:spTree>
    <p:extLst>
      <p:ext uri="{BB962C8B-B14F-4D97-AF65-F5344CB8AC3E}">
        <p14:creationId xmlns:p14="http://schemas.microsoft.com/office/powerpoint/2010/main" val="35077872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IN"/>
          </a:p>
        </p:txBody>
      </p:sp>
      <p:sp>
        <p:nvSpPr>
          <p:cNvPr id="3" name="Footer Placeholder 2"/>
          <p:cNvSpPr>
            <a:spLocks noGrp="1"/>
          </p:cNvSpPr>
          <p:nvPr>
            <p:ph type="ftr" sz="quarter" idx="11"/>
          </p:nvPr>
        </p:nvSpPr>
        <p:spPr/>
        <p:txBody>
          <a:bodyPr/>
          <a:lstStyle/>
          <a:p>
            <a:pPr lvl="0"/>
            <a:endParaRPr lang="en-IN"/>
          </a:p>
        </p:txBody>
      </p:sp>
      <p:sp>
        <p:nvSpPr>
          <p:cNvPr id="4" name="Slide Number Placeholder 3"/>
          <p:cNvSpPr>
            <a:spLocks noGrp="1"/>
          </p:cNvSpPr>
          <p:nvPr>
            <p:ph type="sldNum" sz="quarter" idx="12"/>
          </p:nvPr>
        </p:nvSpPr>
        <p:spPr/>
        <p:txBody>
          <a:bodyPr/>
          <a:lstStyle/>
          <a:p>
            <a:pPr lvl="0"/>
            <a:fld id="{88B72AA3-7B2B-49A4-A61A-EEAA8FA5B00F}" type="slidenum">
              <a:t>‹#›</a:t>
            </a:fld>
            <a:endParaRPr lang="en-IN"/>
          </a:p>
        </p:txBody>
      </p:sp>
    </p:spTree>
    <p:extLst>
      <p:ext uri="{BB962C8B-B14F-4D97-AF65-F5344CB8AC3E}">
        <p14:creationId xmlns:p14="http://schemas.microsoft.com/office/powerpoint/2010/main" val="41470806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lvl="0"/>
            <a:endParaRPr lang="en-IN"/>
          </a:p>
        </p:txBody>
      </p:sp>
      <p:sp>
        <p:nvSpPr>
          <p:cNvPr id="6" name="Footer Placeholder 5"/>
          <p:cNvSpPr>
            <a:spLocks noGrp="1"/>
          </p:cNvSpPr>
          <p:nvPr>
            <p:ph type="ftr" sz="quarter" idx="11"/>
          </p:nvPr>
        </p:nvSpPr>
        <p:spPr/>
        <p:txBody>
          <a:bodyPr/>
          <a:lstStyle/>
          <a:p>
            <a:pPr lvl="0"/>
            <a:endParaRPr lang="en-IN"/>
          </a:p>
        </p:txBody>
      </p:sp>
      <p:sp>
        <p:nvSpPr>
          <p:cNvPr id="7" name="Slide Number Placeholder 6"/>
          <p:cNvSpPr>
            <a:spLocks noGrp="1"/>
          </p:cNvSpPr>
          <p:nvPr>
            <p:ph type="sldNum" sz="quarter" idx="12"/>
          </p:nvPr>
        </p:nvSpPr>
        <p:spPr/>
        <p:txBody>
          <a:bodyPr/>
          <a:lstStyle/>
          <a:p>
            <a:pPr lvl="0"/>
            <a:fld id="{C92591B1-492A-4BFE-B78E-E35FA846A60E}" type="slidenum">
              <a:t>‹#›</a:t>
            </a:fld>
            <a:endParaRPr lang="en-IN"/>
          </a:p>
        </p:txBody>
      </p:sp>
    </p:spTree>
    <p:extLst>
      <p:ext uri="{BB962C8B-B14F-4D97-AF65-F5344CB8AC3E}">
        <p14:creationId xmlns:p14="http://schemas.microsoft.com/office/powerpoint/2010/main" val="15363730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lvl="0"/>
            <a:endParaRPr lang="en-IN"/>
          </a:p>
        </p:txBody>
      </p:sp>
      <p:sp>
        <p:nvSpPr>
          <p:cNvPr id="6" name="Footer Placeholder 5"/>
          <p:cNvSpPr>
            <a:spLocks noGrp="1"/>
          </p:cNvSpPr>
          <p:nvPr>
            <p:ph type="ftr" sz="quarter" idx="11"/>
          </p:nvPr>
        </p:nvSpPr>
        <p:spPr/>
        <p:txBody>
          <a:bodyPr/>
          <a:lstStyle/>
          <a:p>
            <a:pPr lvl="0"/>
            <a:endParaRPr lang="en-IN"/>
          </a:p>
        </p:txBody>
      </p:sp>
      <p:sp>
        <p:nvSpPr>
          <p:cNvPr id="7" name="Slide Number Placeholder 6"/>
          <p:cNvSpPr>
            <a:spLocks noGrp="1"/>
          </p:cNvSpPr>
          <p:nvPr>
            <p:ph type="sldNum" sz="quarter" idx="12"/>
          </p:nvPr>
        </p:nvSpPr>
        <p:spPr/>
        <p:txBody>
          <a:bodyPr/>
          <a:lstStyle/>
          <a:p>
            <a:pPr lvl="0"/>
            <a:fld id="{C52372FA-112C-448A-92C1-28CC32511CFF}" type="slidenum">
              <a:t>‹#›</a:t>
            </a:fld>
            <a:endParaRPr lang="en-IN"/>
          </a:p>
        </p:txBody>
      </p:sp>
    </p:spTree>
    <p:extLst>
      <p:ext uri="{BB962C8B-B14F-4D97-AF65-F5344CB8AC3E}">
        <p14:creationId xmlns:p14="http://schemas.microsoft.com/office/powerpoint/2010/main" val="152280959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IN"/>
          </a:p>
        </p:txBody>
      </p:sp>
      <p:sp>
        <p:nvSpPr>
          <p:cNvPr id="5" name="Footer Placeholder 4"/>
          <p:cNvSpPr>
            <a:spLocks noGrp="1"/>
          </p:cNvSpPr>
          <p:nvPr>
            <p:ph type="ftr" sz="quarter" idx="11"/>
          </p:nvPr>
        </p:nvSpPr>
        <p:spPr/>
        <p:txBody>
          <a:bodyPr/>
          <a:lstStyle/>
          <a:p>
            <a:pPr lvl="0"/>
            <a:endParaRPr lang="en-IN"/>
          </a:p>
        </p:txBody>
      </p:sp>
      <p:sp>
        <p:nvSpPr>
          <p:cNvPr id="6" name="Slide Number Placeholder 5"/>
          <p:cNvSpPr>
            <a:spLocks noGrp="1"/>
          </p:cNvSpPr>
          <p:nvPr>
            <p:ph type="sldNum" sz="quarter" idx="12"/>
          </p:nvPr>
        </p:nvSpPr>
        <p:spPr/>
        <p:txBody>
          <a:bodyPr/>
          <a:lstStyle/>
          <a:p>
            <a:pPr lvl="0"/>
            <a:fld id="{3D9CECD7-4BE3-4E6E-B5D9-743BA8C39636}" type="slidenum">
              <a:t>‹#›</a:t>
            </a:fld>
            <a:endParaRPr lang="en-IN"/>
          </a:p>
        </p:txBody>
      </p:sp>
    </p:spTree>
    <p:extLst>
      <p:ext uri="{BB962C8B-B14F-4D97-AF65-F5344CB8AC3E}">
        <p14:creationId xmlns:p14="http://schemas.microsoft.com/office/powerpoint/2010/main" val="26895669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8850" y="301625"/>
            <a:ext cx="226695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03238" y="301625"/>
            <a:ext cx="6653212" cy="58515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IN"/>
          </a:p>
        </p:txBody>
      </p:sp>
      <p:sp>
        <p:nvSpPr>
          <p:cNvPr id="5" name="Footer Placeholder 4"/>
          <p:cNvSpPr>
            <a:spLocks noGrp="1"/>
          </p:cNvSpPr>
          <p:nvPr>
            <p:ph type="ftr" sz="quarter" idx="11"/>
          </p:nvPr>
        </p:nvSpPr>
        <p:spPr/>
        <p:txBody>
          <a:bodyPr/>
          <a:lstStyle/>
          <a:p>
            <a:pPr lvl="0"/>
            <a:endParaRPr lang="en-IN"/>
          </a:p>
        </p:txBody>
      </p:sp>
      <p:sp>
        <p:nvSpPr>
          <p:cNvPr id="6" name="Slide Number Placeholder 5"/>
          <p:cNvSpPr>
            <a:spLocks noGrp="1"/>
          </p:cNvSpPr>
          <p:nvPr>
            <p:ph type="sldNum" sz="quarter" idx="12"/>
          </p:nvPr>
        </p:nvSpPr>
        <p:spPr/>
        <p:txBody>
          <a:bodyPr/>
          <a:lstStyle/>
          <a:p>
            <a:pPr lvl="0"/>
            <a:fld id="{26B80686-AFB1-41E4-B4B7-9C33C9D49F9F}" type="slidenum">
              <a:t>‹#›</a:t>
            </a:fld>
            <a:endParaRPr lang="en-IN"/>
          </a:p>
        </p:txBody>
      </p:sp>
    </p:spTree>
    <p:extLst>
      <p:ext uri="{BB962C8B-B14F-4D97-AF65-F5344CB8AC3E}">
        <p14:creationId xmlns:p14="http://schemas.microsoft.com/office/powerpoint/2010/main" val="23987051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p:cNvSpPr txBox="1">
            <a:spLocks noGrp="1"/>
          </p:cNvSpPr>
          <p:nvPr>
            <p:ph type="title"/>
          </p:nvPr>
        </p:nvSpPr>
        <p:spPr>
          <a:xfrm>
            <a:off x="503999" y="301320"/>
            <a:ext cx="9071640" cy="1262160"/>
          </a:xfrm>
          <a:prstGeom prst="rect">
            <a:avLst/>
          </a:prstGeom>
          <a:noFill/>
          <a:ln>
            <a:noFill/>
          </a:ln>
        </p:spPr>
        <p:txBody>
          <a:bodyPr lIns="0" tIns="0" rIns="0" bIns="0" anchor="ctr"/>
          <a:lstStyle/>
          <a:p>
            <a:endParaRPr lang="en-IN"/>
          </a:p>
        </p:txBody>
      </p:sp>
      <p:sp>
        <p:nvSpPr>
          <p:cNvPr id="3" name="Text Placeholder 2"/>
          <p:cNvSpPr txBox="1">
            <a:spLocks noGrp="1"/>
          </p:cNvSpPr>
          <p:nvPr>
            <p:ph type="body" idx="1"/>
          </p:nvPr>
        </p:nvSpPr>
        <p:spPr>
          <a:xfrm>
            <a:off x="503999" y="1769040"/>
            <a:ext cx="9071640" cy="4384080"/>
          </a:xfrm>
          <a:prstGeom prst="rect">
            <a:avLst/>
          </a:prstGeom>
          <a:noFill/>
          <a:ln>
            <a:noFill/>
          </a:ln>
        </p:spPr>
        <p:txBody>
          <a:bodyPr lIns="0" tIns="0" rIns="0" bIns="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txBox="1">
            <a:spLocks noGrp="1"/>
          </p:cNvSpPr>
          <p:nvPr>
            <p:ph type="dt" sz="half" idx="2"/>
          </p:nvPr>
        </p:nvSpPr>
        <p:spPr>
          <a:xfrm>
            <a:off x="503999" y="6887160"/>
            <a:ext cx="2348280" cy="521280"/>
          </a:xfrm>
          <a:prstGeom prst="rect">
            <a:avLst/>
          </a:prstGeom>
          <a:noFill/>
          <a:ln>
            <a:noFill/>
          </a:ln>
        </p:spPr>
        <p:txBody>
          <a:bodyPr vert="horz" lIns="0" tIns="0" rIns="0" bIns="0"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5" name="Footer Placeholder 4"/>
          <p:cNvSpPr txBox="1">
            <a:spLocks noGrp="1"/>
          </p:cNvSpPr>
          <p:nvPr>
            <p:ph type="ftr" sz="quarter" idx="3"/>
          </p:nvPr>
        </p:nvSpPr>
        <p:spPr>
          <a:xfrm>
            <a:off x="3447360" y="6887160"/>
            <a:ext cx="3195000" cy="521280"/>
          </a:xfrm>
          <a:prstGeom prst="rect">
            <a:avLst/>
          </a:prstGeom>
          <a:noFill/>
          <a:ln>
            <a:noFill/>
          </a:ln>
        </p:spPr>
        <p:txBody>
          <a:bodyPr vert="horz" lIns="0" tIns="0" rIns="0" bIns="0" anchorCtr="0">
            <a:noAutofit/>
          </a:bodyPr>
          <a:lstStyle>
            <a:lvl1pPr lvl="0" algn="ctr"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6" name="Slide Number Placeholder 5"/>
          <p:cNvSpPr txBox="1">
            <a:spLocks noGrp="1"/>
          </p:cNvSpPr>
          <p:nvPr>
            <p:ph type="sldNum" sz="quarter" idx="4"/>
          </p:nvPr>
        </p:nvSpPr>
        <p:spPr>
          <a:xfrm>
            <a:off x="7227000" y="6887160"/>
            <a:ext cx="2348280" cy="521280"/>
          </a:xfrm>
          <a:prstGeom prst="rect">
            <a:avLst/>
          </a:prstGeom>
          <a:noFill/>
          <a:ln>
            <a:noFill/>
          </a:ln>
        </p:spPr>
        <p:txBody>
          <a:bodyPr vert="horz" lIns="0" tIns="0" rIns="0" bIns="0"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fld id="{2C04E435-BD37-4807-A552-F82F6D6B8D68}" type="slidenum">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ctr" hangingPunct="0">
        <a:tabLst/>
        <a:defRPr lang="en-IN" sz="4400" b="0" i="0" u="none" strike="noStrike" kern="1200" cap="none">
          <a:ln>
            <a:noFill/>
          </a:ln>
          <a:latin typeface="Liberation Sans" pitchFamily="18"/>
        </a:defRPr>
      </a:lvl1pPr>
    </p:titleStyle>
    <p:bodyStyle>
      <a:lvl1pPr hangingPunct="0">
        <a:spcBef>
          <a:spcPts val="0"/>
        </a:spcBef>
        <a:spcAft>
          <a:spcPts val="1417"/>
        </a:spcAft>
        <a:tabLst/>
        <a:defRPr lang="en-IN" sz="3200" b="0" i="0" u="none" strike="noStrike" kern="1200" cap="none">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Multiprocessor"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hyperlink" Target="https://en.wikipedia.org/wiki/Multi-core_processor" TargetMode="External"/><Relationship Id="rId4" Type="http://schemas.openxmlformats.org/officeDocument/2006/relationships/hyperlink" Target="https://en.wikipedia.org/wiki/Main_memory"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amanbinny.blogspot.com/2014/11/base-properties.html" TargetMode="External"/><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amanbinny.blogspot.com/2014/11/base-properties.html" TargetMode="External"/><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hyperlink" Target="http://amanbinny.blogspot.com/2014/11/acid-vs-base-properties.html" TargetMode="External"/><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extBox 1"/>
          <p:cNvSpPr txBox="1"/>
          <p:nvPr/>
        </p:nvSpPr>
        <p:spPr>
          <a:xfrm>
            <a:off x="72000" y="72000"/>
            <a:ext cx="9936000" cy="741600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0"/>
              </a:spcBef>
              <a:spcAft>
                <a:spcPts val="0"/>
              </a:spcAft>
              <a:buNone/>
              <a:tabLst/>
            </a:pPr>
            <a:r>
              <a:rPr lang="en-IN" sz="2800" b="1" i="0" u="none" strike="noStrike" kern="1200" cap="none">
                <a:ln>
                  <a:noFill/>
                </a:ln>
                <a:solidFill>
                  <a:srgbClr val="004586"/>
                </a:solidFill>
                <a:latin typeface="Liberation Sans" pitchFamily="18"/>
                <a:ea typeface="Droid Sans Fallback" pitchFamily="2"/>
                <a:cs typeface="FreeSans" pitchFamily="2"/>
              </a:rPr>
              <a:t>Greatest challenges that prevent business from capitalizing on big data</a:t>
            </a:r>
          </a:p>
          <a:p>
            <a:pPr marL="0" marR="0" lvl="0" indent="0" algn="ctr" rtl="0" hangingPunct="0">
              <a:lnSpc>
                <a:spcPct val="100000"/>
              </a:lnSpc>
              <a:spcBef>
                <a:spcPts val="0"/>
              </a:spcBef>
              <a:spcAft>
                <a:spcPts val="0"/>
              </a:spcAft>
              <a:buNone/>
              <a:tabLst/>
            </a:pPr>
            <a:endParaRPr lang="en-IN" sz="2800" b="1" i="0" u="none" strike="noStrike" kern="1200" cap="none">
              <a:ln>
                <a:noFill/>
              </a:ln>
              <a:solidFill>
                <a:srgbClr val="004586"/>
              </a:solidFill>
              <a:latin typeface="Liberation Sans" pitchFamily="18"/>
              <a:ea typeface="Droid Sans Fallback" pitchFamily="2"/>
              <a:cs typeface="FreeSans" pitchFamily="2"/>
            </a:endParaRPr>
          </a:p>
          <a:p>
            <a:pPr marL="0" marR="0" lvl="0" indent="0" algn="just" rtl="0" hangingPunct="0">
              <a:lnSpc>
                <a:spcPct val="150000"/>
              </a:lnSpc>
              <a:spcBef>
                <a:spcPts val="0"/>
              </a:spcBef>
              <a:spcAft>
                <a:spcPts val="0"/>
              </a:spcAft>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Obtaining executive sponserships for investments in big data and its related activities( such as training etc)</a:t>
            </a:r>
          </a:p>
          <a:p>
            <a:pPr marL="0" marR="0" lvl="0" indent="0" algn="just" rtl="0" hangingPunct="0">
              <a:lnSpc>
                <a:spcPct val="150000"/>
              </a:lnSpc>
              <a:spcBef>
                <a:spcPts val="0"/>
              </a:spcBef>
              <a:spcAft>
                <a:spcPts val="0"/>
              </a:spcAft>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0"/>
              </a:spcBef>
              <a:spcAft>
                <a:spcPts val="0"/>
              </a:spcAft>
              <a:buSzPct val="45000"/>
              <a:buFont typeface="StarSymbol"/>
              <a:buChar char="➢"/>
              <a:tabLst/>
            </a:pPr>
            <a:r>
              <a:rPr lang="en-IN" sz="2200" b="0" i="0" u="none" strike="noStrike" kern="1200" cap="none">
                <a:ln>
                  <a:noFill/>
                </a:ln>
                <a:solidFill>
                  <a:srgbClr val="800080"/>
                </a:solidFill>
                <a:latin typeface="Liberation Sans" pitchFamily="18"/>
                <a:ea typeface="Droid Sans Fallback" pitchFamily="2"/>
                <a:cs typeface="FreeSans" pitchFamily="2"/>
              </a:rPr>
              <a:t>Getting the business units to share information across organizations</a:t>
            </a:r>
          </a:p>
          <a:p>
            <a:pPr marL="0" marR="0" lvl="0" indent="0" algn="just" rtl="0" hangingPunct="0">
              <a:lnSpc>
                <a:spcPct val="150000"/>
              </a:lnSpc>
              <a:spcBef>
                <a:spcPts val="0"/>
              </a:spcBef>
              <a:spcAft>
                <a:spcPts val="0"/>
              </a:spcAft>
              <a:buSzPct val="45000"/>
              <a:buFont typeface="StarSymbol"/>
              <a:buChar char="➢"/>
              <a:tabLst/>
            </a:pPr>
            <a:endParaRPr lang="en-IN" sz="2200" b="0" i="0" u="none" strike="noStrike" kern="1200" cap="none">
              <a:ln>
                <a:noFill/>
              </a:ln>
              <a:solidFill>
                <a:srgbClr val="800080"/>
              </a:solidFill>
              <a:latin typeface="Liberation Sans" pitchFamily="18"/>
              <a:ea typeface="Droid Sans Fallback" pitchFamily="2"/>
              <a:cs typeface="FreeSans" pitchFamily="2"/>
            </a:endParaRPr>
          </a:p>
          <a:p>
            <a:pPr marL="0" marR="0" lvl="0" indent="0" algn="just" rtl="0" hangingPunct="0">
              <a:lnSpc>
                <a:spcPct val="150000"/>
              </a:lnSpc>
              <a:spcBef>
                <a:spcPts val="0"/>
              </a:spcBef>
              <a:spcAft>
                <a:spcPts val="0"/>
              </a:spcAft>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Finding the right skills (business analysts and data scientists)</a:t>
            </a:r>
          </a:p>
          <a:p>
            <a:pPr marL="0" marR="0" lvl="0" indent="0" algn="just" rtl="0" hangingPunct="0">
              <a:lnSpc>
                <a:spcPct val="150000"/>
              </a:lnSpc>
              <a:spcBef>
                <a:spcPts val="0"/>
              </a:spcBef>
              <a:spcAft>
                <a:spcPts val="0"/>
              </a:spcAft>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extBox 1"/>
          <p:cNvSpPr txBox="1"/>
          <p:nvPr/>
        </p:nvSpPr>
        <p:spPr>
          <a:xfrm>
            <a:off x="72000" y="72000"/>
            <a:ext cx="9936000" cy="745740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0"/>
              </a:spcBef>
              <a:spcAft>
                <a:spcPts val="0"/>
              </a:spcAft>
              <a:buNone/>
              <a:tabLst/>
            </a:pPr>
            <a:r>
              <a:rPr lang="en-IN" sz="2800" b="1" i="0" u="none" strike="noStrike" kern="1200" cap="none">
                <a:ln>
                  <a:noFill/>
                </a:ln>
                <a:solidFill>
                  <a:srgbClr val="004586"/>
                </a:solidFill>
                <a:latin typeface="Liberation Sans" pitchFamily="18"/>
                <a:ea typeface="Droid Sans Fallback" pitchFamily="2"/>
                <a:cs typeface="FreeSans" pitchFamily="2"/>
              </a:rPr>
              <a:t>Greatest challenges that prevent business from capitalizing on big data</a:t>
            </a:r>
          </a:p>
          <a:p>
            <a:pPr marL="0" marR="0" lvl="0" indent="0" algn="ctr" rtl="0" hangingPunct="0">
              <a:lnSpc>
                <a:spcPct val="100000"/>
              </a:lnSpc>
              <a:spcBef>
                <a:spcPts val="0"/>
              </a:spcBef>
              <a:spcAft>
                <a:spcPts val="0"/>
              </a:spcAft>
              <a:buNone/>
              <a:tabLst/>
            </a:pPr>
            <a:endParaRPr lang="en-IN" sz="2800" b="1" i="0" u="none" strike="noStrike" kern="1200" cap="none">
              <a:ln>
                <a:noFill/>
              </a:ln>
              <a:solidFill>
                <a:srgbClr val="004586"/>
              </a:solidFill>
              <a:latin typeface="Liberation Sans" pitchFamily="18"/>
              <a:ea typeface="Droid Sans Fallback" pitchFamily="2"/>
              <a:cs typeface="FreeSans" pitchFamily="2"/>
            </a:endParaRPr>
          </a:p>
          <a:p>
            <a:pPr marL="0" marR="0" lvl="0" indent="0" algn="just" rtl="0" hangingPunct="0">
              <a:lnSpc>
                <a:spcPct val="150000"/>
              </a:lnSpc>
              <a:spcBef>
                <a:spcPts val="0"/>
              </a:spcBef>
              <a:spcAft>
                <a:spcPts val="0"/>
              </a:spcAft>
              <a:buNone/>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0"/>
              </a:spcBef>
              <a:spcAft>
                <a:spcPts val="0"/>
              </a:spcAft>
              <a:buSzPct val="45000"/>
              <a:buFont typeface="StarSymbol"/>
              <a:buChar char="➢"/>
              <a:tabLst/>
            </a:pPr>
            <a:r>
              <a:rPr lang="en-IN" sz="2600" b="1" i="0" u="sng" strike="noStrike" kern="1200" cap="none">
                <a:ln>
                  <a:noFill/>
                </a:ln>
                <a:solidFill>
                  <a:srgbClr val="000000"/>
                </a:solidFill>
                <a:uFillTx/>
                <a:latin typeface="Liberation Sans" pitchFamily="18"/>
                <a:ea typeface="Droid Sans Fallback" pitchFamily="2"/>
                <a:cs typeface="FreeSans" pitchFamily="2"/>
              </a:rPr>
              <a:t>Determining the approach to scale rapidly and elastically</a:t>
            </a:r>
          </a:p>
          <a:p>
            <a:pPr marL="0" marR="0" lvl="0" indent="0" algn="just" rtl="0" hangingPunct="0">
              <a:lnSpc>
                <a:spcPct val="150000"/>
              </a:lnSpc>
              <a:spcBef>
                <a:spcPts val="0"/>
              </a:spcBef>
              <a:spcAft>
                <a:spcPts val="0"/>
              </a:spcAft>
              <a:buSzPct val="45000"/>
              <a:buFont typeface="StarSymbol"/>
              <a:buChar char="➢"/>
              <a:tabLst/>
            </a:pPr>
            <a:endParaRPr lang="en-IN" sz="2200" b="1"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0"/>
              </a:spcBef>
              <a:spcAft>
                <a:spcPts val="0"/>
              </a:spcAft>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Unpredictable Cloud Costs: </a:t>
            </a:r>
            <a:r>
              <a:rPr lang="en-IN" sz="2200" b="0" i="0" u="none" strike="noStrike" kern="1200" cap="none">
                <a:ln>
                  <a:noFill/>
                </a:ln>
                <a:solidFill>
                  <a:srgbClr val="000000"/>
                </a:solidFill>
                <a:latin typeface="Liberation Sans" pitchFamily="18"/>
                <a:ea typeface="Droid Sans Fallback" pitchFamily="2"/>
                <a:cs typeface="FreeSans" pitchFamily="2"/>
              </a:rPr>
              <a:t>Auto-scaling often triggers </a:t>
            </a:r>
            <a:r>
              <a:rPr lang="en-IN" sz="2200" b="0" i="0" u="none" strike="noStrike" kern="1200" cap="none">
                <a:ln>
                  <a:noFill/>
                </a:ln>
                <a:solidFill>
                  <a:srgbClr val="C9211E"/>
                </a:solidFill>
                <a:latin typeface="Liberation Sans" pitchFamily="18"/>
                <a:ea typeface="Droid Sans Fallback" pitchFamily="2"/>
                <a:cs typeface="FreeSans" pitchFamily="2"/>
              </a:rPr>
              <a:t>runaway expenses if workloads are not optimized.</a:t>
            </a:r>
          </a:p>
          <a:p>
            <a:pPr marL="0" marR="0" lvl="0" indent="0" algn="just" rtl="0" hangingPunct="0">
              <a:lnSpc>
                <a:spcPct val="150000"/>
              </a:lnSpc>
              <a:spcBef>
                <a:spcPts val="0"/>
              </a:spcBef>
              <a:spcAft>
                <a:spcPts val="0"/>
              </a:spcAft>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Data Bottlenecks: </a:t>
            </a:r>
            <a:r>
              <a:rPr lang="en-IN" sz="2200" b="0" i="0" u="none" strike="noStrike" kern="1200" cap="none">
                <a:ln>
                  <a:noFill/>
                </a:ln>
                <a:solidFill>
                  <a:srgbClr val="C9211E"/>
                </a:solidFill>
                <a:latin typeface="Liberation Sans" pitchFamily="18"/>
                <a:ea typeface="Droid Sans Fallback" pitchFamily="2"/>
                <a:cs typeface="FreeSans" pitchFamily="2"/>
              </a:rPr>
              <a:t>Real-in-time ingestion lags </a:t>
            </a:r>
            <a:r>
              <a:rPr lang="en-IN" sz="2200" b="0" i="0" u="none" strike="noStrike" kern="1200" cap="none">
                <a:ln>
                  <a:noFill/>
                </a:ln>
                <a:solidFill>
                  <a:srgbClr val="000000"/>
                </a:solidFill>
                <a:latin typeface="Liberation Sans" pitchFamily="18"/>
                <a:ea typeface="Droid Sans Fallback" pitchFamily="2"/>
                <a:cs typeface="FreeSans" pitchFamily="2"/>
              </a:rPr>
              <a:t>when storage and compute layers fail to scale at matching speeds.</a:t>
            </a:r>
          </a:p>
          <a:p>
            <a:pPr marL="0" marR="0" lvl="0" indent="0" algn="just" rtl="0" hangingPunct="0">
              <a:lnSpc>
                <a:spcPct val="150000"/>
              </a:lnSpc>
              <a:spcBef>
                <a:spcPts val="0"/>
              </a:spcBef>
              <a:spcAft>
                <a:spcPts val="0"/>
              </a:spcAft>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Architecture Limitations: </a:t>
            </a:r>
            <a:r>
              <a:rPr lang="en-IN" sz="2200" b="0" i="0" u="none" strike="noStrike" kern="1200" cap="none">
                <a:ln>
                  <a:noFill/>
                </a:ln>
                <a:solidFill>
                  <a:srgbClr val="C9211E"/>
                </a:solidFill>
                <a:latin typeface="Liberation Sans" pitchFamily="18"/>
                <a:ea typeface="Droid Sans Fallback" pitchFamily="2"/>
                <a:cs typeface="FreeSans" pitchFamily="2"/>
              </a:rPr>
              <a:t>Old on-premise systems break down </a:t>
            </a:r>
            <a:r>
              <a:rPr lang="en-IN" sz="2200" b="0" i="0" u="none" strike="noStrike" kern="1200" cap="none">
                <a:ln>
                  <a:noFill/>
                </a:ln>
                <a:solidFill>
                  <a:srgbClr val="000000"/>
                </a:solidFill>
                <a:latin typeface="Liberation Sans" pitchFamily="18"/>
                <a:ea typeface="Droid Sans Fallback" pitchFamily="2"/>
                <a:cs typeface="FreeSans" pitchFamily="2"/>
              </a:rPr>
              <a:t>under sudden multi-tenant spikes.</a:t>
            </a:r>
          </a:p>
          <a:p>
            <a:pPr marL="0" marR="0" lvl="0" indent="0" algn="just" rtl="0" hangingPunct="0">
              <a:lnSpc>
                <a:spcPct val="150000"/>
              </a:lnSpc>
              <a:spcBef>
                <a:spcPts val="0"/>
              </a:spcBef>
              <a:spcAft>
                <a:spcPts val="0"/>
              </a:spcAft>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State Management: </a:t>
            </a:r>
            <a:r>
              <a:rPr lang="en-IN" sz="2200" b="0" i="0" u="none" strike="noStrike" kern="1200" cap="none">
                <a:ln>
                  <a:noFill/>
                </a:ln>
                <a:solidFill>
                  <a:srgbClr val="000000"/>
                </a:solidFill>
                <a:latin typeface="Liberation Sans" pitchFamily="18"/>
                <a:ea typeface="Droid Sans Fallback" pitchFamily="2"/>
                <a:cs typeface="FreeSans" pitchFamily="2"/>
              </a:rPr>
              <a:t>Keeping data consistent </a:t>
            </a:r>
            <a:r>
              <a:rPr lang="en-IN" sz="2200" b="0" i="0" u="none" strike="noStrike" kern="1200" cap="none">
                <a:ln>
                  <a:noFill/>
                </a:ln>
                <a:solidFill>
                  <a:srgbClr val="C9211E"/>
                </a:solidFill>
                <a:latin typeface="Liberation Sans" pitchFamily="18"/>
                <a:ea typeface="Droid Sans Fallback" pitchFamily="2"/>
                <a:cs typeface="FreeSans" pitchFamily="2"/>
              </a:rPr>
              <a:t>across distributed,</a:t>
            </a:r>
            <a:r>
              <a:rPr lang="en-IN" sz="2200" b="0" i="0" u="none" strike="noStrike" kern="1200" cap="none">
                <a:ln>
                  <a:noFill/>
                </a:ln>
                <a:solidFill>
                  <a:srgbClr val="000000"/>
                </a:solidFill>
                <a:latin typeface="Liberation Sans" pitchFamily="18"/>
                <a:ea typeface="Droid Sans Fallback" pitchFamily="2"/>
                <a:cs typeface="FreeSans" pitchFamily="2"/>
              </a:rPr>
              <a:t> auto-expanding nodes creates complex sync failures.</a:t>
            </a:r>
          </a:p>
          <a:p>
            <a:pPr marL="0" marR="0" lvl="0" indent="0" algn="just" rtl="0" hangingPunct="0">
              <a:lnSpc>
                <a:spcPct val="150000"/>
              </a:lnSpc>
              <a:spcBef>
                <a:spcPts val="0"/>
              </a:spcBef>
              <a:spcAft>
                <a:spcPts val="0"/>
              </a:spcAft>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0"/>
              </a:spcBef>
              <a:spcAft>
                <a:spcPts val="0"/>
              </a:spcAft>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vert="horz"/>
          <a:lstStyle/>
          <a:p>
            <a:pPr lvl="0" rtl="0"/>
            <a:r>
              <a:rPr lang="en-IN" sz="2800" b="1">
                <a:solidFill>
                  <a:srgbClr val="004586"/>
                </a:solidFill>
              </a:rPr>
              <a:t>Greatest challenges that prevent business from capitalizing on big data</a:t>
            </a:r>
          </a:p>
        </p:txBody>
      </p:sp>
      <p:sp>
        <p:nvSpPr>
          <p:cNvPr id="3" name="TextBox 2"/>
          <p:cNvSpPr txBox="1"/>
          <p:nvPr/>
        </p:nvSpPr>
        <p:spPr>
          <a:xfrm>
            <a:off x="71640" y="1728000"/>
            <a:ext cx="9864360" cy="2926079"/>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0"/>
              </a:spcBef>
              <a:spcAft>
                <a:spcPts val="0"/>
              </a:spcAft>
              <a:buNone/>
              <a:tabLst/>
            </a:pPr>
            <a:r>
              <a:rPr lang="en-IN" sz="2200" b="0" i="0" u="none" strike="noStrike" kern="1200" cap="none">
                <a:ln>
                  <a:noFill/>
                </a:ln>
                <a:solidFill>
                  <a:srgbClr val="000000"/>
                </a:solidFill>
                <a:latin typeface="Liberation Sans" pitchFamily="18"/>
                <a:ea typeface="Droid Sans Fallback" pitchFamily="2"/>
                <a:cs typeface="FreeSans" pitchFamily="2"/>
              </a:rPr>
              <a:t>Deciding whether to use </a:t>
            </a:r>
            <a:r>
              <a:rPr lang="en-IN" sz="2200" b="0" i="0" u="none" strike="noStrike" kern="1200" cap="none">
                <a:ln>
                  <a:noFill/>
                </a:ln>
                <a:solidFill>
                  <a:srgbClr val="C9211E"/>
                </a:solidFill>
                <a:latin typeface="Liberation Sans" pitchFamily="18"/>
                <a:ea typeface="Droid Sans Fallback" pitchFamily="2"/>
                <a:cs typeface="FreeSans" pitchFamily="2"/>
              </a:rPr>
              <a:t>structured or unstructured</a:t>
            </a:r>
            <a:r>
              <a:rPr lang="en-IN" sz="2200" b="0" i="0" u="none" strike="noStrike" kern="1200" cap="none">
                <a:ln>
                  <a:noFill/>
                </a:ln>
                <a:solidFill>
                  <a:srgbClr val="000000"/>
                </a:solidFill>
                <a:latin typeface="Liberation Sans" pitchFamily="18"/>
                <a:ea typeface="Droid Sans Fallback" pitchFamily="2"/>
                <a:cs typeface="FreeSans" pitchFamily="2"/>
              </a:rPr>
              <a:t>, internal or external data to </a:t>
            </a:r>
            <a:r>
              <a:rPr lang="en-IN" sz="2200" b="0" i="0" u="none" strike="noStrike" kern="1200" cap="none">
                <a:ln>
                  <a:noFill/>
                </a:ln>
                <a:solidFill>
                  <a:srgbClr val="C9211E"/>
                </a:solidFill>
                <a:latin typeface="Liberation Sans" pitchFamily="18"/>
                <a:ea typeface="Droid Sans Fallback" pitchFamily="2"/>
                <a:cs typeface="FreeSans" pitchFamily="2"/>
              </a:rPr>
              <a:t>make business decisions</a:t>
            </a:r>
          </a:p>
          <a:p>
            <a:pPr marL="0" marR="0" lvl="0" indent="0" rtl="0" hangingPunct="0">
              <a:lnSpc>
                <a:spcPct val="100000"/>
              </a:lnSpc>
              <a:spcBef>
                <a:spcPts val="0"/>
              </a:spcBef>
              <a:spcAft>
                <a:spcPts val="0"/>
              </a:spcAft>
              <a:buNone/>
              <a:tabLst/>
            </a:pPr>
            <a:endParaRPr lang="en-IN" sz="2200" b="0" i="0" u="none" strike="noStrike" kern="1200" cap="none">
              <a:ln>
                <a:noFill/>
              </a:ln>
              <a:solidFill>
                <a:srgbClr val="C9211E"/>
              </a:solidFill>
              <a:latin typeface="Liberation Sans" pitchFamily="18"/>
              <a:ea typeface="Droid Sans Fallback" pitchFamily="2"/>
              <a:cs typeface="FreeSans" pitchFamily="2"/>
            </a:endParaRPr>
          </a:p>
          <a:p>
            <a:pPr marL="0" marR="0" lvl="0" indent="0" rtl="0" hangingPunct="0">
              <a:lnSpc>
                <a:spcPct val="100000"/>
              </a:lnSpc>
              <a:spcBef>
                <a:spcPts val="0"/>
              </a:spcBef>
              <a:spcAft>
                <a:spcPts val="0"/>
              </a:spcAft>
              <a:buNone/>
              <a:tabLst/>
            </a:pPr>
            <a:r>
              <a:rPr lang="en-IN" sz="2200" b="0" i="0" u="none" strike="noStrike" kern="1200" cap="none">
                <a:ln>
                  <a:noFill/>
                </a:ln>
                <a:solidFill>
                  <a:srgbClr val="000000"/>
                </a:solidFill>
                <a:latin typeface="Liberation Sans" pitchFamily="18"/>
                <a:ea typeface="Droid Sans Fallback" pitchFamily="2"/>
                <a:cs typeface="FreeSans" pitchFamily="2"/>
              </a:rPr>
              <a:t>Choosing the </a:t>
            </a:r>
            <a:r>
              <a:rPr lang="en-IN" sz="2200" b="0" i="0" u="none" strike="noStrike" kern="1200" cap="none">
                <a:ln>
                  <a:noFill/>
                </a:ln>
                <a:solidFill>
                  <a:srgbClr val="C9211E"/>
                </a:solidFill>
                <a:latin typeface="Liberation Sans" pitchFamily="18"/>
                <a:ea typeface="Droid Sans Fallback" pitchFamily="2"/>
                <a:cs typeface="FreeSans" pitchFamily="2"/>
              </a:rPr>
              <a:t>optimal way to report findings and analysis of big data</a:t>
            </a:r>
            <a:r>
              <a:rPr lang="en-IN" sz="2200" b="0" i="0" u="none" strike="noStrike" kern="1200" cap="none">
                <a:ln>
                  <a:noFill/>
                </a:ln>
                <a:solidFill>
                  <a:srgbClr val="000000"/>
                </a:solidFill>
                <a:latin typeface="Liberation Sans" pitchFamily="18"/>
                <a:ea typeface="Droid Sans Fallback" pitchFamily="2"/>
                <a:cs typeface="FreeSans" pitchFamily="2"/>
              </a:rPr>
              <a:t> for the prsentations to make more sense</a:t>
            </a:r>
          </a:p>
          <a:p>
            <a:pPr marL="0" marR="0" lvl="0" indent="0" rtl="0" hangingPunct="0">
              <a:lnSpc>
                <a:spcPct val="100000"/>
              </a:lnSpc>
              <a:spcBef>
                <a:spcPts val="0"/>
              </a:spcBef>
              <a:spcAft>
                <a:spcPts val="0"/>
              </a:spcAft>
              <a:buNone/>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a:p>
            <a:pPr marL="0" marR="0" lvl="0" indent="0" rtl="0" hangingPunct="0">
              <a:lnSpc>
                <a:spcPct val="100000"/>
              </a:lnSpc>
              <a:spcBef>
                <a:spcPts val="0"/>
              </a:spcBef>
              <a:spcAft>
                <a:spcPts val="0"/>
              </a:spcAft>
              <a:buNone/>
              <a:tabLst/>
            </a:pPr>
            <a:r>
              <a:rPr lang="en-IN" sz="2200" b="0" i="0" u="none" strike="noStrike" kern="1200" cap="none">
                <a:ln>
                  <a:noFill/>
                </a:ln>
                <a:solidFill>
                  <a:srgbClr val="C9211E"/>
                </a:solidFill>
                <a:latin typeface="Liberation Sans" pitchFamily="18"/>
                <a:ea typeface="Droid Sans Fallback" pitchFamily="2"/>
                <a:cs typeface="FreeSans" pitchFamily="2"/>
              </a:rPr>
              <a:t>Determining what to do with the insights</a:t>
            </a:r>
            <a:r>
              <a:rPr lang="en-IN" sz="2200" b="0" i="0" u="none" strike="noStrike" kern="1200" cap="none">
                <a:ln>
                  <a:noFill/>
                </a:ln>
                <a:solidFill>
                  <a:srgbClr val="000000"/>
                </a:solidFill>
                <a:latin typeface="Liberation Sans" pitchFamily="18"/>
                <a:ea typeface="Droid Sans Fallback" pitchFamily="2"/>
                <a:cs typeface="FreeSans" pitchFamily="2"/>
              </a:rPr>
              <a:t> created from big data</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extBox 1"/>
          <p:cNvSpPr txBox="1"/>
          <p:nvPr/>
        </p:nvSpPr>
        <p:spPr>
          <a:xfrm>
            <a:off x="144000" y="144000"/>
            <a:ext cx="9792000" cy="727200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0"/>
              </a:spcBef>
              <a:spcAft>
                <a:spcPts val="0"/>
              </a:spcAft>
              <a:buNone/>
              <a:tabLst/>
            </a:pPr>
            <a:r>
              <a:rPr lang="en-IN" sz="2800" b="1" i="0" u="none" strike="noStrike" kern="1200" cap="none">
                <a:ln>
                  <a:noFill/>
                </a:ln>
                <a:solidFill>
                  <a:srgbClr val="004586"/>
                </a:solidFill>
                <a:latin typeface="Liberation Sans" pitchFamily="18"/>
                <a:ea typeface="Droid Sans Fallback" pitchFamily="2"/>
                <a:cs typeface="FreeSans" pitchFamily="2"/>
              </a:rPr>
              <a:t>Top challenges facing Big data</a:t>
            </a:r>
          </a:p>
          <a:p>
            <a:pPr marL="0" marR="0" lvl="0" indent="0" algn="ctr" rtl="0" hangingPunct="0">
              <a:lnSpc>
                <a:spcPct val="100000"/>
              </a:lnSpc>
              <a:spcBef>
                <a:spcPts val="0"/>
              </a:spcBef>
              <a:spcAft>
                <a:spcPts val="0"/>
              </a:spcAft>
              <a:buNone/>
              <a:tabLst/>
            </a:pPr>
            <a:endParaRPr lang="en-IN" sz="2200" b="1" i="0" u="none" strike="noStrike" kern="1200" cap="none">
              <a:ln>
                <a:noFill/>
              </a:ln>
              <a:solidFill>
                <a:srgbClr val="000000"/>
              </a:solidFill>
              <a:latin typeface="Liberation Sans" pitchFamily="18"/>
              <a:ea typeface="Droid Sans Fallback" pitchFamily="2"/>
              <a:cs typeface="FreeSans" pitchFamily="2"/>
            </a:endParaRPr>
          </a:p>
          <a:p>
            <a:pPr marL="0" marR="0" lvl="0" indent="0" algn="ctr" rtl="0" hangingPunct="0">
              <a:lnSpc>
                <a:spcPct val="100000"/>
              </a:lnSpc>
              <a:spcBef>
                <a:spcPts val="0"/>
              </a:spcBef>
              <a:spcAft>
                <a:spcPts val="0"/>
              </a:spcAft>
              <a:buNone/>
              <a:tabLst/>
            </a:pPr>
            <a:endParaRPr lang="en-IN" sz="2200" b="1"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Scale:</a:t>
            </a:r>
            <a:r>
              <a:rPr lang="en-IN" sz="2200" b="0" i="0" u="none" strike="noStrike" kern="1200" cap="none">
                <a:ln>
                  <a:noFill/>
                </a:ln>
                <a:solidFill>
                  <a:srgbClr val="000000"/>
                </a:solidFill>
                <a:latin typeface="Liberation Sans" pitchFamily="18"/>
                <a:ea typeface="Droid Sans Fallback" pitchFamily="2"/>
                <a:cs typeface="FreeSans" pitchFamily="2"/>
              </a:rPr>
              <a:t> Should you scale vertically or horizontally ?</a:t>
            </a: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Security:</a:t>
            </a:r>
            <a:r>
              <a:rPr lang="en-IN" sz="2200" b="0" i="0" u="none" strike="noStrike" kern="1200" cap="none">
                <a:ln>
                  <a:noFill/>
                </a:ln>
                <a:solidFill>
                  <a:srgbClr val="000000"/>
                </a:solidFill>
                <a:latin typeface="Liberation Sans" pitchFamily="18"/>
                <a:ea typeface="Droid Sans Fallback" pitchFamily="2"/>
                <a:cs typeface="FreeSans" pitchFamily="2"/>
              </a:rPr>
              <a:t> Most of big data platforms have poor security mechanisms</a:t>
            </a: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Schema:</a:t>
            </a:r>
            <a:r>
              <a:rPr lang="en-IN" sz="2200" b="0" i="0" u="none" strike="noStrike" kern="1200" cap="none">
                <a:ln>
                  <a:noFill/>
                </a:ln>
                <a:solidFill>
                  <a:srgbClr val="000000"/>
                </a:solidFill>
                <a:latin typeface="Liberation Sans" pitchFamily="18"/>
                <a:ea typeface="Droid Sans Fallback" pitchFamily="2"/>
                <a:cs typeface="FreeSans" pitchFamily="2"/>
              </a:rPr>
              <a:t> Rigid schemas have no place. The need of the hour is dynamic schema</a:t>
            </a: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Continuous Availability:</a:t>
            </a:r>
            <a:r>
              <a:rPr lang="en-IN" sz="2200" b="0" i="0" u="none" strike="noStrike" kern="1200" cap="none">
                <a:ln>
                  <a:noFill/>
                </a:ln>
                <a:solidFill>
                  <a:srgbClr val="000000"/>
                </a:solidFill>
                <a:latin typeface="Liberation Sans" pitchFamily="18"/>
                <a:ea typeface="Droid Sans Fallback" pitchFamily="2"/>
                <a:cs typeface="FreeSans" pitchFamily="2"/>
              </a:rPr>
              <a:t> How to provide 24/7 support</a:t>
            </a: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Consistency:</a:t>
            </a:r>
            <a:r>
              <a:rPr lang="en-IN" sz="2200" b="0" i="0" u="none" strike="noStrike" kern="1200" cap="none">
                <a:ln>
                  <a:noFill/>
                </a:ln>
                <a:solidFill>
                  <a:srgbClr val="000000"/>
                </a:solidFill>
                <a:latin typeface="Liberation Sans" pitchFamily="18"/>
                <a:ea typeface="Droid Sans Fallback" pitchFamily="2"/>
                <a:cs typeface="FreeSans" pitchFamily="2"/>
              </a:rPr>
              <a:t> Should one opt for consistency or eventual consistency?</a:t>
            </a: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Partition tolerant:</a:t>
            </a:r>
            <a:r>
              <a:rPr lang="en-IN" sz="2200" b="0" i="0" u="none" strike="noStrike" kern="1200" cap="none">
                <a:ln>
                  <a:noFill/>
                </a:ln>
                <a:solidFill>
                  <a:srgbClr val="000000"/>
                </a:solidFill>
                <a:latin typeface="Liberation Sans" pitchFamily="18"/>
                <a:ea typeface="Droid Sans Fallback" pitchFamily="2"/>
                <a:cs typeface="FreeSans" pitchFamily="2"/>
              </a:rPr>
              <a:t> How to build partition tolerant systems that can take care of both hardware and software failures?</a:t>
            </a: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Data quality:</a:t>
            </a:r>
            <a:r>
              <a:rPr lang="en-IN" sz="2200" b="0" i="0" u="none" strike="noStrike" kern="1200" cap="none">
                <a:ln>
                  <a:noFill/>
                </a:ln>
                <a:solidFill>
                  <a:srgbClr val="000000"/>
                </a:solidFill>
                <a:latin typeface="Liberation Sans" pitchFamily="18"/>
                <a:ea typeface="Droid Sans Fallback" pitchFamily="2"/>
                <a:cs typeface="FreeSans" pitchFamily="2"/>
              </a:rPr>
              <a:t>  how to maintain accuracy, completeness, timeliness etc</a:t>
            </a:r>
          </a:p>
          <a:p>
            <a:pPr marL="0" marR="0" lvl="0" indent="0" algn="just" rtl="0" hangingPunct="0">
              <a:lnSpc>
                <a:spcPct val="150000"/>
              </a:lnSpc>
              <a:spcBef>
                <a:spcPts val="0"/>
              </a:spcBef>
              <a:spcAft>
                <a:spcPts val="0"/>
              </a:spcAft>
              <a:buClr>
                <a:srgbClr val="000000"/>
              </a:buClr>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0"/>
              </a:spcBef>
              <a:spcAft>
                <a:spcPts val="0"/>
              </a:spcAft>
              <a:buClr>
                <a:srgbClr val="000000"/>
              </a:buClr>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2" name="TextBox 1"/>
          <p:cNvSpPr txBox="1"/>
          <p:nvPr/>
        </p:nvSpPr>
        <p:spPr>
          <a:xfrm>
            <a:off x="72000" y="144000"/>
            <a:ext cx="9936000" cy="7272000"/>
          </a:xfrm>
          <a:prstGeom prst="rect">
            <a:avLst/>
          </a:prstGeom>
          <a:noFill/>
          <a:ln>
            <a:noFill/>
          </a:ln>
        </p:spPr>
        <p:txBody>
          <a:bodyPr vert="horz" wrap="none" lIns="90000" tIns="45000" rIns="90000" bIns="45000" anchorCtr="0" compatLnSpc="0"/>
          <a:lstStyle/>
          <a:p>
            <a:pPr marL="0" marR="0" lvl="0" indent="0" algn="ctr" rtl="0" hangingPunct="0">
              <a:lnSpc>
                <a:spcPct val="150000"/>
              </a:lnSpc>
              <a:spcBef>
                <a:spcPts val="0"/>
              </a:spcBef>
              <a:spcAft>
                <a:spcPts val="0"/>
              </a:spcAft>
              <a:buNone/>
              <a:tabLst/>
            </a:pPr>
            <a:r>
              <a:rPr lang="en-IN" sz="2800" b="1" i="0" u="none" strike="noStrike" kern="1200" cap="none">
                <a:ln>
                  <a:noFill/>
                </a:ln>
                <a:solidFill>
                  <a:srgbClr val="004586"/>
                </a:solidFill>
                <a:latin typeface="Liberation Sans" pitchFamily="18"/>
                <a:ea typeface="Droid Sans Fallback" pitchFamily="2"/>
                <a:cs typeface="FreeSans" pitchFamily="2"/>
              </a:rPr>
              <a:t>Termnologies used in Bid Data Environments</a:t>
            </a:r>
          </a:p>
          <a:p>
            <a:pPr marL="0" marR="0" lvl="0" indent="0" algn="just" rtl="0" hangingPunct="0">
              <a:lnSpc>
                <a:spcPct val="150000"/>
              </a:lnSpc>
              <a:spcBef>
                <a:spcPts val="0"/>
              </a:spcBef>
              <a:spcAft>
                <a:spcPts val="0"/>
              </a:spcAft>
              <a:buNone/>
              <a:tabLst/>
            </a:pPr>
            <a:r>
              <a:rPr lang="en-IN" sz="2600" b="1" i="0" u="none" strike="noStrike" kern="1200" cap="none">
                <a:ln>
                  <a:noFill/>
                </a:ln>
                <a:solidFill>
                  <a:srgbClr val="FF420E"/>
                </a:solidFill>
                <a:latin typeface="Liberation Sans" pitchFamily="18"/>
                <a:ea typeface="Droid Sans Fallback" pitchFamily="2"/>
                <a:cs typeface="FreeSans" pitchFamily="2"/>
              </a:rPr>
              <a:t>1. In-Memory Analytics:</a:t>
            </a: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In-memory analytics is a business intelligence (BI) methodology used to solve complex and time-sensitive business scenarios.</a:t>
            </a: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It works by increasing the speed, performance and reliability when querying data.</a:t>
            </a: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Business Intelligence deployments are typically disk-based, meaning the application queries data stored on physical disks. In contrast, with in-memory analytics, the queries and data reside in the server's random access memory (RAM)</a:t>
            </a:r>
          </a:p>
          <a:p>
            <a:pPr marL="0" marR="0" lvl="0" indent="0" algn="just" rtl="0" hangingPunct="0">
              <a:lnSpc>
                <a:spcPct val="150000"/>
              </a:lnSpc>
              <a:spcBef>
                <a:spcPts val="0"/>
              </a:spcBef>
              <a:spcAft>
                <a:spcPts val="0"/>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In-memory analytics helps improve the overall speed of a BI system and provides business-intelligence users with faster answers compared to traditional disk-based business intelligence, especially for queries that take a long time to process in a large database.</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TextBox 1"/>
          <p:cNvSpPr txBox="1"/>
          <p:nvPr/>
        </p:nvSpPr>
        <p:spPr>
          <a:xfrm>
            <a:off x="144000" y="0"/>
            <a:ext cx="9864000" cy="74880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endParaRPr lang="en-IN" sz="2200" b="1" i="0" u="none" strike="noStrike" kern="1200" cap="none">
              <a:ln>
                <a:noFill/>
              </a:ln>
              <a:solidFill>
                <a:srgbClr val="DD4814"/>
              </a:solidFill>
              <a:latin typeface="Liberation Sans" pitchFamily="18"/>
              <a:ea typeface="Droid Sans Fallback" pitchFamily="2"/>
              <a:cs typeface="FreeSans" pitchFamily="2"/>
            </a:endParaRPr>
          </a:p>
          <a:p>
            <a:pPr marL="0" marR="0" lvl="0" indent="0" rtl="0" hangingPunct="0">
              <a:lnSpc>
                <a:spcPct val="100000"/>
              </a:lnSpc>
              <a:spcBef>
                <a:spcPts val="1191"/>
              </a:spcBef>
              <a:spcAft>
                <a:spcPts val="992"/>
              </a:spcAft>
              <a:buNone/>
              <a:tabLst/>
            </a:pPr>
            <a:r>
              <a:rPr lang="en-IN" sz="2200" b="1" i="0" u="none" strike="noStrike" kern="1200" cap="none">
                <a:ln>
                  <a:noFill/>
                </a:ln>
                <a:solidFill>
                  <a:srgbClr val="DD4814"/>
                </a:solidFill>
                <a:latin typeface="Liberation Sans" pitchFamily="18"/>
                <a:ea typeface="Droid Sans Fallback" pitchFamily="2"/>
                <a:cs typeface="FreeSans" pitchFamily="2"/>
              </a:rPr>
              <a:t>2. In-database processing:</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In-database processing, sometimes referred to as in-database analytics, refers to the integration of data analytics into data warehousing functionality.</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In-database analytics is a technology that allows data processing to be conducted within the database by building analytic logic into the database itself.</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Doing so eliminates the time and effort required to transform data and move it back and forth between a database and a separate analytics application.</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Many large databases, such as those used for </a:t>
            </a:r>
            <a:r>
              <a:rPr lang="en-IN" sz="2200" b="1" i="0" u="none" strike="noStrike" kern="1200" cap="none">
                <a:ln>
                  <a:noFill/>
                </a:ln>
                <a:latin typeface="Liberation Sans" pitchFamily="18"/>
                <a:ea typeface="Droid Sans Fallback" pitchFamily="2"/>
                <a:cs typeface="FreeSans" pitchFamily="2"/>
              </a:rPr>
              <a:t>credit card fraud detection</a:t>
            </a:r>
            <a:r>
              <a:rPr lang="en-IN" sz="2200" b="0" i="0" u="none" strike="noStrike" kern="1200" cap="none">
                <a:ln>
                  <a:noFill/>
                </a:ln>
                <a:latin typeface="Liberation Sans" pitchFamily="18"/>
                <a:ea typeface="Droid Sans Fallback" pitchFamily="2"/>
                <a:cs typeface="FreeSans" pitchFamily="2"/>
              </a:rPr>
              <a:t> and </a:t>
            </a:r>
            <a:r>
              <a:rPr lang="en-IN" sz="2200" b="1" i="0" u="none" strike="noStrike" kern="1200" cap="none">
                <a:ln>
                  <a:noFill/>
                </a:ln>
                <a:latin typeface="Liberation Sans" pitchFamily="18"/>
                <a:ea typeface="Droid Sans Fallback" pitchFamily="2"/>
                <a:cs typeface="FreeSans" pitchFamily="2"/>
              </a:rPr>
              <a:t>investment bank risk management</a:t>
            </a:r>
            <a:r>
              <a:rPr lang="en-IN" sz="2200" b="0" i="0" u="none" strike="noStrike" kern="1200" cap="none">
                <a:ln>
                  <a:noFill/>
                </a:ln>
                <a:latin typeface="Liberation Sans" pitchFamily="18"/>
                <a:ea typeface="Droid Sans Fallback" pitchFamily="2"/>
                <a:cs typeface="FreeSans" pitchFamily="2"/>
              </a:rPr>
              <a:t>, use this technology because it provides significant performance improvements over traditional methods.</a:t>
            </a:r>
          </a:p>
          <a:p>
            <a:pPr marL="0" marR="0" lvl="0" indent="0" rtl="0" hangingPunct="0">
              <a:lnSpc>
                <a:spcPct val="100000"/>
              </a:lnSpc>
              <a:spcBef>
                <a:spcPts val="1191"/>
              </a:spcBef>
              <a:spcAft>
                <a:spcPts val="992"/>
              </a:spcAft>
              <a:buNone/>
              <a:tabLst/>
            </a:pPr>
            <a:endParaRPr lang="en-IN" sz="1000" b="0" i="0" u="none" strike="noStrike" kern="1200" cap="none">
              <a:ln>
                <a:noFill/>
              </a:ln>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TextBox 1"/>
          <p:cNvSpPr txBox="1"/>
          <p:nvPr/>
        </p:nvSpPr>
        <p:spPr>
          <a:xfrm>
            <a:off x="144000" y="72000"/>
            <a:ext cx="9792000" cy="7343999"/>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DD4814"/>
                </a:solidFill>
                <a:latin typeface="Liberation Sans" pitchFamily="18"/>
                <a:ea typeface="Droid Sans Fallback" pitchFamily="2"/>
                <a:cs typeface="FreeSans" pitchFamily="2"/>
              </a:rPr>
              <a:t>3. Symmetric Multiprocessor System (SMP):</a:t>
            </a:r>
          </a:p>
          <a:p>
            <a:pPr marL="0" marR="0" lvl="0" indent="0" algn="just" rtl="0" hangingPunct="0">
              <a:lnSpc>
                <a:spcPct val="100000"/>
              </a:lnSpc>
              <a:spcBef>
                <a:spcPts val="1191"/>
              </a:spcBef>
              <a:spcAft>
                <a:spcPts val="992"/>
              </a:spcAft>
              <a:buNone/>
              <a:tabLst/>
            </a:pPr>
            <a:endParaRPr lang="en-IN" sz="2200" b="1" i="0" u="none" strike="noStrike" kern="1200" cap="none">
              <a:ln>
                <a:noFill/>
              </a:ln>
              <a:solidFill>
                <a:srgbClr val="000000"/>
              </a:solidFill>
              <a:latin typeface="Liberation Sans" pitchFamily="18"/>
              <a:ea typeface="Droid Sans Fallback" pitchFamily="2"/>
              <a:cs typeface="FreeSans" pitchFamily="2"/>
            </a:endParaRPr>
          </a:p>
        </p:txBody>
      </p:sp>
      <p:pic>
        <p:nvPicPr>
          <p:cNvPr id="3"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298800" y="720000"/>
            <a:ext cx="9467640" cy="608616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2" name="TextBox 1"/>
          <p:cNvSpPr txBox="1"/>
          <p:nvPr/>
        </p:nvSpPr>
        <p:spPr>
          <a:xfrm>
            <a:off x="144000" y="72000"/>
            <a:ext cx="9792000" cy="7416000"/>
          </a:xfrm>
          <a:prstGeom prst="rect">
            <a:avLst/>
          </a:prstGeom>
          <a:noFill/>
          <a:ln>
            <a:noFill/>
          </a:ln>
        </p:spPr>
        <p:txBody>
          <a:bodyPr vert="horz" wrap="none" lIns="90000" tIns="45000" rIns="90000" bIns="45000" anchorCtr="0" compatLnSpc="0"/>
          <a:lstStyle/>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Symmetric multiprocessing (SMP) involves a </a:t>
            </a:r>
            <a:r>
              <a:rPr lang="en-IN" sz="2200" b="0" i="0" u="none" strike="noStrike" kern="1200" cap="none">
                <a:ln>
                  <a:noFill/>
                </a:ln>
                <a:latin typeface="Liberation Sans" pitchFamily="18"/>
                <a:ea typeface="Droid Sans Fallback" pitchFamily="2"/>
                <a:cs typeface="FreeSans" pitchFamily="2"/>
                <a:hlinkClick r:id="rId3"/>
              </a:rPr>
              <a:t>multiprocessor</a:t>
            </a:r>
            <a:r>
              <a:rPr lang="en-IN" sz="2200" b="0" i="0" u="none" strike="noStrike" kern="1200" cap="none">
                <a:ln>
                  <a:noFill/>
                </a:ln>
                <a:latin typeface="Liberation Sans" pitchFamily="18"/>
                <a:ea typeface="Droid Sans Fallback" pitchFamily="2"/>
                <a:cs typeface="FreeSans" pitchFamily="2"/>
              </a:rPr>
              <a:t> computer hardware and software architecture where two or more identical processors are connected to a single, shared </a:t>
            </a:r>
            <a:r>
              <a:rPr lang="en-IN" sz="2200" b="0" i="0" u="none" strike="noStrike" kern="1200" cap="none">
                <a:ln>
                  <a:noFill/>
                </a:ln>
                <a:latin typeface="Liberation Sans" pitchFamily="18"/>
                <a:ea typeface="Droid Sans Fallback" pitchFamily="2"/>
                <a:cs typeface="FreeSans" pitchFamily="2"/>
                <a:hlinkClick r:id="rId4"/>
              </a:rPr>
              <a:t>main memory</a:t>
            </a:r>
            <a:r>
              <a:rPr lang="en-IN" sz="2200" b="0" i="0" u="none" strike="noStrike" kern="1200" cap="none">
                <a:ln>
                  <a:noFill/>
                </a:ln>
                <a:latin typeface="Liberation Sans" pitchFamily="18"/>
                <a:ea typeface="Droid Sans Fallback" pitchFamily="2"/>
                <a:cs typeface="FreeSans" pitchFamily="2"/>
              </a:rPr>
              <a:t>, have full access to all input and output devices, and are controlled by a single operating system instance that treats all processors equally, reserving none for special purposes. Most multiprocessor systems today use an SMP architecture.</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In the case of </a:t>
            </a:r>
            <a:r>
              <a:rPr lang="en-IN" sz="2200" b="0" i="0" u="none" strike="noStrike" kern="1200" cap="none">
                <a:ln>
                  <a:noFill/>
                </a:ln>
                <a:latin typeface="Liberation Sans" pitchFamily="18"/>
                <a:ea typeface="Droid Sans Fallback" pitchFamily="2"/>
                <a:cs typeface="FreeSans" pitchFamily="2"/>
                <a:hlinkClick r:id="rId5"/>
              </a:rPr>
              <a:t>multi-core processors</a:t>
            </a:r>
            <a:r>
              <a:rPr lang="en-IN" sz="2200" b="0" i="0" u="none" strike="noStrike" kern="1200" cap="none">
                <a:ln>
                  <a:noFill/>
                </a:ln>
                <a:latin typeface="Liberation Sans" pitchFamily="18"/>
                <a:ea typeface="Droid Sans Fallback" pitchFamily="2"/>
                <a:cs typeface="FreeSans" pitchFamily="2"/>
              </a:rPr>
              <a:t>, the SMP architecture applies to the cores, treating them as separate processors.</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SMP systems are </a:t>
            </a:r>
            <a:r>
              <a:rPr lang="en-IN" sz="2200" b="1" i="1" u="none" strike="noStrike" kern="1200" cap="none">
                <a:ln>
                  <a:noFill/>
                </a:ln>
                <a:latin typeface="Liberation Sans" pitchFamily="18"/>
                <a:ea typeface="Droid Sans Fallback" pitchFamily="2"/>
                <a:cs typeface="FreeSans" pitchFamily="2"/>
              </a:rPr>
              <a:t>tightly coupled multiprocessor systems</a:t>
            </a:r>
            <a:r>
              <a:rPr lang="en-IN" sz="2200" b="0" i="0" u="none" strike="noStrike" kern="1200" cap="none">
                <a:ln>
                  <a:noFill/>
                </a:ln>
                <a:latin typeface="Liberation Sans" pitchFamily="18"/>
                <a:ea typeface="Droid Sans Fallback" pitchFamily="2"/>
                <a:cs typeface="FreeSans" pitchFamily="2"/>
              </a:rPr>
              <a:t> with a pool of homogeneous processors running independently of each other.</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latin typeface="Liberation Sans" pitchFamily="18"/>
                <a:ea typeface="Droid Sans Fallback" pitchFamily="2"/>
                <a:cs typeface="FreeSans" pitchFamily="2"/>
              </a:rPr>
              <a:t>Each processor, executing different programs and working on different sets of data, has the capability of sharing common resources (memory, I/O device, interrupt system and so on) that are connected using a system bus or a crossbar.  </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2" name="TextBox 1"/>
          <p:cNvSpPr txBox="1"/>
          <p:nvPr/>
        </p:nvSpPr>
        <p:spPr>
          <a:xfrm>
            <a:off x="72000" y="144000"/>
            <a:ext cx="9864000" cy="71280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DD4814"/>
                </a:solidFill>
                <a:latin typeface="Liberation Sans" pitchFamily="18"/>
                <a:ea typeface="Droid Sans Fallback" pitchFamily="2"/>
                <a:cs typeface="FreeSans" pitchFamily="2"/>
              </a:rPr>
              <a:t>4. Massively Parallel Processing (MPP):</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MPP (massively parallel processing) is the coordinated processing of a program by multiple processor s that work on different parts of the program, with each processor using its own operating system and memory .</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A messaging interface is required to allow the different processors involved in the MPP to arrange thread handling.  </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An MPP system is also known as a "loosely coupled" or "shared nothing" system.</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An MPP system is considered better than a symmetrically parallel system ( SMP ) for applications that allow a number of databases to be searched in parallel.</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These include decision support system and data warehouse applications.</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72000" y="0"/>
            <a:ext cx="10152000" cy="7488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TextBox 1"/>
          <p:cNvSpPr txBox="1"/>
          <p:nvPr/>
        </p:nvSpPr>
        <p:spPr>
          <a:xfrm>
            <a:off x="144000" y="72000"/>
            <a:ext cx="9864000" cy="7343999"/>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DD4814"/>
                </a:solidFill>
                <a:latin typeface="Liberation Sans" pitchFamily="18"/>
                <a:ea typeface="Droid Sans Fallback" pitchFamily="2"/>
                <a:cs typeface="FreeSans" pitchFamily="2"/>
              </a:rPr>
              <a:t>5. </a:t>
            </a:r>
            <a:r>
              <a:rPr lang="en-IN" sz="2800" b="1" i="0" u="none" strike="noStrike" kern="1200" cap="none">
                <a:ln>
                  <a:noFill/>
                </a:ln>
                <a:solidFill>
                  <a:srgbClr val="DD4814"/>
                </a:solidFill>
                <a:latin typeface="Liberation Sans" pitchFamily="18"/>
                <a:ea typeface="Droid Sans Fallback" pitchFamily="2"/>
                <a:cs typeface="FreeSans" pitchFamily="2"/>
              </a:rPr>
              <a:t>Difference between Parellel and Distributed systems</a:t>
            </a:r>
          </a:p>
          <a:p>
            <a:pPr marL="0" marR="0" lvl="0" indent="0" rtl="0" hangingPunct="0">
              <a:lnSpc>
                <a:spcPct val="100000"/>
              </a:lnSpc>
              <a:spcBef>
                <a:spcPts val="1191"/>
              </a:spcBef>
              <a:spcAft>
                <a:spcPts val="992"/>
              </a:spcAft>
              <a:buNone/>
              <a:tabLst/>
            </a:pPr>
            <a:r>
              <a:rPr lang="en-IN" sz="2800" b="1" i="0" u="none" strike="noStrike" kern="1200" cap="none">
                <a:ln>
                  <a:noFill/>
                </a:ln>
                <a:solidFill>
                  <a:srgbClr val="004586"/>
                </a:solidFill>
                <a:latin typeface="Liberation Sans" pitchFamily="18"/>
                <a:ea typeface="Droid Sans Fallback" pitchFamily="2"/>
                <a:cs typeface="FreeSans" pitchFamily="2"/>
              </a:rPr>
              <a:t>Parallel system:</a:t>
            </a:r>
          </a:p>
          <a:p>
            <a:pPr marL="0" marR="0" lvl="0" indent="0" rtl="0" hangingPunct="0">
              <a:lnSpc>
                <a:spcPct val="100000"/>
              </a:lnSpc>
              <a:spcBef>
                <a:spcPts val="1191"/>
              </a:spcBef>
              <a:spcAft>
                <a:spcPts val="992"/>
              </a:spcAft>
              <a:buNone/>
              <a:tabLst/>
            </a:pPr>
            <a:endParaRPr lang="en-IN" sz="2200" b="1" i="0" u="none" strike="noStrike" kern="1200" cap="none">
              <a:ln>
                <a:noFill/>
              </a:ln>
              <a:solidFill>
                <a:srgbClr val="DD4814"/>
              </a:solidFill>
              <a:latin typeface="Liberation Sans" pitchFamily="18"/>
              <a:ea typeface="Droid Sans Fallback" pitchFamily="2"/>
              <a:cs typeface="FreeSans" pitchFamily="2"/>
            </a:endParaRPr>
          </a:p>
        </p:txBody>
      </p:sp>
      <p:pic>
        <p:nvPicPr>
          <p:cNvPr id="3"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144000" y="1440000"/>
            <a:ext cx="9360000" cy="4608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0" y="-5040"/>
            <a:ext cx="10080000" cy="755964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72000" y="0"/>
            <a:ext cx="10008000" cy="7560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0" y="72000"/>
            <a:ext cx="10080000" cy="7488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2" name="TextBox 1"/>
          <p:cNvSpPr txBox="1"/>
          <p:nvPr/>
        </p:nvSpPr>
        <p:spPr>
          <a:xfrm>
            <a:off x="72000" y="72000"/>
            <a:ext cx="6912000" cy="7200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3200" b="1" i="0" u="none" strike="noStrike" kern="1200" cap="none">
                <a:ln>
                  <a:noFill/>
                </a:ln>
                <a:solidFill>
                  <a:srgbClr val="004586"/>
                </a:solidFill>
                <a:latin typeface="Liberation Sans" pitchFamily="18"/>
                <a:ea typeface="Droid Sans Fallback" pitchFamily="2"/>
                <a:cs typeface="FreeSans" pitchFamily="2"/>
              </a:rPr>
              <a:t>Distributed System:</a:t>
            </a:r>
          </a:p>
        </p:txBody>
      </p:sp>
      <p:pic>
        <p:nvPicPr>
          <p:cNvPr id="3"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144000" y="1059840"/>
            <a:ext cx="9928440" cy="592416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7200" y="79200"/>
            <a:ext cx="10079640" cy="739152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144000" y="636120"/>
            <a:ext cx="9928440" cy="627768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7200" y="159840"/>
            <a:ext cx="10079640" cy="722987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0" y="0"/>
            <a:ext cx="10072440" cy="7560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rot="12000">
            <a:off x="135198" y="1244193"/>
            <a:ext cx="9928440" cy="50256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72000" y="195840"/>
            <a:ext cx="10000440" cy="715788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sp>
        <p:nvSpPr>
          <p:cNvPr id="2" name="TextBox 1"/>
          <p:cNvSpPr txBox="1"/>
          <p:nvPr/>
        </p:nvSpPr>
        <p:spPr>
          <a:xfrm>
            <a:off x="0" y="0"/>
            <a:ext cx="10080000" cy="75600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DD4814"/>
                </a:solidFill>
                <a:latin typeface="Liberation Sans" pitchFamily="18"/>
                <a:ea typeface="Droid Sans Fallback" pitchFamily="2"/>
                <a:cs typeface="FreeSans" pitchFamily="2"/>
              </a:rPr>
              <a:t>6. Shared Nothing architecture</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Three most common types of architecture for multiprocessor high transaction rate systems are:</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a. Shared Memory (SM)</a:t>
            </a:r>
          </a:p>
          <a:p>
            <a:pPr marL="0" marR="0" lvl="2" indent="0" algn="just" rtl="0" hangingPunct="0">
              <a:lnSpc>
                <a:spcPct val="150000"/>
              </a:lnSpc>
              <a:spcBef>
                <a:spcPts val="1191"/>
              </a:spcBef>
              <a:spcAft>
                <a:spcPts val="992"/>
              </a:spcAft>
              <a:buNone/>
              <a:tabLst/>
            </a:pPr>
            <a:r>
              <a:rPr lang="en-IN" sz="2200" b="0" i="0" u="none" strike="noStrike" kern="1200" cap="none">
                <a:ln>
                  <a:noFill/>
                </a:ln>
                <a:solidFill>
                  <a:srgbClr val="000000"/>
                </a:solidFill>
                <a:latin typeface="Liberation Sans" pitchFamily="18"/>
                <a:ea typeface="Droid Sans Fallback" pitchFamily="2"/>
                <a:cs typeface="FreeSans" pitchFamily="2"/>
              </a:rPr>
              <a:t>--- A common central memory is shared my multiple processors.</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1" i="0" u="none" strike="noStrike" kern="1200" cap="none">
                <a:ln>
                  <a:noFill/>
                </a:ln>
                <a:solidFill>
                  <a:srgbClr val="000000"/>
                </a:solidFill>
                <a:latin typeface="Liberation Sans" pitchFamily="18"/>
                <a:ea typeface="Droid Sans Fallback" pitchFamily="2"/>
                <a:cs typeface="FreeSans" pitchFamily="2"/>
              </a:rPr>
              <a:t>b. Shared Disk (SD)</a:t>
            </a:r>
          </a:p>
          <a:p>
            <a:pPr marL="0" marR="0" lvl="2" indent="0" algn="just" rtl="0" hangingPunct="0">
              <a:lnSpc>
                <a:spcPct val="150000"/>
              </a:lnSpc>
              <a:spcBef>
                <a:spcPts val="1191"/>
              </a:spcBef>
              <a:spcAft>
                <a:spcPts val="992"/>
              </a:spcAft>
              <a:buNone/>
              <a:tabLst/>
            </a:pPr>
            <a:r>
              <a:rPr lang="en-IN" sz="2200" b="0" i="0" u="none" strike="noStrike" kern="1200" cap="none">
                <a:ln>
                  <a:noFill/>
                </a:ln>
                <a:solidFill>
                  <a:srgbClr val="000000"/>
                </a:solidFill>
                <a:latin typeface="Liberation Sans" pitchFamily="18"/>
                <a:ea typeface="Droid Sans Fallback" pitchFamily="2"/>
                <a:cs typeface="FreeSans" pitchFamily="2"/>
              </a:rPr>
              <a:t>--- Multiple processors have a common collection of disks having their own      private memory.</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c. </a:t>
            </a:r>
            <a:r>
              <a:rPr lang="en-IN" sz="2200" b="1" i="0" u="none" strike="noStrike" kern="1200" cap="none">
                <a:ln>
                  <a:noFill/>
                </a:ln>
                <a:solidFill>
                  <a:srgbClr val="000000"/>
                </a:solidFill>
                <a:latin typeface="Liberation Sans" pitchFamily="18"/>
                <a:ea typeface="Droid Sans Fallback" pitchFamily="2"/>
                <a:cs typeface="FreeSans" pitchFamily="2"/>
              </a:rPr>
              <a:t>Shared Nothing (SN)</a:t>
            </a:r>
          </a:p>
          <a:p>
            <a:pPr marL="0" marR="0" lvl="2" indent="0" algn="just" rtl="0" hangingPunct="0">
              <a:lnSpc>
                <a:spcPct val="150000"/>
              </a:lnSpc>
              <a:spcBef>
                <a:spcPts val="1191"/>
              </a:spcBef>
              <a:spcAft>
                <a:spcPts val="992"/>
              </a:spcAft>
              <a:buNone/>
              <a:tabLst/>
            </a:pPr>
            <a:r>
              <a:rPr lang="en-IN" sz="2200" b="0" i="0" u="none" strike="noStrike" kern="1200" cap="none">
                <a:ln>
                  <a:noFill/>
                </a:ln>
                <a:solidFill>
                  <a:srgbClr val="000000"/>
                </a:solidFill>
                <a:latin typeface="Liberation Sans" pitchFamily="18"/>
                <a:ea typeface="Droid Sans Fallback" pitchFamily="2"/>
                <a:cs typeface="FreeSans" pitchFamily="2"/>
              </a:rPr>
              <a:t>--- Neither memory,  nor disk is shared among the multiple processors.</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page23">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576000" y="291600"/>
            <a:ext cx="2880000" cy="2948400"/>
          </a:xfrm>
          <a:prstGeom prst="rect">
            <a:avLst/>
          </a:prstGeom>
          <a:noFill/>
          <a:ln>
            <a:noFill/>
          </a:ln>
        </p:spPr>
      </p:pic>
      <p:pic>
        <p:nvPicPr>
          <p:cNvPr id="3" name="">
            <a:extLst>
              <a:ext uri="{FF2B5EF4-FFF2-40B4-BE49-F238E27FC236}">
                <a16:creationId xmlns:a16="http://schemas.microsoft.com/office/drawing/2014/main" id="{00000000-0000-0000-0000-000000000000}"/>
              </a:ext>
            </a:extLst>
          </p:cNvPr>
          <p:cNvPicPr>
            <a:picLocks noChangeAspect="1"/>
          </p:cNvPicPr>
          <p:nvPr/>
        </p:nvPicPr>
        <p:blipFill>
          <a:blip r:embed="rId4">
            <a:lum/>
            <a:alphaModFix/>
          </a:blip>
          <a:srcRect/>
          <a:stretch>
            <a:fillRect/>
          </a:stretch>
        </p:blipFill>
        <p:spPr>
          <a:xfrm>
            <a:off x="5903999" y="288000"/>
            <a:ext cx="3456000" cy="2808000"/>
          </a:xfrm>
          <a:prstGeom prst="rect">
            <a:avLst/>
          </a:prstGeom>
          <a:noFill/>
          <a:ln>
            <a:noFill/>
          </a:ln>
        </p:spPr>
      </p:pic>
      <p:pic>
        <p:nvPicPr>
          <p:cNvPr id="4" name="">
            <a:extLst>
              <a:ext uri="{FF2B5EF4-FFF2-40B4-BE49-F238E27FC236}">
                <a16:creationId xmlns:a16="http://schemas.microsoft.com/office/drawing/2014/main" id="{00000000-0000-0000-0000-000000000000}"/>
              </a:ext>
            </a:extLst>
          </p:cNvPr>
          <p:cNvPicPr>
            <a:picLocks noChangeAspect="1"/>
          </p:cNvPicPr>
          <p:nvPr/>
        </p:nvPicPr>
        <p:blipFill>
          <a:blip r:embed="rId5">
            <a:lum/>
            <a:alphaModFix/>
          </a:blip>
          <a:srcRect/>
          <a:stretch>
            <a:fillRect/>
          </a:stretch>
        </p:blipFill>
        <p:spPr>
          <a:xfrm>
            <a:off x="3607559" y="3744000"/>
            <a:ext cx="2656440" cy="324503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sp>
        <p:nvSpPr>
          <p:cNvPr id="2" name="TextBox 1"/>
          <p:cNvSpPr txBox="1"/>
          <p:nvPr/>
        </p:nvSpPr>
        <p:spPr>
          <a:xfrm>
            <a:off x="0" y="0"/>
            <a:ext cx="10080000" cy="75600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DD4814"/>
                </a:solidFill>
                <a:latin typeface="Liberation Sans" pitchFamily="18"/>
                <a:ea typeface="Droid Sans Fallback" pitchFamily="2"/>
                <a:cs typeface="FreeSans" pitchFamily="2"/>
              </a:rPr>
              <a:t>6. Shared Nothing architecture</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The "Shared Nothing" concept that makes these systems possible was proposed by </a:t>
            </a:r>
            <a:r>
              <a:rPr lang="en-IN" sz="2200" b="1" i="0" u="none" strike="noStrike" kern="1200" cap="none">
                <a:ln>
                  <a:noFill/>
                </a:ln>
                <a:solidFill>
                  <a:srgbClr val="780373"/>
                </a:solidFill>
                <a:latin typeface="Liberation Sans" pitchFamily="18"/>
                <a:ea typeface="Droid Sans Fallback" pitchFamily="2"/>
                <a:cs typeface="FreeSans" pitchFamily="2"/>
              </a:rPr>
              <a:t>Michael Stonebraker in 1986 </a:t>
            </a:r>
            <a:r>
              <a:rPr lang="en-IN" sz="2200" b="0" i="0" u="none" strike="noStrike" kern="1200" cap="none">
                <a:ln>
                  <a:noFill/>
                </a:ln>
                <a:solidFill>
                  <a:srgbClr val="000000"/>
                </a:solidFill>
                <a:latin typeface="Liberation Sans" pitchFamily="18"/>
                <a:ea typeface="Droid Sans Fallback" pitchFamily="2"/>
                <a:cs typeface="FreeSans" pitchFamily="2"/>
              </a:rPr>
              <a:t>-  when mainframes ruled and the internet barely existed!</a:t>
            </a:r>
          </a:p>
          <a:p>
            <a:pPr marL="0" marR="0" lvl="0" indent="0" algn="just" rtl="0" hangingPunct="0">
              <a:lnSpc>
                <a:spcPct val="150000"/>
              </a:lnSpc>
              <a:spcBef>
                <a:spcPts val="1191"/>
              </a:spcBef>
              <a:spcAft>
                <a:spcPts val="992"/>
              </a:spcAft>
              <a:buClr>
                <a:srgbClr val="000000"/>
              </a:buClr>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1" i="0" u="none" strike="noStrike" kern="1200" cap="none">
                <a:ln>
                  <a:noFill/>
                </a:ln>
                <a:solidFill>
                  <a:srgbClr val="FF0000"/>
                </a:solidFill>
                <a:latin typeface="Liberation Sans" pitchFamily="18"/>
                <a:ea typeface="Droid Sans Fallback" pitchFamily="2"/>
                <a:cs typeface="FreeSans" pitchFamily="2"/>
              </a:rPr>
              <a:t>Historical Context</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In 1986, the computing landscape was totally different:</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    Mainframes were king</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    Minicomputers were just getting decent</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    Networking was in its infancy</a:t>
            </a:r>
          </a:p>
          <a:p>
            <a:pPr marL="0" marR="0" lvl="0" indent="0" algn="just" rtl="0" hangingPunct="0">
              <a:lnSpc>
                <a:spcPct val="150000"/>
              </a:lnSpc>
              <a:spcBef>
                <a:spcPts val="1191"/>
              </a:spcBef>
              <a:spcAft>
                <a:spcPts val="992"/>
              </a:spcAft>
              <a:buClr>
                <a:srgbClr val="000000"/>
              </a:buClr>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sp>
        <p:nvSpPr>
          <p:cNvPr id="2" name="TextBox 1"/>
          <p:cNvSpPr txBox="1"/>
          <p:nvPr/>
        </p:nvSpPr>
        <p:spPr>
          <a:xfrm>
            <a:off x="0" y="0"/>
            <a:ext cx="10080000" cy="8008199"/>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C9211E"/>
                </a:solidFill>
                <a:latin typeface="Liberation Sans" pitchFamily="18"/>
                <a:ea typeface="Droid Sans Fallback" pitchFamily="2"/>
                <a:cs typeface="FreeSans" pitchFamily="2"/>
              </a:rPr>
              <a:t>What Made It Revolutionary?</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Each node should have its own:    </a:t>
            </a:r>
            <a:r>
              <a:rPr lang="en-IN" sz="2200" b="1" i="0" u="none" strike="noStrike" kern="1200" cap="none">
                <a:ln>
                  <a:noFill/>
                </a:ln>
                <a:solidFill>
                  <a:srgbClr val="861141"/>
                </a:solidFill>
                <a:latin typeface="Liberation Sans" pitchFamily="18"/>
                <a:ea typeface="Droid Sans Fallback" pitchFamily="2"/>
                <a:cs typeface="FreeSans" pitchFamily="2"/>
              </a:rPr>
              <a:t>CPU    Memory    Disk</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1" i="0" u="none" strike="noStrike" kern="1200" cap="none">
                <a:ln>
                  <a:noFill/>
                </a:ln>
                <a:solidFill>
                  <a:srgbClr val="55308D"/>
                </a:solidFill>
                <a:latin typeface="Liberation Sans" pitchFamily="18"/>
                <a:ea typeface="Droid Sans Fallback" pitchFamily="2"/>
                <a:cs typeface="FreeSans" pitchFamily="2"/>
              </a:rPr>
              <a:t>    No shared resources between nodes (hence "Shared Nothing")</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1" i="0" u="none" strike="noStrike" kern="1200" cap="none">
                <a:ln>
                  <a:noFill/>
                </a:ln>
                <a:solidFill>
                  <a:srgbClr val="55308D"/>
                </a:solidFill>
                <a:latin typeface="Liberation Sans" pitchFamily="18"/>
                <a:ea typeface="Droid Sans Fallback" pitchFamily="2"/>
                <a:cs typeface="FreeSans" pitchFamily="2"/>
              </a:rPr>
              <a:t>Nodes would communicate only through the network - exactly how our modern distributed systems work!</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1" i="0" u="none" strike="noStrike" kern="1200" cap="none">
                <a:ln>
                  <a:noFill/>
                </a:ln>
                <a:solidFill>
                  <a:srgbClr val="C9211E"/>
                </a:solidFill>
                <a:latin typeface="Liberation Sans" pitchFamily="18"/>
                <a:ea typeface="Droid Sans Fallback" pitchFamily="2"/>
                <a:cs typeface="FreeSans" pitchFamily="2"/>
              </a:rPr>
              <a:t>4. Why It's Still Relevant</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1" i="0" u="none" strike="noStrike" kern="1200" cap="none">
                <a:ln>
                  <a:noFill/>
                </a:ln>
                <a:solidFill>
                  <a:srgbClr val="069A2E"/>
                </a:solidFill>
                <a:latin typeface="Liberation Sans" pitchFamily="18"/>
                <a:ea typeface="Droid Sans Fallback" pitchFamily="2"/>
                <a:cs typeface="FreeSans" pitchFamily="2"/>
              </a:rPr>
              <a:t>The principles Stonebraker outlined everywhere in modern tech:</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1" i="0" u="none" strike="noStrike" kern="1200" cap="none">
                <a:ln>
                  <a:noFill/>
                </a:ln>
                <a:solidFill>
                  <a:srgbClr val="069A2E"/>
                </a:solidFill>
                <a:latin typeface="Liberation Sans" pitchFamily="18"/>
                <a:ea typeface="Droid Sans Fallback" pitchFamily="2"/>
                <a:cs typeface="FreeSans" pitchFamily="2"/>
              </a:rPr>
              <a:t>    Horizontal Scaling: Just add more nodes</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1" i="0" u="none" strike="noStrike" kern="1200" cap="none">
                <a:ln>
                  <a:noFill/>
                </a:ln>
                <a:solidFill>
                  <a:srgbClr val="FF3838"/>
                </a:solidFill>
                <a:latin typeface="Liberation Sans" pitchFamily="18"/>
                <a:ea typeface="Droid Sans Fallback" pitchFamily="2"/>
                <a:cs typeface="FreeSans" pitchFamily="2"/>
              </a:rPr>
              <a:t> </a:t>
            </a:r>
            <a:r>
              <a:rPr lang="en-IN" sz="2200" b="1" i="0" u="none" strike="noStrike" kern="1200" cap="none">
                <a:ln>
                  <a:noFill/>
                </a:ln>
                <a:solidFill>
                  <a:srgbClr val="E8A202"/>
                </a:solidFill>
                <a:latin typeface="Liberation Sans" pitchFamily="18"/>
                <a:ea typeface="Droid Sans Fallback" pitchFamily="2"/>
                <a:cs typeface="FreeSans" pitchFamily="2"/>
              </a:rPr>
              <a:t>Fault Tolerance: Node goes down? No problem, the system keeps running</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1" i="0" u="none" strike="noStrike" kern="1200" cap="none">
                <a:ln>
                  <a:noFill/>
                </a:ln>
                <a:solidFill>
                  <a:srgbClr val="069A2E"/>
                </a:solidFill>
                <a:latin typeface="Liberation Sans" pitchFamily="18"/>
                <a:ea typeface="Droid Sans Fallback" pitchFamily="2"/>
                <a:cs typeface="FreeSans" pitchFamily="2"/>
              </a:rPr>
              <a:t>Cost-Effectiveness: Use cheap commodity hardware</a:t>
            </a:r>
            <a:r>
              <a:rPr lang="en-IN" sz="2200" b="0" i="1" u="none" strike="noStrike" kern="1200" cap="none">
                <a:ln>
                  <a:noFill/>
                </a:ln>
                <a:solidFill>
                  <a:srgbClr val="1C1C1C"/>
                </a:solidFill>
                <a:latin typeface="Liberation Sans" pitchFamily="18"/>
                <a:ea typeface="Droid Sans Fallback" pitchFamily="2"/>
                <a:cs typeface="FreeSans" pitchFamily="2"/>
              </a:rPr>
              <a:t>(low-cost, standardized, off-the-shelf )</a:t>
            </a:r>
            <a:r>
              <a:rPr lang="en-IN" sz="2200" b="1" i="0" u="none" strike="noStrike" kern="1200" cap="none">
                <a:ln>
                  <a:noFill/>
                </a:ln>
                <a:solidFill>
                  <a:srgbClr val="069A2E"/>
                </a:solidFill>
                <a:latin typeface="Liberation Sans" pitchFamily="18"/>
                <a:ea typeface="Droid Sans Fallback" pitchFamily="2"/>
                <a:cs typeface="FreeSans" pitchFamily="2"/>
              </a:rPr>
              <a:t> instead of expensive specialized equipment</a:t>
            </a:r>
          </a:p>
          <a:p>
            <a:pPr marL="0" marR="0" lvl="0" indent="0" algn="just" rtl="0" hangingPunct="0">
              <a:lnSpc>
                <a:spcPct val="150000"/>
              </a:lnSpc>
              <a:spcBef>
                <a:spcPts val="1191"/>
              </a:spcBef>
              <a:spcAft>
                <a:spcPts val="992"/>
              </a:spcAft>
              <a:buClr>
                <a:srgbClr val="000000"/>
              </a:buClr>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1191"/>
              </a:spcBef>
              <a:spcAft>
                <a:spcPts val="992"/>
              </a:spcAft>
              <a:buClr>
                <a:srgbClr val="000000"/>
              </a:buClr>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sp>
        <p:nvSpPr>
          <p:cNvPr id="2" name="TextBox 1"/>
          <p:cNvSpPr txBox="1"/>
          <p:nvPr/>
        </p:nvSpPr>
        <p:spPr>
          <a:xfrm>
            <a:off x="0" y="0"/>
            <a:ext cx="10080000" cy="75600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DD4814"/>
                </a:solidFill>
                <a:latin typeface="Liberation Sans" pitchFamily="18"/>
                <a:ea typeface="Droid Sans Fallback" pitchFamily="2"/>
                <a:cs typeface="FreeSans" pitchFamily="2"/>
              </a:rPr>
              <a:t>6. Shared Nothing architecture</a:t>
            </a:r>
          </a:p>
          <a:p>
            <a:pPr marL="0" marR="0" lvl="0" indent="0" algn="just" rtl="0" hangingPunct="0">
              <a:lnSpc>
                <a:spcPct val="150000"/>
              </a:lnSpc>
              <a:spcBef>
                <a:spcPts val="1191"/>
              </a:spcBef>
              <a:spcAft>
                <a:spcPts val="992"/>
              </a:spcAft>
              <a:buClr>
                <a:srgbClr val="000000"/>
              </a:buClr>
              <a:buSzPct val="45000"/>
              <a:buFont typeface="StarSymbol"/>
              <a:buChar char="➢"/>
              <a:tabLst/>
            </a:pPr>
            <a:endParaRPr lang="en-IN" sz="22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--A shared-nothing architecture is a distributed computing design where each node in a cluster operates completely independently with its own dedicated CPU, memory, and storage.</a:t>
            </a:r>
          </a:p>
          <a:p>
            <a:pPr marL="0" marR="0" lvl="2"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New nodes can be added easily, and failures in one node do not directly affect others.</a:t>
            </a:r>
          </a:p>
          <a:p>
            <a:pPr marL="0" marR="0" lvl="2" indent="0" algn="just" rtl="0" hangingPunct="0">
              <a:lnSpc>
                <a:spcPct val="150000"/>
              </a:lnSpc>
              <a:spcBef>
                <a:spcPts val="1191"/>
              </a:spcBef>
              <a:spcAft>
                <a:spcPts val="992"/>
              </a:spcAft>
              <a:buClr>
                <a:srgbClr val="000000"/>
              </a:buClr>
              <a:buSzPct val="45000"/>
              <a:buFont typeface="StarSymbol"/>
              <a:buChar char="➢"/>
              <a:tabLst/>
            </a:pPr>
            <a:r>
              <a:rPr lang="en-IN" sz="2200" b="0" i="0" u="none" strike="noStrike" kern="1200" cap="none">
                <a:ln>
                  <a:noFill/>
                </a:ln>
                <a:solidFill>
                  <a:srgbClr val="000000"/>
                </a:solidFill>
                <a:latin typeface="Liberation Sans" pitchFamily="18"/>
                <a:ea typeface="Droid Sans Fallback" pitchFamily="2"/>
                <a:cs typeface="FreeSans" pitchFamily="2"/>
              </a:rPr>
              <a:t>   </a:t>
            </a:r>
            <a:r>
              <a:rPr lang="en-IN" sz="2200" b="0" i="1" u="none" strike="noStrike" kern="1200" cap="none">
                <a:ln>
                  <a:noFill/>
                </a:ln>
                <a:solidFill>
                  <a:srgbClr val="000000"/>
                </a:solidFill>
                <a:latin typeface="Liberation Sans" pitchFamily="18"/>
                <a:ea typeface="Droid Sans Fallback" pitchFamily="2"/>
                <a:cs typeface="FreeSans" pitchFamily="2"/>
              </a:rPr>
              <a:t> Example: A large e-commerce platform distributes customer data and transactions across multiple servers. If one server fails, the remaining servers continue operating, ensuring high availability and performance.</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page27">
    <p:spTree>
      <p:nvGrpSpPr>
        <p:cNvPr id="1" name=""/>
        <p:cNvGrpSpPr/>
        <p:nvPr/>
      </p:nvGrpSpPr>
      <p:grpSpPr>
        <a:xfrm>
          <a:off x="0" y="0"/>
          <a:ext cx="0" cy="0"/>
          <a:chOff x="0" y="0"/>
          <a:chExt cx="0" cy="0"/>
        </a:xfrm>
      </p:grpSpPr>
      <p:sp>
        <p:nvSpPr>
          <p:cNvPr id="2" name="TextBox 1"/>
          <p:cNvSpPr txBox="1"/>
          <p:nvPr/>
        </p:nvSpPr>
        <p:spPr>
          <a:xfrm>
            <a:off x="216000" y="144000"/>
            <a:ext cx="9720000" cy="72720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DD4814"/>
                </a:solidFill>
                <a:latin typeface="Liberation Sans" pitchFamily="18"/>
                <a:ea typeface="Droid Sans Fallback" pitchFamily="2"/>
                <a:cs typeface="FreeSans" pitchFamily="2"/>
              </a:rPr>
              <a:t>Advantages and Disadvantages of SN Architecture</a:t>
            </a:r>
          </a:p>
          <a:p>
            <a:pPr marL="0" marR="0" lvl="0" indent="0" rtl="0" hangingPunct="0">
              <a:lnSpc>
                <a:spcPct val="100000"/>
              </a:lnSpc>
              <a:spcBef>
                <a:spcPts val="1191"/>
              </a:spcBef>
              <a:spcAft>
                <a:spcPts val="992"/>
              </a:spcAft>
              <a:buNone/>
              <a:tabLst/>
            </a:pPr>
            <a:endParaRPr lang="en-IN" sz="2200" b="1" i="0" u="none" strike="noStrike" kern="1200" cap="none">
              <a:ln>
                <a:noFill/>
              </a:ln>
              <a:solidFill>
                <a:srgbClr val="DD4814"/>
              </a:solidFill>
              <a:latin typeface="Liberation Sans" pitchFamily="18"/>
              <a:ea typeface="Droid Sans Fallback" pitchFamily="2"/>
              <a:cs typeface="FreeSans" pitchFamily="2"/>
            </a:endParaRPr>
          </a:p>
          <a:p>
            <a:pPr marL="0" marR="0" lvl="0" indent="0" rtl="0" hangingPunct="0">
              <a:lnSpc>
                <a:spcPct val="100000"/>
              </a:lnSpc>
              <a:spcBef>
                <a:spcPts val="1191"/>
              </a:spcBef>
              <a:spcAft>
                <a:spcPts val="992"/>
              </a:spcAft>
              <a:buNone/>
              <a:tabLst/>
            </a:pPr>
            <a:endParaRPr lang="en-IN" sz="2200" b="1" i="0" u="none" strike="noStrike" kern="1200" cap="none">
              <a:ln>
                <a:noFill/>
              </a:ln>
              <a:solidFill>
                <a:srgbClr val="DD4814"/>
              </a:solidFill>
              <a:latin typeface="Liberation Sans" pitchFamily="18"/>
              <a:ea typeface="Droid Sans Fallback" pitchFamily="2"/>
              <a:cs typeface="FreeSans" pitchFamily="2"/>
            </a:endParaRPr>
          </a:p>
        </p:txBody>
      </p:sp>
      <p:sp>
        <p:nvSpPr>
          <p:cNvPr id="3" name="TextBox 2"/>
          <p:cNvSpPr txBox="1"/>
          <p:nvPr/>
        </p:nvSpPr>
        <p:spPr>
          <a:xfrm>
            <a:off x="168120" y="648000"/>
            <a:ext cx="9623880" cy="488412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004586"/>
                </a:solidFill>
                <a:latin typeface="Liberation Sans" pitchFamily="18"/>
                <a:ea typeface="Droid Sans Fallback" pitchFamily="2"/>
                <a:cs typeface="FreeSans" pitchFamily="2"/>
              </a:rPr>
              <a:t>Advantages</a:t>
            </a:r>
          </a:p>
          <a:p>
            <a:pPr marL="0" marR="0" lvl="0" indent="0" algn="just" rtl="0" hangingPunct="0">
              <a:lnSpc>
                <a:spcPct val="150000"/>
              </a:lnSpc>
              <a:spcBef>
                <a:spcPts val="1191"/>
              </a:spcBef>
              <a:spcAft>
                <a:spcPts val="992"/>
              </a:spcAft>
              <a:buSzPct val="45000"/>
              <a:buFont typeface="StarSymbol"/>
              <a:buChar char="➢"/>
              <a:tabLst/>
            </a:pPr>
            <a:r>
              <a:rPr lang="en-IN" sz="2000" b="1" i="0" u="none" strike="noStrike" kern="1200" cap="none">
                <a:ln>
                  <a:noFill/>
                </a:ln>
                <a:solidFill>
                  <a:srgbClr val="000000"/>
                </a:solidFill>
                <a:latin typeface="Liberation Sans" pitchFamily="18"/>
                <a:ea typeface="Droid Sans Fallback" pitchFamily="2"/>
                <a:cs typeface="FreeSans" pitchFamily="2"/>
              </a:rPr>
              <a:t>Elimination of SPOF (single point of failure)</a:t>
            </a:r>
            <a:r>
              <a:rPr lang="en-IN" sz="2000" b="0" i="0" u="none" strike="noStrike" kern="1200" cap="none">
                <a:ln>
                  <a:noFill/>
                </a:ln>
                <a:solidFill>
                  <a:srgbClr val="000000"/>
                </a:solidFill>
                <a:latin typeface="Liberation Sans" pitchFamily="18"/>
                <a:ea typeface="Droid Sans Fallback" pitchFamily="2"/>
                <a:cs typeface="FreeSans" pitchFamily="2"/>
              </a:rPr>
              <a:t> – if a part of a system fails, it won’t stop the entire system from working</a:t>
            </a:r>
          </a:p>
          <a:p>
            <a:pPr marL="0" marR="0" lvl="0" indent="0" algn="just" rtl="0" hangingPunct="0">
              <a:lnSpc>
                <a:spcPct val="150000"/>
              </a:lnSpc>
              <a:spcBef>
                <a:spcPts val="1191"/>
              </a:spcBef>
              <a:spcAft>
                <a:spcPts val="992"/>
              </a:spcAft>
              <a:buSzPct val="45000"/>
              <a:buFont typeface="StarSymbol"/>
              <a:buChar char="➢"/>
              <a:tabLst/>
            </a:pPr>
            <a:r>
              <a:rPr lang="en-IN" sz="2000" b="1" i="0" u="none" strike="noStrike" kern="1200" cap="none">
                <a:ln>
                  <a:noFill/>
                </a:ln>
                <a:solidFill>
                  <a:srgbClr val="000000"/>
                </a:solidFill>
                <a:latin typeface="Liberation Sans" pitchFamily="18"/>
                <a:ea typeface="Droid Sans Fallback" pitchFamily="2"/>
                <a:cs typeface="FreeSans" pitchFamily="2"/>
              </a:rPr>
              <a:t>Non-disruptive upgrades</a:t>
            </a:r>
            <a:r>
              <a:rPr lang="en-IN" sz="2000" b="0" i="0" u="none" strike="noStrike" kern="1200" cap="none">
                <a:ln>
                  <a:noFill/>
                </a:ln>
                <a:solidFill>
                  <a:srgbClr val="000000"/>
                </a:solidFill>
                <a:latin typeface="Liberation Sans" pitchFamily="18"/>
                <a:ea typeface="Droid Sans Fallback" pitchFamily="2"/>
                <a:cs typeface="FreeSans" pitchFamily="2"/>
              </a:rPr>
              <a:t> – database updates will not interrupt access to database data</a:t>
            </a:r>
          </a:p>
          <a:p>
            <a:pPr marL="0" marR="0" lvl="0" indent="0" algn="just" rtl="0" hangingPunct="0">
              <a:lnSpc>
                <a:spcPct val="150000"/>
              </a:lnSpc>
              <a:spcBef>
                <a:spcPts val="1191"/>
              </a:spcBef>
              <a:spcAft>
                <a:spcPts val="992"/>
              </a:spcAft>
              <a:buSzPct val="45000"/>
              <a:buFont typeface="StarSymbol"/>
              <a:buChar char="➢"/>
              <a:tabLst/>
            </a:pPr>
            <a:r>
              <a:rPr lang="en-IN" sz="2000" b="1" i="0" u="none" strike="noStrike" kern="1200" cap="none">
                <a:ln>
                  <a:noFill/>
                </a:ln>
                <a:solidFill>
                  <a:srgbClr val="000000"/>
                </a:solidFill>
                <a:latin typeface="Liberation Sans" pitchFamily="18"/>
                <a:ea typeface="Droid Sans Fallback" pitchFamily="2"/>
                <a:cs typeface="FreeSans" pitchFamily="2"/>
              </a:rPr>
              <a:t>No need for reboots</a:t>
            </a:r>
            <a:r>
              <a:rPr lang="en-IN" sz="2000" b="0" i="0" u="none" strike="noStrike" kern="1200" cap="none">
                <a:ln>
                  <a:noFill/>
                </a:ln>
                <a:solidFill>
                  <a:srgbClr val="000000"/>
                </a:solidFill>
                <a:latin typeface="Liberation Sans" pitchFamily="18"/>
                <a:ea typeface="Droid Sans Fallback" pitchFamily="2"/>
                <a:cs typeface="FreeSans" pitchFamily="2"/>
              </a:rPr>
              <a:t> – SN does not require system as a whole to be rebooted when the update process completes.</a:t>
            </a:r>
          </a:p>
          <a:p>
            <a:pPr marL="0" marR="0" lvl="0" indent="0" algn="just" rtl="0" hangingPunct="0">
              <a:lnSpc>
                <a:spcPct val="150000"/>
              </a:lnSpc>
              <a:spcBef>
                <a:spcPts val="1191"/>
              </a:spcBef>
              <a:spcAft>
                <a:spcPts val="992"/>
              </a:spcAft>
              <a:buSzPct val="45000"/>
              <a:buFont typeface="StarSymbol"/>
              <a:buChar char="➢"/>
              <a:tabLst/>
            </a:pPr>
            <a:r>
              <a:rPr lang="en-IN" sz="2000" b="1" i="0" u="none" strike="noStrike" kern="1200" cap="none">
                <a:ln>
                  <a:noFill/>
                </a:ln>
                <a:solidFill>
                  <a:srgbClr val="000000"/>
                </a:solidFill>
                <a:latin typeface="Liberation Sans" pitchFamily="18"/>
                <a:ea typeface="Droid Sans Fallback" pitchFamily="2"/>
                <a:cs typeface="FreeSans" pitchFamily="2"/>
              </a:rPr>
              <a:t>Self-healing capabilities</a:t>
            </a:r>
            <a:r>
              <a:rPr lang="en-IN" sz="2000" b="0" i="0" u="none" strike="noStrike" kern="1200" cap="none">
                <a:ln>
                  <a:noFill/>
                </a:ln>
                <a:solidFill>
                  <a:srgbClr val="000000"/>
                </a:solidFill>
                <a:latin typeface="Liberation Sans" pitchFamily="18"/>
                <a:ea typeface="Droid Sans Fallback" pitchFamily="2"/>
                <a:cs typeface="FreeSans" pitchFamily="2"/>
              </a:rPr>
              <a:t> – allows a database to be repaired while still processing transactions</a:t>
            </a:r>
          </a:p>
          <a:p>
            <a:pPr marL="0" marR="0" lvl="0" indent="0" algn="just" rtl="0" hangingPunct="0">
              <a:lnSpc>
                <a:spcPct val="100000"/>
              </a:lnSpc>
              <a:spcBef>
                <a:spcPts val="1191"/>
              </a:spcBef>
              <a:spcAft>
                <a:spcPts val="992"/>
              </a:spcAft>
              <a:buNone/>
              <a:tabLst/>
            </a:pPr>
            <a:endParaRPr lang="en-IN" sz="2000" b="1" i="0" u="none" strike="noStrike" kern="1200" cap="none">
              <a:ln>
                <a:noFill/>
              </a:ln>
              <a:solidFill>
                <a:srgbClr val="000000"/>
              </a:solidFill>
              <a:latin typeface="Liberation Sans" pitchFamily="18"/>
              <a:ea typeface="Droid Sans Fallback" pitchFamily="2"/>
              <a:cs typeface="FreeSans" pitchFamily="2"/>
            </a:endParaRPr>
          </a:p>
        </p:txBody>
      </p:sp>
      <p:sp>
        <p:nvSpPr>
          <p:cNvPr id="4" name="TextBox 3"/>
          <p:cNvSpPr txBox="1"/>
          <p:nvPr/>
        </p:nvSpPr>
        <p:spPr>
          <a:xfrm>
            <a:off x="360000" y="5328000"/>
            <a:ext cx="9288000" cy="18000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004586"/>
                </a:solidFill>
                <a:latin typeface="Liberation Sans" pitchFamily="18"/>
                <a:ea typeface="Droid Sans Fallback" pitchFamily="2"/>
                <a:cs typeface="FreeSans" pitchFamily="2"/>
              </a:rPr>
              <a:t>Disadvantages</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000" b="0" i="0" u="none" strike="noStrike" kern="1200" cap="none">
                <a:ln>
                  <a:noFill/>
                </a:ln>
                <a:solidFill>
                  <a:srgbClr val="000000"/>
                </a:solidFill>
                <a:latin typeface="Liberation Sans" pitchFamily="18"/>
                <a:ea typeface="Droid Sans Fallback" pitchFamily="2"/>
                <a:cs typeface="FreeSans" pitchFamily="2"/>
              </a:rPr>
              <a:t>Hard to program</a:t>
            </a:r>
          </a:p>
          <a:p>
            <a:pPr marL="0" marR="0" lvl="0" indent="0" algn="just" rtl="0" hangingPunct="0">
              <a:lnSpc>
                <a:spcPct val="150000"/>
              </a:lnSpc>
              <a:spcBef>
                <a:spcPts val="1191"/>
              </a:spcBef>
              <a:spcAft>
                <a:spcPts val="992"/>
              </a:spcAft>
              <a:buClr>
                <a:srgbClr val="000000"/>
              </a:buClr>
              <a:buSzPct val="45000"/>
              <a:buFont typeface="StarSymbol"/>
              <a:buChar char="➢"/>
              <a:tabLst/>
            </a:pPr>
            <a:r>
              <a:rPr lang="en-IN" sz="2000" b="0" i="0" u="none" strike="noStrike" kern="1200" cap="none">
                <a:ln>
                  <a:noFill/>
                </a:ln>
                <a:solidFill>
                  <a:srgbClr val="000000"/>
                </a:solidFill>
                <a:latin typeface="Liberation Sans" pitchFamily="18"/>
                <a:ea typeface="Droid Sans Fallback" pitchFamily="2"/>
                <a:cs typeface="FreeSans" pitchFamily="2"/>
              </a:rPr>
              <a:t>Addition of new nodes requires reorganizing</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page28">
    <p:spTree>
      <p:nvGrpSpPr>
        <p:cNvPr id="1" name=""/>
        <p:cNvGrpSpPr/>
        <p:nvPr/>
      </p:nvGrpSpPr>
      <p:grpSpPr>
        <a:xfrm>
          <a:off x="0" y="0"/>
          <a:ext cx="0" cy="0"/>
          <a:chOff x="0" y="0"/>
          <a:chExt cx="0" cy="0"/>
        </a:xfrm>
      </p:grpSpPr>
      <p:sp>
        <p:nvSpPr>
          <p:cNvPr id="2" name="TextBox 1"/>
          <p:cNvSpPr txBox="1"/>
          <p:nvPr/>
        </p:nvSpPr>
        <p:spPr>
          <a:xfrm>
            <a:off x="144000" y="72000"/>
            <a:ext cx="9792000" cy="7351560"/>
          </a:xfrm>
          <a:prstGeom prst="rect">
            <a:avLst/>
          </a:prstGeom>
          <a:noFill/>
          <a:ln>
            <a:noFill/>
          </a:ln>
        </p:spPr>
        <p:txBody>
          <a:bodyPr vert="horz" wrap="none" lIns="90000" tIns="45000" rIns="90000" bIns="45000" anchorCtr="0" compatLnSpc="0"/>
          <a:lstStyle/>
          <a:p>
            <a:pPr marL="0" marR="0" lvl="0" indent="0" rtl="0" hangingPunct="0">
              <a:lnSpc>
                <a:spcPct val="150000"/>
              </a:lnSpc>
              <a:spcBef>
                <a:spcPts val="1191"/>
              </a:spcBef>
              <a:spcAft>
                <a:spcPts val="992"/>
              </a:spcAft>
              <a:buNone/>
              <a:tabLst/>
            </a:pPr>
            <a:r>
              <a:rPr lang="en-IN" sz="2200" b="1" i="0" u="none" strike="noStrike" kern="1200" cap="none">
                <a:ln>
                  <a:noFill/>
                </a:ln>
                <a:solidFill>
                  <a:srgbClr val="DD4814"/>
                </a:solidFill>
                <a:latin typeface="Liberation Sans" pitchFamily="18"/>
                <a:ea typeface="Droid Sans Fallback" pitchFamily="2"/>
                <a:cs typeface="FreeSans" pitchFamily="2"/>
              </a:rPr>
              <a:t>7. CAP Theorem: I</a:t>
            </a:r>
            <a:r>
              <a:rPr lang="en-IN" sz="2200" b="0" i="0" u="none" strike="noStrike" kern="1200" cap="none">
                <a:ln>
                  <a:noFill/>
                </a:ln>
                <a:solidFill>
                  <a:srgbClr val="111111"/>
                </a:solidFill>
                <a:latin typeface="Liberation Sans" pitchFamily="18"/>
                <a:ea typeface="Droid Sans Fallback" pitchFamily="2"/>
                <a:cs typeface="FreeSans" pitchFamily="2"/>
              </a:rPr>
              <a:t>n the world of distributed systems, where data needs to be stored and accessed across multiple servers or nodes, ensuring the system’s reliability, performance, and consistency can be quite challenging. To address these challenges, computer scientist Eric Brewer introduced the CAP theorem,</a:t>
            </a:r>
          </a:p>
          <a:p>
            <a:pPr marL="0" marR="0" lvl="0" indent="0" algn="just" rtl="0" hangingPunct="0">
              <a:lnSpc>
                <a:spcPct val="150000"/>
              </a:lnSpc>
              <a:spcBef>
                <a:spcPts val="1191"/>
              </a:spcBef>
              <a:spcAft>
                <a:spcPts val="992"/>
              </a:spcAft>
              <a:buNone/>
              <a:tabLst/>
            </a:pPr>
            <a:endParaRPr lang="en-IN" sz="20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1191"/>
              </a:spcBef>
              <a:spcAft>
                <a:spcPts val="992"/>
              </a:spcAft>
              <a:buNone/>
              <a:tabLst/>
            </a:pPr>
            <a:endParaRPr lang="en-IN" sz="2000" b="0" i="0" u="none" strike="noStrike" kern="1200" cap="none">
              <a:ln>
                <a:noFill/>
              </a:ln>
              <a:solidFill>
                <a:srgbClr val="000000"/>
              </a:solidFill>
              <a:latin typeface="Liberation Sans" pitchFamily="18"/>
              <a:ea typeface="Droid Sans Fallback" pitchFamily="2"/>
              <a:cs typeface="FreeSans" pitchFamily="2"/>
            </a:endParaRPr>
          </a:p>
        </p:txBody>
      </p:sp>
      <p:pic>
        <p:nvPicPr>
          <p:cNvPr id="3"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1060200" y="2376000"/>
            <a:ext cx="6283799" cy="5040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sp>
        <p:nvSpPr>
          <p:cNvPr id="2" name="TextBox 1"/>
          <p:cNvSpPr txBox="1"/>
          <p:nvPr/>
        </p:nvSpPr>
        <p:spPr>
          <a:xfrm>
            <a:off x="144000" y="72000"/>
            <a:ext cx="9792000" cy="735156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2200" b="1" i="0" u="none" strike="noStrike" kern="1200" cap="none">
                <a:ln>
                  <a:noFill/>
                </a:ln>
                <a:solidFill>
                  <a:srgbClr val="DD4814"/>
                </a:solidFill>
                <a:latin typeface="Liberation Sans" pitchFamily="18"/>
                <a:ea typeface="Droid Sans Fallback" pitchFamily="2"/>
                <a:cs typeface="FreeSans" pitchFamily="2"/>
              </a:rPr>
              <a:t>7. CAP Theorem</a:t>
            </a:r>
          </a:p>
          <a:p>
            <a:pPr marL="0" marR="0" lvl="0" indent="0" algn="just" rtl="0" hangingPunct="0">
              <a:lnSpc>
                <a:spcPct val="150000"/>
              </a:lnSpc>
              <a:spcBef>
                <a:spcPts val="1191"/>
              </a:spcBef>
              <a:spcAft>
                <a:spcPts val="992"/>
              </a:spcAft>
              <a:buNone/>
              <a:tabLst/>
            </a:pPr>
            <a:r>
              <a:rPr lang="en-IN" sz="2000" b="0" i="0" u="none" strike="noStrike" kern="1200" cap="none">
                <a:ln>
                  <a:noFill/>
                </a:ln>
                <a:solidFill>
                  <a:srgbClr val="000000"/>
                </a:solidFill>
                <a:latin typeface="Liberation Sans" pitchFamily="18"/>
                <a:ea typeface="Droid Sans Fallback" pitchFamily="2"/>
                <a:cs typeface="FreeSans" pitchFamily="2"/>
              </a:rPr>
              <a:t>It is also called as </a:t>
            </a:r>
            <a:r>
              <a:rPr lang="en-IN" sz="2000" b="1" i="1" u="none" strike="noStrike" kern="1200" cap="none">
                <a:ln>
                  <a:noFill/>
                </a:ln>
                <a:solidFill>
                  <a:srgbClr val="000000"/>
                </a:solidFill>
                <a:latin typeface="Liberation Sans" pitchFamily="18"/>
                <a:ea typeface="Droid Sans Fallback" pitchFamily="2"/>
                <a:cs typeface="FreeSans" pitchFamily="2"/>
              </a:rPr>
              <a:t>Brewer's Theorem</a:t>
            </a:r>
            <a:r>
              <a:rPr lang="en-IN" sz="2000" b="0" i="0" u="none" strike="noStrike" kern="1200" cap="none">
                <a:ln>
                  <a:noFill/>
                </a:ln>
                <a:solidFill>
                  <a:srgbClr val="000000"/>
                </a:solidFill>
                <a:latin typeface="Liberation Sans" pitchFamily="18"/>
                <a:ea typeface="Droid Sans Fallback" pitchFamily="2"/>
                <a:cs typeface="FreeSans" pitchFamily="2"/>
              </a:rPr>
              <a:t> or  </a:t>
            </a:r>
            <a:r>
              <a:rPr lang="en-IN" sz="2000" b="1" i="1" u="none" strike="noStrike" kern="1200" cap="none">
                <a:ln>
                  <a:noFill/>
                </a:ln>
                <a:solidFill>
                  <a:srgbClr val="000000"/>
                </a:solidFill>
                <a:latin typeface="Liberation Sans" pitchFamily="18"/>
                <a:ea typeface="Droid Sans Fallback" pitchFamily="2"/>
                <a:cs typeface="FreeSans" pitchFamily="2"/>
              </a:rPr>
              <a:t>two out of three theorem</a:t>
            </a:r>
            <a:r>
              <a:rPr lang="en-IN" sz="2000" b="0" i="0" u="none" strike="noStrike" kern="1200" cap="none">
                <a:ln>
                  <a:noFill/>
                </a:ln>
                <a:solidFill>
                  <a:srgbClr val="000000"/>
                </a:solidFill>
                <a:latin typeface="Liberation Sans" pitchFamily="18"/>
                <a:ea typeface="Droid Sans Fallback" pitchFamily="2"/>
                <a:cs typeface="FreeSans" pitchFamily="2"/>
              </a:rPr>
              <a:t>.</a:t>
            </a:r>
          </a:p>
          <a:p>
            <a:pPr marL="0" marR="0" lvl="0" indent="0" algn="just" rtl="0" hangingPunct="0">
              <a:lnSpc>
                <a:spcPct val="150000"/>
              </a:lnSpc>
              <a:spcBef>
                <a:spcPts val="1191"/>
              </a:spcBef>
              <a:spcAft>
                <a:spcPts val="992"/>
              </a:spcAft>
              <a:buNone/>
              <a:tabLst/>
            </a:pPr>
            <a:r>
              <a:rPr lang="en-IN" sz="2000" b="1" i="1" u="none" strike="noStrike" kern="1200" cap="none">
                <a:ln>
                  <a:noFill/>
                </a:ln>
                <a:solidFill>
                  <a:srgbClr val="000000"/>
                </a:solidFill>
                <a:latin typeface="Liberation Sans" pitchFamily="18"/>
                <a:ea typeface="Droid Sans Fallback" pitchFamily="2"/>
                <a:cs typeface="FreeSans" pitchFamily="2"/>
              </a:rPr>
              <a:t>“ It states that in a distributed computing environment, it is impossible to provide the following guanrantees. At the best you can have two of the following three – one must be sacrified.”</a:t>
            </a:r>
          </a:p>
          <a:p>
            <a:pPr marL="0" marR="0" lvl="0" indent="0" algn="just" rtl="0" hangingPunct="0">
              <a:lnSpc>
                <a:spcPct val="150000"/>
              </a:lnSpc>
              <a:spcBef>
                <a:spcPts val="1191"/>
              </a:spcBef>
              <a:spcAft>
                <a:spcPts val="992"/>
              </a:spcAft>
              <a:buNone/>
              <a:tabLst/>
            </a:pPr>
            <a:r>
              <a:rPr lang="en-IN" sz="2000" b="0" i="0" u="none" strike="noStrike" kern="1200" cap="none">
                <a:ln>
                  <a:noFill/>
                </a:ln>
                <a:solidFill>
                  <a:srgbClr val="000000"/>
                </a:solidFill>
                <a:latin typeface="Liberation Sans" pitchFamily="18"/>
                <a:ea typeface="Droid Sans Fallback" pitchFamily="2"/>
                <a:cs typeface="FreeSans" pitchFamily="2"/>
              </a:rPr>
              <a:t>1. Consistency</a:t>
            </a:r>
          </a:p>
          <a:p>
            <a:pPr marL="0" marR="0" lvl="0" indent="0" algn="just" rtl="0" hangingPunct="0">
              <a:lnSpc>
                <a:spcPct val="150000"/>
              </a:lnSpc>
              <a:spcBef>
                <a:spcPts val="1191"/>
              </a:spcBef>
              <a:spcAft>
                <a:spcPts val="992"/>
              </a:spcAft>
              <a:buNone/>
              <a:tabLst/>
            </a:pPr>
            <a:r>
              <a:rPr lang="en-IN" sz="2000" b="0" i="0" u="none" strike="noStrike" kern="1200" cap="none">
                <a:ln>
                  <a:noFill/>
                </a:ln>
                <a:solidFill>
                  <a:srgbClr val="000000"/>
                </a:solidFill>
                <a:latin typeface="Liberation Sans" pitchFamily="18"/>
                <a:ea typeface="Droid Sans Fallback" pitchFamily="2"/>
                <a:cs typeface="FreeSans" pitchFamily="2"/>
              </a:rPr>
              <a:t>2. Availability</a:t>
            </a:r>
          </a:p>
          <a:p>
            <a:pPr marL="0" marR="0" lvl="0" indent="0" algn="just" rtl="0" hangingPunct="0">
              <a:lnSpc>
                <a:spcPct val="150000"/>
              </a:lnSpc>
              <a:spcBef>
                <a:spcPts val="1191"/>
              </a:spcBef>
              <a:spcAft>
                <a:spcPts val="992"/>
              </a:spcAft>
              <a:buNone/>
              <a:tabLst/>
            </a:pPr>
            <a:r>
              <a:rPr lang="en-IN" sz="2000" b="0" i="0" u="none" strike="noStrike" kern="1200" cap="none">
                <a:ln>
                  <a:noFill/>
                </a:ln>
                <a:solidFill>
                  <a:srgbClr val="000000"/>
                </a:solidFill>
                <a:latin typeface="Liberation Sans" pitchFamily="18"/>
                <a:ea typeface="Droid Sans Fallback" pitchFamily="2"/>
                <a:cs typeface="FreeSans" pitchFamily="2"/>
              </a:rPr>
              <a:t>3. Partition Tolerance</a:t>
            </a:r>
          </a:p>
          <a:p>
            <a:pPr marL="0" marR="0" lvl="0" indent="0" algn="just" rtl="0" hangingPunct="0">
              <a:lnSpc>
                <a:spcPct val="150000"/>
              </a:lnSpc>
              <a:spcBef>
                <a:spcPts val="1191"/>
              </a:spcBef>
              <a:spcAft>
                <a:spcPts val="992"/>
              </a:spcAft>
              <a:buNone/>
              <a:tabLst/>
            </a:pPr>
            <a:endParaRPr lang="en-IN" sz="20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1191"/>
              </a:spcBef>
              <a:spcAft>
                <a:spcPts val="992"/>
              </a:spcAft>
              <a:buNone/>
              <a:tabLst/>
            </a:pPr>
            <a:r>
              <a:rPr lang="en-IN" sz="2000" b="1" i="0" u="none" strike="noStrike" kern="1200" cap="none">
                <a:ln>
                  <a:noFill/>
                </a:ln>
                <a:solidFill>
                  <a:srgbClr val="000000"/>
                </a:solidFill>
                <a:latin typeface="Liberation Sans" pitchFamily="18"/>
                <a:ea typeface="Droid Sans Fallback" pitchFamily="2"/>
                <a:cs typeface="FreeSans" pitchFamily="2"/>
              </a:rPr>
              <a:t>Example:  Updating a status in a Facebook.</a:t>
            </a:r>
          </a:p>
          <a:p>
            <a:pPr marL="0" marR="0" lvl="0" indent="0" algn="just" rtl="0" hangingPunct="0">
              <a:lnSpc>
                <a:spcPct val="150000"/>
              </a:lnSpc>
              <a:spcBef>
                <a:spcPts val="1191"/>
              </a:spcBef>
              <a:spcAft>
                <a:spcPts val="992"/>
              </a:spcAft>
              <a:buNone/>
              <a:tabLst/>
            </a:pPr>
            <a:r>
              <a:rPr lang="en-IN" sz="2000" b="0" i="0" u="none" strike="noStrike" kern="1200" cap="none">
                <a:ln>
                  <a:noFill/>
                </a:ln>
                <a:solidFill>
                  <a:srgbClr val="000000"/>
                </a:solidFill>
                <a:latin typeface="Liberation Sans" pitchFamily="18"/>
                <a:ea typeface="Droid Sans Fallback" pitchFamily="2"/>
                <a:cs typeface="FreeSans" pitchFamily="2"/>
              </a:rPr>
              <a:t>We do not want any type of consistency and also we do not want that our whole servers are available because it may be happens that it is available to some people and later on it may be show to other people also.</a:t>
            </a:r>
          </a:p>
          <a:p>
            <a:pPr marL="0" marR="0" lvl="0" indent="0" algn="just" rtl="0" hangingPunct="0">
              <a:lnSpc>
                <a:spcPct val="150000"/>
              </a:lnSpc>
              <a:spcBef>
                <a:spcPts val="1191"/>
              </a:spcBef>
              <a:spcAft>
                <a:spcPts val="992"/>
              </a:spcAft>
              <a:buNone/>
              <a:tabLst/>
            </a:pPr>
            <a:endParaRPr lang="en-IN" sz="2000" b="0" i="0" u="none" strike="noStrike" kern="1200" cap="none">
              <a:ln>
                <a:noFill/>
              </a:ln>
              <a:solidFill>
                <a:srgbClr val="000000"/>
              </a:solidFill>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page30">
    <p:spTree>
      <p:nvGrpSpPr>
        <p:cNvPr id="1" name=""/>
        <p:cNvGrpSpPr/>
        <p:nvPr/>
      </p:nvGrpSpPr>
      <p:grpSpPr>
        <a:xfrm>
          <a:off x="0" y="0"/>
          <a:ext cx="0" cy="0"/>
          <a:chOff x="0" y="0"/>
          <a:chExt cx="0" cy="0"/>
        </a:xfrm>
      </p:grpSpPr>
      <p:sp>
        <p:nvSpPr>
          <p:cNvPr id="2" name="TextBox 1"/>
          <p:cNvSpPr txBox="1"/>
          <p:nvPr/>
        </p:nvSpPr>
        <p:spPr>
          <a:xfrm>
            <a:off x="144000" y="216000"/>
            <a:ext cx="9792000" cy="7388999"/>
          </a:xfrm>
          <a:prstGeom prst="rect">
            <a:avLst/>
          </a:prstGeom>
          <a:noFill/>
          <a:ln>
            <a:noFill/>
          </a:ln>
        </p:spPr>
        <p:txBody>
          <a:bodyPr vert="horz" wrap="none" lIns="90000" tIns="45000" rIns="90000" bIns="45000" anchorCtr="0" compatLnSpc="0"/>
          <a:lstStyle/>
          <a:p>
            <a:pPr marL="0" marR="0" lvl="0" indent="0" algn="just" rtl="0" hangingPunct="0">
              <a:lnSpc>
                <a:spcPct val="150000"/>
              </a:lnSpc>
              <a:spcBef>
                <a:spcPts val="1191"/>
              </a:spcBef>
              <a:spcAft>
                <a:spcPts val="992"/>
              </a:spcAft>
              <a:buNone/>
              <a:tabLst/>
            </a:pPr>
            <a:r>
              <a:rPr lang="en-IN" sz="2000" b="1" i="1" u="none" strike="noStrike" kern="1200" cap="none">
                <a:ln>
                  <a:noFill/>
                </a:ln>
                <a:latin typeface="Liberation Sans" pitchFamily="18"/>
                <a:ea typeface="Droid Sans Fallback" pitchFamily="2"/>
                <a:cs typeface="FreeSans" pitchFamily="2"/>
              </a:rPr>
              <a:t>Consistency</a:t>
            </a:r>
            <a:r>
              <a:rPr lang="en-IN" sz="2000" b="0" i="0" u="none" strike="noStrike" kern="1200" cap="none">
                <a:ln>
                  <a:noFill/>
                </a:ln>
                <a:latin typeface="Liberation Sans" pitchFamily="18"/>
                <a:ea typeface="Droid Sans Fallback" pitchFamily="2"/>
                <a:cs typeface="FreeSans" pitchFamily="2"/>
              </a:rPr>
              <a:t> –</a:t>
            </a:r>
          </a:p>
          <a:p>
            <a:pPr marL="0" marR="0" lvl="0" indent="0" algn="just" rtl="0" hangingPunct="0">
              <a:lnSpc>
                <a:spcPct val="150000"/>
              </a:lnSpc>
              <a:spcBef>
                <a:spcPts val="1191"/>
              </a:spcBef>
              <a:spcAft>
                <a:spcPts val="992"/>
              </a:spcAft>
              <a:buNone/>
              <a:tabLst/>
            </a:pPr>
            <a:r>
              <a:rPr lang="en-IN" sz="2000" b="0" i="0" u="none" strike="noStrike" kern="1200" cap="none">
                <a:ln>
                  <a:noFill/>
                </a:ln>
                <a:latin typeface="Liberation Sans" pitchFamily="18"/>
                <a:ea typeface="Droid Sans Fallback" pitchFamily="2"/>
                <a:cs typeface="FreeSans" pitchFamily="2"/>
              </a:rPr>
              <a:t>This means that the data in the database remains consistent after the execution of an operation. For example after an update operation all clients see the same data.</a:t>
            </a:r>
          </a:p>
          <a:p>
            <a:pPr marL="0" marR="0" lvl="0" indent="0" algn="just" rtl="0" hangingPunct="0">
              <a:lnSpc>
                <a:spcPct val="150000"/>
              </a:lnSpc>
              <a:spcBef>
                <a:spcPts val="1191"/>
              </a:spcBef>
              <a:spcAft>
                <a:spcPts val="992"/>
              </a:spcAft>
              <a:buNone/>
              <a:tabLst/>
            </a:pPr>
            <a:r>
              <a:rPr lang="en-IN" sz="2000" b="1" i="1" u="none" strike="noStrike" kern="1200" cap="none">
                <a:ln>
                  <a:noFill/>
                </a:ln>
                <a:latin typeface="Liberation Sans" pitchFamily="18"/>
                <a:ea typeface="Droid Sans Fallback" pitchFamily="2"/>
                <a:cs typeface="FreeSans" pitchFamily="2"/>
              </a:rPr>
              <a:t>Availability</a:t>
            </a:r>
            <a:r>
              <a:rPr lang="en-IN" sz="2000" b="0" i="0" u="none" strike="noStrike" kern="1200" cap="none">
                <a:ln>
                  <a:noFill/>
                </a:ln>
                <a:latin typeface="Liberation Sans" pitchFamily="18"/>
                <a:ea typeface="Droid Sans Fallback" pitchFamily="2"/>
                <a:cs typeface="FreeSans" pitchFamily="2"/>
              </a:rPr>
              <a:t> – This means that the system is always on (service guarantee availability), no downtime.</a:t>
            </a:r>
          </a:p>
          <a:p>
            <a:pPr marL="0" marR="0" lvl="0" indent="0" algn="just" rtl="0" hangingPunct="0">
              <a:lnSpc>
                <a:spcPct val="150000"/>
              </a:lnSpc>
              <a:spcBef>
                <a:spcPts val="1191"/>
              </a:spcBef>
              <a:spcAft>
                <a:spcPts val="992"/>
              </a:spcAft>
              <a:buNone/>
              <a:tabLst/>
            </a:pPr>
            <a:r>
              <a:rPr lang="en-IN" sz="2000" b="1" i="1" u="none" strike="noStrike" kern="1200" cap="none">
                <a:ln>
                  <a:noFill/>
                </a:ln>
                <a:latin typeface="Liberation Sans" pitchFamily="18"/>
                <a:ea typeface="Droid Sans Fallback" pitchFamily="2"/>
                <a:cs typeface="FreeSans" pitchFamily="2"/>
              </a:rPr>
              <a:t>Partition Tolerance</a:t>
            </a:r>
            <a:r>
              <a:rPr lang="en-IN" sz="2000" b="0" i="0" u="none" strike="noStrike" kern="1200" cap="none">
                <a:ln>
                  <a:noFill/>
                </a:ln>
                <a:latin typeface="Liberation Sans" pitchFamily="18"/>
                <a:ea typeface="Droid Sans Fallback" pitchFamily="2"/>
                <a:cs typeface="FreeSans" pitchFamily="2"/>
              </a:rPr>
              <a:t> – This means that the system continues to function even the communication among the servers is unreliable, i.e. the servers may be partitioned into multiple groups that cannot communicate with one another.</a:t>
            </a:r>
          </a:p>
          <a:p>
            <a:pPr marL="0" marR="0" lvl="0" indent="0" algn="just" rtl="0" hangingPunct="0">
              <a:lnSpc>
                <a:spcPct val="150000"/>
              </a:lnSpc>
              <a:spcBef>
                <a:spcPts val="1191"/>
              </a:spcBef>
              <a:spcAft>
                <a:spcPts val="992"/>
              </a:spcAft>
              <a:buNone/>
              <a:tabLst/>
            </a:pPr>
            <a:endParaRPr lang="en-IN" sz="2000" b="0" i="0" u="none" strike="noStrike" kern="1200" cap="none">
              <a:ln>
                <a:noFill/>
              </a:ln>
              <a:latin typeface="Liberation Sans" pitchFamily="18"/>
              <a:ea typeface="Droid Sans Fallback" pitchFamily="2"/>
              <a:cs typeface="FreeSans" pitchFamily="2"/>
            </a:endParaRP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Theoretically it is impossible to fulfill all 3 requirements.</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CAP provides the basic requirements for a distributed system to follow 2 of the 3 requirements.</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Therefore all the current NoSQL database follow the different combinations of the C, A, P from the CAP theorem.</a:t>
            </a:r>
          </a:p>
          <a:p>
            <a:pPr marL="0" marR="0" lvl="0" indent="0" algn="l" rtl="0" hangingPunct="0">
              <a:lnSpc>
                <a:spcPct val="100000"/>
              </a:lnSpc>
              <a:spcBef>
                <a:spcPts val="1191"/>
              </a:spcBef>
              <a:spcAft>
                <a:spcPts val="992"/>
              </a:spcAft>
              <a:buNone/>
              <a:tabLst/>
            </a:pPr>
            <a:endParaRPr lang="en-IN" sz="1000" b="0" i="0" u="none" strike="noStrike" kern="1200" cap="none">
              <a:ln>
                <a:noFill/>
              </a:ln>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page31">
    <p:spTree>
      <p:nvGrpSpPr>
        <p:cNvPr id="1" name=""/>
        <p:cNvGrpSpPr/>
        <p:nvPr/>
      </p:nvGrpSpPr>
      <p:grpSpPr>
        <a:xfrm>
          <a:off x="0" y="0"/>
          <a:ext cx="0" cy="0"/>
          <a:chOff x="0" y="0"/>
          <a:chExt cx="0" cy="0"/>
        </a:xfrm>
      </p:grpSpPr>
      <p:sp>
        <p:nvSpPr>
          <p:cNvPr id="2" name="TextBox 1"/>
          <p:cNvSpPr txBox="1"/>
          <p:nvPr/>
        </p:nvSpPr>
        <p:spPr>
          <a:xfrm>
            <a:off x="144000" y="144000"/>
            <a:ext cx="9792000" cy="7272000"/>
          </a:xfrm>
          <a:prstGeom prst="rect">
            <a:avLst/>
          </a:prstGeom>
          <a:noFill/>
          <a:ln>
            <a:noFill/>
          </a:ln>
        </p:spPr>
        <p:txBody>
          <a:bodyPr vert="horz" wrap="none" lIns="90000" tIns="45000" rIns="90000" bIns="45000" anchorCtr="0" compatLnSpc="0"/>
          <a:lstStyle/>
          <a:p>
            <a:pPr marL="0" marR="0" lvl="0" indent="0" algn="just" rtl="0" hangingPunct="0">
              <a:lnSpc>
                <a:spcPct val="150000"/>
              </a:lnSpc>
              <a:spcBef>
                <a:spcPts val="1191"/>
              </a:spcBef>
              <a:spcAft>
                <a:spcPts val="992"/>
              </a:spcAft>
              <a:buNone/>
              <a:tabLst/>
            </a:pPr>
            <a:r>
              <a:rPr lang="en-IN" sz="2000" b="0" i="0" u="none" strike="noStrike" kern="1200" cap="none">
                <a:ln>
                  <a:noFill/>
                </a:ln>
                <a:latin typeface="Liberation Sans" pitchFamily="18"/>
                <a:ea typeface="Droid Sans Fallback" pitchFamily="2"/>
                <a:cs typeface="FreeSans" pitchFamily="2"/>
              </a:rPr>
              <a:t>Here is the brief description of three combinations CA, CP, AP :</a:t>
            </a:r>
          </a:p>
          <a:p>
            <a:pPr marL="0" marR="0" lvl="0" indent="0" algn="just" rtl="0" hangingPunct="0">
              <a:lnSpc>
                <a:spcPct val="150000"/>
              </a:lnSpc>
              <a:spcBef>
                <a:spcPts val="1191"/>
              </a:spcBef>
              <a:spcAft>
                <a:spcPts val="992"/>
              </a:spcAft>
              <a:buNone/>
              <a:tabLst/>
            </a:pPr>
            <a:r>
              <a:rPr lang="en-IN" sz="2000" b="1" i="1" u="none" strike="noStrike" kern="1200" cap="none">
                <a:ln>
                  <a:noFill/>
                </a:ln>
                <a:latin typeface="Liberation Sans" pitchFamily="18"/>
                <a:ea typeface="Droid Sans Fallback" pitchFamily="2"/>
                <a:cs typeface="FreeSans" pitchFamily="2"/>
              </a:rPr>
              <a:t>CA –</a:t>
            </a:r>
            <a:r>
              <a:rPr lang="en-IN" sz="2000" b="0" i="0" u="none" strike="noStrike" kern="1200" cap="none">
                <a:ln>
                  <a:noFill/>
                </a:ln>
                <a:latin typeface="Liberation Sans" pitchFamily="18"/>
                <a:ea typeface="Droid Sans Fallback" pitchFamily="2"/>
                <a:cs typeface="FreeSans" pitchFamily="2"/>
              </a:rPr>
              <a:t> Single site cluster, therefore all nodes are always in contact. When a partition occurs, the system blocks.</a:t>
            </a:r>
          </a:p>
          <a:p>
            <a:pPr marL="0" marR="0" lvl="0" indent="0" algn="just" rtl="0" hangingPunct="0">
              <a:lnSpc>
                <a:spcPct val="150000"/>
              </a:lnSpc>
              <a:spcBef>
                <a:spcPts val="1191"/>
              </a:spcBef>
              <a:spcAft>
                <a:spcPts val="992"/>
              </a:spcAft>
              <a:buNone/>
              <a:tabLst/>
            </a:pPr>
            <a:r>
              <a:rPr lang="en-IN" sz="2000" b="1" i="1" u="none" strike="noStrike" kern="1200" cap="none">
                <a:ln>
                  <a:noFill/>
                </a:ln>
                <a:latin typeface="Liberation Sans" pitchFamily="18"/>
                <a:ea typeface="Droid Sans Fallback" pitchFamily="2"/>
                <a:cs typeface="FreeSans" pitchFamily="2"/>
              </a:rPr>
              <a:t>CP –</a:t>
            </a:r>
            <a:r>
              <a:rPr lang="en-IN" sz="2000" b="0" i="0" u="none" strike="noStrike" kern="1200" cap="none">
                <a:ln>
                  <a:noFill/>
                </a:ln>
                <a:latin typeface="Liberation Sans" pitchFamily="18"/>
                <a:ea typeface="Droid Sans Fallback" pitchFamily="2"/>
                <a:cs typeface="FreeSans" pitchFamily="2"/>
              </a:rPr>
              <a:t> Some data may not be accessible, but the rest is still consistent/accurate.</a:t>
            </a:r>
          </a:p>
          <a:p>
            <a:pPr marL="0" marR="0" lvl="0" indent="0" algn="just" rtl="0" hangingPunct="0">
              <a:lnSpc>
                <a:spcPct val="150000"/>
              </a:lnSpc>
              <a:spcBef>
                <a:spcPts val="1191"/>
              </a:spcBef>
              <a:spcAft>
                <a:spcPts val="992"/>
              </a:spcAft>
              <a:buNone/>
              <a:tabLst/>
            </a:pPr>
            <a:r>
              <a:rPr lang="en-IN" sz="2000" b="1" i="1" u="none" strike="noStrike" kern="1200" cap="none">
                <a:ln>
                  <a:noFill/>
                </a:ln>
                <a:latin typeface="Liberation Sans" pitchFamily="18"/>
                <a:ea typeface="Droid Sans Fallback" pitchFamily="2"/>
                <a:cs typeface="FreeSans" pitchFamily="2"/>
              </a:rPr>
              <a:t>AP –</a:t>
            </a:r>
            <a:r>
              <a:rPr lang="en-IN" sz="2000" b="0" i="0" u="none" strike="noStrike" kern="1200" cap="none">
                <a:ln>
                  <a:noFill/>
                </a:ln>
                <a:latin typeface="Liberation Sans" pitchFamily="18"/>
                <a:ea typeface="Droid Sans Fallback" pitchFamily="2"/>
                <a:cs typeface="FreeSans" pitchFamily="2"/>
              </a:rPr>
              <a:t> System is still available under partitioning, but some of the data returned may be inaccurate.</a:t>
            </a:r>
          </a:p>
          <a:p>
            <a:pPr marL="0" marR="0" lvl="0" indent="0" algn="l" rtl="0" hangingPunct="0">
              <a:lnSpc>
                <a:spcPct val="100000"/>
              </a:lnSpc>
              <a:spcBef>
                <a:spcPts val="1191"/>
              </a:spcBef>
              <a:spcAft>
                <a:spcPts val="992"/>
              </a:spcAft>
              <a:buNone/>
              <a:tabLst/>
            </a:pPr>
            <a:endParaRPr lang="en-IN" sz="1000" b="0" i="0" u="none" strike="noStrike" kern="1200" cap="none">
              <a:ln>
                <a:noFill/>
              </a:ln>
              <a:latin typeface="Liberation Sans" pitchFamily="18"/>
              <a:ea typeface="Droid Sans Fallback" pitchFamily="2"/>
              <a:cs typeface="FreeSans" pitchFamily="2"/>
            </a:endParaRPr>
          </a:p>
        </p:txBody>
      </p:sp>
      <p:pic>
        <p:nvPicPr>
          <p:cNvPr id="3"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4176000" y="2951999"/>
            <a:ext cx="5866920" cy="4428720"/>
          </a:xfrm>
          <a:prstGeom prst="rect">
            <a:avLst/>
          </a:prstGeom>
          <a:noFill/>
          <a:ln>
            <a:noFill/>
          </a:ln>
        </p:spPr>
      </p:pic>
      <p:pic>
        <p:nvPicPr>
          <p:cNvPr id="4" name="">
            <a:extLst>
              <a:ext uri="{FF2B5EF4-FFF2-40B4-BE49-F238E27FC236}">
                <a16:creationId xmlns:a16="http://schemas.microsoft.com/office/drawing/2014/main" id="{00000000-0000-0000-0000-000000000000}"/>
              </a:ext>
            </a:extLst>
          </p:cNvPr>
          <p:cNvPicPr>
            <a:picLocks noChangeAspect="1"/>
          </p:cNvPicPr>
          <p:nvPr/>
        </p:nvPicPr>
        <p:blipFill>
          <a:blip r:embed="rId4">
            <a:lum/>
            <a:alphaModFix/>
          </a:blip>
          <a:srcRect/>
          <a:stretch>
            <a:fillRect/>
          </a:stretch>
        </p:blipFill>
        <p:spPr>
          <a:xfrm>
            <a:off x="280800" y="3384000"/>
            <a:ext cx="3535200" cy="32976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page32">
    <p:spTree>
      <p:nvGrpSpPr>
        <p:cNvPr id="1" name=""/>
        <p:cNvGrpSpPr/>
        <p:nvPr/>
      </p:nvGrpSpPr>
      <p:grpSpPr>
        <a:xfrm>
          <a:off x="0" y="0"/>
          <a:ext cx="0" cy="0"/>
          <a:chOff x="0" y="0"/>
          <a:chExt cx="0" cy="0"/>
        </a:xfrm>
      </p:grpSpPr>
      <p:sp>
        <p:nvSpPr>
          <p:cNvPr id="2" name="TextBox 1"/>
          <p:cNvSpPr txBox="1"/>
          <p:nvPr/>
        </p:nvSpPr>
        <p:spPr>
          <a:xfrm>
            <a:off x="144000" y="144000"/>
            <a:ext cx="9864000" cy="7343999"/>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1191"/>
              </a:spcBef>
              <a:spcAft>
                <a:spcPts val="992"/>
              </a:spcAft>
              <a:buNone/>
              <a:tabLst/>
            </a:pPr>
            <a:r>
              <a:rPr lang="en-IN" sz="2400" b="1" i="0" u="none" strike="noStrike" kern="1200" cap="none">
                <a:ln>
                  <a:noFill/>
                </a:ln>
                <a:solidFill>
                  <a:srgbClr val="DD4814"/>
                </a:solidFill>
                <a:latin typeface="Liberation Sans" pitchFamily="18"/>
                <a:ea typeface="Droid Sans Fallback" pitchFamily="2"/>
                <a:cs typeface="FreeSans" pitchFamily="2"/>
              </a:rPr>
              <a:t>Summary of CAP Theorem with Case study</a:t>
            </a:r>
          </a:p>
          <a:p>
            <a:pPr marL="0" marR="0" lvl="0" indent="0" algn="just" rtl="0" hangingPunct="0">
              <a:lnSpc>
                <a:spcPct val="100000"/>
              </a:lnSpc>
              <a:spcBef>
                <a:spcPts val="1191"/>
              </a:spcBef>
              <a:spcAft>
                <a:spcPts val="992"/>
              </a:spcAft>
              <a:buNone/>
              <a:tabLst/>
            </a:pPr>
            <a:endParaRPr lang="en-IN" sz="20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00000"/>
              </a:lnSpc>
              <a:spcBef>
                <a:spcPts val="1191"/>
              </a:spcBef>
              <a:spcAft>
                <a:spcPts val="992"/>
              </a:spcAft>
              <a:buNone/>
              <a:tabLst/>
            </a:pPr>
            <a:r>
              <a:rPr lang="en-IN" sz="2000" b="0" i="0" u="none" strike="noStrike" kern="1200" cap="none">
                <a:ln>
                  <a:noFill/>
                </a:ln>
                <a:solidFill>
                  <a:srgbClr val="000000"/>
                </a:solidFill>
                <a:latin typeface="Liberation Sans" pitchFamily="18"/>
                <a:ea typeface="Droid Sans Fallback" pitchFamily="2"/>
                <a:cs typeface="FreeSans" pitchFamily="2"/>
              </a:rPr>
              <a:t>One can atmost go with two of the three.</a:t>
            </a:r>
          </a:p>
          <a:p>
            <a:pPr marL="0" marR="0" lvl="0" indent="0" algn="just" rtl="0" hangingPunct="0">
              <a:lnSpc>
                <a:spcPct val="100000"/>
              </a:lnSpc>
              <a:spcBef>
                <a:spcPts val="1191"/>
              </a:spcBef>
              <a:spcAft>
                <a:spcPts val="992"/>
              </a:spcAft>
              <a:buNone/>
              <a:tabLst/>
            </a:pPr>
            <a:r>
              <a:rPr lang="en-IN" sz="2000" b="1" i="0" u="none" strike="noStrike" kern="1200" cap="none">
                <a:ln>
                  <a:noFill/>
                </a:ln>
                <a:solidFill>
                  <a:srgbClr val="000000"/>
                </a:solidFill>
                <a:latin typeface="Liberation Sans" pitchFamily="18"/>
                <a:ea typeface="Droid Sans Fallback" pitchFamily="2"/>
                <a:cs typeface="FreeSans" pitchFamily="2"/>
              </a:rPr>
              <a:t>1. Consistency:</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solidFill>
                  <a:srgbClr val="000000"/>
                </a:solidFill>
                <a:latin typeface="Liberation Sans" pitchFamily="18"/>
                <a:ea typeface="Droid Sans Fallback" pitchFamily="2"/>
                <a:cs typeface="FreeSans" pitchFamily="2"/>
              </a:rPr>
              <a:t>The instructors or training coordinator, once they have updated information with you, will always get the updated information when they call subsequently.</a:t>
            </a:r>
          </a:p>
          <a:p>
            <a:pPr marL="0" marR="0" lvl="0" indent="0" algn="just" rtl="0" hangingPunct="0">
              <a:lnSpc>
                <a:spcPct val="150000"/>
              </a:lnSpc>
              <a:spcBef>
                <a:spcPts val="1191"/>
              </a:spcBef>
              <a:spcAft>
                <a:spcPts val="992"/>
              </a:spcAft>
              <a:buSzPct val="45000"/>
              <a:buFont typeface="StarSymbol"/>
              <a:buChar char="➔"/>
              <a:tabLst/>
            </a:pPr>
            <a:endParaRPr lang="en-IN" sz="20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00000"/>
              </a:lnSpc>
              <a:spcBef>
                <a:spcPts val="1191"/>
              </a:spcBef>
              <a:spcAft>
                <a:spcPts val="992"/>
              </a:spcAft>
              <a:buNone/>
              <a:tabLst/>
            </a:pPr>
            <a:r>
              <a:rPr lang="en-IN" sz="2000" b="1" i="0" u="none" strike="noStrike" kern="1200" cap="none">
                <a:ln>
                  <a:noFill/>
                </a:ln>
                <a:solidFill>
                  <a:srgbClr val="000000"/>
                </a:solidFill>
                <a:latin typeface="Liberation Sans" pitchFamily="18"/>
                <a:ea typeface="Droid Sans Fallback" pitchFamily="2"/>
                <a:cs typeface="FreeSans" pitchFamily="2"/>
              </a:rPr>
              <a:t>2. Availability</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solidFill>
                  <a:srgbClr val="000000"/>
                </a:solidFill>
                <a:latin typeface="Liberation Sans" pitchFamily="18"/>
                <a:ea typeface="Droid Sans Fallback" pitchFamily="2"/>
                <a:cs typeface="FreeSans" pitchFamily="2"/>
              </a:rPr>
              <a:t>The instructors or the training coordinators will always get the schedule if any or both of the office administrators have reported to work.</a:t>
            </a:r>
          </a:p>
          <a:p>
            <a:pPr marL="0" marR="0" lvl="0" indent="0" algn="just" rtl="0" hangingPunct="0">
              <a:lnSpc>
                <a:spcPct val="100000"/>
              </a:lnSpc>
              <a:spcBef>
                <a:spcPts val="1191"/>
              </a:spcBef>
              <a:spcAft>
                <a:spcPts val="992"/>
              </a:spcAft>
              <a:buNone/>
              <a:tabLst/>
            </a:pPr>
            <a:endParaRPr lang="en-IN" sz="20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00000"/>
              </a:lnSpc>
              <a:spcBef>
                <a:spcPts val="1191"/>
              </a:spcBef>
              <a:spcAft>
                <a:spcPts val="992"/>
              </a:spcAft>
              <a:buNone/>
              <a:tabLst/>
            </a:pPr>
            <a:r>
              <a:rPr lang="en-IN" sz="2000" b="1" i="0" u="none" strike="noStrike" kern="1200" cap="none">
                <a:ln>
                  <a:noFill/>
                </a:ln>
                <a:solidFill>
                  <a:srgbClr val="000000"/>
                </a:solidFill>
                <a:latin typeface="Liberation Sans" pitchFamily="18"/>
                <a:ea typeface="Droid Sans Fallback" pitchFamily="2"/>
                <a:cs typeface="FreeSans" pitchFamily="2"/>
              </a:rPr>
              <a:t>3. Partition Tolerance</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solidFill>
                  <a:srgbClr val="000000"/>
                </a:solidFill>
                <a:latin typeface="Liberation Sans" pitchFamily="18"/>
                <a:ea typeface="Droid Sans Fallback" pitchFamily="2"/>
                <a:cs typeface="FreeSans" pitchFamily="2"/>
              </a:rPr>
              <a:t>Work will go on as usual even if there is communication loss between the office administrators owing to a spat (past) or a tiff(quarrel)</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page33">
    <p:spTree>
      <p:nvGrpSpPr>
        <p:cNvPr id="1" name=""/>
        <p:cNvGrpSpPr/>
        <p:nvPr/>
      </p:nvGrpSpPr>
      <p:grpSpPr>
        <a:xfrm>
          <a:off x="0" y="0"/>
          <a:ext cx="0" cy="0"/>
          <a:chOff x="0" y="0"/>
          <a:chExt cx="0" cy="0"/>
        </a:xfrm>
      </p:grpSpPr>
      <p:sp>
        <p:nvSpPr>
          <p:cNvPr id="2" name="TextBox 1"/>
          <p:cNvSpPr txBox="1"/>
          <p:nvPr/>
        </p:nvSpPr>
        <p:spPr>
          <a:xfrm>
            <a:off x="144000" y="-72000"/>
            <a:ext cx="9864000" cy="7343999"/>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1191"/>
              </a:spcBef>
              <a:spcAft>
                <a:spcPts val="992"/>
              </a:spcAft>
              <a:buNone/>
              <a:tabLst/>
            </a:pPr>
            <a:r>
              <a:rPr lang="en-IN" sz="2400" b="1" i="0" u="none" strike="noStrike" kern="1200" cap="none">
                <a:ln>
                  <a:noFill/>
                </a:ln>
                <a:solidFill>
                  <a:srgbClr val="DD4814"/>
                </a:solidFill>
                <a:latin typeface="Liberation Sans" pitchFamily="18"/>
                <a:ea typeface="Droid Sans Fallback" pitchFamily="2"/>
                <a:cs typeface="FreeSans" pitchFamily="2"/>
              </a:rPr>
              <a:t>Summary of CAP Theorem with Case study</a:t>
            </a:r>
          </a:p>
          <a:p>
            <a:pPr marL="0" marR="0" lvl="0" indent="0" algn="just" rtl="0" hangingPunct="0">
              <a:lnSpc>
                <a:spcPct val="200000"/>
              </a:lnSpc>
              <a:spcBef>
                <a:spcPts val="1191"/>
              </a:spcBef>
              <a:spcAft>
                <a:spcPts val="992"/>
              </a:spcAft>
              <a:buNone/>
              <a:tabLst/>
            </a:pPr>
            <a:r>
              <a:rPr lang="en-IN" sz="2000" b="0" i="0" u="none" strike="noStrike" kern="1200" cap="none">
                <a:ln>
                  <a:noFill/>
                </a:ln>
                <a:solidFill>
                  <a:srgbClr val="000000"/>
                </a:solidFill>
                <a:latin typeface="Liberation Sans" pitchFamily="18"/>
                <a:ea typeface="Droid Sans Fallback" pitchFamily="2"/>
                <a:cs typeface="FreeSans" pitchFamily="2"/>
              </a:rPr>
              <a:t>Whether you’re building a social media app or a globally distributed database, understanding this trade-off is not optional. It’s essential.</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page34">
    <p:spTree>
      <p:nvGrpSpPr>
        <p:cNvPr id="1" name=""/>
        <p:cNvGrpSpPr/>
        <p:nvPr/>
      </p:nvGrpSpPr>
      <p:grpSpPr>
        <a:xfrm>
          <a:off x="0" y="0"/>
          <a:ext cx="0" cy="0"/>
          <a:chOff x="0" y="0"/>
          <a:chExt cx="0" cy="0"/>
        </a:xfrm>
      </p:grpSpPr>
      <p:sp>
        <p:nvSpPr>
          <p:cNvPr id="2" name="TextBox 1"/>
          <p:cNvSpPr txBox="1"/>
          <p:nvPr/>
        </p:nvSpPr>
        <p:spPr>
          <a:xfrm>
            <a:off x="72000" y="72000"/>
            <a:ext cx="10055160" cy="904068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1191"/>
              </a:spcBef>
              <a:spcAft>
                <a:spcPts val="992"/>
              </a:spcAft>
              <a:buNone/>
              <a:tabLst/>
            </a:pPr>
            <a:r>
              <a:rPr lang="en-IN" sz="2800" b="1" i="0" u="none" strike="noStrike" kern="1200" cap="none">
                <a:ln>
                  <a:noFill/>
                </a:ln>
                <a:latin typeface="Liberation Sans" pitchFamily="18"/>
                <a:ea typeface="Droid Sans Fallback" pitchFamily="2"/>
                <a:cs typeface="FreeSans" pitchFamily="2"/>
                <a:hlinkClick r:id="rId3"/>
              </a:rPr>
              <a:t>BASE PROPERTIES</a:t>
            </a:r>
            <a:r>
              <a:rPr lang="en-IN" sz="2800" b="1" i="0" u="none" strike="noStrike" kern="1200" cap="none">
                <a:ln>
                  <a:noFill/>
                </a:ln>
                <a:latin typeface="Liberation Sans" pitchFamily="18"/>
                <a:ea typeface="Droid Sans Fallback" pitchFamily="2"/>
                <a:cs typeface="FreeSans" pitchFamily="2"/>
              </a:rPr>
              <a:t> </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The BASE properties in database management systems are principles that guide the </a:t>
            </a:r>
            <a:r>
              <a:rPr lang="en-IN" sz="2000" b="1" i="0" u="none" strike="noStrike" kern="1200" cap="none">
                <a:ln>
                  <a:noFill/>
                </a:ln>
                <a:latin typeface="Liberation Sans" pitchFamily="18"/>
                <a:ea typeface="Droid Sans Fallback" pitchFamily="2"/>
                <a:cs typeface="FreeSans" pitchFamily="2"/>
              </a:rPr>
              <a:t>design and operation of modern databases.</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In computer science and database design, ACID models prioritize strict data </a:t>
            </a:r>
            <a:r>
              <a:rPr lang="en-IN" sz="2000" b="1" i="0" u="none" strike="noStrike" kern="1200" cap="none">
                <a:ln>
                  <a:noFill/>
                </a:ln>
                <a:latin typeface="Liberation Sans" pitchFamily="18"/>
                <a:ea typeface="Droid Sans Fallback" pitchFamily="2"/>
                <a:cs typeface="FreeSans" pitchFamily="2"/>
              </a:rPr>
              <a:t>consistency for systems like banking,</a:t>
            </a:r>
            <a:r>
              <a:rPr lang="en-IN" sz="2000" b="0" i="0" u="none" strike="noStrike" kern="1200" cap="none">
                <a:ln>
                  <a:noFill/>
                </a:ln>
                <a:latin typeface="Liberation Sans" pitchFamily="18"/>
                <a:ea typeface="Droid Sans Fallback" pitchFamily="2"/>
                <a:cs typeface="FreeSans" pitchFamily="2"/>
              </a:rPr>
              <a:t> while BASE models prioritize high </a:t>
            </a:r>
            <a:r>
              <a:rPr lang="en-IN" sz="2000" b="1" i="0" u="none" strike="noStrike" kern="1200" cap="none">
                <a:ln>
                  <a:noFill/>
                </a:ln>
                <a:latin typeface="Liberation Sans" pitchFamily="18"/>
                <a:ea typeface="Droid Sans Fallback" pitchFamily="2"/>
                <a:cs typeface="FreeSans" pitchFamily="2"/>
              </a:rPr>
              <a:t>availability and speed f</a:t>
            </a:r>
            <a:r>
              <a:rPr lang="en-IN" sz="2000" b="0" i="0" u="none" strike="noStrike" kern="1200" cap="none">
                <a:ln>
                  <a:noFill/>
                </a:ln>
                <a:latin typeface="Liberation Sans" pitchFamily="18"/>
                <a:ea typeface="Droid Sans Fallback" pitchFamily="2"/>
                <a:cs typeface="FreeSans" pitchFamily="2"/>
              </a:rPr>
              <a:t>or large distributed cloud apps</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Financial Systems: Banking ledgers and payment gateways where money transfer accuracy is critical</a:t>
            </a:r>
            <a:r>
              <a:rPr lang="en-IN" sz="2000" b="1" i="0" u="none" strike="noStrike" kern="1200" cap="none">
                <a:ln>
                  <a:noFill/>
                </a:ln>
                <a:latin typeface="Liberation Sans" pitchFamily="18"/>
                <a:ea typeface="Droid Sans Fallback" pitchFamily="2"/>
                <a:cs typeface="FreeSans" pitchFamily="2"/>
              </a:rPr>
              <a:t>.(ACID)</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Social Media Feeds: Platforms like Twitter or Facebook where a post taking a few extra seconds to appear globally is acceptable.</a:t>
            </a:r>
            <a:r>
              <a:rPr lang="en-IN" sz="2000" b="1" i="0" u="none" strike="noStrike" kern="1200" cap="none">
                <a:ln>
                  <a:noFill/>
                </a:ln>
                <a:latin typeface="Liberation Sans" pitchFamily="18"/>
                <a:ea typeface="Droid Sans Fallback" pitchFamily="2"/>
                <a:cs typeface="FreeSans" pitchFamily="2"/>
              </a:rPr>
              <a:t>(BASE)</a:t>
            </a:r>
          </a:p>
          <a:p>
            <a:pPr marL="0" marR="0" lvl="0" indent="0" algn="just" rtl="0" hangingPunct="0">
              <a:lnSpc>
                <a:spcPct val="150000"/>
              </a:lnSpc>
              <a:spcBef>
                <a:spcPts val="1191"/>
              </a:spcBef>
              <a:spcAft>
                <a:spcPts val="992"/>
              </a:spcAft>
              <a:buNone/>
              <a:tabLst/>
            </a:pPr>
            <a:r>
              <a:rPr lang="en-IN" sz="2000" b="0" i="0" u="none" strike="noStrike" kern="1200" cap="none">
                <a:ln>
                  <a:noFill/>
                </a:ln>
                <a:latin typeface="Liberation Sans" pitchFamily="18"/>
                <a:ea typeface="Droid Sans Fallback" pitchFamily="2"/>
                <a:cs typeface="FreeSans" pitchFamily="2"/>
              </a:rPr>
              <a:t>Modern apps (Twitter, Netflix) use BASE to handle millions of users without crashing – accepting temporary inconsistency for lightning speed.</a:t>
            </a:r>
          </a:p>
          <a:p>
            <a:pPr marL="0" marR="0" lvl="0" indent="0" algn="just" rtl="0" hangingPunct="0">
              <a:lnSpc>
                <a:spcPct val="150000"/>
              </a:lnSpc>
              <a:spcBef>
                <a:spcPts val="1191"/>
              </a:spcBef>
              <a:spcAft>
                <a:spcPts val="992"/>
              </a:spcAft>
              <a:buNone/>
              <a:tabLst/>
            </a:pPr>
            <a:r>
              <a:rPr lang="en-IN" sz="2000" b="1" i="0" u="none" strike="noStrike" kern="1200" cap="none">
                <a:ln>
                  <a:noFill/>
                </a:ln>
                <a:latin typeface="Liberation Sans" pitchFamily="18"/>
                <a:ea typeface="Droid Sans Fallback" pitchFamily="2"/>
                <a:cs typeface="FreeSans" pitchFamily="2"/>
              </a:rPr>
              <a:t>Example:</a:t>
            </a:r>
          </a:p>
          <a:p>
            <a:pPr marL="0" marR="0" lvl="0" indent="0" algn="just" rtl="0" hangingPunct="0">
              <a:lnSpc>
                <a:spcPct val="150000"/>
              </a:lnSpc>
              <a:spcBef>
                <a:spcPts val="1191"/>
              </a:spcBef>
              <a:spcAft>
                <a:spcPts val="992"/>
              </a:spcAft>
              <a:buNone/>
              <a:tabLst/>
            </a:pPr>
            <a:r>
              <a:rPr lang="en-IN" sz="2000" b="0" i="0" u="none" strike="noStrike" kern="1200" cap="none">
                <a:ln>
                  <a:noFill/>
                </a:ln>
                <a:latin typeface="Liberation Sans" pitchFamily="18"/>
                <a:ea typeface="Droid Sans Fallback" pitchFamily="2"/>
                <a:cs typeface="FreeSans" pitchFamily="2"/>
              </a:rPr>
              <a:t>In a shopping website like Amazon, product availability might not always be up-to-date. Even if a product is out of stock, users might still see it as available due to delays in synchronization.</a:t>
            </a:r>
          </a:p>
          <a:p>
            <a:pPr marL="0" marR="0" lvl="0" indent="0" algn="just" rtl="0" hangingPunct="0">
              <a:lnSpc>
                <a:spcPct val="150000"/>
              </a:lnSpc>
              <a:spcBef>
                <a:spcPts val="1191"/>
              </a:spcBef>
              <a:spcAft>
                <a:spcPts val="992"/>
              </a:spcAft>
              <a:buNone/>
              <a:tabLst/>
            </a:pPr>
            <a:endParaRPr lang="en-IN" sz="2000" b="0" i="0" u="none" strike="noStrike" kern="1200" cap="none">
              <a:ln>
                <a:noFill/>
              </a:ln>
              <a:latin typeface="Liberation Sans" pitchFamily="18"/>
              <a:ea typeface="Droid Sans Fallback" pitchFamily="2"/>
              <a:cs typeface="FreeSans" pitchFamily="2"/>
            </a:endParaRPr>
          </a:p>
          <a:p>
            <a:pPr marL="0" marR="0" lvl="0" indent="0" algn="just" rtl="0" hangingPunct="0">
              <a:lnSpc>
                <a:spcPct val="100000"/>
              </a:lnSpc>
              <a:spcBef>
                <a:spcPts val="1191"/>
              </a:spcBef>
              <a:spcAft>
                <a:spcPts val="992"/>
              </a:spcAft>
              <a:buNone/>
              <a:tabLst/>
            </a:pPr>
            <a:endParaRPr lang="en-IN" sz="2800" b="1" i="0" u="none" strike="noStrike" kern="1200" cap="none">
              <a:ln>
                <a:noFill/>
              </a:ln>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page35">
    <p:spTree>
      <p:nvGrpSpPr>
        <p:cNvPr id="1" name=""/>
        <p:cNvGrpSpPr/>
        <p:nvPr/>
      </p:nvGrpSpPr>
      <p:grpSpPr>
        <a:xfrm>
          <a:off x="0" y="0"/>
          <a:ext cx="0" cy="0"/>
          <a:chOff x="0" y="0"/>
          <a:chExt cx="0" cy="0"/>
        </a:xfrm>
      </p:grpSpPr>
      <p:sp>
        <p:nvSpPr>
          <p:cNvPr id="2" name="TextBox 1"/>
          <p:cNvSpPr txBox="1"/>
          <p:nvPr/>
        </p:nvSpPr>
        <p:spPr>
          <a:xfrm>
            <a:off x="72000" y="72000"/>
            <a:ext cx="10055160" cy="780444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1191"/>
              </a:spcBef>
              <a:spcAft>
                <a:spcPts val="992"/>
              </a:spcAft>
              <a:buNone/>
              <a:tabLst/>
            </a:pPr>
            <a:r>
              <a:rPr lang="en-IN" sz="2800" b="1" i="0" u="none" strike="noStrike" kern="1200" cap="none">
                <a:ln>
                  <a:noFill/>
                </a:ln>
                <a:latin typeface="Liberation Sans" pitchFamily="18"/>
                <a:ea typeface="Droid Sans Fallback" pitchFamily="2"/>
                <a:cs typeface="FreeSans" pitchFamily="2"/>
                <a:hlinkClick r:id="rId3"/>
              </a:rPr>
              <a:t>BASE PROPERTIES</a:t>
            </a:r>
            <a:r>
              <a:rPr lang="en-IN" sz="2800" b="1" i="0" u="none" strike="noStrike" kern="1200" cap="none">
                <a:ln>
                  <a:noFill/>
                </a:ln>
                <a:latin typeface="Liberation Sans" pitchFamily="18"/>
                <a:ea typeface="Droid Sans Fallback" pitchFamily="2"/>
                <a:cs typeface="FreeSans" pitchFamily="2"/>
              </a:rPr>
              <a:t> </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BASE stands for Basically Available, Soft state and Eventually consistent.</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 BASE properties  works in a manner that it may be eventually consistent having soft state when it is basically available.</a:t>
            </a:r>
          </a:p>
          <a:p>
            <a:pPr marL="0" marR="0" lvl="0" indent="0" algn="just" rtl="0" hangingPunct="0">
              <a:lnSpc>
                <a:spcPct val="150000"/>
              </a:lnSpc>
              <a:spcBef>
                <a:spcPts val="1191"/>
              </a:spcBef>
              <a:spcAft>
                <a:spcPts val="992"/>
              </a:spcAft>
              <a:buSzPct val="45000"/>
              <a:buFont typeface="StarSymbol"/>
              <a:buChar char="➢"/>
              <a:tabLst/>
            </a:pPr>
            <a:r>
              <a:rPr lang="en-IN" sz="2000" b="1" i="0" u="none" strike="noStrike" kern="1200" cap="none">
                <a:ln>
                  <a:noFill/>
                </a:ln>
                <a:latin typeface="Liberation Sans" pitchFamily="18"/>
                <a:ea typeface="Droid Sans Fallback" pitchFamily="2"/>
                <a:cs typeface="FreeSans" pitchFamily="2"/>
              </a:rPr>
              <a:t>Basically Available:</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When data is stored at one site, If that site is down, our data is totally unavailable but if our data is distributed to many sites, means some part of our data is at one site and some part of data is at other site. If one or two sites down our whole data is not unavailable.</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It may be that some part of data becomes unavailable for some short time.</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Our data is now partially available.  It leads to partially failure without any totally failure.</a:t>
            </a:r>
          </a:p>
          <a:p>
            <a:pPr marL="0" marR="0" lvl="0" indent="0" algn="just" rtl="0" hangingPunct="0">
              <a:lnSpc>
                <a:spcPct val="150000"/>
              </a:lnSpc>
              <a:spcBef>
                <a:spcPts val="1191"/>
              </a:spcBef>
              <a:spcAft>
                <a:spcPts val="992"/>
              </a:spcAft>
              <a:buNone/>
              <a:tabLst/>
            </a:pPr>
            <a:endParaRPr lang="en-IN" sz="2000" b="0" i="0" u="none" strike="noStrike" kern="1200" cap="none">
              <a:ln>
                <a:noFill/>
              </a:ln>
              <a:latin typeface="Liberation Sans" pitchFamily="18"/>
              <a:ea typeface="Droid Sans Fallback" pitchFamily="2"/>
              <a:cs typeface="FreeSans" pitchFamily="2"/>
            </a:endParaRPr>
          </a:p>
          <a:p>
            <a:pPr marL="0" marR="0" lvl="0" indent="0" algn="just" rtl="0" hangingPunct="0">
              <a:lnSpc>
                <a:spcPct val="150000"/>
              </a:lnSpc>
              <a:spcBef>
                <a:spcPts val="1191"/>
              </a:spcBef>
              <a:spcAft>
                <a:spcPts val="992"/>
              </a:spcAft>
              <a:buNone/>
              <a:tabLst/>
            </a:pPr>
            <a:endParaRPr lang="en-IN" sz="2000" b="0" i="0" u="none" strike="noStrike" kern="1200" cap="none">
              <a:ln>
                <a:noFill/>
              </a:ln>
              <a:latin typeface="Liberation Sans" pitchFamily="18"/>
              <a:ea typeface="Droid Sans Fallback" pitchFamily="2"/>
              <a:cs typeface="FreeSans" pitchFamily="2"/>
            </a:endParaRPr>
          </a:p>
          <a:p>
            <a:pPr marL="0" marR="0" lvl="0" indent="0" algn="just" rtl="0" hangingPunct="0">
              <a:lnSpc>
                <a:spcPct val="100000"/>
              </a:lnSpc>
              <a:spcBef>
                <a:spcPts val="1191"/>
              </a:spcBef>
              <a:spcAft>
                <a:spcPts val="992"/>
              </a:spcAft>
              <a:buNone/>
              <a:tabLst/>
            </a:pPr>
            <a:endParaRPr lang="en-IN" sz="2000" b="0" i="0" u="none" strike="noStrike" kern="1200" cap="none">
              <a:ln>
                <a:noFill/>
              </a:ln>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page36">
    <p:spTree>
      <p:nvGrpSpPr>
        <p:cNvPr id="1" name=""/>
        <p:cNvGrpSpPr/>
        <p:nvPr/>
      </p:nvGrpSpPr>
      <p:grpSpPr>
        <a:xfrm>
          <a:off x="0" y="0"/>
          <a:ext cx="0" cy="0"/>
          <a:chOff x="0" y="0"/>
          <a:chExt cx="0" cy="0"/>
        </a:xfrm>
      </p:grpSpPr>
      <p:sp>
        <p:nvSpPr>
          <p:cNvPr id="2" name="TextBox 1"/>
          <p:cNvSpPr txBox="1"/>
          <p:nvPr/>
        </p:nvSpPr>
        <p:spPr>
          <a:xfrm>
            <a:off x="144000" y="144000"/>
            <a:ext cx="9864000" cy="7343999"/>
          </a:xfrm>
          <a:prstGeom prst="rect">
            <a:avLst/>
          </a:prstGeom>
          <a:noFill/>
          <a:ln>
            <a:noFill/>
          </a:ln>
        </p:spPr>
        <p:txBody>
          <a:bodyPr vert="horz" wrap="none" lIns="90000" tIns="45000" rIns="90000" bIns="45000" anchorCtr="0" compatLnSpc="0"/>
          <a:lstStyle/>
          <a:p>
            <a:pPr marL="0" marR="0" lvl="0" indent="0" algn="just" rtl="0" hangingPunct="0">
              <a:lnSpc>
                <a:spcPct val="150000"/>
              </a:lnSpc>
              <a:spcBef>
                <a:spcPts val="1191"/>
              </a:spcBef>
              <a:spcAft>
                <a:spcPts val="992"/>
              </a:spcAft>
              <a:buNone/>
              <a:tabLst/>
            </a:pPr>
            <a:r>
              <a:rPr lang="en-IN" sz="2000" b="1" i="0" u="none" strike="noStrike" kern="1200" cap="none">
                <a:ln>
                  <a:noFill/>
                </a:ln>
                <a:latin typeface="Liberation Sans" pitchFamily="18"/>
                <a:ea typeface="Droid Sans Fallback" pitchFamily="2"/>
                <a:cs typeface="FreeSans" pitchFamily="2"/>
              </a:rPr>
              <a:t>Soft State:</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 BASE allows that our data may be inconsistent.</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It allows dynamic designing to application developers.</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In other words, soft state indicates that the </a:t>
            </a:r>
            <a:r>
              <a:rPr lang="en-IN" sz="2000" b="1" i="0" u="none" strike="noStrike" kern="1200" cap="none">
                <a:ln>
                  <a:noFill/>
                </a:ln>
                <a:solidFill>
                  <a:srgbClr val="C9211E"/>
                </a:solidFill>
                <a:latin typeface="Liberation Sans" pitchFamily="18"/>
                <a:ea typeface="Droid Sans Fallback" pitchFamily="2"/>
                <a:cs typeface="FreeSans" pitchFamily="2"/>
              </a:rPr>
              <a:t>state of the system may change over time, even without input. </a:t>
            </a:r>
          </a:p>
          <a:p>
            <a:pPr marL="0" marR="0" lvl="0" indent="0" algn="just" rtl="0" hangingPunct="0">
              <a:lnSpc>
                <a:spcPct val="150000"/>
              </a:lnSpc>
              <a:spcBef>
                <a:spcPts val="1191"/>
              </a:spcBef>
              <a:spcAft>
                <a:spcPts val="992"/>
              </a:spcAft>
              <a:buNone/>
              <a:tabLst/>
            </a:pPr>
            <a:r>
              <a:rPr lang="en-IN" sz="2000" b="1" i="0" u="none" strike="noStrike" kern="1200" cap="none">
                <a:ln>
                  <a:noFill/>
                </a:ln>
                <a:latin typeface="Liberation Sans" pitchFamily="18"/>
                <a:ea typeface="Droid Sans Fallback" pitchFamily="2"/>
                <a:cs typeface="FreeSans" pitchFamily="2"/>
              </a:rPr>
              <a:t>Eventually Consistent:</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consistency in the future, not immediately at the end of operation. </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Databases  guarantees consistency only at some undefined future time.</a:t>
            </a:r>
          </a:p>
          <a:p>
            <a:pPr marL="0" marR="0" lvl="0" indent="0" algn="just" rtl="0" hangingPunct="0">
              <a:lnSpc>
                <a:spcPct val="150000"/>
              </a:lnSpc>
              <a:spcBef>
                <a:spcPts val="1191"/>
              </a:spcBef>
              <a:spcAft>
                <a:spcPts val="992"/>
              </a:spcAft>
              <a:buSzPct val="45000"/>
              <a:buFont typeface="StarSymbol"/>
              <a:buChar char="➢"/>
              <a:tabLst/>
            </a:pPr>
            <a:r>
              <a:rPr lang="en-IN" sz="2000" b="0" i="0" u="none" strike="noStrike" kern="1200" cap="none">
                <a:ln>
                  <a:noFill/>
                </a:ln>
                <a:latin typeface="Liberation Sans" pitchFamily="18"/>
                <a:ea typeface="Droid Sans Fallback" pitchFamily="2"/>
                <a:cs typeface="FreeSans" pitchFamily="2"/>
              </a:rPr>
              <a:t>So eventually consistency means it is consistent after some time even at that time it </a:t>
            </a:r>
            <a:r>
              <a:rPr lang="en-IN" sz="2000" b="0" i="0" u="none" strike="noStrike" kern="1200" cap="none">
                <a:ln>
                  <a:noFill/>
                </a:ln>
                <a:solidFill>
                  <a:srgbClr val="C9211E"/>
                </a:solidFill>
                <a:latin typeface="Liberation Sans" pitchFamily="18"/>
                <a:ea typeface="Droid Sans Fallback" pitchFamily="2"/>
                <a:cs typeface="FreeSans" pitchFamily="2"/>
              </a:rPr>
              <a:t>is not guarantee of the consistency.</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page37">
    <p:spTree>
      <p:nvGrpSpPr>
        <p:cNvPr id="1" name=""/>
        <p:cNvGrpSpPr/>
        <p:nvPr/>
      </p:nvGrpSpPr>
      <p:grpSpPr>
        <a:xfrm>
          <a:off x="0" y="0"/>
          <a:ext cx="0" cy="0"/>
          <a:chOff x="0" y="0"/>
          <a:chExt cx="0" cy="0"/>
        </a:xfrm>
      </p:grpSpPr>
      <p:sp>
        <p:nvSpPr>
          <p:cNvPr id="2" name="TextBox 1"/>
          <p:cNvSpPr txBox="1"/>
          <p:nvPr/>
        </p:nvSpPr>
        <p:spPr>
          <a:xfrm>
            <a:off x="0" y="127440"/>
            <a:ext cx="10248479" cy="5451480"/>
          </a:xfrm>
          <a:prstGeom prst="rect">
            <a:avLst/>
          </a:prstGeom>
          <a:noFill/>
          <a:ln>
            <a:noFill/>
          </a:ln>
        </p:spPr>
        <p:txBody>
          <a:bodyPr vert="horz" wrap="none" lIns="90000" tIns="45000" rIns="90000" bIns="45000" anchorCtr="0" compatLnSpc="0"/>
          <a:lstStyle/>
          <a:p>
            <a:pPr marL="0" marR="0" lvl="0" indent="0" algn="l" rtl="0" hangingPunct="0">
              <a:lnSpc>
                <a:spcPct val="100000"/>
              </a:lnSpc>
              <a:spcBef>
                <a:spcPts val="1191"/>
              </a:spcBef>
              <a:spcAft>
                <a:spcPts val="992"/>
              </a:spcAft>
              <a:buNone/>
              <a:tabLst/>
            </a:pPr>
            <a:r>
              <a:rPr lang="en-IN" sz="2800" b="1" i="0" u="none" strike="noStrike" kern="1200" cap="none">
                <a:ln>
                  <a:noFill/>
                </a:ln>
                <a:latin typeface="Liberation Sans" pitchFamily="18"/>
                <a:ea typeface="Droid Sans Fallback" pitchFamily="2"/>
                <a:cs typeface="FreeSans" pitchFamily="2"/>
              </a:rPr>
              <a:t>In database systems, ACID — Atomicity, Consistency, Isolation, Durability </a:t>
            </a:r>
            <a:r>
              <a:rPr lang="en-IN" sz="2800" b="0" i="0" u="none" strike="noStrike" kern="1200" cap="none">
                <a:ln>
                  <a:noFill/>
                </a:ln>
                <a:latin typeface="Liberation Sans" pitchFamily="18"/>
                <a:ea typeface="Droid Sans Fallback" pitchFamily="2"/>
                <a:cs typeface="FreeSans" pitchFamily="2"/>
              </a:rPr>
              <a:t>— defines the core principles that ensure </a:t>
            </a:r>
            <a:r>
              <a:rPr lang="en-IN" sz="2800" b="1" i="0" u="none" strike="noStrike" kern="1200" cap="none">
                <a:ln>
                  <a:noFill/>
                </a:ln>
                <a:solidFill>
                  <a:srgbClr val="C9211E"/>
                </a:solidFill>
                <a:latin typeface="Liberation Sans" pitchFamily="18"/>
                <a:ea typeface="Droid Sans Fallback" pitchFamily="2"/>
                <a:cs typeface="FreeSans" pitchFamily="2"/>
              </a:rPr>
              <a:t>reliable transaction processing.</a:t>
            </a:r>
          </a:p>
          <a:p>
            <a:pPr marL="0" marR="0" lvl="0" indent="0" algn="l" rtl="0" hangingPunct="0">
              <a:lnSpc>
                <a:spcPct val="100000"/>
              </a:lnSpc>
              <a:spcBef>
                <a:spcPts val="1191"/>
              </a:spcBef>
              <a:spcAft>
                <a:spcPts val="992"/>
              </a:spcAft>
              <a:buNone/>
              <a:tabLst/>
            </a:pPr>
            <a:r>
              <a:rPr lang="en-IN" sz="2800" b="0" i="0" u="none" strike="noStrike" kern="1200" cap="none">
                <a:ln>
                  <a:noFill/>
                </a:ln>
                <a:latin typeface="Liberation Sans" pitchFamily="18"/>
                <a:ea typeface="Droid Sans Fallback" pitchFamily="2"/>
                <a:cs typeface="FreeSans" pitchFamily="2"/>
              </a:rPr>
              <a:t>These properties guarantee that </a:t>
            </a:r>
            <a:r>
              <a:rPr lang="en-IN" sz="2800" b="0" i="0" u="none" strike="noStrike" kern="1200" cap="none">
                <a:ln>
                  <a:noFill/>
                </a:ln>
                <a:solidFill>
                  <a:srgbClr val="C9211E"/>
                </a:solidFill>
                <a:latin typeface="Liberation Sans" pitchFamily="18"/>
                <a:ea typeface="Droid Sans Fallback" pitchFamily="2"/>
                <a:cs typeface="FreeSans" pitchFamily="2"/>
              </a:rPr>
              <a:t>even in the face of failures</a:t>
            </a:r>
            <a:r>
              <a:rPr lang="en-IN" sz="2800" b="0" i="0" u="none" strike="noStrike" kern="1200" cap="none">
                <a:ln>
                  <a:noFill/>
                </a:ln>
                <a:latin typeface="Liberation Sans" pitchFamily="18"/>
                <a:ea typeface="Droid Sans Fallback" pitchFamily="2"/>
                <a:cs typeface="FreeSans" pitchFamily="2"/>
              </a:rPr>
              <a:t>, the database remains accurate, consistent, and recoverable.</a:t>
            </a:r>
          </a:p>
          <a:p>
            <a:pPr marL="0" marR="0" lvl="0" indent="0" algn="l" rtl="0" hangingPunct="0">
              <a:lnSpc>
                <a:spcPct val="100000"/>
              </a:lnSpc>
              <a:spcBef>
                <a:spcPts val="1191"/>
              </a:spcBef>
              <a:spcAft>
                <a:spcPts val="992"/>
              </a:spcAft>
              <a:buNone/>
              <a:tabLst/>
            </a:pPr>
            <a:r>
              <a:rPr lang="en-IN" sz="2800" b="1" i="0" u="none" strike="noStrike" kern="1200" cap="none">
                <a:ln>
                  <a:noFill/>
                </a:ln>
                <a:latin typeface="Liberation Sans" pitchFamily="18"/>
                <a:ea typeface="Droid Sans Fallback" pitchFamily="2"/>
                <a:cs typeface="FreeSans" pitchFamily="2"/>
              </a:rPr>
              <a:t>Atomicity</a:t>
            </a:r>
            <a:r>
              <a:rPr lang="en-IN" sz="2800" b="0" i="0" u="none" strike="noStrike" kern="1200" cap="none">
                <a:ln>
                  <a:noFill/>
                </a:ln>
                <a:latin typeface="Liberation Sans" pitchFamily="18"/>
                <a:ea typeface="Droid Sans Fallback" pitchFamily="2"/>
                <a:cs typeface="FreeSans" pitchFamily="2"/>
              </a:rPr>
              <a:t> ensures a transaction is treated as a single unit — it either completes fully or not at all. If any step fails, all changes are rolled back. </a:t>
            </a:r>
          </a:p>
          <a:p>
            <a:pPr marL="0" marR="0" lvl="0" indent="0" algn="l" rtl="0" hangingPunct="0">
              <a:lnSpc>
                <a:spcPct val="100000"/>
              </a:lnSpc>
              <a:spcBef>
                <a:spcPts val="1191"/>
              </a:spcBef>
              <a:spcAft>
                <a:spcPts val="992"/>
              </a:spcAft>
              <a:buNone/>
              <a:tabLst/>
            </a:pPr>
            <a:r>
              <a:rPr lang="en-IN" sz="2800" b="1" i="0" u="none" strike="noStrike" kern="1200" cap="none">
                <a:ln>
                  <a:noFill/>
                </a:ln>
                <a:latin typeface="Liberation Sans" pitchFamily="18"/>
                <a:ea typeface="Droid Sans Fallback" pitchFamily="2"/>
                <a:cs typeface="FreeSans" pitchFamily="2"/>
              </a:rPr>
              <a:t>Example:</a:t>
            </a:r>
            <a:r>
              <a:rPr lang="en-IN" sz="2800" b="0" i="0" u="none" strike="noStrike" kern="1200" cap="none">
                <a:ln>
                  <a:noFill/>
                </a:ln>
                <a:latin typeface="Liberation Sans" pitchFamily="18"/>
                <a:ea typeface="Droid Sans Fallback" pitchFamily="2"/>
                <a:cs typeface="FreeSans" pitchFamily="2"/>
              </a:rPr>
              <a:t> In a bank transfer, debiting one account without crediting the other is prevented; both operations succeed or both are undone.</a:t>
            </a:r>
          </a:p>
          <a:p>
            <a:pPr marL="0" marR="0" lvl="0" indent="0" algn="l" rtl="0" hangingPunct="0">
              <a:lnSpc>
                <a:spcPct val="100000"/>
              </a:lnSpc>
              <a:spcBef>
                <a:spcPts val="1191"/>
              </a:spcBef>
              <a:spcAft>
                <a:spcPts val="992"/>
              </a:spcAft>
              <a:buNone/>
              <a:tabLst/>
            </a:pPr>
            <a:endParaRPr lang="en-IN" sz="2800" b="0" i="0" u="none" strike="noStrike" kern="1200" cap="none">
              <a:ln>
                <a:noFill/>
              </a:ln>
              <a:latin typeface="Liberation Sans" pitchFamily="18"/>
              <a:ea typeface="Droid Sans Fallback" pitchFamily="2"/>
              <a:cs typeface="FreeSans" pitchFamily="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evt="onBegin" delay="0">
                          <p:tn val="2"/>
                        </p:cond>
                      </p:stCondLst>
                      <p:childTnLst>
                        <p:par>
                          <p:cTn id="4" fill="hold">
                            <p:stCondLst>
                              <p:cond delay="0"/>
                            </p:stCondLst>
                            <p:childTnLst>
                              <p:par>
                                <p:cTn id="5" presetClass="entr" fill="hold"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Class="entr"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Class="entr"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page38">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432000" y="432000"/>
            <a:ext cx="9072000" cy="6408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page39">
    <p:spTree>
      <p:nvGrpSpPr>
        <p:cNvPr id="1" name=""/>
        <p:cNvGrpSpPr/>
        <p:nvPr/>
      </p:nvGrpSpPr>
      <p:grpSpPr>
        <a:xfrm>
          <a:off x="0" y="0"/>
          <a:ext cx="0" cy="0"/>
          <a:chOff x="0" y="0"/>
          <a:chExt cx="0" cy="0"/>
        </a:xfrm>
      </p:grpSpPr>
      <p:sp>
        <p:nvSpPr>
          <p:cNvPr id="2" name="TextBox 1"/>
          <p:cNvSpPr txBox="1"/>
          <p:nvPr/>
        </p:nvSpPr>
        <p:spPr>
          <a:xfrm>
            <a:off x="144000" y="299880"/>
            <a:ext cx="10226520" cy="726012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0"/>
              </a:spcBef>
              <a:spcAft>
                <a:spcPts val="0"/>
              </a:spcAft>
              <a:buNone/>
              <a:tabLst/>
              <a:defRPr sz="2800"/>
            </a:pPr>
            <a:r>
              <a:rPr lang="en-IN" sz="2800" b="0" i="0" u="none" strike="noStrike" kern="1200" cap="none">
                <a:ln>
                  <a:noFill/>
                </a:ln>
                <a:latin typeface="Liberation Sans" pitchFamily="18"/>
                <a:ea typeface="Droid Sans Fallback" pitchFamily="2"/>
                <a:cs typeface="FreeSans" pitchFamily="2"/>
              </a:rPr>
              <a:t>Consistency enforces that a transaction moves the database from</a:t>
            </a:r>
            <a:r>
              <a:rPr lang="en-IN" sz="2800" b="0" i="0" u="none" strike="noStrike" kern="1200" cap="none">
                <a:ln>
                  <a:noFill/>
                </a:ln>
                <a:solidFill>
                  <a:srgbClr val="111111"/>
                </a:solidFill>
                <a:latin typeface="Liberation Sans" pitchFamily="18"/>
                <a:ea typeface="Droid Sans Fallback" pitchFamily="2"/>
                <a:cs typeface="FreeSans" pitchFamily="2"/>
              </a:rPr>
              <a:t> one valid state to another.</a:t>
            </a:r>
          </a:p>
          <a:p>
            <a:pPr marL="0" marR="0" lvl="0" indent="0" rtl="0" hangingPunct="0">
              <a:lnSpc>
                <a:spcPct val="100000"/>
              </a:lnSpc>
              <a:spcBef>
                <a:spcPts val="0"/>
              </a:spcBef>
              <a:spcAft>
                <a:spcPts val="0"/>
              </a:spcAft>
              <a:buNone/>
              <a:tabLst/>
              <a:defRPr sz="2800"/>
            </a:pPr>
            <a:endParaRPr lang="en-IN" sz="2800" b="0" i="0" u="none" strike="noStrike" kern="1200" cap="none">
              <a:ln>
                <a:noFill/>
              </a:ln>
              <a:latin typeface="Liberation Sans" pitchFamily="18"/>
              <a:ea typeface="Droid Sans Fallback" pitchFamily="2"/>
              <a:cs typeface="FreeSans" pitchFamily="2"/>
            </a:endParaRPr>
          </a:p>
          <a:p>
            <a:pPr marL="0" marR="0" lvl="0" indent="0" rtl="0" hangingPunct="0">
              <a:lnSpc>
                <a:spcPct val="100000"/>
              </a:lnSpc>
              <a:spcBef>
                <a:spcPts val="0"/>
              </a:spcBef>
              <a:spcAft>
                <a:spcPts val="0"/>
              </a:spcAft>
              <a:buNone/>
              <a:tabLst/>
              <a:defRPr sz="2800"/>
            </a:pPr>
            <a:r>
              <a:rPr lang="en-IN" sz="2800" b="1" i="0" u="none" strike="noStrike" kern="1200" cap="none">
                <a:ln>
                  <a:noFill/>
                </a:ln>
                <a:latin typeface="Liberation Sans" pitchFamily="18"/>
                <a:ea typeface="Droid Sans Fallback" pitchFamily="2"/>
                <a:cs typeface="FreeSans" pitchFamily="2"/>
              </a:rPr>
              <a:t>Example: </a:t>
            </a:r>
            <a:r>
              <a:rPr lang="en-IN" sz="2800" b="0" i="0" u="none" strike="noStrike" kern="1200" cap="none">
                <a:ln>
                  <a:noFill/>
                </a:ln>
                <a:latin typeface="Liberation Sans" pitchFamily="18"/>
                <a:ea typeface="Droid Sans Fallback" pitchFamily="2"/>
                <a:cs typeface="FreeSans" pitchFamily="2"/>
              </a:rPr>
              <a:t>If total balances in a banking system must remain constant, any transaction that disrupts this rule is rolled back .</a:t>
            </a:r>
          </a:p>
          <a:p>
            <a:pPr marL="0" marR="0" lvl="0" indent="0" rtl="0" hangingPunct="0">
              <a:lnSpc>
                <a:spcPct val="100000"/>
              </a:lnSpc>
              <a:spcBef>
                <a:spcPts val="0"/>
              </a:spcBef>
              <a:spcAft>
                <a:spcPts val="0"/>
              </a:spcAft>
              <a:buNone/>
              <a:tabLst/>
              <a:defRPr sz="2800"/>
            </a:pPr>
            <a:endParaRPr lang="en-IN" sz="2800" b="0" i="0" u="none" strike="noStrike" kern="1200" cap="none">
              <a:ln>
                <a:noFill/>
              </a:ln>
              <a:latin typeface="Liberation Sans" pitchFamily="18"/>
              <a:ea typeface="Droid Sans Fallback" pitchFamily="2"/>
              <a:cs typeface="FreeSans" pitchFamily="2"/>
            </a:endParaRPr>
          </a:p>
          <a:p>
            <a:pPr marL="0" marR="0" lvl="0" indent="0" rtl="0" hangingPunct="0">
              <a:lnSpc>
                <a:spcPct val="100000"/>
              </a:lnSpc>
              <a:spcBef>
                <a:spcPts val="0"/>
              </a:spcBef>
              <a:spcAft>
                <a:spcPts val="0"/>
              </a:spcAft>
              <a:buNone/>
              <a:tabLst/>
              <a:defRPr sz="2800"/>
            </a:pPr>
            <a:r>
              <a:rPr lang="en-IN" sz="2800" b="1" i="0" u="none" strike="noStrike" kern="1200" cap="none">
                <a:ln>
                  <a:noFill/>
                </a:ln>
                <a:latin typeface="Liberation Sans" pitchFamily="18"/>
                <a:ea typeface="Droid Sans Fallback" pitchFamily="2"/>
                <a:cs typeface="FreeSans" pitchFamily="2"/>
              </a:rPr>
              <a:t>Isolation</a:t>
            </a:r>
            <a:r>
              <a:rPr lang="en-IN" sz="2800" b="0" i="0" u="none" strike="noStrike" kern="1200" cap="none">
                <a:ln>
                  <a:noFill/>
                </a:ln>
                <a:latin typeface="Liberation Sans" pitchFamily="18"/>
                <a:ea typeface="Droid Sans Fallback" pitchFamily="2"/>
                <a:cs typeface="FreeSans" pitchFamily="2"/>
              </a:rPr>
              <a:t> guarantees that concurrent transactions do not interfere with each other. Intermediate states of a transaction are invisible to others until committed.</a:t>
            </a:r>
          </a:p>
          <a:p>
            <a:pPr marL="0" marR="0" lvl="0" indent="0" rtl="0" hangingPunct="0">
              <a:lnSpc>
                <a:spcPct val="100000"/>
              </a:lnSpc>
              <a:spcBef>
                <a:spcPts val="0"/>
              </a:spcBef>
              <a:spcAft>
                <a:spcPts val="0"/>
              </a:spcAft>
              <a:buNone/>
              <a:tabLst/>
              <a:defRPr sz="2800"/>
            </a:pPr>
            <a:endParaRPr lang="en-IN" sz="2800" b="0" i="0" u="none" strike="noStrike" kern="1200" cap="none">
              <a:ln>
                <a:noFill/>
              </a:ln>
              <a:latin typeface="Liberation Sans" pitchFamily="18"/>
              <a:ea typeface="Droid Sans Fallback" pitchFamily="2"/>
              <a:cs typeface="FreeSans" pitchFamily="2"/>
            </a:endParaRPr>
          </a:p>
          <a:p>
            <a:pPr marL="0" marR="0" lvl="0" indent="0" rtl="0" hangingPunct="0">
              <a:lnSpc>
                <a:spcPct val="100000"/>
              </a:lnSpc>
              <a:spcBef>
                <a:spcPts val="0"/>
              </a:spcBef>
              <a:spcAft>
                <a:spcPts val="0"/>
              </a:spcAft>
              <a:buNone/>
              <a:tabLst/>
              <a:defRPr sz="2800"/>
            </a:pPr>
            <a:r>
              <a:rPr lang="en-IN" sz="2800" b="1" i="0" u="none" strike="noStrike" kern="1200" cap="none">
                <a:ln>
                  <a:noFill/>
                </a:ln>
                <a:latin typeface="Liberation Sans" pitchFamily="18"/>
                <a:ea typeface="Droid Sans Fallback" pitchFamily="2"/>
                <a:cs typeface="FreeSans" pitchFamily="2"/>
              </a:rPr>
              <a:t>Example: </a:t>
            </a:r>
            <a:r>
              <a:rPr lang="en-IN" sz="2800" b="0" i="0" u="none" strike="noStrike" kern="1200" cap="none">
                <a:ln>
                  <a:noFill/>
                </a:ln>
                <a:latin typeface="Liberation Sans" pitchFamily="18"/>
                <a:ea typeface="Droid Sans Fallback" pitchFamily="2"/>
                <a:cs typeface="FreeSans" pitchFamily="2"/>
              </a:rPr>
              <a:t>Two simultaneous transfers won’t see each other’s uncommitted changes, ensuring results match serial execution .</a:t>
            </a:r>
          </a:p>
          <a:p>
            <a:pPr marL="0" marR="0" lvl="0" indent="0" rtl="0" hangingPunct="0">
              <a:lnSpc>
                <a:spcPct val="100000"/>
              </a:lnSpc>
              <a:spcBef>
                <a:spcPts val="1191"/>
              </a:spcBef>
              <a:spcAft>
                <a:spcPts val="992"/>
              </a:spcAft>
              <a:buNone/>
              <a:tabLst/>
              <a:defRPr sz="2800"/>
            </a:pPr>
            <a:r>
              <a:rPr lang="en-IN" sz="2400" b="1" i="0" u="none" strike="noStrike" kern="1200" cap="none">
                <a:ln>
                  <a:noFill/>
                </a:ln>
                <a:latin typeface="Liberation Sans" pitchFamily="18"/>
                <a:ea typeface="Droid Sans Fallback" pitchFamily="2"/>
                <a:cs typeface="FreeSans" pitchFamily="2"/>
              </a:rPr>
              <a:t>Durability </a:t>
            </a:r>
            <a:r>
              <a:rPr lang="en-IN" sz="2400" b="0" i="0" u="none" strike="noStrike" kern="1200" cap="none">
                <a:ln>
                  <a:noFill/>
                </a:ln>
                <a:latin typeface="Liberation Sans" pitchFamily="18"/>
                <a:ea typeface="Droid Sans Fallback" pitchFamily="2"/>
                <a:cs typeface="FreeSans" pitchFamily="2"/>
              </a:rPr>
              <a:t>ensures that once a transaction is committed  its effects are permanent.</a:t>
            </a:r>
          </a:p>
          <a:p>
            <a:pPr marL="0" marR="0" lvl="0" indent="0" rtl="0" hangingPunct="0">
              <a:lnSpc>
                <a:spcPct val="100000"/>
              </a:lnSpc>
              <a:spcBef>
                <a:spcPts val="1191"/>
              </a:spcBef>
              <a:spcAft>
                <a:spcPts val="992"/>
              </a:spcAft>
              <a:buNone/>
              <a:tabLst/>
              <a:defRPr sz="2800"/>
            </a:pPr>
            <a:r>
              <a:rPr lang="en-IN" sz="2400" b="1" i="0" u="none" strike="noStrike" kern="1200" cap="none">
                <a:ln>
                  <a:noFill/>
                </a:ln>
                <a:latin typeface="Liberation Sans" pitchFamily="18"/>
                <a:ea typeface="Droid Sans Fallback" pitchFamily="2"/>
                <a:cs typeface="FreeSans" pitchFamily="2"/>
              </a:rPr>
              <a:t>Example: </a:t>
            </a:r>
            <a:r>
              <a:rPr lang="en-IN" sz="2400" b="0" i="0" u="none" strike="noStrike" kern="1200" cap="none">
                <a:ln>
                  <a:noFill/>
                </a:ln>
                <a:latin typeface="Liberation Sans" pitchFamily="18"/>
                <a:ea typeface="Droid Sans Fallback" pitchFamily="2"/>
                <a:cs typeface="FreeSans" pitchFamily="2"/>
              </a:rPr>
              <a:t>After a successful transfer, the updated balances remain intact even after a power failure .</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page40">
    <p:spTree>
      <p:nvGrpSpPr>
        <p:cNvPr id="1" name=""/>
        <p:cNvGrpSpPr/>
        <p:nvPr/>
      </p:nvGrpSpPr>
      <p:grpSpPr>
        <a:xfrm>
          <a:off x="0" y="0"/>
          <a:ext cx="0" cy="0"/>
          <a:chOff x="0" y="0"/>
          <a:chExt cx="0" cy="0"/>
        </a:xfrm>
      </p:grpSpPr>
      <p:sp>
        <p:nvSpPr>
          <p:cNvPr id="2" name="TextBox 1"/>
          <p:cNvSpPr txBox="1"/>
          <p:nvPr/>
        </p:nvSpPr>
        <p:spPr>
          <a:xfrm>
            <a:off x="288000" y="144000"/>
            <a:ext cx="9648000" cy="648288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1191"/>
              </a:spcBef>
              <a:spcAft>
                <a:spcPts val="992"/>
              </a:spcAft>
              <a:buNone/>
              <a:tabLst/>
            </a:pPr>
            <a:r>
              <a:rPr lang="en-IN" sz="2200" b="1" i="0" u="none" strike="noStrike" kern="1200" cap="none">
                <a:ln>
                  <a:noFill/>
                </a:ln>
                <a:latin typeface="Liberation Sans" pitchFamily="18"/>
                <a:ea typeface="Droid Sans Fallback" pitchFamily="2"/>
                <a:cs typeface="FreeSans" pitchFamily="2"/>
              </a:rPr>
              <a:t> </a:t>
            </a:r>
            <a:r>
              <a:rPr lang="en-IN" sz="2800" b="1" i="0" u="none" strike="noStrike" kern="1200" cap="none">
                <a:ln>
                  <a:noFill/>
                </a:ln>
                <a:latin typeface="Liberation Sans" pitchFamily="18"/>
                <a:ea typeface="Droid Sans Fallback" pitchFamily="2"/>
                <a:cs typeface="FreeSans" pitchFamily="2"/>
                <a:hlinkClick r:id="rId3"/>
              </a:rPr>
              <a:t>ACID vs BASE PROPERTIES</a:t>
            </a:r>
          </a:p>
          <a:p>
            <a:pPr marL="0" marR="0" lvl="0" indent="0" rtl="0" hangingPunct="0">
              <a:lnSpc>
                <a:spcPct val="100000"/>
              </a:lnSpc>
              <a:spcBef>
                <a:spcPts val="1191"/>
              </a:spcBef>
              <a:spcAft>
                <a:spcPts val="992"/>
              </a:spcAft>
              <a:buNone/>
              <a:tabLst/>
            </a:pPr>
            <a:endParaRPr lang="en-IN" sz="1000" b="0" i="0" u="none" strike="noStrike" kern="1200" cap="none">
              <a:ln>
                <a:noFill/>
              </a:ln>
              <a:latin typeface="Liberation Sans" pitchFamily="18"/>
              <a:ea typeface="Droid Sans Fallback" pitchFamily="2"/>
              <a:cs typeface="FreeSans" pitchFamily="2"/>
            </a:endParaRPr>
          </a:p>
          <a:p>
            <a:pPr marL="0" marR="0" lvl="0" indent="0" rtl="0" hangingPunct="0">
              <a:lnSpc>
                <a:spcPct val="100000"/>
              </a:lnSpc>
              <a:spcBef>
                <a:spcPts val="1191"/>
              </a:spcBef>
              <a:spcAft>
                <a:spcPts val="992"/>
              </a:spcAft>
              <a:buNone/>
              <a:tabLst/>
            </a:pPr>
            <a:endParaRPr lang="en-IN" sz="1000" b="0" i="0" u="none" strike="noStrike" kern="1200" cap="none">
              <a:ln>
                <a:noFill/>
              </a:ln>
              <a:latin typeface="Liberation Sans" pitchFamily="18"/>
              <a:ea typeface="Droid Sans Fallback" pitchFamily="2"/>
              <a:cs typeface="FreeSans" pitchFamily="2"/>
            </a:endParaRPr>
          </a:p>
          <a:p>
            <a:pPr marL="0" marR="0" lvl="0" indent="0" rtl="0" hangingPunct="0">
              <a:lnSpc>
                <a:spcPct val="100000"/>
              </a:lnSpc>
              <a:spcBef>
                <a:spcPts val="1191"/>
              </a:spcBef>
              <a:spcAft>
                <a:spcPts val="992"/>
              </a:spcAft>
              <a:buNone/>
              <a:tabLst/>
            </a:pPr>
            <a:endParaRPr lang="en-IN" sz="1000" b="0" i="0" u="none" strike="noStrike" kern="1200" cap="none">
              <a:ln>
                <a:noFill/>
              </a:ln>
              <a:latin typeface="Liberation Sans" pitchFamily="18"/>
              <a:ea typeface="Droid Sans Fallback" pitchFamily="2"/>
              <a:cs typeface="FreeSans" pitchFamily="2"/>
            </a:endParaRPr>
          </a:p>
          <a:p>
            <a:pPr marL="0" marR="0" lvl="0" indent="0" algn="ctr" rtl="0" hangingPunct="0">
              <a:lnSpc>
                <a:spcPct val="100000"/>
              </a:lnSpc>
              <a:spcBef>
                <a:spcPts val="1191"/>
              </a:spcBef>
              <a:spcAft>
                <a:spcPts val="992"/>
              </a:spcAft>
              <a:buNone/>
              <a:tabLst/>
            </a:pPr>
            <a:endParaRPr lang="en-IN" sz="1000" b="0" i="0" u="none" strike="noStrike" kern="1200" cap="none">
              <a:ln>
                <a:noFill/>
              </a:ln>
              <a:latin typeface="Liberation Sans" pitchFamily="18"/>
              <a:ea typeface="Droid Sans Fallback" pitchFamily="2"/>
              <a:cs typeface="FreeSans" pitchFamily="2"/>
            </a:endParaRPr>
          </a:p>
        </p:txBody>
      </p:sp>
      <p:pic>
        <p:nvPicPr>
          <p:cNvPr id="3" name="">
            <a:extLst>
              <a:ext uri="{FF2B5EF4-FFF2-40B4-BE49-F238E27FC236}">
                <a16:creationId xmlns:a16="http://schemas.microsoft.com/office/drawing/2014/main" id="{00000000-0000-0000-0000-000000000000}"/>
              </a:ext>
            </a:extLst>
          </p:cNvPr>
          <p:cNvPicPr>
            <a:picLocks noChangeAspect="1"/>
          </p:cNvPicPr>
          <p:nvPr/>
        </p:nvPicPr>
        <p:blipFill>
          <a:blip r:embed="rId4">
            <a:lum/>
            <a:alphaModFix/>
          </a:blip>
          <a:srcRect/>
          <a:stretch>
            <a:fillRect/>
          </a:stretch>
        </p:blipFill>
        <p:spPr>
          <a:xfrm>
            <a:off x="864000" y="1152000"/>
            <a:ext cx="8352000" cy="5112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name="page41">
    <p:spTree>
      <p:nvGrpSpPr>
        <p:cNvPr id="1" name=""/>
        <p:cNvGrpSpPr/>
        <p:nvPr/>
      </p:nvGrpSpPr>
      <p:grpSpPr>
        <a:xfrm>
          <a:off x="0" y="0"/>
          <a:ext cx="0" cy="0"/>
          <a:chOff x="0" y="0"/>
          <a:chExt cx="0" cy="0"/>
        </a:xfrm>
      </p:grpSpPr>
      <p:sp>
        <p:nvSpPr>
          <p:cNvPr id="2" name="TextBox 1"/>
          <p:cNvSpPr txBox="1"/>
          <p:nvPr/>
        </p:nvSpPr>
        <p:spPr>
          <a:xfrm>
            <a:off x="144000" y="72000"/>
            <a:ext cx="9864000" cy="741600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1191"/>
              </a:spcBef>
              <a:spcAft>
                <a:spcPts val="992"/>
              </a:spcAft>
              <a:buNone/>
              <a:tabLst/>
            </a:pPr>
            <a:endParaRPr lang="en-IN" sz="2400" b="1" i="0" u="none" strike="noStrike" kern="1200" cap="none">
              <a:ln>
                <a:noFill/>
              </a:ln>
              <a:solidFill>
                <a:srgbClr val="DD4814"/>
              </a:solidFill>
              <a:latin typeface="Liberation Sans" pitchFamily="18"/>
              <a:ea typeface="Droid Sans Fallback" pitchFamily="2"/>
              <a:cs typeface="FreeSans" pitchFamily="2"/>
            </a:endParaRPr>
          </a:p>
          <a:p>
            <a:pPr marL="0" marR="0" lvl="0" indent="0" algn="ctr" rtl="0" hangingPunct="0">
              <a:lnSpc>
                <a:spcPct val="100000"/>
              </a:lnSpc>
              <a:spcBef>
                <a:spcPts val="1191"/>
              </a:spcBef>
              <a:spcAft>
                <a:spcPts val="992"/>
              </a:spcAft>
              <a:buNone/>
              <a:tabLst/>
            </a:pPr>
            <a:endParaRPr lang="en-IN" sz="2400" b="1" i="0" u="none" strike="noStrike" kern="1200" cap="none">
              <a:ln>
                <a:noFill/>
              </a:ln>
              <a:solidFill>
                <a:srgbClr val="DD4814"/>
              </a:solidFill>
              <a:latin typeface="Liberation Sans" pitchFamily="18"/>
              <a:ea typeface="Droid Sans Fallback" pitchFamily="2"/>
              <a:cs typeface="FreeSans" pitchFamily="2"/>
            </a:endParaRPr>
          </a:p>
          <a:p>
            <a:pPr marL="0" marR="0" lvl="0" indent="0" algn="ctr" rtl="0" hangingPunct="0">
              <a:lnSpc>
                <a:spcPct val="100000"/>
              </a:lnSpc>
              <a:spcBef>
                <a:spcPts val="1191"/>
              </a:spcBef>
              <a:spcAft>
                <a:spcPts val="992"/>
              </a:spcAft>
              <a:buNone/>
              <a:tabLst/>
            </a:pPr>
            <a:r>
              <a:rPr lang="en-IN" sz="2400" b="1" i="0" u="none" strike="noStrike" kern="1200" cap="none">
                <a:ln>
                  <a:noFill/>
                </a:ln>
                <a:solidFill>
                  <a:srgbClr val="DD4814"/>
                </a:solidFill>
                <a:latin typeface="Liberation Sans" pitchFamily="18"/>
                <a:ea typeface="Droid Sans Fallback" pitchFamily="2"/>
                <a:cs typeface="FreeSans" pitchFamily="2"/>
              </a:rPr>
              <a:t>When to choose consistency over availability and vice-versa....</a:t>
            </a:r>
          </a:p>
          <a:p>
            <a:pPr marL="0" marR="0" lvl="0" indent="0" algn="ctr" rtl="0" hangingPunct="0">
              <a:lnSpc>
                <a:spcPct val="100000"/>
              </a:lnSpc>
              <a:spcBef>
                <a:spcPts val="1191"/>
              </a:spcBef>
              <a:spcAft>
                <a:spcPts val="992"/>
              </a:spcAft>
              <a:buNone/>
              <a:tabLst/>
            </a:pPr>
            <a:endParaRPr lang="en-IN" sz="2400" b="1" i="0" u="none" strike="noStrike" kern="1200" cap="none">
              <a:ln>
                <a:noFill/>
              </a:ln>
              <a:solidFill>
                <a:srgbClr val="DD4814"/>
              </a:solidFill>
              <a:latin typeface="Liberation Sans" pitchFamily="18"/>
              <a:ea typeface="Droid Sans Fallback" pitchFamily="2"/>
              <a:cs typeface="FreeSans" pitchFamily="2"/>
            </a:endParaRPr>
          </a:p>
          <a:p>
            <a:pPr marL="0" marR="0" lvl="0" indent="0" algn="just" rtl="0" hangingPunct="0">
              <a:lnSpc>
                <a:spcPct val="150000"/>
              </a:lnSpc>
              <a:spcBef>
                <a:spcPts val="1191"/>
              </a:spcBef>
              <a:spcAft>
                <a:spcPts val="992"/>
              </a:spcAft>
              <a:buNone/>
              <a:tabLst/>
            </a:pPr>
            <a:r>
              <a:rPr lang="en-IN" sz="2000" b="0" i="0" u="none" strike="noStrike" kern="1200" cap="none">
                <a:ln>
                  <a:noFill/>
                </a:ln>
                <a:solidFill>
                  <a:srgbClr val="000000"/>
                </a:solidFill>
                <a:latin typeface="Liberation Sans" pitchFamily="18"/>
                <a:ea typeface="Droid Sans Fallback" pitchFamily="2"/>
                <a:cs typeface="FreeSans" pitchFamily="2"/>
              </a:rPr>
              <a:t>1. Choose Availability over consistency when your business requirements allow some flexibility around when the data in the system synchronizes.</a:t>
            </a:r>
          </a:p>
          <a:p>
            <a:pPr marL="0" marR="0" lvl="0" indent="0" algn="just" rtl="0" hangingPunct="0">
              <a:lnSpc>
                <a:spcPct val="150000"/>
              </a:lnSpc>
              <a:spcBef>
                <a:spcPts val="1191"/>
              </a:spcBef>
              <a:spcAft>
                <a:spcPts val="992"/>
              </a:spcAft>
              <a:buNone/>
              <a:tabLst/>
            </a:pPr>
            <a:endParaRPr lang="en-IN" sz="2000" b="0" i="0" u="none" strike="noStrike" kern="1200" cap="none">
              <a:ln>
                <a:noFill/>
              </a:ln>
              <a:solidFill>
                <a:srgbClr val="000000"/>
              </a:solidFill>
              <a:latin typeface="Liberation Sans" pitchFamily="18"/>
              <a:ea typeface="Droid Sans Fallback" pitchFamily="2"/>
              <a:cs typeface="FreeSans" pitchFamily="2"/>
            </a:endParaRPr>
          </a:p>
          <a:p>
            <a:pPr marL="0" marR="0" lvl="0" indent="0" algn="just" rtl="0" hangingPunct="0">
              <a:lnSpc>
                <a:spcPct val="150000"/>
              </a:lnSpc>
              <a:spcBef>
                <a:spcPts val="1191"/>
              </a:spcBef>
              <a:spcAft>
                <a:spcPts val="992"/>
              </a:spcAft>
              <a:buNone/>
              <a:tabLst/>
            </a:pPr>
            <a:r>
              <a:rPr lang="en-IN" sz="2000" b="0" i="0" u="none" strike="noStrike" kern="1200" cap="none">
                <a:ln>
                  <a:noFill/>
                </a:ln>
                <a:solidFill>
                  <a:srgbClr val="000000"/>
                </a:solidFill>
                <a:latin typeface="Liberation Sans" pitchFamily="18"/>
                <a:ea typeface="Droid Sans Fallback" pitchFamily="2"/>
                <a:cs typeface="FreeSans" pitchFamily="2"/>
              </a:rPr>
              <a:t>2. Choose Consistency over Availability when your business requirements demand atomic reads and writes.</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par>
                                <p:cTn id="27" presetClass="entr"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Class="entr" fill="hold" nodeType="clickEffect">
                                  <p:stCondLst>
                                    <p:cond delay="0"/>
                                  </p:stCondLst>
                                  <p:childTnLst>
                                    <p:set>
                                      <p:cBhvr>
                                        <p:cTn id="3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Class="entr" fill="hold"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childTnLst>
                                </p:cTn>
                              </p:par>
                              <p:par>
                                <p:cTn id="37" presetClass="entr" fill="hold" nodeType="with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Class="entr" fill="hold" nodeType="clickEffect">
                                  <p:stCondLst>
                                    <p:cond delay="0"/>
                                  </p:stCondLst>
                                  <p:childTnLst>
                                    <p:set>
                                      <p:cBhvr>
                                        <p:cTn id="42" dur="1" fill="hold">
                                          <p:stCondLst>
                                            <p:cond delay="0"/>
                                          </p:stCondLst>
                                        </p:cTn>
                                        <p:tgtEl>
                                          <p:spTgt spid="2">
                                            <p:txEl>
                                              <p:pRg st="4" end="4"/>
                                            </p:txEl>
                                          </p:spTgt>
                                        </p:tgtEl>
                                        <p:attrNameLst>
                                          <p:attrName>style.visibility</p:attrName>
                                        </p:attrNameLst>
                                      </p:cBhvr>
                                      <p:to>
                                        <p:strVal val="visible"/>
                                      </p:to>
                                    </p:set>
                                  </p:childTnLst>
                                </p:cTn>
                              </p:par>
                              <p:par>
                                <p:cTn id="43" presetClass="entr" fill="hold" nodeType="withEffect">
                                  <p:stCondLst>
                                    <p:cond delay="0"/>
                                  </p:stCondLst>
                                  <p:childTnLst>
                                    <p:set>
                                      <p:cBhvr>
                                        <p:cTn id="4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Class="entr" fill="hold" nodeType="clickEffect">
                                  <p:stCondLst>
                                    <p:cond delay="0"/>
                                  </p:stCondLst>
                                  <p:childTnLst>
                                    <p:set>
                                      <p:cBhvr>
                                        <p:cTn id="48" dur="1" fill="hold">
                                          <p:stCondLst>
                                            <p:cond delay="0"/>
                                          </p:stCondLst>
                                        </p:cTn>
                                        <p:tgtEl>
                                          <p:spTgt spid="2">
                                            <p:txEl>
                                              <p:pRg st="4" end="4"/>
                                            </p:txEl>
                                          </p:spTgt>
                                        </p:tgtEl>
                                        <p:attrNameLst>
                                          <p:attrName>style.visibility</p:attrName>
                                        </p:attrNameLst>
                                      </p:cBhvr>
                                      <p:to>
                                        <p:strVal val="visible"/>
                                      </p:to>
                                    </p:set>
                                  </p:childTnLst>
                                </p:cTn>
                              </p:par>
                              <p:par>
                                <p:cTn id="49" presetClass="entr" fill="hold" nodeType="withEffect">
                                  <p:stCondLst>
                                    <p:cond delay="0"/>
                                  </p:stCondLst>
                                  <p:childTnLst>
                                    <p:set>
                                      <p:cBhvr>
                                        <p:cTn id="50" dur="1" fill="hold">
                                          <p:stCondLst>
                                            <p:cond delay="0"/>
                                          </p:stCondLst>
                                        </p:cTn>
                                        <p:tgtEl>
                                          <p:spTgt spid="2">
                                            <p:txEl>
                                              <p:pRg st="6" end="6"/>
                                            </p:txEl>
                                          </p:spTgt>
                                        </p:tgtEl>
                                        <p:attrNameLst>
                                          <p:attrName>style.visibility</p:attrName>
                                        </p:attrNameLst>
                                      </p:cBhvr>
                                      <p:to>
                                        <p:strVal val="visible"/>
                                      </p:to>
                                    </p:set>
                                  </p:childTnLst>
                                </p:cTn>
                              </p:par>
                              <p:par>
                                <p:cTn id="51" presetClass="entr" fill="hold" nodeType="withEffect">
                                  <p:stCondLst>
                                    <p:cond delay="0"/>
                                  </p:stCondLst>
                                  <p:childTnLst>
                                    <p:set>
                                      <p:cBhvr>
                                        <p:cTn id="52" dur="1" fill="hold">
                                          <p:stCondLst>
                                            <p:cond delay="0"/>
                                          </p:stCondLst>
                                        </p:cTn>
                                        <p:tgtEl>
                                          <p:spTgt spid="2">
                                            <p:txEl>
                                              <p:pRg st="4" end="4"/>
                                            </p:txEl>
                                          </p:spTgt>
                                        </p:tgtEl>
                                        <p:attrNameLst>
                                          <p:attrName>style.visibility</p:attrName>
                                        </p:attrNameLst>
                                      </p:cBhvr>
                                      <p:to>
                                        <p:strVal val="visible"/>
                                      </p:to>
                                    </p:set>
                                  </p:childTnLst>
                                </p:cTn>
                              </p:par>
                              <p:par>
                                <p:cTn id="53" presetClass="entr" fill="hold" nodeType="withEffect">
                                  <p:stCondLst>
                                    <p:cond delay="0"/>
                                  </p:stCondLst>
                                  <p:childTnLst>
                                    <p:set>
                                      <p:cBhvr>
                                        <p:cTn id="5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name="page42">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432000" y="792000"/>
            <a:ext cx="8928000" cy="5040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page43">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0000000-0000-0000-0000-000000000000}"/>
              </a:ext>
            </a:extLst>
          </p:cNvPr>
          <p:cNvPicPr>
            <a:picLocks noChangeAspect="1"/>
          </p:cNvPicPr>
          <p:nvPr/>
        </p:nvPicPr>
        <p:blipFill>
          <a:blip r:embed="rId3">
            <a:lum/>
            <a:alphaModFix/>
          </a:blip>
          <a:srcRect/>
          <a:stretch>
            <a:fillRect/>
          </a:stretch>
        </p:blipFill>
        <p:spPr>
          <a:xfrm>
            <a:off x="360000" y="576000"/>
            <a:ext cx="9288000" cy="6048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Defaul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697</TotalTime>
  <Words>2451</Words>
  <Application>Microsoft Office PowerPoint</Application>
  <PresentationFormat>Widescreen</PresentationFormat>
  <Paragraphs>222</Paragraphs>
  <Slides>43</Slides>
  <Notes>43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Calibri</vt:lpstr>
      <vt:lpstr>DejaVu Sans</vt:lpstr>
      <vt:lpstr>Droid Sans Fallback</vt:lpstr>
      <vt:lpstr>FreeSans</vt:lpstr>
      <vt:lpstr>Liberation Sans</vt:lpstr>
      <vt:lpstr>Liberation Serif</vt:lpstr>
      <vt:lpstr>StarSymbol</vt:lpstr>
      <vt:lpstr>Default</vt:lpstr>
      <vt:lpstr>PowerPoint Presentation</vt:lpstr>
      <vt:lpstr>PowerPoint Presentation</vt:lpstr>
      <vt:lpstr>Greatest challenges that prevent business from capitalizing on big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Convertio</cp:lastModifiedBy>
  <cp:revision>29</cp:revision>
  <dcterms:created xsi:type="dcterms:W3CDTF">2018-08-20T10:31:30Z</dcterms:created>
  <dcterms:modified xsi:type="dcterms:W3CDTF">2026-09-06T03:27:04Z</dcterms:modified>
</cp:coreProperties>
</file>