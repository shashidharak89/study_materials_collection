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3.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7.xml.rels" ContentType="application/vnd.openxmlformats-package.relationships+xml"/>
  <Override PartName="/ppt/notesSlides/_rels/notesSlide12.xml.rels" ContentType="application/vnd.openxmlformats-package.relationships+xml"/>
  <Override PartName="/ppt/notesSlides/_rels/notesSlide18.xml.rels" ContentType="application/vnd.openxmlformats-package.relationships+xml"/>
  <Override PartName="/ppt/notesSlides/notesSlide19.xml" ContentType="application/vnd.openxmlformats-officedocument.presentationml.notesSlide+xml"/>
  <Override PartName="/ppt/notesSlides/notesSlide15.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12192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n-IN" sz="4400" spc="-1" strike="noStrike">
                <a:latin typeface="Arial"/>
              </a:rPr>
              <a:t>Click to move the slide</a:t>
            </a:r>
            <a:endParaRPr b="0" lang="en-IN"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p:spPr>
        <p:txBody>
          <a:bodyPr lIns="0" rIns="0" tIns="0" bIns="0">
            <a:noAutofit/>
          </a:bodyPr>
          <a:p>
            <a:r>
              <a:rPr b="0" lang="en-IN" sz="2000" spc="-1" strike="noStrike">
                <a:latin typeface="Arial"/>
              </a:rPr>
              <a:t>Click to edit the notes format</a:t>
            </a:r>
            <a:endParaRPr b="0" lang="en-IN" sz="2000" spc="-1" strike="noStrike">
              <a:latin typeface="Arial"/>
            </a:endParaRPr>
          </a:p>
        </p:txBody>
      </p:sp>
      <p:sp>
        <p:nvSpPr>
          <p:cNvPr id="40" name="PlaceHolder 3"/>
          <p:cNvSpPr>
            <a:spLocks noGrp="1"/>
          </p:cNvSpPr>
          <p:nvPr>
            <p:ph type="hdr"/>
          </p:nvPr>
        </p:nvSpPr>
        <p:spPr>
          <a:xfrm>
            <a:off x="0" y="0"/>
            <a:ext cx="3280680" cy="534240"/>
          </a:xfrm>
          <a:prstGeom prst="rect">
            <a:avLst/>
          </a:prstGeom>
        </p:spPr>
        <p:txBody>
          <a:bodyPr lIns="0" rIns="0" tIns="0" bIns="0">
            <a:noAutofit/>
          </a:bodyPr>
          <a:p>
            <a:r>
              <a:rPr b="0" lang="en-IN" sz="1400" spc="-1" strike="noStrike">
                <a:latin typeface="Times New Roman"/>
              </a:rPr>
              <a:t>&lt;header&gt;</a:t>
            </a:r>
            <a:endParaRPr b="0" lang="en-IN" sz="1400" spc="-1" strike="noStrike">
              <a:latin typeface="Times New Roman"/>
            </a:endParaRPr>
          </a:p>
        </p:txBody>
      </p:sp>
      <p:sp>
        <p:nvSpPr>
          <p:cNvPr id="41" name="PlaceHolder 4"/>
          <p:cNvSpPr>
            <a:spLocks noGrp="1"/>
          </p:cNvSpPr>
          <p:nvPr>
            <p:ph type="dt"/>
          </p:nvPr>
        </p:nvSpPr>
        <p:spPr>
          <a:xfrm>
            <a:off x="4278960" y="0"/>
            <a:ext cx="3280680" cy="534240"/>
          </a:xfrm>
          <a:prstGeom prst="rect">
            <a:avLst/>
          </a:prstGeom>
        </p:spPr>
        <p:txBody>
          <a:bodyPr lIns="0" rIns="0" tIns="0" bIns="0">
            <a:noAutofit/>
          </a:bodyPr>
          <a:p>
            <a:pPr algn="r"/>
            <a:r>
              <a:rPr b="0" lang="en-IN" sz="1400" spc="-1" strike="noStrike">
                <a:latin typeface="Times New Roman"/>
              </a:rPr>
              <a:t>&lt;date/time&gt;</a:t>
            </a:r>
            <a:endParaRPr b="0" lang="en-IN" sz="1400" spc="-1" strike="noStrike">
              <a:latin typeface="Times New Roman"/>
            </a:endParaRPr>
          </a:p>
        </p:txBody>
      </p:sp>
      <p:sp>
        <p:nvSpPr>
          <p:cNvPr id="42" name="PlaceHolder 5"/>
          <p:cNvSpPr>
            <a:spLocks noGrp="1"/>
          </p:cNvSpPr>
          <p:nvPr>
            <p:ph type="ftr"/>
          </p:nvPr>
        </p:nvSpPr>
        <p:spPr>
          <a:xfrm>
            <a:off x="0" y="10157400"/>
            <a:ext cx="3280680" cy="534240"/>
          </a:xfrm>
          <a:prstGeom prst="rect">
            <a:avLst/>
          </a:prstGeom>
        </p:spPr>
        <p:txBody>
          <a:bodyPr lIns="0" rIns="0" tIns="0" bIns="0" anchor="b">
            <a:noAutofit/>
          </a:bodyPr>
          <a:p>
            <a:r>
              <a:rPr b="0" lang="en-IN" sz="1400" spc="-1" strike="noStrike">
                <a:latin typeface="Times New Roman"/>
              </a:rPr>
              <a:t>&lt;footer&gt;</a:t>
            </a:r>
            <a:endParaRPr b="0" lang="en-IN" sz="1400" spc="-1" strike="noStrike">
              <a:latin typeface="Times New Roman"/>
            </a:endParaRPr>
          </a:p>
        </p:txBody>
      </p:sp>
      <p:sp>
        <p:nvSpPr>
          <p:cNvPr id="43"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0522C18B-831F-4C3C-9786-A0E133EF6234}"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5320" cy="3085200"/>
          </a:xfrm>
          <a:prstGeom prst="rect">
            <a:avLst/>
          </a:prstGeom>
        </p:spPr>
      </p:sp>
      <p:sp>
        <p:nvSpPr>
          <p:cNvPr id="15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53"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2AD2BC5-B989-49B7-BFFF-C2C9AB307543}"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5320" cy="3085200"/>
          </a:xfrm>
          <a:prstGeom prst="rect">
            <a:avLst/>
          </a:prstGeom>
        </p:spPr>
      </p:sp>
      <p:sp>
        <p:nvSpPr>
          <p:cNvPr id="15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56"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54DE227-CE95-4871-98B7-E2CBAAD587A1}"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5320" cy="3085200"/>
          </a:xfrm>
          <a:prstGeom prst="rect">
            <a:avLst/>
          </a:prstGeom>
        </p:spPr>
      </p:sp>
      <p:sp>
        <p:nvSpPr>
          <p:cNvPr id="15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59"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D0B6D68-E272-4FDD-9189-8D6DF10495D0}"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5320" cy="3085200"/>
          </a:xfrm>
          <a:prstGeom prst="rect">
            <a:avLst/>
          </a:prstGeom>
        </p:spPr>
      </p:sp>
      <p:sp>
        <p:nvSpPr>
          <p:cNvPr id="16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62"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DF001A8-BB07-44E4-8789-A02B1F750998}"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5320" cy="3085200"/>
          </a:xfrm>
          <a:prstGeom prst="rect">
            <a:avLst/>
          </a:prstGeom>
        </p:spPr>
      </p:sp>
      <p:sp>
        <p:nvSpPr>
          <p:cNvPr id="164"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65"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3543D62-6ABF-4FAA-AF80-C0E920A21CB1}"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5320" cy="3085200"/>
          </a:xfrm>
          <a:prstGeom prst="rect">
            <a:avLst/>
          </a:prstGeom>
        </p:spPr>
      </p:sp>
      <p:sp>
        <p:nvSpPr>
          <p:cNvPr id="167"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68"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22617B4-15D6-4D98-B6FC-4E4765D8FA73}"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5320" cy="3085200"/>
          </a:xfrm>
          <a:prstGeom prst="rect">
            <a:avLst/>
          </a:prstGeom>
        </p:spPr>
      </p:sp>
      <p:sp>
        <p:nvSpPr>
          <p:cNvPr id="170"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71"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A0E7333-6CFE-4419-907A-29183BD9EED3}"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5320" cy="3085200"/>
          </a:xfrm>
          <a:prstGeom prst="rect">
            <a:avLst/>
          </a:prstGeom>
        </p:spPr>
      </p:sp>
      <p:sp>
        <p:nvSpPr>
          <p:cNvPr id="173"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74"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02F5993-9103-4FC4-AF26-82A546A53B03}"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5320" cy="3085200"/>
          </a:xfrm>
          <a:prstGeom prst="rect">
            <a:avLst/>
          </a:prstGeom>
        </p:spPr>
      </p:sp>
      <p:sp>
        <p:nvSpPr>
          <p:cNvPr id="176"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77"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A9866A0-4429-4721-B2B6-7DA89BCE64F9}"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5320" cy="3085200"/>
          </a:xfrm>
          <a:prstGeom prst="rect">
            <a:avLst/>
          </a:prstGeom>
        </p:spPr>
      </p:sp>
      <p:sp>
        <p:nvSpPr>
          <p:cNvPr id="179"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80"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6031B56-0924-42F5-9E2F-1370C9FFD11E}"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5320" cy="3085200"/>
          </a:xfrm>
          <a:prstGeom prst="rect">
            <a:avLst/>
          </a:prstGeom>
        </p:spPr>
      </p:sp>
      <p:sp>
        <p:nvSpPr>
          <p:cNvPr id="182"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83"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F2AEFBB-69C3-46E4-B910-56FB0418B429}"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5320" cy="3085200"/>
          </a:xfrm>
          <a:prstGeom prst="rect">
            <a:avLst/>
          </a:prstGeom>
        </p:spPr>
      </p:sp>
      <p:sp>
        <p:nvSpPr>
          <p:cNvPr id="185"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86"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B9163D7-8BB6-46E7-8B06-92EF95E94030}"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5320" cy="3085200"/>
          </a:xfrm>
          <a:prstGeom prst="rect">
            <a:avLst/>
          </a:prstGeom>
        </p:spPr>
      </p:sp>
      <p:sp>
        <p:nvSpPr>
          <p:cNvPr id="188"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89"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610B5F2-E1E9-489B-9FDA-657736C73F32}"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5320" cy="3085200"/>
          </a:xfrm>
          <a:prstGeom prst="rect">
            <a:avLst/>
          </a:prstGeom>
        </p:spPr>
      </p:sp>
      <p:sp>
        <p:nvSpPr>
          <p:cNvPr id="191" name="PlaceHolder 2"/>
          <p:cNvSpPr>
            <a:spLocks noGrp="1"/>
          </p:cNvSpPr>
          <p:nvPr>
            <p:ph type="body"/>
          </p:nvPr>
        </p:nvSpPr>
        <p:spPr>
          <a:xfrm>
            <a:off x="685800" y="4400640"/>
            <a:ext cx="5485320" cy="3599280"/>
          </a:xfrm>
          <a:prstGeom prst="rect">
            <a:avLst/>
          </a:prstGeom>
        </p:spPr>
        <p:txBody>
          <a:bodyPr lIns="0" rIns="0" tIns="0" bIns="0">
            <a:noAutofit/>
          </a:bodyPr>
          <a:p>
            <a:endParaRPr b="0" lang="en-IN" sz="2000" spc="-1" strike="noStrike">
              <a:latin typeface="Arial"/>
            </a:endParaRPr>
          </a:p>
        </p:txBody>
      </p:sp>
      <p:sp>
        <p:nvSpPr>
          <p:cNvPr id="192" name="CustomShape 3"/>
          <p:cNvSpPr/>
          <p:nvPr/>
        </p:nvSpPr>
        <p:spPr>
          <a:xfrm>
            <a:off x="3884760" y="8685360"/>
            <a:ext cx="2970720" cy="45756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4975BB8-714B-43F0-9F35-0D6AB1A7B8CA}" type="slidenum">
              <a:rPr b="0" lang="en-US" sz="1200" spc="-1" strike="noStrike">
                <a:solidFill>
                  <a:srgbClr val="000000"/>
                </a:solidFill>
                <a:latin typeface="+mn-lt"/>
                <a:ea typeface="+mn-ea"/>
              </a:rPr>
              <a:t>20</a:t>
            </a:fld>
            <a:endParaRPr b="0" lang="en-IN"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IN"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IN"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IN"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IN"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IN"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IN"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IN"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IN"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IN"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IN"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IN"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IN"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IN" sz="4400" spc="-1" strike="noStrike">
                <a:latin typeface="Arial"/>
              </a:rPr>
              <a:t>Click to edit the </a:t>
            </a:r>
            <a:r>
              <a:rPr b="0" lang="en-IN" sz="4400" spc="-1" strike="noStrike">
                <a:latin typeface="Arial"/>
              </a:rPr>
              <a:t>title text format</a:t>
            </a:r>
            <a:endParaRPr b="0" lang="en-IN"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ffffff"/>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ffffff"/>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ffffff"/>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ffffff"/>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ffffff"/>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ffffff"/>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44" name="Image 0" descr="rect"/>
          <p:cNvPicPr/>
          <p:nvPr/>
        </p:nvPicPr>
        <p:blipFill>
          <a:blip r:embed="rId1"/>
          <a:stretch/>
        </p:blipFill>
        <p:spPr>
          <a:xfrm>
            <a:off x="0" y="0"/>
            <a:ext cx="151200" cy="6856920"/>
          </a:xfrm>
          <a:prstGeom prst="rect">
            <a:avLst/>
          </a:prstGeom>
          <a:ln>
            <a:noFill/>
          </a:ln>
        </p:spPr>
      </p:pic>
      <p:sp>
        <p:nvSpPr>
          <p:cNvPr id="45" name="CustomShape 1"/>
          <p:cNvSpPr/>
          <p:nvPr/>
        </p:nvSpPr>
        <p:spPr>
          <a:xfrm>
            <a:off x="812880" y="812880"/>
            <a:ext cx="10882440" cy="499320"/>
          </a:xfrm>
          <a:prstGeom prst="rect">
            <a:avLst/>
          </a:prstGeom>
          <a:noFill/>
          <a:ln>
            <a:noFill/>
          </a:ln>
        </p:spPr>
        <p:style>
          <a:lnRef idx="0"/>
          <a:fillRef idx="0"/>
          <a:effectRef idx="0"/>
          <a:fontRef idx="minor"/>
        </p:style>
        <p:txBody>
          <a:bodyPr lIns="0" rIns="0" tIns="0" bIns="0">
            <a:normAutofit/>
          </a:bodyPr>
          <a:p>
            <a:pPr>
              <a:lnSpc>
                <a:spcPts val="3739"/>
              </a:lnSpc>
              <a:tabLst>
                <a:tab algn="l" pos="0"/>
              </a:tabLst>
            </a:pPr>
            <a:r>
              <a:rPr b="1" lang="en-US" sz="3400" spc="-1" strike="noStrike">
                <a:solidFill>
                  <a:srgbClr val="f2b84b"/>
                </a:solidFill>
                <a:latin typeface="Inter"/>
                <a:ea typeface="Inter"/>
              </a:rPr>
              <a:t>Building Blocks of Private Cloud</a:t>
            </a:r>
            <a:endParaRPr b="0" lang="en-IN" sz="3400" spc="-1" strike="noStrike">
              <a:latin typeface="Arial"/>
            </a:endParaRPr>
          </a:p>
        </p:txBody>
      </p:sp>
      <p:sp>
        <p:nvSpPr>
          <p:cNvPr id="46" name="CustomShape 2"/>
          <p:cNvSpPr/>
          <p:nvPr/>
        </p:nvSpPr>
        <p:spPr>
          <a:xfrm>
            <a:off x="2933640" y="1628280"/>
            <a:ext cx="6323400" cy="4151880"/>
          </a:xfrm>
          <a:prstGeom prst="roundRect">
            <a:avLst>
              <a:gd name="adj" fmla="val 3670"/>
            </a:avLst>
          </a:prstGeom>
          <a:solidFill>
            <a:srgbClr val="f3efe6"/>
          </a:solidFill>
          <a:ln>
            <a:noFill/>
          </a:ln>
        </p:spPr>
        <p:style>
          <a:lnRef idx="0"/>
          <a:fillRef idx="0"/>
          <a:effectRef idx="0"/>
          <a:fontRef idx="minor"/>
        </p:style>
      </p:sp>
      <p:pic>
        <p:nvPicPr>
          <p:cNvPr id="47" name="Image 1" descr="Private cloud layers: Management Layer, Virtualization Layer, Hardware Layer"/>
          <p:cNvPicPr/>
          <p:nvPr/>
        </p:nvPicPr>
        <p:blipFill>
          <a:blip r:embed="rId2"/>
          <a:srcRect l="0" t="-38" r="0" b="-38"/>
          <a:stretch/>
        </p:blipFill>
        <p:spPr>
          <a:xfrm>
            <a:off x="3238560" y="1932840"/>
            <a:ext cx="5713920" cy="3542400"/>
          </a:xfrm>
          <a:prstGeom prst="rect">
            <a:avLst/>
          </a:prstGeom>
          <a:ln>
            <a:noFill/>
          </a:ln>
        </p:spPr>
      </p:pic>
      <p:sp>
        <p:nvSpPr>
          <p:cNvPr id="48" name="CustomShape 3"/>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49" name="Image 0" descr="rect"/>
          <p:cNvPicPr/>
          <p:nvPr/>
        </p:nvPicPr>
        <p:blipFill>
          <a:blip r:embed="rId1"/>
          <a:stretch/>
        </p:blipFill>
        <p:spPr>
          <a:xfrm>
            <a:off x="0" y="0"/>
            <a:ext cx="151200" cy="6856920"/>
          </a:xfrm>
          <a:prstGeom prst="rect">
            <a:avLst/>
          </a:prstGeom>
          <a:ln>
            <a:noFill/>
          </a:ln>
        </p:spPr>
      </p:pic>
      <p:sp>
        <p:nvSpPr>
          <p:cNvPr id="50" name="CustomShape 1"/>
          <p:cNvSpPr/>
          <p:nvPr/>
        </p:nvSpPr>
        <p:spPr>
          <a:xfrm>
            <a:off x="812880" y="812880"/>
            <a:ext cx="10882440" cy="499320"/>
          </a:xfrm>
          <a:prstGeom prst="rect">
            <a:avLst/>
          </a:prstGeom>
          <a:noFill/>
          <a:ln>
            <a:noFill/>
          </a:ln>
        </p:spPr>
        <p:style>
          <a:lnRef idx="0"/>
          <a:fillRef idx="0"/>
          <a:effectRef idx="0"/>
          <a:fontRef idx="minor"/>
        </p:style>
        <p:txBody>
          <a:bodyPr lIns="0" rIns="0" tIns="0" bIns="0">
            <a:normAutofit/>
          </a:bodyPr>
          <a:p>
            <a:pPr>
              <a:lnSpc>
                <a:spcPts val="3739"/>
              </a:lnSpc>
              <a:tabLst>
                <a:tab algn="l" pos="0"/>
              </a:tabLst>
            </a:pPr>
            <a:r>
              <a:rPr b="1" lang="en-US" sz="3400" spc="-1" strike="noStrike">
                <a:solidFill>
                  <a:srgbClr val="f2b84b"/>
                </a:solidFill>
                <a:latin typeface="Inter"/>
                <a:ea typeface="Inter"/>
              </a:rPr>
              <a:t>Virtualization Layer</a:t>
            </a:r>
            <a:endParaRPr b="0" lang="en-IN" sz="3400" spc="-1" strike="noStrike">
              <a:latin typeface="Arial"/>
            </a:endParaRPr>
          </a:p>
        </p:txBody>
      </p:sp>
      <p:sp>
        <p:nvSpPr>
          <p:cNvPr id="51" name="CustomShape 2"/>
          <p:cNvSpPr/>
          <p:nvPr/>
        </p:nvSpPr>
        <p:spPr>
          <a:xfrm>
            <a:off x="812880" y="1516320"/>
            <a:ext cx="10882440" cy="374040"/>
          </a:xfrm>
          <a:prstGeom prst="rect">
            <a:avLst/>
          </a:prstGeom>
          <a:noFill/>
          <a:ln>
            <a:noFill/>
          </a:ln>
        </p:spPr>
        <p:style>
          <a:lnRef idx="0"/>
          <a:fillRef idx="0"/>
          <a:effectRef idx="0"/>
          <a:fontRef idx="minor"/>
        </p:style>
        <p:txBody>
          <a:bodyPr lIns="0" rIns="0" tIns="0" bIns="0">
            <a:normAutofit/>
          </a:bodyPr>
          <a:p>
            <a:pPr>
              <a:lnSpc>
                <a:spcPts val="2755"/>
              </a:lnSpc>
              <a:tabLst>
                <a:tab algn="l" pos="0"/>
              </a:tabLst>
            </a:pPr>
            <a:r>
              <a:rPr b="0" lang="en-US" sz="1900" spc="-1" strike="noStrike">
                <a:solidFill>
                  <a:srgbClr val="c3cedf"/>
                </a:solidFill>
                <a:latin typeface="Inter"/>
                <a:ea typeface="Inter"/>
              </a:rPr>
              <a:t>Helps us o achieve several of the essential characteristics such as </a:t>
            </a:r>
            <a:r>
              <a:rPr b="1" lang="en-US" sz="1900" spc="-1" strike="noStrike">
                <a:solidFill>
                  <a:srgbClr val="f2b84b"/>
                </a:solidFill>
                <a:latin typeface="Inter"/>
                <a:ea typeface="Inter"/>
              </a:rPr>
              <a:t>resource pooling.</a:t>
            </a:r>
            <a:endParaRPr b="0" lang="en-IN" sz="1900" spc="-1" strike="noStrike">
              <a:latin typeface="Arial"/>
            </a:endParaRPr>
          </a:p>
        </p:txBody>
      </p:sp>
      <p:sp>
        <p:nvSpPr>
          <p:cNvPr id="52" name="CustomShape 3"/>
          <p:cNvSpPr/>
          <p:nvPr/>
        </p:nvSpPr>
        <p:spPr>
          <a:xfrm>
            <a:off x="812880" y="2094840"/>
            <a:ext cx="10882440" cy="359640"/>
          </a:xfrm>
          <a:prstGeom prst="rect">
            <a:avLst/>
          </a:prstGeom>
          <a:noFill/>
          <a:ln>
            <a:noFill/>
          </a:ln>
        </p:spPr>
        <p:style>
          <a:lnRef idx="0"/>
          <a:fillRef idx="0"/>
          <a:effectRef idx="0"/>
          <a:fontRef idx="minor"/>
        </p:style>
        <p:txBody>
          <a:bodyPr lIns="0" rIns="0" tIns="0" bIns="0">
            <a:normAutofit/>
          </a:bodyPr>
          <a:p>
            <a:pPr>
              <a:lnSpc>
                <a:spcPts val="2639"/>
              </a:lnSpc>
              <a:tabLst>
                <a:tab algn="l" pos="0"/>
              </a:tabLst>
            </a:pPr>
            <a:r>
              <a:rPr b="1" lang="en-US" sz="2200" spc="-1" strike="noStrike">
                <a:solidFill>
                  <a:srgbClr val="5eead4"/>
                </a:solidFill>
                <a:latin typeface="Inter"/>
                <a:ea typeface="Inter"/>
              </a:rPr>
              <a:t>Benefits</a:t>
            </a:r>
            <a:endParaRPr b="0" lang="en-IN" sz="2200" spc="-1" strike="noStrike">
              <a:latin typeface="Arial"/>
            </a:endParaRPr>
          </a:p>
        </p:txBody>
      </p:sp>
      <p:sp>
        <p:nvSpPr>
          <p:cNvPr id="53" name="CustomShape 4"/>
          <p:cNvSpPr/>
          <p:nvPr/>
        </p:nvSpPr>
        <p:spPr>
          <a:xfrm>
            <a:off x="812880" y="2658600"/>
            <a:ext cx="3385440" cy="2998800"/>
          </a:xfrm>
          <a:prstGeom prst="roundRect">
            <a:avLst>
              <a:gd name="adj" fmla="val 4233"/>
            </a:avLst>
          </a:prstGeom>
          <a:solidFill>
            <a:srgbClr val="1b2c48"/>
          </a:solidFill>
          <a:ln>
            <a:noFill/>
          </a:ln>
        </p:spPr>
        <p:style>
          <a:lnRef idx="0"/>
          <a:fillRef idx="0"/>
          <a:effectRef idx="0"/>
          <a:fontRef idx="minor"/>
        </p:style>
        <p:txBody>
          <a:bodyPr lIns="242280" rIns="157320" tIns="280440" bIns="216720">
            <a:normAutofit/>
          </a:bodyPr>
          <a:p>
            <a:pPr>
              <a:lnSpc>
                <a:spcPts val="2103"/>
              </a:lnSpc>
              <a:tabLst>
                <a:tab algn="l" pos="0"/>
              </a:tabLst>
            </a:pPr>
            <a:r>
              <a:rPr b="1" lang="en-US" sz="1450" spc="-1" strike="noStrike">
                <a:solidFill>
                  <a:srgbClr val="f3efe6"/>
                </a:solidFill>
                <a:latin typeface="Inter"/>
                <a:ea typeface="Inter"/>
              </a:rPr>
              <a:t>On-Demand Service Provisioning / Self-service</a:t>
            </a:r>
            <a:r>
              <a:rPr b="0" lang="en-US" sz="1450" spc="-1" strike="noStrike">
                <a:solidFill>
                  <a:srgbClr val="f3efe6"/>
                </a:solidFill>
                <a:latin typeface="Inter"/>
                <a:ea typeface="Inter"/>
              </a:rPr>
              <a:t> is a primary feature of a private cloud environment. Users should be able to deploy new services on their own, or at least with minimal guidance from IT infrastructure administrators.</a:t>
            </a:r>
            <a:endParaRPr b="0" lang="en-IN" sz="1450" spc="-1" strike="noStrike">
              <a:latin typeface="Arial"/>
            </a:endParaRPr>
          </a:p>
        </p:txBody>
      </p:sp>
      <p:sp>
        <p:nvSpPr>
          <p:cNvPr id="54" name="CustomShape 5"/>
          <p:cNvSpPr/>
          <p:nvPr/>
        </p:nvSpPr>
        <p:spPr>
          <a:xfrm>
            <a:off x="812880" y="2658600"/>
            <a:ext cx="3385440" cy="2998800"/>
          </a:xfrm>
          <a:custGeom>
            <a:avLst/>
            <a:gdLst/>
            <a:ahLst/>
            <a:rect l="l" t="t" r="r" b="b"/>
            <a:pathLst>
              <a:path w="3386667" h="3000058">
                <a:moveTo>
                  <a:pt x="0" y="127000"/>
                </a:moveTo>
                <a:lnTo>
                  <a:pt x="0" y="127000"/>
                </a:lnTo>
                <a:lnTo>
                  <a:pt x="3259667" y="0"/>
                </a:lnTo>
                <a:lnTo>
                  <a:pt x="3386667" y="127000"/>
                </a:lnTo>
                <a:lnTo>
                  <a:pt x="127000" y="38100"/>
                </a:lnTo>
                <a:close/>
              </a:path>
            </a:pathLst>
          </a:custGeom>
          <a:solidFill>
            <a:srgbClr val="f2b84b"/>
          </a:solidFill>
          <a:ln>
            <a:noFill/>
          </a:ln>
        </p:spPr>
        <p:style>
          <a:lnRef idx="0"/>
          <a:fillRef idx="0"/>
          <a:effectRef idx="0"/>
          <a:fontRef idx="minor"/>
        </p:style>
      </p:sp>
      <p:sp>
        <p:nvSpPr>
          <p:cNvPr id="55" name="CustomShape 6"/>
          <p:cNvSpPr/>
          <p:nvPr/>
        </p:nvSpPr>
        <p:spPr>
          <a:xfrm>
            <a:off x="4402800" y="2658600"/>
            <a:ext cx="3385440" cy="2998800"/>
          </a:xfrm>
          <a:prstGeom prst="roundRect">
            <a:avLst>
              <a:gd name="adj" fmla="val 4233"/>
            </a:avLst>
          </a:prstGeom>
          <a:solidFill>
            <a:srgbClr val="1b2c48"/>
          </a:solidFill>
          <a:ln>
            <a:noFill/>
          </a:ln>
        </p:spPr>
        <p:style>
          <a:lnRef idx="0"/>
          <a:fillRef idx="0"/>
          <a:effectRef idx="0"/>
          <a:fontRef idx="minor"/>
        </p:style>
        <p:txBody>
          <a:bodyPr lIns="242280" rIns="157320" tIns="280440" bIns="242280">
            <a:normAutofit/>
          </a:bodyPr>
          <a:p>
            <a:pPr>
              <a:lnSpc>
                <a:spcPts val="2103"/>
              </a:lnSpc>
              <a:tabLst>
                <a:tab algn="l" pos="0"/>
              </a:tabLst>
            </a:pPr>
            <a:r>
              <a:rPr b="1" lang="en-US" sz="1450" spc="-1" strike="noStrike">
                <a:solidFill>
                  <a:srgbClr val="f3efe6"/>
                </a:solidFill>
                <a:latin typeface="Inter"/>
                <a:ea typeface="Inter"/>
              </a:rPr>
              <a:t>Multi-Tenancy</a:t>
            </a:r>
            <a:r>
              <a:rPr b="0" lang="en-US" sz="1450" spc="-1" strike="noStrike">
                <a:solidFill>
                  <a:srgbClr val="f3efe6"/>
                </a:solidFill>
                <a:latin typeface="Inter"/>
                <a:ea typeface="Inter"/>
              </a:rPr>
              <a:t> – With multi-tenancy your private cloud can securely support different computing environment .</a:t>
            </a:r>
            <a:endParaRPr b="0" lang="en-IN" sz="1450" spc="-1" strike="noStrike">
              <a:latin typeface="Arial"/>
            </a:endParaRPr>
          </a:p>
        </p:txBody>
      </p:sp>
      <p:sp>
        <p:nvSpPr>
          <p:cNvPr id="56" name="CustomShape 7"/>
          <p:cNvSpPr/>
          <p:nvPr/>
        </p:nvSpPr>
        <p:spPr>
          <a:xfrm>
            <a:off x="4402800" y="2658600"/>
            <a:ext cx="3385440" cy="2998800"/>
          </a:xfrm>
          <a:custGeom>
            <a:avLst/>
            <a:gdLst/>
            <a:ahLst/>
            <a:rect l="l" t="t" r="r" b="b"/>
            <a:pathLst>
              <a:path w="3386667" h="3000058">
                <a:moveTo>
                  <a:pt x="0" y="127000"/>
                </a:moveTo>
                <a:lnTo>
                  <a:pt x="0" y="127000"/>
                </a:lnTo>
                <a:lnTo>
                  <a:pt x="3259667" y="0"/>
                </a:lnTo>
                <a:lnTo>
                  <a:pt x="3386667" y="127000"/>
                </a:lnTo>
                <a:lnTo>
                  <a:pt x="127000" y="38100"/>
                </a:lnTo>
                <a:close/>
              </a:path>
            </a:pathLst>
          </a:custGeom>
          <a:solidFill>
            <a:srgbClr val="f2b84b"/>
          </a:solidFill>
          <a:ln>
            <a:noFill/>
          </a:ln>
        </p:spPr>
        <p:style>
          <a:lnRef idx="0"/>
          <a:fillRef idx="0"/>
          <a:effectRef idx="0"/>
          <a:fontRef idx="minor"/>
        </p:style>
      </p:sp>
      <p:sp>
        <p:nvSpPr>
          <p:cNvPr id="57" name="CustomShape 8"/>
          <p:cNvSpPr/>
          <p:nvPr/>
        </p:nvSpPr>
        <p:spPr>
          <a:xfrm>
            <a:off x="7992360" y="2658600"/>
            <a:ext cx="3385440" cy="2998800"/>
          </a:xfrm>
          <a:prstGeom prst="roundRect">
            <a:avLst>
              <a:gd name="adj" fmla="val 4233"/>
            </a:avLst>
          </a:prstGeom>
          <a:solidFill>
            <a:srgbClr val="1b2c48"/>
          </a:solidFill>
          <a:ln>
            <a:noFill/>
          </a:ln>
        </p:spPr>
        <p:style>
          <a:lnRef idx="0"/>
          <a:fillRef idx="0"/>
          <a:effectRef idx="0"/>
          <a:fontRef idx="minor"/>
        </p:style>
        <p:txBody>
          <a:bodyPr lIns="242280" rIns="157320" tIns="280440" bIns="242280">
            <a:normAutofit/>
          </a:bodyPr>
          <a:p>
            <a:pPr>
              <a:lnSpc>
                <a:spcPts val="2103"/>
              </a:lnSpc>
              <a:tabLst>
                <a:tab algn="l" pos="0"/>
              </a:tabLst>
            </a:pPr>
            <a:r>
              <a:rPr b="1" lang="en-US" sz="1450" spc="-1" strike="noStrike">
                <a:solidFill>
                  <a:srgbClr val="f3efe6"/>
                </a:solidFill>
                <a:latin typeface="Inter"/>
                <a:ea typeface="Inter"/>
              </a:rPr>
              <a:t>Simple Resource Scaling</a:t>
            </a:r>
            <a:r>
              <a:rPr b="0" lang="en-US" sz="1450" spc="-1" strike="noStrike">
                <a:solidFill>
                  <a:srgbClr val="f3efe6"/>
                </a:solidFill>
                <a:latin typeface="Inter"/>
                <a:ea typeface="Inter"/>
              </a:rPr>
              <a:t> – As your environment grows you will have to add more resources such as RAM and storage.</a:t>
            </a:r>
            <a:endParaRPr b="0" lang="en-IN" sz="1450" spc="-1" strike="noStrike">
              <a:latin typeface="Arial"/>
            </a:endParaRPr>
          </a:p>
        </p:txBody>
      </p:sp>
      <p:sp>
        <p:nvSpPr>
          <p:cNvPr id="58" name="CustomShape 9"/>
          <p:cNvSpPr/>
          <p:nvPr/>
        </p:nvSpPr>
        <p:spPr>
          <a:xfrm>
            <a:off x="7992360" y="2658600"/>
            <a:ext cx="3385440" cy="2998800"/>
          </a:xfrm>
          <a:custGeom>
            <a:avLst/>
            <a:gdLst/>
            <a:ahLst/>
            <a:rect l="l" t="t" r="r" b="b"/>
            <a:pathLst>
              <a:path w="3386667" h="3000058">
                <a:moveTo>
                  <a:pt x="0" y="127000"/>
                </a:moveTo>
                <a:lnTo>
                  <a:pt x="0" y="127000"/>
                </a:lnTo>
                <a:lnTo>
                  <a:pt x="3259667" y="0"/>
                </a:lnTo>
                <a:lnTo>
                  <a:pt x="3386667" y="127000"/>
                </a:lnTo>
                <a:lnTo>
                  <a:pt x="127000" y="38100"/>
                </a:lnTo>
                <a:close/>
              </a:path>
            </a:pathLst>
          </a:custGeom>
          <a:solidFill>
            <a:srgbClr val="f2b84b"/>
          </a:solidFill>
          <a:ln>
            <a:noFill/>
          </a:ln>
        </p:spPr>
        <p:style>
          <a:lnRef idx="0"/>
          <a:fillRef idx="0"/>
          <a:effectRef idx="0"/>
          <a:fontRef idx="minor"/>
        </p:style>
      </p:sp>
      <p:sp>
        <p:nvSpPr>
          <p:cNvPr id="59" name="CustomShape 10"/>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CustomShape 1"/>
          <p:cNvSpPr/>
          <p:nvPr/>
        </p:nvSpPr>
        <p:spPr>
          <a:xfrm>
            <a:off x="504000" y="792000"/>
            <a:ext cx="10799640" cy="5242680"/>
          </a:xfrm>
          <a:prstGeom prst="rect">
            <a:avLst/>
          </a:prstGeom>
          <a:noFill/>
          <a:ln>
            <a:noFill/>
          </a:ln>
        </p:spPr>
        <p:style>
          <a:lnRef idx="0"/>
          <a:fillRef idx="0"/>
          <a:effectRef idx="0"/>
          <a:fontRef idx="minor"/>
        </p:style>
        <p:txBody>
          <a:bodyPr lIns="90000" rIns="90000" tIns="45000" bIns="45000">
            <a:noAutofit/>
          </a:bodyPr>
          <a:p>
            <a:pPr>
              <a:lnSpc>
                <a:spcPct val="100000"/>
              </a:lnSpc>
            </a:pPr>
            <a:endParaRPr b="0" lang="en-IN" sz="1800" spc="-1" strike="noStrike">
              <a:latin typeface="Arial"/>
            </a:endParaRPr>
          </a:p>
          <a:p>
            <a:pPr>
              <a:lnSpc>
                <a:spcPct val="100000"/>
              </a:lnSpc>
            </a:pPr>
            <a:r>
              <a:rPr b="0" lang="en-IN" sz="2800" spc="-1" strike="noStrike">
                <a:latin typeface="Arial"/>
              </a:rPr>
              <a:t>The virtualization layer sits between the physical hardware and the cloud services.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It takes physical resources such as: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CPU</a:t>
            </a:r>
            <a:endParaRPr b="0" lang="en-IN" sz="2800" spc="-1" strike="noStrike">
              <a:latin typeface="Arial"/>
            </a:endParaRPr>
          </a:p>
          <a:p>
            <a:pPr>
              <a:lnSpc>
                <a:spcPct val="100000"/>
              </a:lnSpc>
            </a:pPr>
            <a:r>
              <a:rPr b="0" lang="en-IN" sz="2800" spc="-1" strike="noStrike">
                <a:latin typeface="Arial"/>
              </a:rPr>
              <a:t>RAM</a:t>
            </a:r>
            <a:endParaRPr b="0" lang="en-IN" sz="2800" spc="-1" strike="noStrike">
              <a:latin typeface="Arial"/>
            </a:endParaRPr>
          </a:p>
          <a:p>
            <a:pPr>
              <a:lnSpc>
                <a:spcPct val="100000"/>
              </a:lnSpc>
            </a:pPr>
            <a:r>
              <a:rPr b="0" lang="en-IN" sz="2800" spc="-1" strike="noStrike">
                <a:latin typeface="Arial"/>
              </a:rPr>
              <a:t>Storage</a:t>
            </a:r>
            <a:endParaRPr b="0" lang="en-IN" sz="2800" spc="-1" strike="noStrike">
              <a:latin typeface="Arial"/>
            </a:endParaRPr>
          </a:p>
          <a:p>
            <a:pPr>
              <a:lnSpc>
                <a:spcPct val="100000"/>
              </a:lnSpc>
            </a:pPr>
            <a:r>
              <a:rPr b="0" lang="en-IN" sz="2800" spc="-1" strike="noStrike">
                <a:latin typeface="Arial"/>
              </a:rPr>
              <a:t>Network resources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and converts them into virtual resources that can be shared and managed efficiently.</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CustomShape 1"/>
          <p:cNvSpPr/>
          <p:nvPr/>
        </p:nvSpPr>
        <p:spPr>
          <a:xfrm>
            <a:off x="504000" y="792000"/>
            <a:ext cx="10799640" cy="414900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IN" sz="2600" spc="-1" strike="noStrike">
                <a:latin typeface="Arial"/>
              </a:rPr>
              <a:t>For example, suppose a physical server has 64 GB RAM and 16 CPU cores. Virtualization can divide these resources among several virtual machines:</a:t>
            </a:r>
            <a:endParaRPr b="0" lang="en-IN" sz="2600" spc="-1" strike="noStrike">
              <a:latin typeface="Arial"/>
            </a:endParaRPr>
          </a:p>
          <a:p>
            <a:pPr>
              <a:lnSpc>
                <a:spcPct val="100000"/>
              </a:lnSpc>
            </a:pPr>
            <a:endParaRPr b="0" lang="en-IN" sz="2600" spc="-1" strike="noStrike">
              <a:latin typeface="Arial"/>
            </a:endParaRPr>
          </a:p>
          <a:p>
            <a:pPr>
              <a:lnSpc>
                <a:spcPct val="100000"/>
              </a:lnSpc>
            </a:pPr>
            <a:r>
              <a:rPr b="0" lang="en-IN" sz="2600" spc="-1" strike="noStrike">
                <a:latin typeface="Arial"/>
              </a:rPr>
              <a:t>VM 1 → 16 GB RAM, 4 cores</a:t>
            </a:r>
            <a:endParaRPr b="0" lang="en-IN" sz="2600" spc="-1" strike="noStrike">
              <a:latin typeface="Arial"/>
            </a:endParaRPr>
          </a:p>
          <a:p>
            <a:pPr>
              <a:lnSpc>
                <a:spcPct val="100000"/>
              </a:lnSpc>
            </a:pPr>
            <a:r>
              <a:rPr b="0" lang="en-IN" sz="2600" spc="-1" strike="noStrike">
                <a:latin typeface="Arial"/>
              </a:rPr>
              <a:t>VM 2 → 16 GB RAM, 4 cores</a:t>
            </a:r>
            <a:endParaRPr b="0" lang="en-IN" sz="2600" spc="-1" strike="noStrike">
              <a:latin typeface="Arial"/>
            </a:endParaRPr>
          </a:p>
          <a:p>
            <a:pPr>
              <a:lnSpc>
                <a:spcPct val="100000"/>
              </a:lnSpc>
            </a:pPr>
            <a:r>
              <a:rPr b="0" lang="en-IN" sz="2600" spc="-1" strike="noStrike">
                <a:latin typeface="Arial"/>
              </a:rPr>
              <a:t>VM 3 → 16 GB RAM, 4 cores</a:t>
            </a:r>
            <a:endParaRPr b="0" lang="en-IN" sz="2600" spc="-1" strike="noStrike">
              <a:latin typeface="Arial"/>
            </a:endParaRPr>
          </a:p>
          <a:p>
            <a:pPr>
              <a:lnSpc>
                <a:spcPct val="100000"/>
              </a:lnSpc>
            </a:pPr>
            <a:r>
              <a:rPr b="0" lang="en-IN" sz="2600" spc="-1" strike="noStrike">
                <a:latin typeface="Arial"/>
              </a:rPr>
              <a:t>VM 4 → 16 GB RAM, 4 cores</a:t>
            </a:r>
            <a:endParaRPr b="0" lang="en-IN" sz="2600" spc="-1" strike="noStrike">
              <a:latin typeface="Arial"/>
            </a:endParaRPr>
          </a:p>
          <a:p>
            <a:pPr>
              <a:lnSpc>
                <a:spcPct val="100000"/>
              </a:lnSpc>
            </a:pPr>
            <a:endParaRPr b="0" lang="en-IN" sz="2600" spc="-1" strike="noStrike">
              <a:latin typeface="Arial"/>
            </a:endParaRPr>
          </a:p>
          <a:p>
            <a:pPr>
              <a:lnSpc>
                <a:spcPct val="100000"/>
              </a:lnSpc>
            </a:pPr>
            <a:r>
              <a:rPr b="0" lang="en-IN" sz="2600" spc="-1" strike="noStrike">
                <a:latin typeface="Arial"/>
              </a:rPr>
              <a:t>The users see virtual machines, rather than directly accessing the physical server.</a:t>
            </a:r>
            <a:endParaRPr b="0" lang="en-IN" sz="26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CustomShape 1"/>
          <p:cNvSpPr/>
          <p:nvPr/>
        </p:nvSpPr>
        <p:spPr>
          <a:xfrm>
            <a:off x="648000" y="-348480"/>
            <a:ext cx="10799640" cy="6828120"/>
          </a:xfrm>
          <a:prstGeom prst="rect">
            <a:avLst/>
          </a:prstGeom>
          <a:noFill/>
          <a:ln>
            <a:noFill/>
          </a:ln>
        </p:spPr>
        <p:style>
          <a:lnRef idx="0"/>
          <a:fillRef idx="0"/>
          <a:effectRef idx="0"/>
          <a:fontRef idx="minor"/>
        </p:style>
        <p:txBody>
          <a:bodyPr lIns="90000" rIns="90000" tIns="45000" bIns="45000">
            <a:noAutofit/>
          </a:bodyPr>
          <a:p>
            <a:pPr>
              <a:lnSpc>
                <a:spcPct val="100000"/>
              </a:lnSpc>
            </a:pPr>
            <a:endParaRPr b="0" lang="en-IN" sz="1800" spc="-1" strike="noStrike">
              <a:latin typeface="Arial"/>
            </a:endParaRPr>
          </a:p>
          <a:p>
            <a:pPr>
              <a:lnSpc>
                <a:spcPct val="100000"/>
              </a:lnSpc>
            </a:pPr>
            <a:endParaRPr b="0" lang="en-IN" sz="1800" spc="-1" strike="noStrike">
              <a:latin typeface="Arial"/>
            </a:endParaRPr>
          </a:p>
          <a:p>
            <a:pPr>
              <a:lnSpc>
                <a:spcPct val="100000"/>
              </a:lnSpc>
            </a:pPr>
            <a:r>
              <a:rPr b="0" lang="en-IN" sz="2800" spc="-1" strike="noStrike">
                <a:latin typeface="Arial"/>
              </a:rPr>
              <a:t>“</a:t>
            </a:r>
            <a:r>
              <a:rPr b="0" lang="en-IN" sz="2800" spc="-1" strike="noStrike">
                <a:latin typeface="Arial"/>
              </a:rPr>
              <a:t>Helps us to achieve several of the essential characteristics such as resource pooling.”</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Resource pooling means that physical resources are collected into a common pool and allocated to users/applications when required.</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For example:</a:t>
            </a:r>
            <a:endParaRPr b="0" lang="en-IN" sz="2800" spc="-1" strike="noStrike">
              <a:latin typeface="Arial"/>
            </a:endParaRPr>
          </a:p>
          <a:p>
            <a:pPr>
              <a:lnSpc>
                <a:spcPct val="100000"/>
              </a:lnSpc>
            </a:pPr>
            <a:r>
              <a:rPr b="0" lang="en-IN" sz="2800" spc="-1" strike="noStrike">
                <a:latin typeface="Arial"/>
              </a:rPr>
              <a:t>Imagine a private cloud has 10 physical servers.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Instead of dedicating one complete server to each department, virtualization allows the cloud administrator to create virtual machines using resources from the available servers.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So resources can be shared and allocated according to demand.</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CustomShape 1"/>
          <p:cNvSpPr/>
          <p:nvPr/>
        </p:nvSpPr>
        <p:spPr>
          <a:xfrm>
            <a:off x="504000" y="792000"/>
            <a:ext cx="10799640" cy="8719920"/>
          </a:xfrm>
          <a:prstGeom prst="rect">
            <a:avLst/>
          </a:prstGeom>
          <a:noFill/>
          <a:ln>
            <a:noFill/>
          </a:ln>
        </p:spPr>
        <p:style>
          <a:lnRef idx="0"/>
          <a:fillRef idx="0"/>
          <a:effectRef idx="0"/>
          <a:fontRef idx="minor"/>
        </p:style>
        <p:txBody>
          <a:bodyPr lIns="0" rIns="0" tIns="0" bIns="0">
            <a:noAutofit/>
          </a:bodyPr>
          <a:p>
            <a:pPr>
              <a:lnSpc>
                <a:spcPct val="100000"/>
              </a:lnSpc>
            </a:pPr>
            <a:r>
              <a:rPr b="0" lang="en-IN" sz="2800" spc="-1" strike="noStrike">
                <a:latin typeface="Arial"/>
              </a:rPr>
              <a:t>On-Demand Service Provisioning / Self-Service</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This means users can create or obtain computing resources </a:t>
            </a:r>
            <a:r>
              <a:rPr b="1" lang="en-IN" sz="2800" spc="-1" strike="noStrike">
                <a:latin typeface="Arial"/>
                <a:ea typeface="Noto Sans CJK SC"/>
              </a:rPr>
              <a:t>when they need them</a:t>
            </a:r>
            <a:r>
              <a:rPr b="0" lang="en-IN" sz="2800" spc="-1" strike="noStrike">
                <a:latin typeface="Arial"/>
                <a:ea typeface="Noto Sans CJK SC"/>
              </a:rPr>
              <a:t>, without waiting for the administrator to manually configure a physical server.</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For example:</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A faculty member needs a server for a student project.</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Instead of asking the IT administrator to purchase and configure a new physical machine, the private cloud can provide a virtual machine within minutes.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So:</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Request → Virtual machine created → User starts working</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This is called self-service provisioning.</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The user may do it independently, or with minimal guidance from the IT administrator.</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CustomShape 1"/>
          <p:cNvSpPr/>
          <p:nvPr/>
        </p:nvSpPr>
        <p:spPr>
          <a:xfrm>
            <a:off x="504000" y="792000"/>
            <a:ext cx="10799640" cy="6341760"/>
          </a:xfrm>
          <a:prstGeom prst="rect">
            <a:avLst/>
          </a:prstGeom>
          <a:noFill/>
          <a:ln>
            <a:noFill/>
          </a:ln>
        </p:spPr>
        <p:style>
          <a:lnRef idx="0"/>
          <a:fillRef idx="0"/>
          <a:effectRef idx="0"/>
          <a:fontRef idx="minor"/>
        </p:style>
        <p:txBody>
          <a:bodyPr lIns="0" rIns="0" tIns="0" bIns="0">
            <a:noAutofit/>
          </a:bodyPr>
          <a:p>
            <a:pPr>
              <a:lnSpc>
                <a:spcPct val="100000"/>
              </a:lnSpc>
            </a:pPr>
            <a:r>
              <a:rPr b="0" lang="en-IN" sz="2800" spc="-1" strike="noStrike">
                <a:latin typeface="Arial"/>
              </a:rPr>
              <a:t>Multi-tenancy means that the same physical cloud infrastructure can support multiple users, departments, or applications while keeping their environments logically separated.</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For example, in a college private cloud:</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MCA Department → Virtual machines</a:t>
            </a:r>
            <a:endParaRPr b="0" lang="en-IN" sz="2800" spc="-1" strike="noStrike">
              <a:latin typeface="Arial"/>
            </a:endParaRPr>
          </a:p>
          <a:p>
            <a:pPr>
              <a:lnSpc>
                <a:spcPct val="100000"/>
              </a:lnSpc>
            </a:pPr>
            <a:r>
              <a:rPr b="0" lang="en-IN" sz="2800" spc="-1" strike="noStrike">
                <a:latin typeface="Arial"/>
                <a:ea typeface="Noto Sans CJK SC"/>
              </a:rPr>
              <a:t>CSE Department → Virtual machines</a:t>
            </a:r>
            <a:endParaRPr b="0" lang="en-IN" sz="2800" spc="-1" strike="noStrike">
              <a:latin typeface="Arial"/>
            </a:endParaRPr>
          </a:p>
          <a:p>
            <a:pPr>
              <a:lnSpc>
                <a:spcPct val="100000"/>
              </a:lnSpc>
            </a:pPr>
            <a:r>
              <a:rPr b="0" lang="en-IN" sz="2800" spc="-1" strike="noStrike">
                <a:latin typeface="Arial"/>
                <a:ea typeface="Noto Sans CJK SC"/>
              </a:rPr>
              <a:t>Administration → Virtual machines</a:t>
            </a:r>
            <a:endParaRPr b="0" lang="en-IN" sz="2800" spc="-1" strike="noStrike">
              <a:latin typeface="Arial"/>
            </a:endParaRPr>
          </a:p>
          <a:p>
            <a:pPr>
              <a:lnSpc>
                <a:spcPct val="100000"/>
              </a:lnSpc>
            </a:pPr>
            <a:r>
              <a:rPr b="0" lang="en-IN" sz="2800" spc="-1" strike="noStrike">
                <a:latin typeface="Arial"/>
                <a:ea typeface="Noto Sans CJK SC"/>
              </a:rPr>
              <a:t>Research Department → Virtual machines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All of them may use the same physical servers, but their virtual environments remain separated.</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ea typeface="Noto Sans CJK SC"/>
              </a:rPr>
              <a:t>So, virtualization allows different tenants to securely share infrastructure.</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CustomShape 1"/>
          <p:cNvSpPr/>
          <p:nvPr/>
        </p:nvSpPr>
        <p:spPr>
          <a:xfrm>
            <a:off x="504000" y="792000"/>
            <a:ext cx="10799640" cy="64317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IN" sz="2800" spc="-1" strike="noStrike">
                <a:latin typeface="Arial"/>
              </a:rPr>
              <a:t>Th</a:t>
            </a:r>
            <a:r>
              <a:rPr b="0" lang="en-IN" sz="2800" spc="-1" strike="noStrike">
                <a:latin typeface="Arial"/>
              </a:rPr>
              <a:t>is means that computing resources can be increased or decreased according to demand.</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For example, suppose an application currently needs: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4 GB RAM + 2 CPU cores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Later, the number of users increases and the application needs: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8 GB RAM + 4 CPU cores</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With virtualization, additional resources can be allocated to the virtual machine without necessarily replacing the entire physical server.</a:t>
            </a:r>
            <a:endParaRPr b="0" lang="en-IN" sz="2800" spc="-1" strike="noStrike">
              <a:latin typeface="Arial"/>
            </a:endParaRPr>
          </a:p>
          <a:p>
            <a:pPr>
              <a:lnSpc>
                <a:spcPct val="100000"/>
              </a:lnSpc>
            </a:pPr>
            <a:endParaRPr b="0" lang="en-IN" sz="2800" spc="-1" strike="noStrike">
              <a:latin typeface="Arial"/>
            </a:endParaRPr>
          </a:p>
          <a:p>
            <a:pPr>
              <a:lnSpc>
                <a:spcPct val="100000"/>
              </a:lnSpc>
            </a:pPr>
            <a:r>
              <a:rPr b="0" lang="en-IN" sz="2800" spc="-1" strike="noStrike">
                <a:latin typeface="Arial"/>
              </a:rPr>
              <a:t>Similarly, resources can be reduced when demand decreases.</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66" name="Image 0" descr="rect"/>
          <p:cNvPicPr/>
          <p:nvPr/>
        </p:nvPicPr>
        <p:blipFill>
          <a:blip r:embed="rId1"/>
          <a:stretch/>
        </p:blipFill>
        <p:spPr>
          <a:xfrm>
            <a:off x="0" y="0"/>
            <a:ext cx="151200" cy="6856920"/>
          </a:xfrm>
          <a:prstGeom prst="rect">
            <a:avLst/>
          </a:prstGeom>
          <a:ln>
            <a:noFill/>
          </a:ln>
        </p:spPr>
      </p:pic>
      <p:sp>
        <p:nvSpPr>
          <p:cNvPr id="67" name="CustomShape 1"/>
          <p:cNvSpPr/>
          <p:nvPr/>
        </p:nvSpPr>
        <p:spPr>
          <a:xfrm>
            <a:off x="812880" y="2037600"/>
            <a:ext cx="10882440" cy="1197720"/>
          </a:xfrm>
          <a:prstGeom prst="rect">
            <a:avLst/>
          </a:prstGeom>
          <a:noFill/>
          <a:ln>
            <a:noFill/>
          </a:ln>
        </p:spPr>
        <p:style>
          <a:lnRef idx="0"/>
          <a:fillRef idx="0"/>
          <a:effectRef idx="0"/>
          <a:fontRef idx="minor"/>
        </p:style>
        <p:txBody>
          <a:bodyPr lIns="0" rIns="0" tIns="0" bIns="0">
            <a:normAutofit/>
          </a:bodyPr>
          <a:p>
            <a:pPr>
              <a:lnSpc>
                <a:spcPts val="4620"/>
              </a:lnSpc>
              <a:tabLst>
                <a:tab algn="l" pos="0"/>
              </a:tabLst>
            </a:pPr>
            <a:r>
              <a:rPr b="1" lang="en-US" sz="4200" spc="-1" strike="noStrike">
                <a:solidFill>
                  <a:srgbClr val="f2b84b"/>
                </a:solidFill>
                <a:latin typeface="Inter"/>
                <a:ea typeface="Inter"/>
              </a:rPr>
              <a:t>Hardware Layer (Physical Infrastructure)</a:t>
            </a:r>
            <a:endParaRPr b="0" lang="en-IN" sz="4200" spc="-1" strike="noStrike">
              <a:latin typeface="Arial"/>
            </a:endParaRPr>
          </a:p>
        </p:txBody>
      </p:sp>
      <p:pic>
        <p:nvPicPr>
          <p:cNvPr id="68" name="Image 1" descr="rect"/>
          <p:cNvPicPr/>
          <p:nvPr/>
        </p:nvPicPr>
        <p:blipFill>
          <a:blip r:embed="rId2"/>
          <a:stretch/>
        </p:blipFill>
        <p:spPr>
          <a:xfrm>
            <a:off x="812880" y="3465360"/>
            <a:ext cx="1269000" cy="49680"/>
          </a:xfrm>
          <a:prstGeom prst="rect">
            <a:avLst/>
          </a:prstGeom>
          <a:ln>
            <a:noFill/>
          </a:ln>
        </p:spPr>
      </p:pic>
      <p:sp>
        <p:nvSpPr>
          <p:cNvPr id="69" name="CustomShape 2"/>
          <p:cNvSpPr/>
          <p:nvPr/>
        </p:nvSpPr>
        <p:spPr>
          <a:xfrm>
            <a:off x="812880" y="3769920"/>
            <a:ext cx="10882440" cy="871560"/>
          </a:xfrm>
          <a:prstGeom prst="rect">
            <a:avLst/>
          </a:prstGeom>
          <a:noFill/>
          <a:ln>
            <a:noFill/>
          </a:ln>
        </p:spPr>
        <p:style>
          <a:lnRef idx="0"/>
          <a:fillRef idx="0"/>
          <a:effectRef idx="0"/>
          <a:fontRef idx="minor"/>
        </p:style>
        <p:txBody>
          <a:bodyPr lIns="0" rIns="0" tIns="0" bIns="0">
            <a:normAutofit/>
          </a:bodyPr>
          <a:p>
            <a:pPr>
              <a:lnSpc>
                <a:spcPts val="3336"/>
              </a:lnSpc>
              <a:tabLst>
                <a:tab algn="l" pos="0"/>
              </a:tabLst>
            </a:pPr>
            <a:r>
              <a:rPr b="0" lang="en-US" sz="2300" spc="-1" strike="noStrike">
                <a:solidFill>
                  <a:srgbClr val="f3efe6"/>
                </a:solidFill>
                <a:latin typeface="Inter"/>
                <a:ea typeface="Inter"/>
              </a:rPr>
              <a:t>The hardware layer represents the tangible, physical equipment housed inside an organization's private data center or a dedicated hosted facility.</a:t>
            </a:r>
            <a:endParaRPr b="0" lang="en-IN" sz="2300" spc="-1" strike="noStrike">
              <a:latin typeface="Arial"/>
            </a:endParaRPr>
          </a:p>
        </p:txBody>
      </p:sp>
      <p:sp>
        <p:nvSpPr>
          <p:cNvPr id="70" name="CustomShape 3"/>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71" name="Image 0" descr="rect"/>
          <p:cNvPicPr/>
          <p:nvPr/>
        </p:nvPicPr>
        <p:blipFill>
          <a:blip r:embed="rId1"/>
          <a:stretch/>
        </p:blipFill>
        <p:spPr>
          <a:xfrm>
            <a:off x="0" y="0"/>
            <a:ext cx="151200" cy="6856920"/>
          </a:xfrm>
          <a:prstGeom prst="rect">
            <a:avLst/>
          </a:prstGeom>
          <a:ln>
            <a:noFill/>
          </a:ln>
        </p:spPr>
      </p:pic>
      <p:sp>
        <p:nvSpPr>
          <p:cNvPr id="72" name="CustomShape 1"/>
          <p:cNvSpPr/>
          <p:nvPr/>
        </p:nvSpPr>
        <p:spPr>
          <a:xfrm>
            <a:off x="812880" y="812880"/>
            <a:ext cx="5155200" cy="5028120"/>
          </a:xfrm>
          <a:prstGeom prst="roundRect">
            <a:avLst>
              <a:gd name="adj" fmla="val 2525"/>
            </a:avLst>
          </a:prstGeom>
          <a:solidFill>
            <a:srgbClr val="1b2c48"/>
          </a:solidFill>
          <a:ln>
            <a:noFill/>
          </a:ln>
        </p:spPr>
        <p:style>
          <a:lnRef idx="0"/>
          <a:fillRef idx="0"/>
          <a:effectRef idx="0"/>
          <a:fontRef idx="minor"/>
        </p:style>
      </p:sp>
      <p:sp>
        <p:nvSpPr>
          <p:cNvPr id="73" name="CustomShape 2"/>
          <p:cNvSpPr/>
          <p:nvPr/>
        </p:nvSpPr>
        <p:spPr>
          <a:xfrm>
            <a:off x="812880" y="812880"/>
            <a:ext cx="5155200" cy="5028120"/>
          </a:xfrm>
          <a:custGeom>
            <a:avLst/>
            <a:gdLst/>
            <a:ahLst/>
            <a:rect l="l" t="t" r="r" b="b"/>
            <a:pathLst>
              <a:path w="5156200" h="502920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74" name="CustomShape 3"/>
          <p:cNvSpPr/>
          <p:nvPr/>
        </p:nvSpPr>
        <p:spPr>
          <a:xfrm>
            <a:off x="1092240" y="2397600"/>
            <a:ext cx="4734360" cy="42048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f2b84b"/>
                </a:solidFill>
                <a:latin typeface="Inter"/>
                <a:ea typeface="Inter"/>
              </a:rPr>
              <a:t>Networking:</a:t>
            </a:r>
            <a:endParaRPr b="0" lang="en-IN" sz="2600" spc="-1" strike="noStrike">
              <a:latin typeface="Arial"/>
            </a:endParaRPr>
          </a:p>
        </p:txBody>
      </p:sp>
      <p:sp>
        <p:nvSpPr>
          <p:cNvPr id="75" name="CustomShape 4"/>
          <p:cNvSpPr/>
          <p:nvPr/>
        </p:nvSpPr>
        <p:spPr>
          <a:xfrm>
            <a:off x="1092240" y="2895480"/>
            <a:ext cx="4734360" cy="2576520"/>
          </a:xfrm>
          <a:prstGeom prst="rect">
            <a:avLst/>
          </a:prstGeom>
          <a:noFill/>
          <a:ln>
            <a:noFill/>
          </a:ln>
        </p:spPr>
        <p:style>
          <a:lnRef idx="0"/>
          <a:fillRef idx="0"/>
          <a:effectRef idx="0"/>
          <a:fontRef idx="minor"/>
        </p:style>
        <p:txBody>
          <a:bodyPr lIns="0" rIns="0" tIns="0" bIns="0">
            <a:normAutofit/>
          </a:bodyPr>
          <a:p>
            <a:pPr>
              <a:lnSpc>
                <a:spcPts val="2755"/>
              </a:lnSpc>
              <a:tabLst>
                <a:tab algn="l" pos="0"/>
              </a:tabLst>
            </a:pPr>
            <a:r>
              <a:rPr b="0" lang="en-US" sz="2800" spc="-1" strike="noStrike">
                <a:solidFill>
                  <a:srgbClr val="f3efe6"/>
                </a:solidFill>
                <a:latin typeface="Inter"/>
                <a:ea typeface="Inter"/>
              </a:rPr>
              <a:t>Physical network switches, routers, firewalls, and high-speed cabling that link servers and storage arrays together.</a:t>
            </a:r>
            <a:endParaRPr b="0" lang="en-IN" sz="2800" spc="-1" strike="noStrike">
              <a:latin typeface="Arial"/>
            </a:endParaRPr>
          </a:p>
        </p:txBody>
      </p:sp>
      <p:sp>
        <p:nvSpPr>
          <p:cNvPr id="76" name="CustomShape 5"/>
          <p:cNvSpPr/>
          <p:nvPr/>
        </p:nvSpPr>
        <p:spPr>
          <a:xfrm>
            <a:off x="6222960" y="812880"/>
            <a:ext cx="5155200" cy="5028120"/>
          </a:xfrm>
          <a:prstGeom prst="roundRect">
            <a:avLst>
              <a:gd name="adj" fmla="val 2525"/>
            </a:avLst>
          </a:prstGeom>
          <a:solidFill>
            <a:srgbClr val="1b2c48"/>
          </a:solidFill>
          <a:ln>
            <a:noFill/>
          </a:ln>
        </p:spPr>
        <p:style>
          <a:lnRef idx="0"/>
          <a:fillRef idx="0"/>
          <a:effectRef idx="0"/>
          <a:fontRef idx="minor"/>
        </p:style>
      </p:sp>
      <p:sp>
        <p:nvSpPr>
          <p:cNvPr id="77" name="CustomShape 6"/>
          <p:cNvSpPr/>
          <p:nvPr/>
        </p:nvSpPr>
        <p:spPr>
          <a:xfrm>
            <a:off x="6222960" y="812880"/>
            <a:ext cx="5155200" cy="5028120"/>
          </a:xfrm>
          <a:custGeom>
            <a:avLst/>
            <a:gdLst/>
            <a:ahLst/>
            <a:rect l="l" t="t" r="r" b="b"/>
            <a:pathLst>
              <a:path w="5156200" h="502920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78" name="CustomShape 7"/>
          <p:cNvSpPr/>
          <p:nvPr/>
        </p:nvSpPr>
        <p:spPr>
          <a:xfrm>
            <a:off x="6502320" y="2222640"/>
            <a:ext cx="4734360" cy="42048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f2b84b"/>
                </a:solidFill>
                <a:latin typeface="Inter"/>
                <a:ea typeface="Inter"/>
              </a:rPr>
              <a:t>Facility Infrastructure:</a:t>
            </a:r>
            <a:endParaRPr b="0" lang="en-IN" sz="2600" spc="-1" strike="noStrike">
              <a:latin typeface="Arial"/>
            </a:endParaRPr>
          </a:p>
        </p:txBody>
      </p:sp>
      <p:sp>
        <p:nvSpPr>
          <p:cNvPr id="79" name="CustomShape 8"/>
          <p:cNvSpPr/>
          <p:nvPr/>
        </p:nvSpPr>
        <p:spPr>
          <a:xfrm>
            <a:off x="6502320" y="2720520"/>
            <a:ext cx="4734360" cy="3120480"/>
          </a:xfrm>
          <a:prstGeom prst="rect">
            <a:avLst/>
          </a:prstGeom>
          <a:noFill/>
          <a:ln>
            <a:noFill/>
          </a:ln>
        </p:spPr>
        <p:style>
          <a:lnRef idx="0"/>
          <a:fillRef idx="0"/>
          <a:effectRef idx="0"/>
          <a:fontRef idx="minor"/>
        </p:style>
        <p:txBody>
          <a:bodyPr lIns="0" rIns="0" tIns="0" bIns="0">
            <a:normAutofit fontScale="97000"/>
          </a:bodyPr>
          <a:p>
            <a:pPr>
              <a:lnSpc>
                <a:spcPts val="2755"/>
              </a:lnSpc>
              <a:tabLst>
                <a:tab algn="l" pos="0"/>
              </a:tabLst>
            </a:pPr>
            <a:r>
              <a:rPr b="0" lang="en-US" sz="3200" spc="-1" strike="noStrike">
                <a:solidFill>
                  <a:srgbClr val="f3efe6"/>
                </a:solidFill>
                <a:latin typeface="Inter"/>
                <a:ea typeface="Inter"/>
              </a:rPr>
              <a:t>Backup power generators, Uninterruptible Power Supplies (UPS), battery banks, and commercial cooling or HVAC systems to keep equipment running safely.</a:t>
            </a:r>
            <a:endParaRPr b="0" lang="en-IN" sz="3200" spc="-1" strike="noStrike">
              <a:latin typeface="Arial"/>
            </a:endParaRPr>
          </a:p>
        </p:txBody>
      </p:sp>
      <p:sp>
        <p:nvSpPr>
          <p:cNvPr id="80" name="CustomShape 9"/>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81" name="Image 0_0" descr="rect"/>
          <p:cNvPicPr/>
          <p:nvPr/>
        </p:nvPicPr>
        <p:blipFill>
          <a:blip r:embed="rId1"/>
          <a:stretch/>
        </p:blipFill>
        <p:spPr>
          <a:xfrm>
            <a:off x="0" y="0"/>
            <a:ext cx="151200" cy="6856920"/>
          </a:xfrm>
          <a:prstGeom prst="rect">
            <a:avLst/>
          </a:prstGeom>
          <a:ln>
            <a:noFill/>
          </a:ln>
        </p:spPr>
      </p:pic>
      <p:sp>
        <p:nvSpPr>
          <p:cNvPr id="82" name="CustomShape 1"/>
          <p:cNvSpPr/>
          <p:nvPr/>
        </p:nvSpPr>
        <p:spPr>
          <a:xfrm>
            <a:off x="576000" y="443880"/>
            <a:ext cx="10563120" cy="5028120"/>
          </a:xfrm>
          <a:prstGeom prst="roundRect">
            <a:avLst>
              <a:gd name="adj" fmla="val 2525"/>
            </a:avLst>
          </a:prstGeom>
          <a:solidFill>
            <a:srgbClr val="1b2c48"/>
          </a:solidFill>
          <a:ln>
            <a:noFill/>
          </a:ln>
        </p:spPr>
        <p:style>
          <a:lnRef idx="0"/>
          <a:fillRef idx="0"/>
          <a:effectRef idx="0"/>
          <a:fontRef idx="minor"/>
        </p:style>
      </p:sp>
      <p:sp>
        <p:nvSpPr>
          <p:cNvPr id="83" name="CustomShape 2"/>
          <p:cNvSpPr/>
          <p:nvPr/>
        </p:nvSpPr>
        <p:spPr>
          <a:xfrm>
            <a:off x="812880" y="812880"/>
            <a:ext cx="5155200" cy="5028120"/>
          </a:xfrm>
          <a:custGeom>
            <a:avLst/>
            <a:gdLst/>
            <a:ahLst/>
            <a:rect l="l" t="t" r="r" b="b"/>
            <a:pathLst>
              <a:path w="5156200" h="502920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84" name="CustomShape 3"/>
          <p:cNvSpPr/>
          <p:nvPr/>
        </p:nvSpPr>
        <p:spPr>
          <a:xfrm>
            <a:off x="864000" y="1451520"/>
            <a:ext cx="4734360" cy="42048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f2b84b"/>
                </a:solidFill>
                <a:latin typeface="Inter"/>
                <a:ea typeface="Inter"/>
              </a:rPr>
              <a:t>Networking:</a:t>
            </a:r>
            <a:endParaRPr b="0" lang="en-IN" sz="2600" spc="-1" strike="noStrike">
              <a:latin typeface="Arial"/>
            </a:endParaRPr>
          </a:p>
        </p:txBody>
      </p:sp>
      <p:sp>
        <p:nvSpPr>
          <p:cNvPr id="85" name="CustomShape 4"/>
          <p:cNvSpPr/>
          <p:nvPr/>
        </p:nvSpPr>
        <p:spPr>
          <a:xfrm>
            <a:off x="1092240" y="1944000"/>
            <a:ext cx="10427760" cy="3528000"/>
          </a:xfrm>
          <a:prstGeom prst="rect">
            <a:avLst/>
          </a:prstGeom>
          <a:noFill/>
          <a:ln>
            <a:noFill/>
          </a:ln>
        </p:spPr>
        <p:style>
          <a:lnRef idx="0"/>
          <a:fillRef idx="0"/>
          <a:effectRef idx="0"/>
          <a:fontRef idx="minor"/>
        </p:style>
        <p:txBody>
          <a:bodyPr lIns="0" rIns="0" tIns="0" bIns="0">
            <a:normAutofit/>
          </a:bodyPr>
          <a:p>
            <a:pPr>
              <a:lnSpc>
                <a:spcPts val="2755"/>
              </a:lnSpc>
              <a:tabLst>
                <a:tab algn="l" pos="0"/>
              </a:tabLst>
            </a:pPr>
            <a:r>
              <a:rPr b="0" lang="en-US" sz="3600" spc="-1" strike="noStrike">
                <a:solidFill>
                  <a:srgbClr val="f3efe6"/>
                </a:solidFill>
                <a:latin typeface="aakar"/>
                <a:ea typeface="Inter"/>
              </a:rPr>
              <a:t>Real-life example: When you upload a photo to Google </a:t>
            </a:r>
            <a:r>
              <a:rPr b="0" lang="en-US" sz="3600" spc="-1" strike="noStrike">
                <a:solidFill>
                  <a:srgbClr val="f3efe6"/>
                </a:solidFill>
                <a:latin typeface="aakar"/>
                <a:ea typeface="Inter"/>
              </a:rPr>
              <a:t>Drive, the network equipment helps transfer your photo </a:t>
            </a:r>
            <a:r>
              <a:rPr b="0" lang="en-US" sz="3600" spc="-1" strike="noStrike">
                <a:solidFill>
                  <a:srgbClr val="f3efe6"/>
                </a:solidFill>
                <a:latin typeface="aakar"/>
                <a:ea typeface="Inter"/>
              </a:rPr>
              <a:t>from your computer to Google's data centre, where it </a:t>
            </a:r>
            <a:r>
              <a:rPr b="0" lang="en-US" sz="3600" spc="-1" strike="noStrike">
                <a:solidFill>
                  <a:srgbClr val="f3efe6"/>
                </a:solidFill>
                <a:latin typeface="aakar"/>
                <a:ea typeface="Inter"/>
              </a:rPr>
              <a:t>is stored.</a:t>
            </a:r>
            <a:endParaRPr b="0" lang="en-IN" sz="3600" spc="-1" strike="noStrike">
              <a:latin typeface="Arial"/>
            </a:endParaRPr>
          </a:p>
          <a:p>
            <a:pPr>
              <a:lnSpc>
                <a:spcPts val="2755"/>
              </a:lnSpc>
              <a:tabLst>
                <a:tab algn="l" pos="0"/>
              </a:tabLst>
            </a:pPr>
            <a:endParaRPr b="0" lang="en-IN" sz="3600" spc="-1" strike="noStrike">
              <a:latin typeface="Arial"/>
            </a:endParaRPr>
          </a:p>
          <a:p>
            <a:pPr>
              <a:lnSpc>
                <a:spcPts val="2755"/>
              </a:lnSpc>
              <a:tabLst>
                <a:tab algn="l" pos="0"/>
              </a:tabLst>
            </a:pPr>
            <a:r>
              <a:rPr b="0" lang="en-US" sz="3600" spc="-1" strike="noStrike">
                <a:solidFill>
                  <a:srgbClr val="f3efe6"/>
                </a:solidFill>
                <a:latin typeface="aakar"/>
                <a:ea typeface="Inter"/>
              </a:rPr>
              <a:t>In simple words: The networking infrastructure acts like </a:t>
            </a:r>
            <a:r>
              <a:rPr b="0" lang="en-US" sz="3600" spc="-1" strike="noStrike">
                <a:solidFill>
                  <a:srgbClr val="f3efe6"/>
                </a:solidFill>
                <a:latin typeface="aakar"/>
                <a:ea typeface="Inter"/>
              </a:rPr>
              <a:t>a road system that allows data to travel between </a:t>
            </a:r>
            <a:r>
              <a:rPr b="0" lang="en-US" sz="3600" spc="-1" strike="noStrike">
                <a:solidFill>
                  <a:srgbClr val="f3efe6"/>
                </a:solidFill>
                <a:latin typeface="aakar"/>
                <a:ea typeface="Inter"/>
              </a:rPr>
              <a:t>computers, storage devices, and the internet.</a:t>
            </a:r>
            <a:endParaRPr b="0" lang="en-IN" sz="3600" spc="-1" strike="noStrike">
              <a:latin typeface="Arial"/>
            </a:endParaRPr>
          </a:p>
          <a:p>
            <a:pPr>
              <a:lnSpc>
                <a:spcPts val="2755"/>
              </a:lnSpc>
              <a:tabLst>
                <a:tab algn="l" pos="0"/>
              </a:tabLst>
            </a:pPr>
            <a:endParaRPr b="0" lang="en-IN" sz="3600" spc="-1" strike="noStrike">
              <a:latin typeface="Arial"/>
            </a:endParaRPr>
          </a:p>
          <a:p>
            <a:pPr>
              <a:lnSpc>
                <a:spcPts val="2755"/>
              </a:lnSpc>
              <a:tabLst>
                <a:tab algn="l" pos="0"/>
              </a:tabLst>
            </a:pPr>
            <a:endParaRPr b="0" lang="en-IN" sz="3600" spc="-1" strike="noStrike">
              <a:latin typeface="Arial"/>
            </a:endParaRPr>
          </a:p>
        </p:txBody>
      </p:sp>
      <p:sp>
        <p:nvSpPr>
          <p:cNvPr id="86" name="CustomShape 5"/>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87" name="Image 0_1" descr="rect"/>
          <p:cNvPicPr/>
          <p:nvPr/>
        </p:nvPicPr>
        <p:blipFill>
          <a:blip r:embed="rId1"/>
          <a:stretch/>
        </p:blipFill>
        <p:spPr>
          <a:xfrm>
            <a:off x="0" y="0"/>
            <a:ext cx="151200" cy="6856920"/>
          </a:xfrm>
          <a:prstGeom prst="rect">
            <a:avLst/>
          </a:prstGeom>
          <a:ln>
            <a:noFill/>
          </a:ln>
        </p:spPr>
      </p:pic>
      <p:sp>
        <p:nvSpPr>
          <p:cNvPr id="88" name="CustomShape 1"/>
          <p:cNvSpPr/>
          <p:nvPr/>
        </p:nvSpPr>
        <p:spPr>
          <a:xfrm>
            <a:off x="576000" y="443880"/>
            <a:ext cx="10563120" cy="5028120"/>
          </a:xfrm>
          <a:prstGeom prst="roundRect">
            <a:avLst>
              <a:gd name="adj" fmla="val 2525"/>
            </a:avLst>
          </a:prstGeom>
          <a:solidFill>
            <a:srgbClr val="1b2c48"/>
          </a:solidFill>
          <a:ln>
            <a:noFill/>
          </a:ln>
        </p:spPr>
        <p:style>
          <a:lnRef idx="0"/>
          <a:fillRef idx="0"/>
          <a:effectRef idx="0"/>
          <a:fontRef idx="minor"/>
        </p:style>
      </p:sp>
      <p:sp>
        <p:nvSpPr>
          <p:cNvPr id="89" name="CustomShape 2"/>
          <p:cNvSpPr/>
          <p:nvPr/>
        </p:nvSpPr>
        <p:spPr>
          <a:xfrm>
            <a:off x="812880" y="812880"/>
            <a:ext cx="5155200" cy="5028120"/>
          </a:xfrm>
          <a:custGeom>
            <a:avLst/>
            <a:gdLst/>
            <a:ahLst/>
            <a:rect l="l" t="t" r="r" b="b"/>
            <a:pathLst>
              <a:path w="5156200" h="502920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90" name="CustomShape 3"/>
          <p:cNvSpPr/>
          <p:nvPr/>
        </p:nvSpPr>
        <p:spPr>
          <a:xfrm>
            <a:off x="864000" y="1451520"/>
            <a:ext cx="4734360" cy="42048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f2b84b"/>
                </a:solidFill>
                <a:latin typeface="Inter"/>
                <a:ea typeface="Inter"/>
              </a:rPr>
              <a:t>Networking:</a:t>
            </a:r>
            <a:endParaRPr b="0" lang="en-IN" sz="2600" spc="-1" strike="noStrike">
              <a:latin typeface="Arial"/>
            </a:endParaRPr>
          </a:p>
        </p:txBody>
      </p:sp>
      <p:sp>
        <p:nvSpPr>
          <p:cNvPr id="91" name="CustomShape 4"/>
          <p:cNvSpPr/>
          <p:nvPr/>
        </p:nvSpPr>
        <p:spPr>
          <a:xfrm>
            <a:off x="1092240" y="1944000"/>
            <a:ext cx="10427760" cy="3528000"/>
          </a:xfrm>
          <a:prstGeom prst="rect">
            <a:avLst/>
          </a:prstGeom>
          <a:noFill/>
          <a:ln>
            <a:noFill/>
          </a:ln>
        </p:spPr>
        <p:style>
          <a:lnRef idx="0"/>
          <a:fillRef idx="0"/>
          <a:effectRef idx="0"/>
          <a:fontRef idx="minor"/>
        </p:style>
        <p:txBody>
          <a:bodyPr lIns="0" rIns="0" tIns="0" bIns="0">
            <a:normAutofit/>
          </a:bodyPr>
          <a:p>
            <a:pPr>
              <a:lnSpc>
                <a:spcPts val="2755"/>
              </a:lnSpc>
              <a:tabLst>
                <a:tab algn="l" pos="0"/>
              </a:tabLst>
            </a:pPr>
            <a:r>
              <a:rPr b="0" lang="en-US" sz="3600" spc="-1" strike="noStrike">
                <a:solidFill>
                  <a:srgbClr val="f3efe6"/>
                </a:solidFill>
                <a:latin typeface="aakar"/>
                <a:ea typeface="Inter"/>
              </a:rPr>
              <a:t>Real-life example: When you upload a photo to Google Drive, the network equipment helps transfer your photo from your computer to Google's data centre, where it is stored.</a:t>
            </a:r>
            <a:endParaRPr b="0" lang="en-IN" sz="3600" spc="-1" strike="noStrike">
              <a:latin typeface="Arial"/>
            </a:endParaRPr>
          </a:p>
          <a:p>
            <a:pPr>
              <a:lnSpc>
                <a:spcPts val="2755"/>
              </a:lnSpc>
              <a:tabLst>
                <a:tab algn="l" pos="0"/>
              </a:tabLst>
            </a:pPr>
            <a:endParaRPr b="0" lang="en-IN" sz="3600" spc="-1" strike="noStrike">
              <a:latin typeface="Arial"/>
            </a:endParaRPr>
          </a:p>
          <a:p>
            <a:pPr>
              <a:lnSpc>
                <a:spcPts val="2755"/>
              </a:lnSpc>
              <a:tabLst>
                <a:tab algn="l" pos="0"/>
              </a:tabLst>
            </a:pPr>
            <a:r>
              <a:rPr b="0" lang="en-US" sz="3600" spc="-1" strike="noStrike">
                <a:solidFill>
                  <a:srgbClr val="f3efe6"/>
                </a:solidFill>
                <a:latin typeface="aakar"/>
                <a:ea typeface="Inter"/>
              </a:rPr>
              <a:t>In simple words: The networking infrastructure acts like a road system that allows data to travel between computers, storage devices, and the internet.</a:t>
            </a:r>
            <a:endParaRPr b="0" lang="en-IN" sz="3600" spc="-1" strike="noStrike">
              <a:latin typeface="Arial"/>
            </a:endParaRPr>
          </a:p>
          <a:p>
            <a:pPr>
              <a:lnSpc>
                <a:spcPts val="2755"/>
              </a:lnSpc>
              <a:tabLst>
                <a:tab algn="l" pos="0"/>
              </a:tabLst>
            </a:pPr>
            <a:endParaRPr b="0" lang="en-IN" sz="3600" spc="-1" strike="noStrike">
              <a:latin typeface="Arial"/>
            </a:endParaRPr>
          </a:p>
          <a:p>
            <a:pPr>
              <a:lnSpc>
                <a:spcPts val="2755"/>
              </a:lnSpc>
              <a:tabLst>
                <a:tab algn="l" pos="0"/>
              </a:tabLst>
            </a:pPr>
            <a:endParaRPr b="0" lang="en-IN" sz="3600" spc="-1" strike="noStrike">
              <a:latin typeface="Arial"/>
            </a:endParaRPr>
          </a:p>
        </p:txBody>
      </p:sp>
      <p:sp>
        <p:nvSpPr>
          <p:cNvPr id="92" name="CustomShape 5"/>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93" name="Image 0" descr="rect"/>
          <p:cNvPicPr/>
          <p:nvPr/>
        </p:nvPicPr>
        <p:blipFill>
          <a:blip r:embed="rId1"/>
          <a:stretch/>
        </p:blipFill>
        <p:spPr>
          <a:xfrm>
            <a:off x="0" y="0"/>
            <a:ext cx="151200" cy="6856920"/>
          </a:xfrm>
          <a:prstGeom prst="rect">
            <a:avLst/>
          </a:prstGeom>
          <a:ln>
            <a:noFill/>
          </a:ln>
        </p:spPr>
      </p:pic>
      <p:sp>
        <p:nvSpPr>
          <p:cNvPr id="94" name="CustomShape 1"/>
          <p:cNvSpPr/>
          <p:nvPr/>
        </p:nvSpPr>
        <p:spPr>
          <a:xfrm>
            <a:off x="812880" y="812880"/>
            <a:ext cx="10882440" cy="471240"/>
          </a:xfrm>
          <a:prstGeom prst="rect">
            <a:avLst/>
          </a:prstGeom>
          <a:noFill/>
          <a:ln>
            <a:noFill/>
          </a:ln>
        </p:spPr>
        <p:style>
          <a:lnRef idx="0"/>
          <a:fillRef idx="0"/>
          <a:effectRef idx="0"/>
          <a:fontRef idx="minor"/>
        </p:style>
        <p:txBody>
          <a:bodyPr lIns="0" rIns="0" tIns="0" bIns="0">
            <a:normAutofit/>
          </a:bodyPr>
          <a:p>
            <a:pPr>
              <a:lnSpc>
                <a:spcPts val="3521"/>
              </a:lnSpc>
              <a:tabLst>
                <a:tab algn="l" pos="0"/>
              </a:tabLst>
            </a:pPr>
            <a:r>
              <a:rPr b="1" lang="en-US" sz="3200" spc="-1" strike="noStrike">
                <a:solidFill>
                  <a:srgbClr val="f2b84b"/>
                </a:solidFill>
                <a:latin typeface="Inter"/>
                <a:ea typeface="Inter"/>
              </a:rPr>
              <a:t>Management Layer (Control &amp; Orchestration)</a:t>
            </a:r>
            <a:endParaRPr b="0" lang="en-IN" sz="3200" spc="-1" strike="noStrike">
              <a:latin typeface="Arial"/>
            </a:endParaRPr>
          </a:p>
        </p:txBody>
      </p:sp>
      <p:sp>
        <p:nvSpPr>
          <p:cNvPr id="95" name="CustomShape 2"/>
          <p:cNvSpPr/>
          <p:nvPr/>
        </p:nvSpPr>
        <p:spPr>
          <a:xfrm>
            <a:off x="812880" y="1539360"/>
            <a:ext cx="10882440" cy="1772640"/>
          </a:xfrm>
          <a:prstGeom prst="rect">
            <a:avLst/>
          </a:prstGeom>
          <a:noFill/>
          <a:ln>
            <a:noFill/>
          </a:ln>
        </p:spPr>
        <p:style>
          <a:lnRef idx="0"/>
          <a:fillRef idx="0"/>
          <a:effectRef idx="0"/>
          <a:fontRef idx="minor"/>
        </p:style>
        <p:txBody>
          <a:bodyPr lIns="0" rIns="0" tIns="0" bIns="0">
            <a:normAutofit/>
          </a:bodyPr>
          <a:p>
            <a:pPr>
              <a:lnSpc>
                <a:spcPts val="2900"/>
              </a:lnSpc>
              <a:tabLst>
                <a:tab algn="l" pos="0"/>
              </a:tabLst>
            </a:pPr>
            <a:r>
              <a:rPr b="0" lang="en-US" sz="2600" spc="-1" strike="noStrike">
                <a:solidFill>
                  <a:srgbClr val="c3cedf"/>
                </a:solidFill>
                <a:latin typeface="Inter"/>
                <a:ea typeface="Inter"/>
              </a:rPr>
              <a:t>The management layer sits above the hardware and virtualization layers, translating human or API commands into automated infrastructure actions.</a:t>
            </a:r>
            <a:endParaRPr b="0" lang="en-IN" sz="2600" spc="-1" strike="noStrike">
              <a:latin typeface="Arial"/>
            </a:endParaRPr>
          </a:p>
        </p:txBody>
      </p:sp>
      <p:sp>
        <p:nvSpPr>
          <p:cNvPr id="96" name="CustomShape 3"/>
          <p:cNvSpPr/>
          <p:nvPr/>
        </p:nvSpPr>
        <p:spPr>
          <a:xfrm>
            <a:off x="504000" y="4208400"/>
            <a:ext cx="10565280" cy="2271600"/>
          </a:xfrm>
          <a:prstGeom prst="roundRect">
            <a:avLst>
              <a:gd name="adj" fmla="val 7485"/>
            </a:avLst>
          </a:prstGeom>
          <a:solidFill>
            <a:srgbClr val="1b2c48"/>
          </a:solidFill>
          <a:ln>
            <a:noFill/>
          </a:ln>
        </p:spPr>
        <p:style>
          <a:lnRef idx="0"/>
          <a:fillRef idx="0"/>
          <a:effectRef idx="0"/>
          <a:fontRef idx="minor"/>
        </p:style>
      </p:sp>
      <p:sp>
        <p:nvSpPr>
          <p:cNvPr id="97" name="CustomShape 4"/>
          <p:cNvSpPr/>
          <p:nvPr/>
        </p:nvSpPr>
        <p:spPr>
          <a:xfrm>
            <a:off x="378720" y="3848400"/>
            <a:ext cx="10565280" cy="1695600"/>
          </a:xfrm>
          <a:custGeom>
            <a:avLst/>
            <a:gdLst/>
            <a:ahLst/>
            <a:rect l="l" t="t" r="r" b="b"/>
            <a:pathLst>
              <a:path w="10566400" h="1696720">
                <a:moveTo>
                  <a:pt x="0" y="127000"/>
                </a:moveTo>
                <a:lnTo>
                  <a:pt x="0" y="127000"/>
                </a:lnTo>
                <a:lnTo>
                  <a:pt x="10439400" y="0"/>
                </a:lnTo>
                <a:lnTo>
                  <a:pt x="10566400" y="127000"/>
                </a:lnTo>
                <a:lnTo>
                  <a:pt x="127000" y="38100"/>
                </a:lnTo>
                <a:close/>
              </a:path>
            </a:pathLst>
          </a:custGeom>
          <a:solidFill>
            <a:srgbClr val="f2b84b"/>
          </a:solidFill>
          <a:ln>
            <a:noFill/>
          </a:ln>
        </p:spPr>
        <p:style>
          <a:lnRef idx="0"/>
          <a:fillRef idx="0"/>
          <a:effectRef idx="0"/>
          <a:fontRef idx="minor"/>
        </p:style>
      </p:sp>
      <p:sp>
        <p:nvSpPr>
          <p:cNvPr id="98" name="CustomShape 5"/>
          <p:cNvSpPr/>
          <p:nvPr/>
        </p:nvSpPr>
        <p:spPr>
          <a:xfrm>
            <a:off x="648000" y="4320000"/>
            <a:ext cx="10306800" cy="359640"/>
          </a:xfrm>
          <a:prstGeom prst="rect">
            <a:avLst/>
          </a:prstGeom>
          <a:noFill/>
          <a:ln>
            <a:noFill/>
          </a:ln>
        </p:spPr>
        <p:style>
          <a:lnRef idx="0"/>
          <a:fillRef idx="0"/>
          <a:effectRef idx="0"/>
          <a:fontRef idx="minor"/>
        </p:style>
        <p:txBody>
          <a:bodyPr lIns="0" rIns="0" tIns="0" bIns="0">
            <a:normAutofit/>
          </a:bodyPr>
          <a:p>
            <a:pPr>
              <a:lnSpc>
                <a:spcPts val="2639"/>
              </a:lnSpc>
              <a:tabLst>
                <a:tab algn="l" pos="0"/>
              </a:tabLst>
            </a:pPr>
            <a:r>
              <a:rPr b="1" lang="en-US" sz="2200" spc="-1" strike="noStrike">
                <a:solidFill>
                  <a:srgbClr val="f2b84b"/>
                </a:solidFill>
                <a:latin typeface="Inter"/>
                <a:ea typeface="Inter"/>
              </a:rPr>
              <a:t>Cloud Management Platform (CMP):</a:t>
            </a:r>
            <a:endParaRPr b="0" lang="en-IN" sz="2200" spc="-1" strike="noStrike">
              <a:latin typeface="Arial"/>
            </a:endParaRPr>
          </a:p>
        </p:txBody>
      </p:sp>
      <p:sp>
        <p:nvSpPr>
          <p:cNvPr id="99" name="CustomShape 6"/>
          <p:cNvSpPr/>
          <p:nvPr/>
        </p:nvSpPr>
        <p:spPr>
          <a:xfrm>
            <a:off x="720000" y="5040000"/>
            <a:ext cx="10306800" cy="1224000"/>
          </a:xfrm>
          <a:prstGeom prst="rect">
            <a:avLst/>
          </a:prstGeom>
          <a:noFill/>
          <a:ln>
            <a:noFill/>
          </a:ln>
        </p:spPr>
        <p:style>
          <a:lnRef idx="0"/>
          <a:fillRef idx="0"/>
          <a:effectRef idx="0"/>
          <a:fontRef idx="minor"/>
        </p:style>
        <p:txBody>
          <a:bodyPr lIns="0" rIns="0" tIns="0" bIns="0">
            <a:normAutofit/>
          </a:bodyPr>
          <a:p>
            <a:pPr>
              <a:lnSpc>
                <a:spcPts val="2611"/>
              </a:lnSpc>
              <a:tabLst>
                <a:tab algn="l" pos="0"/>
              </a:tabLst>
            </a:pPr>
            <a:r>
              <a:rPr b="0" lang="en-US" sz="2600" spc="-1" strike="noStrike">
                <a:solidFill>
                  <a:srgbClr val="f3efe6"/>
                </a:solidFill>
                <a:latin typeface="Inter"/>
                <a:ea typeface="Inter"/>
              </a:rPr>
              <a:t>Centralized software (such as OpenStack, VMware vCloud Director, or Microsoft SCVMM) that lets administrators provision and monitor resources.</a:t>
            </a:r>
            <a:endParaRPr b="0" lang="en-IN" sz="2600" spc="-1" strike="noStrike">
              <a:latin typeface="Arial"/>
            </a:endParaRPr>
          </a:p>
        </p:txBody>
      </p:sp>
      <p:sp>
        <p:nvSpPr>
          <p:cNvPr id="100" name="CustomShape 7"/>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101" name="Image 0" descr="rect"/>
          <p:cNvPicPr/>
          <p:nvPr/>
        </p:nvPicPr>
        <p:blipFill>
          <a:blip r:embed="rId1"/>
          <a:stretch/>
        </p:blipFill>
        <p:spPr>
          <a:xfrm>
            <a:off x="0" y="0"/>
            <a:ext cx="151200" cy="6856920"/>
          </a:xfrm>
          <a:prstGeom prst="rect">
            <a:avLst/>
          </a:prstGeom>
          <a:ln>
            <a:noFill/>
          </a:ln>
        </p:spPr>
      </p:pic>
      <p:sp>
        <p:nvSpPr>
          <p:cNvPr id="102" name="CustomShape 1"/>
          <p:cNvSpPr/>
          <p:nvPr/>
        </p:nvSpPr>
        <p:spPr>
          <a:xfrm>
            <a:off x="812880" y="812880"/>
            <a:ext cx="5155200" cy="5028120"/>
          </a:xfrm>
          <a:prstGeom prst="roundRect">
            <a:avLst>
              <a:gd name="adj" fmla="val 2525"/>
            </a:avLst>
          </a:prstGeom>
          <a:solidFill>
            <a:srgbClr val="1b2c48"/>
          </a:solidFill>
          <a:ln>
            <a:noFill/>
          </a:ln>
        </p:spPr>
        <p:style>
          <a:lnRef idx="0"/>
          <a:fillRef idx="0"/>
          <a:effectRef idx="0"/>
          <a:fontRef idx="minor"/>
        </p:style>
      </p:sp>
      <p:sp>
        <p:nvSpPr>
          <p:cNvPr id="103" name="CustomShape 2"/>
          <p:cNvSpPr/>
          <p:nvPr/>
        </p:nvSpPr>
        <p:spPr>
          <a:xfrm>
            <a:off x="812880" y="812880"/>
            <a:ext cx="5155200" cy="5028120"/>
          </a:xfrm>
          <a:custGeom>
            <a:avLst/>
            <a:gdLst/>
            <a:ahLst/>
            <a:rect l="l" t="t" r="r" b="b"/>
            <a:pathLst>
              <a:path w="5156200" h="502920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104" name="CustomShape 3"/>
          <p:cNvSpPr/>
          <p:nvPr/>
        </p:nvSpPr>
        <p:spPr>
          <a:xfrm>
            <a:off x="1092240" y="1080000"/>
            <a:ext cx="4875840" cy="420480"/>
          </a:xfrm>
          <a:prstGeom prst="rect">
            <a:avLst/>
          </a:prstGeom>
          <a:noFill/>
          <a:ln>
            <a:noFill/>
          </a:ln>
        </p:spPr>
        <p:style>
          <a:lnRef idx="0"/>
          <a:fillRef idx="0"/>
          <a:effectRef idx="0"/>
          <a:fontRef idx="minor"/>
        </p:style>
        <p:txBody>
          <a:bodyPr lIns="0" rIns="0" tIns="0" bIns="0">
            <a:normAutofit fontScale="37000"/>
          </a:bodyPr>
          <a:p>
            <a:pPr>
              <a:lnSpc>
                <a:spcPts val="3121"/>
              </a:lnSpc>
              <a:tabLst>
                <a:tab algn="l" pos="0"/>
              </a:tabLst>
            </a:pPr>
            <a:r>
              <a:rPr b="1" lang="en-US" sz="2600" spc="-1" strike="noStrike">
                <a:solidFill>
                  <a:srgbClr val="f2b84b"/>
                </a:solidFill>
                <a:latin typeface="Inter"/>
                <a:ea typeface="Inter"/>
              </a:rPr>
              <a:t>Orchestration &amp; Automation:</a:t>
            </a:r>
            <a:endParaRPr b="0" lang="en-IN" sz="2600" spc="-1" strike="noStrike">
              <a:latin typeface="Arial"/>
            </a:endParaRPr>
          </a:p>
        </p:txBody>
      </p:sp>
      <p:sp>
        <p:nvSpPr>
          <p:cNvPr id="105" name="CustomShape 4"/>
          <p:cNvSpPr/>
          <p:nvPr/>
        </p:nvSpPr>
        <p:spPr>
          <a:xfrm>
            <a:off x="1296000" y="1599480"/>
            <a:ext cx="4734360" cy="4241520"/>
          </a:xfrm>
          <a:prstGeom prst="rect">
            <a:avLst/>
          </a:prstGeom>
          <a:noFill/>
          <a:ln>
            <a:noFill/>
          </a:ln>
        </p:spPr>
        <p:style>
          <a:lnRef idx="0"/>
          <a:fillRef idx="0"/>
          <a:effectRef idx="0"/>
          <a:fontRef idx="minor"/>
        </p:style>
        <p:txBody>
          <a:bodyPr lIns="0" rIns="0" tIns="0" bIns="0">
            <a:normAutofit fontScale="80000"/>
          </a:bodyPr>
          <a:p>
            <a:pPr>
              <a:lnSpc>
                <a:spcPts val="2755"/>
              </a:lnSpc>
              <a:tabLst>
                <a:tab algn="l" pos="0"/>
              </a:tabLst>
            </a:pPr>
            <a:r>
              <a:rPr b="0" lang="en-US" sz="2600" spc="-1" strike="noStrike">
                <a:solidFill>
                  <a:srgbClr val="f3efe6"/>
                </a:solidFill>
                <a:latin typeface="Inter"/>
                <a:ea typeface="Inter"/>
              </a:rPr>
              <a:t>Tools that automatically deploy, scale, and tear down virtual machines, containers, and network policies without manual intervention</a:t>
            </a:r>
            <a:endParaRPr b="0" lang="en-IN" sz="2600" spc="-1" strike="noStrike">
              <a:latin typeface="Arial"/>
            </a:endParaRPr>
          </a:p>
          <a:p>
            <a:pPr>
              <a:lnSpc>
                <a:spcPts val="2755"/>
              </a:lnSpc>
              <a:tabLst>
                <a:tab algn="l" pos="0"/>
              </a:tabLst>
            </a:pPr>
            <a:endParaRPr b="0" lang="en-IN" sz="2600" spc="-1" strike="noStrike">
              <a:latin typeface="Arial"/>
            </a:endParaRPr>
          </a:p>
          <a:p>
            <a:pPr>
              <a:lnSpc>
                <a:spcPts val="2755"/>
              </a:lnSpc>
              <a:tabLst>
                <a:tab algn="l" pos="0"/>
              </a:tabLst>
            </a:pPr>
            <a:r>
              <a:rPr b="0" lang="en-US" sz="2600" spc="-1" strike="noStrike">
                <a:solidFill>
                  <a:srgbClr val="ff6d6d"/>
                </a:solidFill>
                <a:latin typeface="DejaVu Sans Mono"/>
                <a:ea typeface="Inter"/>
              </a:rPr>
              <a:t>These are automatic manager that assigns resources, starts services, and performs routine tasks whenever needed, with minimal human intervention.</a:t>
            </a:r>
            <a:endParaRPr b="0" lang="en-IN" sz="2600" spc="-1" strike="noStrike">
              <a:latin typeface="Arial"/>
            </a:endParaRPr>
          </a:p>
        </p:txBody>
      </p:sp>
      <p:sp>
        <p:nvSpPr>
          <p:cNvPr id="106" name="CustomShape 5"/>
          <p:cNvSpPr/>
          <p:nvPr/>
        </p:nvSpPr>
        <p:spPr>
          <a:xfrm>
            <a:off x="6222960" y="812880"/>
            <a:ext cx="5155200" cy="5028120"/>
          </a:xfrm>
          <a:prstGeom prst="roundRect">
            <a:avLst>
              <a:gd name="adj" fmla="val 2525"/>
            </a:avLst>
          </a:prstGeom>
          <a:solidFill>
            <a:srgbClr val="1b2c48"/>
          </a:solidFill>
          <a:ln>
            <a:noFill/>
          </a:ln>
        </p:spPr>
        <p:style>
          <a:lnRef idx="0"/>
          <a:fillRef idx="0"/>
          <a:effectRef idx="0"/>
          <a:fontRef idx="minor"/>
        </p:style>
      </p:sp>
      <p:sp>
        <p:nvSpPr>
          <p:cNvPr id="107" name="CustomShape 6"/>
          <p:cNvSpPr/>
          <p:nvPr/>
        </p:nvSpPr>
        <p:spPr>
          <a:xfrm>
            <a:off x="6222960" y="812880"/>
            <a:ext cx="5155200" cy="5028120"/>
          </a:xfrm>
          <a:custGeom>
            <a:avLst/>
            <a:gdLst/>
            <a:ahLst/>
            <a:rect l="l" t="t" r="r" b="b"/>
            <a:pathLst>
              <a:path w="5156200" h="502920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108" name="CustomShape 7"/>
          <p:cNvSpPr/>
          <p:nvPr/>
        </p:nvSpPr>
        <p:spPr>
          <a:xfrm>
            <a:off x="6480000" y="1055160"/>
            <a:ext cx="4734360" cy="81684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f2b84b"/>
                </a:solidFill>
                <a:latin typeface="Inter"/>
                <a:ea typeface="Inter"/>
              </a:rPr>
              <a:t>Identity &amp; Access Management (IAM):</a:t>
            </a:r>
            <a:endParaRPr b="0" lang="en-IN" sz="2600" spc="-1" strike="noStrike">
              <a:latin typeface="Arial"/>
            </a:endParaRPr>
          </a:p>
        </p:txBody>
      </p:sp>
      <p:sp>
        <p:nvSpPr>
          <p:cNvPr id="109" name="CustomShape 8"/>
          <p:cNvSpPr/>
          <p:nvPr/>
        </p:nvSpPr>
        <p:spPr>
          <a:xfrm>
            <a:off x="6502320" y="3093840"/>
            <a:ext cx="4734360" cy="1423800"/>
          </a:xfrm>
          <a:prstGeom prst="rect">
            <a:avLst/>
          </a:prstGeom>
          <a:noFill/>
          <a:ln>
            <a:noFill/>
          </a:ln>
        </p:spPr>
        <p:style>
          <a:lnRef idx="0"/>
          <a:fillRef idx="0"/>
          <a:effectRef idx="0"/>
          <a:fontRef idx="minor"/>
        </p:style>
        <p:txBody>
          <a:bodyPr lIns="0" rIns="0" tIns="0" bIns="0">
            <a:normAutofit fontScale="73000"/>
          </a:bodyPr>
          <a:p>
            <a:pPr>
              <a:lnSpc>
                <a:spcPts val="2755"/>
              </a:lnSpc>
              <a:tabLst>
                <a:tab algn="l" pos="0"/>
              </a:tabLst>
            </a:pPr>
            <a:r>
              <a:rPr b="0" lang="en-US" sz="2400" spc="-1" strike="noStrike">
                <a:solidFill>
                  <a:srgbClr val="f3efe6"/>
                </a:solidFill>
                <a:latin typeface="Jamrul"/>
                <a:ea typeface="Inter"/>
              </a:rPr>
              <a:t>Policies, Role-Based Access Control (RBAC), and multi-factor authentication that govern who can access or change cloud resources</a:t>
            </a:r>
            <a:endParaRPr b="0" lang="en-IN" sz="2400" spc="-1" strike="noStrike">
              <a:latin typeface="Jamrul"/>
            </a:endParaRPr>
          </a:p>
        </p:txBody>
      </p:sp>
      <p:sp>
        <p:nvSpPr>
          <p:cNvPr id="110" name="CustomShape 9"/>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111" name="Image 0" descr="rect"/>
          <p:cNvPicPr/>
          <p:nvPr/>
        </p:nvPicPr>
        <p:blipFill>
          <a:blip r:embed="rId1"/>
          <a:stretch/>
        </p:blipFill>
        <p:spPr>
          <a:xfrm>
            <a:off x="0" y="0"/>
            <a:ext cx="151200" cy="6856920"/>
          </a:xfrm>
          <a:prstGeom prst="rect">
            <a:avLst/>
          </a:prstGeom>
          <a:ln>
            <a:noFill/>
          </a:ln>
        </p:spPr>
      </p:pic>
      <p:sp>
        <p:nvSpPr>
          <p:cNvPr id="112" name="CustomShape 1"/>
          <p:cNvSpPr/>
          <p:nvPr/>
        </p:nvSpPr>
        <p:spPr>
          <a:xfrm>
            <a:off x="812880" y="812880"/>
            <a:ext cx="10882440" cy="436680"/>
          </a:xfrm>
          <a:prstGeom prst="rect">
            <a:avLst/>
          </a:prstGeom>
          <a:noFill/>
          <a:ln>
            <a:noFill/>
          </a:ln>
        </p:spPr>
        <p:style>
          <a:lnRef idx="0"/>
          <a:fillRef idx="0"/>
          <a:effectRef idx="0"/>
          <a:fontRef idx="minor"/>
        </p:style>
        <p:txBody>
          <a:bodyPr lIns="0" rIns="0" tIns="0" bIns="0">
            <a:normAutofit/>
          </a:bodyPr>
          <a:p>
            <a:pPr>
              <a:lnSpc>
                <a:spcPts val="3268"/>
              </a:lnSpc>
              <a:tabLst>
                <a:tab algn="l" pos="0"/>
              </a:tabLst>
            </a:pPr>
            <a:r>
              <a:rPr b="1" lang="en-US" sz="2970" spc="-1" strike="noStrike">
                <a:solidFill>
                  <a:srgbClr val="f2b84b"/>
                </a:solidFill>
                <a:latin typeface="Inter"/>
                <a:ea typeface="Inter"/>
              </a:rPr>
              <a:t>Challenges in Private Cloud</a:t>
            </a:r>
            <a:endParaRPr b="0" lang="en-IN" sz="2970" spc="-1" strike="noStrike">
              <a:latin typeface="Arial"/>
            </a:endParaRPr>
          </a:p>
        </p:txBody>
      </p:sp>
      <p:sp>
        <p:nvSpPr>
          <p:cNvPr id="113" name="CustomShape 2"/>
          <p:cNvSpPr/>
          <p:nvPr/>
        </p:nvSpPr>
        <p:spPr>
          <a:xfrm>
            <a:off x="812880" y="1428480"/>
            <a:ext cx="10882440" cy="414360"/>
          </a:xfrm>
          <a:prstGeom prst="rect">
            <a:avLst/>
          </a:prstGeom>
          <a:noFill/>
          <a:ln>
            <a:noFill/>
          </a:ln>
        </p:spPr>
        <p:style>
          <a:lnRef idx="0"/>
          <a:fillRef idx="0"/>
          <a:effectRef idx="0"/>
          <a:fontRef idx="minor"/>
        </p:style>
        <p:txBody>
          <a:bodyPr lIns="0" rIns="0" tIns="0" bIns="0">
            <a:normAutofit/>
          </a:bodyPr>
          <a:p>
            <a:pPr>
              <a:lnSpc>
                <a:spcPts val="3070"/>
              </a:lnSpc>
              <a:tabLst>
                <a:tab algn="l" pos="0"/>
              </a:tabLst>
            </a:pPr>
            <a:r>
              <a:rPr b="1" lang="en-US" sz="2560" spc="-1" strike="noStrike">
                <a:solidFill>
                  <a:srgbClr val="5eead4"/>
                </a:solidFill>
                <a:latin typeface="Inter"/>
                <a:ea typeface="Inter"/>
              </a:rPr>
              <a:t>Huge investments</a:t>
            </a:r>
            <a:endParaRPr b="0" lang="en-IN" sz="2560" spc="-1" strike="noStrike">
              <a:latin typeface="Arial"/>
            </a:endParaRPr>
          </a:p>
        </p:txBody>
      </p:sp>
      <p:sp>
        <p:nvSpPr>
          <p:cNvPr id="114" name="CustomShape 3"/>
          <p:cNvSpPr/>
          <p:nvPr/>
        </p:nvSpPr>
        <p:spPr>
          <a:xfrm>
            <a:off x="812880" y="2021400"/>
            <a:ext cx="5180400" cy="2025000"/>
          </a:xfrm>
          <a:prstGeom prst="roundRect">
            <a:avLst>
              <a:gd name="adj" fmla="val 6268"/>
            </a:avLst>
          </a:prstGeom>
          <a:solidFill>
            <a:srgbClr val="1b2c48"/>
          </a:solidFill>
          <a:ln>
            <a:noFill/>
          </a:ln>
        </p:spPr>
        <p:style>
          <a:lnRef idx="0"/>
          <a:fillRef idx="0"/>
          <a:effectRef idx="0"/>
          <a:fontRef idx="minor"/>
        </p:style>
        <p:txBody>
          <a:bodyPr lIns="242280" rIns="103680" tIns="280440" bIns="242280">
            <a:normAutofit/>
          </a:bodyPr>
          <a:p>
            <a:pPr>
              <a:lnSpc>
                <a:spcPts val="1959"/>
              </a:lnSpc>
              <a:tabLst>
                <a:tab algn="l" pos="0"/>
              </a:tabLst>
            </a:pPr>
            <a:r>
              <a:rPr b="0" lang="en-US" sz="1350" spc="-1" strike="noStrike">
                <a:solidFill>
                  <a:srgbClr val="f3efe6"/>
                </a:solidFill>
                <a:latin typeface="Inter"/>
                <a:ea typeface="Inter"/>
              </a:rPr>
              <a:t>The cloud helps saving big amounts of money – this is one of the biggest benefits of cloud computing. However, you first need to get to this place.</a:t>
            </a:r>
            <a:endParaRPr b="0" lang="en-IN" sz="1350" spc="-1" strike="noStrike">
              <a:latin typeface="Arial"/>
            </a:endParaRPr>
          </a:p>
        </p:txBody>
      </p:sp>
      <p:sp>
        <p:nvSpPr>
          <p:cNvPr id="115" name="CustomShape 4"/>
          <p:cNvSpPr/>
          <p:nvPr/>
        </p:nvSpPr>
        <p:spPr>
          <a:xfrm>
            <a:off x="812880" y="2021400"/>
            <a:ext cx="5180400" cy="2025000"/>
          </a:xfrm>
          <a:custGeom>
            <a:avLst/>
            <a:gdLst/>
            <a:ahLst/>
            <a:rect l="l" t="t" r="r" b="b"/>
            <a:pathLst>
              <a:path w="5181600" h="2026073">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16" name="CustomShape 5"/>
          <p:cNvSpPr/>
          <p:nvPr/>
        </p:nvSpPr>
        <p:spPr>
          <a:xfrm>
            <a:off x="6197760" y="2021400"/>
            <a:ext cx="5180400" cy="2025000"/>
          </a:xfrm>
          <a:prstGeom prst="roundRect">
            <a:avLst>
              <a:gd name="adj" fmla="val 6268"/>
            </a:avLst>
          </a:prstGeom>
          <a:solidFill>
            <a:srgbClr val="1b2c48"/>
          </a:solidFill>
          <a:ln>
            <a:noFill/>
          </a:ln>
        </p:spPr>
        <p:style>
          <a:lnRef idx="0"/>
          <a:fillRef idx="0"/>
          <a:effectRef idx="0"/>
          <a:fontRef idx="minor"/>
        </p:style>
        <p:txBody>
          <a:bodyPr lIns="242280" rIns="103680" tIns="280440" bIns="216720">
            <a:normAutofit/>
          </a:bodyPr>
          <a:p>
            <a:pPr>
              <a:lnSpc>
                <a:spcPts val="1933"/>
              </a:lnSpc>
              <a:tabLst>
                <a:tab algn="l" pos="0"/>
              </a:tabLst>
            </a:pPr>
            <a:r>
              <a:rPr b="0" lang="en-US" sz="1340" spc="-1" strike="noStrike">
                <a:solidFill>
                  <a:srgbClr val="f3efe6"/>
                </a:solidFill>
                <a:latin typeface="Inter"/>
                <a:ea typeface="Inter"/>
              </a:rPr>
              <a:t>Shared cloud solutions do not require additional hardware and software, this is not true for private clouds, there will be investment into IT infrastructure, into space to setup the infrastructure and large amounts of bandwidth to access that infrastructure from remote locations.</a:t>
            </a:r>
            <a:endParaRPr b="0" lang="en-IN" sz="1340" spc="-1" strike="noStrike">
              <a:latin typeface="Arial"/>
            </a:endParaRPr>
          </a:p>
        </p:txBody>
      </p:sp>
      <p:sp>
        <p:nvSpPr>
          <p:cNvPr id="117" name="CustomShape 6"/>
          <p:cNvSpPr/>
          <p:nvPr/>
        </p:nvSpPr>
        <p:spPr>
          <a:xfrm>
            <a:off x="6197760" y="2021400"/>
            <a:ext cx="5180400" cy="2025000"/>
          </a:xfrm>
          <a:custGeom>
            <a:avLst/>
            <a:gdLst/>
            <a:ahLst/>
            <a:rect l="l" t="t" r="r" b="b"/>
            <a:pathLst>
              <a:path w="5181600" h="2026073">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18" name="CustomShape 7"/>
          <p:cNvSpPr/>
          <p:nvPr/>
        </p:nvSpPr>
        <p:spPr>
          <a:xfrm>
            <a:off x="812880" y="4250520"/>
            <a:ext cx="5180400" cy="1590120"/>
          </a:xfrm>
          <a:prstGeom prst="roundRect">
            <a:avLst>
              <a:gd name="adj" fmla="val 7981"/>
            </a:avLst>
          </a:prstGeom>
          <a:solidFill>
            <a:srgbClr val="1b2c48"/>
          </a:solidFill>
          <a:ln>
            <a:noFill/>
          </a:ln>
        </p:spPr>
        <p:style>
          <a:lnRef idx="0"/>
          <a:fillRef idx="0"/>
          <a:effectRef idx="0"/>
          <a:fontRef idx="minor"/>
        </p:style>
        <p:txBody>
          <a:bodyPr lIns="242280" rIns="103680" tIns="280440" bIns="242280">
            <a:normAutofit/>
          </a:bodyPr>
          <a:p>
            <a:pPr>
              <a:lnSpc>
                <a:spcPts val="1959"/>
              </a:lnSpc>
              <a:tabLst>
                <a:tab algn="l" pos="0"/>
              </a:tabLst>
            </a:pPr>
            <a:r>
              <a:rPr b="0" lang="en-US" sz="1350" spc="-1" strike="noStrike">
                <a:solidFill>
                  <a:srgbClr val="f3efe6"/>
                </a:solidFill>
                <a:latin typeface="Inter"/>
                <a:ea typeface="Inter"/>
              </a:rPr>
              <a:t>At the same time, the business and the IT users have to be trained for this initiative, which adds additional costs.</a:t>
            </a:r>
            <a:endParaRPr b="0" lang="en-IN" sz="1350" spc="-1" strike="noStrike">
              <a:latin typeface="Arial"/>
            </a:endParaRPr>
          </a:p>
        </p:txBody>
      </p:sp>
      <p:sp>
        <p:nvSpPr>
          <p:cNvPr id="119" name="CustomShape 8"/>
          <p:cNvSpPr/>
          <p:nvPr/>
        </p:nvSpPr>
        <p:spPr>
          <a:xfrm>
            <a:off x="812880" y="4250520"/>
            <a:ext cx="5180400" cy="1590120"/>
          </a:xfrm>
          <a:custGeom>
            <a:avLst/>
            <a:gdLst/>
            <a:ahLst/>
            <a:rect l="l" t="t" r="r" b="b"/>
            <a:pathLst>
              <a:path w="5181600" h="1591310">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20" name="CustomShape 9"/>
          <p:cNvSpPr/>
          <p:nvPr/>
        </p:nvSpPr>
        <p:spPr>
          <a:xfrm>
            <a:off x="6197760" y="4250520"/>
            <a:ext cx="5180400" cy="1590120"/>
          </a:xfrm>
          <a:prstGeom prst="roundRect">
            <a:avLst>
              <a:gd name="adj" fmla="val 7981"/>
            </a:avLst>
          </a:prstGeom>
          <a:solidFill>
            <a:srgbClr val="1b2c48"/>
          </a:solidFill>
          <a:ln>
            <a:noFill/>
          </a:ln>
        </p:spPr>
        <p:style>
          <a:lnRef idx="0"/>
          <a:fillRef idx="0"/>
          <a:effectRef idx="0"/>
          <a:fontRef idx="minor"/>
        </p:style>
        <p:txBody>
          <a:bodyPr lIns="242280" rIns="103680" tIns="280440" bIns="216720">
            <a:normAutofit/>
          </a:bodyPr>
          <a:p>
            <a:pPr>
              <a:lnSpc>
                <a:spcPts val="1959"/>
              </a:lnSpc>
              <a:tabLst>
                <a:tab algn="l" pos="0"/>
              </a:tabLst>
            </a:pPr>
            <a:r>
              <a:rPr b="0" lang="en-US" sz="1350" spc="-1" strike="noStrike">
                <a:solidFill>
                  <a:srgbClr val="f3efe6"/>
                </a:solidFill>
                <a:latin typeface="Inter"/>
                <a:ea typeface="Inter"/>
              </a:rPr>
              <a:t>This is why, it’s recommended, if not necessary, that companies analyze the long term savings and infrastructure requirements before implementing a private cloud.</a:t>
            </a:r>
            <a:endParaRPr b="0" lang="en-IN" sz="1350" spc="-1" strike="noStrike">
              <a:latin typeface="Arial"/>
            </a:endParaRPr>
          </a:p>
        </p:txBody>
      </p:sp>
      <p:sp>
        <p:nvSpPr>
          <p:cNvPr id="121" name="CustomShape 10"/>
          <p:cNvSpPr/>
          <p:nvPr/>
        </p:nvSpPr>
        <p:spPr>
          <a:xfrm>
            <a:off x="6197760" y="4250520"/>
            <a:ext cx="5180400" cy="1590120"/>
          </a:xfrm>
          <a:custGeom>
            <a:avLst/>
            <a:gdLst/>
            <a:ahLst/>
            <a:rect l="l" t="t" r="r" b="b"/>
            <a:pathLst>
              <a:path w="5181600" h="1591310">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22" name="CustomShape 11"/>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123" name="Image 0_2" descr="rect"/>
          <p:cNvPicPr/>
          <p:nvPr/>
        </p:nvPicPr>
        <p:blipFill>
          <a:blip r:embed="rId1"/>
          <a:stretch/>
        </p:blipFill>
        <p:spPr>
          <a:xfrm>
            <a:off x="0" y="0"/>
            <a:ext cx="151200" cy="6856920"/>
          </a:xfrm>
          <a:prstGeom prst="rect">
            <a:avLst/>
          </a:prstGeom>
          <a:ln>
            <a:noFill/>
          </a:ln>
        </p:spPr>
      </p:pic>
      <p:sp>
        <p:nvSpPr>
          <p:cNvPr id="124" name="CustomShape 1"/>
          <p:cNvSpPr/>
          <p:nvPr/>
        </p:nvSpPr>
        <p:spPr>
          <a:xfrm>
            <a:off x="812880" y="812880"/>
            <a:ext cx="10882440" cy="436680"/>
          </a:xfrm>
          <a:prstGeom prst="rect">
            <a:avLst/>
          </a:prstGeom>
          <a:noFill/>
          <a:ln>
            <a:noFill/>
          </a:ln>
        </p:spPr>
        <p:style>
          <a:lnRef idx="0"/>
          <a:fillRef idx="0"/>
          <a:effectRef idx="0"/>
          <a:fontRef idx="minor"/>
        </p:style>
        <p:txBody>
          <a:bodyPr lIns="0" rIns="0" tIns="0" bIns="0">
            <a:normAutofit/>
          </a:bodyPr>
          <a:p>
            <a:pPr>
              <a:lnSpc>
                <a:spcPts val="3268"/>
              </a:lnSpc>
              <a:tabLst>
                <a:tab algn="l" pos="0"/>
              </a:tabLst>
            </a:pPr>
            <a:r>
              <a:rPr b="1" lang="en-US" sz="2970" spc="-1" strike="noStrike">
                <a:solidFill>
                  <a:srgbClr val="f2b84b"/>
                </a:solidFill>
                <a:latin typeface="Inter"/>
                <a:ea typeface="Inter"/>
              </a:rPr>
              <a:t>Challenges in Private Cloud</a:t>
            </a:r>
            <a:endParaRPr b="0" lang="en-IN" sz="2970" spc="-1" strike="noStrike">
              <a:latin typeface="Arial"/>
            </a:endParaRPr>
          </a:p>
        </p:txBody>
      </p:sp>
      <p:sp>
        <p:nvSpPr>
          <p:cNvPr id="125" name="CustomShape 2"/>
          <p:cNvSpPr/>
          <p:nvPr/>
        </p:nvSpPr>
        <p:spPr>
          <a:xfrm>
            <a:off x="812880" y="1428480"/>
            <a:ext cx="10882440" cy="414360"/>
          </a:xfrm>
          <a:prstGeom prst="rect">
            <a:avLst/>
          </a:prstGeom>
          <a:noFill/>
          <a:ln>
            <a:noFill/>
          </a:ln>
        </p:spPr>
        <p:style>
          <a:lnRef idx="0"/>
          <a:fillRef idx="0"/>
          <a:effectRef idx="0"/>
          <a:fontRef idx="minor"/>
        </p:style>
        <p:txBody>
          <a:bodyPr lIns="0" rIns="0" tIns="0" bIns="0">
            <a:normAutofit/>
          </a:bodyPr>
          <a:p>
            <a:pPr>
              <a:lnSpc>
                <a:spcPts val="3070"/>
              </a:lnSpc>
              <a:tabLst>
                <a:tab algn="l" pos="0"/>
              </a:tabLst>
            </a:pPr>
            <a:r>
              <a:rPr b="1" lang="en-US" sz="2560" spc="-1" strike="noStrike">
                <a:solidFill>
                  <a:srgbClr val="5eead4"/>
                </a:solidFill>
                <a:latin typeface="Inter"/>
                <a:ea typeface="Inter"/>
              </a:rPr>
              <a:t>Huge investments</a:t>
            </a:r>
            <a:endParaRPr b="0" lang="en-IN" sz="2560" spc="-1" strike="noStrike">
              <a:latin typeface="Arial"/>
            </a:endParaRPr>
          </a:p>
        </p:txBody>
      </p:sp>
      <p:sp>
        <p:nvSpPr>
          <p:cNvPr id="126" name="CustomShape 3"/>
          <p:cNvSpPr/>
          <p:nvPr/>
        </p:nvSpPr>
        <p:spPr>
          <a:xfrm>
            <a:off x="864000" y="2021400"/>
            <a:ext cx="10514160" cy="4458600"/>
          </a:xfrm>
          <a:prstGeom prst="roundRect">
            <a:avLst>
              <a:gd name="adj" fmla="val 6268"/>
            </a:avLst>
          </a:prstGeom>
          <a:solidFill>
            <a:srgbClr val="1b2c48"/>
          </a:solidFill>
          <a:ln>
            <a:noFill/>
          </a:ln>
        </p:spPr>
        <p:style>
          <a:lnRef idx="0"/>
          <a:fillRef idx="0"/>
          <a:effectRef idx="0"/>
          <a:fontRef idx="minor"/>
        </p:style>
        <p:txBody>
          <a:bodyPr lIns="242280" rIns="103680" tIns="280440" bIns="216720">
            <a:normAutofit/>
          </a:bodyPr>
          <a:p>
            <a:pPr algn="just">
              <a:lnSpc>
                <a:spcPct val="150000"/>
              </a:lnSpc>
              <a:tabLst>
                <a:tab algn="l" pos="0"/>
              </a:tabLst>
            </a:pPr>
            <a:r>
              <a:rPr b="0" lang="en-US" sz="2600" spc="-1" strike="noStrike">
                <a:solidFill>
                  <a:srgbClr val="f3efe6"/>
                </a:solidFill>
                <a:latin typeface="Jamrul"/>
                <a:ea typeface="Inter"/>
              </a:rPr>
              <a:t>Private clouds, there will </a:t>
            </a:r>
            <a:r>
              <a:rPr b="0" lang="en-US" sz="2600" spc="-1" strike="noStrike">
                <a:solidFill>
                  <a:srgbClr val="f3efe6"/>
                </a:solidFill>
                <a:latin typeface="Jamrul"/>
                <a:ea typeface="Inter"/>
              </a:rPr>
              <a:t>be investment into IT </a:t>
            </a:r>
            <a:r>
              <a:rPr b="0" lang="en-US" sz="2600" spc="-1" strike="noStrike">
                <a:solidFill>
                  <a:srgbClr val="f3efe6"/>
                </a:solidFill>
                <a:latin typeface="Jamrul"/>
                <a:ea typeface="Inter"/>
              </a:rPr>
              <a:t>infrastructure, into space </a:t>
            </a:r>
            <a:r>
              <a:rPr b="0" lang="en-US" sz="2600" spc="-1" strike="noStrike">
                <a:solidFill>
                  <a:srgbClr val="f3efe6"/>
                </a:solidFill>
                <a:latin typeface="Jamrul"/>
                <a:ea typeface="Inter"/>
              </a:rPr>
              <a:t>to setup the infrastructure </a:t>
            </a:r>
            <a:r>
              <a:rPr b="0" lang="en-US" sz="2600" spc="-1" strike="noStrike">
                <a:solidFill>
                  <a:srgbClr val="f3efe6"/>
                </a:solidFill>
                <a:latin typeface="Jamrul"/>
                <a:ea typeface="Inter"/>
              </a:rPr>
              <a:t>and large amounts of </a:t>
            </a:r>
            <a:r>
              <a:rPr b="0" lang="en-US" sz="2600" spc="-1" strike="noStrike">
                <a:solidFill>
                  <a:srgbClr val="f3efe6"/>
                </a:solidFill>
                <a:latin typeface="Jamrul"/>
                <a:ea typeface="Inter"/>
              </a:rPr>
              <a:t>bandwidth to access that </a:t>
            </a:r>
            <a:r>
              <a:rPr b="0" lang="en-US" sz="2600" spc="-1" strike="noStrike">
                <a:solidFill>
                  <a:srgbClr val="f3efe6"/>
                </a:solidFill>
                <a:latin typeface="Jamrul"/>
                <a:ea typeface="Inter"/>
              </a:rPr>
              <a:t>infrastructure from remote </a:t>
            </a:r>
            <a:r>
              <a:rPr b="0" lang="en-US" sz="2600" spc="-1" strike="noStrike">
                <a:solidFill>
                  <a:srgbClr val="f3efe6"/>
                </a:solidFill>
                <a:latin typeface="Jamrul"/>
                <a:ea typeface="Inter"/>
              </a:rPr>
              <a:t>locations.</a:t>
            </a:r>
            <a:endParaRPr b="0" lang="en-IN" sz="2600" spc="-1" strike="noStrike">
              <a:latin typeface="Jamrul"/>
            </a:endParaRPr>
          </a:p>
        </p:txBody>
      </p:sp>
      <p:sp>
        <p:nvSpPr>
          <p:cNvPr id="127" name="CustomShape 4"/>
          <p:cNvSpPr/>
          <p:nvPr/>
        </p:nvSpPr>
        <p:spPr>
          <a:xfrm>
            <a:off x="864000" y="2021400"/>
            <a:ext cx="10514160" cy="2025000"/>
          </a:xfrm>
          <a:custGeom>
            <a:avLst/>
            <a:gdLst/>
            <a:ahLst/>
            <a:rect l="l" t="t" r="r" b="b"/>
            <a:pathLst>
              <a:path w="5181600" h="2026073">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28" name="CustomShape 5"/>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129" name="Image 0" descr="rect"/>
          <p:cNvPicPr/>
          <p:nvPr/>
        </p:nvPicPr>
        <p:blipFill>
          <a:blip r:embed="rId1"/>
          <a:stretch/>
        </p:blipFill>
        <p:spPr>
          <a:xfrm>
            <a:off x="0" y="0"/>
            <a:ext cx="151200" cy="6856920"/>
          </a:xfrm>
          <a:prstGeom prst="rect">
            <a:avLst/>
          </a:prstGeom>
          <a:ln>
            <a:noFill/>
          </a:ln>
        </p:spPr>
      </p:pic>
      <p:sp>
        <p:nvSpPr>
          <p:cNvPr id="130" name="CustomShape 1"/>
          <p:cNvSpPr/>
          <p:nvPr/>
        </p:nvSpPr>
        <p:spPr>
          <a:xfrm>
            <a:off x="812880" y="812880"/>
            <a:ext cx="10882440" cy="443520"/>
          </a:xfrm>
          <a:prstGeom prst="rect">
            <a:avLst/>
          </a:prstGeom>
          <a:noFill/>
          <a:ln>
            <a:noFill/>
          </a:ln>
        </p:spPr>
        <p:style>
          <a:lnRef idx="0"/>
          <a:fillRef idx="0"/>
          <a:effectRef idx="0"/>
          <a:fontRef idx="minor"/>
        </p:style>
        <p:txBody>
          <a:bodyPr lIns="0" rIns="0" tIns="0" bIns="0">
            <a:normAutofit/>
          </a:bodyPr>
          <a:p>
            <a:pPr>
              <a:lnSpc>
                <a:spcPts val="3300"/>
              </a:lnSpc>
              <a:tabLst>
                <a:tab algn="l" pos="0"/>
              </a:tabLst>
            </a:pPr>
            <a:r>
              <a:rPr b="1" lang="en-US" sz="3000" spc="-1" strike="noStrike">
                <a:solidFill>
                  <a:srgbClr val="f2b84b"/>
                </a:solidFill>
                <a:latin typeface="Inter"/>
                <a:ea typeface="Inter"/>
              </a:rPr>
              <a:t>Challenges in Private Cloud</a:t>
            </a:r>
            <a:endParaRPr b="0" lang="en-IN" sz="3000" spc="-1" strike="noStrike">
              <a:latin typeface="Arial"/>
            </a:endParaRPr>
          </a:p>
        </p:txBody>
      </p:sp>
      <p:sp>
        <p:nvSpPr>
          <p:cNvPr id="131" name="CustomShape 2"/>
          <p:cNvSpPr/>
          <p:nvPr/>
        </p:nvSpPr>
        <p:spPr>
          <a:xfrm>
            <a:off x="812880" y="1434960"/>
            <a:ext cx="10882440" cy="42048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5eead4"/>
                </a:solidFill>
                <a:latin typeface="Inter"/>
                <a:ea typeface="Inter"/>
              </a:rPr>
              <a:t>IT Reluctance</a:t>
            </a:r>
            <a:endParaRPr b="0" lang="en-IN" sz="2600" spc="-1" strike="noStrike">
              <a:latin typeface="Arial"/>
            </a:endParaRPr>
          </a:p>
        </p:txBody>
      </p:sp>
      <p:sp>
        <p:nvSpPr>
          <p:cNvPr id="132" name="CustomShape 3"/>
          <p:cNvSpPr/>
          <p:nvPr/>
        </p:nvSpPr>
        <p:spPr>
          <a:xfrm>
            <a:off x="812880" y="2160000"/>
            <a:ext cx="5180400" cy="4464000"/>
          </a:xfrm>
          <a:prstGeom prst="roundRect">
            <a:avLst>
              <a:gd name="adj" fmla="val 6903"/>
            </a:avLst>
          </a:prstGeom>
          <a:solidFill>
            <a:srgbClr val="1b2c48"/>
          </a:solidFill>
          <a:ln>
            <a:noFill/>
          </a:ln>
        </p:spPr>
        <p:style>
          <a:lnRef idx="0"/>
          <a:fillRef idx="0"/>
          <a:effectRef idx="0"/>
          <a:fontRef idx="minor"/>
        </p:style>
        <p:txBody>
          <a:bodyPr lIns="242280" rIns="103680" tIns="280440" bIns="242280">
            <a:normAutofit/>
          </a:bodyPr>
          <a:p>
            <a:pPr>
              <a:lnSpc>
                <a:spcPct val="100000"/>
              </a:lnSpc>
              <a:tabLst>
                <a:tab algn="l" pos="0"/>
              </a:tabLst>
            </a:pPr>
            <a:r>
              <a:rPr b="0" lang="en-US" sz="2600" spc="-1" strike="noStrike">
                <a:solidFill>
                  <a:srgbClr val="f3efe6"/>
                </a:solidFill>
                <a:latin typeface="Jamrul"/>
                <a:ea typeface="Inter"/>
              </a:rPr>
              <a:t>So many changes and the unknowns of their role going forward usually make people from IT departments reluctant. </a:t>
            </a:r>
            <a:endParaRPr b="0" lang="en-IN" sz="2600" spc="-1" strike="noStrike">
              <a:latin typeface="Jamrul"/>
            </a:endParaRPr>
          </a:p>
        </p:txBody>
      </p:sp>
      <p:sp>
        <p:nvSpPr>
          <p:cNvPr id="133" name="CustomShape 4"/>
          <p:cNvSpPr/>
          <p:nvPr/>
        </p:nvSpPr>
        <p:spPr>
          <a:xfrm>
            <a:off x="812880" y="1855440"/>
            <a:ext cx="5180400" cy="3812400"/>
          </a:xfrm>
          <a:custGeom>
            <a:avLst/>
            <a:gdLst/>
            <a:ahLst/>
            <a:rect l="l" t="t" r="r" b="b"/>
            <a:pathLst>
              <a:path w="5181600" h="1839913">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34" name="CustomShape 5"/>
          <p:cNvSpPr/>
          <p:nvPr/>
        </p:nvSpPr>
        <p:spPr>
          <a:xfrm>
            <a:off x="6197760" y="2088000"/>
            <a:ext cx="5180400" cy="4770000"/>
          </a:xfrm>
          <a:prstGeom prst="roundRect">
            <a:avLst>
              <a:gd name="adj" fmla="val 6903"/>
            </a:avLst>
          </a:prstGeom>
          <a:solidFill>
            <a:srgbClr val="1b2c48"/>
          </a:solidFill>
          <a:ln>
            <a:noFill/>
          </a:ln>
        </p:spPr>
        <p:style>
          <a:lnRef idx="0"/>
          <a:fillRef idx="0"/>
          <a:effectRef idx="0"/>
          <a:fontRef idx="minor"/>
        </p:style>
        <p:txBody>
          <a:bodyPr lIns="242280" rIns="103680" tIns="280440" bIns="216720">
            <a:normAutofit fontScale="82000"/>
          </a:bodyPr>
          <a:p>
            <a:r>
              <a:rPr b="0" lang="en-US" sz="1350" spc="-1" strike="noStrike">
                <a:solidFill>
                  <a:srgbClr val="f3efe6"/>
                </a:solidFill>
                <a:latin typeface="Inter"/>
                <a:ea typeface="Inter"/>
              </a:rPr>
              <a:t>T</a:t>
            </a:r>
            <a:r>
              <a:rPr b="0" lang="en-US" sz="2600" spc="-1" strike="noStrike">
                <a:solidFill>
                  <a:srgbClr val="f3efe6"/>
                </a:solidFill>
                <a:latin typeface="Jamrul"/>
                <a:ea typeface="Inter"/>
              </a:rPr>
              <a:t>o facilitate this process, the management team should be involved with IT early, to explain the benefits of the migration and work on cross training the IT team to help with core competency initiatives that benefit the companies bottom line.</a:t>
            </a:r>
            <a:endParaRPr b="0" lang="en-IN" sz="2600" spc="-1" strike="noStrike">
              <a:latin typeface="Arial"/>
            </a:endParaRPr>
          </a:p>
        </p:txBody>
      </p:sp>
      <p:sp>
        <p:nvSpPr>
          <p:cNvPr id="135" name="CustomShape 6"/>
          <p:cNvSpPr/>
          <p:nvPr/>
        </p:nvSpPr>
        <p:spPr>
          <a:xfrm>
            <a:off x="6197760" y="1728000"/>
            <a:ext cx="5180400" cy="3939840"/>
          </a:xfrm>
          <a:custGeom>
            <a:avLst/>
            <a:gdLst/>
            <a:ahLst/>
            <a:rect l="l" t="t" r="r" b="b"/>
            <a:pathLst>
              <a:path w="5181600" h="1839913">
                <a:moveTo>
                  <a:pt x="0" y="127000"/>
                </a:moveTo>
                <a:lnTo>
                  <a:pt x="0" y="127000"/>
                </a:lnTo>
                <a:lnTo>
                  <a:pt x="5054600" y="0"/>
                </a:lnTo>
                <a:lnTo>
                  <a:pt x="5181600" y="127000"/>
                </a:lnTo>
                <a:lnTo>
                  <a:pt x="127000" y="38100"/>
                </a:lnTo>
                <a:close/>
              </a:path>
            </a:pathLst>
          </a:custGeom>
          <a:solidFill>
            <a:srgbClr val="f2b84b"/>
          </a:solidFill>
          <a:ln>
            <a:noFill/>
          </a:ln>
        </p:spPr>
        <p:style>
          <a:lnRef idx="0"/>
          <a:fillRef idx="0"/>
          <a:effectRef idx="0"/>
          <a:fontRef idx="minor"/>
        </p:style>
      </p:sp>
      <p:sp>
        <p:nvSpPr>
          <p:cNvPr id="136" name="CustomShape 7"/>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137" name="Image 0" descr="rect"/>
          <p:cNvPicPr/>
          <p:nvPr/>
        </p:nvPicPr>
        <p:blipFill>
          <a:blip r:embed="rId1"/>
          <a:stretch/>
        </p:blipFill>
        <p:spPr>
          <a:xfrm>
            <a:off x="0" y="0"/>
            <a:ext cx="151200" cy="6856920"/>
          </a:xfrm>
          <a:prstGeom prst="rect">
            <a:avLst/>
          </a:prstGeom>
          <a:ln>
            <a:noFill/>
          </a:ln>
        </p:spPr>
      </p:pic>
      <p:sp>
        <p:nvSpPr>
          <p:cNvPr id="138" name="CustomShape 1"/>
          <p:cNvSpPr/>
          <p:nvPr/>
        </p:nvSpPr>
        <p:spPr>
          <a:xfrm>
            <a:off x="812880" y="812880"/>
            <a:ext cx="10882440" cy="443520"/>
          </a:xfrm>
          <a:prstGeom prst="rect">
            <a:avLst/>
          </a:prstGeom>
          <a:noFill/>
          <a:ln>
            <a:noFill/>
          </a:ln>
        </p:spPr>
        <p:style>
          <a:lnRef idx="0"/>
          <a:fillRef idx="0"/>
          <a:effectRef idx="0"/>
          <a:fontRef idx="minor"/>
        </p:style>
        <p:txBody>
          <a:bodyPr lIns="0" rIns="0" tIns="0" bIns="0">
            <a:normAutofit/>
          </a:bodyPr>
          <a:p>
            <a:pPr>
              <a:lnSpc>
                <a:spcPts val="3300"/>
              </a:lnSpc>
              <a:tabLst>
                <a:tab algn="l" pos="0"/>
              </a:tabLst>
            </a:pPr>
            <a:r>
              <a:rPr b="1" lang="en-US" sz="3000" spc="-1" strike="noStrike">
                <a:solidFill>
                  <a:srgbClr val="f2b84b"/>
                </a:solidFill>
                <a:latin typeface="Inter"/>
                <a:ea typeface="Inter"/>
              </a:rPr>
              <a:t>Challenges in Private Cloud</a:t>
            </a:r>
            <a:endParaRPr b="0" lang="en-IN" sz="3000" spc="-1" strike="noStrike">
              <a:latin typeface="Arial"/>
            </a:endParaRPr>
          </a:p>
        </p:txBody>
      </p:sp>
      <p:sp>
        <p:nvSpPr>
          <p:cNvPr id="139" name="CustomShape 2"/>
          <p:cNvSpPr/>
          <p:nvPr/>
        </p:nvSpPr>
        <p:spPr>
          <a:xfrm>
            <a:off x="812880" y="1511280"/>
            <a:ext cx="10882440" cy="420480"/>
          </a:xfrm>
          <a:prstGeom prst="rect">
            <a:avLst/>
          </a:prstGeom>
          <a:noFill/>
          <a:ln>
            <a:noFill/>
          </a:ln>
        </p:spPr>
        <p:style>
          <a:lnRef idx="0"/>
          <a:fillRef idx="0"/>
          <a:effectRef idx="0"/>
          <a:fontRef idx="minor"/>
        </p:style>
        <p:txBody>
          <a:bodyPr lIns="0" rIns="0" tIns="0" bIns="0">
            <a:normAutofit/>
          </a:bodyPr>
          <a:p>
            <a:pPr>
              <a:lnSpc>
                <a:spcPts val="3121"/>
              </a:lnSpc>
              <a:tabLst>
                <a:tab algn="l" pos="0"/>
              </a:tabLst>
            </a:pPr>
            <a:r>
              <a:rPr b="1" lang="en-US" sz="2600" spc="-1" strike="noStrike">
                <a:solidFill>
                  <a:srgbClr val="5eead4"/>
                </a:solidFill>
                <a:latin typeface="Inter"/>
                <a:ea typeface="Inter"/>
              </a:rPr>
              <a:t>Defining the IT cost model</a:t>
            </a:r>
            <a:endParaRPr b="0" lang="en-IN" sz="2600" spc="-1" strike="noStrike">
              <a:latin typeface="Arial"/>
            </a:endParaRPr>
          </a:p>
        </p:txBody>
      </p:sp>
      <p:sp>
        <p:nvSpPr>
          <p:cNvPr id="140" name="CustomShape 3"/>
          <p:cNvSpPr/>
          <p:nvPr/>
        </p:nvSpPr>
        <p:spPr>
          <a:xfrm>
            <a:off x="812880" y="2187000"/>
            <a:ext cx="5155200" cy="4221000"/>
          </a:xfrm>
          <a:prstGeom prst="roundRect">
            <a:avLst>
              <a:gd name="adj" fmla="val 5634"/>
            </a:avLst>
          </a:prstGeom>
          <a:solidFill>
            <a:srgbClr val="1b2c48"/>
          </a:solidFill>
          <a:ln>
            <a:noFill/>
          </a:ln>
        </p:spPr>
        <p:style>
          <a:lnRef idx="0"/>
          <a:fillRef idx="0"/>
          <a:effectRef idx="0"/>
          <a:fontRef idx="minor"/>
        </p:style>
        <p:txBody>
          <a:bodyPr lIns="242280" rIns="104400" tIns="280440" bIns="216720">
            <a:normAutofit/>
          </a:bodyPr>
          <a:p>
            <a:pPr>
              <a:lnSpc>
                <a:spcPct val="100000"/>
              </a:lnSpc>
              <a:tabLst>
                <a:tab algn="l" pos="0"/>
              </a:tabLst>
            </a:pPr>
            <a:r>
              <a:rPr b="0" lang="en-US" sz="2400" spc="-1" strike="noStrike">
                <a:solidFill>
                  <a:srgbClr val="f3efe6"/>
                </a:solidFill>
                <a:latin typeface="Jamrul"/>
                <a:ea typeface="Inter"/>
              </a:rPr>
              <a:t>Once the cloud services have been implemented, how will the company allocate costs back to departments? Will it be time based or resource usage based.</a:t>
            </a:r>
            <a:endParaRPr b="0" lang="en-IN" sz="2400" spc="-1" strike="noStrike">
              <a:latin typeface="Jamrul"/>
            </a:endParaRPr>
          </a:p>
        </p:txBody>
      </p:sp>
      <p:sp>
        <p:nvSpPr>
          <p:cNvPr id="141" name="CustomShape 4"/>
          <p:cNvSpPr/>
          <p:nvPr/>
        </p:nvSpPr>
        <p:spPr>
          <a:xfrm>
            <a:off x="812880" y="2187000"/>
            <a:ext cx="5155200" cy="2253240"/>
          </a:xfrm>
          <a:custGeom>
            <a:avLst/>
            <a:gdLst/>
            <a:ahLst/>
            <a:rect l="l" t="t" r="r" b="b"/>
            <a:pathLst>
              <a:path w="5156200" h="225425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142" name="CustomShape 5"/>
          <p:cNvSpPr/>
          <p:nvPr/>
        </p:nvSpPr>
        <p:spPr>
          <a:xfrm>
            <a:off x="6222960" y="2187000"/>
            <a:ext cx="5155200" cy="4077000"/>
          </a:xfrm>
          <a:prstGeom prst="roundRect">
            <a:avLst>
              <a:gd name="adj" fmla="val 5634"/>
            </a:avLst>
          </a:prstGeom>
          <a:solidFill>
            <a:srgbClr val="1b2c48"/>
          </a:solidFill>
          <a:ln>
            <a:noFill/>
          </a:ln>
        </p:spPr>
        <p:style>
          <a:lnRef idx="0"/>
          <a:fillRef idx="0"/>
          <a:effectRef idx="0"/>
          <a:fontRef idx="minor"/>
        </p:style>
        <p:txBody>
          <a:bodyPr lIns="242280" rIns="104400" tIns="280440" bIns="242280" anchor="ctr">
            <a:normAutofit/>
          </a:bodyPr>
          <a:p>
            <a:pPr>
              <a:lnSpc>
                <a:spcPct val="150000"/>
              </a:lnSpc>
              <a:tabLst>
                <a:tab algn="l" pos="0"/>
              </a:tabLst>
            </a:pPr>
            <a:r>
              <a:rPr b="0" lang="en-US" sz="2400" spc="-1" strike="noStrike">
                <a:solidFill>
                  <a:srgbClr val="f3efe6"/>
                </a:solidFill>
                <a:latin typeface="Jamrul"/>
                <a:ea typeface="Inter"/>
              </a:rPr>
              <a:t>IT will be part of defining a clear cost model.</a:t>
            </a:r>
            <a:endParaRPr b="0" lang="en-IN" sz="2400" spc="-1" strike="noStrike">
              <a:latin typeface="Jamrul"/>
            </a:endParaRPr>
          </a:p>
        </p:txBody>
      </p:sp>
      <p:sp>
        <p:nvSpPr>
          <p:cNvPr id="143" name="CustomShape 6"/>
          <p:cNvSpPr/>
          <p:nvPr/>
        </p:nvSpPr>
        <p:spPr>
          <a:xfrm>
            <a:off x="6222960" y="2187000"/>
            <a:ext cx="5155200" cy="2253240"/>
          </a:xfrm>
          <a:custGeom>
            <a:avLst/>
            <a:gdLst/>
            <a:ahLst/>
            <a:rect l="l" t="t" r="r" b="b"/>
            <a:pathLst>
              <a:path w="5156200" h="2254250">
                <a:moveTo>
                  <a:pt x="0" y="127000"/>
                </a:moveTo>
                <a:lnTo>
                  <a:pt x="0" y="127000"/>
                </a:lnTo>
                <a:lnTo>
                  <a:pt x="5029200" y="0"/>
                </a:lnTo>
                <a:lnTo>
                  <a:pt x="5156200" y="127000"/>
                </a:lnTo>
                <a:lnTo>
                  <a:pt x="127000" y="38100"/>
                </a:lnTo>
                <a:close/>
              </a:path>
            </a:pathLst>
          </a:custGeom>
          <a:solidFill>
            <a:srgbClr val="f2b84b"/>
          </a:solidFill>
          <a:ln>
            <a:noFill/>
          </a:ln>
        </p:spPr>
        <p:style>
          <a:lnRef idx="0"/>
          <a:fillRef idx="0"/>
          <a:effectRef idx="0"/>
          <a:fontRef idx="minor"/>
        </p:style>
      </p:sp>
      <p:sp>
        <p:nvSpPr>
          <p:cNvPr id="144" name="CustomShape 7"/>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2d"/>
        </a:solidFill>
      </p:bgPr>
    </p:bg>
    <p:spTree>
      <p:nvGrpSpPr>
        <p:cNvPr id="1" name=""/>
        <p:cNvGrpSpPr/>
        <p:nvPr/>
      </p:nvGrpSpPr>
      <p:grpSpPr>
        <a:xfrm>
          <a:off x="0" y="0"/>
          <a:ext cx="0" cy="0"/>
          <a:chOff x="0" y="0"/>
          <a:chExt cx="0" cy="0"/>
        </a:xfrm>
      </p:grpSpPr>
      <p:pic>
        <p:nvPicPr>
          <p:cNvPr id="145" name="Image 0" descr="rect"/>
          <p:cNvPicPr/>
          <p:nvPr/>
        </p:nvPicPr>
        <p:blipFill>
          <a:blip r:embed="rId1"/>
          <a:stretch/>
        </p:blipFill>
        <p:spPr>
          <a:xfrm>
            <a:off x="0" y="0"/>
            <a:ext cx="151200" cy="6856920"/>
          </a:xfrm>
          <a:prstGeom prst="rect">
            <a:avLst/>
          </a:prstGeom>
          <a:ln>
            <a:noFill/>
          </a:ln>
        </p:spPr>
      </p:pic>
      <p:sp>
        <p:nvSpPr>
          <p:cNvPr id="146" name="CustomShape 1"/>
          <p:cNvSpPr/>
          <p:nvPr/>
        </p:nvSpPr>
        <p:spPr>
          <a:xfrm>
            <a:off x="936000" y="144000"/>
            <a:ext cx="10882440" cy="499320"/>
          </a:xfrm>
          <a:prstGeom prst="rect">
            <a:avLst/>
          </a:prstGeom>
          <a:noFill/>
          <a:ln>
            <a:noFill/>
          </a:ln>
        </p:spPr>
        <p:style>
          <a:lnRef idx="0"/>
          <a:fillRef idx="0"/>
          <a:effectRef idx="0"/>
          <a:fontRef idx="minor"/>
        </p:style>
        <p:txBody>
          <a:bodyPr lIns="0" rIns="0" tIns="0" bIns="0">
            <a:normAutofit/>
          </a:bodyPr>
          <a:p>
            <a:pPr>
              <a:lnSpc>
                <a:spcPts val="3739"/>
              </a:lnSpc>
              <a:tabLst>
                <a:tab algn="l" pos="0"/>
              </a:tabLst>
            </a:pPr>
            <a:r>
              <a:rPr b="1" lang="en-US" sz="3400" spc="-1" strike="noStrike">
                <a:solidFill>
                  <a:srgbClr val="f2b84b"/>
                </a:solidFill>
                <a:latin typeface="Inter"/>
                <a:ea typeface="Inter"/>
              </a:rPr>
              <a:t>PUBLIC CLOUD VS PRIVATE CLOUD</a:t>
            </a:r>
            <a:endParaRPr b="0" lang="en-IN" sz="3400" spc="-1" strike="noStrike">
              <a:latin typeface="Arial"/>
            </a:endParaRPr>
          </a:p>
        </p:txBody>
      </p:sp>
      <p:sp>
        <p:nvSpPr>
          <p:cNvPr id="147" name="CustomShape 2"/>
          <p:cNvSpPr/>
          <p:nvPr/>
        </p:nvSpPr>
        <p:spPr>
          <a:xfrm>
            <a:off x="812880" y="6238080"/>
            <a:ext cx="1159200" cy="237600"/>
          </a:xfrm>
          <a:prstGeom prst="rect">
            <a:avLst/>
          </a:prstGeom>
          <a:noFill/>
          <a:ln>
            <a:noFill/>
          </a:ln>
        </p:spPr>
        <p:style>
          <a:lnRef idx="0"/>
          <a:fillRef idx="0"/>
          <a:effectRef idx="0"/>
          <a:fontRef idx="minor"/>
        </p:style>
        <p:txBody>
          <a:bodyPr lIns="0" rIns="0" tIns="0" bIns="0">
            <a:normAutofit/>
          </a:bodyPr>
          <a:p>
            <a:pPr>
              <a:lnSpc>
                <a:spcPts val="1681"/>
              </a:lnSpc>
              <a:tabLst>
                <a:tab algn="l" pos="0"/>
              </a:tabLst>
            </a:pPr>
            <a:r>
              <a:rPr b="0" lang="en-US" sz="1200" spc="-1" strike="noStrike">
                <a:solidFill>
                  <a:srgbClr val="8fa0ba"/>
                </a:solidFill>
                <a:latin typeface="Inter"/>
                <a:ea typeface="Inter"/>
              </a:rPr>
              <a:t>Private Cloud</a:t>
            </a:r>
            <a:endParaRPr b="0" lang="en-IN" sz="1200" spc="-1" strike="noStrike">
              <a:latin typeface="Arial"/>
            </a:endParaRPr>
          </a:p>
        </p:txBody>
      </p:sp>
      <p:pic>
        <p:nvPicPr>
          <p:cNvPr id="148" name="" descr=""/>
          <p:cNvPicPr/>
          <p:nvPr/>
        </p:nvPicPr>
        <p:blipFill>
          <a:blip r:embed="rId2"/>
          <a:stretch/>
        </p:blipFill>
        <p:spPr>
          <a:xfrm>
            <a:off x="432000" y="1152000"/>
            <a:ext cx="11448000" cy="554400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b84b"/>
        </a:solidFill>
      </p:bgPr>
    </p:bg>
    <p:spTree>
      <p:nvGrpSpPr>
        <p:cNvPr id="1" name=""/>
        <p:cNvGrpSpPr/>
        <p:nvPr/>
      </p:nvGrpSpPr>
      <p:grpSpPr>
        <a:xfrm>
          <a:off x="0" y="0"/>
          <a:ext cx="0" cy="0"/>
          <a:chOff x="0" y="0"/>
          <a:chExt cx="0" cy="0"/>
        </a:xfrm>
      </p:grpSpPr>
      <p:pic>
        <p:nvPicPr>
          <p:cNvPr id="149" name="Image 0" descr="rect"/>
          <p:cNvPicPr/>
          <p:nvPr/>
        </p:nvPicPr>
        <p:blipFill>
          <a:blip r:embed="rId1"/>
          <a:stretch/>
        </p:blipFill>
        <p:spPr>
          <a:xfrm>
            <a:off x="812880" y="3809880"/>
            <a:ext cx="1269000" cy="62280"/>
          </a:xfrm>
          <a:prstGeom prst="rect">
            <a:avLst/>
          </a:prstGeom>
          <a:ln>
            <a:noFill/>
          </a:ln>
        </p:spPr>
      </p:pic>
      <p:sp>
        <p:nvSpPr>
          <p:cNvPr id="150" name="CustomShape 1"/>
          <p:cNvSpPr/>
          <p:nvPr/>
        </p:nvSpPr>
        <p:spPr>
          <a:xfrm>
            <a:off x="812880" y="2870280"/>
            <a:ext cx="10882440" cy="1141920"/>
          </a:xfrm>
          <a:prstGeom prst="rect">
            <a:avLst/>
          </a:prstGeom>
          <a:noFill/>
          <a:ln>
            <a:noFill/>
          </a:ln>
        </p:spPr>
        <p:style>
          <a:lnRef idx="0"/>
          <a:fillRef idx="0"/>
          <a:effectRef idx="0"/>
          <a:fontRef idx="minor"/>
        </p:style>
        <p:txBody>
          <a:bodyPr lIns="0" rIns="0" tIns="0" bIns="0">
            <a:normAutofit/>
          </a:bodyPr>
          <a:p>
            <a:pPr>
              <a:lnSpc>
                <a:spcPts val="8799"/>
              </a:lnSpc>
              <a:tabLst>
                <a:tab algn="l" pos="0"/>
              </a:tabLst>
            </a:pPr>
            <a:r>
              <a:rPr b="1" lang="en-US" sz="8000" spc="-1" strike="noStrike">
                <a:solidFill>
                  <a:srgbClr val="0f1b2d"/>
                </a:solidFill>
                <a:latin typeface="Inter"/>
                <a:ea typeface="Inter"/>
              </a:rPr>
              <a:t>UNIT-V</a:t>
            </a:r>
            <a:endParaRPr b="0" lang="en-IN" sz="8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b30"/>
      </a:dk2>
      <a:lt2>
        <a:srgbClr val="b99144"/>
      </a:lt2>
      <a:accent1>
        <a:srgbClr val="1b2c48"/>
      </a:accent1>
      <a:accent2>
        <a:srgbClr val="8fa0ba"/>
      </a:accent2>
      <a:accent3>
        <a:srgbClr val="5eead4"/>
      </a:accent3>
      <a:accent4>
        <a:srgbClr val="f3efe6"/>
      </a:accent4>
      <a:accent5>
        <a:srgbClr val="c3cedf"/>
      </a:accent5>
      <a:accent6>
        <a:srgbClr val="9aa0a6"/>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62b30"/>
      </a:dk2>
      <a:lt2>
        <a:srgbClr val="b99144"/>
      </a:lt2>
      <a:accent1>
        <a:srgbClr val="1b2c48"/>
      </a:accent1>
      <a:accent2>
        <a:srgbClr val="8fa0ba"/>
      </a:accent2>
      <a:accent3>
        <a:srgbClr val="5eead4"/>
      </a:accent3>
      <a:accent4>
        <a:srgbClr val="f3efe6"/>
      </a:accent4>
      <a:accent5>
        <a:srgbClr val="c3cedf"/>
      </a:accent5>
      <a:accent6>
        <a:srgbClr val="9aa0a6"/>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43</TotalTime>
  <Application>LibreOffice/6.4.7.2$Linux_X86_64 LibreOffice_project/40$Build-2</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2026-10-08T09:34:28Z</dcterms:created>
  <dc:creator/>
  <dc:description/>
  <dc:language>en-IN</dc:language>
  <cp:lastModifiedBy/>
  <dcterms:modified xsi:type="dcterms:W3CDTF">2026-10-09T12:48:01Z</dcterms:modified>
  <cp:revision>7</cp:revision>
  <dc:subject/>
  <dc:title>Private Cloud – Class 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14</vt:i4>
  </property>
  <property fmtid="{D5CDD505-2E9C-101B-9397-08002B2CF9AE}" pid="8" name="PresentationFormat">
    <vt:lpwstr>On-screen Show (16:9)</vt:lpwstr>
  </property>
  <property fmtid="{D5CDD505-2E9C-101B-9397-08002B2CF9AE}" pid="9" name="ScaleCrop">
    <vt:bool>0</vt:bool>
  </property>
  <property fmtid="{D5CDD505-2E9C-101B-9397-08002B2CF9AE}" pid="10" name="ShareDoc">
    <vt:bool>0</vt:bool>
  </property>
  <property fmtid="{D5CDD505-2E9C-101B-9397-08002B2CF9AE}" pid="11" name="Slides">
    <vt:i4>14</vt:i4>
  </property>
</Properties>
</file>