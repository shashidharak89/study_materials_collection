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7.png" ContentType="image/png"/>
  <Override PartName="/ppt/media/image8.png" ContentType="image/png"/>
  <Override PartName="/ppt/media/image9.png" ContentType="image/png"/>
  <Override PartName="/ppt/slides/slide29.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_rels/slide16.xml.rels" ContentType="application/vnd.openxmlformats-package.relationships+xml"/>
  <Override PartName="/ppt/slides/_rels/slide25.xml.rels" ContentType="application/vnd.openxmlformats-package.relationships+xml"/>
  <Override PartName="/ppt/slides/_rels/slide10.xml.rels" ContentType="application/vnd.openxmlformats-package.relationships+xml"/>
  <Override PartName="/ppt/slides/_rels/slide27.xml.rels" ContentType="application/vnd.openxmlformats-package.relationships+xml"/>
  <Override PartName="/ppt/slides/_rels/slide8.xml.rels" ContentType="application/vnd.openxmlformats-package.relationships+xml"/>
  <Override PartName="/ppt/slides/_rels/slide21.xml.rels" ContentType="application/vnd.openxmlformats-package.relationships+xml"/>
  <Override PartName="/ppt/slides/_rels/slide2.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7.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slide30.xml" ContentType="application/vnd.openxmlformats-officedocument.presentationml.slide+xml"/>
  <Override PartName="/ppt/slides/slide5.xml" ContentType="application/vnd.openxmlformats-officedocument.presentationml.slide+xml"/>
  <Override PartName="/ppt/slides/slide31.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Lst>
  <p:sldSz cx="10080625" cy="5670550"/>
  <p:notesSz cx="7559675" cy="10691812"/>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3"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5" name="PlaceHolder 2"/>
          <p:cNvSpPr>
            <a:spLocks noGrp="1"/>
          </p:cNvSpPr>
          <p:nvPr>
            <p:ph type="body"/>
          </p:nvPr>
        </p:nvSpPr>
        <p:spPr>
          <a:xfrm>
            <a:off x="504000" y="1326600"/>
            <a:ext cx="9072000" cy="328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7" name="PlaceHolder 2"/>
          <p:cNvSpPr>
            <a:spLocks noGrp="1"/>
          </p:cNvSpPr>
          <p:nvPr>
            <p:ph type="body"/>
          </p:nvPr>
        </p:nvSpPr>
        <p:spPr>
          <a:xfrm>
            <a:off x="504000" y="1326600"/>
            <a:ext cx="4426920" cy="3288600"/>
          </a:xfrm>
          <a:prstGeom prst="rect">
            <a:avLst/>
          </a:prstGeom>
        </p:spPr>
        <p:txBody>
          <a:bodyPr lIns="0" rIns="0" tIns="0" bIns="0">
            <a:normAutofit/>
          </a:bodyPr>
          <a:p>
            <a:endParaRPr b="0" lang="en-IN" sz="3200" spc="-1" strike="noStrike">
              <a:latin typeface="Arial"/>
            </a:endParaRPr>
          </a:p>
        </p:txBody>
      </p:sp>
      <p:sp>
        <p:nvSpPr>
          <p:cNvPr id="8" name="PlaceHolder 3"/>
          <p:cNvSpPr>
            <a:spLocks noGrp="1"/>
          </p:cNvSpPr>
          <p:nvPr>
            <p:ph type="body"/>
          </p:nvPr>
        </p:nvSpPr>
        <p:spPr>
          <a:xfrm>
            <a:off x="5152680" y="1326600"/>
            <a:ext cx="4426920" cy="328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12"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13" name="PlaceHolder 3"/>
          <p:cNvSpPr>
            <a:spLocks noGrp="1"/>
          </p:cNvSpPr>
          <p:nvPr>
            <p:ph type="body"/>
          </p:nvPr>
        </p:nvSpPr>
        <p:spPr>
          <a:xfrm>
            <a:off x="5152680" y="1326600"/>
            <a:ext cx="4426920" cy="3288600"/>
          </a:xfrm>
          <a:prstGeom prst="rect">
            <a:avLst/>
          </a:prstGeom>
        </p:spPr>
        <p:txBody>
          <a:bodyPr lIns="0" rIns="0" tIns="0" bIns="0">
            <a:normAutofit/>
          </a:bodyPr>
          <a:p>
            <a:endParaRPr b="0" lang="en-IN" sz="3200" spc="-1" strike="noStrike">
              <a:latin typeface="Arial"/>
            </a:endParaRPr>
          </a:p>
        </p:txBody>
      </p:sp>
      <p:sp>
        <p:nvSpPr>
          <p:cNvPr id="14" name="PlaceHolder 4"/>
          <p:cNvSpPr>
            <a:spLocks noGrp="1"/>
          </p:cNvSpPr>
          <p:nvPr>
            <p:ph type="body"/>
          </p:nvPr>
        </p:nvSpPr>
        <p:spPr>
          <a:xfrm>
            <a:off x="50400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16" name="PlaceHolder 2"/>
          <p:cNvSpPr>
            <a:spLocks noGrp="1"/>
          </p:cNvSpPr>
          <p:nvPr>
            <p:ph type="body"/>
          </p:nvPr>
        </p:nvSpPr>
        <p:spPr>
          <a:xfrm>
            <a:off x="504000" y="1326600"/>
            <a:ext cx="4426920" cy="3288600"/>
          </a:xfrm>
          <a:prstGeom prst="rect">
            <a:avLst/>
          </a:prstGeom>
        </p:spPr>
        <p:txBody>
          <a:bodyPr lIns="0" rIns="0" tIns="0" bIns="0">
            <a:normAutofit/>
          </a:bodyPr>
          <a:p>
            <a:endParaRPr b="0" lang="en-IN" sz="3200" spc="-1" strike="noStrike">
              <a:latin typeface="Arial"/>
            </a:endParaRPr>
          </a:p>
        </p:txBody>
      </p:sp>
      <p:sp>
        <p:nvSpPr>
          <p:cNvPr id="17"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18" name="PlaceHolder 4"/>
          <p:cNvSpPr>
            <a:spLocks noGrp="1"/>
          </p:cNvSpPr>
          <p:nvPr>
            <p:ph type="body"/>
          </p:nvPr>
        </p:nvSpPr>
        <p:spPr>
          <a:xfrm>
            <a:off x="515268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20"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21"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22" name="PlaceHolder 4"/>
          <p:cNvSpPr>
            <a:spLocks noGrp="1"/>
          </p:cNvSpPr>
          <p:nvPr>
            <p:ph type="body"/>
          </p:nvPr>
        </p:nvSpPr>
        <p:spPr>
          <a:xfrm>
            <a:off x="504000" y="3044520"/>
            <a:ext cx="907200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24" name="PlaceHolder 2"/>
          <p:cNvSpPr>
            <a:spLocks noGrp="1"/>
          </p:cNvSpPr>
          <p:nvPr>
            <p:ph type="body"/>
          </p:nvPr>
        </p:nvSpPr>
        <p:spPr>
          <a:xfrm>
            <a:off x="504000" y="1326600"/>
            <a:ext cx="9072000" cy="1568520"/>
          </a:xfrm>
          <a:prstGeom prst="rect">
            <a:avLst/>
          </a:prstGeom>
        </p:spPr>
        <p:txBody>
          <a:bodyPr lIns="0" rIns="0" tIns="0" bIns="0">
            <a:normAutofit/>
          </a:bodyPr>
          <a:p>
            <a:endParaRPr b="0" lang="en-IN" sz="3200" spc="-1" strike="noStrike">
              <a:latin typeface="Arial"/>
            </a:endParaRPr>
          </a:p>
        </p:txBody>
      </p:sp>
      <p:sp>
        <p:nvSpPr>
          <p:cNvPr id="25" name="PlaceHolder 3"/>
          <p:cNvSpPr>
            <a:spLocks noGrp="1"/>
          </p:cNvSpPr>
          <p:nvPr>
            <p:ph type="body"/>
          </p:nvPr>
        </p:nvSpPr>
        <p:spPr>
          <a:xfrm>
            <a:off x="504000" y="3044520"/>
            <a:ext cx="907200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27"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28"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29" name="PlaceHolder 4"/>
          <p:cNvSpPr>
            <a:spLocks noGrp="1"/>
          </p:cNvSpPr>
          <p:nvPr>
            <p:ph type="body"/>
          </p:nvPr>
        </p:nvSpPr>
        <p:spPr>
          <a:xfrm>
            <a:off x="504000" y="3044520"/>
            <a:ext cx="4426920" cy="1568520"/>
          </a:xfrm>
          <a:prstGeom prst="rect">
            <a:avLst/>
          </a:prstGeom>
        </p:spPr>
        <p:txBody>
          <a:bodyPr lIns="0" rIns="0" tIns="0" bIns="0">
            <a:normAutofit/>
          </a:bodyPr>
          <a:p>
            <a:endParaRPr b="0" lang="en-IN" sz="3200" spc="-1" strike="noStrike">
              <a:latin typeface="Arial"/>
            </a:endParaRPr>
          </a:p>
        </p:txBody>
      </p:sp>
      <p:sp>
        <p:nvSpPr>
          <p:cNvPr id="30" name="PlaceHolder 5"/>
          <p:cNvSpPr>
            <a:spLocks noGrp="1"/>
          </p:cNvSpPr>
          <p:nvPr>
            <p:ph type="body"/>
          </p:nvPr>
        </p:nvSpPr>
        <p:spPr>
          <a:xfrm>
            <a:off x="515268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32" name="PlaceHolder 2"/>
          <p:cNvSpPr>
            <a:spLocks noGrp="1"/>
          </p:cNvSpPr>
          <p:nvPr>
            <p:ph type="body"/>
          </p:nvPr>
        </p:nvSpPr>
        <p:spPr>
          <a:xfrm>
            <a:off x="504000" y="1326600"/>
            <a:ext cx="2921040" cy="1568520"/>
          </a:xfrm>
          <a:prstGeom prst="rect">
            <a:avLst/>
          </a:prstGeom>
        </p:spPr>
        <p:txBody>
          <a:bodyPr lIns="0" rIns="0" tIns="0" bIns="0">
            <a:normAutofit/>
          </a:bodyPr>
          <a:p>
            <a:endParaRPr b="0" lang="en-IN" sz="3200" spc="-1" strike="noStrike">
              <a:latin typeface="Arial"/>
            </a:endParaRPr>
          </a:p>
        </p:txBody>
      </p:sp>
      <p:sp>
        <p:nvSpPr>
          <p:cNvPr id="33" name="PlaceHolder 3"/>
          <p:cNvSpPr>
            <a:spLocks noGrp="1"/>
          </p:cNvSpPr>
          <p:nvPr>
            <p:ph type="body"/>
          </p:nvPr>
        </p:nvSpPr>
        <p:spPr>
          <a:xfrm>
            <a:off x="3571560" y="1326600"/>
            <a:ext cx="2921040" cy="1568520"/>
          </a:xfrm>
          <a:prstGeom prst="rect">
            <a:avLst/>
          </a:prstGeom>
        </p:spPr>
        <p:txBody>
          <a:bodyPr lIns="0" rIns="0" tIns="0" bIns="0">
            <a:normAutofit/>
          </a:bodyPr>
          <a:p>
            <a:endParaRPr b="0" lang="en-IN" sz="3200" spc="-1" strike="noStrike">
              <a:latin typeface="Arial"/>
            </a:endParaRPr>
          </a:p>
        </p:txBody>
      </p:sp>
      <p:sp>
        <p:nvSpPr>
          <p:cNvPr id="34" name="PlaceHolder 4"/>
          <p:cNvSpPr>
            <a:spLocks noGrp="1"/>
          </p:cNvSpPr>
          <p:nvPr>
            <p:ph type="body"/>
          </p:nvPr>
        </p:nvSpPr>
        <p:spPr>
          <a:xfrm>
            <a:off x="6639120" y="1326600"/>
            <a:ext cx="2921040" cy="1568520"/>
          </a:xfrm>
          <a:prstGeom prst="rect">
            <a:avLst/>
          </a:prstGeom>
        </p:spPr>
        <p:txBody>
          <a:bodyPr lIns="0" rIns="0" tIns="0" bIns="0">
            <a:normAutofit/>
          </a:bodyPr>
          <a:p>
            <a:endParaRPr b="0" lang="en-IN" sz="3200" spc="-1" strike="noStrike">
              <a:latin typeface="Arial"/>
            </a:endParaRPr>
          </a:p>
        </p:txBody>
      </p:sp>
      <p:sp>
        <p:nvSpPr>
          <p:cNvPr id="35" name="PlaceHolder 5"/>
          <p:cNvSpPr>
            <a:spLocks noGrp="1"/>
          </p:cNvSpPr>
          <p:nvPr>
            <p:ph type="body"/>
          </p:nvPr>
        </p:nvSpPr>
        <p:spPr>
          <a:xfrm>
            <a:off x="504000" y="3044520"/>
            <a:ext cx="2921040" cy="1568520"/>
          </a:xfrm>
          <a:prstGeom prst="rect">
            <a:avLst/>
          </a:prstGeom>
        </p:spPr>
        <p:txBody>
          <a:bodyPr lIns="0" rIns="0" tIns="0" bIns="0">
            <a:normAutofit/>
          </a:bodyPr>
          <a:p>
            <a:endParaRPr b="0" lang="en-IN" sz="3200" spc="-1" strike="noStrike">
              <a:latin typeface="Arial"/>
            </a:endParaRPr>
          </a:p>
        </p:txBody>
      </p:sp>
      <p:sp>
        <p:nvSpPr>
          <p:cNvPr id="36" name="PlaceHolder 6"/>
          <p:cNvSpPr>
            <a:spLocks noGrp="1"/>
          </p:cNvSpPr>
          <p:nvPr>
            <p:ph type="body"/>
          </p:nvPr>
        </p:nvSpPr>
        <p:spPr>
          <a:xfrm>
            <a:off x="3571560" y="3044520"/>
            <a:ext cx="2921040" cy="1568520"/>
          </a:xfrm>
          <a:prstGeom prst="rect">
            <a:avLst/>
          </a:prstGeom>
        </p:spPr>
        <p:txBody>
          <a:bodyPr lIns="0" rIns="0" tIns="0" bIns="0">
            <a:normAutofit/>
          </a:bodyPr>
          <a:p>
            <a:endParaRPr b="0" lang="en-IN" sz="3200" spc="-1" strike="noStrike">
              <a:latin typeface="Arial"/>
            </a:endParaRPr>
          </a:p>
        </p:txBody>
      </p:sp>
      <p:sp>
        <p:nvSpPr>
          <p:cNvPr id="37" name="PlaceHolder 7"/>
          <p:cNvSpPr>
            <a:spLocks noGrp="1"/>
          </p:cNvSpPr>
          <p:nvPr>
            <p:ph type="body"/>
          </p:nvPr>
        </p:nvSpPr>
        <p:spPr>
          <a:xfrm>
            <a:off x="6639120" y="3044520"/>
            <a:ext cx="292104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0"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41" name="PlaceHolder 2"/>
          <p:cNvSpPr>
            <a:spLocks noGrp="1"/>
          </p:cNvSpPr>
          <p:nvPr>
            <p:ph type="subTitle"/>
          </p:nvPr>
        </p:nvSpPr>
        <p:spPr>
          <a:xfrm>
            <a:off x="504000" y="1326600"/>
            <a:ext cx="9072000" cy="32886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43" name="PlaceHolder 2"/>
          <p:cNvSpPr>
            <a:spLocks noGrp="1"/>
          </p:cNvSpPr>
          <p:nvPr>
            <p:ph type="body"/>
          </p:nvPr>
        </p:nvSpPr>
        <p:spPr>
          <a:xfrm>
            <a:off x="504000" y="1326600"/>
            <a:ext cx="9072000" cy="328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45" name="PlaceHolder 2"/>
          <p:cNvSpPr>
            <a:spLocks noGrp="1"/>
          </p:cNvSpPr>
          <p:nvPr>
            <p:ph type="body"/>
          </p:nvPr>
        </p:nvSpPr>
        <p:spPr>
          <a:xfrm>
            <a:off x="504000" y="1326600"/>
            <a:ext cx="4426920" cy="3288600"/>
          </a:xfrm>
          <a:prstGeom prst="rect">
            <a:avLst/>
          </a:prstGeom>
        </p:spPr>
        <p:txBody>
          <a:bodyPr lIns="0" rIns="0" tIns="0" bIns="0">
            <a:normAutofit/>
          </a:bodyPr>
          <a:p>
            <a:endParaRPr b="0" lang="en-IN" sz="3200" spc="-1" strike="noStrike">
              <a:latin typeface="Arial"/>
            </a:endParaRPr>
          </a:p>
        </p:txBody>
      </p:sp>
      <p:sp>
        <p:nvSpPr>
          <p:cNvPr id="46" name="PlaceHolder 3"/>
          <p:cNvSpPr>
            <a:spLocks noGrp="1"/>
          </p:cNvSpPr>
          <p:nvPr>
            <p:ph type="body"/>
          </p:nvPr>
        </p:nvSpPr>
        <p:spPr>
          <a:xfrm>
            <a:off x="5152680" y="1326600"/>
            <a:ext cx="4426920" cy="3288600"/>
          </a:xfrm>
          <a:prstGeom prst="rect">
            <a:avLst/>
          </a:prstGeom>
        </p:spPr>
        <p:txBody>
          <a:bodyPr lIns="0" rIns="0" tIns="0" bIns="0">
            <a:normAutofit/>
          </a:bodyPr>
          <a:p>
            <a:endParaRPr b="0" lang="en-IN" sz="3200" spc="-1" strike="noStrike">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48" name="PlaceHolder 1"/>
          <p:cNvSpPr>
            <a:spLocks noGrp="1"/>
          </p:cNvSpPr>
          <p:nvPr>
            <p:ph type="subTitle"/>
          </p:nvPr>
        </p:nvSpPr>
        <p:spPr>
          <a:xfrm>
            <a:off x="504000" y="226080"/>
            <a:ext cx="9072000" cy="4388400"/>
          </a:xfrm>
          <a:prstGeom prst="rect">
            <a:avLst/>
          </a:prstGeom>
        </p:spPr>
        <p:txBody>
          <a:bodyPr lIns="0" rIns="0" tIns="0" bIns="0" anchor="ctr">
            <a:noAutofit/>
          </a:bodyPr>
          <a:p>
            <a:pPr algn="ctr"/>
            <a:endParaRPr b="0" lang="en-IN"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50"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51" name="PlaceHolder 3"/>
          <p:cNvSpPr>
            <a:spLocks noGrp="1"/>
          </p:cNvSpPr>
          <p:nvPr>
            <p:ph type="body"/>
          </p:nvPr>
        </p:nvSpPr>
        <p:spPr>
          <a:xfrm>
            <a:off x="5152680" y="1326600"/>
            <a:ext cx="4426920" cy="3288600"/>
          </a:xfrm>
          <a:prstGeom prst="rect">
            <a:avLst/>
          </a:prstGeom>
        </p:spPr>
        <p:txBody>
          <a:bodyPr lIns="0" rIns="0" tIns="0" bIns="0">
            <a:normAutofit/>
          </a:bodyPr>
          <a:p>
            <a:endParaRPr b="0" lang="en-IN" sz="3200" spc="-1" strike="noStrike">
              <a:latin typeface="Arial"/>
            </a:endParaRPr>
          </a:p>
        </p:txBody>
      </p:sp>
      <p:sp>
        <p:nvSpPr>
          <p:cNvPr id="52" name="PlaceHolder 4"/>
          <p:cNvSpPr>
            <a:spLocks noGrp="1"/>
          </p:cNvSpPr>
          <p:nvPr>
            <p:ph type="body"/>
          </p:nvPr>
        </p:nvSpPr>
        <p:spPr>
          <a:xfrm>
            <a:off x="50400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3"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54" name="PlaceHolder 2"/>
          <p:cNvSpPr>
            <a:spLocks noGrp="1"/>
          </p:cNvSpPr>
          <p:nvPr>
            <p:ph type="body"/>
          </p:nvPr>
        </p:nvSpPr>
        <p:spPr>
          <a:xfrm>
            <a:off x="504000" y="1326600"/>
            <a:ext cx="4426920" cy="3288600"/>
          </a:xfrm>
          <a:prstGeom prst="rect">
            <a:avLst/>
          </a:prstGeom>
        </p:spPr>
        <p:txBody>
          <a:bodyPr lIns="0" rIns="0" tIns="0" bIns="0">
            <a:normAutofit/>
          </a:bodyPr>
          <a:p>
            <a:endParaRPr b="0" lang="en-IN" sz="3200" spc="-1" strike="noStrike">
              <a:latin typeface="Arial"/>
            </a:endParaRPr>
          </a:p>
        </p:txBody>
      </p:sp>
      <p:sp>
        <p:nvSpPr>
          <p:cNvPr id="55"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56" name="PlaceHolder 4"/>
          <p:cNvSpPr>
            <a:spLocks noGrp="1"/>
          </p:cNvSpPr>
          <p:nvPr>
            <p:ph type="body"/>
          </p:nvPr>
        </p:nvSpPr>
        <p:spPr>
          <a:xfrm>
            <a:off x="515268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58"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59"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60" name="PlaceHolder 4"/>
          <p:cNvSpPr>
            <a:spLocks noGrp="1"/>
          </p:cNvSpPr>
          <p:nvPr>
            <p:ph type="body"/>
          </p:nvPr>
        </p:nvSpPr>
        <p:spPr>
          <a:xfrm>
            <a:off x="504000" y="3044520"/>
            <a:ext cx="907200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62" name="PlaceHolder 2"/>
          <p:cNvSpPr>
            <a:spLocks noGrp="1"/>
          </p:cNvSpPr>
          <p:nvPr>
            <p:ph type="body"/>
          </p:nvPr>
        </p:nvSpPr>
        <p:spPr>
          <a:xfrm>
            <a:off x="504000" y="1326600"/>
            <a:ext cx="9072000" cy="1568520"/>
          </a:xfrm>
          <a:prstGeom prst="rect">
            <a:avLst/>
          </a:prstGeom>
        </p:spPr>
        <p:txBody>
          <a:bodyPr lIns="0" rIns="0" tIns="0" bIns="0">
            <a:normAutofit/>
          </a:bodyPr>
          <a:p>
            <a:endParaRPr b="0" lang="en-IN" sz="3200" spc="-1" strike="noStrike">
              <a:latin typeface="Arial"/>
            </a:endParaRPr>
          </a:p>
        </p:txBody>
      </p:sp>
      <p:sp>
        <p:nvSpPr>
          <p:cNvPr id="63" name="PlaceHolder 3"/>
          <p:cNvSpPr>
            <a:spLocks noGrp="1"/>
          </p:cNvSpPr>
          <p:nvPr>
            <p:ph type="body"/>
          </p:nvPr>
        </p:nvSpPr>
        <p:spPr>
          <a:xfrm>
            <a:off x="504000" y="3044520"/>
            <a:ext cx="907200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65" name="PlaceHolder 2"/>
          <p:cNvSpPr>
            <a:spLocks noGrp="1"/>
          </p:cNvSpPr>
          <p:nvPr>
            <p:ph type="body"/>
          </p:nvPr>
        </p:nvSpPr>
        <p:spPr>
          <a:xfrm>
            <a:off x="504000" y="1326600"/>
            <a:ext cx="4426920" cy="1568520"/>
          </a:xfrm>
          <a:prstGeom prst="rect">
            <a:avLst/>
          </a:prstGeom>
        </p:spPr>
        <p:txBody>
          <a:bodyPr lIns="0" rIns="0" tIns="0" bIns="0">
            <a:normAutofit/>
          </a:bodyPr>
          <a:p>
            <a:endParaRPr b="0" lang="en-IN" sz="3200" spc="-1" strike="noStrike">
              <a:latin typeface="Arial"/>
            </a:endParaRPr>
          </a:p>
        </p:txBody>
      </p:sp>
      <p:sp>
        <p:nvSpPr>
          <p:cNvPr id="66" name="PlaceHolder 3"/>
          <p:cNvSpPr>
            <a:spLocks noGrp="1"/>
          </p:cNvSpPr>
          <p:nvPr>
            <p:ph type="body"/>
          </p:nvPr>
        </p:nvSpPr>
        <p:spPr>
          <a:xfrm>
            <a:off x="5152680" y="1326600"/>
            <a:ext cx="4426920" cy="1568520"/>
          </a:xfrm>
          <a:prstGeom prst="rect">
            <a:avLst/>
          </a:prstGeom>
        </p:spPr>
        <p:txBody>
          <a:bodyPr lIns="0" rIns="0" tIns="0" bIns="0">
            <a:normAutofit/>
          </a:bodyPr>
          <a:p>
            <a:endParaRPr b="0" lang="en-IN" sz="3200" spc="-1" strike="noStrike">
              <a:latin typeface="Arial"/>
            </a:endParaRPr>
          </a:p>
        </p:txBody>
      </p:sp>
      <p:sp>
        <p:nvSpPr>
          <p:cNvPr id="67" name="PlaceHolder 4"/>
          <p:cNvSpPr>
            <a:spLocks noGrp="1"/>
          </p:cNvSpPr>
          <p:nvPr>
            <p:ph type="body"/>
          </p:nvPr>
        </p:nvSpPr>
        <p:spPr>
          <a:xfrm>
            <a:off x="504000" y="3044520"/>
            <a:ext cx="4426920" cy="1568520"/>
          </a:xfrm>
          <a:prstGeom prst="rect">
            <a:avLst/>
          </a:prstGeom>
        </p:spPr>
        <p:txBody>
          <a:bodyPr lIns="0" rIns="0" tIns="0" bIns="0">
            <a:normAutofit/>
          </a:bodyPr>
          <a:p>
            <a:endParaRPr b="0" lang="en-IN" sz="3200" spc="-1" strike="noStrike">
              <a:latin typeface="Arial"/>
            </a:endParaRPr>
          </a:p>
        </p:txBody>
      </p:sp>
      <p:sp>
        <p:nvSpPr>
          <p:cNvPr id="68" name="PlaceHolder 5"/>
          <p:cNvSpPr>
            <a:spLocks noGrp="1"/>
          </p:cNvSpPr>
          <p:nvPr>
            <p:ph type="body"/>
          </p:nvPr>
        </p:nvSpPr>
        <p:spPr>
          <a:xfrm>
            <a:off x="5152680" y="3044520"/>
            <a:ext cx="4426920" cy="1568520"/>
          </a:xfrm>
          <a:prstGeom prst="rect">
            <a:avLst/>
          </a:prstGeom>
        </p:spPr>
        <p:txBody>
          <a:bodyPr lIns="0" rIns="0" tIns="0" bIns="0">
            <a:normAutofit/>
          </a:bodyPr>
          <a:p>
            <a:endParaRPr b="0" lang="en-IN" sz="3200" spc="-1" strike="noStrike">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504000" y="226080"/>
            <a:ext cx="9072000" cy="946440"/>
          </a:xfrm>
          <a:prstGeom prst="rect">
            <a:avLst/>
          </a:prstGeom>
        </p:spPr>
        <p:txBody>
          <a:bodyPr lIns="0" rIns="0" tIns="0" bIns="0" anchor="ctr">
            <a:noAutofit/>
          </a:bodyPr>
          <a:p>
            <a:pPr algn="ctr"/>
            <a:endParaRPr b="0" lang="en-IN" sz="4400" spc="-1" strike="noStrike">
              <a:latin typeface="Arial"/>
            </a:endParaRPr>
          </a:p>
        </p:txBody>
      </p:sp>
      <p:sp>
        <p:nvSpPr>
          <p:cNvPr id="70" name="PlaceHolder 2"/>
          <p:cNvSpPr>
            <a:spLocks noGrp="1"/>
          </p:cNvSpPr>
          <p:nvPr>
            <p:ph type="body"/>
          </p:nvPr>
        </p:nvSpPr>
        <p:spPr>
          <a:xfrm>
            <a:off x="504000" y="1326600"/>
            <a:ext cx="2921040" cy="1568520"/>
          </a:xfrm>
          <a:prstGeom prst="rect">
            <a:avLst/>
          </a:prstGeom>
        </p:spPr>
        <p:txBody>
          <a:bodyPr lIns="0" rIns="0" tIns="0" bIns="0">
            <a:normAutofit/>
          </a:bodyPr>
          <a:p>
            <a:endParaRPr b="0" lang="en-IN" sz="3200" spc="-1" strike="noStrike">
              <a:latin typeface="Arial"/>
            </a:endParaRPr>
          </a:p>
        </p:txBody>
      </p:sp>
      <p:sp>
        <p:nvSpPr>
          <p:cNvPr id="71" name="PlaceHolder 3"/>
          <p:cNvSpPr>
            <a:spLocks noGrp="1"/>
          </p:cNvSpPr>
          <p:nvPr>
            <p:ph type="body"/>
          </p:nvPr>
        </p:nvSpPr>
        <p:spPr>
          <a:xfrm>
            <a:off x="3571560" y="1326600"/>
            <a:ext cx="2921040" cy="1568520"/>
          </a:xfrm>
          <a:prstGeom prst="rect">
            <a:avLst/>
          </a:prstGeom>
        </p:spPr>
        <p:txBody>
          <a:bodyPr lIns="0" rIns="0" tIns="0" bIns="0">
            <a:normAutofit/>
          </a:bodyPr>
          <a:p>
            <a:endParaRPr b="0" lang="en-IN" sz="3200" spc="-1" strike="noStrike">
              <a:latin typeface="Arial"/>
            </a:endParaRPr>
          </a:p>
        </p:txBody>
      </p:sp>
      <p:sp>
        <p:nvSpPr>
          <p:cNvPr id="72" name="PlaceHolder 4"/>
          <p:cNvSpPr>
            <a:spLocks noGrp="1"/>
          </p:cNvSpPr>
          <p:nvPr>
            <p:ph type="body"/>
          </p:nvPr>
        </p:nvSpPr>
        <p:spPr>
          <a:xfrm>
            <a:off x="6639120" y="1326600"/>
            <a:ext cx="2921040" cy="1568520"/>
          </a:xfrm>
          <a:prstGeom prst="rect">
            <a:avLst/>
          </a:prstGeom>
        </p:spPr>
        <p:txBody>
          <a:bodyPr lIns="0" rIns="0" tIns="0" bIns="0">
            <a:normAutofit/>
          </a:bodyPr>
          <a:p>
            <a:endParaRPr b="0" lang="en-IN" sz="3200" spc="-1" strike="noStrike">
              <a:latin typeface="Arial"/>
            </a:endParaRPr>
          </a:p>
        </p:txBody>
      </p:sp>
      <p:sp>
        <p:nvSpPr>
          <p:cNvPr id="73" name="PlaceHolder 5"/>
          <p:cNvSpPr>
            <a:spLocks noGrp="1"/>
          </p:cNvSpPr>
          <p:nvPr>
            <p:ph type="body"/>
          </p:nvPr>
        </p:nvSpPr>
        <p:spPr>
          <a:xfrm>
            <a:off x="504000" y="3044520"/>
            <a:ext cx="2921040" cy="1568520"/>
          </a:xfrm>
          <a:prstGeom prst="rect">
            <a:avLst/>
          </a:prstGeom>
        </p:spPr>
        <p:txBody>
          <a:bodyPr lIns="0" rIns="0" tIns="0" bIns="0">
            <a:normAutofit/>
          </a:bodyPr>
          <a:p>
            <a:endParaRPr b="0" lang="en-IN" sz="3200" spc="-1" strike="noStrike">
              <a:latin typeface="Arial"/>
            </a:endParaRPr>
          </a:p>
        </p:txBody>
      </p:sp>
      <p:sp>
        <p:nvSpPr>
          <p:cNvPr id="74" name="PlaceHolder 6"/>
          <p:cNvSpPr>
            <a:spLocks noGrp="1"/>
          </p:cNvSpPr>
          <p:nvPr>
            <p:ph type="body"/>
          </p:nvPr>
        </p:nvSpPr>
        <p:spPr>
          <a:xfrm>
            <a:off x="3571560" y="3044520"/>
            <a:ext cx="2921040" cy="1568520"/>
          </a:xfrm>
          <a:prstGeom prst="rect">
            <a:avLst/>
          </a:prstGeom>
        </p:spPr>
        <p:txBody>
          <a:bodyPr lIns="0" rIns="0" tIns="0" bIns="0">
            <a:normAutofit/>
          </a:bodyPr>
          <a:p>
            <a:endParaRPr b="0" lang="en-IN" sz="3200" spc="-1" strike="noStrike">
              <a:latin typeface="Arial"/>
            </a:endParaRPr>
          </a:p>
        </p:txBody>
      </p:sp>
      <p:sp>
        <p:nvSpPr>
          <p:cNvPr id="75" name="PlaceHolder 7"/>
          <p:cNvSpPr>
            <a:spLocks noGrp="1"/>
          </p:cNvSpPr>
          <p:nvPr>
            <p:ph type="body"/>
          </p:nvPr>
        </p:nvSpPr>
        <p:spPr>
          <a:xfrm>
            <a:off x="6639120" y="3044520"/>
            <a:ext cx="2921040" cy="1568520"/>
          </a:xfrm>
          <a:prstGeom prst="rect">
            <a:avLst/>
          </a:prstGeom>
        </p:spPr>
        <p:txBody>
          <a:bodyPr lIns="0" rIns="0" tIns="0" bIns="0">
            <a:normAutofit/>
          </a:bodyPr>
          <a:p>
            <a:endParaRPr b="0" lang="en-IN" sz="3200" spc="-1" strike="noStrike">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 Id="rId3" Type="http://schemas.openxmlformats.org/officeDocument/2006/relationships/slideLayout" Target="../slideLayouts/slideLayout13.xml"/><Relationship Id="rId4" Type="http://schemas.openxmlformats.org/officeDocument/2006/relationships/slideLayout" Target="../slideLayouts/slideLayout1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 Id="rId9" Type="http://schemas.openxmlformats.org/officeDocument/2006/relationships/slideLayout" Target="../slideLayouts/slideLayout19.xml"/><Relationship Id="rId10" Type="http://schemas.openxmlformats.org/officeDocument/2006/relationships/slideLayout" Target="../slideLayouts/slideLayout20.xml"/><Relationship Id="rId11" Type="http://schemas.openxmlformats.org/officeDocument/2006/relationships/slideLayout" Target="../slideLayouts/slideLayout21.xml"/><Relationship Id="rId12" Type="http://schemas.openxmlformats.org/officeDocument/2006/relationships/slideLayout" Target="../slideLayouts/slideLayout22.xml"/><Relationship Id="rId13" Type="http://schemas.openxmlformats.org/officeDocument/2006/relationships/slideLayout" Target="../slideLayouts/slideLayout23.xml"/><Relationship Id="rId14"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PlaceHolder 1"/>
          <p:cNvSpPr>
            <a:spLocks noGrp="1"/>
          </p:cNvSpPr>
          <p:nvPr>
            <p:ph type="title"/>
          </p:nvPr>
        </p:nvSpPr>
        <p:spPr>
          <a:xfrm>
            <a:off x="504000" y="226080"/>
            <a:ext cx="9071640" cy="946080"/>
          </a:xfrm>
          <a:prstGeom prst="rect">
            <a:avLst/>
          </a:prstGeom>
        </p:spPr>
        <p:txBody>
          <a:bodyPr lIns="0" rIns="0" tIns="0" bIns="0" anchor="ctr">
            <a:noAutofit/>
          </a:bodyPr>
          <a:p>
            <a:r>
              <a:rPr b="0" lang="en-IN" sz="1800" spc="-1" strike="noStrike">
                <a:latin typeface="Arial"/>
              </a:rPr>
              <a:t>Click to edit the title text format</a:t>
            </a:r>
            <a:endParaRPr b="0" lang="en-IN" sz="1800" spc="-1" strike="noStrike">
              <a:latin typeface="Arial"/>
            </a:endParaRPr>
          </a:p>
        </p:txBody>
      </p:sp>
      <p:sp>
        <p:nvSpPr>
          <p:cNvPr id="1" name="PlaceHolder 2"/>
          <p:cNvSpPr>
            <a:spLocks noGrp="1"/>
          </p:cNvSpPr>
          <p:nvPr>
            <p:ph type="body"/>
          </p:nvPr>
        </p:nvSpPr>
        <p:spPr>
          <a:xfrm>
            <a:off x="504000" y="1326600"/>
            <a:ext cx="9071640" cy="328824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1800" spc="-1" strike="noStrike">
                <a:latin typeface="Arial"/>
              </a:rPr>
              <a:t>Click to edit the outline text format</a:t>
            </a:r>
            <a:endParaRPr b="0" lang="en-IN" sz="1800" spc="-1" strike="noStrike">
              <a:latin typeface="Arial"/>
            </a:endParaRPr>
          </a:p>
          <a:p>
            <a:pPr lvl="1" marL="864000" indent="-324000">
              <a:spcBef>
                <a:spcPts val="1134"/>
              </a:spcBef>
              <a:buClr>
                <a:srgbClr val="000000"/>
              </a:buClr>
              <a:buSzPct val="75000"/>
              <a:buFont typeface="Symbol" charset="2"/>
              <a:buChar char=""/>
            </a:pPr>
            <a:r>
              <a:rPr b="0" lang="en-IN" sz="1800" spc="-1" strike="noStrike">
                <a:latin typeface="Arial"/>
              </a:rPr>
              <a:t>Second Outline Level</a:t>
            </a:r>
            <a:endParaRPr b="0" lang="en-IN" sz="1800" spc="-1" strike="noStrike">
              <a:latin typeface="Arial"/>
            </a:endParaRPr>
          </a:p>
          <a:p>
            <a:pPr lvl="2" marL="1296000" indent="-288000">
              <a:spcBef>
                <a:spcPts val="850"/>
              </a:spcBef>
              <a:buClr>
                <a:srgbClr val="000000"/>
              </a:buClr>
              <a:buSzPct val="45000"/>
              <a:buFont typeface="Wingdings" charset="2"/>
              <a:buChar char=""/>
            </a:pPr>
            <a:r>
              <a:rPr b="0" lang="en-IN" sz="1800" spc="-1" strike="noStrike">
                <a:latin typeface="Arial"/>
              </a:rPr>
              <a:t>Third Outline Level</a:t>
            </a:r>
            <a:endParaRPr b="0" lang="en-IN" sz="1800" spc="-1" strike="noStrike">
              <a:latin typeface="Arial"/>
            </a:endParaRPr>
          </a:p>
          <a:p>
            <a:pPr lvl="3" marL="1728000" indent="-216000">
              <a:spcBef>
                <a:spcPts val="567"/>
              </a:spcBef>
              <a:buClr>
                <a:srgbClr val="000000"/>
              </a:buClr>
              <a:buSzPct val="75000"/>
              <a:buFont typeface="Symbol" charset="2"/>
              <a:buChar char=""/>
            </a:pPr>
            <a:r>
              <a:rPr b="0" lang="en-IN" sz="1800" spc="-1" strike="noStrike">
                <a:latin typeface="Arial"/>
              </a:rPr>
              <a:t>Fourth Outline Level</a:t>
            </a:r>
            <a:endParaRPr b="0" lang="en-IN" sz="1800" spc="-1" strike="noStrike">
              <a:latin typeface="Arial"/>
            </a:endParaRPr>
          </a:p>
          <a:p>
            <a:pPr lvl="4" marL="2160000" indent="-216000">
              <a:spcBef>
                <a:spcPts val="283"/>
              </a:spcBef>
              <a:buClr>
                <a:srgbClr val="000000"/>
              </a:buClr>
              <a:buSzPct val="45000"/>
              <a:buFont typeface="Wingdings" charset="2"/>
              <a:buChar char=""/>
            </a:pPr>
            <a:r>
              <a:rPr b="0" lang="en-IN" sz="1800" spc="-1" strike="noStrike">
                <a:latin typeface="Arial"/>
              </a:rPr>
              <a:t>Fifth Outline Level</a:t>
            </a:r>
            <a:endParaRPr b="0" lang="en-IN" sz="1800" spc="-1" strike="noStrike">
              <a:latin typeface="Arial"/>
            </a:endParaRPr>
          </a:p>
          <a:p>
            <a:pPr lvl="5" marL="2592000" indent="-216000">
              <a:spcBef>
                <a:spcPts val="283"/>
              </a:spcBef>
              <a:buClr>
                <a:srgbClr val="000000"/>
              </a:buClr>
              <a:buSzPct val="45000"/>
              <a:buFont typeface="Wingdings" charset="2"/>
              <a:buChar char=""/>
            </a:pPr>
            <a:r>
              <a:rPr b="0" lang="en-IN" sz="1800" spc="-1" strike="noStrike">
                <a:latin typeface="Arial"/>
              </a:rPr>
              <a:t>Sixth Outline Level</a:t>
            </a:r>
            <a:endParaRPr b="0" lang="en-IN" sz="1800" spc="-1" strike="noStrike">
              <a:latin typeface="Arial"/>
            </a:endParaRPr>
          </a:p>
          <a:p>
            <a:pPr lvl="6" marL="3024000" indent="-216000">
              <a:spcBef>
                <a:spcPts val="283"/>
              </a:spcBef>
              <a:buClr>
                <a:srgbClr val="000000"/>
              </a:buClr>
              <a:buSzPct val="45000"/>
              <a:buFont typeface="Wingdings" charset="2"/>
              <a:buChar char=""/>
            </a:pPr>
            <a:r>
              <a:rPr b="0" lang="en-IN" sz="1800" spc="-1" strike="noStrike">
                <a:latin typeface="Arial"/>
              </a:rPr>
              <a:t>Seventh Outline Level</a:t>
            </a:r>
            <a:endParaRPr b="0" lang="en-IN"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blipFill rotWithShape="0">
          <a:blip r:embed="rId2"/>
          <a:stretch>
            <a:fillRect/>
          </a:stretch>
        </a:blipFill>
      </p:bgPr>
    </p:bg>
    <p:spTree>
      <p:nvGrpSpPr>
        <p:cNvPr id="1" name=""/>
        <p:cNvGrpSpPr/>
        <p:nvPr/>
      </p:nvGrpSpPr>
      <p:grpSpPr>
        <a:xfrm>
          <a:off x="0" y="0"/>
          <a:ext cx="0" cy="0"/>
          <a:chOff x="0" y="0"/>
          <a:chExt cx="0" cy="0"/>
        </a:xfrm>
      </p:grpSpPr>
      <p:sp>
        <p:nvSpPr>
          <p:cNvPr id="38" name="PlaceHolder 1"/>
          <p:cNvSpPr>
            <a:spLocks noGrp="1"/>
          </p:cNvSpPr>
          <p:nvPr>
            <p:ph type="title"/>
          </p:nvPr>
        </p:nvSpPr>
        <p:spPr>
          <a:xfrm>
            <a:off x="504000" y="226080"/>
            <a:ext cx="9072000" cy="946440"/>
          </a:xfrm>
          <a:prstGeom prst="rect">
            <a:avLst/>
          </a:prstGeom>
        </p:spPr>
        <p:txBody>
          <a:bodyPr lIns="0" rIns="0" tIns="0" bIns="0" anchor="ctr">
            <a:noAutofit/>
          </a:bodyPr>
          <a:p>
            <a:pPr algn="ctr"/>
            <a:r>
              <a:rPr b="0" lang="en-IN" sz="4400" spc="-1" strike="noStrike">
                <a:latin typeface="Arial"/>
              </a:rPr>
              <a:t>Click to edit the title text format</a:t>
            </a:r>
            <a:endParaRPr b="0" lang="en-IN" sz="4400" spc="-1" strike="noStrike">
              <a:latin typeface="Arial"/>
            </a:endParaRPr>
          </a:p>
        </p:txBody>
      </p:sp>
      <p:sp>
        <p:nvSpPr>
          <p:cNvPr id="39" name="PlaceHolder 2"/>
          <p:cNvSpPr>
            <a:spLocks noGrp="1"/>
          </p:cNvSpPr>
          <p:nvPr>
            <p:ph type="body"/>
          </p:nvPr>
        </p:nvSpPr>
        <p:spPr>
          <a:xfrm>
            <a:off x="504000" y="1326600"/>
            <a:ext cx="9072000" cy="328860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IN" sz="3200" spc="-1" strike="noStrike">
                <a:latin typeface="Arial"/>
              </a:rPr>
              <a:t>Click to edit the outline text format</a:t>
            </a:r>
            <a:endParaRPr b="0" lang="en-IN" sz="3200" spc="-1" strike="noStrike">
              <a:latin typeface="Arial"/>
            </a:endParaRPr>
          </a:p>
          <a:p>
            <a:pPr lvl="1" marL="864000" indent="-324000">
              <a:spcBef>
                <a:spcPts val="1134"/>
              </a:spcBef>
              <a:buClr>
                <a:srgbClr val="000000"/>
              </a:buClr>
              <a:buSzPct val="75000"/>
              <a:buFont typeface="Symbol" charset="2"/>
              <a:buChar char=""/>
            </a:pPr>
            <a:r>
              <a:rPr b="0" lang="en-IN" sz="2800" spc="-1" strike="noStrike">
                <a:latin typeface="Arial"/>
              </a:rPr>
              <a:t>Second Outline Level</a:t>
            </a:r>
            <a:endParaRPr b="0" lang="en-IN" sz="2800" spc="-1" strike="noStrike">
              <a:latin typeface="Arial"/>
            </a:endParaRPr>
          </a:p>
          <a:p>
            <a:pPr lvl="2" marL="1296000" indent="-288000">
              <a:spcBef>
                <a:spcPts val="850"/>
              </a:spcBef>
              <a:buClr>
                <a:srgbClr val="000000"/>
              </a:buClr>
              <a:buSzPct val="45000"/>
              <a:buFont typeface="Wingdings" charset="2"/>
              <a:buChar char=""/>
            </a:pPr>
            <a:r>
              <a:rPr b="0" lang="en-IN" sz="2400" spc="-1" strike="noStrike">
                <a:latin typeface="Arial"/>
              </a:rPr>
              <a:t>Third Outline Level</a:t>
            </a:r>
            <a:endParaRPr b="0" lang="en-IN" sz="2400" spc="-1" strike="noStrike">
              <a:latin typeface="Arial"/>
            </a:endParaRPr>
          </a:p>
          <a:p>
            <a:pPr lvl="3" marL="1728000" indent="-216000">
              <a:spcBef>
                <a:spcPts val="567"/>
              </a:spcBef>
              <a:buClr>
                <a:srgbClr val="000000"/>
              </a:buClr>
              <a:buSzPct val="75000"/>
              <a:buFont typeface="Symbol" charset="2"/>
              <a:buChar char=""/>
            </a:pPr>
            <a:r>
              <a:rPr b="0" lang="en-IN" sz="2000" spc="-1" strike="noStrike">
                <a:latin typeface="Arial"/>
              </a:rPr>
              <a:t>Fourth Outline Level</a:t>
            </a:r>
            <a:endParaRPr b="0" lang="en-IN" sz="2000" spc="-1" strike="noStrike">
              <a:latin typeface="Arial"/>
            </a:endParaRPr>
          </a:p>
          <a:p>
            <a:pPr lvl="4" marL="2160000" indent="-216000">
              <a:spcBef>
                <a:spcPts val="283"/>
              </a:spcBef>
              <a:buClr>
                <a:srgbClr val="000000"/>
              </a:buClr>
              <a:buSzPct val="45000"/>
              <a:buFont typeface="Wingdings" charset="2"/>
              <a:buChar char=""/>
            </a:pPr>
            <a:r>
              <a:rPr b="0" lang="en-IN" sz="2000" spc="-1" strike="noStrike">
                <a:latin typeface="Arial"/>
              </a:rPr>
              <a:t>Fifth Outline Level</a:t>
            </a:r>
            <a:endParaRPr b="0" lang="en-IN" sz="2000" spc="-1" strike="noStrike">
              <a:latin typeface="Arial"/>
            </a:endParaRPr>
          </a:p>
          <a:p>
            <a:pPr lvl="5" marL="2592000" indent="-216000">
              <a:spcBef>
                <a:spcPts val="283"/>
              </a:spcBef>
              <a:buClr>
                <a:srgbClr val="000000"/>
              </a:buClr>
              <a:buSzPct val="45000"/>
              <a:buFont typeface="Wingdings" charset="2"/>
              <a:buChar char=""/>
            </a:pPr>
            <a:r>
              <a:rPr b="0" lang="en-IN" sz="2000" spc="-1" strike="noStrike">
                <a:latin typeface="Arial"/>
              </a:rPr>
              <a:t>Sixth Outline Level</a:t>
            </a:r>
            <a:endParaRPr b="0" lang="en-IN" sz="2000" spc="-1" strike="noStrike">
              <a:latin typeface="Arial"/>
            </a:endParaRPr>
          </a:p>
          <a:p>
            <a:pPr lvl="6" marL="3024000" indent="-216000">
              <a:spcBef>
                <a:spcPts val="283"/>
              </a:spcBef>
              <a:buClr>
                <a:srgbClr val="000000"/>
              </a:buClr>
              <a:buSzPct val="45000"/>
              <a:buFont typeface="Wingdings" charset="2"/>
              <a:buChar char=""/>
            </a:pPr>
            <a:r>
              <a:rPr b="0" lang="en-IN" sz="2000" spc="-1" strike="noStrike">
                <a:latin typeface="Arial"/>
              </a:rPr>
              <a:t>Seventh Outline Level</a:t>
            </a:r>
            <a:endParaRPr b="0" lang="en-IN" sz="20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PUBLIC CLOUD DEPLOYMENT</a:t>
            </a:r>
            <a:endParaRPr b="0" lang="en-IN" sz="2800" spc="-1" strike="noStrike">
              <a:latin typeface="Arial"/>
            </a:endParaRPr>
          </a:p>
        </p:txBody>
      </p:sp>
      <p:sp>
        <p:nvSpPr>
          <p:cNvPr id="77"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US" sz="2400" spc="-1" strike="noStrike">
                <a:solidFill>
                  <a:srgbClr val="232b34"/>
                </a:solidFill>
                <a:latin typeface="Aptos"/>
                <a:ea typeface="DejaVu Sans"/>
              </a:rPr>
              <a:t>While the name speaks for itself, a public cloud is a cloud where services are </a:t>
            </a:r>
            <a:r>
              <a:rPr b="1" lang="en-US" sz="2400" spc="-1" strike="noStrike">
                <a:solidFill>
                  <a:srgbClr val="bf0041"/>
                </a:solidFill>
                <a:latin typeface="Aptos"/>
                <a:ea typeface="DejaVu Sans"/>
              </a:rPr>
              <a:t>rendered by third-party </a:t>
            </a:r>
            <a:r>
              <a:rPr b="0" lang="en-US" sz="2400" spc="-1" strike="noStrike">
                <a:solidFill>
                  <a:srgbClr val="232b34"/>
                </a:solidFill>
                <a:latin typeface="Aptos"/>
                <a:ea typeface="DejaVu Sans"/>
              </a:rPr>
              <a:t>providers over an open network for public use.</a:t>
            </a:r>
            <a:endParaRPr b="0" lang="en-IN" sz="2400" spc="-1" strike="noStrike">
              <a:latin typeface="Arial"/>
            </a:endParaRPr>
          </a:p>
          <a:p>
            <a:pPr marL="216000" indent="-214920">
              <a:lnSpc>
                <a:spcPct val="108000"/>
              </a:lnSpc>
              <a:spcAft>
                <a:spcPts val="601"/>
              </a:spcAft>
              <a:buClr>
                <a:srgbClr val="ffffff"/>
              </a:buClr>
              <a:buSzPct val="65000"/>
              <a:buFont typeface="Wingdings" charset="2"/>
              <a:buChar char=""/>
            </a:pPr>
            <a:r>
              <a:rPr b="0" lang="en-US" sz="2400" spc="-1" strike="noStrike">
                <a:solidFill>
                  <a:srgbClr val="232b34"/>
                </a:solidFill>
                <a:latin typeface="Aptos"/>
                <a:ea typeface="DejaVu Sans"/>
              </a:rPr>
              <a:t> </a:t>
            </a:r>
            <a:r>
              <a:rPr b="0" lang="en-US" sz="2400" spc="-1" strike="noStrike">
                <a:solidFill>
                  <a:srgbClr val="ff8000"/>
                </a:solidFill>
                <a:latin typeface="Aptos"/>
                <a:ea typeface="DejaVu Sans"/>
              </a:rPr>
              <a:t>It’s available to the general public and data is created &amp; stored on third-party servers.</a:t>
            </a:r>
            <a:endParaRPr b="0" lang="en-IN" sz="2400" spc="-1" strike="noStrike">
              <a:latin typeface="Arial"/>
            </a:endParaRPr>
          </a:p>
          <a:p>
            <a:pPr marL="216000" indent="-214920">
              <a:lnSpc>
                <a:spcPct val="108000"/>
              </a:lnSpc>
              <a:spcAft>
                <a:spcPts val="601"/>
              </a:spcAft>
              <a:buClr>
                <a:srgbClr val="ffffff"/>
              </a:buClr>
              <a:buSzPct val="65000"/>
              <a:buFont typeface="Wingdings" charset="2"/>
              <a:buChar char=""/>
            </a:pPr>
            <a:r>
              <a:rPr b="0" lang="en-US" sz="2400" spc="-1" strike="noStrike">
                <a:solidFill>
                  <a:srgbClr val="232b34"/>
                </a:solidFill>
                <a:latin typeface="Aptos"/>
                <a:ea typeface="DejaVu Sans"/>
              </a:rPr>
              <a:t> </a:t>
            </a:r>
            <a:r>
              <a:rPr b="0" lang="en-US" sz="2400" spc="-1" strike="noStrike">
                <a:solidFill>
                  <a:srgbClr val="232b34"/>
                </a:solidFill>
                <a:latin typeface="Aptos"/>
                <a:ea typeface="DejaVu Sans"/>
              </a:rPr>
              <a:t>The public cloud deployment model is one of the most commonly used cloud services. </a:t>
            </a:r>
            <a:r>
              <a:rPr b="0" lang="en-US" sz="2400" spc="-1" strike="noStrike" u="sng">
                <a:solidFill>
                  <a:srgbClr val="bf0041"/>
                </a:solidFill>
                <a:uFillTx/>
                <a:latin typeface="Aptos"/>
                <a:ea typeface="DejaVu Sans"/>
              </a:rPr>
              <a:t>It’s a popular option for apps, file sharing, and insensitive data storage.</a:t>
            </a:r>
            <a:endParaRPr b="0" lang="en-IN" sz="2400" spc="-1" strike="noStrike">
              <a:latin typeface="Arial"/>
            </a:endParaRPr>
          </a:p>
          <a:p>
            <a:pPr marL="216000" indent="-214920">
              <a:lnSpc>
                <a:spcPct val="108000"/>
              </a:lnSpc>
              <a:spcAft>
                <a:spcPts val="601"/>
              </a:spcAft>
              <a:buClr>
                <a:srgbClr val="ffffff"/>
              </a:buClr>
              <a:buSzPct val="65000"/>
              <a:buFont typeface="Wingdings" charset="2"/>
              <a:buChar char=""/>
            </a:pPr>
            <a:r>
              <a:rPr b="0" lang="en-US" sz="2400" spc="-1" strike="noStrike">
                <a:solidFill>
                  <a:srgbClr val="ff8000"/>
                </a:solidFill>
                <a:latin typeface="Aptos"/>
                <a:ea typeface="DejaVu Sans"/>
              </a:rPr>
              <a:t>Under this model, the service provider owns and operates all the hardware that is needed to run a public cloud. </a:t>
            </a:r>
            <a:endParaRPr b="0" lang="en-IN" sz="2400" spc="-1" strike="noStrike">
              <a:latin typeface="Arial"/>
            </a:endParaRPr>
          </a:p>
        </p:txBody>
      </p:sp>
      <p:sp>
        <p:nvSpPr>
          <p:cNvPr id="78"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C63423EB-00C4-477F-9B82-7156E7E49611}"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79"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0"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1"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2</a:t>
            </a:r>
            <a:endParaRPr b="0" lang="en-IN" sz="1600" spc="-1" strike="noStrike">
              <a:latin typeface="Arial"/>
            </a:endParaRPr>
          </a:p>
        </p:txBody>
      </p:sp>
      <p:sp>
        <p:nvSpPr>
          <p:cNvPr id="82" name="CustomShape 7"/>
          <p:cNvSpPr/>
          <p:nvPr/>
        </p:nvSpPr>
        <p:spPr>
          <a:xfrm>
            <a:off x="411480" y="1051560"/>
            <a:ext cx="109080" cy="502200"/>
          </a:xfrm>
          <a:prstGeom prst="rect">
            <a:avLst/>
          </a:prstGeom>
          <a:solidFill>
            <a:srgbClr val="2668ad"/>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3"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84"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2</a:t>
            </a:r>
            <a:endParaRPr b="0" lang="en-IN" sz="900" spc="-1" strike="noStrike">
              <a:latin typeface="Arial"/>
            </a:endParaRPr>
          </a:p>
        </p:txBody>
      </p:sp>
    </p:spTree>
  </p:cSld>
  <mc:AlternateContent>
    <mc:Choice Requires="p14">
      <p:transition spd="slow" p14:dur="2000">
        <p:wipe dir="u"/>
      </p:transition>
    </mc:Choice>
    <mc:Fallback>
      <p:transition spd="slow">
        <p:wipe dir="u"/>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5"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PUBLIC CLOUD</a:t>
            </a:r>
            <a:endParaRPr b="0" lang="en-IN" sz="2800" spc="-1" strike="noStrike">
              <a:latin typeface="Arial"/>
            </a:endParaRPr>
          </a:p>
        </p:txBody>
      </p:sp>
      <p:sp>
        <p:nvSpPr>
          <p:cNvPr id="86"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80845655-2BEE-4223-B5E1-938BA6F51F9D}"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87" name="Picture_1" descr=""/>
          <p:cNvPicPr/>
          <p:nvPr/>
        </p:nvPicPr>
        <p:blipFill>
          <a:blip r:embed="rId1"/>
          <a:stretch/>
        </p:blipFill>
        <p:spPr>
          <a:xfrm>
            <a:off x="2346840" y="1335960"/>
            <a:ext cx="5383800" cy="1875240"/>
          </a:xfrm>
          <a:prstGeom prst="rect">
            <a:avLst/>
          </a:prstGeom>
          <a:ln w="9360">
            <a:noFill/>
          </a:ln>
        </p:spPr>
      </p:pic>
      <p:sp>
        <p:nvSpPr>
          <p:cNvPr id="88" name="CustomShape 3"/>
          <p:cNvSpPr/>
          <p:nvPr/>
        </p:nvSpPr>
        <p:spPr>
          <a:xfrm>
            <a:off x="805680" y="3152520"/>
            <a:ext cx="8481960" cy="188712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IN" sz="2400" spc="-1" strike="noStrike">
                <a:solidFill>
                  <a:srgbClr val="232b34"/>
                </a:solidFill>
                <a:latin typeface="Aptos"/>
                <a:ea typeface="Cambria"/>
              </a:rPr>
              <a:t>They keep devices in massive data centers. This model also plays a vital role in </a:t>
            </a:r>
            <a:r>
              <a:rPr b="1" lang="en-IN" sz="2400" spc="-1" strike="noStrike">
                <a:solidFill>
                  <a:srgbClr val="232b34"/>
                </a:solidFill>
                <a:latin typeface="Aptos"/>
                <a:ea typeface="Cambria"/>
              </a:rPr>
              <a:t>development and testing. </a:t>
            </a:r>
            <a:endParaRPr b="0" lang="en-IN" sz="2400" spc="-1" strike="noStrike">
              <a:latin typeface="Arial"/>
            </a:endParaRPr>
          </a:p>
          <a:p>
            <a:pPr>
              <a:lnSpc>
                <a:spcPct val="108000"/>
              </a:lnSpc>
              <a:spcAft>
                <a:spcPts val="601"/>
              </a:spcAft>
            </a:pPr>
            <a:endParaRPr b="0" lang="en-IN" sz="2400" spc="-1" strike="noStrike">
              <a:latin typeface="Arial"/>
            </a:endParaRPr>
          </a:p>
        </p:txBody>
      </p:sp>
      <p:sp>
        <p:nvSpPr>
          <p:cNvPr id="89"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0"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1"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3</a:t>
            </a:r>
            <a:endParaRPr b="0" lang="en-IN" sz="1600" spc="-1" strike="noStrike">
              <a:latin typeface="Arial"/>
            </a:endParaRPr>
          </a:p>
        </p:txBody>
      </p:sp>
      <p:sp>
        <p:nvSpPr>
          <p:cNvPr id="92"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3" name="CustomShape 8"/>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3</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4"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Advantages</a:t>
            </a:r>
            <a:endParaRPr b="0" lang="en-IN" sz="2800" spc="-1" strike="noStrike">
              <a:latin typeface="Arial"/>
            </a:endParaRPr>
          </a:p>
        </p:txBody>
      </p:sp>
      <p:sp>
        <p:nvSpPr>
          <p:cNvPr id="95"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Low Cost</a:t>
            </a:r>
            <a:r>
              <a:rPr b="0" lang="en-US" sz="2400" spc="-1" strike="noStrike">
                <a:solidFill>
                  <a:srgbClr val="232b34"/>
                </a:solidFill>
                <a:latin typeface="Aptos"/>
                <a:ea typeface="DejaVu Sans"/>
              </a:rPr>
              <a:t> – The service providers are the ones who fund the entire infrastructure (no need for you to invest in hardware or software). </a:t>
            </a:r>
            <a:endParaRPr b="0" lang="en-IN" sz="2400" spc="-1" strike="noStrike">
              <a:latin typeface="Arial"/>
            </a:endParaRPr>
          </a:p>
          <a:p>
            <a:pPr>
              <a:lnSpc>
                <a:spcPct val="108000"/>
              </a:lnSpc>
              <a:spcAft>
                <a:spcPts val="601"/>
              </a:spcAft>
            </a:pPr>
            <a:endParaRPr b="0" lang="en-IN" sz="2400" spc="-1" strike="noStrike">
              <a:latin typeface="Arial"/>
            </a:endParaRPr>
          </a:p>
          <a:p>
            <a:pPr>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Convenient Infrastructure Management</a:t>
            </a:r>
            <a:r>
              <a:rPr b="0" lang="en-US" sz="2400" spc="-1" strike="noStrike">
                <a:solidFill>
                  <a:srgbClr val="232b34"/>
                </a:solidFill>
                <a:latin typeface="Aptos"/>
                <a:ea typeface="DejaVu Sans"/>
              </a:rPr>
              <a:t> – The setup and use are convenient.</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endParaRPr b="0" lang="en-IN" sz="2400" spc="-1" strike="noStrike">
              <a:latin typeface="Arial"/>
            </a:endParaRPr>
          </a:p>
        </p:txBody>
      </p:sp>
      <p:sp>
        <p:nvSpPr>
          <p:cNvPr id="9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91E90E1E-FA80-49CD-89BE-0891B422AA3A}"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97"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8"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99"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4</a:t>
            </a:r>
            <a:endParaRPr b="0" lang="en-IN" sz="1600" spc="-1" strike="noStrike">
              <a:latin typeface="Arial"/>
            </a:endParaRPr>
          </a:p>
        </p:txBody>
      </p:sp>
      <p:sp>
        <p:nvSpPr>
          <p:cNvPr id="100"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1" name="CustomShape 8"/>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4</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2"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Advantages</a:t>
            </a:r>
            <a:endParaRPr b="0" lang="en-IN" sz="2800" spc="-1" strike="noStrike">
              <a:latin typeface="Arial"/>
            </a:endParaRPr>
          </a:p>
        </p:txBody>
      </p:sp>
      <p:sp>
        <p:nvSpPr>
          <p:cNvPr id="103"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3E2F9378-558D-49CB-85E4-0B9A9454BA85}"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04"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5"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6"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4</a:t>
            </a:r>
            <a:endParaRPr b="0" lang="en-IN" sz="1600" spc="-1" strike="noStrike">
              <a:latin typeface="Arial"/>
            </a:endParaRPr>
          </a:p>
        </p:txBody>
      </p:sp>
      <p:sp>
        <p:nvSpPr>
          <p:cNvPr id="107" name="CustomShape 6"/>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08" name="CustomShape 7"/>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4</a:t>
            </a:r>
            <a:endParaRPr b="0" lang="en-IN" sz="900" spc="-1" strike="noStrike">
              <a:latin typeface="Arial"/>
            </a:endParaRPr>
          </a:p>
        </p:txBody>
      </p:sp>
      <p:sp>
        <p:nvSpPr>
          <p:cNvPr id="109" name="CustomShape 8"/>
          <p:cNvSpPr/>
          <p:nvPr/>
        </p:nvSpPr>
        <p:spPr>
          <a:xfrm>
            <a:off x="66240" y="715680"/>
            <a:ext cx="10229760" cy="439092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232b34"/>
                </a:solidFill>
                <a:latin typeface="Aptos"/>
                <a:ea typeface="DejaVu Sans"/>
              </a:rPr>
              <a:t>Time</a:t>
            </a:r>
            <a:r>
              <a:rPr b="0" lang="en-US" sz="2400" spc="-1" strike="noStrike">
                <a:solidFill>
                  <a:srgbClr val="232b34"/>
                </a:solidFill>
                <a:latin typeface="Aptos"/>
                <a:ea typeface="DejaVu Sans"/>
              </a:rPr>
              <a:t> – It reduces time in developing, testing, and launching new products. Aside from that, the </a:t>
            </a:r>
            <a:r>
              <a:rPr b="0" lang="en-US" sz="2400" spc="-1" strike="noStrike" u="sng">
                <a:solidFill>
                  <a:srgbClr val="232b34"/>
                </a:solidFill>
                <a:uFillTx/>
                <a:latin typeface="Aptos"/>
                <a:ea typeface="DejaVu Sans"/>
              </a:rPr>
              <a:t>extensive network of your provider’s servers </a:t>
            </a:r>
            <a:r>
              <a:rPr b="0" lang="en-US" sz="2400" spc="-1" strike="noStrike">
                <a:solidFill>
                  <a:srgbClr val="232b34"/>
                </a:solidFill>
                <a:latin typeface="Aptos"/>
                <a:ea typeface="DejaVu Sans"/>
              </a:rPr>
              <a:t>ensures that your infrastructure is available for use 24X7.</a:t>
            </a:r>
            <a:endParaRPr b="0" lang="en-IN" sz="2400" spc="-1" strike="noStrike">
              <a:latin typeface="Arial"/>
            </a:endParaRPr>
          </a:p>
          <a:p>
            <a:pPr>
              <a:lnSpc>
                <a:spcPct val="100000"/>
              </a:lnSpc>
            </a:pPr>
            <a:endParaRPr b="0" lang="en-IN" sz="2400" spc="-1" strike="noStrike">
              <a:latin typeface="Arial"/>
            </a:endParaRPr>
          </a:p>
          <a:p>
            <a:pPr>
              <a:lnSpc>
                <a:spcPct val="100000"/>
              </a:lnSpc>
            </a:pPr>
            <a:r>
              <a:rPr b="1" lang="en-US" sz="2400" spc="-1" strike="noStrike">
                <a:solidFill>
                  <a:srgbClr val="232b34"/>
                </a:solidFill>
                <a:latin typeface="Aptos"/>
                <a:ea typeface="DejaVu Sans"/>
              </a:rPr>
              <a:t>Disadvantages</a:t>
            </a:r>
            <a:endParaRPr b="0" lang="en-IN" sz="2400" spc="-1" strike="noStrike">
              <a:latin typeface="Arial"/>
            </a:endParaRPr>
          </a:p>
          <a:p>
            <a:pPr>
              <a:lnSpc>
                <a:spcPct val="100000"/>
              </a:lnSpc>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Data and Security Risk</a:t>
            </a:r>
            <a:r>
              <a:rPr b="0" lang="en-US" sz="2400" spc="-1" strike="noStrike">
                <a:solidFill>
                  <a:srgbClr val="232b34"/>
                </a:solidFill>
                <a:latin typeface="Aptos"/>
                <a:ea typeface="DejaVu Sans"/>
              </a:rPr>
              <a:t> It’s a public platform for insensitive data storage. As a result of shared resources, security risks are high.</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US" sz="2400" spc="-1" strike="noStrike">
                <a:solidFill>
                  <a:srgbClr val="232b34"/>
                </a:solidFill>
                <a:latin typeface="Aptos"/>
                <a:ea typeface="DejaVu Sans"/>
              </a:rPr>
              <a:t> </a:t>
            </a:r>
            <a:r>
              <a:rPr b="0" lang="en-US" sz="2400" spc="-1" strike="noStrike">
                <a:solidFill>
                  <a:srgbClr val="232b34"/>
                </a:solidFill>
                <a:latin typeface="Aptos"/>
                <a:ea typeface="DejaVu Sans"/>
              </a:rPr>
              <a:t>A user is </a:t>
            </a:r>
            <a:r>
              <a:rPr b="0" lang="en-US" sz="2400" spc="-1" strike="noStrike">
                <a:solidFill>
                  <a:srgbClr val="c9211e"/>
                </a:solidFill>
                <a:latin typeface="Aptos"/>
                <a:ea typeface="DejaVu Sans"/>
              </a:rPr>
              <a:t>deprived </a:t>
            </a:r>
            <a:r>
              <a:rPr b="0" lang="en-US" sz="2400" spc="-1" strike="noStrike">
                <a:solidFill>
                  <a:srgbClr val="232b34"/>
                </a:solidFill>
                <a:latin typeface="Aptos"/>
                <a:ea typeface="DejaVu Sans"/>
              </a:rPr>
              <a:t>of knowing where their information is being stored and who all have the access to it.</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0"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Disadvantages</a:t>
            </a:r>
            <a:endParaRPr b="0" lang="en-IN" sz="2800" spc="-1" strike="noStrike">
              <a:latin typeface="Arial"/>
            </a:endParaRPr>
          </a:p>
        </p:txBody>
      </p:sp>
      <p:sp>
        <p:nvSpPr>
          <p:cNvPr id="111"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D6AB29F2-AD1C-49CF-B1C6-C022CA47EB32}"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12"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3"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4"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4</a:t>
            </a:r>
            <a:endParaRPr b="0" lang="en-IN" sz="1600" spc="-1" strike="noStrike">
              <a:latin typeface="Arial"/>
            </a:endParaRPr>
          </a:p>
        </p:txBody>
      </p:sp>
      <p:sp>
        <p:nvSpPr>
          <p:cNvPr id="115" name="CustomShape 6"/>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16" name="CustomShape 7"/>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4</a:t>
            </a:r>
            <a:endParaRPr b="0" lang="en-IN" sz="900" spc="-1" strike="noStrike">
              <a:latin typeface="Arial"/>
            </a:endParaRPr>
          </a:p>
        </p:txBody>
      </p:sp>
      <p:sp>
        <p:nvSpPr>
          <p:cNvPr id="117" name="CustomShape 8"/>
          <p:cNvSpPr/>
          <p:nvPr/>
        </p:nvSpPr>
        <p:spPr>
          <a:xfrm>
            <a:off x="138960" y="1368360"/>
            <a:ext cx="9821160" cy="357480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2400" spc="-1" strike="noStrike">
                <a:solidFill>
                  <a:srgbClr val="232b34"/>
                </a:solidFill>
                <a:latin typeface="Aptos"/>
                <a:ea typeface="DejaVu Sans"/>
              </a:rPr>
              <a:t>Network Performance</a:t>
            </a:r>
            <a:r>
              <a:rPr b="0" lang="en-US" sz="2400" spc="-1" strike="noStrike">
                <a:solidFill>
                  <a:srgbClr val="232b34"/>
                </a:solidFill>
                <a:latin typeface="Aptos"/>
                <a:ea typeface="DejaVu Sans"/>
              </a:rPr>
              <a:t> – Due to an increase in the number of users, the network performance suffers from instability.</a:t>
            </a:r>
            <a:endParaRPr b="0" lang="en-IN" sz="2400" spc="-1" strike="noStrike">
              <a:latin typeface="Arial"/>
            </a:endParaRPr>
          </a:p>
          <a:p>
            <a:pPr>
              <a:lnSpc>
                <a:spcPct val="100000"/>
              </a:lnSpc>
            </a:pPr>
            <a:endParaRPr b="0" lang="en-IN" sz="2400" spc="-1" strike="noStrike">
              <a:latin typeface="Arial"/>
            </a:endParaRPr>
          </a:p>
          <a:p>
            <a:pPr>
              <a:lnSpc>
                <a:spcPct val="100000"/>
              </a:lnSpc>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Lack of Customization</a:t>
            </a:r>
            <a:r>
              <a:rPr b="0" lang="en-US" sz="2400" spc="-1" strike="noStrike">
                <a:solidFill>
                  <a:srgbClr val="232b34"/>
                </a:solidFill>
                <a:latin typeface="Aptos"/>
                <a:ea typeface="DejaVu Sans"/>
              </a:rPr>
              <a:t> – Since it’s a public cloud, personalization will always be limited.</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8"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Private Cloud Deployment</a:t>
            </a:r>
            <a:endParaRPr b="0" lang="en-IN" sz="2800" spc="-1" strike="noStrike">
              <a:latin typeface="Arial"/>
            </a:endParaRPr>
          </a:p>
        </p:txBody>
      </p:sp>
      <p:sp>
        <p:nvSpPr>
          <p:cNvPr id="119"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647D21ED-077F-4706-9BFD-50A8D3A21C14}"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120" name="Picture_0" descr=""/>
          <p:cNvPicPr/>
          <p:nvPr/>
        </p:nvPicPr>
        <p:blipFill>
          <a:blip r:embed="rId1"/>
          <a:stretch/>
        </p:blipFill>
        <p:spPr>
          <a:xfrm>
            <a:off x="2520000" y="945000"/>
            <a:ext cx="3778200" cy="2124720"/>
          </a:xfrm>
          <a:prstGeom prst="rect">
            <a:avLst/>
          </a:prstGeom>
          <a:ln w="9360">
            <a:noFill/>
          </a:ln>
        </p:spPr>
      </p:pic>
      <p:sp>
        <p:nvSpPr>
          <p:cNvPr id="121" name="CustomShape 3"/>
          <p:cNvSpPr/>
          <p:nvPr/>
        </p:nvSpPr>
        <p:spPr>
          <a:xfrm>
            <a:off x="419760" y="3591000"/>
            <a:ext cx="9406080" cy="211392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IN" sz="2400" spc="-1" strike="noStrike">
                <a:solidFill>
                  <a:srgbClr val="232b34"/>
                </a:solidFill>
                <a:latin typeface="Aptos"/>
                <a:ea typeface="DejaVu Sans"/>
              </a:rPr>
              <a:t>A private cloud deployment model, also known as an i</a:t>
            </a:r>
            <a:r>
              <a:rPr b="0" lang="en-IN" sz="2400" spc="-1" strike="noStrike">
                <a:solidFill>
                  <a:srgbClr val="c9211e"/>
                </a:solidFill>
                <a:latin typeface="Aptos"/>
                <a:ea typeface="DejaVu Sans"/>
              </a:rPr>
              <a:t>nternal or corporate model, </a:t>
            </a:r>
            <a:r>
              <a:rPr b="0" lang="en-IN" sz="2400" spc="-1" strike="noStrike">
                <a:solidFill>
                  <a:srgbClr val="232b34"/>
                </a:solidFill>
                <a:latin typeface="Aptos"/>
                <a:ea typeface="DejaVu Sans"/>
              </a:rPr>
              <a:t>is one that belongs to specific organizations. Under this model, the organization is the one that controls the systems and manages them. </a:t>
            </a:r>
            <a:endParaRPr b="0" lang="en-IN" sz="2400" spc="-1" strike="noStrike">
              <a:latin typeface="Arial"/>
            </a:endParaRPr>
          </a:p>
        </p:txBody>
      </p:sp>
      <p:sp>
        <p:nvSpPr>
          <p:cNvPr id="122"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3"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4"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5</a:t>
            </a:r>
            <a:endParaRPr b="0" lang="en-IN" sz="1600" spc="-1" strike="noStrike">
              <a:latin typeface="Arial"/>
            </a:endParaRPr>
          </a:p>
        </p:txBody>
      </p:sp>
      <p:sp>
        <p:nvSpPr>
          <p:cNvPr id="125"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6"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27"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5</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8"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Private Cloud Deployment</a:t>
            </a:r>
            <a:endParaRPr b="0" lang="en-IN" sz="2800" spc="-1" strike="noStrike">
              <a:latin typeface="Arial"/>
            </a:endParaRPr>
          </a:p>
        </p:txBody>
      </p:sp>
      <p:sp>
        <p:nvSpPr>
          <p:cNvPr id="129"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197AD221-3C08-4BD8-B777-D1C25960BE8E}"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30" name="CustomShape 3"/>
          <p:cNvSpPr/>
          <p:nvPr/>
        </p:nvSpPr>
        <p:spPr>
          <a:xfrm>
            <a:off x="576000" y="1629720"/>
            <a:ext cx="9406080" cy="211392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IN" sz="2400" spc="-1" strike="noStrike">
                <a:solidFill>
                  <a:srgbClr val="232b34"/>
                </a:solidFill>
                <a:latin typeface="Aptos"/>
                <a:ea typeface="DejaVu Sans"/>
              </a:rPr>
              <a:t>A a third party (a service provider) can host a private cloud server, </a:t>
            </a:r>
            <a:r>
              <a:rPr b="0" lang="en-IN" sz="2400" spc="-1" strike="noStrike">
                <a:solidFill>
                  <a:srgbClr val="c9211e"/>
                </a:solidFill>
                <a:latin typeface="Aptos"/>
                <a:ea typeface="DejaVu Sans"/>
              </a:rPr>
              <a:t>most companies choose to keep their hardware in their on-premises data center</a:t>
            </a:r>
            <a:r>
              <a:rPr b="0" lang="en-IN" sz="2400" spc="-1" strike="noStrike">
                <a:solidFill>
                  <a:srgbClr val="232b34"/>
                </a:solidFill>
                <a:latin typeface="Aptos"/>
                <a:ea typeface="DejaVu Sans"/>
              </a:rPr>
              <a:t> from where an in-house team oversees and manages everything. </a:t>
            </a:r>
            <a:endParaRPr b="0" lang="en-IN" sz="2400" spc="-1" strike="noStrike">
              <a:latin typeface="Arial"/>
            </a:endParaRPr>
          </a:p>
          <a:p>
            <a:pPr>
              <a:lnSpc>
                <a:spcPct val="108000"/>
              </a:lnSpc>
              <a:spcAft>
                <a:spcPts val="601"/>
              </a:spcAft>
            </a:pPr>
            <a:r>
              <a:rPr b="0" lang="en-IN" sz="2400" spc="-1" strike="noStrike">
                <a:solidFill>
                  <a:srgbClr val="232b34"/>
                </a:solidFill>
                <a:latin typeface="Aptos"/>
                <a:ea typeface="DejaVu Sans"/>
              </a:rPr>
              <a:t>The private cloud deployment model is the second most used model and has it’s own pros and cons.</a:t>
            </a:r>
            <a:endParaRPr b="0" lang="en-IN" sz="2400" spc="-1" strike="noStrike">
              <a:latin typeface="Arial"/>
            </a:endParaRPr>
          </a:p>
        </p:txBody>
      </p:sp>
      <p:sp>
        <p:nvSpPr>
          <p:cNvPr id="131"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2"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3"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5</a:t>
            </a:r>
            <a:endParaRPr b="0" lang="en-IN" sz="1600" spc="-1" strike="noStrike">
              <a:latin typeface="Arial"/>
            </a:endParaRPr>
          </a:p>
        </p:txBody>
      </p:sp>
      <p:sp>
        <p:nvSpPr>
          <p:cNvPr id="134"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5"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36"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5</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7"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PRIVATE CLOUD ADVANTAGES</a:t>
            </a:r>
            <a:endParaRPr b="0" lang="en-IN" sz="2800" spc="-1" strike="noStrike">
              <a:latin typeface="Arial"/>
            </a:endParaRPr>
          </a:p>
        </p:txBody>
      </p:sp>
      <p:sp>
        <p:nvSpPr>
          <p:cNvPr id="138"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Advantages</a:t>
            </a: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Customization</a:t>
            </a:r>
            <a:r>
              <a:rPr b="0" lang="en-US" sz="2400" spc="-1" strike="noStrike">
                <a:solidFill>
                  <a:srgbClr val="232b34"/>
                </a:solidFill>
                <a:latin typeface="Aptos"/>
                <a:ea typeface="DejaVu Sans"/>
              </a:rPr>
              <a:t> – Unlike the public cloud deployment model, a company using a private cloud </a:t>
            </a:r>
            <a:r>
              <a:rPr b="0" lang="en-US" sz="2400" spc="-1" strike="noStrike">
                <a:solidFill>
                  <a:srgbClr val="c9211e"/>
                </a:solidFill>
                <a:latin typeface="Aptos"/>
                <a:ea typeface="DejaVu Sans"/>
              </a:rPr>
              <a:t>can customize</a:t>
            </a:r>
            <a:r>
              <a:rPr b="0" lang="en-US" sz="2400" spc="-1" strike="noStrike">
                <a:solidFill>
                  <a:srgbClr val="232b34"/>
                </a:solidFill>
                <a:latin typeface="Aptos"/>
                <a:ea typeface="DejaVu Sans"/>
              </a:rPr>
              <a:t> its solution </a:t>
            </a:r>
            <a:r>
              <a:rPr b="0" lang="en-US" sz="2400" spc="-1" strike="noStrike">
                <a:solidFill>
                  <a:srgbClr val="c9211e"/>
                </a:solidFill>
                <a:latin typeface="Aptos"/>
                <a:ea typeface="DejaVu Sans"/>
              </a:rPr>
              <a:t>as per its own requirements.</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Data and Security</a:t>
            </a:r>
            <a:r>
              <a:rPr b="0" lang="en-US" sz="2400" spc="-1" strike="noStrike">
                <a:solidFill>
                  <a:srgbClr val="232b34"/>
                </a:solidFill>
                <a:latin typeface="Aptos"/>
                <a:ea typeface="DejaVu Sans"/>
              </a:rPr>
              <a:t> – </a:t>
            </a:r>
            <a:r>
              <a:rPr b="0" lang="en-US" sz="2400" spc="-1" strike="noStrike">
                <a:solidFill>
                  <a:srgbClr val="c9211e"/>
                </a:solidFill>
                <a:latin typeface="Aptos"/>
                <a:ea typeface="DejaVu Sans"/>
              </a:rPr>
              <a:t>The security of data is high, as in, only authorized internal personnel is allowed to access data.</a:t>
            </a: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0" lang="en-US" sz="2400" spc="-1" strike="noStrike">
                <a:solidFill>
                  <a:srgbClr val="232b34"/>
                </a:solidFill>
                <a:latin typeface="Aptos"/>
                <a:ea typeface="DejaVu Sans"/>
              </a:rPr>
              <a:t>This makes it ideal for storing corporate data. </a:t>
            </a:r>
            <a:endParaRPr b="0" lang="en-IN" sz="2400" spc="-1" strike="noStrike">
              <a:latin typeface="Arial"/>
            </a:endParaRPr>
          </a:p>
          <a:p>
            <a:pPr algn="just">
              <a:lnSpc>
                <a:spcPct val="108000"/>
              </a:lnSpc>
              <a:spcAft>
                <a:spcPts val="601"/>
              </a:spcAft>
            </a:pPr>
            <a:endParaRPr b="0" lang="en-IN" sz="2400" spc="-1" strike="noStrike">
              <a:latin typeface="Arial"/>
            </a:endParaRPr>
          </a:p>
        </p:txBody>
      </p:sp>
      <p:sp>
        <p:nvSpPr>
          <p:cNvPr id="139"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7DD8865E-0323-4ADA-ACBA-B550346E5DB1}"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40"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1"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2"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6</a:t>
            </a:r>
            <a:endParaRPr b="0" lang="en-IN" sz="1600" spc="-1" strike="noStrike">
              <a:latin typeface="Arial"/>
            </a:endParaRPr>
          </a:p>
        </p:txBody>
      </p:sp>
      <p:sp>
        <p:nvSpPr>
          <p:cNvPr id="143"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4"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45"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6</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46"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PRIVATE CLOUD ADVANTAGES</a:t>
            </a:r>
            <a:endParaRPr b="0" lang="en-IN" sz="2800" spc="-1" strike="noStrike">
              <a:latin typeface="Arial"/>
            </a:endParaRPr>
          </a:p>
        </p:txBody>
      </p:sp>
      <p:sp>
        <p:nvSpPr>
          <p:cNvPr id="147"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Advantages</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Control</a:t>
            </a:r>
            <a:r>
              <a:rPr b="0" lang="en-US" sz="2400" spc="-1" strike="noStrike">
                <a:solidFill>
                  <a:srgbClr val="232b34"/>
                </a:solidFill>
                <a:latin typeface="Aptos"/>
                <a:ea typeface="DejaVu Sans"/>
              </a:rPr>
              <a:t> – Your organization is the exclusive owner. You get absolute control over service integrations,</a:t>
            </a:r>
            <a:r>
              <a:rPr b="0" lang="en-US" sz="2400" spc="-1" strike="noStrike">
                <a:solidFill>
                  <a:srgbClr val="c9211e"/>
                </a:solidFill>
                <a:latin typeface="Aptos"/>
                <a:ea typeface="DejaVu Sans"/>
              </a:rPr>
              <a:t> IT operations, rules, and user practices.</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Legacy Systems</a:t>
            </a:r>
            <a:r>
              <a:rPr b="0" lang="en-US" sz="2400" spc="-1" strike="noStrike">
                <a:solidFill>
                  <a:srgbClr val="232b34"/>
                </a:solidFill>
                <a:latin typeface="Aptos"/>
                <a:ea typeface="DejaVu Sans"/>
              </a:rPr>
              <a:t> – A special feature about private clouds is that it supports legacy applications that are not functional on public clouds.</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endParaRPr b="0" lang="en-IN" sz="2400" spc="-1" strike="noStrike">
              <a:latin typeface="Arial"/>
            </a:endParaRPr>
          </a:p>
        </p:txBody>
      </p:sp>
      <p:sp>
        <p:nvSpPr>
          <p:cNvPr id="148"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42073741-8E3C-435B-BADF-8AD4DF647F10}"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49"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0"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1"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6</a:t>
            </a:r>
            <a:endParaRPr b="0" lang="en-IN" sz="1600" spc="-1" strike="noStrike">
              <a:latin typeface="Arial"/>
            </a:endParaRPr>
          </a:p>
        </p:txBody>
      </p:sp>
      <p:sp>
        <p:nvSpPr>
          <p:cNvPr id="152"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3"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4"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6</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5"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PRIVATE CLOUD ADVANTAGES</a:t>
            </a:r>
            <a:endParaRPr b="0" lang="en-IN" sz="2800" spc="-1" strike="noStrike">
              <a:latin typeface="Arial"/>
            </a:endParaRPr>
          </a:p>
        </p:txBody>
      </p:sp>
      <p:sp>
        <p:nvSpPr>
          <p:cNvPr id="156"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Disadvantages</a:t>
            </a: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a:t>
            </a:r>
            <a:r>
              <a:rPr b="1" lang="en-US" sz="2400" spc="-1" strike="noStrike">
                <a:solidFill>
                  <a:srgbClr val="232b34"/>
                </a:solidFill>
                <a:latin typeface="Aptos"/>
                <a:ea typeface="DejaVu Sans"/>
              </a:rPr>
              <a:t>High Cost</a:t>
            </a:r>
            <a:r>
              <a:rPr b="0" lang="en-US" sz="2400" spc="-1" strike="noStrike">
                <a:solidFill>
                  <a:srgbClr val="232b34"/>
                </a:solidFill>
                <a:latin typeface="Aptos"/>
                <a:ea typeface="DejaVu Sans"/>
              </a:rPr>
              <a:t> – Need to invest in hardware and software. Aside from that, there are also expenses for in-house staff and training. Maintenance, which is quite high.</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 </a:t>
            </a:r>
            <a:r>
              <a:rPr b="1" lang="en-US" sz="2400" spc="-1" strike="noStrike">
                <a:solidFill>
                  <a:srgbClr val="232b34"/>
                </a:solidFill>
                <a:latin typeface="Aptos"/>
                <a:ea typeface="DejaVu Sans"/>
              </a:rPr>
              <a:t>Limited Scalability</a:t>
            </a:r>
            <a:r>
              <a:rPr b="0" lang="en-US" sz="2400" spc="-1" strike="noStrike">
                <a:solidFill>
                  <a:srgbClr val="232b34"/>
                </a:solidFill>
                <a:latin typeface="Aptos"/>
                <a:ea typeface="DejaVu Sans"/>
              </a:rPr>
              <a:t> – Private clouds are scaled within internal limited hosted resources. Scalability also depends on the choice of your underlying hardware.</a:t>
            </a:r>
            <a:endParaRPr b="0" lang="en-IN" sz="2400" spc="-1" strike="noStrike">
              <a:latin typeface="Arial"/>
            </a:endParaRPr>
          </a:p>
        </p:txBody>
      </p:sp>
      <p:sp>
        <p:nvSpPr>
          <p:cNvPr id="157"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AEAA99A8-8980-480F-A7CE-822184EF3F6D}"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58"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59"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0"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6</a:t>
            </a:r>
            <a:endParaRPr b="0" lang="en-IN" sz="1600" spc="-1" strike="noStrike">
              <a:latin typeface="Arial"/>
            </a:endParaRPr>
          </a:p>
        </p:txBody>
      </p:sp>
      <p:sp>
        <p:nvSpPr>
          <p:cNvPr id="161"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2"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3"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6</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4"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HYBRID CLOUD</a:t>
            </a:r>
            <a:endParaRPr b="0" lang="en-IN" sz="2800" spc="-1" strike="noStrike">
              <a:latin typeface="Arial"/>
            </a:endParaRPr>
          </a:p>
        </p:txBody>
      </p:sp>
      <p:sp>
        <p:nvSpPr>
          <p:cNvPr id="165"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0EB59331-BC5B-4D2C-AA91-9C8EC2D66B71}"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66" name="CustomShape 3"/>
          <p:cNvSpPr/>
          <p:nvPr/>
        </p:nvSpPr>
        <p:spPr>
          <a:xfrm>
            <a:off x="503640" y="1323000"/>
            <a:ext cx="9070200" cy="3891960"/>
          </a:xfrm>
          <a:prstGeom prst="rect">
            <a:avLst/>
          </a:prstGeom>
          <a:noFill/>
          <a:ln>
            <a:noFill/>
          </a:ln>
        </p:spPr>
        <p:style>
          <a:lnRef idx="0"/>
          <a:fillRef idx="0"/>
          <a:effectRef idx="0"/>
          <a:fontRef idx="minor"/>
        </p:style>
      </p:sp>
      <p:pic>
        <p:nvPicPr>
          <p:cNvPr id="167" name="Picture_3" descr=""/>
          <p:cNvPicPr/>
          <p:nvPr/>
        </p:nvPicPr>
        <p:blipFill>
          <a:blip r:embed="rId1"/>
          <a:stretch/>
        </p:blipFill>
        <p:spPr>
          <a:xfrm>
            <a:off x="671760" y="1323000"/>
            <a:ext cx="8733960" cy="3778560"/>
          </a:xfrm>
          <a:prstGeom prst="rect">
            <a:avLst/>
          </a:prstGeom>
          <a:ln w="9360">
            <a:noFill/>
          </a:ln>
        </p:spPr>
      </p:pic>
      <p:sp>
        <p:nvSpPr>
          <p:cNvPr id="168"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69"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0"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7</a:t>
            </a:r>
            <a:endParaRPr b="0" lang="en-IN" sz="1600" spc="-1" strike="noStrike">
              <a:latin typeface="Arial"/>
            </a:endParaRPr>
          </a:p>
        </p:txBody>
      </p:sp>
      <p:sp>
        <p:nvSpPr>
          <p:cNvPr id="171" name="CustomShape 7"/>
          <p:cNvSpPr/>
          <p:nvPr/>
        </p:nvSpPr>
        <p:spPr>
          <a:xfrm>
            <a:off x="411480" y="1051560"/>
            <a:ext cx="109080" cy="502200"/>
          </a:xfrm>
          <a:prstGeom prst="rect">
            <a:avLst/>
          </a:prstGeom>
          <a:solidFill>
            <a:srgbClr val="2668ad"/>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2"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3"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7</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4" name="" descr=""/>
          <p:cNvPicPr/>
          <p:nvPr/>
        </p:nvPicPr>
        <p:blipFill>
          <a:blip r:embed="rId1"/>
          <a:stretch/>
        </p:blipFill>
        <p:spPr>
          <a:xfrm>
            <a:off x="0" y="576000"/>
            <a:ext cx="9791640" cy="4967640"/>
          </a:xfrm>
          <a:prstGeom prst="rect">
            <a:avLst/>
          </a:prstGeom>
          <a:ln>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5"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HYBRID CLOUD ADVANTAGES</a:t>
            </a:r>
            <a:endParaRPr b="0" lang="en-IN" sz="2800" spc="-1" strike="noStrike">
              <a:latin typeface="Arial"/>
            </a:endParaRPr>
          </a:p>
        </p:txBody>
      </p:sp>
      <p:sp>
        <p:nvSpPr>
          <p:cNvPr id="176"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Benefits of Hybrid Cloud</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Cost-Effectiveness - The overall cost of a hybrid solution decreases </a:t>
            </a:r>
            <a:r>
              <a:rPr b="0" lang="en-US" sz="2400" spc="-1" strike="noStrike">
                <a:solidFill>
                  <a:srgbClr val="c9211e"/>
                </a:solidFill>
                <a:latin typeface="Aptos"/>
                <a:ea typeface="DejaVu Sans"/>
              </a:rPr>
              <a:t>since it majorly uses the public cloud to</a:t>
            </a:r>
            <a:r>
              <a:rPr b="0" lang="en-US" sz="2400" spc="-1" strike="noStrike">
                <a:solidFill>
                  <a:srgbClr val="232b34"/>
                </a:solidFill>
                <a:latin typeface="Aptos"/>
                <a:ea typeface="DejaVu Sans"/>
              </a:rPr>
              <a:t> store data.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 </a:t>
            </a:r>
            <a:endParaRPr b="0" lang="en-IN" sz="2400" spc="-1" strike="noStrike">
              <a:latin typeface="Arial"/>
            </a:endParaRPr>
          </a:p>
          <a:p>
            <a:pPr>
              <a:lnSpc>
                <a:spcPct val="108000"/>
              </a:lnSpc>
              <a:spcAft>
                <a:spcPts val="601"/>
              </a:spcAft>
            </a:pPr>
            <a:r>
              <a:rPr b="1" lang="en-US" sz="2400" spc="-1" strike="noStrike">
                <a:solidFill>
                  <a:srgbClr val="232b34"/>
                </a:solidFill>
                <a:latin typeface="Aptos"/>
                <a:ea typeface="DejaVu Sans"/>
              </a:rPr>
              <a:t>Security - </a:t>
            </a:r>
            <a:r>
              <a:rPr b="0" lang="en-US" sz="2400" spc="-1" strike="noStrike">
                <a:solidFill>
                  <a:srgbClr val="232b34"/>
                </a:solidFill>
                <a:latin typeface="Aptos"/>
                <a:ea typeface="DejaVu Sans"/>
              </a:rPr>
              <a:t>Since data is properly segmented, the chances of </a:t>
            </a:r>
            <a:r>
              <a:rPr b="0" lang="en-US" sz="2400" spc="-1" strike="noStrike">
                <a:solidFill>
                  <a:srgbClr val="c9211e"/>
                </a:solidFill>
                <a:latin typeface="Aptos"/>
                <a:ea typeface="DejaVu Sans"/>
              </a:rPr>
              <a:t>data theft </a:t>
            </a:r>
            <a:r>
              <a:rPr b="0" lang="en-US" sz="2400" spc="-1" strike="noStrike">
                <a:solidFill>
                  <a:srgbClr val="232b34"/>
                </a:solidFill>
                <a:latin typeface="Aptos"/>
                <a:ea typeface="DejaVu Sans"/>
              </a:rPr>
              <a:t>from attackers are significantly </a:t>
            </a:r>
            <a:r>
              <a:rPr b="0" lang="en-US" sz="2400" spc="-1" strike="noStrike">
                <a:solidFill>
                  <a:srgbClr val="c9211e"/>
                </a:solidFill>
                <a:latin typeface="Aptos"/>
                <a:ea typeface="DejaVu Sans"/>
              </a:rPr>
              <a:t>reduced. </a:t>
            </a:r>
            <a:endParaRPr b="0" lang="en-IN" sz="2400" spc="-1" strike="noStrike">
              <a:latin typeface="Arial"/>
            </a:endParaRPr>
          </a:p>
          <a:p>
            <a:pPr>
              <a:lnSpc>
                <a:spcPct val="108000"/>
              </a:lnSpc>
              <a:spcAft>
                <a:spcPts val="601"/>
              </a:spcAft>
            </a:pP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Flexibility - With higher levels of flexibility, businesses can create custom solutions that fit their exact requirements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 </a:t>
            </a:r>
            <a:endParaRPr b="0" lang="en-IN" sz="2400" spc="-1" strike="noStrike">
              <a:latin typeface="Arial"/>
            </a:endParaRPr>
          </a:p>
        </p:txBody>
      </p:sp>
      <p:sp>
        <p:nvSpPr>
          <p:cNvPr id="177"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4F1018D4-6B67-48FB-9168-5785E7928497}"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78"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79"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0"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8</a:t>
            </a:r>
            <a:endParaRPr b="0" lang="en-IN" sz="1600" spc="-1" strike="noStrike">
              <a:latin typeface="Arial"/>
            </a:endParaRPr>
          </a:p>
        </p:txBody>
      </p:sp>
      <p:sp>
        <p:nvSpPr>
          <p:cNvPr id="181" name="CustomShape 7"/>
          <p:cNvSpPr/>
          <p:nvPr/>
        </p:nvSpPr>
        <p:spPr>
          <a:xfrm>
            <a:off x="411480" y="1051560"/>
            <a:ext cx="109080" cy="502200"/>
          </a:xfrm>
          <a:prstGeom prst="rect">
            <a:avLst/>
          </a:prstGeom>
          <a:solidFill>
            <a:srgbClr val="2668ad"/>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2"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3"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8</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4"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HYBRID CLOUD ADVANTAGES</a:t>
            </a:r>
            <a:endParaRPr b="0" lang="en-IN" sz="2800" spc="-1" strike="noStrike">
              <a:latin typeface="Arial"/>
            </a:endParaRPr>
          </a:p>
        </p:txBody>
      </p:sp>
      <p:sp>
        <p:nvSpPr>
          <p:cNvPr id="185"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Limitations of Hybrid Cloud</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Complexity -</a:t>
            </a:r>
            <a:r>
              <a:rPr b="0" lang="en-US" sz="2400" spc="-1" strike="noStrike">
                <a:solidFill>
                  <a:srgbClr val="232b34"/>
                </a:solidFill>
                <a:latin typeface="Aptos"/>
                <a:ea typeface="DejaVu Sans"/>
              </a:rPr>
              <a:t> It is complex setting up a hybrid cloud since it needs to integrate two or more cloud architectures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Specific Use Case - </a:t>
            </a:r>
            <a:r>
              <a:rPr b="0" lang="en-US" sz="2400" spc="-1" strike="noStrike">
                <a:solidFill>
                  <a:srgbClr val="232b34"/>
                </a:solidFill>
                <a:latin typeface="Aptos"/>
                <a:ea typeface="DejaVu Sans"/>
              </a:rPr>
              <a:t>This model makes more sense for organizations that have multiple use cases or need to </a:t>
            </a:r>
            <a:r>
              <a:rPr b="1" lang="en-US" sz="2400" spc="-1" strike="noStrike">
                <a:solidFill>
                  <a:srgbClr val="232b34"/>
                </a:solidFill>
                <a:latin typeface="Aptos"/>
                <a:ea typeface="DejaVu Sans"/>
              </a:rPr>
              <a:t>separate critical and sensitive data </a:t>
            </a: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 </a:t>
            </a:r>
            <a:endParaRPr b="0" lang="en-IN" sz="2400" spc="-1" strike="noStrike">
              <a:latin typeface="Arial"/>
            </a:endParaRPr>
          </a:p>
        </p:txBody>
      </p:sp>
      <p:sp>
        <p:nvSpPr>
          <p:cNvPr id="18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2C3C0071-EB83-4479-B597-E37962DD314A}"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187"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8"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89"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8</a:t>
            </a:r>
            <a:endParaRPr b="0" lang="en-IN" sz="1600" spc="-1" strike="noStrike">
              <a:latin typeface="Arial"/>
            </a:endParaRPr>
          </a:p>
        </p:txBody>
      </p:sp>
      <p:sp>
        <p:nvSpPr>
          <p:cNvPr id="190" name="CustomShape 7"/>
          <p:cNvSpPr/>
          <p:nvPr/>
        </p:nvSpPr>
        <p:spPr>
          <a:xfrm>
            <a:off x="411480" y="1051560"/>
            <a:ext cx="109080" cy="502200"/>
          </a:xfrm>
          <a:prstGeom prst="rect">
            <a:avLst/>
          </a:prstGeom>
          <a:solidFill>
            <a:srgbClr val="2668ad"/>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1"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2" name="CustomShape 9"/>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8</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3"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COMMUNITY CLOUD</a:t>
            </a:r>
            <a:endParaRPr b="0" lang="en-IN" sz="2800" spc="-1" strike="noStrike">
              <a:latin typeface="Arial"/>
            </a:endParaRPr>
          </a:p>
        </p:txBody>
      </p:sp>
      <p:sp>
        <p:nvSpPr>
          <p:cNvPr id="194" name="CustomShape 2"/>
          <p:cNvSpPr/>
          <p:nvPr/>
        </p:nvSpPr>
        <p:spPr>
          <a:xfrm>
            <a:off x="503640" y="1323000"/>
            <a:ext cx="9070200" cy="2203200"/>
          </a:xfrm>
          <a:prstGeom prst="rect">
            <a:avLst/>
          </a:prstGeom>
          <a:noFill/>
          <a:ln>
            <a:noFill/>
          </a:ln>
        </p:spPr>
        <p:style>
          <a:lnRef idx="0"/>
          <a:fillRef idx="0"/>
          <a:effectRef idx="0"/>
          <a:fontRef idx="minor"/>
        </p:style>
      </p:sp>
      <p:sp>
        <p:nvSpPr>
          <p:cNvPr id="195"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9F05A2DC-1756-44C0-8FF5-DB80D86C8385}"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196" name="Picture_2" descr=""/>
          <p:cNvPicPr/>
          <p:nvPr/>
        </p:nvPicPr>
        <p:blipFill>
          <a:blip r:embed="rId1"/>
          <a:stretch/>
        </p:blipFill>
        <p:spPr>
          <a:xfrm>
            <a:off x="671760" y="1386000"/>
            <a:ext cx="8818200" cy="2033640"/>
          </a:xfrm>
          <a:prstGeom prst="rect">
            <a:avLst/>
          </a:prstGeom>
          <a:ln w="9360">
            <a:noFill/>
          </a:ln>
        </p:spPr>
      </p:pic>
      <p:sp>
        <p:nvSpPr>
          <p:cNvPr id="197" name="CustomShape 4"/>
          <p:cNvSpPr/>
          <p:nvPr/>
        </p:nvSpPr>
        <p:spPr>
          <a:xfrm>
            <a:off x="419760" y="3761280"/>
            <a:ext cx="9658080" cy="211392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IN" sz="2400" spc="-1" strike="noStrike">
                <a:solidFill>
                  <a:srgbClr val="232b34"/>
                </a:solidFill>
                <a:latin typeface="Aptos"/>
                <a:ea typeface="DejaVu Sans"/>
              </a:rPr>
              <a:t>A community cloud deployment model resembles a private cloud, the </a:t>
            </a:r>
            <a:r>
              <a:rPr b="0" lang="en-IN" sz="2400" spc="-1" strike="noStrike">
                <a:solidFill>
                  <a:srgbClr val="c9211e"/>
                </a:solidFill>
                <a:latin typeface="Aptos"/>
                <a:ea typeface="DejaVu Sans"/>
              </a:rPr>
              <a:t>only difference being the set of users.</a:t>
            </a:r>
            <a:r>
              <a:rPr b="0" lang="en-IN" sz="2400" spc="-1" strike="noStrike">
                <a:solidFill>
                  <a:srgbClr val="232b34"/>
                </a:solidFill>
                <a:latin typeface="Aptos"/>
                <a:ea typeface="DejaVu Sans"/>
              </a:rPr>
              <a:t> While a private cloud implies that one company owns the server.</a:t>
            </a:r>
            <a:endParaRPr b="0" lang="en-IN" sz="2400" spc="-1" strike="noStrike">
              <a:latin typeface="Arial"/>
            </a:endParaRPr>
          </a:p>
        </p:txBody>
      </p:sp>
      <p:sp>
        <p:nvSpPr>
          <p:cNvPr id="198" name="CustomShape 5"/>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199" name="CustomShape 6"/>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0" name="CustomShape 7"/>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9</a:t>
            </a:r>
            <a:endParaRPr b="0" lang="en-IN" sz="1600" spc="-1" strike="noStrike">
              <a:latin typeface="Arial"/>
            </a:endParaRPr>
          </a:p>
        </p:txBody>
      </p:sp>
      <p:sp>
        <p:nvSpPr>
          <p:cNvPr id="201" name="CustomShape 8"/>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2" name="CustomShape 9"/>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3" name="CustomShape 10"/>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9</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4"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COMMUNITY CLOUD</a:t>
            </a:r>
            <a:endParaRPr b="0" lang="en-IN" sz="2800" spc="-1" strike="noStrike">
              <a:latin typeface="Arial"/>
            </a:endParaRPr>
          </a:p>
        </p:txBody>
      </p:sp>
      <p:sp>
        <p:nvSpPr>
          <p:cNvPr id="205" name="CustomShape 2"/>
          <p:cNvSpPr/>
          <p:nvPr/>
        </p:nvSpPr>
        <p:spPr>
          <a:xfrm>
            <a:off x="503640" y="1323000"/>
            <a:ext cx="9070200" cy="2203200"/>
          </a:xfrm>
          <a:prstGeom prst="rect">
            <a:avLst/>
          </a:prstGeom>
          <a:noFill/>
          <a:ln>
            <a:noFill/>
          </a:ln>
        </p:spPr>
        <p:style>
          <a:lnRef idx="0"/>
          <a:fillRef idx="0"/>
          <a:effectRef idx="0"/>
          <a:fontRef idx="minor"/>
        </p:style>
      </p:sp>
      <p:sp>
        <p:nvSpPr>
          <p:cNvPr id="20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740737BA-FB02-49F3-87BE-11B86FD8AC7B}"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07" name="CustomShape 4"/>
          <p:cNvSpPr/>
          <p:nvPr/>
        </p:nvSpPr>
        <p:spPr>
          <a:xfrm>
            <a:off x="503640" y="2160000"/>
            <a:ext cx="9658080" cy="211392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IN" sz="2400" spc="-1" strike="noStrike">
                <a:solidFill>
                  <a:srgbClr val="232b34"/>
                </a:solidFill>
                <a:latin typeface="Aptos"/>
                <a:ea typeface="DejaVu Sans"/>
              </a:rPr>
              <a:t> </a:t>
            </a:r>
            <a:r>
              <a:rPr b="0" lang="en-IN" sz="2400" spc="-1" strike="noStrike">
                <a:solidFill>
                  <a:srgbClr val="232b34"/>
                </a:solidFill>
                <a:latin typeface="Aptos"/>
                <a:ea typeface="DejaVu Sans"/>
              </a:rPr>
              <a:t>In the case of a community cloud, it is several organizations with similar backgrounds. Companies share the infrastructure and related resources on a community cloud. </a:t>
            </a:r>
            <a:endParaRPr b="0" lang="en-IN" sz="2400" spc="-1" strike="noStrike">
              <a:latin typeface="Arial"/>
            </a:endParaRPr>
          </a:p>
          <a:p>
            <a:pPr>
              <a:lnSpc>
                <a:spcPct val="108000"/>
              </a:lnSpc>
              <a:spcAft>
                <a:spcPts val="601"/>
              </a:spcAft>
            </a:pPr>
            <a:endParaRPr b="0" lang="en-IN" sz="2400" spc="-1" strike="noStrike">
              <a:latin typeface="Arial"/>
            </a:endParaRPr>
          </a:p>
          <a:p>
            <a:pPr>
              <a:lnSpc>
                <a:spcPct val="108000"/>
              </a:lnSpc>
              <a:spcAft>
                <a:spcPts val="601"/>
              </a:spcAft>
            </a:pPr>
            <a:r>
              <a:rPr b="0" lang="en-IN" sz="2400" spc="-1" strike="noStrike">
                <a:solidFill>
                  <a:srgbClr val="c9211e"/>
                </a:solidFill>
                <a:latin typeface="Aptos"/>
                <a:ea typeface="DejaVu Sans"/>
              </a:rPr>
              <a:t>This model supports joint business organizations, ventures,</a:t>
            </a:r>
            <a:r>
              <a:rPr b="0" lang="en-IN" sz="2400" spc="-1" strike="noStrike">
                <a:solidFill>
                  <a:srgbClr val="232b34"/>
                </a:solidFill>
                <a:latin typeface="Aptos"/>
                <a:ea typeface="DejaVu Sans"/>
              </a:rPr>
              <a:t> research organizations, and tenders, etc. Community Cloud is a way to preserve the benefits of economy of scales with the private cloud.</a:t>
            </a:r>
            <a:endParaRPr b="0" lang="en-IN" sz="2400" spc="-1" strike="noStrike">
              <a:latin typeface="Arial"/>
            </a:endParaRPr>
          </a:p>
          <a:p>
            <a:pPr>
              <a:lnSpc>
                <a:spcPct val="108000"/>
              </a:lnSpc>
              <a:spcAft>
                <a:spcPts val="601"/>
              </a:spcAft>
            </a:pPr>
            <a:r>
              <a:rPr b="0" lang="en-IN" sz="2400" spc="-1" strike="noStrike">
                <a:solidFill>
                  <a:srgbClr val="232b34"/>
                </a:solidFill>
                <a:latin typeface="Aptos"/>
                <a:ea typeface="DejaVu Sans"/>
              </a:rPr>
              <a:t> </a:t>
            </a:r>
            <a:endParaRPr b="0" lang="en-IN" sz="2400" spc="-1" strike="noStrike">
              <a:latin typeface="Arial"/>
            </a:endParaRPr>
          </a:p>
        </p:txBody>
      </p:sp>
      <p:sp>
        <p:nvSpPr>
          <p:cNvPr id="208" name="CustomShape 5"/>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09" name="CustomShape 6"/>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0" name="CustomShape 7"/>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9</a:t>
            </a:r>
            <a:endParaRPr b="0" lang="en-IN" sz="1600" spc="-1" strike="noStrike">
              <a:latin typeface="Arial"/>
            </a:endParaRPr>
          </a:p>
        </p:txBody>
      </p:sp>
      <p:sp>
        <p:nvSpPr>
          <p:cNvPr id="211" name="CustomShape 8"/>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2" name="CustomShape 9"/>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3" name="CustomShape 10"/>
          <p:cNvSpPr/>
          <p:nvPr/>
        </p:nvSpPr>
        <p:spPr>
          <a:xfrm>
            <a:off x="9610200" y="5492880"/>
            <a:ext cx="25380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9</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4"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COMMUNITY CLOUD ADVANTAGES</a:t>
            </a:r>
            <a:endParaRPr b="0" lang="en-IN" sz="2800" spc="-1" strike="noStrike">
              <a:latin typeface="Arial"/>
            </a:endParaRPr>
          </a:p>
        </p:txBody>
      </p:sp>
      <p:sp>
        <p:nvSpPr>
          <p:cNvPr id="215"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0" lang="en-US" sz="2200" spc="-1" strike="noStrike">
                <a:solidFill>
                  <a:srgbClr val="232b34"/>
                </a:solidFill>
                <a:latin typeface="Aptos"/>
                <a:ea typeface="DejaVu Sans"/>
              </a:rPr>
              <a:t>• </a:t>
            </a:r>
            <a:r>
              <a:rPr b="1" lang="en-US" sz="2200" spc="-1" strike="noStrike">
                <a:solidFill>
                  <a:srgbClr val="232b34"/>
                </a:solidFill>
                <a:latin typeface="Aptos"/>
                <a:ea typeface="DejaVu Sans"/>
              </a:rPr>
              <a:t>Cost </a:t>
            </a:r>
            <a:r>
              <a:rPr b="0" lang="en-US" sz="2200" spc="-1" strike="noStrike">
                <a:solidFill>
                  <a:srgbClr val="232b34"/>
                </a:solidFill>
                <a:latin typeface="Aptos"/>
                <a:ea typeface="DejaVu Sans"/>
              </a:rPr>
              <a:t>– A community cloud is a cheaper way to avail the benefits of a private cloud. That’s because multiple </a:t>
            </a:r>
            <a:r>
              <a:rPr b="0" lang="en-US" sz="2200" spc="-1" strike="noStrike">
                <a:solidFill>
                  <a:srgbClr val="c9211e"/>
                </a:solidFill>
                <a:latin typeface="Aptos"/>
                <a:ea typeface="DejaVu Sans"/>
              </a:rPr>
              <a:t>companies can share the bill together.</a:t>
            </a:r>
            <a:endParaRPr b="0" lang="en-IN" sz="2200" spc="-1" strike="noStrike">
              <a:latin typeface="Arial"/>
            </a:endParaRPr>
          </a:p>
          <a:p>
            <a:pPr algn="just">
              <a:lnSpc>
                <a:spcPct val="108000"/>
              </a:lnSpc>
              <a:spcAft>
                <a:spcPts val="601"/>
              </a:spcAft>
            </a:pPr>
            <a:r>
              <a:rPr b="0" lang="en-US" sz="2200" spc="-1" strike="noStrike">
                <a:solidFill>
                  <a:srgbClr val="232b34"/>
                </a:solidFill>
                <a:latin typeface="Aptos"/>
                <a:ea typeface="DejaVu Sans"/>
              </a:rPr>
              <a:t>• </a:t>
            </a:r>
            <a:r>
              <a:rPr b="1" lang="en-US" sz="2200" spc="-1" strike="noStrike">
                <a:solidFill>
                  <a:srgbClr val="232b34"/>
                </a:solidFill>
                <a:latin typeface="Aptos"/>
                <a:ea typeface="DejaVu Sans"/>
              </a:rPr>
              <a:t>Data Sharing and Collaboration</a:t>
            </a:r>
            <a:r>
              <a:rPr b="0" lang="en-US" sz="2200" spc="-1" strike="noStrike">
                <a:solidFill>
                  <a:srgbClr val="232b34"/>
                </a:solidFill>
                <a:latin typeface="Aptos"/>
                <a:ea typeface="DejaVu Sans"/>
              </a:rPr>
              <a:t> – With a community cloud, sharing data becomes easy and its collaborative space allows clients to enhance their efficiency. </a:t>
            </a:r>
            <a:r>
              <a:rPr b="0" lang="en-US" sz="2200" spc="-1" strike="noStrike">
                <a:solidFill>
                  <a:srgbClr val="c9211e"/>
                </a:solidFill>
                <a:latin typeface="Aptos"/>
                <a:ea typeface="DejaVu Sans"/>
              </a:rPr>
              <a:t>Aside from that, configuration and protocols within a community system meet the needs of the specific industry.</a:t>
            </a:r>
            <a:endParaRPr b="0" lang="en-IN" sz="2200" spc="-1" strike="noStrike">
              <a:latin typeface="Arial"/>
            </a:endParaRPr>
          </a:p>
          <a:p>
            <a:pPr marL="216000" indent="-214920" algn="just">
              <a:lnSpc>
                <a:spcPct val="108000"/>
              </a:lnSpc>
              <a:spcAft>
                <a:spcPts val="601"/>
              </a:spcAft>
              <a:buClr>
                <a:srgbClr val="000000"/>
              </a:buClr>
              <a:buSzPct val="65000"/>
              <a:buFont typeface="Wingdings 2" charset="2"/>
              <a:buChar char=""/>
            </a:pPr>
            <a:r>
              <a:rPr b="1" lang="en-US" sz="2200" spc="-1" strike="noStrike">
                <a:solidFill>
                  <a:srgbClr val="232b34"/>
                </a:solidFill>
                <a:latin typeface="Aptos"/>
                <a:ea typeface="DejaVu Sans"/>
              </a:rPr>
              <a:t>Disadvantages</a:t>
            </a:r>
            <a:endParaRPr b="0" lang="en-IN" sz="22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200" spc="-1" strike="noStrike">
                <a:solidFill>
                  <a:srgbClr val="232b34"/>
                </a:solidFill>
                <a:latin typeface="Aptos"/>
                <a:ea typeface="DejaVu Sans"/>
              </a:rPr>
              <a:t>• </a:t>
            </a:r>
            <a:r>
              <a:rPr b="1" lang="en-US" sz="2200" spc="-1" strike="noStrike">
                <a:solidFill>
                  <a:srgbClr val="232b34"/>
                </a:solidFill>
                <a:latin typeface="Aptos"/>
                <a:ea typeface="DejaVu Sans"/>
              </a:rPr>
              <a:t>Limited Storage and Bandwidth</a:t>
            </a:r>
            <a:r>
              <a:rPr b="0" lang="en-US" sz="2200" spc="-1" strike="noStrike">
                <a:solidFill>
                  <a:srgbClr val="232b34"/>
                </a:solidFill>
                <a:latin typeface="Aptos"/>
                <a:ea typeface="DejaVu Sans"/>
              </a:rPr>
              <a:t>– Within community systems, limited storage and bandwidth capacity become a common problem.</a:t>
            </a:r>
            <a:endParaRPr b="0" lang="en-IN" sz="2200" spc="-1" strike="noStrike">
              <a:latin typeface="Arial"/>
            </a:endParaRPr>
          </a:p>
        </p:txBody>
      </p:sp>
      <p:sp>
        <p:nvSpPr>
          <p:cNvPr id="21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460BD3F8-1618-4F35-9E9F-4A1C319B3318}"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17"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8"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19"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10</a:t>
            </a:r>
            <a:endParaRPr b="0" lang="en-IN" sz="1600" spc="-1" strike="noStrike">
              <a:latin typeface="Arial"/>
            </a:endParaRPr>
          </a:p>
        </p:txBody>
      </p:sp>
      <p:sp>
        <p:nvSpPr>
          <p:cNvPr id="220"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1"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2"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10</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CustomShape 1"/>
          <p:cNvSpPr/>
          <p:nvPr/>
        </p:nvSpPr>
        <p:spPr>
          <a:xfrm>
            <a:off x="2808000" y="2520000"/>
            <a:ext cx="5910480" cy="3814560"/>
          </a:xfrm>
          <a:prstGeom prst="rect">
            <a:avLst/>
          </a:prstGeom>
          <a:noFill/>
          <a:ln>
            <a:noFill/>
          </a:ln>
        </p:spPr>
        <p:style>
          <a:lnRef idx="0"/>
          <a:fillRef idx="0"/>
          <a:effectRef idx="0"/>
          <a:fontRef idx="minor"/>
        </p:style>
        <p:txBody>
          <a:bodyPr lIns="90000" rIns="90000" tIns="45000" bIns="45000">
            <a:noAutofit/>
          </a:bodyPr>
          <a:p>
            <a:pPr>
              <a:lnSpc>
                <a:spcPct val="100000"/>
              </a:lnSpc>
            </a:pPr>
            <a:r>
              <a:rPr b="1" lang="en-US" sz="6000" spc="-1" strike="noStrike">
                <a:solidFill>
                  <a:srgbClr val="c9211e"/>
                </a:solidFill>
                <a:latin typeface="Aptos"/>
                <a:ea typeface="DejaVu Sans"/>
              </a:rPr>
              <a:t>THANK YOU </a:t>
            </a:r>
            <a:endParaRPr b="0" lang="en-IN" sz="60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0">
  <p:cSld>
    <p:bg>
      <p:bgPr>
        <a:solidFill>
          <a:srgbClr val="ffffff"/>
        </a:solidFill>
      </p:bgPr>
    </p:bg>
    <p:spTree>
      <p:nvGrpSpPr>
        <p:cNvPr id="1" name=""/>
        <p:cNvGrpSpPr/>
        <p:nvPr/>
      </p:nvGrpSpPr>
      <p:grpSpPr>
        <a:xfrm>
          <a:off x="0" y="0"/>
          <a:ext cx="0" cy="0"/>
          <a:chOff x="0" y="0"/>
          <a:chExt cx="0" cy="0"/>
        </a:xfrm>
      </p:grpSpPr>
      <p:sp>
        <p:nvSpPr>
          <p:cNvPr id="224"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Building Blocks of Private cloud or about different types of layers.</a:t>
            </a:r>
            <a:endParaRPr b="0" lang="en-IN" sz="2800" spc="-1" strike="noStrike">
              <a:latin typeface="Arial"/>
            </a:endParaRPr>
          </a:p>
        </p:txBody>
      </p:sp>
      <p:sp>
        <p:nvSpPr>
          <p:cNvPr id="225" name="CustomShape 2"/>
          <p:cNvSpPr/>
          <p:nvPr/>
        </p:nvSpPr>
        <p:spPr>
          <a:xfrm>
            <a:off x="167760" y="1070640"/>
            <a:ext cx="9574200" cy="4597560"/>
          </a:xfrm>
          <a:prstGeom prst="rect">
            <a:avLst/>
          </a:prstGeom>
          <a:noFill/>
          <a:ln>
            <a:noFill/>
          </a:ln>
        </p:spPr>
        <p:style>
          <a:lnRef idx="0"/>
          <a:fillRef idx="0"/>
          <a:effectRef idx="0"/>
          <a:fontRef idx="minor"/>
        </p:style>
        <p:txBody>
          <a:bodyPr lIns="50760" rIns="50760" tIns="25560" bIns="25560">
            <a:noAutofit/>
          </a:bodyPr>
          <a:p>
            <a:pPr marL="216000" indent="-214920">
              <a:lnSpc>
                <a:spcPct val="108000"/>
              </a:lnSpc>
              <a:spcAft>
                <a:spcPts val="601"/>
              </a:spcAft>
              <a:buClr>
                <a:srgbClr val="ffffff"/>
              </a:buClr>
              <a:buSzPct val="65000"/>
              <a:buFont typeface="Wingdings 2" charset="2"/>
              <a:buChar char=""/>
            </a:pPr>
            <a:r>
              <a:rPr b="1" lang="en-US" sz="2400" spc="-1" strike="noStrike">
                <a:solidFill>
                  <a:srgbClr val="232b34"/>
                </a:solidFill>
                <a:latin typeface="Aptos"/>
                <a:ea typeface="DejaVu Sans"/>
              </a:rPr>
              <a:t>L</a:t>
            </a:r>
            <a:r>
              <a:rPr b="0" lang="en-US" sz="2400" spc="-1" strike="noStrike">
                <a:solidFill>
                  <a:srgbClr val="232b34"/>
                </a:solidFill>
                <a:latin typeface="Aptos"/>
                <a:ea typeface="DejaVu Sans"/>
              </a:rPr>
              <a:t>ooking at the essential characteristics of cloud computing – on-demand self-service, broad net-work access, resource pooling, rapid elasticity, and measured service – it is necessary as, </a:t>
            </a:r>
            <a:endParaRPr b="0" lang="en-IN" sz="2400" spc="-1" strike="noStrike">
              <a:latin typeface="Arial"/>
            </a:endParaRPr>
          </a:p>
          <a:p>
            <a:pPr>
              <a:lnSpc>
                <a:spcPct val="108000"/>
              </a:lnSpc>
              <a:spcAft>
                <a:spcPts val="601"/>
              </a:spcAft>
            </a:pPr>
            <a:endParaRPr b="0" lang="en-IN" sz="2400" spc="-1" strike="noStrike">
              <a:latin typeface="Arial"/>
            </a:endParaRPr>
          </a:p>
          <a:p>
            <a:pPr marL="216000" indent="-214920">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Infrastructure Automation, Virtualization, and Service Management are fundamental building blocks for Private Cloud.</a:t>
            </a:r>
            <a:endParaRPr b="0" lang="en-IN" sz="2400" spc="-1" strike="noStrike">
              <a:latin typeface="Arial"/>
            </a:endParaRPr>
          </a:p>
        </p:txBody>
      </p:sp>
      <p:sp>
        <p:nvSpPr>
          <p:cNvPr id="22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7E0C3924-0C38-45FD-809D-ACA27A1CF1B7}"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27"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8"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29"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11</a:t>
            </a:r>
            <a:endParaRPr b="0" lang="en-IN" sz="1600" spc="-1" strike="noStrike">
              <a:latin typeface="Arial"/>
            </a:endParaRPr>
          </a:p>
        </p:txBody>
      </p:sp>
      <p:sp>
        <p:nvSpPr>
          <p:cNvPr id="230"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1"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2"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11</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3"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Building Blocks</a:t>
            </a:r>
            <a:endParaRPr b="0" lang="en-IN" sz="2800" spc="-1" strike="noStrike">
              <a:latin typeface="Arial"/>
            </a:endParaRPr>
          </a:p>
        </p:txBody>
      </p:sp>
      <p:sp>
        <p:nvSpPr>
          <p:cNvPr id="234"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marL="216000" indent="-214920" algn="just">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Cloud Service Management – by providing a set of business focused and policy-driven services, this  delivers the on-demand self-service .</a:t>
            </a: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Infrastructure Automation(PHYSICAL OR HARDWARE LAYER)</a:t>
            </a:r>
            <a:endParaRPr b="0" lang="en-IN" sz="2400" spc="-1" strike="noStrike">
              <a:latin typeface="Arial"/>
            </a:endParaRPr>
          </a:p>
          <a:p>
            <a:pPr marL="216000" indent="-214920" algn="just">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It includes data center facility and mechanical systems as well as storage ,networks and computing infrastructure.</a:t>
            </a:r>
            <a:endParaRPr b="0" lang="en-IN" sz="2400" spc="-1" strike="noStrike">
              <a:latin typeface="Arial"/>
            </a:endParaRPr>
          </a:p>
          <a:p>
            <a:pPr marL="216000" indent="-214920" algn="just">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Each of these elements must provide enabling management interfaces to interact with higher levels of architecture. </a:t>
            </a:r>
            <a:endParaRPr b="0" lang="en-IN" sz="2400" spc="-1" strike="noStrike">
              <a:latin typeface="Arial"/>
            </a:endParaRPr>
          </a:p>
          <a:p>
            <a:pPr marL="216000" indent="-214920" algn="just">
              <a:lnSpc>
                <a:spcPct val="108000"/>
              </a:lnSpc>
              <a:spcAft>
                <a:spcPts val="601"/>
              </a:spcAft>
              <a:buClr>
                <a:srgbClr val="ffffff"/>
              </a:buClr>
              <a:buSzPct val="65000"/>
              <a:buFont typeface="Wingdings 2" charset="2"/>
              <a:buChar char=""/>
            </a:pPr>
            <a:r>
              <a:rPr b="0" lang="en-US" sz="2400" spc="-1" strike="noStrike">
                <a:solidFill>
                  <a:srgbClr val="232b34"/>
                </a:solidFill>
                <a:latin typeface="Aptos"/>
                <a:ea typeface="DejaVu Sans"/>
              </a:rPr>
              <a:t>HP, Dell are partners providing integrated and validated solutions for the hardware layer.</a:t>
            </a:r>
            <a:endParaRPr b="0" lang="en-IN" sz="2400" spc="-1" strike="noStrike">
              <a:latin typeface="Arial"/>
            </a:endParaRPr>
          </a:p>
        </p:txBody>
      </p:sp>
      <p:sp>
        <p:nvSpPr>
          <p:cNvPr id="235"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09887197-4E3A-467C-BD47-D38427535234}"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36"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7"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38"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12</a:t>
            </a:r>
            <a:endParaRPr b="0" lang="en-IN" sz="1600" spc="-1" strike="noStrike">
              <a:latin typeface="Arial"/>
            </a:endParaRPr>
          </a:p>
        </p:txBody>
      </p:sp>
      <p:sp>
        <p:nvSpPr>
          <p:cNvPr id="239"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0"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12</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1"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Virtualization Layer</a:t>
            </a:r>
            <a:endParaRPr b="0" lang="en-IN" sz="2800" spc="-1" strike="noStrike">
              <a:latin typeface="Arial"/>
            </a:endParaRPr>
          </a:p>
        </p:txBody>
      </p:sp>
      <p:sp>
        <p:nvSpPr>
          <p:cNvPr id="242" name="CustomShape 2"/>
          <p:cNvSpPr/>
          <p:nvPr/>
        </p:nvSpPr>
        <p:spPr>
          <a:xfrm>
            <a:off x="167760" y="692640"/>
            <a:ext cx="9574200" cy="4975560"/>
          </a:xfrm>
          <a:prstGeom prst="rect">
            <a:avLst/>
          </a:prstGeom>
          <a:noFill/>
          <a:ln>
            <a:noFill/>
          </a:ln>
        </p:spPr>
        <p:style>
          <a:lnRef idx="0"/>
          <a:fillRef idx="0"/>
          <a:effectRef idx="0"/>
          <a:fontRef idx="minor"/>
        </p:style>
        <p:txBody>
          <a:bodyPr lIns="50760" rIns="50760" tIns="25560" bIns="25560">
            <a:noAutofit/>
          </a:bodyPr>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Helps us o achieve several of the essential characteristics such as resource pooling.</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1" lang="en-US" sz="2400" spc="-1" strike="noStrike">
                <a:solidFill>
                  <a:srgbClr val="232b34"/>
                </a:solidFill>
                <a:latin typeface="Aptos"/>
                <a:ea typeface="DejaVu Sans"/>
              </a:rPr>
              <a:t>Benefits</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On-Demand Service Provisioning / Self-service is a primary feature of a private cloud environment. Users should be able to deploy new services on their own, or at least with minimal guidance from IT infrastructure administrators.</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Multi-Tenancy – With multi-tenancy your private cloud can securely support different computing environment .</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Simple Resource Scaling – As your environment grows you will have to add more resources such as  RAM and storage.</a:t>
            </a:r>
            <a:endParaRPr b="0" lang="en-IN" sz="2400" spc="-1" strike="noStrike">
              <a:latin typeface="Arial"/>
            </a:endParaRPr>
          </a:p>
        </p:txBody>
      </p:sp>
      <p:sp>
        <p:nvSpPr>
          <p:cNvPr id="243"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44A08130-1700-4198-B577-D11D3F76DAED}"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44"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5"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6"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13</a:t>
            </a:r>
            <a:endParaRPr b="0" lang="en-IN" sz="1600" spc="-1" strike="noStrike">
              <a:latin typeface="Arial"/>
            </a:endParaRPr>
          </a:p>
        </p:txBody>
      </p:sp>
      <p:sp>
        <p:nvSpPr>
          <p:cNvPr id="247"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48"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13</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49" name="CustomShape 1"/>
          <p:cNvSpPr/>
          <p:nvPr/>
        </p:nvSpPr>
        <p:spPr>
          <a:xfrm>
            <a:off x="503640" y="30600"/>
            <a:ext cx="9070200" cy="84924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Building Blocks of Private Cloud</a:t>
            </a:r>
            <a:endParaRPr b="0" lang="en-IN" sz="2800" spc="-1" strike="noStrike">
              <a:latin typeface="Arial"/>
            </a:endParaRPr>
          </a:p>
        </p:txBody>
      </p:sp>
      <p:sp>
        <p:nvSpPr>
          <p:cNvPr id="250"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EAB762AE-8A41-4662-8C85-FA6C12D4A15F}"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251" name="Picture 2_1" descr=""/>
          <p:cNvPicPr/>
          <p:nvPr/>
        </p:nvPicPr>
        <p:blipFill>
          <a:blip r:embed="rId1"/>
          <a:stretch/>
        </p:blipFill>
        <p:spPr>
          <a:xfrm>
            <a:off x="216000" y="1134000"/>
            <a:ext cx="9719640" cy="4238640"/>
          </a:xfrm>
          <a:prstGeom prst="rect">
            <a:avLst/>
          </a:prstGeom>
          <a:ln>
            <a:noFill/>
          </a:ln>
        </p:spPr>
      </p:pic>
      <p:sp>
        <p:nvSpPr>
          <p:cNvPr id="252"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3"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4"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14</a:t>
            </a:r>
            <a:endParaRPr b="0" lang="en-IN" sz="1600" spc="-1" strike="noStrike">
              <a:latin typeface="Arial"/>
            </a:endParaRPr>
          </a:p>
        </p:txBody>
      </p:sp>
      <p:sp>
        <p:nvSpPr>
          <p:cNvPr id="255" name="CustomShape 6"/>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6"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57"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14</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8"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Characteristics of Private Cloud </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259" name="CustomShape 2"/>
          <p:cNvSpPr/>
          <p:nvPr/>
        </p:nvSpPr>
        <p:spPr>
          <a:xfrm>
            <a:off x="587880" y="630000"/>
            <a:ext cx="9070200" cy="3891960"/>
          </a:xfrm>
          <a:prstGeom prst="rect">
            <a:avLst/>
          </a:prstGeom>
          <a:noFill/>
          <a:ln>
            <a:noFill/>
          </a:ln>
        </p:spPr>
        <p:style>
          <a:lnRef idx="0"/>
          <a:fillRef idx="0"/>
          <a:effectRef idx="0"/>
          <a:fontRef idx="minor"/>
        </p:style>
        <p:txBody>
          <a:bodyPr lIns="50760" rIns="50760" tIns="25560" bIns="25560">
            <a:noAutofit/>
          </a:bodyPr>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It is a standardized solution. </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Offers highest degree of virtualization. </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Possible to restrict data to a group. </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Possible to define the quality of end service.</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Need-based pricing </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High customizability </a:t>
            </a:r>
            <a:endParaRPr b="0" lang="en-IN" sz="2400" spc="-1" strike="noStrike">
              <a:latin typeface="Arial"/>
            </a:endParaRPr>
          </a:p>
          <a:p>
            <a:pPr marL="216000" indent="-214920">
              <a:lnSpc>
                <a:spcPct val="108000"/>
              </a:lnSpc>
              <a:spcAft>
                <a:spcPts val="601"/>
              </a:spcAft>
              <a:buClr>
                <a:srgbClr val="000000"/>
              </a:buClr>
              <a:buFont typeface="StarSymbol"/>
              <a:buAutoNum type="arabicParenR"/>
            </a:pPr>
            <a:r>
              <a:rPr b="0" lang="en-US" sz="2400" spc="-1" strike="noStrike">
                <a:solidFill>
                  <a:srgbClr val="232b34"/>
                </a:solidFill>
                <a:latin typeface="Aptos"/>
                <a:ea typeface="DejaVu Sans"/>
              </a:rPr>
              <a:t>Internal security  </a:t>
            </a:r>
            <a:endParaRPr b="0" lang="en-IN" sz="2400" spc="-1" strike="noStrike">
              <a:latin typeface="Arial"/>
            </a:endParaRPr>
          </a:p>
        </p:txBody>
      </p:sp>
      <p:sp>
        <p:nvSpPr>
          <p:cNvPr id="260"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CAD4C4E5-7654-454B-809E-963B9AC5A3DE}"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61"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2"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3"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15</a:t>
            </a:r>
            <a:endParaRPr b="0" lang="en-IN" sz="1600" spc="-1" strike="noStrike">
              <a:latin typeface="Arial"/>
            </a:endParaRPr>
          </a:p>
        </p:txBody>
      </p:sp>
      <p:sp>
        <p:nvSpPr>
          <p:cNvPr id="264"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5"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66"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15</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67"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Challenges in Private Cloud</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268" name="CustomShape 2"/>
          <p:cNvSpPr/>
          <p:nvPr/>
        </p:nvSpPr>
        <p:spPr>
          <a:xfrm>
            <a:off x="503640" y="692640"/>
            <a:ext cx="9070200" cy="452196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1" lang="en-US" sz="2400" spc="-1" strike="noStrike">
                <a:solidFill>
                  <a:srgbClr val="232b34"/>
                </a:solidFill>
                <a:latin typeface="Aptos"/>
                <a:ea typeface="DejaVu Sans"/>
              </a:rPr>
              <a:t>Huge investments</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The cloud helps saving big amounts of money – this is one of the biggest benefits of cloud computing. However, you first need to get to this place. </a:t>
            </a:r>
            <a:endParaRPr b="0" lang="en-IN" sz="2400" spc="-1" strike="noStrike">
              <a:latin typeface="Arial"/>
            </a:endParaRPr>
          </a:p>
          <a:p>
            <a:pPr algn="just">
              <a:lnSpc>
                <a:spcPct val="108000"/>
              </a:lnSpc>
              <a:spcAft>
                <a:spcPts val="601"/>
              </a:spcAft>
            </a:pP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 </a:t>
            </a:r>
            <a:r>
              <a:rPr b="0" lang="en-US" sz="2400" spc="-1" strike="noStrike">
                <a:solidFill>
                  <a:srgbClr val="232b34"/>
                </a:solidFill>
                <a:latin typeface="Aptos"/>
                <a:ea typeface="DejaVu Sans"/>
              </a:rPr>
              <a:t>Shared cloud solutions do not require additional hardware and software, this is not true for private clouds, there will be investment into  IT infrastructure, into space to setup the infrastructure and large amounts of bandwidth to access that infrastructure from remote locations. </a:t>
            </a:r>
            <a:endParaRPr b="0" lang="en-IN" sz="2400" spc="-1" strike="noStrike">
              <a:latin typeface="Arial"/>
            </a:endParaRPr>
          </a:p>
        </p:txBody>
      </p:sp>
      <p:sp>
        <p:nvSpPr>
          <p:cNvPr id="269"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82E09084-FD7C-40B3-AD50-A5A7DE2906B4}"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70"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1"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2"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16</a:t>
            </a:r>
            <a:endParaRPr b="0" lang="en-IN" sz="1600" spc="-1" strike="noStrike">
              <a:latin typeface="Arial"/>
            </a:endParaRPr>
          </a:p>
        </p:txBody>
      </p:sp>
      <p:sp>
        <p:nvSpPr>
          <p:cNvPr id="273"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4"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75"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16</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6"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Challenges in Private Cloud</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277" name="CustomShape 2"/>
          <p:cNvSpPr/>
          <p:nvPr/>
        </p:nvSpPr>
        <p:spPr>
          <a:xfrm>
            <a:off x="503640" y="692640"/>
            <a:ext cx="9070200" cy="4521960"/>
          </a:xfrm>
          <a:prstGeom prst="rect">
            <a:avLst/>
          </a:prstGeom>
          <a:noFill/>
          <a:ln>
            <a:noFill/>
          </a:ln>
        </p:spPr>
        <p:style>
          <a:lnRef idx="0"/>
          <a:fillRef idx="0"/>
          <a:effectRef idx="0"/>
          <a:fontRef idx="minor"/>
        </p:style>
        <p:txBody>
          <a:bodyPr lIns="50760" rIns="50760" tIns="25560" bIns="25560">
            <a:noAutofit/>
          </a:bodyPr>
          <a:p>
            <a:pPr>
              <a:lnSpc>
                <a:spcPct val="108000"/>
              </a:lnSpc>
              <a:spcAft>
                <a:spcPts val="601"/>
              </a:spcAft>
            </a:pPr>
            <a:r>
              <a:rPr b="1" lang="en-US" sz="2400" spc="-1" strike="noStrike">
                <a:solidFill>
                  <a:srgbClr val="232b34"/>
                </a:solidFill>
                <a:latin typeface="Aptos"/>
                <a:ea typeface="DejaVu Sans"/>
              </a:rPr>
              <a:t>Huge investments</a:t>
            </a:r>
            <a:endParaRPr b="0" lang="en-IN" sz="2400" spc="-1" strike="noStrike">
              <a:latin typeface="Arial"/>
            </a:endParaRPr>
          </a:p>
          <a:p>
            <a:pPr marL="216000" indent="-214920" algn="just">
              <a:lnSpc>
                <a:spcPct val="108000"/>
              </a:lnSpc>
              <a:spcAft>
                <a:spcPts val="601"/>
              </a:spcAft>
              <a:buClr>
                <a:srgbClr val="000000"/>
              </a:buClr>
              <a:buSzPct val="65000"/>
              <a:buFont typeface="Wingdings 2" charset="2"/>
              <a:buChar char=""/>
            </a:pPr>
            <a:r>
              <a:rPr b="0" lang="en-US" sz="2400" spc="-1" strike="noStrike">
                <a:solidFill>
                  <a:srgbClr val="232b34"/>
                </a:solidFill>
                <a:latin typeface="Aptos"/>
                <a:ea typeface="DejaVu Sans"/>
              </a:rPr>
              <a:t>At the same time, the business and the IT users have to be trained for this initiative, which adds additional costs.</a:t>
            </a:r>
            <a:endParaRPr b="0" lang="en-IN" sz="2400" spc="-1" strike="noStrike">
              <a:latin typeface="Arial"/>
            </a:endParaRPr>
          </a:p>
          <a:p>
            <a:pPr algn="just">
              <a:lnSpc>
                <a:spcPct val="108000"/>
              </a:lnSpc>
              <a:spcAft>
                <a:spcPts val="601"/>
              </a:spcAft>
            </a:pPr>
            <a:endParaRPr b="0" lang="en-IN" sz="2400" spc="-1" strike="noStrike">
              <a:latin typeface="Arial"/>
            </a:endParaRPr>
          </a:p>
          <a:p>
            <a:pPr algn="just">
              <a:lnSpc>
                <a:spcPct val="108000"/>
              </a:lnSpc>
              <a:spcAft>
                <a:spcPts val="601"/>
              </a:spcAft>
            </a:pPr>
            <a:r>
              <a:rPr b="0" lang="en-US" sz="2400" spc="-1" strike="noStrike">
                <a:solidFill>
                  <a:srgbClr val="232b34"/>
                </a:solidFill>
                <a:latin typeface="Aptos"/>
                <a:ea typeface="DejaVu Sans"/>
              </a:rPr>
              <a:t>This is why, it’s recommended, if not necessary, that companies analyze the long term savings and infrastructure requirements before implementing a private cloud.</a:t>
            </a:r>
            <a:endParaRPr b="0" lang="en-IN" sz="2400" spc="-1" strike="noStrike">
              <a:latin typeface="Arial"/>
            </a:endParaRPr>
          </a:p>
          <a:p>
            <a:pPr>
              <a:lnSpc>
                <a:spcPct val="108000"/>
              </a:lnSpc>
              <a:spcAft>
                <a:spcPts val="601"/>
              </a:spcAft>
            </a:pPr>
            <a:endParaRPr b="0" lang="en-IN" sz="2400" spc="-1" strike="noStrike">
              <a:latin typeface="Arial"/>
            </a:endParaRPr>
          </a:p>
        </p:txBody>
      </p:sp>
      <p:sp>
        <p:nvSpPr>
          <p:cNvPr id="278"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ACAF1597-2B7C-4835-8AAF-D9380C3F1A20}"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79"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0"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1"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16</a:t>
            </a:r>
            <a:endParaRPr b="0" lang="en-IN" sz="1600" spc="-1" strike="noStrike">
              <a:latin typeface="Arial"/>
            </a:endParaRPr>
          </a:p>
        </p:txBody>
      </p:sp>
      <p:sp>
        <p:nvSpPr>
          <p:cNvPr id="282"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3"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4"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16</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5"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Challenges in Private Cloud</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286" name="CustomShape 2"/>
          <p:cNvSpPr/>
          <p:nvPr/>
        </p:nvSpPr>
        <p:spPr>
          <a:xfrm>
            <a:off x="503640" y="692640"/>
            <a:ext cx="9070200" cy="45219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IT Reluctance</a:t>
            </a: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The IT department usually handles the IT operations in a company. Once the private cloud has been implemented, less involvement of IT resources are needed. </a:t>
            </a:r>
            <a:endParaRPr b="0" lang="en-IN" sz="2400" spc="-1" strike="noStrike">
              <a:latin typeface="Arial"/>
            </a:endParaRPr>
          </a:p>
          <a:p>
            <a:pPr algn="just">
              <a:lnSpc>
                <a:spcPct val="108000"/>
              </a:lnSpc>
              <a:spcAft>
                <a:spcPts val="601"/>
              </a:spcAft>
            </a:pP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 </a:t>
            </a:r>
            <a:r>
              <a:rPr b="0" lang="en-US" sz="2400" spc="-1" strike="noStrike">
                <a:solidFill>
                  <a:srgbClr val="232b34"/>
                </a:solidFill>
                <a:latin typeface="Aptos"/>
                <a:ea typeface="DejaVu Sans"/>
              </a:rPr>
              <a:t>During the migration, IT will also be responsible for working with finance, administrative departments, security, backup and disaster recovery departments when migrating over to a private cloud.</a:t>
            </a:r>
            <a:endParaRPr b="0" lang="en-IN" sz="2400" spc="-1" strike="noStrike">
              <a:latin typeface="Arial"/>
            </a:endParaRPr>
          </a:p>
          <a:p>
            <a:pPr algn="just">
              <a:lnSpc>
                <a:spcPct val="108000"/>
              </a:lnSpc>
              <a:spcAft>
                <a:spcPts val="601"/>
              </a:spcAft>
            </a:pP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 </a:t>
            </a:r>
            <a:endParaRPr b="0" lang="en-IN" sz="2400" spc="-1" strike="noStrike">
              <a:latin typeface="Arial"/>
            </a:endParaRPr>
          </a:p>
        </p:txBody>
      </p:sp>
      <p:sp>
        <p:nvSpPr>
          <p:cNvPr id="287"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6BBFB291-ACAB-42AD-BC49-7548B1575560}"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88"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89"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0"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17</a:t>
            </a:r>
            <a:endParaRPr b="0" lang="en-IN" sz="1600" spc="-1" strike="noStrike">
              <a:latin typeface="Arial"/>
            </a:endParaRPr>
          </a:p>
        </p:txBody>
      </p:sp>
      <p:sp>
        <p:nvSpPr>
          <p:cNvPr id="291"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2"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3"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17</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94"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Challenges in Private Cloud</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295" name="CustomShape 2"/>
          <p:cNvSpPr/>
          <p:nvPr/>
        </p:nvSpPr>
        <p:spPr>
          <a:xfrm>
            <a:off x="503640" y="692640"/>
            <a:ext cx="9070200" cy="45219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IT Reluctance</a:t>
            </a: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So many changes and the unknowns of their role going forward usually make people from IT departments reluctant and it’s easy to see why. </a:t>
            </a:r>
            <a:endParaRPr b="0" lang="en-IN" sz="2400" spc="-1" strike="noStrike">
              <a:latin typeface="Arial"/>
            </a:endParaRPr>
          </a:p>
          <a:p>
            <a:pPr algn="just">
              <a:lnSpc>
                <a:spcPct val="108000"/>
              </a:lnSpc>
              <a:spcAft>
                <a:spcPts val="601"/>
              </a:spcAft>
            </a:pP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To facilitate this process, the management team should be  involved with IT early, to explain the benefits of the migration and work on cross training the IT team to help with core competency initiatives that benefit the companies bottom line.</a:t>
            </a:r>
            <a:endParaRPr b="0" lang="en-IN" sz="2400" spc="-1" strike="noStrike">
              <a:latin typeface="Arial"/>
            </a:endParaRPr>
          </a:p>
          <a:p>
            <a:pPr algn="just">
              <a:lnSpc>
                <a:spcPct val="108000"/>
              </a:lnSpc>
              <a:spcAft>
                <a:spcPts val="601"/>
              </a:spcAft>
            </a:pPr>
            <a:endParaRPr b="0" lang="en-IN" sz="2400" spc="-1" strike="noStrike">
              <a:latin typeface="Arial"/>
            </a:endParaRPr>
          </a:p>
        </p:txBody>
      </p:sp>
      <p:sp>
        <p:nvSpPr>
          <p:cNvPr id="296"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C88E9210-3CD0-43A2-99D4-62066C17380B}"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297"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8"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299"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17</a:t>
            </a:r>
            <a:endParaRPr b="0" lang="en-IN" sz="1600" spc="-1" strike="noStrike">
              <a:latin typeface="Arial"/>
            </a:endParaRPr>
          </a:p>
        </p:txBody>
      </p:sp>
      <p:sp>
        <p:nvSpPr>
          <p:cNvPr id="300"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1"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2"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17</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03"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nSpc>
                <a:spcPct val="108000"/>
              </a:lnSpc>
              <a:spcAft>
                <a:spcPts val="601"/>
              </a:spcAft>
            </a:pPr>
            <a:r>
              <a:rPr b="1" lang="en-US" sz="2800" spc="-1" strike="noStrike">
                <a:solidFill>
                  <a:srgbClr val="142a4a"/>
                </a:solidFill>
                <a:latin typeface="Aptos"/>
                <a:ea typeface="DejaVu Sans"/>
              </a:rPr>
              <a:t>Challenges in Private Cloud</a:t>
            </a:r>
            <a:endParaRPr b="0" lang="en-IN" sz="2800" spc="-1" strike="noStrike">
              <a:latin typeface="Arial"/>
            </a:endParaRPr>
          </a:p>
          <a:p>
            <a:pPr algn="ctr">
              <a:lnSpc>
                <a:spcPct val="108000"/>
              </a:lnSpc>
              <a:spcAft>
                <a:spcPts val="601"/>
              </a:spcAft>
            </a:pPr>
            <a:endParaRPr b="0" lang="en-IN" sz="2800" spc="-1" strike="noStrike">
              <a:latin typeface="Arial"/>
            </a:endParaRPr>
          </a:p>
        </p:txBody>
      </p:sp>
      <p:sp>
        <p:nvSpPr>
          <p:cNvPr id="304" name="CustomShape 2"/>
          <p:cNvSpPr/>
          <p:nvPr/>
        </p:nvSpPr>
        <p:spPr>
          <a:xfrm>
            <a:off x="503640" y="692640"/>
            <a:ext cx="9070200" cy="4521960"/>
          </a:xfrm>
          <a:prstGeom prst="rect">
            <a:avLst/>
          </a:prstGeom>
          <a:noFill/>
          <a:ln>
            <a:noFill/>
          </a:ln>
        </p:spPr>
        <p:style>
          <a:lnRef idx="0"/>
          <a:fillRef idx="0"/>
          <a:effectRef idx="0"/>
          <a:fontRef idx="minor"/>
        </p:style>
        <p:txBody>
          <a:bodyPr lIns="50760" rIns="50760" tIns="25560" bIns="25560">
            <a:noAutofit/>
          </a:bodyPr>
          <a:p>
            <a:pPr algn="just">
              <a:lnSpc>
                <a:spcPct val="108000"/>
              </a:lnSpc>
              <a:spcAft>
                <a:spcPts val="601"/>
              </a:spcAft>
            </a:pPr>
            <a:r>
              <a:rPr b="1" lang="en-US" sz="2400" spc="-1" strike="noStrike">
                <a:solidFill>
                  <a:srgbClr val="232b34"/>
                </a:solidFill>
                <a:latin typeface="Aptos"/>
                <a:ea typeface="DejaVu Sans"/>
              </a:rPr>
              <a:t>Defining the IT cost model</a:t>
            </a: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This is a very important issue. Once the cloud services have been implemented, how will the company allocate costs back to  departments?  Will it be time based or resource usage based. </a:t>
            </a:r>
            <a:endParaRPr b="0" lang="en-IN" sz="2400" spc="-1" strike="noStrike">
              <a:latin typeface="Arial"/>
            </a:endParaRPr>
          </a:p>
          <a:p>
            <a:pPr marL="216000" indent="-214920" algn="just">
              <a:lnSpc>
                <a:spcPct val="108000"/>
              </a:lnSpc>
              <a:spcAft>
                <a:spcPts val="601"/>
              </a:spcAft>
              <a:buClr>
                <a:srgbClr val="000000"/>
              </a:buClr>
              <a:buSzPct val="65000"/>
              <a:buFont typeface="Wingdings" charset="2"/>
              <a:buChar char=""/>
            </a:pPr>
            <a:r>
              <a:rPr b="0" lang="en-US" sz="2400" spc="-1" strike="noStrike">
                <a:solidFill>
                  <a:srgbClr val="232b34"/>
                </a:solidFill>
                <a:latin typeface="Aptos"/>
                <a:ea typeface="DejaVu Sans"/>
              </a:rPr>
              <a:t>IT will be part of defining a clear cost model.</a:t>
            </a:r>
            <a:endParaRPr b="0" lang="en-IN" sz="2400" spc="-1" strike="noStrike">
              <a:latin typeface="Arial"/>
            </a:endParaRPr>
          </a:p>
          <a:p>
            <a:pPr algn="just">
              <a:lnSpc>
                <a:spcPct val="108000"/>
              </a:lnSpc>
              <a:spcAft>
                <a:spcPts val="601"/>
              </a:spcAft>
            </a:pPr>
            <a:endParaRPr b="0" lang="en-IN" sz="2400" spc="-1" strike="noStrike">
              <a:latin typeface="Arial"/>
            </a:endParaRPr>
          </a:p>
        </p:txBody>
      </p:sp>
      <p:sp>
        <p:nvSpPr>
          <p:cNvPr id="305" name="CustomShape 3"/>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65354A50-CD7E-459D-9927-56815012F2AD}" type="slidenum">
              <a:rPr b="0" lang="en-IN" sz="1200" spc="-1" strike="noStrike">
                <a:solidFill>
                  <a:srgbClr val="bcbcbc"/>
                </a:solidFill>
                <a:latin typeface="Book Antiqua"/>
                <a:ea typeface="DejaVu Sans"/>
              </a:rPr>
              <a:t>&lt;number&gt;</a:t>
            </a:fld>
            <a:endParaRPr b="0" lang="en-IN" sz="1200" spc="-1" strike="noStrike">
              <a:latin typeface="Arial"/>
            </a:endParaRPr>
          </a:p>
        </p:txBody>
      </p:sp>
      <p:sp>
        <p:nvSpPr>
          <p:cNvPr id="306" name="CustomShape 4"/>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7" name="CustomShape 5"/>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08" name="CustomShape 6"/>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18</a:t>
            </a:r>
            <a:endParaRPr b="0" lang="en-IN" sz="1600" spc="-1" strike="noStrike">
              <a:latin typeface="Arial"/>
            </a:endParaRPr>
          </a:p>
        </p:txBody>
      </p:sp>
      <p:sp>
        <p:nvSpPr>
          <p:cNvPr id="309" name="CustomShape 7"/>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0" name="CustomShape 8"/>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1" name="CustomShape 9"/>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18</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2"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PUBLIC CLOUD VS PRIVATE CLOUD</a:t>
            </a:r>
            <a:endParaRPr b="0" lang="en-IN" sz="2800" spc="-1" strike="noStrike">
              <a:latin typeface="Arial"/>
            </a:endParaRPr>
          </a:p>
        </p:txBody>
      </p:sp>
      <p:sp>
        <p:nvSpPr>
          <p:cNvPr id="313"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A62FA949-32D9-47C7-B2A6-4A465EBDFE0A}"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314" name="Picture_5" descr=""/>
          <p:cNvPicPr/>
          <p:nvPr/>
        </p:nvPicPr>
        <p:blipFill>
          <a:blip r:embed="rId1"/>
          <a:stretch/>
        </p:blipFill>
        <p:spPr>
          <a:xfrm>
            <a:off x="756000" y="1070640"/>
            <a:ext cx="8818200" cy="4219560"/>
          </a:xfrm>
          <a:prstGeom prst="rect">
            <a:avLst/>
          </a:prstGeom>
          <a:ln w="9360">
            <a:noFill/>
          </a:ln>
        </p:spPr>
      </p:pic>
      <p:sp>
        <p:nvSpPr>
          <p:cNvPr id="315"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6"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7"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19</a:t>
            </a:r>
            <a:endParaRPr b="0" lang="en-IN" sz="1600" spc="-1" strike="noStrike">
              <a:latin typeface="Arial"/>
            </a:endParaRPr>
          </a:p>
        </p:txBody>
      </p:sp>
      <p:sp>
        <p:nvSpPr>
          <p:cNvPr id="318" name="CustomShape 6"/>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19"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0"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19</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1"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PUBLIC CLOUD VS PRIVATE CLOUD</a:t>
            </a:r>
            <a:endParaRPr b="0" lang="en-IN" sz="2800" spc="-1" strike="noStrike">
              <a:latin typeface="Arial"/>
            </a:endParaRPr>
          </a:p>
        </p:txBody>
      </p:sp>
      <p:sp>
        <p:nvSpPr>
          <p:cNvPr id="322"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0B0F53E2-3A0E-4859-8C13-C6033CE6751A}"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323" name="Picture_4" descr=""/>
          <p:cNvPicPr/>
          <p:nvPr/>
        </p:nvPicPr>
        <p:blipFill>
          <a:blip r:embed="rId1"/>
          <a:stretch/>
        </p:blipFill>
        <p:spPr>
          <a:xfrm>
            <a:off x="1181160" y="1323000"/>
            <a:ext cx="7715520" cy="3904200"/>
          </a:xfrm>
          <a:prstGeom prst="rect">
            <a:avLst/>
          </a:prstGeom>
          <a:ln w="9360">
            <a:noFill/>
          </a:ln>
        </p:spPr>
      </p:pic>
      <p:sp>
        <p:nvSpPr>
          <p:cNvPr id="324"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5"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6"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20</a:t>
            </a:r>
            <a:endParaRPr b="0" lang="en-IN" sz="1600" spc="-1" strike="noStrike">
              <a:latin typeface="Arial"/>
            </a:endParaRPr>
          </a:p>
        </p:txBody>
      </p:sp>
      <p:sp>
        <p:nvSpPr>
          <p:cNvPr id="327" name="CustomShape 6"/>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8"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29"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20</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30" name="CustomShape 1"/>
          <p:cNvSpPr/>
          <p:nvPr/>
        </p:nvSpPr>
        <p:spPr>
          <a:xfrm>
            <a:off x="503640" y="226800"/>
            <a:ext cx="9070200" cy="943560"/>
          </a:xfrm>
          <a:prstGeom prst="rect">
            <a:avLst/>
          </a:prstGeom>
          <a:noFill/>
          <a:ln>
            <a:noFill/>
          </a:ln>
        </p:spPr>
        <p:style>
          <a:lnRef idx="0"/>
          <a:fillRef idx="0"/>
          <a:effectRef idx="0"/>
          <a:fontRef idx="minor"/>
        </p:style>
        <p:txBody>
          <a:bodyPr lIns="50760" rIns="50760" tIns="25560" bIns="25560" anchor="ctr">
            <a:noAutofit/>
          </a:bodyPr>
          <a:p>
            <a:pPr algn="ctr">
              <a:lnSpc>
                <a:spcPct val="108000"/>
              </a:lnSpc>
              <a:spcAft>
                <a:spcPts val="601"/>
              </a:spcAft>
            </a:pPr>
            <a:r>
              <a:rPr b="1" lang="en-US" sz="2800" spc="-1" strike="noStrike">
                <a:solidFill>
                  <a:srgbClr val="142a4a"/>
                </a:solidFill>
                <a:latin typeface="Aptos"/>
                <a:ea typeface="DejaVu Sans"/>
              </a:rPr>
              <a:t>PUBLIC CLOUD VS PRIVATE CLOUD</a:t>
            </a:r>
            <a:endParaRPr b="0" lang="en-IN" sz="2800" spc="-1" strike="noStrike">
              <a:latin typeface="Arial"/>
            </a:endParaRPr>
          </a:p>
        </p:txBody>
      </p:sp>
      <p:sp>
        <p:nvSpPr>
          <p:cNvPr id="331" name="CustomShape 2"/>
          <p:cNvSpPr/>
          <p:nvPr/>
        </p:nvSpPr>
        <p:spPr>
          <a:xfrm>
            <a:off x="8735760" y="5304960"/>
            <a:ext cx="838080" cy="300240"/>
          </a:xfrm>
          <a:prstGeom prst="rect">
            <a:avLst/>
          </a:prstGeom>
          <a:noFill/>
          <a:ln>
            <a:noFill/>
          </a:ln>
        </p:spPr>
        <p:style>
          <a:lnRef idx="0"/>
          <a:fillRef idx="0"/>
          <a:effectRef idx="0"/>
          <a:fontRef idx="minor"/>
        </p:style>
        <p:txBody>
          <a:bodyPr lIns="50760" rIns="50760" tIns="25560" bIns="25560" anchor="b">
            <a:noAutofit/>
          </a:bodyPr>
          <a:p>
            <a:pPr algn="r">
              <a:lnSpc>
                <a:spcPct val="108000"/>
              </a:lnSpc>
              <a:spcAft>
                <a:spcPts val="601"/>
              </a:spcAft>
            </a:pPr>
            <a:fld id="{2BAA8D29-2FD1-4557-BB60-A846F23A5B2D}" type="slidenum">
              <a:rPr b="0" lang="en-IN" sz="1200" spc="-1" strike="noStrike">
                <a:solidFill>
                  <a:srgbClr val="bcbcbc"/>
                </a:solidFill>
                <a:latin typeface="Book Antiqua"/>
                <a:ea typeface="DejaVu Sans"/>
              </a:rPr>
              <a:t>&lt;number&gt;</a:t>
            </a:fld>
            <a:endParaRPr b="0" lang="en-IN" sz="1200" spc="-1" strike="noStrike">
              <a:latin typeface="Arial"/>
            </a:endParaRPr>
          </a:p>
        </p:txBody>
      </p:sp>
      <p:pic>
        <p:nvPicPr>
          <p:cNvPr id="332" name="Picture_7" descr=""/>
          <p:cNvPicPr/>
          <p:nvPr/>
        </p:nvPicPr>
        <p:blipFill>
          <a:blip r:embed="rId1"/>
          <a:stretch/>
        </p:blipFill>
        <p:spPr>
          <a:xfrm>
            <a:off x="1296720" y="1395000"/>
            <a:ext cx="7484760" cy="3746880"/>
          </a:xfrm>
          <a:prstGeom prst="rect">
            <a:avLst/>
          </a:prstGeom>
          <a:ln w="9360">
            <a:noFill/>
          </a:ln>
        </p:spPr>
      </p:pic>
      <p:sp>
        <p:nvSpPr>
          <p:cNvPr id="333" name="CustomShape 3"/>
          <p:cNvSpPr/>
          <p:nvPr/>
        </p:nvSpPr>
        <p:spPr>
          <a:xfrm>
            <a:off x="0" y="0"/>
            <a:ext cx="10080000" cy="145440"/>
          </a:xfrm>
          <a:prstGeom prst="rect">
            <a:avLst/>
          </a:prstGeom>
          <a:solidFill>
            <a:srgbClr val="142a4a"/>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4" name="CustomShape 4"/>
          <p:cNvSpPr/>
          <p:nvPr/>
        </p:nvSpPr>
        <p:spPr>
          <a:xfrm>
            <a:off x="0" y="5359680"/>
            <a:ext cx="10080000" cy="12960"/>
          </a:xfrm>
          <a:prstGeom prst="rect">
            <a:avLst/>
          </a:prstGeom>
          <a:solidFill>
            <a:srgbClr val="dce4eb"/>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5" name="CustomShape 5"/>
          <p:cNvSpPr/>
          <p:nvPr/>
        </p:nvSpPr>
        <p:spPr>
          <a:xfrm>
            <a:off x="9440640" y="5387040"/>
            <a:ext cx="456480" cy="294120"/>
          </a:xfrm>
          <a:prstGeom prst="rect">
            <a:avLst/>
          </a:prstGeom>
          <a:noFill/>
          <a:ln>
            <a:noFill/>
          </a:ln>
        </p:spPr>
        <p:style>
          <a:lnRef idx="0"/>
          <a:fillRef idx="0"/>
          <a:effectRef idx="0"/>
          <a:fontRef idx="minor"/>
        </p:style>
        <p:txBody>
          <a:bodyPr lIns="50760" rIns="50760" tIns="25560" bIns="25560">
            <a:spAutoFit/>
          </a:bodyPr>
          <a:p>
            <a:pPr algn="r">
              <a:lnSpc>
                <a:spcPct val="100000"/>
              </a:lnSpc>
            </a:pPr>
            <a:r>
              <a:rPr b="0" lang="en-IN" sz="1600" spc="-1" strike="noStrike">
                <a:solidFill>
                  <a:srgbClr val="5f6c7a"/>
                </a:solidFill>
                <a:latin typeface="Aptos"/>
                <a:ea typeface="DejaVu Sans"/>
              </a:rPr>
              <a:t>21</a:t>
            </a:r>
            <a:endParaRPr b="0" lang="en-IN" sz="1600" spc="-1" strike="noStrike">
              <a:latin typeface="Arial"/>
            </a:endParaRPr>
          </a:p>
        </p:txBody>
      </p:sp>
      <p:sp>
        <p:nvSpPr>
          <p:cNvPr id="336" name="CustomShape 6"/>
          <p:cNvSpPr/>
          <p:nvPr/>
        </p:nvSpPr>
        <p:spPr>
          <a:xfrm>
            <a:off x="411480" y="1051560"/>
            <a:ext cx="109080" cy="502200"/>
          </a:xfrm>
          <a:prstGeom prst="rect">
            <a:avLst/>
          </a:prstGeom>
          <a:solidFill>
            <a:srgbClr val="1f8987"/>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7" name="CustomShape 7"/>
          <p:cNvSpPr/>
          <p:nvPr/>
        </p:nvSpPr>
        <p:spPr>
          <a:xfrm>
            <a:off x="0" y="5518080"/>
            <a:ext cx="10080000" cy="151560"/>
          </a:xfrm>
          <a:prstGeom prst="rect">
            <a:avLst/>
          </a:prstGeom>
          <a:solidFill>
            <a:srgbClr val="1f4e79"/>
          </a:solidFill>
          <a:ln>
            <a:noFill/>
          </a:ln>
          <a:effectLst>
            <a:outerShdw blurRad="40000" dir="5400000" dist="23040" rotWithShape="0">
              <a:srgbClr val="000000">
                <a:alpha val="35000"/>
              </a:srgbClr>
            </a:outerShdw>
          </a:effectLst>
        </p:spPr>
        <p:style>
          <a:lnRef idx="1">
            <a:schemeClr val="accent1"/>
          </a:lnRef>
          <a:fillRef idx="3">
            <a:schemeClr val="accent1"/>
          </a:fillRef>
          <a:effectRef idx="2">
            <a:schemeClr val="accent1"/>
          </a:effectRef>
          <a:fontRef idx="minor"/>
        </p:style>
      </p:sp>
      <p:sp>
        <p:nvSpPr>
          <p:cNvPr id="338" name="CustomShape 8"/>
          <p:cNvSpPr/>
          <p:nvPr/>
        </p:nvSpPr>
        <p:spPr>
          <a:xfrm>
            <a:off x="9573840" y="5492880"/>
            <a:ext cx="326880" cy="226800"/>
          </a:xfrm>
          <a:prstGeom prst="rect">
            <a:avLst/>
          </a:prstGeom>
          <a:noFill/>
          <a:ln>
            <a:noFill/>
          </a:ln>
        </p:spPr>
        <p:style>
          <a:lnRef idx="0"/>
          <a:fillRef idx="0"/>
          <a:effectRef idx="0"/>
          <a:fontRef idx="minor"/>
        </p:style>
        <p:txBody>
          <a:bodyPr wrap="none" lIns="90000" rIns="90000" tIns="45000" bIns="45000">
            <a:spAutoFit/>
          </a:bodyPr>
          <a:p>
            <a:pPr algn="r">
              <a:lnSpc>
                <a:spcPct val="100000"/>
              </a:lnSpc>
            </a:pPr>
            <a:r>
              <a:rPr b="0" lang="en-IN" sz="900" spc="-1" strike="noStrike">
                <a:solidFill>
                  <a:srgbClr val="ffffff"/>
                </a:solidFill>
                <a:latin typeface="Aptos"/>
                <a:ea typeface="DejaVu Sans"/>
              </a:rPr>
              <a:t>21</a:t>
            </a:r>
            <a:endParaRPr b="0" lang="en-IN" sz="9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12</TotalTime>
  <Application>LibreOffice/6.4.7.2$Linux_X86_64 LibreOffice_project/40$Build-2</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2026-10-07T15:01:20Z</dcterms:created>
  <dc:creator/>
  <dc:description/>
  <dc:language>en-IN</dc:language>
  <cp:lastModifiedBy/>
  <dcterms:modified xsi:type="dcterms:W3CDTF">2026-10-09T12:50:12Z</dcterms:modified>
  <cp:revision>4</cp:revision>
  <dc:subject/>
  <dc:title/>
</cp:coreProperties>
</file>