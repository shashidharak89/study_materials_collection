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00" r:id="rId5"/>
    <p:sldMasterId id="2147483713" r:id="rId6"/>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90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8" name="PlaceHolder 2"/>
          <p:cNvSpPr>
            <a:spLocks noGrp="1"/>
          </p:cNvSpPr>
          <p:nvPr>
            <p:ph type="subTitle"/>
          </p:nvPr>
        </p:nvSpPr>
        <p:spPr>
          <a:xfrm>
            <a:off x="0" y="915840"/>
            <a:ext cx="6626160" cy="506556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0" name="PlaceHolder 2"/>
          <p:cNvSpPr>
            <a:spLocks noGrp="1"/>
          </p:cNvSpPr>
          <p:nvPr>
            <p:ph type="body"/>
          </p:nvPr>
        </p:nvSpPr>
        <p:spPr>
          <a:xfrm>
            <a:off x="0" y="915840"/>
            <a:ext cx="662616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2"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3"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6682320" y="919440"/>
            <a:ext cx="4155120" cy="1174104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7"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8"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9"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1"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2"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3" name="PlaceHolder 4"/>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5"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6"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7" name="PlaceHolder 4"/>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9" name="PlaceHolder 2"/>
          <p:cNvSpPr>
            <a:spLocks noGrp="1"/>
          </p:cNvSpPr>
          <p:nvPr>
            <p:ph type="body"/>
          </p:nvPr>
        </p:nvSpPr>
        <p:spPr>
          <a:xfrm>
            <a:off x="0" y="915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30" name="PlaceHolder 3"/>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32"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33"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34"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35" name="PlaceHolder 5"/>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37" name="PlaceHolder 2"/>
          <p:cNvSpPr>
            <a:spLocks noGrp="1"/>
          </p:cNvSpPr>
          <p:nvPr>
            <p:ph type="body"/>
          </p:nvPr>
        </p:nvSpPr>
        <p:spPr>
          <a:xfrm>
            <a:off x="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38" name="PlaceHolder 3"/>
          <p:cNvSpPr>
            <a:spLocks noGrp="1"/>
          </p:cNvSpPr>
          <p:nvPr>
            <p:ph type="body"/>
          </p:nvPr>
        </p:nvSpPr>
        <p:spPr>
          <a:xfrm>
            <a:off x="224028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39" name="PlaceHolder 4"/>
          <p:cNvSpPr>
            <a:spLocks noGrp="1"/>
          </p:cNvSpPr>
          <p:nvPr>
            <p:ph type="body"/>
          </p:nvPr>
        </p:nvSpPr>
        <p:spPr>
          <a:xfrm>
            <a:off x="448092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40" name="PlaceHolder 5"/>
          <p:cNvSpPr>
            <a:spLocks noGrp="1"/>
          </p:cNvSpPr>
          <p:nvPr>
            <p:ph type="body"/>
          </p:nvPr>
        </p:nvSpPr>
        <p:spPr>
          <a:xfrm>
            <a:off x="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41" name="PlaceHolder 6"/>
          <p:cNvSpPr>
            <a:spLocks noGrp="1"/>
          </p:cNvSpPr>
          <p:nvPr>
            <p:ph type="body"/>
          </p:nvPr>
        </p:nvSpPr>
        <p:spPr>
          <a:xfrm>
            <a:off x="224028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42" name="PlaceHolder 7"/>
          <p:cNvSpPr>
            <a:spLocks noGrp="1"/>
          </p:cNvSpPr>
          <p:nvPr>
            <p:ph type="body"/>
          </p:nvPr>
        </p:nvSpPr>
        <p:spPr>
          <a:xfrm>
            <a:off x="448092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1"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52" name="PlaceHolder 2"/>
          <p:cNvSpPr>
            <a:spLocks noGrp="1"/>
          </p:cNvSpPr>
          <p:nvPr>
            <p:ph type="subTitle"/>
          </p:nvPr>
        </p:nvSpPr>
        <p:spPr>
          <a:xfrm>
            <a:off x="0" y="915840"/>
            <a:ext cx="6626160" cy="506556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54" name="PlaceHolder 2"/>
          <p:cNvSpPr>
            <a:spLocks noGrp="1"/>
          </p:cNvSpPr>
          <p:nvPr>
            <p:ph type="body"/>
          </p:nvPr>
        </p:nvSpPr>
        <p:spPr>
          <a:xfrm>
            <a:off x="0" y="915840"/>
            <a:ext cx="662616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56"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57"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8"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9" name="PlaceHolder 1"/>
          <p:cNvSpPr>
            <a:spLocks noGrp="1"/>
          </p:cNvSpPr>
          <p:nvPr>
            <p:ph type="subTitle"/>
          </p:nvPr>
        </p:nvSpPr>
        <p:spPr>
          <a:xfrm>
            <a:off x="6682320" y="919440"/>
            <a:ext cx="4155120" cy="1174104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61"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62"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63"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65"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66"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67" name="PlaceHolder 4"/>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69"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70"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71" name="PlaceHolder 4"/>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73" name="PlaceHolder 2"/>
          <p:cNvSpPr>
            <a:spLocks noGrp="1"/>
          </p:cNvSpPr>
          <p:nvPr>
            <p:ph type="body"/>
          </p:nvPr>
        </p:nvSpPr>
        <p:spPr>
          <a:xfrm>
            <a:off x="0" y="915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74" name="PlaceHolder 3"/>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76"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77"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78"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79" name="PlaceHolder 5"/>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81" name="PlaceHolder 2"/>
          <p:cNvSpPr>
            <a:spLocks noGrp="1"/>
          </p:cNvSpPr>
          <p:nvPr>
            <p:ph type="body"/>
          </p:nvPr>
        </p:nvSpPr>
        <p:spPr>
          <a:xfrm>
            <a:off x="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82" name="PlaceHolder 3"/>
          <p:cNvSpPr>
            <a:spLocks noGrp="1"/>
          </p:cNvSpPr>
          <p:nvPr>
            <p:ph type="body"/>
          </p:nvPr>
        </p:nvSpPr>
        <p:spPr>
          <a:xfrm>
            <a:off x="224028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83" name="PlaceHolder 4"/>
          <p:cNvSpPr>
            <a:spLocks noGrp="1"/>
          </p:cNvSpPr>
          <p:nvPr>
            <p:ph type="body"/>
          </p:nvPr>
        </p:nvSpPr>
        <p:spPr>
          <a:xfrm>
            <a:off x="448092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84" name="PlaceHolder 5"/>
          <p:cNvSpPr>
            <a:spLocks noGrp="1"/>
          </p:cNvSpPr>
          <p:nvPr>
            <p:ph type="body"/>
          </p:nvPr>
        </p:nvSpPr>
        <p:spPr>
          <a:xfrm>
            <a:off x="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85" name="PlaceHolder 6"/>
          <p:cNvSpPr>
            <a:spLocks noGrp="1"/>
          </p:cNvSpPr>
          <p:nvPr>
            <p:ph type="body"/>
          </p:nvPr>
        </p:nvSpPr>
        <p:spPr>
          <a:xfrm>
            <a:off x="224028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86" name="PlaceHolder 7"/>
          <p:cNvSpPr>
            <a:spLocks noGrp="1"/>
          </p:cNvSpPr>
          <p:nvPr>
            <p:ph type="body"/>
          </p:nvPr>
        </p:nvSpPr>
        <p:spPr>
          <a:xfrm>
            <a:off x="448092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4"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95" name="PlaceHolder 2"/>
          <p:cNvSpPr>
            <a:spLocks noGrp="1"/>
          </p:cNvSpPr>
          <p:nvPr>
            <p:ph type="subTitle"/>
          </p:nvPr>
        </p:nvSpPr>
        <p:spPr>
          <a:xfrm>
            <a:off x="0" y="915840"/>
            <a:ext cx="6626160" cy="506556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97" name="PlaceHolder 2"/>
          <p:cNvSpPr>
            <a:spLocks noGrp="1"/>
          </p:cNvSpPr>
          <p:nvPr>
            <p:ph type="body"/>
          </p:nvPr>
        </p:nvSpPr>
        <p:spPr>
          <a:xfrm>
            <a:off x="0" y="915840"/>
            <a:ext cx="662616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8"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99"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00"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1"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2" name="PlaceHolder 1"/>
          <p:cNvSpPr>
            <a:spLocks noGrp="1"/>
          </p:cNvSpPr>
          <p:nvPr>
            <p:ph type="subTitle"/>
          </p:nvPr>
        </p:nvSpPr>
        <p:spPr>
          <a:xfrm>
            <a:off x="6682320" y="919440"/>
            <a:ext cx="4155120" cy="1174104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04"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05"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06"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08"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09"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10" name="PlaceHolder 4"/>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12"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13"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14" name="PlaceHolder 4"/>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16" name="PlaceHolder 2"/>
          <p:cNvSpPr>
            <a:spLocks noGrp="1"/>
          </p:cNvSpPr>
          <p:nvPr>
            <p:ph type="body"/>
          </p:nvPr>
        </p:nvSpPr>
        <p:spPr>
          <a:xfrm>
            <a:off x="0" y="915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17" name="PlaceHolder 3"/>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19"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20"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21"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22" name="PlaceHolder 5"/>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24" name="PlaceHolder 2"/>
          <p:cNvSpPr>
            <a:spLocks noGrp="1"/>
          </p:cNvSpPr>
          <p:nvPr>
            <p:ph type="body"/>
          </p:nvPr>
        </p:nvSpPr>
        <p:spPr>
          <a:xfrm>
            <a:off x="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25" name="PlaceHolder 3"/>
          <p:cNvSpPr>
            <a:spLocks noGrp="1"/>
          </p:cNvSpPr>
          <p:nvPr>
            <p:ph type="body"/>
          </p:nvPr>
        </p:nvSpPr>
        <p:spPr>
          <a:xfrm>
            <a:off x="224028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26" name="PlaceHolder 4"/>
          <p:cNvSpPr>
            <a:spLocks noGrp="1"/>
          </p:cNvSpPr>
          <p:nvPr>
            <p:ph type="body"/>
          </p:nvPr>
        </p:nvSpPr>
        <p:spPr>
          <a:xfrm>
            <a:off x="448092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27" name="PlaceHolder 5"/>
          <p:cNvSpPr>
            <a:spLocks noGrp="1"/>
          </p:cNvSpPr>
          <p:nvPr>
            <p:ph type="body"/>
          </p:nvPr>
        </p:nvSpPr>
        <p:spPr>
          <a:xfrm>
            <a:off x="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28" name="PlaceHolder 6"/>
          <p:cNvSpPr>
            <a:spLocks noGrp="1"/>
          </p:cNvSpPr>
          <p:nvPr>
            <p:ph type="body"/>
          </p:nvPr>
        </p:nvSpPr>
        <p:spPr>
          <a:xfrm>
            <a:off x="224028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29" name="PlaceHolder 7"/>
          <p:cNvSpPr>
            <a:spLocks noGrp="1"/>
          </p:cNvSpPr>
          <p:nvPr>
            <p:ph type="body"/>
          </p:nvPr>
        </p:nvSpPr>
        <p:spPr>
          <a:xfrm>
            <a:off x="448092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37"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38" name="PlaceHolder 2"/>
          <p:cNvSpPr>
            <a:spLocks noGrp="1"/>
          </p:cNvSpPr>
          <p:nvPr>
            <p:ph type="subTitle"/>
          </p:nvPr>
        </p:nvSpPr>
        <p:spPr>
          <a:xfrm>
            <a:off x="0" y="915840"/>
            <a:ext cx="6626160" cy="506556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39"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40" name="PlaceHolder 2"/>
          <p:cNvSpPr>
            <a:spLocks noGrp="1"/>
          </p:cNvSpPr>
          <p:nvPr>
            <p:ph type="body"/>
          </p:nvPr>
        </p:nvSpPr>
        <p:spPr>
          <a:xfrm>
            <a:off x="0" y="915840"/>
            <a:ext cx="662616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1"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42"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43"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5" name="PlaceHolder 1"/>
          <p:cNvSpPr>
            <a:spLocks noGrp="1"/>
          </p:cNvSpPr>
          <p:nvPr>
            <p:ph type="subTitle"/>
          </p:nvPr>
        </p:nvSpPr>
        <p:spPr>
          <a:xfrm>
            <a:off x="6682320" y="919440"/>
            <a:ext cx="4155120" cy="1174104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6"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47"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48"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49"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51"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52"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53" name="PlaceHolder 4"/>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55"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56"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57" name="PlaceHolder 4"/>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58"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59" name="PlaceHolder 2"/>
          <p:cNvSpPr>
            <a:spLocks noGrp="1"/>
          </p:cNvSpPr>
          <p:nvPr>
            <p:ph type="body"/>
          </p:nvPr>
        </p:nvSpPr>
        <p:spPr>
          <a:xfrm>
            <a:off x="0" y="915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60" name="PlaceHolder 3"/>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61"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62"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63"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64"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65" name="PlaceHolder 5"/>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66"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67" name="PlaceHolder 2"/>
          <p:cNvSpPr>
            <a:spLocks noGrp="1"/>
          </p:cNvSpPr>
          <p:nvPr>
            <p:ph type="body"/>
          </p:nvPr>
        </p:nvSpPr>
        <p:spPr>
          <a:xfrm>
            <a:off x="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68" name="PlaceHolder 3"/>
          <p:cNvSpPr>
            <a:spLocks noGrp="1"/>
          </p:cNvSpPr>
          <p:nvPr>
            <p:ph type="body"/>
          </p:nvPr>
        </p:nvSpPr>
        <p:spPr>
          <a:xfrm>
            <a:off x="224028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69" name="PlaceHolder 4"/>
          <p:cNvSpPr>
            <a:spLocks noGrp="1"/>
          </p:cNvSpPr>
          <p:nvPr>
            <p:ph type="body"/>
          </p:nvPr>
        </p:nvSpPr>
        <p:spPr>
          <a:xfrm>
            <a:off x="448092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70" name="PlaceHolder 5"/>
          <p:cNvSpPr>
            <a:spLocks noGrp="1"/>
          </p:cNvSpPr>
          <p:nvPr>
            <p:ph type="body"/>
          </p:nvPr>
        </p:nvSpPr>
        <p:spPr>
          <a:xfrm>
            <a:off x="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71" name="PlaceHolder 6"/>
          <p:cNvSpPr>
            <a:spLocks noGrp="1"/>
          </p:cNvSpPr>
          <p:nvPr>
            <p:ph type="body"/>
          </p:nvPr>
        </p:nvSpPr>
        <p:spPr>
          <a:xfrm>
            <a:off x="224028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72" name="PlaceHolder 7"/>
          <p:cNvSpPr>
            <a:spLocks noGrp="1"/>
          </p:cNvSpPr>
          <p:nvPr>
            <p:ph type="body"/>
          </p:nvPr>
        </p:nvSpPr>
        <p:spPr>
          <a:xfrm>
            <a:off x="448092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81"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82" name="PlaceHolder 2"/>
          <p:cNvSpPr>
            <a:spLocks noGrp="1"/>
          </p:cNvSpPr>
          <p:nvPr>
            <p:ph type="subTitle"/>
          </p:nvPr>
        </p:nvSpPr>
        <p:spPr>
          <a:xfrm>
            <a:off x="0" y="915840"/>
            <a:ext cx="6626160" cy="506556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84" name="PlaceHolder 2"/>
          <p:cNvSpPr>
            <a:spLocks noGrp="1"/>
          </p:cNvSpPr>
          <p:nvPr>
            <p:ph type="body"/>
          </p:nvPr>
        </p:nvSpPr>
        <p:spPr>
          <a:xfrm>
            <a:off x="0" y="915840"/>
            <a:ext cx="662616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85"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86"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87"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88"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89" name="PlaceHolder 1"/>
          <p:cNvSpPr>
            <a:spLocks noGrp="1"/>
          </p:cNvSpPr>
          <p:nvPr>
            <p:ph type="subTitle"/>
          </p:nvPr>
        </p:nvSpPr>
        <p:spPr>
          <a:xfrm>
            <a:off x="6682320" y="919440"/>
            <a:ext cx="4155120" cy="1174104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91"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92"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93"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4"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95"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96"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197" name="PlaceHolder 4"/>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8"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199"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00"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01" name="PlaceHolder 4"/>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2"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03" name="PlaceHolder 2"/>
          <p:cNvSpPr>
            <a:spLocks noGrp="1"/>
          </p:cNvSpPr>
          <p:nvPr>
            <p:ph type="body"/>
          </p:nvPr>
        </p:nvSpPr>
        <p:spPr>
          <a:xfrm>
            <a:off x="0" y="915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04" name="PlaceHolder 3"/>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5"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06"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07"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08"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09" name="PlaceHolder 5"/>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10"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11" name="PlaceHolder 2"/>
          <p:cNvSpPr>
            <a:spLocks noGrp="1"/>
          </p:cNvSpPr>
          <p:nvPr>
            <p:ph type="body"/>
          </p:nvPr>
        </p:nvSpPr>
        <p:spPr>
          <a:xfrm>
            <a:off x="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12" name="PlaceHolder 3"/>
          <p:cNvSpPr>
            <a:spLocks noGrp="1"/>
          </p:cNvSpPr>
          <p:nvPr>
            <p:ph type="body"/>
          </p:nvPr>
        </p:nvSpPr>
        <p:spPr>
          <a:xfrm>
            <a:off x="224028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13" name="PlaceHolder 4"/>
          <p:cNvSpPr>
            <a:spLocks noGrp="1"/>
          </p:cNvSpPr>
          <p:nvPr>
            <p:ph type="body"/>
          </p:nvPr>
        </p:nvSpPr>
        <p:spPr>
          <a:xfrm>
            <a:off x="448092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14" name="PlaceHolder 5"/>
          <p:cNvSpPr>
            <a:spLocks noGrp="1"/>
          </p:cNvSpPr>
          <p:nvPr>
            <p:ph type="body"/>
          </p:nvPr>
        </p:nvSpPr>
        <p:spPr>
          <a:xfrm>
            <a:off x="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15" name="PlaceHolder 6"/>
          <p:cNvSpPr>
            <a:spLocks noGrp="1"/>
          </p:cNvSpPr>
          <p:nvPr>
            <p:ph type="body"/>
          </p:nvPr>
        </p:nvSpPr>
        <p:spPr>
          <a:xfrm>
            <a:off x="224028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16" name="PlaceHolder 7"/>
          <p:cNvSpPr>
            <a:spLocks noGrp="1"/>
          </p:cNvSpPr>
          <p:nvPr>
            <p:ph type="body"/>
          </p:nvPr>
        </p:nvSpPr>
        <p:spPr>
          <a:xfrm>
            <a:off x="448092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25"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26" name="PlaceHolder 2"/>
          <p:cNvSpPr>
            <a:spLocks noGrp="1"/>
          </p:cNvSpPr>
          <p:nvPr>
            <p:ph type="subTitle"/>
          </p:nvPr>
        </p:nvSpPr>
        <p:spPr>
          <a:xfrm>
            <a:off x="0" y="915840"/>
            <a:ext cx="6626160" cy="506556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7"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28" name="PlaceHolder 2"/>
          <p:cNvSpPr>
            <a:spLocks noGrp="1"/>
          </p:cNvSpPr>
          <p:nvPr>
            <p:ph type="body"/>
          </p:nvPr>
        </p:nvSpPr>
        <p:spPr>
          <a:xfrm>
            <a:off x="0" y="915840"/>
            <a:ext cx="662616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29"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30"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31"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2"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33" name="PlaceHolder 1"/>
          <p:cNvSpPr>
            <a:spLocks noGrp="1"/>
          </p:cNvSpPr>
          <p:nvPr>
            <p:ph type="subTitle"/>
          </p:nvPr>
        </p:nvSpPr>
        <p:spPr>
          <a:xfrm>
            <a:off x="6682320" y="919440"/>
            <a:ext cx="4155120" cy="11741040"/>
          </a:xfrm>
          <a:prstGeom prst="rect">
            <a:avLst/>
          </a:prstGeom>
        </p:spPr>
        <p:txBody>
          <a:bodyPr lIns="0" tIns="0" rIns="0" bIns="0" anchor="ctr">
            <a:spAutoFit/>
          </a:bodyPr>
          <a:lstStyle/>
          <a:p>
            <a:pPr algn="ctr"/>
            <a:endParaRPr lang="en-IN"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34"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35"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36" name="PlaceHolder 3"/>
          <p:cNvSpPr>
            <a:spLocks noGrp="1"/>
          </p:cNvSpPr>
          <p:nvPr>
            <p:ph type="body"/>
          </p:nvPr>
        </p:nvSpPr>
        <p:spPr>
          <a:xfrm>
            <a:off x="339552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37"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38"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39" name="PlaceHolder 2"/>
          <p:cNvSpPr>
            <a:spLocks noGrp="1"/>
          </p:cNvSpPr>
          <p:nvPr>
            <p:ph type="body"/>
          </p:nvPr>
        </p:nvSpPr>
        <p:spPr>
          <a:xfrm>
            <a:off x="0" y="915840"/>
            <a:ext cx="3233520" cy="50655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40"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41" name="PlaceHolder 4"/>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2"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43"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44"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45" name="PlaceHolder 4"/>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47" name="PlaceHolder 2"/>
          <p:cNvSpPr>
            <a:spLocks noGrp="1"/>
          </p:cNvSpPr>
          <p:nvPr>
            <p:ph type="body"/>
          </p:nvPr>
        </p:nvSpPr>
        <p:spPr>
          <a:xfrm>
            <a:off x="0" y="915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48" name="PlaceHolder 3"/>
          <p:cNvSpPr>
            <a:spLocks noGrp="1"/>
          </p:cNvSpPr>
          <p:nvPr>
            <p:ph type="body"/>
          </p:nvPr>
        </p:nvSpPr>
        <p:spPr>
          <a:xfrm>
            <a:off x="0" y="3561840"/>
            <a:ext cx="66261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49"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50" name="PlaceHolder 2"/>
          <p:cNvSpPr>
            <a:spLocks noGrp="1"/>
          </p:cNvSpPr>
          <p:nvPr>
            <p:ph type="body"/>
          </p:nvPr>
        </p:nvSpPr>
        <p:spPr>
          <a:xfrm>
            <a:off x="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51" name="PlaceHolder 3"/>
          <p:cNvSpPr>
            <a:spLocks noGrp="1"/>
          </p:cNvSpPr>
          <p:nvPr>
            <p:ph type="body"/>
          </p:nvPr>
        </p:nvSpPr>
        <p:spPr>
          <a:xfrm>
            <a:off x="3395520" y="915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52" name="PlaceHolder 4"/>
          <p:cNvSpPr>
            <a:spLocks noGrp="1"/>
          </p:cNvSpPr>
          <p:nvPr>
            <p:ph type="body"/>
          </p:nvPr>
        </p:nvSpPr>
        <p:spPr>
          <a:xfrm>
            <a:off x="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53" name="PlaceHolder 5"/>
          <p:cNvSpPr>
            <a:spLocks noGrp="1"/>
          </p:cNvSpPr>
          <p:nvPr>
            <p:ph type="body"/>
          </p:nvPr>
        </p:nvSpPr>
        <p:spPr>
          <a:xfrm>
            <a:off x="3395520" y="3561840"/>
            <a:ext cx="323352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54" name="PlaceHolder 1"/>
          <p:cNvSpPr>
            <a:spLocks noGrp="1"/>
          </p:cNvSpPr>
          <p:nvPr>
            <p:ph type="title"/>
          </p:nvPr>
        </p:nvSpPr>
        <p:spPr>
          <a:xfrm>
            <a:off x="6682320" y="919440"/>
            <a:ext cx="4155120" cy="2532600"/>
          </a:xfrm>
          <a:prstGeom prst="rect">
            <a:avLst/>
          </a:prstGeom>
        </p:spPr>
        <p:txBody>
          <a:bodyPr lIns="0" tIns="0" rIns="0" bIns="0" anchor="ctr">
            <a:spAutoFit/>
          </a:bodyPr>
          <a:lstStyle/>
          <a:p>
            <a:endParaRPr lang="en-US" sz="1800" b="0" strike="noStrike" spc="-1">
              <a:solidFill>
                <a:srgbClr val="4D3E2F"/>
              </a:solidFill>
              <a:latin typeface="Corbel"/>
            </a:endParaRPr>
          </a:p>
        </p:txBody>
      </p:sp>
      <p:sp>
        <p:nvSpPr>
          <p:cNvPr id="255" name="PlaceHolder 2"/>
          <p:cNvSpPr>
            <a:spLocks noGrp="1"/>
          </p:cNvSpPr>
          <p:nvPr>
            <p:ph type="body"/>
          </p:nvPr>
        </p:nvSpPr>
        <p:spPr>
          <a:xfrm>
            <a:off x="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56" name="PlaceHolder 3"/>
          <p:cNvSpPr>
            <a:spLocks noGrp="1"/>
          </p:cNvSpPr>
          <p:nvPr>
            <p:ph type="body"/>
          </p:nvPr>
        </p:nvSpPr>
        <p:spPr>
          <a:xfrm>
            <a:off x="224028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57" name="PlaceHolder 4"/>
          <p:cNvSpPr>
            <a:spLocks noGrp="1"/>
          </p:cNvSpPr>
          <p:nvPr>
            <p:ph type="body"/>
          </p:nvPr>
        </p:nvSpPr>
        <p:spPr>
          <a:xfrm>
            <a:off x="4480920" y="915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58" name="PlaceHolder 5"/>
          <p:cNvSpPr>
            <a:spLocks noGrp="1"/>
          </p:cNvSpPr>
          <p:nvPr>
            <p:ph type="body"/>
          </p:nvPr>
        </p:nvSpPr>
        <p:spPr>
          <a:xfrm>
            <a:off x="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59" name="PlaceHolder 6"/>
          <p:cNvSpPr>
            <a:spLocks noGrp="1"/>
          </p:cNvSpPr>
          <p:nvPr>
            <p:ph type="body"/>
          </p:nvPr>
        </p:nvSpPr>
        <p:spPr>
          <a:xfrm>
            <a:off x="224028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
        <p:nvSpPr>
          <p:cNvPr id="260" name="PlaceHolder 7"/>
          <p:cNvSpPr>
            <a:spLocks noGrp="1"/>
          </p:cNvSpPr>
          <p:nvPr>
            <p:ph type="body"/>
          </p:nvPr>
        </p:nvSpPr>
        <p:spPr>
          <a:xfrm>
            <a:off x="4480920" y="3561840"/>
            <a:ext cx="2133360" cy="2415960"/>
          </a:xfrm>
          <a:prstGeom prst="rect">
            <a:avLst/>
          </a:prstGeom>
        </p:spPr>
        <p:txBody>
          <a:bodyPr lIns="0" tIns="0" rIns="0" bIns="0">
            <a:normAutofit/>
          </a:bodyPr>
          <a:lstStyle/>
          <a:p>
            <a:endParaRPr lang="en-US" sz="2200" b="0" strike="noStrike" spc="-1">
              <a:solidFill>
                <a:srgbClr val="4D3E2F"/>
              </a:solidFill>
              <a:latin typeface="Corbe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CustomShape 1"/>
          <p:cNvSpPr/>
          <p:nvPr/>
        </p:nvSpPr>
        <p:spPr>
          <a:xfrm>
            <a:off x="0" y="6629400"/>
            <a:ext cx="1499400" cy="228240"/>
          </a:xfrm>
          <a:prstGeom prst="rect">
            <a:avLst/>
          </a:prstGeom>
          <a:gradFill rotWithShape="0">
            <a:gsLst>
              <a:gs pos="0">
                <a:schemeClr val="accent1">
                  <a:lumMod val="15000"/>
                  <a:lumOff val="85000"/>
                </a:schemeClr>
              </a:gs>
              <a:gs pos="100000">
                <a:schemeClr val="accent1">
                  <a:lumMod val="15000"/>
                  <a:lumOff val="8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8" name="CustomShape 2"/>
          <p:cNvSpPr/>
          <p:nvPr/>
        </p:nvSpPr>
        <p:spPr>
          <a:xfrm>
            <a:off x="1609200" y="6629400"/>
            <a:ext cx="10582200" cy="228240"/>
          </a:xfrm>
          <a:prstGeom prst="rect">
            <a:avLst/>
          </a:prstGeom>
          <a:gradFill rotWithShape="0">
            <a:gsLst>
              <a:gs pos="0">
                <a:schemeClr val="accent1">
                  <a:lumMod val="35000"/>
                  <a:lumOff val="65000"/>
                </a:schemeClr>
              </a:gs>
              <a:gs pos="100000">
                <a:schemeClr val="accent1">
                  <a:lumMod val="35000"/>
                  <a:lumOff val="6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2" name="PlaceHolder 3"/>
          <p:cNvSpPr>
            <a:spLocks noGrp="1"/>
          </p:cNvSpPr>
          <p:nvPr>
            <p:ph type="title"/>
          </p:nvPr>
        </p:nvSpPr>
        <p:spPr>
          <a:xfrm>
            <a:off x="1410120" y="276120"/>
            <a:ext cx="9371520" cy="1183320"/>
          </a:xfrm>
          <a:prstGeom prst="rect">
            <a:avLst/>
          </a:prstGeom>
        </p:spPr>
        <p:txBody>
          <a:bodyPr anchor="b">
            <a:noAutofit/>
          </a:bodyPr>
          <a:lstStyle/>
          <a:p>
            <a:pPr>
              <a:lnSpc>
                <a:spcPct val="100000"/>
              </a:lnSpc>
            </a:pPr>
            <a:r>
              <a:rPr lang="en-US" sz="3400" b="0" strike="noStrike" spc="-1">
                <a:solidFill>
                  <a:srgbClr val="687F00"/>
                </a:solidFill>
                <a:latin typeface="Corbel"/>
              </a:rPr>
              <a:t>Click to edit Master title style</a:t>
            </a:r>
            <a:endParaRPr lang="en-US" sz="3400" b="0" strike="noStrike" spc="-1">
              <a:solidFill>
                <a:srgbClr val="4D3E2F"/>
              </a:solidFill>
              <a:latin typeface="Corbel"/>
            </a:endParaRPr>
          </a:p>
        </p:txBody>
      </p:sp>
      <p:sp>
        <p:nvSpPr>
          <p:cNvPr id="3" name="PlaceHolder 4"/>
          <p:cNvSpPr>
            <a:spLocks noGrp="1"/>
          </p:cNvSpPr>
          <p:nvPr>
            <p:ph type="body"/>
          </p:nvPr>
        </p:nvSpPr>
        <p:spPr>
          <a:xfrm>
            <a:off x="1410120" y="1566000"/>
            <a:ext cx="9371520" cy="4620240"/>
          </a:xfrm>
          <a:prstGeom prst="rect">
            <a:avLst/>
          </a:prstGeom>
        </p:spPr>
        <p:txBody>
          <a:bodyPr>
            <a:noAutofit/>
          </a:bodyPr>
          <a:lstStyle/>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Click to edit Master text styles</a:t>
            </a:r>
          </a:p>
          <a:p>
            <a:pPr marL="438840" lvl="1" indent="-155160">
              <a:lnSpc>
                <a:spcPct val="90000"/>
              </a:lnSpc>
              <a:spcBef>
                <a:spcPts val="400"/>
              </a:spcBef>
              <a:buClr>
                <a:srgbClr val="4D3E2F"/>
              </a:buClr>
              <a:buFont typeface="Arial"/>
              <a:buChar char="•"/>
            </a:pPr>
            <a:r>
              <a:rPr lang="en-US" sz="1800" b="0" strike="noStrike" spc="-1">
                <a:solidFill>
                  <a:srgbClr val="4D3E2F"/>
                </a:solidFill>
                <a:latin typeface="Corbel"/>
              </a:rPr>
              <a:t>Second level</a:t>
            </a:r>
          </a:p>
          <a:p>
            <a:pPr marL="676800" lvl="2" indent="-155160">
              <a:lnSpc>
                <a:spcPct val="90000"/>
              </a:lnSpc>
              <a:spcBef>
                <a:spcPts val="400"/>
              </a:spcBef>
              <a:buClr>
                <a:srgbClr val="4D3E2F"/>
              </a:buClr>
              <a:buFont typeface="Arial"/>
              <a:buChar char="•"/>
            </a:pPr>
            <a:r>
              <a:rPr lang="en-US" sz="1600" b="0" strike="noStrike" spc="-1">
                <a:solidFill>
                  <a:srgbClr val="4D3E2F"/>
                </a:solidFill>
                <a:latin typeface="Corbel"/>
              </a:rPr>
              <a:t>Third level</a:t>
            </a:r>
          </a:p>
          <a:p>
            <a:pPr marL="905400" lvl="3" indent="-155160">
              <a:lnSpc>
                <a:spcPct val="90000"/>
              </a:lnSpc>
              <a:spcBef>
                <a:spcPts val="400"/>
              </a:spcBef>
              <a:buClr>
                <a:srgbClr val="4D3E2F"/>
              </a:buClr>
              <a:buFont typeface="Arial"/>
              <a:buChar char="•"/>
            </a:pPr>
            <a:r>
              <a:rPr lang="en-US" sz="1600" b="0" strike="noStrike" spc="-1">
                <a:solidFill>
                  <a:srgbClr val="4D3E2F"/>
                </a:solidFill>
                <a:latin typeface="Corbel"/>
              </a:rPr>
              <a:t>Fourth level</a:t>
            </a:r>
          </a:p>
          <a:p>
            <a:pPr marL="1134000" lvl="4" indent="-155160">
              <a:lnSpc>
                <a:spcPct val="90000"/>
              </a:lnSpc>
              <a:spcBef>
                <a:spcPts val="400"/>
              </a:spcBef>
              <a:buClr>
                <a:srgbClr val="4D3E2F"/>
              </a:buClr>
              <a:buFont typeface="Arial"/>
              <a:buChar char="•"/>
            </a:pPr>
            <a:r>
              <a:rPr lang="en-US" sz="1600" b="0" strike="noStrike" spc="-1">
                <a:solidFill>
                  <a:srgbClr val="4D3E2F"/>
                </a:solidFill>
                <a:latin typeface="Corbel"/>
              </a:rPr>
              <a:t>Fifth level</a:t>
            </a:r>
          </a:p>
        </p:txBody>
      </p:sp>
      <p:sp>
        <p:nvSpPr>
          <p:cNvPr id="4" name="PlaceHolder 5"/>
          <p:cNvSpPr>
            <a:spLocks noGrp="1"/>
          </p:cNvSpPr>
          <p:nvPr>
            <p:ph type="sldNum"/>
          </p:nvPr>
        </p:nvSpPr>
        <p:spPr>
          <a:xfrm>
            <a:off x="0" y="6629400"/>
            <a:ext cx="410040" cy="228240"/>
          </a:xfrm>
          <a:prstGeom prst="rect">
            <a:avLst/>
          </a:prstGeom>
        </p:spPr>
        <p:txBody>
          <a:bodyPr anchor="ctr">
            <a:noAutofit/>
          </a:bodyPr>
          <a:lstStyle/>
          <a:p>
            <a:pPr algn="r">
              <a:lnSpc>
                <a:spcPct val="100000"/>
              </a:lnSpc>
            </a:pPr>
            <a:fld id="{2D2AE5C1-26C5-4F16-8E01-6D780A70A3C5}" type="slidenum">
              <a:rPr lang="en-IN" sz="1100" b="0" strike="noStrike" spc="-1">
                <a:solidFill>
                  <a:srgbClr val="455500"/>
                </a:solidFill>
                <a:latin typeface="Corbel"/>
              </a:rPr>
              <a:t>‹#›</a:t>
            </a:fld>
            <a:endParaRPr lang="en-IN" sz="1100" b="0" strike="noStrike" spc="-1">
              <a:latin typeface="Times New Roman"/>
            </a:endParaRPr>
          </a:p>
        </p:txBody>
      </p:sp>
      <p:sp>
        <p:nvSpPr>
          <p:cNvPr id="5" name="PlaceHolder 6"/>
          <p:cNvSpPr>
            <a:spLocks noGrp="1"/>
          </p:cNvSpPr>
          <p:nvPr>
            <p:ph type="dt"/>
          </p:nvPr>
        </p:nvSpPr>
        <p:spPr>
          <a:xfrm>
            <a:off x="453240" y="6629400"/>
            <a:ext cx="1000440" cy="228240"/>
          </a:xfrm>
          <a:prstGeom prst="rect">
            <a:avLst/>
          </a:prstGeom>
        </p:spPr>
        <p:txBody>
          <a:bodyPr anchor="ctr">
            <a:noAutofit/>
          </a:bodyPr>
          <a:lstStyle/>
          <a:p>
            <a:pPr algn="r">
              <a:lnSpc>
                <a:spcPct val="100000"/>
              </a:lnSpc>
            </a:pPr>
            <a:fld id="{9FDC77BF-8351-4544-A528-456EA84CB067}" type="datetime1">
              <a:rPr lang="en-IN" sz="1100" b="0" strike="noStrike" spc="-1">
                <a:solidFill>
                  <a:srgbClr val="455500"/>
                </a:solidFill>
                <a:latin typeface="Corbel"/>
              </a:rPr>
              <a:t>24-08-2026</a:t>
            </a:fld>
            <a:endParaRPr lang="en-IN" sz="1100" b="0" strike="noStrike" spc="-1">
              <a:latin typeface="Times New Roman"/>
            </a:endParaRPr>
          </a:p>
        </p:txBody>
      </p:sp>
      <p:sp>
        <p:nvSpPr>
          <p:cNvPr id="6" name="PlaceHolder 7"/>
          <p:cNvSpPr>
            <a:spLocks noGrp="1"/>
          </p:cNvSpPr>
          <p:nvPr>
            <p:ph type="ftr"/>
          </p:nvPr>
        </p:nvSpPr>
        <p:spPr>
          <a:xfrm>
            <a:off x="1637640" y="6629400"/>
            <a:ext cx="9144000" cy="228240"/>
          </a:xfrm>
          <a:prstGeom prst="rect">
            <a:avLst/>
          </a:prstGeom>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3" name="CustomShape 1"/>
          <p:cNvSpPr/>
          <p:nvPr/>
        </p:nvSpPr>
        <p:spPr>
          <a:xfrm>
            <a:off x="0" y="6629400"/>
            <a:ext cx="1499400" cy="228240"/>
          </a:xfrm>
          <a:prstGeom prst="rect">
            <a:avLst/>
          </a:prstGeom>
          <a:gradFill rotWithShape="0">
            <a:gsLst>
              <a:gs pos="0">
                <a:schemeClr val="accent1">
                  <a:lumMod val="15000"/>
                  <a:lumOff val="85000"/>
                </a:schemeClr>
              </a:gs>
              <a:gs pos="100000">
                <a:schemeClr val="accent1">
                  <a:lumMod val="15000"/>
                  <a:lumOff val="8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44" name="CustomShape 2"/>
          <p:cNvSpPr/>
          <p:nvPr/>
        </p:nvSpPr>
        <p:spPr>
          <a:xfrm>
            <a:off x="1609200" y="6629400"/>
            <a:ext cx="10582200" cy="228240"/>
          </a:xfrm>
          <a:prstGeom prst="rect">
            <a:avLst/>
          </a:prstGeom>
          <a:gradFill rotWithShape="0">
            <a:gsLst>
              <a:gs pos="0">
                <a:schemeClr val="accent1">
                  <a:lumMod val="35000"/>
                  <a:lumOff val="65000"/>
                </a:schemeClr>
              </a:gs>
              <a:gs pos="100000">
                <a:schemeClr val="accent1">
                  <a:lumMod val="35000"/>
                  <a:lumOff val="6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45" name="PlaceHolder 3"/>
          <p:cNvSpPr>
            <a:spLocks noGrp="1"/>
          </p:cNvSpPr>
          <p:nvPr>
            <p:ph type="title"/>
          </p:nvPr>
        </p:nvSpPr>
        <p:spPr>
          <a:xfrm>
            <a:off x="1410120" y="276120"/>
            <a:ext cx="9371520" cy="1183320"/>
          </a:xfrm>
          <a:prstGeom prst="rect">
            <a:avLst/>
          </a:prstGeom>
        </p:spPr>
        <p:txBody>
          <a:bodyPr anchor="b">
            <a:noAutofit/>
          </a:bodyPr>
          <a:lstStyle/>
          <a:p>
            <a:pPr>
              <a:lnSpc>
                <a:spcPct val="100000"/>
              </a:lnSpc>
            </a:pPr>
            <a:r>
              <a:rPr lang="en-US" sz="3400" b="0" strike="noStrike" spc="-1">
                <a:solidFill>
                  <a:srgbClr val="687F00"/>
                </a:solidFill>
                <a:latin typeface="Corbel"/>
              </a:rPr>
              <a:t>Click to edit Master title style</a:t>
            </a:r>
            <a:endParaRPr lang="en-US" sz="3400" b="0" strike="noStrike" spc="-1">
              <a:solidFill>
                <a:srgbClr val="4D3E2F"/>
              </a:solidFill>
              <a:latin typeface="Corbel"/>
            </a:endParaRPr>
          </a:p>
        </p:txBody>
      </p:sp>
      <p:sp>
        <p:nvSpPr>
          <p:cNvPr id="46" name="PlaceHolder 4"/>
          <p:cNvSpPr>
            <a:spLocks noGrp="1"/>
          </p:cNvSpPr>
          <p:nvPr>
            <p:ph type="body"/>
          </p:nvPr>
        </p:nvSpPr>
        <p:spPr>
          <a:xfrm>
            <a:off x="1409760" y="1556280"/>
            <a:ext cx="4609800" cy="4620240"/>
          </a:xfrm>
          <a:prstGeom prst="rect">
            <a:avLst/>
          </a:prstGeom>
        </p:spPr>
        <p:txBody>
          <a:bodyPr>
            <a:noAutofit/>
          </a:bodyPr>
          <a:lstStyle/>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Click to edit Master text styles</a:t>
            </a:r>
          </a:p>
          <a:p>
            <a:pPr marL="438840" lvl="1" indent="-155160">
              <a:lnSpc>
                <a:spcPct val="90000"/>
              </a:lnSpc>
              <a:spcBef>
                <a:spcPts val="400"/>
              </a:spcBef>
              <a:buClr>
                <a:srgbClr val="4D3E2F"/>
              </a:buClr>
              <a:buFont typeface="Arial"/>
              <a:buChar char="•"/>
            </a:pPr>
            <a:r>
              <a:rPr lang="en-US" sz="1800" b="0" strike="noStrike" spc="-1">
                <a:solidFill>
                  <a:srgbClr val="4D3E2F"/>
                </a:solidFill>
                <a:latin typeface="Corbel"/>
              </a:rPr>
              <a:t>Second level</a:t>
            </a:r>
          </a:p>
          <a:p>
            <a:pPr marL="676800" lvl="2" indent="-155160">
              <a:lnSpc>
                <a:spcPct val="90000"/>
              </a:lnSpc>
              <a:spcBef>
                <a:spcPts val="400"/>
              </a:spcBef>
              <a:buClr>
                <a:srgbClr val="4D3E2F"/>
              </a:buClr>
              <a:buFont typeface="Arial"/>
              <a:buChar char="•"/>
            </a:pPr>
            <a:r>
              <a:rPr lang="en-US" sz="1600" b="0" strike="noStrike" spc="-1">
                <a:solidFill>
                  <a:srgbClr val="4D3E2F"/>
                </a:solidFill>
                <a:latin typeface="Corbel"/>
              </a:rPr>
              <a:t>Third level</a:t>
            </a:r>
          </a:p>
          <a:p>
            <a:pPr marL="905400" lvl="3" indent="-155160">
              <a:lnSpc>
                <a:spcPct val="90000"/>
              </a:lnSpc>
              <a:spcBef>
                <a:spcPts val="400"/>
              </a:spcBef>
              <a:buClr>
                <a:srgbClr val="4D3E2F"/>
              </a:buClr>
              <a:buFont typeface="Arial"/>
              <a:buChar char="•"/>
            </a:pPr>
            <a:r>
              <a:rPr lang="en-US" sz="1600" b="0" strike="noStrike" spc="-1">
                <a:solidFill>
                  <a:srgbClr val="4D3E2F"/>
                </a:solidFill>
                <a:latin typeface="Corbel"/>
              </a:rPr>
              <a:t>Fourth level</a:t>
            </a:r>
          </a:p>
          <a:p>
            <a:pPr marL="1134000" lvl="4" indent="-155160">
              <a:lnSpc>
                <a:spcPct val="90000"/>
              </a:lnSpc>
              <a:spcBef>
                <a:spcPts val="400"/>
              </a:spcBef>
              <a:buClr>
                <a:srgbClr val="4D3E2F"/>
              </a:buClr>
              <a:buFont typeface="Arial"/>
              <a:buChar char="•"/>
            </a:pPr>
            <a:r>
              <a:rPr lang="en-US" sz="1600" b="0" strike="noStrike" spc="-1">
                <a:solidFill>
                  <a:srgbClr val="4D3E2F"/>
                </a:solidFill>
                <a:latin typeface="Corbel"/>
              </a:rPr>
              <a:t>Fifth level</a:t>
            </a:r>
          </a:p>
        </p:txBody>
      </p:sp>
      <p:sp>
        <p:nvSpPr>
          <p:cNvPr id="47" name="PlaceHolder 5"/>
          <p:cNvSpPr>
            <a:spLocks noGrp="1"/>
          </p:cNvSpPr>
          <p:nvPr>
            <p:ph type="body"/>
          </p:nvPr>
        </p:nvSpPr>
        <p:spPr>
          <a:xfrm>
            <a:off x="6172200" y="1556280"/>
            <a:ext cx="4609440" cy="4620240"/>
          </a:xfrm>
          <a:prstGeom prst="rect">
            <a:avLst/>
          </a:prstGeom>
        </p:spPr>
        <p:txBody>
          <a:bodyPr>
            <a:noAutofit/>
          </a:bodyPr>
          <a:lstStyle/>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Click to edit Master text styles</a:t>
            </a:r>
          </a:p>
          <a:p>
            <a:pPr marL="438840" lvl="1" indent="-155160">
              <a:lnSpc>
                <a:spcPct val="90000"/>
              </a:lnSpc>
              <a:spcBef>
                <a:spcPts val="400"/>
              </a:spcBef>
              <a:buClr>
                <a:srgbClr val="4D3E2F"/>
              </a:buClr>
              <a:buFont typeface="Arial"/>
              <a:buChar char="•"/>
            </a:pPr>
            <a:r>
              <a:rPr lang="en-US" sz="1800" b="0" strike="noStrike" spc="-1">
                <a:solidFill>
                  <a:srgbClr val="4D3E2F"/>
                </a:solidFill>
                <a:latin typeface="Corbel"/>
              </a:rPr>
              <a:t>Second level</a:t>
            </a:r>
          </a:p>
          <a:p>
            <a:pPr marL="676800" lvl="2" indent="-155160">
              <a:lnSpc>
                <a:spcPct val="90000"/>
              </a:lnSpc>
              <a:spcBef>
                <a:spcPts val="400"/>
              </a:spcBef>
              <a:buClr>
                <a:srgbClr val="4D3E2F"/>
              </a:buClr>
              <a:buFont typeface="Arial"/>
              <a:buChar char="•"/>
            </a:pPr>
            <a:r>
              <a:rPr lang="en-US" sz="1600" b="0" strike="noStrike" spc="-1">
                <a:solidFill>
                  <a:srgbClr val="4D3E2F"/>
                </a:solidFill>
                <a:latin typeface="Corbel"/>
              </a:rPr>
              <a:t>Third level</a:t>
            </a:r>
          </a:p>
          <a:p>
            <a:pPr marL="905400" lvl="3" indent="-155160">
              <a:lnSpc>
                <a:spcPct val="90000"/>
              </a:lnSpc>
              <a:spcBef>
                <a:spcPts val="400"/>
              </a:spcBef>
              <a:buClr>
                <a:srgbClr val="4D3E2F"/>
              </a:buClr>
              <a:buFont typeface="Arial"/>
              <a:buChar char="•"/>
            </a:pPr>
            <a:r>
              <a:rPr lang="en-US" sz="1600" b="0" strike="noStrike" spc="-1">
                <a:solidFill>
                  <a:srgbClr val="4D3E2F"/>
                </a:solidFill>
                <a:latin typeface="Corbel"/>
              </a:rPr>
              <a:t>Fourth level</a:t>
            </a:r>
          </a:p>
          <a:p>
            <a:pPr marL="1134000" lvl="4" indent="-155160">
              <a:lnSpc>
                <a:spcPct val="90000"/>
              </a:lnSpc>
              <a:spcBef>
                <a:spcPts val="400"/>
              </a:spcBef>
              <a:buClr>
                <a:srgbClr val="4D3E2F"/>
              </a:buClr>
              <a:buFont typeface="Arial"/>
              <a:buChar char="•"/>
            </a:pPr>
            <a:r>
              <a:rPr lang="en-US" sz="1600" b="0" strike="noStrike" spc="-1">
                <a:solidFill>
                  <a:srgbClr val="4D3E2F"/>
                </a:solidFill>
                <a:latin typeface="Corbel"/>
              </a:rPr>
              <a:t>Fifth level</a:t>
            </a:r>
          </a:p>
        </p:txBody>
      </p:sp>
      <p:sp>
        <p:nvSpPr>
          <p:cNvPr id="48" name="PlaceHolder 6"/>
          <p:cNvSpPr>
            <a:spLocks noGrp="1"/>
          </p:cNvSpPr>
          <p:nvPr>
            <p:ph type="sldNum"/>
          </p:nvPr>
        </p:nvSpPr>
        <p:spPr>
          <a:xfrm>
            <a:off x="0" y="6629400"/>
            <a:ext cx="410040" cy="228240"/>
          </a:xfrm>
          <a:prstGeom prst="rect">
            <a:avLst/>
          </a:prstGeom>
        </p:spPr>
        <p:txBody>
          <a:bodyPr anchor="ctr">
            <a:noAutofit/>
          </a:bodyPr>
          <a:lstStyle/>
          <a:p>
            <a:pPr algn="r">
              <a:lnSpc>
                <a:spcPct val="100000"/>
              </a:lnSpc>
            </a:pPr>
            <a:fld id="{7CD10231-1D3F-4065-A83E-DDB6AE313C67}" type="slidenum">
              <a:rPr lang="en-IN" sz="1100" b="0" strike="noStrike" spc="-1">
                <a:solidFill>
                  <a:srgbClr val="455500"/>
                </a:solidFill>
                <a:latin typeface="Corbel"/>
              </a:rPr>
              <a:t>‹#›</a:t>
            </a:fld>
            <a:endParaRPr lang="en-IN" sz="1100" b="0" strike="noStrike" spc="-1">
              <a:latin typeface="Times New Roman"/>
            </a:endParaRPr>
          </a:p>
        </p:txBody>
      </p:sp>
      <p:sp>
        <p:nvSpPr>
          <p:cNvPr id="49" name="PlaceHolder 7"/>
          <p:cNvSpPr>
            <a:spLocks noGrp="1"/>
          </p:cNvSpPr>
          <p:nvPr>
            <p:ph type="dt"/>
          </p:nvPr>
        </p:nvSpPr>
        <p:spPr>
          <a:xfrm>
            <a:off x="453240" y="6629400"/>
            <a:ext cx="1000440" cy="228240"/>
          </a:xfrm>
          <a:prstGeom prst="rect">
            <a:avLst/>
          </a:prstGeom>
        </p:spPr>
        <p:txBody>
          <a:bodyPr anchor="ctr">
            <a:noAutofit/>
          </a:bodyPr>
          <a:lstStyle/>
          <a:p>
            <a:pPr algn="r">
              <a:lnSpc>
                <a:spcPct val="100000"/>
              </a:lnSpc>
            </a:pPr>
            <a:fld id="{92CAFA64-74F9-4449-BBC2-F7A6043E4427}" type="datetime1">
              <a:rPr lang="en-IN" sz="1100" b="0" strike="noStrike" spc="-1">
                <a:solidFill>
                  <a:srgbClr val="455500"/>
                </a:solidFill>
                <a:latin typeface="Corbel"/>
              </a:rPr>
              <a:t>24-08-2026</a:t>
            </a:fld>
            <a:endParaRPr lang="en-IN" sz="1100" b="0" strike="noStrike" spc="-1">
              <a:latin typeface="Times New Roman"/>
            </a:endParaRPr>
          </a:p>
        </p:txBody>
      </p:sp>
      <p:sp>
        <p:nvSpPr>
          <p:cNvPr id="50" name="PlaceHolder 8"/>
          <p:cNvSpPr>
            <a:spLocks noGrp="1"/>
          </p:cNvSpPr>
          <p:nvPr>
            <p:ph type="ftr"/>
          </p:nvPr>
        </p:nvSpPr>
        <p:spPr>
          <a:xfrm>
            <a:off x="1637640" y="6629400"/>
            <a:ext cx="9144000" cy="228240"/>
          </a:xfrm>
          <a:prstGeom prst="rect">
            <a:avLst/>
          </a:prstGeom>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 name="CustomShape 1"/>
          <p:cNvSpPr/>
          <p:nvPr/>
        </p:nvSpPr>
        <p:spPr>
          <a:xfrm>
            <a:off x="0" y="6629400"/>
            <a:ext cx="1499400" cy="228240"/>
          </a:xfrm>
          <a:prstGeom prst="rect">
            <a:avLst/>
          </a:prstGeom>
          <a:gradFill rotWithShape="0">
            <a:gsLst>
              <a:gs pos="0">
                <a:schemeClr val="accent1">
                  <a:lumMod val="15000"/>
                  <a:lumOff val="85000"/>
                </a:schemeClr>
              </a:gs>
              <a:gs pos="100000">
                <a:schemeClr val="accent1">
                  <a:lumMod val="15000"/>
                  <a:lumOff val="8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88" name="CustomShape 2"/>
          <p:cNvSpPr/>
          <p:nvPr/>
        </p:nvSpPr>
        <p:spPr>
          <a:xfrm>
            <a:off x="1609200" y="6629400"/>
            <a:ext cx="10582200" cy="228240"/>
          </a:xfrm>
          <a:prstGeom prst="rect">
            <a:avLst/>
          </a:prstGeom>
          <a:gradFill rotWithShape="0">
            <a:gsLst>
              <a:gs pos="0">
                <a:schemeClr val="accent1">
                  <a:lumMod val="35000"/>
                  <a:lumOff val="65000"/>
                </a:schemeClr>
              </a:gs>
              <a:gs pos="100000">
                <a:schemeClr val="accent1">
                  <a:lumMod val="35000"/>
                  <a:lumOff val="6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89" name="PlaceHolder 3"/>
          <p:cNvSpPr>
            <a:spLocks noGrp="1"/>
          </p:cNvSpPr>
          <p:nvPr>
            <p:ph type="title"/>
          </p:nvPr>
        </p:nvSpPr>
        <p:spPr>
          <a:xfrm>
            <a:off x="1410120" y="276120"/>
            <a:ext cx="9371520" cy="1183320"/>
          </a:xfrm>
          <a:prstGeom prst="rect">
            <a:avLst/>
          </a:prstGeom>
        </p:spPr>
        <p:txBody>
          <a:bodyPr anchor="b">
            <a:noAutofit/>
          </a:bodyPr>
          <a:lstStyle/>
          <a:p>
            <a:pPr>
              <a:lnSpc>
                <a:spcPct val="100000"/>
              </a:lnSpc>
            </a:pPr>
            <a:r>
              <a:rPr lang="en-US" sz="3400" b="0" strike="noStrike" spc="-1">
                <a:solidFill>
                  <a:srgbClr val="687F00"/>
                </a:solidFill>
                <a:latin typeface="Corbel"/>
              </a:rPr>
              <a:t>Click to edit Master title style</a:t>
            </a:r>
            <a:endParaRPr lang="en-US" sz="3400" b="0" strike="noStrike" spc="-1">
              <a:solidFill>
                <a:srgbClr val="4D3E2F"/>
              </a:solidFill>
              <a:latin typeface="Corbel"/>
            </a:endParaRPr>
          </a:p>
        </p:txBody>
      </p:sp>
      <p:sp>
        <p:nvSpPr>
          <p:cNvPr id="90" name="PlaceHolder 4"/>
          <p:cNvSpPr>
            <a:spLocks noGrp="1"/>
          </p:cNvSpPr>
          <p:nvPr>
            <p:ph type="sldNum"/>
          </p:nvPr>
        </p:nvSpPr>
        <p:spPr>
          <a:xfrm>
            <a:off x="0" y="6629400"/>
            <a:ext cx="410040" cy="228240"/>
          </a:xfrm>
          <a:prstGeom prst="rect">
            <a:avLst/>
          </a:prstGeom>
        </p:spPr>
        <p:txBody>
          <a:bodyPr anchor="ctr">
            <a:noAutofit/>
          </a:bodyPr>
          <a:lstStyle/>
          <a:p>
            <a:pPr algn="r">
              <a:lnSpc>
                <a:spcPct val="100000"/>
              </a:lnSpc>
            </a:pPr>
            <a:fld id="{25A52D10-314D-40E7-A7ED-CC8954A9FE7C}" type="slidenum">
              <a:rPr lang="en-IN" sz="1100" b="0" strike="noStrike" spc="-1">
                <a:solidFill>
                  <a:srgbClr val="455500"/>
                </a:solidFill>
                <a:latin typeface="Corbel"/>
              </a:rPr>
              <a:t>‹#›</a:t>
            </a:fld>
            <a:endParaRPr lang="en-IN" sz="1100" b="0" strike="noStrike" spc="-1">
              <a:latin typeface="Times New Roman"/>
            </a:endParaRPr>
          </a:p>
        </p:txBody>
      </p:sp>
      <p:sp>
        <p:nvSpPr>
          <p:cNvPr id="91" name="PlaceHolder 5"/>
          <p:cNvSpPr>
            <a:spLocks noGrp="1"/>
          </p:cNvSpPr>
          <p:nvPr>
            <p:ph type="dt"/>
          </p:nvPr>
        </p:nvSpPr>
        <p:spPr>
          <a:xfrm>
            <a:off x="453240" y="6629400"/>
            <a:ext cx="1000440" cy="228240"/>
          </a:xfrm>
          <a:prstGeom prst="rect">
            <a:avLst/>
          </a:prstGeom>
        </p:spPr>
        <p:txBody>
          <a:bodyPr anchor="ctr">
            <a:noAutofit/>
          </a:bodyPr>
          <a:lstStyle/>
          <a:p>
            <a:pPr algn="r">
              <a:lnSpc>
                <a:spcPct val="100000"/>
              </a:lnSpc>
            </a:pPr>
            <a:fld id="{C090B493-B405-4570-8B20-5FDB48B09BD6}" type="datetime1">
              <a:rPr lang="en-IN" sz="1100" b="0" strike="noStrike" spc="-1">
                <a:solidFill>
                  <a:srgbClr val="455500"/>
                </a:solidFill>
                <a:latin typeface="Corbel"/>
              </a:rPr>
              <a:t>24-08-2026</a:t>
            </a:fld>
            <a:endParaRPr lang="en-IN" sz="1100" b="0" strike="noStrike" spc="-1">
              <a:latin typeface="Times New Roman"/>
            </a:endParaRPr>
          </a:p>
        </p:txBody>
      </p:sp>
      <p:sp>
        <p:nvSpPr>
          <p:cNvPr id="92" name="PlaceHolder 6"/>
          <p:cNvSpPr>
            <a:spLocks noGrp="1"/>
          </p:cNvSpPr>
          <p:nvPr>
            <p:ph type="ftr"/>
          </p:nvPr>
        </p:nvSpPr>
        <p:spPr>
          <a:xfrm>
            <a:off x="1637640" y="6629400"/>
            <a:ext cx="9144000" cy="228240"/>
          </a:xfrm>
          <a:prstGeom prst="rect">
            <a:avLst/>
          </a:prstGeom>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
        <p:nvSpPr>
          <p:cNvPr id="93" name="PlaceHolder 7"/>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200" b="0" strike="noStrike" spc="-1">
                <a:solidFill>
                  <a:srgbClr val="4D3E2F"/>
                </a:solidFill>
                <a:latin typeface="Corbel"/>
              </a:rPr>
              <a:t>Click to edit the outline text format</a:t>
            </a:r>
          </a:p>
          <a:p>
            <a:pPr marL="864000" lvl="1" indent="-324000">
              <a:spcBef>
                <a:spcPts val="1134"/>
              </a:spcBef>
              <a:buClr>
                <a:srgbClr val="000000"/>
              </a:buClr>
              <a:buSzPct val="75000"/>
              <a:buFont typeface="Symbol" charset="2"/>
              <a:buChar char=""/>
            </a:pPr>
            <a:r>
              <a:rPr lang="en-US" sz="1600" b="0" strike="noStrike" spc="-1">
                <a:solidFill>
                  <a:srgbClr val="4D3E2F"/>
                </a:solidFill>
                <a:latin typeface="Corbel"/>
              </a:rPr>
              <a:t>Second Outline Level</a:t>
            </a:r>
          </a:p>
          <a:p>
            <a:pPr marL="1296000" lvl="2" indent="-288000">
              <a:spcBef>
                <a:spcPts val="850"/>
              </a:spcBef>
              <a:buClr>
                <a:srgbClr val="000000"/>
              </a:buClr>
              <a:buSzPct val="45000"/>
              <a:buFont typeface="Wingdings" charset="2"/>
              <a:buChar char=""/>
            </a:pPr>
            <a:r>
              <a:rPr lang="en-US" sz="1600" b="0" strike="noStrike" spc="-1">
                <a:solidFill>
                  <a:srgbClr val="4D3E2F"/>
                </a:solidFill>
                <a:latin typeface="Corbel"/>
              </a:rPr>
              <a:t>Third Outline Level</a:t>
            </a:r>
          </a:p>
          <a:p>
            <a:pPr marL="1728000" lvl="3" indent="-216000">
              <a:spcBef>
                <a:spcPts val="567"/>
              </a:spcBef>
              <a:buClr>
                <a:srgbClr val="000000"/>
              </a:buClr>
              <a:buSzPct val="75000"/>
              <a:buFont typeface="Symbol" charset="2"/>
              <a:buChar char=""/>
            </a:pPr>
            <a:r>
              <a:rPr lang="en-US" sz="1600" b="0" strike="noStrike" spc="-1">
                <a:solidFill>
                  <a:srgbClr val="4D3E2F"/>
                </a:solidFill>
                <a:latin typeface="Corbe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4D3E2F"/>
                </a:solidFill>
                <a:latin typeface="Corbe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4D3E2F"/>
                </a:solidFill>
                <a:latin typeface="Corbe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4D3E2F"/>
                </a:solidFill>
                <a:latin typeface="Corbel"/>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0" name="CustomShape 1"/>
          <p:cNvSpPr/>
          <p:nvPr/>
        </p:nvSpPr>
        <p:spPr>
          <a:xfrm>
            <a:off x="0" y="6629400"/>
            <a:ext cx="1499400" cy="228240"/>
          </a:xfrm>
          <a:prstGeom prst="rect">
            <a:avLst/>
          </a:prstGeom>
          <a:gradFill rotWithShape="0">
            <a:gsLst>
              <a:gs pos="0">
                <a:schemeClr val="accent1">
                  <a:lumMod val="15000"/>
                  <a:lumOff val="85000"/>
                </a:schemeClr>
              </a:gs>
              <a:gs pos="100000">
                <a:schemeClr val="accent1">
                  <a:lumMod val="15000"/>
                  <a:lumOff val="8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131" name="CustomShape 2"/>
          <p:cNvSpPr/>
          <p:nvPr/>
        </p:nvSpPr>
        <p:spPr>
          <a:xfrm>
            <a:off x="1609200" y="6629400"/>
            <a:ext cx="10582200" cy="228240"/>
          </a:xfrm>
          <a:prstGeom prst="rect">
            <a:avLst/>
          </a:prstGeom>
          <a:gradFill rotWithShape="0">
            <a:gsLst>
              <a:gs pos="0">
                <a:schemeClr val="accent1">
                  <a:lumMod val="35000"/>
                  <a:lumOff val="65000"/>
                </a:schemeClr>
              </a:gs>
              <a:gs pos="100000">
                <a:schemeClr val="accent1">
                  <a:lumMod val="35000"/>
                  <a:lumOff val="6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132" name="PlaceHolder 3"/>
          <p:cNvSpPr>
            <a:spLocks noGrp="1"/>
          </p:cNvSpPr>
          <p:nvPr>
            <p:ph type="sldNum"/>
          </p:nvPr>
        </p:nvSpPr>
        <p:spPr>
          <a:xfrm>
            <a:off x="0" y="6629400"/>
            <a:ext cx="410040" cy="228240"/>
          </a:xfrm>
          <a:prstGeom prst="rect">
            <a:avLst/>
          </a:prstGeom>
        </p:spPr>
        <p:txBody>
          <a:bodyPr anchor="ctr">
            <a:noAutofit/>
          </a:bodyPr>
          <a:lstStyle/>
          <a:p>
            <a:pPr algn="r">
              <a:lnSpc>
                <a:spcPct val="100000"/>
              </a:lnSpc>
            </a:pPr>
            <a:fld id="{CFFE56FB-3EC7-485B-AAA2-F9970D2BCA2A}" type="slidenum">
              <a:rPr lang="en-IN" sz="1100" b="0" strike="noStrike" spc="-1">
                <a:solidFill>
                  <a:srgbClr val="455500"/>
                </a:solidFill>
                <a:latin typeface="Corbel"/>
              </a:rPr>
              <a:t>‹#›</a:t>
            </a:fld>
            <a:endParaRPr lang="en-IN" sz="1100" b="0" strike="noStrike" spc="-1">
              <a:latin typeface="Times New Roman"/>
            </a:endParaRPr>
          </a:p>
        </p:txBody>
      </p:sp>
      <p:sp>
        <p:nvSpPr>
          <p:cNvPr id="133" name="PlaceHolder 4"/>
          <p:cNvSpPr>
            <a:spLocks noGrp="1"/>
          </p:cNvSpPr>
          <p:nvPr>
            <p:ph type="dt"/>
          </p:nvPr>
        </p:nvSpPr>
        <p:spPr>
          <a:xfrm>
            <a:off x="453240" y="6629400"/>
            <a:ext cx="1000440" cy="228240"/>
          </a:xfrm>
          <a:prstGeom prst="rect">
            <a:avLst/>
          </a:prstGeom>
        </p:spPr>
        <p:txBody>
          <a:bodyPr anchor="ctr">
            <a:noAutofit/>
          </a:bodyPr>
          <a:lstStyle/>
          <a:p>
            <a:pPr algn="r">
              <a:lnSpc>
                <a:spcPct val="100000"/>
              </a:lnSpc>
            </a:pPr>
            <a:fld id="{A9536C10-D61E-4DF8-B8CE-95EFBB60010E}" type="datetime1">
              <a:rPr lang="en-IN" sz="1100" b="0" strike="noStrike" spc="-1">
                <a:solidFill>
                  <a:srgbClr val="455500"/>
                </a:solidFill>
                <a:latin typeface="Corbel"/>
              </a:rPr>
              <a:t>24-08-2026</a:t>
            </a:fld>
            <a:endParaRPr lang="en-IN" sz="1100" b="0" strike="noStrike" spc="-1">
              <a:latin typeface="Times New Roman"/>
            </a:endParaRPr>
          </a:p>
        </p:txBody>
      </p:sp>
      <p:sp>
        <p:nvSpPr>
          <p:cNvPr id="134" name="PlaceHolder 5"/>
          <p:cNvSpPr>
            <a:spLocks noGrp="1"/>
          </p:cNvSpPr>
          <p:nvPr>
            <p:ph type="ftr"/>
          </p:nvPr>
        </p:nvSpPr>
        <p:spPr>
          <a:xfrm>
            <a:off x="1637640" y="6629400"/>
            <a:ext cx="9144000" cy="228240"/>
          </a:xfrm>
          <a:prstGeom prst="rect">
            <a:avLst/>
          </a:prstGeom>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
        <p:nvSpPr>
          <p:cNvPr id="135" name="PlaceHolder 6"/>
          <p:cNvSpPr>
            <a:spLocks noGrp="1"/>
          </p:cNvSpPr>
          <p:nvPr>
            <p:ph type="title"/>
          </p:nvPr>
        </p:nvSpPr>
        <p:spPr>
          <a:xfrm>
            <a:off x="609480" y="273600"/>
            <a:ext cx="10972440" cy="1144800"/>
          </a:xfrm>
          <a:prstGeom prst="rect">
            <a:avLst/>
          </a:prstGeom>
        </p:spPr>
        <p:txBody>
          <a:bodyPr lIns="0" tIns="0" rIns="0" bIns="0" anchor="ctr">
            <a:noAutofit/>
          </a:bodyPr>
          <a:lstStyle/>
          <a:p>
            <a:r>
              <a:rPr lang="en-US" sz="1800" b="0" strike="noStrike" spc="-1">
                <a:solidFill>
                  <a:srgbClr val="4D3E2F"/>
                </a:solidFill>
                <a:latin typeface="Corbel"/>
              </a:rPr>
              <a:t>Click to edit the title text format</a:t>
            </a:r>
          </a:p>
        </p:txBody>
      </p:sp>
      <p:sp>
        <p:nvSpPr>
          <p:cNvPr id="136" name="PlaceHolder 7"/>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2200" b="0" strike="noStrike" spc="-1">
                <a:solidFill>
                  <a:srgbClr val="4D3E2F"/>
                </a:solidFill>
                <a:latin typeface="Corbel"/>
              </a:rPr>
              <a:t>Click to edit the outline text format</a:t>
            </a:r>
          </a:p>
          <a:p>
            <a:pPr marL="864000" lvl="1" indent="-324000">
              <a:spcBef>
                <a:spcPts val="1134"/>
              </a:spcBef>
              <a:buClr>
                <a:srgbClr val="000000"/>
              </a:buClr>
              <a:buSzPct val="75000"/>
              <a:buFont typeface="Symbol" charset="2"/>
              <a:buChar char=""/>
            </a:pPr>
            <a:r>
              <a:rPr lang="en-US" sz="1600" b="0" strike="noStrike" spc="-1">
                <a:solidFill>
                  <a:srgbClr val="4D3E2F"/>
                </a:solidFill>
                <a:latin typeface="Corbel"/>
              </a:rPr>
              <a:t>Second Outline Level</a:t>
            </a:r>
          </a:p>
          <a:p>
            <a:pPr marL="1296000" lvl="2" indent="-288000">
              <a:spcBef>
                <a:spcPts val="850"/>
              </a:spcBef>
              <a:buClr>
                <a:srgbClr val="000000"/>
              </a:buClr>
              <a:buSzPct val="45000"/>
              <a:buFont typeface="Wingdings" charset="2"/>
              <a:buChar char=""/>
            </a:pPr>
            <a:r>
              <a:rPr lang="en-US" sz="1600" b="0" strike="noStrike" spc="-1">
                <a:solidFill>
                  <a:srgbClr val="4D3E2F"/>
                </a:solidFill>
                <a:latin typeface="Corbel"/>
              </a:rPr>
              <a:t>Third Outline Level</a:t>
            </a:r>
          </a:p>
          <a:p>
            <a:pPr marL="1728000" lvl="3" indent="-216000">
              <a:spcBef>
                <a:spcPts val="567"/>
              </a:spcBef>
              <a:buClr>
                <a:srgbClr val="000000"/>
              </a:buClr>
              <a:buSzPct val="75000"/>
              <a:buFont typeface="Symbol" charset="2"/>
              <a:buChar char=""/>
            </a:pPr>
            <a:r>
              <a:rPr lang="en-US" sz="1600" b="0" strike="noStrike" spc="-1">
                <a:solidFill>
                  <a:srgbClr val="4D3E2F"/>
                </a:solidFill>
                <a:latin typeface="Corbe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4D3E2F"/>
                </a:solidFill>
                <a:latin typeface="Corbe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4D3E2F"/>
                </a:solidFill>
                <a:latin typeface="Corbe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4D3E2F"/>
                </a:solidFill>
                <a:latin typeface="Corbel"/>
              </a:rPr>
              <a:t>Seventh Outline Level</a:t>
            </a: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 name="CustomShape 1"/>
          <p:cNvSpPr/>
          <p:nvPr/>
        </p:nvSpPr>
        <p:spPr>
          <a:xfrm>
            <a:off x="0" y="6629400"/>
            <a:ext cx="1499400" cy="228240"/>
          </a:xfrm>
          <a:prstGeom prst="rect">
            <a:avLst/>
          </a:prstGeom>
          <a:gradFill rotWithShape="0">
            <a:gsLst>
              <a:gs pos="0">
                <a:schemeClr val="accent1">
                  <a:lumMod val="15000"/>
                  <a:lumOff val="85000"/>
                </a:schemeClr>
              </a:gs>
              <a:gs pos="100000">
                <a:schemeClr val="accent1">
                  <a:lumMod val="15000"/>
                  <a:lumOff val="8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174" name="CustomShape 2"/>
          <p:cNvSpPr/>
          <p:nvPr/>
        </p:nvSpPr>
        <p:spPr>
          <a:xfrm>
            <a:off x="1609200" y="6629400"/>
            <a:ext cx="10582200" cy="228240"/>
          </a:xfrm>
          <a:prstGeom prst="rect">
            <a:avLst/>
          </a:prstGeom>
          <a:gradFill rotWithShape="0">
            <a:gsLst>
              <a:gs pos="0">
                <a:schemeClr val="accent1">
                  <a:lumMod val="35000"/>
                  <a:lumOff val="65000"/>
                </a:schemeClr>
              </a:gs>
              <a:gs pos="100000">
                <a:schemeClr val="accent1">
                  <a:lumMod val="35000"/>
                  <a:lumOff val="6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175" name="PlaceHolder 3"/>
          <p:cNvSpPr>
            <a:spLocks noGrp="1"/>
          </p:cNvSpPr>
          <p:nvPr>
            <p:ph type="title"/>
          </p:nvPr>
        </p:nvSpPr>
        <p:spPr>
          <a:xfrm>
            <a:off x="6682320" y="919440"/>
            <a:ext cx="4155120" cy="2532600"/>
          </a:xfrm>
          <a:prstGeom prst="rect">
            <a:avLst/>
          </a:prstGeom>
        </p:spPr>
        <p:txBody>
          <a:bodyPr anchor="b">
            <a:noAutofit/>
          </a:bodyPr>
          <a:lstStyle/>
          <a:p>
            <a:pPr>
              <a:lnSpc>
                <a:spcPct val="100000"/>
              </a:lnSpc>
            </a:pPr>
            <a:r>
              <a:rPr lang="en-US" sz="3200" b="0" strike="noStrike" spc="-1">
                <a:solidFill>
                  <a:srgbClr val="687F00"/>
                </a:solidFill>
                <a:latin typeface="Corbel"/>
              </a:rPr>
              <a:t>Click to edit Master title style</a:t>
            </a:r>
            <a:endParaRPr lang="en-US" sz="3200" b="0" strike="noStrike" spc="-1">
              <a:solidFill>
                <a:srgbClr val="4D3E2F"/>
              </a:solidFill>
              <a:latin typeface="Corbel"/>
            </a:endParaRPr>
          </a:p>
        </p:txBody>
      </p:sp>
      <p:sp>
        <p:nvSpPr>
          <p:cNvPr id="176" name="PlaceHolder 4"/>
          <p:cNvSpPr>
            <a:spLocks noGrp="1"/>
          </p:cNvSpPr>
          <p:nvPr>
            <p:ph type="body"/>
          </p:nvPr>
        </p:nvSpPr>
        <p:spPr>
          <a:xfrm>
            <a:off x="1409760" y="915840"/>
            <a:ext cx="5216760" cy="5065560"/>
          </a:xfrm>
          <a:prstGeom prst="rect">
            <a:avLst/>
          </a:prstGeom>
        </p:spPr>
        <p:txBody>
          <a:bodyPr>
            <a:noAutofit/>
          </a:bodyPr>
          <a:lstStyle/>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Click to edit Master text styles</a:t>
            </a:r>
          </a:p>
          <a:p>
            <a:pPr marL="438840" lvl="1" indent="-155160">
              <a:lnSpc>
                <a:spcPct val="90000"/>
              </a:lnSpc>
              <a:spcBef>
                <a:spcPts val="400"/>
              </a:spcBef>
              <a:buClr>
                <a:srgbClr val="4D3E2F"/>
              </a:buClr>
              <a:buFont typeface="Arial"/>
              <a:buChar char="•"/>
            </a:pPr>
            <a:r>
              <a:rPr lang="en-US" sz="1800" b="0" strike="noStrike" spc="-1">
                <a:solidFill>
                  <a:srgbClr val="4D3E2F"/>
                </a:solidFill>
                <a:latin typeface="Corbel"/>
              </a:rPr>
              <a:t>Second level</a:t>
            </a:r>
          </a:p>
          <a:p>
            <a:pPr marL="676800" lvl="2" indent="-155160">
              <a:lnSpc>
                <a:spcPct val="90000"/>
              </a:lnSpc>
              <a:spcBef>
                <a:spcPts val="400"/>
              </a:spcBef>
              <a:buClr>
                <a:srgbClr val="4D3E2F"/>
              </a:buClr>
              <a:buFont typeface="Arial"/>
              <a:buChar char="•"/>
            </a:pPr>
            <a:r>
              <a:rPr lang="en-US" sz="1600" b="0" strike="noStrike" spc="-1">
                <a:solidFill>
                  <a:srgbClr val="4D3E2F"/>
                </a:solidFill>
                <a:latin typeface="Corbel"/>
              </a:rPr>
              <a:t>Third level</a:t>
            </a:r>
          </a:p>
          <a:p>
            <a:pPr marL="905400" lvl="3" indent="-155160">
              <a:lnSpc>
                <a:spcPct val="90000"/>
              </a:lnSpc>
              <a:spcBef>
                <a:spcPts val="400"/>
              </a:spcBef>
              <a:buClr>
                <a:srgbClr val="4D3E2F"/>
              </a:buClr>
              <a:buFont typeface="Arial"/>
              <a:buChar char="•"/>
            </a:pPr>
            <a:r>
              <a:rPr lang="en-US" sz="1600" b="0" strike="noStrike" spc="-1">
                <a:solidFill>
                  <a:srgbClr val="4D3E2F"/>
                </a:solidFill>
                <a:latin typeface="Corbel"/>
              </a:rPr>
              <a:t>Fourth level</a:t>
            </a:r>
          </a:p>
          <a:p>
            <a:pPr marL="1134000" lvl="4" indent="-155160">
              <a:lnSpc>
                <a:spcPct val="90000"/>
              </a:lnSpc>
              <a:spcBef>
                <a:spcPts val="400"/>
              </a:spcBef>
              <a:buClr>
                <a:srgbClr val="4D3E2F"/>
              </a:buClr>
              <a:buFont typeface="Arial"/>
              <a:buChar char="•"/>
            </a:pPr>
            <a:r>
              <a:rPr lang="en-US" sz="1600" b="0" strike="noStrike" spc="-1">
                <a:solidFill>
                  <a:srgbClr val="4D3E2F"/>
                </a:solidFill>
                <a:latin typeface="Corbel"/>
              </a:rPr>
              <a:t>Fifth level</a:t>
            </a:r>
          </a:p>
        </p:txBody>
      </p:sp>
      <p:sp>
        <p:nvSpPr>
          <p:cNvPr id="177" name="PlaceHolder 5"/>
          <p:cNvSpPr>
            <a:spLocks noGrp="1"/>
          </p:cNvSpPr>
          <p:nvPr>
            <p:ph type="body"/>
          </p:nvPr>
        </p:nvSpPr>
        <p:spPr>
          <a:xfrm>
            <a:off x="6682320" y="3502080"/>
            <a:ext cx="4155120" cy="2479320"/>
          </a:xfrm>
          <a:prstGeom prst="rect">
            <a:avLst/>
          </a:prstGeom>
        </p:spPr>
        <p:txBody>
          <a:bodyPr>
            <a:normAutofit/>
          </a:bodyPr>
          <a:lstStyle/>
          <a:p>
            <a:pPr>
              <a:lnSpc>
                <a:spcPct val="90000"/>
              </a:lnSpc>
              <a:spcBef>
                <a:spcPts val="901"/>
              </a:spcBef>
            </a:pPr>
            <a:r>
              <a:rPr lang="en-US" sz="1800" b="0" strike="noStrike" spc="-1">
                <a:solidFill>
                  <a:srgbClr val="4D3E2F"/>
                </a:solidFill>
                <a:latin typeface="Corbel"/>
              </a:rPr>
              <a:t>Click to edit Master text styles</a:t>
            </a:r>
          </a:p>
        </p:txBody>
      </p:sp>
      <p:sp>
        <p:nvSpPr>
          <p:cNvPr id="178" name="PlaceHolder 6"/>
          <p:cNvSpPr>
            <a:spLocks noGrp="1"/>
          </p:cNvSpPr>
          <p:nvPr>
            <p:ph type="sldNum"/>
          </p:nvPr>
        </p:nvSpPr>
        <p:spPr>
          <a:xfrm>
            <a:off x="0" y="6629400"/>
            <a:ext cx="410040" cy="228240"/>
          </a:xfrm>
          <a:prstGeom prst="rect">
            <a:avLst/>
          </a:prstGeom>
        </p:spPr>
        <p:txBody>
          <a:bodyPr anchor="ctr">
            <a:noAutofit/>
          </a:bodyPr>
          <a:lstStyle/>
          <a:p>
            <a:pPr algn="r">
              <a:lnSpc>
                <a:spcPct val="100000"/>
              </a:lnSpc>
            </a:pPr>
            <a:fld id="{2B9F6C83-82B0-45B1-A03A-EACE4B17F6CD}" type="slidenum">
              <a:rPr lang="en-IN" sz="1100" b="0" strike="noStrike" spc="-1">
                <a:solidFill>
                  <a:srgbClr val="455500"/>
                </a:solidFill>
                <a:latin typeface="Corbel"/>
              </a:rPr>
              <a:t>‹#›</a:t>
            </a:fld>
            <a:endParaRPr lang="en-IN" sz="1100" b="0" strike="noStrike" spc="-1">
              <a:latin typeface="Times New Roman"/>
            </a:endParaRPr>
          </a:p>
        </p:txBody>
      </p:sp>
      <p:sp>
        <p:nvSpPr>
          <p:cNvPr id="179" name="PlaceHolder 7"/>
          <p:cNvSpPr>
            <a:spLocks noGrp="1"/>
          </p:cNvSpPr>
          <p:nvPr>
            <p:ph type="dt"/>
          </p:nvPr>
        </p:nvSpPr>
        <p:spPr>
          <a:xfrm>
            <a:off x="453240" y="6629400"/>
            <a:ext cx="1000440" cy="228240"/>
          </a:xfrm>
          <a:prstGeom prst="rect">
            <a:avLst/>
          </a:prstGeom>
        </p:spPr>
        <p:txBody>
          <a:bodyPr anchor="ctr">
            <a:noAutofit/>
          </a:bodyPr>
          <a:lstStyle/>
          <a:p>
            <a:pPr algn="r">
              <a:lnSpc>
                <a:spcPct val="100000"/>
              </a:lnSpc>
            </a:pPr>
            <a:fld id="{CF087A06-1CAC-4816-9624-17776B410B44}" type="datetime1">
              <a:rPr lang="en-IN" sz="1100" b="0" strike="noStrike" spc="-1">
                <a:solidFill>
                  <a:srgbClr val="455500"/>
                </a:solidFill>
                <a:latin typeface="Corbel"/>
              </a:rPr>
              <a:t>24-08-2026</a:t>
            </a:fld>
            <a:endParaRPr lang="en-IN" sz="1100" b="0" strike="noStrike" spc="-1">
              <a:latin typeface="Times New Roman"/>
            </a:endParaRPr>
          </a:p>
        </p:txBody>
      </p:sp>
      <p:sp>
        <p:nvSpPr>
          <p:cNvPr id="180" name="PlaceHolder 8"/>
          <p:cNvSpPr>
            <a:spLocks noGrp="1"/>
          </p:cNvSpPr>
          <p:nvPr>
            <p:ph type="ftr"/>
          </p:nvPr>
        </p:nvSpPr>
        <p:spPr>
          <a:xfrm>
            <a:off x="1637640" y="6629400"/>
            <a:ext cx="9144000" cy="228240"/>
          </a:xfrm>
          <a:prstGeom prst="rect">
            <a:avLst/>
          </a:prstGeom>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7" name="CustomShape 1"/>
          <p:cNvSpPr/>
          <p:nvPr/>
        </p:nvSpPr>
        <p:spPr>
          <a:xfrm>
            <a:off x="0" y="6629400"/>
            <a:ext cx="1499400" cy="228240"/>
          </a:xfrm>
          <a:prstGeom prst="rect">
            <a:avLst/>
          </a:prstGeom>
          <a:gradFill rotWithShape="0">
            <a:gsLst>
              <a:gs pos="0">
                <a:schemeClr val="accent1">
                  <a:lumMod val="15000"/>
                  <a:lumOff val="85000"/>
                </a:schemeClr>
              </a:gs>
              <a:gs pos="100000">
                <a:schemeClr val="accent1">
                  <a:lumMod val="15000"/>
                  <a:lumOff val="8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218" name="CustomShape 2"/>
          <p:cNvSpPr/>
          <p:nvPr/>
        </p:nvSpPr>
        <p:spPr>
          <a:xfrm>
            <a:off x="1609200" y="6629400"/>
            <a:ext cx="10582200" cy="228240"/>
          </a:xfrm>
          <a:prstGeom prst="rect">
            <a:avLst/>
          </a:prstGeom>
          <a:gradFill rotWithShape="0">
            <a:gsLst>
              <a:gs pos="0">
                <a:schemeClr val="accent1">
                  <a:lumMod val="35000"/>
                  <a:lumOff val="65000"/>
                </a:schemeClr>
              </a:gs>
              <a:gs pos="100000">
                <a:schemeClr val="accent1">
                  <a:lumMod val="35000"/>
                  <a:lumOff val="65000"/>
                </a:schemeClr>
              </a:gs>
            </a:gsLst>
            <a:lin ang="5400000"/>
          </a:gradFill>
          <a:ln>
            <a:noFill/>
          </a:ln>
        </p:spPr>
        <p:style>
          <a:lnRef idx="2">
            <a:schemeClr val="accent1">
              <a:shade val="50000"/>
            </a:schemeClr>
          </a:lnRef>
          <a:fillRef idx="1">
            <a:schemeClr val="accent1"/>
          </a:fillRef>
          <a:effectRef idx="0">
            <a:schemeClr val="accent1"/>
          </a:effectRef>
          <a:fontRef idx="minor"/>
        </p:style>
      </p:sp>
      <p:sp>
        <p:nvSpPr>
          <p:cNvPr id="219" name="PlaceHolder 3"/>
          <p:cNvSpPr>
            <a:spLocks noGrp="1"/>
          </p:cNvSpPr>
          <p:nvPr>
            <p:ph type="title"/>
          </p:nvPr>
        </p:nvSpPr>
        <p:spPr>
          <a:xfrm>
            <a:off x="6682320" y="919440"/>
            <a:ext cx="4155120" cy="2532600"/>
          </a:xfrm>
          <a:prstGeom prst="rect">
            <a:avLst/>
          </a:prstGeom>
        </p:spPr>
        <p:txBody>
          <a:bodyPr anchor="b">
            <a:noAutofit/>
          </a:bodyPr>
          <a:lstStyle/>
          <a:p>
            <a:pPr>
              <a:lnSpc>
                <a:spcPct val="100000"/>
              </a:lnSpc>
            </a:pPr>
            <a:r>
              <a:rPr lang="en-US" sz="3200" b="0" strike="noStrike" spc="-1">
                <a:solidFill>
                  <a:srgbClr val="687F00"/>
                </a:solidFill>
                <a:latin typeface="Corbel"/>
              </a:rPr>
              <a:t>Click to edit Master title style</a:t>
            </a:r>
            <a:endParaRPr lang="en-US" sz="3200" b="0" strike="noStrike" spc="-1">
              <a:solidFill>
                <a:srgbClr val="4D3E2F"/>
              </a:solidFill>
              <a:latin typeface="Corbel"/>
            </a:endParaRPr>
          </a:p>
        </p:txBody>
      </p:sp>
      <p:sp>
        <p:nvSpPr>
          <p:cNvPr id="220" name="PlaceHolder 4"/>
          <p:cNvSpPr>
            <a:spLocks noGrp="1"/>
          </p:cNvSpPr>
          <p:nvPr>
            <p:ph type="body"/>
          </p:nvPr>
        </p:nvSpPr>
        <p:spPr>
          <a:xfrm>
            <a:off x="0" y="915840"/>
            <a:ext cx="6626160" cy="5065560"/>
          </a:xfrm>
          <a:prstGeom prst="rect">
            <a:avLst/>
          </a:prstGeom>
        </p:spPr>
        <p:txBody>
          <a:bodyPr lIns="90000" tIns="1371600" rIns="90000" bIns="45000" anchor="ctr">
            <a:normAutofit/>
          </a:bodyPr>
          <a:lstStyle/>
          <a:p>
            <a:pPr algn="ctr">
              <a:lnSpc>
                <a:spcPct val="100000"/>
              </a:lnSpc>
            </a:pPr>
            <a:r>
              <a:rPr lang="en-US" sz="2200" b="0" strike="noStrike" spc="-1">
                <a:solidFill>
                  <a:srgbClr val="4D3E2F"/>
                </a:solidFill>
                <a:latin typeface="Corbel"/>
              </a:rPr>
              <a:t>Click icon to add picture</a:t>
            </a:r>
          </a:p>
        </p:txBody>
      </p:sp>
      <p:sp>
        <p:nvSpPr>
          <p:cNvPr id="221" name="PlaceHolder 5"/>
          <p:cNvSpPr>
            <a:spLocks noGrp="1"/>
          </p:cNvSpPr>
          <p:nvPr>
            <p:ph type="body"/>
          </p:nvPr>
        </p:nvSpPr>
        <p:spPr>
          <a:xfrm>
            <a:off x="6682320" y="3502080"/>
            <a:ext cx="4155120" cy="2479320"/>
          </a:xfrm>
          <a:prstGeom prst="rect">
            <a:avLst/>
          </a:prstGeom>
        </p:spPr>
        <p:txBody>
          <a:bodyPr>
            <a:normAutofit/>
          </a:bodyPr>
          <a:lstStyle/>
          <a:p>
            <a:pPr>
              <a:lnSpc>
                <a:spcPct val="90000"/>
              </a:lnSpc>
              <a:spcBef>
                <a:spcPts val="901"/>
              </a:spcBef>
            </a:pPr>
            <a:r>
              <a:rPr lang="en-US" sz="1800" b="0" strike="noStrike" spc="-1">
                <a:solidFill>
                  <a:srgbClr val="4D3E2F"/>
                </a:solidFill>
                <a:latin typeface="Corbel"/>
              </a:rPr>
              <a:t>Click to edit Master text styles</a:t>
            </a:r>
          </a:p>
        </p:txBody>
      </p:sp>
      <p:sp>
        <p:nvSpPr>
          <p:cNvPr id="222" name="PlaceHolder 6"/>
          <p:cNvSpPr>
            <a:spLocks noGrp="1"/>
          </p:cNvSpPr>
          <p:nvPr>
            <p:ph type="sldNum"/>
          </p:nvPr>
        </p:nvSpPr>
        <p:spPr>
          <a:xfrm>
            <a:off x="0" y="6629400"/>
            <a:ext cx="410040" cy="228240"/>
          </a:xfrm>
          <a:prstGeom prst="rect">
            <a:avLst/>
          </a:prstGeom>
        </p:spPr>
        <p:txBody>
          <a:bodyPr anchor="ctr">
            <a:noAutofit/>
          </a:bodyPr>
          <a:lstStyle/>
          <a:p>
            <a:pPr algn="r">
              <a:lnSpc>
                <a:spcPct val="100000"/>
              </a:lnSpc>
            </a:pPr>
            <a:fld id="{3ADC6CB3-CC15-474F-98D6-3B78AFFE63A4}" type="slidenum">
              <a:rPr lang="en-IN" sz="1100" b="0" strike="noStrike" spc="-1">
                <a:solidFill>
                  <a:srgbClr val="455500"/>
                </a:solidFill>
                <a:latin typeface="Corbel"/>
              </a:rPr>
              <a:t>‹#›</a:t>
            </a:fld>
            <a:endParaRPr lang="en-IN" sz="1100" b="0" strike="noStrike" spc="-1">
              <a:latin typeface="Times New Roman"/>
            </a:endParaRPr>
          </a:p>
        </p:txBody>
      </p:sp>
      <p:sp>
        <p:nvSpPr>
          <p:cNvPr id="223" name="PlaceHolder 7"/>
          <p:cNvSpPr>
            <a:spLocks noGrp="1"/>
          </p:cNvSpPr>
          <p:nvPr>
            <p:ph type="dt"/>
          </p:nvPr>
        </p:nvSpPr>
        <p:spPr>
          <a:xfrm>
            <a:off x="453240" y="6629400"/>
            <a:ext cx="1000440" cy="228240"/>
          </a:xfrm>
          <a:prstGeom prst="rect">
            <a:avLst/>
          </a:prstGeom>
        </p:spPr>
        <p:txBody>
          <a:bodyPr anchor="ctr">
            <a:noAutofit/>
          </a:bodyPr>
          <a:lstStyle/>
          <a:p>
            <a:pPr algn="r">
              <a:lnSpc>
                <a:spcPct val="100000"/>
              </a:lnSpc>
            </a:pPr>
            <a:fld id="{31A576E8-B967-42C7-8D26-AAB7D274E798}" type="datetime1">
              <a:rPr lang="en-IN" sz="1100" b="0" strike="noStrike" spc="-1">
                <a:solidFill>
                  <a:srgbClr val="455500"/>
                </a:solidFill>
                <a:latin typeface="Corbel"/>
              </a:rPr>
              <a:t>24-08-2026</a:t>
            </a:fld>
            <a:endParaRPr lang="en-IN" sz="1100" b="0" strike="noStrike" spc="-1">
              <a:latin typeface="Times New Roman"/>
            </a:endParaRPr>
          </a:p>
        </p:txBody>
      </p:sp>
      <p:sp>
        <p:nvSpPr>
          <p:cNvPr id="224" name="PlaceHolder 8"/>
          <p:cNvSpPr>
            <a:spLocks noGrp="1"/>
          </p:cNvSpPr>
          <p:nvPr>
            <p:ph type="ftr"/>
          </p:nvPr>
        </p:nvSpPr>
        <p:spPr>
          <a:xfrm>
            <a:off x="1637640" y="6629400"/>
            <a:ext cx="9144000" cy="228240"/>
          </a:xfrm>
          <a:prstGeom prst="rect">
            <a:avLst/>
          </a:prstGeom>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TextShape 1"/>
          <p:cNvSpPr txBox="1"/>
          <p:nvPr/>
        </p:nvSpPr>
        <p:spPr>
          <a:xfrm>
            <a:off x="1537200" y="1294560"/>
            <a:ext cx="9371520" cy="3764160"/>
          </a:xfrm>
          <a:prstGeom prst="rect">
            <a:avLst/>
          </a:prstGeom>
          <a:noFill/>
          <a:ln>
            <a:noFill/>
          </a:ln>
        </p:spPr>
        <p:txBody>
          <a:bodyPr anchor="b">
            <a:normAutofit/>
          </a:bodyPr>
          <a:lstStyle/>
          <a:p>
            <a:pPr>
              <a:lnSpc>
                <a:spcPct val="100000"/>
              </a:lnSpc>
            </a:pPr>
            <a:r>
              <a:rPr lang="en-US" sz="4400" b="0" strike="noStrike" spc="-1">
                <a:solidFill>
                  <a:srgbClr val="687F00"/>
                </a:solidFill>
                <a:latin typeface="Corbel"/>
              </a:rPr>
              <a:t>Unit-II</a:t>
            </a:r>
            <a:br/>
            <a:br/>
            <a:r>
              <a:rPr lang="en-US" sz="4400" b="0" strike="noStrike" spc="-1">
                <a:solidFill>
                  <a:srgbClr val="687F00"/>
                </a:solidFill>
                <a:latin typeface="Corbel"/>
              </a:rPr>
              <a:t>Introduction to Big Data Analytics</a:t>
            </a:r>
            <a:br/>
            <a:br/>
            <a:r>
              <a:rPr lang="en-US" sz="3300" b="0" strike="noStrike" spc="-1">
                <a:solidFill>
                  <a:srgbClr val="687F00"/>
                </a:solidFill>
                <a:latin typeface="Corbel"/>
              </a:rPr>
              <a:t>                                                                                   </a:t>
            </a:r>
            <a:br/>
            <a:endParaRPr lang="en-US" sz="3300" b="0" strike="noStrike" spc="-1">
              <a:solidFill>
                <a:srgbClr val="4D3E2F"/>
              </a:solidFill>
              <a:latin typeface="Corbel"/>
            </a:endParaRPr>
          </a:p>
        </p:txBody>
      </p:sp>
      <p:sp>
        <p:nvSpPr>
          <p:cNvPr id="262" name="TextShape 2"/>
          <p:cNvSpPr txBox="1"/>
          <p:nvPr/>
        </p:nvSpPr>
        <p:spPr>
          <a:xfrm>
            <a:off x="0" y="6629400"/>
            <a:ext cx="410040" cy="228240"/>
          </a:xfrm>
          <a:prstGeom prst="rect">
            <a:avLst/>
          </a:prstGeom>
          <a:noFill/>
          <a:ln>
            <a:noFill/>
          </a:ln>
        </p:spPr>
        <p:txBody>
          <a:bodyPr anchor="ctr">
            <a:noAutofit/>
          </a:bodyPr>
          <a:lstStyle/>
          <a:p>
            <a:pPr algn="r">
              <a:lnSpc>
                <a:spcPct val="100000"/>
              </a:lnSpc>
            </a:pPr>
            <a:fld id="{07309E1B-A2D6-4144-8D03-D34D3A3B3EFC}" type="slidenum">
              <a:rPr lang="en-IN" sz="1100" b="0" strike="noStrike" spc="-1">
                <a:solidFill>
                  <a:srgbClr val="455500"/>
                </a:solidFill>
                <a:latin typeface="Corbel"/>
              </a:rPr>
              <a:t>1</a:t>
            </a:fld>
            <a:endParaRPr lang="en-IN" sz="1100" b="0" strike="noStrike" spc="-1">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TextShape 1"/>
          <p:cNvSpPr txBox="1"/>
          <p:nvPr/>
        </p:nvSpPr>
        <p:spPr>
          <a:xfrm>
            <a:off x="1410120" y="276120"/>
            <a:ext cx="9371520" cy="1183320"/>
          </a:xfrm>
          <a:prstGeom prst="rect">
            <a:avLst/>
          </a:prstGeom>
          <a:noFill/>
          <a:ln>
            <a:noFill/>
          </a:ln>
        </p:spPr>
        <p:txBody>
          <a:bodyPr anchor="b">
            <a:normAutofit/>
          </a:bodyPr>
          <a:lstStyle/>
          <a:p>
            <a:pPr>
              <a:lnSpc>
                <a:spcPct val="100000"/>
              </a:lnSpc>
            </a:pPr>
            <a:r>
              <a:rPr lang="en-US" sz="3400" b="1" strike="noStrike" spc="-1">
                <a:solidFill>
                  <a:srgbClr val="687F00"/>
                </a:solidFill>
                <a:latin typeface="Corbel"/>
              </a:rPr>
              <a:t>Big Data Analytics</a:t>
            </a:r>
            <a:br/>
            <a:endParaRPr lang="en-US" sz="3400" b="0" strike="noStrike" spc="-1">
              <a:solidFill>
                <a:srgbClr val="4D3E2F"/>
              </a:solidFill>
              <a:latin typeface="Corbel"/>
            </a:endParaRPr>
          </a:p>
        </p:txBody>
      </p:sp>
      <p:sp>
        <p:nvSpPr>
          <p:cNvPr id="264" name="TextShape 2"/>
          <p:cNvSpPr txBox="1"/>
          <p:nvPr/>
        </p:nvSpPr>
        <p:spPr>
          <a:xfrm>
            <a:off x="1074600" y="1566000"/>
            <a:ext cx="10503720" cy="4620240"/>
          </a:xfrm>
          <a:prstGeom prst="rect">
            <a:avLst/>
          </a:prstGeom>
          <a:noFill/>
          <a:ln>
            <a:noFill/>
          </a:ln>
        </p:spPr>
        <p:txBody>
          <a:bodyPr>
            <a:normAutofit/>
          </a:bodyPr>
          <a:lstStyle/>
          <a:p>
            <a:pPr marL="210240" indent="-209880">
              <a:lnSpc>
                <a:spcPct val="90000"/>
              </a:lnSpc>
              <a:spcBef>
                <a:spcPts val="1100"/>
              </a:spcBef>
              <a:buClr>
                <a:srgbClr val="4D3E2F"/>
              </a:buClr>
              <a:buFont typeface="Arial"/>
              <a:buChar char="•"/>
            </a:pPr>
            <a:r>
              <a:rPr lang="en-US" sz="2200" b="1" strike="noStrike" spc="-1">
                <a:solidFill>
                  <a:srgbClr val="4D3E2F"/>
                </a:solidFill>
                <a:latin typeface="Calibri"/>
              </a:rPr>
              <a:t>What is Big Data Analytics?</a:t>
            </a:r>
            <a:endParaRPr lang="en-US" sz="2200" b="0" strike="noStrike" spc="-1">
              <a:solidFill>
                <a:srgbClr val="4D3E2F"/>
              </a:solidFill>
              <a:latin typeface="Corbel"/>
            </a:endParaRPr>
          </a:p>
          <a:p>
            <a:pPr marL="210240" indent="-209880">
              <a:lnSpc>
                <a:spcPct val="90000"/>
              </a:lnSpc>
              <a:spcBef>
                <a:spcPts val="1100"/>
              </a:spcBef>
              <a:buClr>
                <a:srgbClr val="4D3E2F"/>
              </a:buClr>
              <a:buFont typeface="Arial"/>
              <a:buChar char="•"/>
            </a:pPr>
            <a:r>
              <a:rPr lang="en-US" sz="2200" b="1" strike="noStrike" spc="-1">
                <a:solidFill>
                  <a:srgbClr val="4D3E2F"/>
                </a:solidFill>
                <a:latin typeface="Calibri"/>
              </a:rPr>
              <a:t>Big Data Analytics</a:t>
            </a:r>
            <a:r>
              <a:rPr lang="en-US" sz="2200" b="0" strike="noStrike" spc="-1">
                <a:solidFill>
                  <a:srgbClr val="4D3E2F"/>
                </a:solidFill>
                <a:latin typeface="Calibri"/>
              </a:rPr>
              <a:t> is the process of collecting, processing, analyzing, and interpreting very large and complex datasets to discover </a:t>
            </a:r>
            <a:r>
              <a:rPr lang="en-US" sz="2200" b="1" strike="noStrike" spc="-1">
                <a:solidFill>
                  <a:srgbClr val="4D3E2F"/>
                </a:solidFill>
                <a:latin typeface="Calibri"/>
              </a:rPr>
              <a:t>patterns, relationships, trends, and actionable insights</a:t>
            </a:r>
            <a:r>
              <a:rPr lang="en-US" sz="2200" b="0" strike="noStrike" spc="-1">
                <a:solidFill>
                  <a:srgbClr val="4D3E2F"/>
                </a:solidFill>
                <a:latin typeface="Calibri"/>
              </a:rPr>
              <a:t>.</a:t>
            </a:r>
            <a:endParaRPr lang="en-US" sz="2200" b="0" strike="noStrike" spc="-1">
              <a:solidFill>
                <a:srgbClr val="4D3E2F"/>
              </a:solidFill>
              <a:latin typeface="Corbel"/>
            </a:endParaRPr>
          </a:p>
          <a:p>
            <a:pPr marL="210240" indent="-209880">
              <a:lnSpc>
                <a:spcPct val="90000"/>
              </a:lnSpc>
              <a:spcBef>
                <a:spcPts val="1100"/>
              </a:spcBef>
              <a:buClr>
                <a:srgbClr val="4D3E2F"/>
              </a:buClr>
              <a:buFont typeface="Arial"/>
              <a:buChar char="•"/>
            </a:pPr>
            <a:r>
              <a:rPr lang="en-US" sz="2200" b="0" strike="noStrike" spc="-1">
                <a:solidFill>
                  <a:srgbClr val="4D3E2F"/>
                </a:solidFill>
                <a:latin typeface="Calibri"/>
              </a:rPr>
              <a:t>Traditional analytics generally works with structured data stored in relational databases. Big Data Analytics extends this capability to:</a:t>
            </a:r>
            <a:endParaRPr lang="en-US" sz="2200" b="0" strike="noStrike" spc="-1">
              <a:solidFill>
                <a:srgbClr val="4D3E2F"/>
              </a:solidFill>
              <a:latin typeface="Corbel"/>
            </a:endParaRPr>
          </a:p>
          <a:p>
            <a:pPr marL="457200" indent="-456840">
              <a:lnSpc>
                <a:spcPct val="90000"/>
              </a:lnSpc>
              <a:spcBef>
                <a:spcPts val="1100"/>
              </a:spcBef>
              <a:buClr>
                <a:srgbClr val="4D3E2F"/>
              </a:buClr>
              <a:buFont typeface="Corbel"/>
              <a:buAutoNum type="arabicPeriod"/>
            </a:pPr>
            <a:r>
              <a:rPr lang="en-US" sz="2200" b="0" strike="noStrike" spc="-1">
                <a:solidFill>
                  <a:srgbClr val="4D3E2F"/>
                </a:solidFill>
                <a:latin typeface="Calibri"/>
              </a:rPr>
              <a:t>Structured data </a:t>
            </a:r>
            <a:endParaRPr lang="en-US" sz="2200" b="0" strike="noStrike" spc="-1">
              <a:solidFill>
                <a:srgbClr val="4D3E2F"/>
              </a:solidFill>
              <a:latin typeface="Corbel"/>
            </a:endParaRPr>
          </a:p>
          <a:p>
            <a:pPr marL="457200" indent="-456840">
              <a:lnSpc>
                <a:spcPct val="90000"/>
              </a:lnSpc>
              <a:spcBef>
                <a:spcPts val="1100"/>
              </a:spcBef>
              <a:buClr>
                <a:srgbClr val="4D3E2F"/>
              </a:buClr>
              <a:buFont typeface="Corbel"/>
              <a:buAutoNum type="arabicPeriod"/>
            </a:pPr>
            <a:r>
              <a:rPr lang="en-US" sz="2200" b="0" strike="noStrike" spc="-1">
                <a:solidFill>
                  <a:srgbClr val="4D3E2F"/>
                </a:solidFill>
                <a:latin typeface="Calibri"/>
              </a:rPr>
              <a:t>Semi-structured data </a:t>
            </a:r>
            <a:endParaRPr lang="en-US" sz="2200" b="0" strike="noStrike" spc="-1">
              <a:solidFill>
                <a:srgbClr val="4D3E2F"/>
              </a:solidFill>
              <a:latin typeface="Corbel"/>
            </a:endParaRPr>
          </a:p>
          <a:p>
            <a:pPr marL="457200" indent="-456840">
              <a:lnSpc>
                <a:spcPct val="90000"/>
              </a:lnSpc>
              <a:spcBef>
                <a:spcPts val="1100"/>
              </a:spcBef>
              <a:buClr>
                <a:srgbClr val="4D3E2F"/>
              </a:buClr>
              <a:buFont typeface="Corbel"/>
              <a:buAutoNum type="arabicPeriod"/>
            </a:pPr>
            <a:r>
              <a:rPr lang="en-US" sz="2200" b="0" strike="noStrike" spc="-1">
                <a:solidFill>
                  <a:srgbClr val="4D3E2F"/>
                </a:solidFill>
                <a:latin typeface="Calibri"/>
              </a:rPr>
              <a:t>Unstructured data </a:t>
            </a:r>
            <a:endParaRPr lang="en-US" sz="2200" b="0" strike="noStrike" spc="-1">
              <a:solidFill>
                <a:srgbClr val="4D3E2F"/>
              </a:solidFill>
              <a:latin typeface="Corbel"/>
            </a:endParaRPr>
          </a:p>
          <a:p>
            <a:pPr marL="457200" indent="-456840">
              <a:lnSpc>
                <a:spcPct val="90000"/>
              </a:lnSpc>
              <a:spcBef>
                <a:spcPts val="1100"/>
              </a:spcBef>
              <a:buClr>
                <a:srgbClr val="4D3E2F"/>
              </a:buClr>
              <a:buFont typeface="Corbel"/>
              <a:buAutoNum type="arabicPeriod"/>
            </a:pPr>
            <a:r>
              <a:rPr lang="en-US" sz="2200" b="0" strike="noStrike" spc="-1">
                <a:solidFill>
                  <a:srgbClr val="4D3E2F"/>
                </a:solidFill>
                <a:latin typeface="Calibri"/>
              </a:rPr>
              <a:t>Batch data </a:t>
            </a:r>
            <a:endParaRPr lang="en-US" sz="2200" b="0" strike="noStrike" spc="-1">
              <a:solidFill>
                <a:srgbClr val="4D3E2F"/>
              </a:solidFill>
              <a:latin typeface="Corbel"/>
            </a:endParaRPr>
          </a:p>
          <a:p>
            <a:pPr marL="457200" indent="-456840">
              <a:lnSpc>
                <a:spcPct val="90000"/>
              </a:lnSpc>
              <a:spcBef>
                <a:spcPts val="1100"/>
              </a:spcBef>
              <a:buClr>
                <a:srgbClr val="4D3E2F"/>
              </a:buClr>
              <a:buFont typeface="Corbel"/>
              <a:buAutoNum type="arabicPeriod"/>
            </a:pPr>
            <a:r>
              <a:rPr lang="en-US" sz="2200" b="0" strike="noStrike" spc="-1">
                <a:solidFill>
                  <a:srgbClr val="4D3E2F"/>
                </a:solidFill>
                <a:latin typeface="Calibri"/>
              </a:rPr>
              <a:t>Streaming/real-time data</a:t>
            </a:r>
            <a:endParaRPr lang="en-US" sz="2200" b="0" strike="noStrike" spc="-1">
              <a:solidFill>
                <a:srgbClr val="4D3E2F"/>
              </a:solidFill>
              <a:latin typeface="Corbel"/>
            </a:endParaRPr>
          </a:p>
        </p:txBody>
      </p:sp>
      <p:pic>
        <p:nvPicPr>
          <p:cNvPr id="265" name="Picture 7"/>
          <p:cNvPicPr/>
          <p:nvPr/>
        </p:nvPicPr>
        <p:blipFill>
          <a:blip r:embed="rId2"/>
          <a:stretch/>
        </p:blipFill>
        <p:spPr>
          <a:xfrm>
            <a:off x="6095880" y="3669480"/>
            <a:ext cx="6095520" cy="285768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TextShape 1"/>
          <p:cNvSpPr txBox="1"/>
          <p:nvPr/>
        </p:nvSpPr>
        <p:spPr>
          <a:xfrm>
            <a:off x="1074600" y="308880"/>
            <a:ext cx="6359040" cy="5877720"/>
          </a:xfrm>
          <a:prstGeom prst="rect">
            <a:avLst/>
          </a:prstGeom>
          <a:noFill/>
          <a:ln>
            <a:noFill/>
          </a:ln>
        </p:spPr>
        <p:txBody>
          <a:bodyPr>
            <a:normAutofit/>
          </a:bodyPr>
          <a:lstStyle/>
          <a:p>
            <a:pPr>
              <a:lnSpc>
                <a:spcPct val="90000"/>
              </a:lnSpc>
              <a:spcBef>
                <a:spcPts val="1100"/>
              </a:spcBef>
            </a:pPr>
            <a:r>
              <a:rPr lang="en-US" sz="2200" b="1" strike="noStrike" spc="-1">
                <a:solidFill>
                  <a:srgbClr val="687F00"/>
                </a:solidFill>
                <a:latin typeface="Corbel"/>
              </a:rPr>
              <a:t>Basic Pipeline of Data Analytics</a:t>
            </a:r>
            <a:endParaRPr lang="en-US" sz="2200" b="0" strike="noStrike" spc="-1">
              <a:solidFill>
                <a:srgbClr val="4D3E2F"/>
              </a:solidFill>
              <a:latin typeface="Corbel"/>
            </a:endParaRPr>
          </a:p>
        </p:txBody>
      </p:sp>
      <p:sp>
        <p:nvSpPr>
          <p:cNvPr id="267" name="TextShape 2"/>
          <p:cNvSpPr txBox="1"/>
          <p:nvPr/>
        </p:nvSpPr>
        <p:spPr>
          <a:xfrm>
            <a:off x="0" y="6629400"/>
            <a:ext cx="410040" cy="228240"/>
          </a:xfrm>
          <a:prstGeom prst="rect">
            <a:avLst/>
          </a:prstGeom>
          <a:noFill/>
          <a:ln>
            <a:noFill/>
          </a:ln>
        </p:spPr>
        <p:txBody>
          <a:bodyPr anchor="ctr">
            <a:noAutofit/>
          </a:bodyPr>
          <a:lstStyle/>
          <a:p>
            <a:pPr algn="r">
              <a:lnSpc>
                <a:spcPct val="100000"/>
              </a:lnSpc>
            </a:pPr>
            <a:fld id="{E0E4C6B7-CF32-4F5D-8DF6-82352E3A10C4}" type="slidenum">
              <a:rPr lang="en-IN" sz="1100" b="0" strike="noStrike" spc="-1">
                <a:solidFill>
                  <a:srgbClr val="455500"/>
                </a:solidFill>
                <a:latin typeface="Corbel"/>
              </a:rPr>
              <a:t>3</a:t>
            </a:fld>
            <a:endParaRPr lang="en-IN" sz="1100" b="0" strike="noStrike" spc="-1">
              <a:latin typeface="Times New Roman"/>
            </a:endParaRPr>
          </a:p>
        </p:txBody>
      </p:sp>
      <p:sp>
        <p:nvSpPr>
          <p:cNvPr id="268" name="CustomShape 3"/>
          <p:cNvSpPr/>
          <p:nvPr/>
        </p:nvSpPr>
        <p:spPr>
          <a:xfrm>
            <a:off x="1294560" y="1074600"/>
            <a:ext cx="3871080" cy="4664160"/>
          </a:xfrm>
          <a:prstGeom prst="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IN" sz="2000" b="1" strike="noStrike" spc="-1">
                <a:solidFill>
                  <a:srgbClr val="4D3E2F"/>
                </a:solidFill>
                <a:latin typeface="Calibri"/>
              </a:rPr>
              <a:t>    Data Sources</a:t>
            </a:r>
            <a:endParaRPr lang="en-IN" sz="2000" b="0" strike="noStrike" spc="-1">
              <a:latin typeface="Arial"/>
            </a:endParaRPr>
          </a:p>
          <a:p>
            <a:pPr>
              <a:lnSpc>
                <a:spcPct val="100000"/>
              </a:lnSpc>
            </a:pPr>
            <a:r>
              <a:rPr lang="en-IN" sz="2000" b="1" strike="noStrike" spc="-1">
                <a:solidFill>
                  <a:srgbClr val="4D3E2F"/>
                </a:solidFill>
                <a:latin typeface="Calibri"/>
              </a:rPr>
              <a:t>              ↓</a:t>
            </a:r>
            <a:endParaRPr lang="en-IN" sz="2000" b="0" strike="noStrike" spc="-1">
              <a:latin typeface="Arial"/>
            </a:endParaRPr>
          </a:p>
          <a:p>
            <a:pPr>
              <a:lnSpc>
                <a:spcPct val="100000"/>
              </a:lnSpc>
            </a:pPr>
            <a:r>
              <a:rPr lang="en-IN" sz="2000" b="1" strike="noStrike" spc="-1">
                <a:solidFill>
                  <a:srgbClr val="4D3E2F"/>
                </a:solidFill>
                <a:latin typeface="Calibri"/>
              </a:rPr>
              <a:t>    Data Collection</a:t>
            </a:r>
            <a:endParaRPr lang="en-IN" sz="2000" b="0" strike="noStrike" spc="-1">
              <a:latin typeface="Arial"/>
            </a:endParaRPr>
          </a:p>
          <a:p>
            <a:pPr>
              <a:lnSpc>
                <a:spcPct val="100000"/>
              </a:lnSpc>
            </a:pPr>
            <a:r>
              <a:rPr lang="en-IN" sz="2000" b="1" strike="noStrike" spc="-1">
                <a:solidFill>
                  <a:srgbClr val="4D3E2F"/>
                </a:solidFill>
                <a:latin typeface="Calibri"/>
              </a:rPr>
              <a:t>              ↓</a:t>
            </a:r>
            <a:endParaRPr lang="en-IN" sz="2000" b="0" strike="noStrike" spc="-1">
              <a:latin typeface="Arial"/>
            </a:endParaRPr>
          </a:p>
          <a:p>
            <a:pPr>
              <a:lnSpc>
                <a:spcPct val="100000"/>
              </a:lnSpc>
            </a:pPr>
            <a:r>
              <a:rPr lang="en-IN" sz="2000" b="1" strike="noStrike" spc="-1">
                <a:solidFill>
                  <a:srgbClr val="4D3E2F"/>
                </a:solidFill>
                <a:latin typeface="Calibri"/>
              </a:rPr>
              <a:t>        Data Storage</a:t>
            </a:r>
            <a:endParaRPr lang="en-IN" sz="2000" b="0" strike="noStrike" spc="-1">
              <a:latin typeface="Arial"/>
            </a:endParaRPr>
          </a:p>
          <a:p>
            <a:pPr>
              <a:lnSpc>
                <a:spcPct val="100000"/>
              </a:lnSpc>
            </a:pPr>
            <a:r>
              <a:rPr lang="en-IN" sz="2000" b="1" strike="noStrike" spc="-1">
                <a:solidFill>
                  <a:srgbClr val="4D3E2F"/>
                </a:solidFill>
                <a:latin typeface="Calibri"/>
              </a:rPr>
              <a:t>              ↓</a:t>
            </a:r>
            <a:endParaRPr lang="en-IN" sz="2000" b="0" strike="noStrike" spc="-1">
              <a:latin typeface="Arial"/>
            </a:endParaRPr>
          </a:p>
          <a:p>
            <a:pPr>
              <a:lnSpc>
                <a:spcPct val="100000"/>
              </a:lnSpc>
            </a:pPr>
            <a:r>
              <a:rPr lang="en-IN" sz="2000" b="1" strike="noStrike" spc="-1">
                <a:solidFill>
                  <a:srgbClr val="4D3E2F"/>
                </a:solidFill>
                <a:latin typeface="Calibri"/>
              </a:rPr>
              <a:t>      Data Processing</a:t>
            </a:r>
            <a:endParaRPr lang="en-IN" sz="2000" b="0" strike="noStrike" spc="-1">
              <a:latin typeface="Arial"/>
            </a:endParaRPr>
          </a:p>
          <a:p>
            <a:pPr>
              <a:lnSpc>
                <a:spcPct val="100000"/>
              </a:lnSpc>
            </a:pPr>
            <a:r>
              <a:rPr lang="en-IN" sz="2000" b="1" strike="noStrike" spc="-1">
                <a:solidFill>
                  <a:srgbClr val="4D3E2F"/>
                </a:solidFill>
                <a:latin typeface="Calibri"/>
              </a:rPr>
              <a:t>             ↓</a:t>
            </a:r>
            <a:endParaRPr lang="en-IN" sz="2000" b="0" strike="noStrike" spc="-1">
              <a:latin typeface="Arial"/>
            </a:endParaRPr>
          </a:p>
          <a:p>
            <a:pPr>
              <a:lnSpc>
                <a:spcPct val="100000"/>
              </a:lnSpc>
            </a:pPr>
            <a:r>
              <a:rPr lang="en-IN" sz="2000" b="1" strike="noStrike" spc="-1">
                <a:solidFill>
                  <a:srgbClr val="4D3E2F"/>
                </a:solidFill>
                <a:latin typeface="Calibri"/>
              </a:rPr>
              <a:t>       Data Analysis</a:t>
            </a:r>
            <a:endParaRPr lang="en-IN" sz="2000" b="0" strike="noStrike" spc="-1">
              <a:latin typeface="Arial"/>
            </a:endParaRPr>
          </a:p>
          <a:p>
            <a:pPr>
              <a:lnSpc>
                <a:spcPct val="100000"/>
              </a:lnSpc>
            </a:pPr>
            <a:r>
              <a:rPr lang="en-IN" sz="2000" b="1" strike="noStrike" spc="-1">
                <a:solidFill>
                  <a:srgbClr val="4D3E2F"/>
                </a:solidFill>
                <a:latin typeface="Calibri"/>
              </a:rPr>
              <a:t>             ↓</a:t>
            </a:r>
            <a:endParaRPr lang="en-IN" sz="2000" b="0" strike="noStrike" spc="-1">
              <a:latin typeface="Arial"/>
            </a:endParaRPr>
          </a:p>
          <a:p>
            <a:pPr>
              <a:lnSpc>
                <a:spcPct val="100000"/>
              </a:lnSpc>
            </a:pPr>
            <a:r>
              <a:rPr lang="en-IN" sz="2000" b="1" strike="noStrike" spc="-1">
                <a:solidFill>
                  <a:srgbClr val="4D3E2F"/>
                </a:solidFill>
                <a:latin typeface="Calibri"/>
              </a:rPr>
              <a:t>   Pattern / Knowledge Discovery</a:t>
            </a:r>
            <a:endParaRPr lang="en-IN" sz="2000" b="0" strike="noStrike" spc="-1">
              <a:latin typeface="Arial"/>
            </a:endParaRPr>
          </a:p>
          <a:p>
            <a:pPr>
              <a:lnSpc>
                <a:spcPct val="100000"/>
              </a:lnSpc>
            </a:pPr>
            <a:r>
              <a:rPr lang="en-IN" sz="2000" b="1" strike="noStrike" spc="-1">
                <a:solidFill>
                  <a:srgbClr val="4D3E2F"/>
                </a:solidFill>
                <a:latin typeface="Calibri"/>
              </a:rPr>
              <a:t>             ↓</a:t>
            </a:r>
            <a:endParaRPr lang="en-IN" sz="2000" b="0" strike="noStrike" spc="-1">
              <a:latin typeface="Arial"/>
            </a:endParaRPr>
          </a:p>
          <a:p>
            <a:pPr>
              <a:lnSpc>
                <a:spcPct val="100000"/>
              </a:lnSpc>
            </a:pPr>
            <a:r>
              <a:rPr lang="en-IN" sz="2000" b="1" strike="noStrike" spc="-1">
                <a:solidFill>
                  <a:srgbClr val="4D3E2F"/>
                </a:solidFill>
                <a:latin typeface="Calibri"/>
              </a:rPr>
              <a:t>        Visualization</a:t>
            </a:r>
            <a:endParaRPr lang="en-IN" sz="2000" b="0" strike="noStrike" spc="-1">
              <a:latin typeface="Arial"/>
            </a:endParaRPr>
          </a:p>
          <a:p>
            <a:pPr>
              <a:lnSpc>
                <a:spcPct val="100000"/>
              </a:lnSpc>
            </a:pPr>
            <a:r>
              <a:rPr lang="en-IN" sz="2000" b="1" strike="noStrike" spc="-1">
                <a:solidFill>
                  <a:srgbClr val="4D3E2F"/>
                </a:solidFill>
                <a:latin typeface="Calibri"/>
              </a:rPr>
              <a:t>              ↓</a:t>
            </a:r>
            <a:endParaRPr lang="en-IN" sz="2000" b="0" strike="noStrike" spc="-1">
              <a:latin typeface="Arial"/>
            </a:endParaRPr>
          </a:p>
          <a:p>
            <a:pPr>
              <a:lnSpc>
                <a:spcPct val="100000"/>
              </a:lnSpc>
            </a:pPr>
            <a:r>
              <a:rPr lang="en-IN" sz="2000" b="1" strike="noStrike" spc="-1">
                <a:solidFill>
                  <a:srgbClr val="4D3E2F"/>
                </a:solidFill>
                <a:latin typeface="Calibri"/>
              </a:rPr>
              <a:t>    Decision Making</a:t>
            </a:r>
            <a:endParaRPr lang="en-IN" sz="2000" b="0" strike="noStrike" spc="-1">
              <a:latin typeface="Arial"/>
            </a:endParaRPr>
          </a:p>
        </p:txBody>
      </p:sp>
      <p:sp>
        <p:nvSpPr>
          <p:cNvPr id="269" name="CustomShape 4"/>
          <p:cNvSpPr/>
          <p:nvPr/>
        </p:nvSpPr>
        <p:spPr>
          <a:xfrm>
            <a:off x="6270120" y="3327480"/>
            <a:ext cx="5862600" cy="2833560"/>
          </a:xfrm>
          <a:prstGeom prst="rect">
            <a:avLst/>
          </a:prstGeom>
          <a:solidFill>
            <a:schemeClr val="bg1">
              <a:lumMod val="85000"/>
            </a:schemeClr>
          </a:solid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IN" sz="1800" b="1" strike="noStrike" spc="-1">
                <a:solidFill>
                  <a:srgbClr val="4D3E2F"/>
                </a:solidFill>
                <a:latin typeface="Corbel"/>
              </a:rPr>
              <a:t>Example</a:t>
            </a:r>
            <a:endParaRPr lang="en-IN" sz="1800" b="0" strike="noStrike" spc="-1">
              <a:latin typeface="Arial"/>
            </a:endParaRPr>
          </a:p>
          <a:p>
            <a:pPr>
              <a:lnSpc>
                <a:spcPct val="100000"/>
              </a:lnSpc>
            </a:pPr>
            <a:r>
              <a:rPr lang="en-IN" sz="1800" b="0" strike="noStrike" spc="-1">
                <a:solidFill>
                  <a:srgbClr val="4D3E2F"/>
                </a:solidFill>
                <a:latin typeface="Corbel"/>
              </a:rPr>
              <a:t>An e-commerce company collects:</a:t>
            </a:r>
            <a:endParaRPr lang="en-IN" sz="1800" b="0" strike="noStrike" spc="-1">
              <a:latin typeface="Arial"/>
            </a:endParaRPr>
          </a:p>
          <a:p>
            <a:pPr>
              <a:lnSpc>
                <a:spcPct val="100000"/>
              </a:lnSpc>
            </a:pPr>
            <a:r>
              <a:rPr lang="en-IN" sz="1800" b="0" strike="noStrike" spc="-1">
                <a:solidFill>
                  <a:srgbClr val="4D3E2F"/>
                </a:solidFill>
                <a:latin typeface="Corbel"/>
              </a:rPr>
              <a:t>Customer transactions </a:t>
            </a:r>
            <a:endParaRPr lang="en-IN" sz="1800" b="0" strike="noStrike" spc="-1">
              <a:latin typeface="Arial"/>
            </a:endParaRPr>
          </a:p>
          <a:p>
            <a:pPr>
              <a:lnSpc>
                <a:spcPct val="100000"/>
              </a:lnSpc>
            </a:pPr>
            <a:r>
              <a:rPr lang="en-IN" sz="1800" b="0" strike="noStrike" spc="-1">
                <a:solidFill>
                  <a:srgbClr val="4D3E2F"/>
                </a:solidFill>
                <a:latin typeface="Corbel"/>
              </a:rPr>
              <a:t>Search history </a:t>
            </a:r>
            <a:endParaRPr lang="en-IN" sz="1800" b="0" strike="noStrike" spc="-1">
              <a:latin typeface="Arial"/>
            </a:endParaRPr>
          </a:p>
          <a:p>
            <a:pPr>
              <a:lnSpc>
                <a:spcPct val="100000"/>
              </a:lnSpc>
            </a:pPr>
            <a:r>
              <a:rPr lang="en-IN" sz="1800" b="0" strike="noStrike" spc="-1">
                <a:solidFill>
                  <a:srgbClr val="4D3E2F"/>
                </a:solidFill>
                <a:latin typeface="Corbel"/>
              </a:rPr>
              <a:t>Product reviews </a:t>
            </a:r>
            <a:endParaRPr lang="en-IN" sz="1800" b="0" strike="noStrike" spc="-1">
              <a:latin typeface="Arial"/>
            </a:endParaRPr>
          </a:p>
          <a:p>
            <a:pPr>
              <a:lnSpc>
                <a:spcPct val="100000"/>
              </a:lnSpc>
            </a:pPr>
            <a:r>
              <a:rPr lang="en-IN" sz="1800" b="0" strike="noStrike" spc="-1">
                <a:solidFill>
                  <a:srgbClr val="4D3E2F"/>
                </a:solidFill>
                <a:latin typeface="Corbel"/>
              </a:rPr>
              <a:t>Product images </a:t>
            </a:r>
            <a:endParaRPr lang="en-IN" sz="1800" b="0" strike="noStrike" spc="-1">
              <a:latin typeface="Arial"/>
            </a:endParaRPr>
          </a:p>
          <a:p>
            <a:pPr>
              <a:lnSpc>
                <a:spcPct val="100000"/>
              </a:lnSpc>
            </a:pPr>
            <a:r>
              <a:rPr lang="en-IN" sz="1800" b="0" strike="noStrike" spc="-1">
                <a:solidFill>
                  <a:srgbClr val="4D3E2F"/>
                </a:solidFill>
                <a:latin typeface="Corbel"/>
              </a:rPr>
              <a:t>Website clicks </a:t>
            </a:r>
            <a:endParaRPr lang="en-IN" sz="1800" b="0" strike="noStrike" spc="-1">
              <a:latin typeface="Arial"/>
            </a:endParaRPr>
          </a:p>
          <a:p>
            <a:pPr>
              <a:lnSpc>
                <a:spcPct val="100000"/>
              </a:lnSpc>
            </a:pPr>
            <a:r>
              <a:rPr lang="en-IN" sz="1800" b="0" strike="noStrike" spc="-1">
                <a:solidFill>
                  <a:srgbClr val="4D3E2F"/>
                </a:solidFill>
                <a:latin typeface="Corbel"/>
              </a:rPr>
              <a:t>Mobile-app activity </a:t>
            </a:r>
            <a:endParaRPr lang="en-IN" sz="1800" b="0" strike="noStrike" spc="-1">
              <a:latin typeface="Arial"/>
            </a:endParaRPr>
          </a:p>
          <a:p>
            <a:pPr>
              <a:lnSpc>
                <a:spcPct val="100000"/>
              </a:lnSpc>
            </a:pPr>
            <a:r>
              <a:rPr lang="en-IN" sz="1800" b="0" strike="noStrike" spc="-1">
                <a:solidFill>
                  <a:srgbClr val="4D3E2F"/>
                </a:solidFill>
                <a:latin typeface="Corbel"/>
              </a:rPr>
              <a:t>Big Data Analytics can combine these sources to determine:</a:t>
            </a:r>
            <a:endParaRPr lang="en-IN" sz="1800" b="0" strike="noStrike" spc="-1">
              <a:latin typeface="Arial"/>
            </a:endParaRPr>
          </a:p>
          <a:p>
            <a:pPr>
              <a:lnSpc>
                <a:spcPct val="100000"/>
              </a:lnSpc>
            </a:pPr>
            <a:r>
              <a:rPr lang="en-IN" sz="1800" b="0" strike="noStrike" spc="-1">
                <a:solidFill>
                  <a:srgbClr val="4D3E2F"/>
                </a:solidFill>
                <a:latin typeface="Corbel"/>
              </a:rPr>
              <a:t>"What products is a customer most likely to purchase next?"</a:t>
            </a:r>
            <a:endParaRPr lang="en-IN"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 name="TextShape 1"/>
          <p:cNvSpPr txBox="1"/>
          <p:nvPr/>
        </p:nvSpPr>
        <p:spPr>
          <a:xfrm>
            <a:off x="1410120" y="276120"/>
            <a:ext cx="9371520" cy="1183320"/>
          </a:xfrm>
          <a:prstGeom prst="rect">
            <a:avLst/>
          </a:prstGeom>
          <a:noFill/>
          <a:ln>
            <a:noFill/>
          </a:ln>
        </p:spPr>
        <p:txBody>
          <a:bodyPr anchor="b">
            <a:noAutofit/>
          </a:bodyPr>
          <a:lstStyle/>
          <a:p>
            <a:pPr>
              <a:lnSpc>
                <a:spcPct val="100000"/>
              </a:lnSpc>
            </a:pPr>
            <a:r>
              <a:rPr lang="en-US" sz="3400" b="1" strike="noStrike" spc="-1">
                <a:solidFill>
                  <a:srgbClr val="687F00"/>
                </a:solidFill>
                <a:latin typeface="Corbel"/>
              </a:rPr>
              <a:t>Objectives of Big Data Analytics</a:t>
            </a:r>
            <a:br/>
            <a:endParaRPr lang="en-US" sz="3400" b="0" strike="noStrike" spc="-1">
              <a:solidFill>
                <a:srgbClr val="4D3E2F"/>
              </a:solidFill>
              <a:latin typeface="Corbel"/>
            </a:endParaRPr>
          </a:p>
        </p:txBody>
      </p:sp>
      <p:sp>
        <p:nvSpPr>
          <p:cNvPr id="271" name="TextShape 2"/>
          <p:cNvSpPr txBox="1"/>
          <p:nvPr/>
        </p:nvSpPr>
        <p:spPr>
          <a:xfrm>
            <a:off x="953640" y="1459800"/>
            <a:ext cx="9371520" cy="4620240"/>
          </a:xfrm>
          <a:prstGeom prst="rect">
            <a:avLst/>
          </a:prstGeom>
          <a:noFill/>
          <a:ln>
            <a:noFill/>
          </a:ln>
        </p:spPr>
        <p:txBody>
          <a:bodyPr>
            <a:normAutofit fontScale="86000"/>
          </a:bodyPr>
          <a:lstStyle/>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The primary objectives are:</a:t>
            </a:r>
          </a:p>
          <a:p>
            <a:pPr>
              <a:lnSpc>
                <a:spcPct val="90000"/>
              </a:lnSpc>
              <a:spcBef>
                <a:spcPts val="1100"/>
              </a:spcBef>
            </a:pPr>
            <a:r>
              <a:rPr lang="en-US" sz="2200" b="1" strike="noStrike" spc="-1">
                <a:solidFill>
                  <a:srgbClr val="4D3E2F"/>
                </a:solidFill>
                <a:latin typeface="Corbel"/>
              </a:rPr>
              <a:t>1. Discover Hidden Patterns</a:t>
            </a:r>
            <a:endParaRPr lang="en-US" sz="2200" b="0" strike="noStrike" spc="-1">
              <a:solidFill>
                <a:srgbClr val="4D3E2F"/>
              </a:solidFill>
              <a:latin typeface="Corbel"/>
            </a:endParaRPr>
          </a:p>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Identify relationships that are not immediately visible.</a:t>
            </a:r>
          </a:p>
          <a:p>
            <a:pPr>
              <a:lnSpc>
                <a:spcPct val="90000"/>
              </a:lnSpc>
              <a:spcBef>
                <a:spcPts val="1100"/>
              </a:spcBef>
            </a:pPr>
            <a:r>
              <a:rPr lang="en-US" sz="2200" b="1" strike="noStrike" spc="-1">
                <a:solidFill>
                  <a:srgbClr val="4D3E2F"/>
                </a:solidFill>
                <a:latin typeface="Corbel"/>
              </a:rPr>
              <a:t>2. Predict Future Events</a:t>
            </a:r>
            <a:endParaRPr lang="en-US" sz="2200" b="0" strike="noStrike" spc="-1">
              <a:solidFill>
                <a:srgbClr val="4D3E2F"/>
              </a:solidFill>
              <a:latin typeface="Corbel"/>
            </a:endParaRPr>
          </a:p>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Use historical data to forecast future outcomes.</a:t>
            </a:r>
          </a:p>
          <a:p>
            <a:pPr>
              <a:lnSpc>
                <a:spcPct val="90000"/>
              </a:lnSpc>
              <a:spcBef>
                <a:spcPts val="1100"/>
              </a:spcBef>
            </a:pPr>
            <a:r>
              <a:rPr lang="en-US" sz="2200" b="1" strike="noStrike" spc="-1">
                <a:solidFill>
                  <a:srgbClr val="4D3E2F"/>
                </a:solidFill>
                <a:latin typeface="Corbel"/>
              </a:rPr>
              <a:t>3. Improve Decision-Making</a:t>
            </a:r>
            <a:endParaRPr lang="en-US" sz="2200" b="0" strike="noStrike" spc="-1">
              <a:solidFill>
                <a:srgbClr val="4D3E2F"/>
              </a:solidFill>
              <a:latin typeface="Corbel"/>
            </a:endParaRPr>
          </a:p>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Provide evidence-based information to managers.</a:t>
            </a:r>
          </a:p>
          <a:p>
            <a:pPr>
              <a:lnSpc>
                <a:spcPct val="90000"/>
              </a:lnSpc>
              <a:spcBef>
                <a:spcPts val="1100"/>
              </a:spcBef>
            </a:pPr>
            <a:r>
              <a:rPr lang="en-US" sz="2200" b="1" strike="noStrike" spc="-1">
                <a:solidFill>
                  <a:srgbClr val="4D3E2F"/>
                </a:solidFill>
                <a:latin typeface="Corbel"/>
              </a:rPr>
              <a:t>4. Improve Customer Experience</a:t>
            </a:r>
            <a:endParaRPr lang="en-US" sz="2200" b="0" strike="noStrike" spc="-1">
              <a:solidFill>
                <a:srgbClr val="4D3E2F"/>
              </a:solidFill>
              <a:latin typeface="Corbel"/>
            </a:endParaRPr>
          </a:p>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Understand customer behavior and preferences.</a:t>
            </a:r>
          </a:p>
          <a:p>
            <a:pPr>
              <a:lnSpc>
                <a:spcPct val="90000"/>
              </a:lnSpc>
              <a:spcBef>
                <a:spcPts val="1100"/>
              </a:spcBef>
            </a:pPr>
            <a:r>
              <a:rPr lang="en-US" sz="2200" b="1" strike="noStrike" spc="-1">
                <a:solidFill>
                  <a:srgbClr val="4D3E2F"/>
                </a:solidFill>
                <a:latin typeface="Corbel"/>
              </a:rPr>
              <a:t>5. Detect Anomalies</a:t>
            </a:r>
            <a:endParaRPr lang="en-US" sz="2200" b="0" strike="noStrike" spc="-1">
              <a:solidFill>
                <a:srgbClr val="4D3E2F"/>
              </a:solidFill>
              <a:latin typeface="Corbel"/>
            </a:endParaRPr>
          </a:p>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Identify fraud, cyberattacks, equipment failures, etc.</a:t>
            </a:r>
          </a:p>
          <a:p>
            <a:pPr>
              <a:lnSpc>
                <a:spcPct val="90000"/>
              </a:lnSpc>
              <a:spcBef>
                <a:spcPts val="1100"/>
              </a:spcBef>
            </a:pPr>
            <a:r>
              <a:rPr lang="en-US" sz="2200" b="1" strike="noStrike" spc="-1">
                <a:solidFill>
                  <a:srgbClr val="4D3E2F"/>
                </a:solidFill>
                <a:latin typeface="Corbel"/>
              </a:rPr>
              <a:t>6. Optimize Operations</a:t>
            </a:r>
            <a:endParaRPr lang="en-US" sz="2200" b="0" strike="noStrike" spc="-1">
              <a:solidFill>
                <a:srgbClr val="4D3E2F"/>
              </a:solidFill>
              <a:latin typeface="Corbel"/>
            </a:endParaRPr>
          </a:p>
          <a:p>
            <a:pPr marL="210240" indent="-209880">
              <a:lnSpc>
                <a:spcPct val="90000"/>
              </a:lnSpc>
              <a:spcBef>
                <a:spcPts val="1100"/>
              </a:spcBef>
              <a:buClr>
                <a:srgbClr val="4D3E2F"/>
              </a:buClr>
              <a:buFont typeface="Arial"/>
              <a:buChar char="•"/>
            </a:pPr>
            <a:r>
              <a:rPr lang="en-US" sz="2200" b="0" strike="noStrike" spc="-1">
                <a:solidFill>
                  <a:srgbClr val="4D3E2F"/>
                </a:solidFill>
                <a:latin typeface="Corbel"/>
              </a:rPr>
              <a:t>Improve resource utilization and reduce operational costs.</a:t>
            </a:r>
          </a:p>
          <a:p>
            <a:pPr>
              <a:lnSpc>
                <a:spcPct val="90000"/>
              </a:lnSpc>
              <a:spcBef>
                <a:spcPts val="1100"/>
              </a:spcBef>
            </a:pPr>
            <a:endParaRPr lang="en-US" sz="2200" b="0" strike="noStrike" spc="-1">
              <a:solidFill>
                <a:srgbClr val="4D3E2F"/>
              </a:solidFill>
              <a:latin typeface="Corbel"/>
            </a:endParaRPr>
          </a:p>
        </p:txBody>
      </p:sp>
      <p:sp>
        <p:nvSpPr>
          <p:cNvPr id="272" name="TextShape 3"/>
          <p:cNvSpPr txBox="1"/>
          <p:nvPr/>
        </p:nvSpPr>
        <p:spPr>
          <a:xfrm>
            <a:off x="0" y="6629400"/>
            <a:ext cx="410040" cy="228240"/>
          </a:xfrm>
          <a:prstGeom prst="rect">
            <a:avLst/>
          </a:prstGeom>
          <a:noFill/>
          <a:ln>
            <a:noFill/>
          </a:ln>
        </p:spPr>
        <p:txBody>
          <a:bodyPr anchor="ctr">
            <a:noAutofit/>
          </a:bodyPr>
          <a:lstStyle/>
          <a:p>
            <a:pPr algn="r">
              <a:lnSpc>
                <a:spcPct val="100000"/>
              </a:lnSpc>
            </a:pPr>
            <a:fld id="{8EFDC171-9C40-46A7-BCBD-459C54EA980C}" type="slidenum">
              <a:rPr lang="en-IN" sz="1100" b="0" strike="noStrike" spc="-1">
                <a:solidFill>
                  <a:srgbClr val="455500"/>
                </a:solidFill>
                <a:latin typeface="Corbel"/>
              </a:rPr>
              <a:t>4</a:t>
            </a:fld>
            <a:endParaRPr lang="en-IN" sz="1100" b="0" strike="noStrike" spc="-1">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 name="TextShape 1"/>
          <p:cNvSpPr txBox="1"/>
          <p:nvPr/>
        </p:nvSpPr>
        <p:spPr>
          <a:xfrm>
            <a:off x="1410120" y="276120"/>
            <a:ext cx="9371520" cy="1183320"/>
          </a:xfrm>
          <a:prstGeom prst="rect">
            <a:avLst/>
          </a:prstGeom>
          <a:noFill/>
          <a:ln>
            <a:noFill/>
          </a:ln>
        </p:spPr>
        <p:txBody>
          <a:bodyPr anchor="b">
            <a:noAutofit/>
          </a:bodyPr>
          <a:lstStyle/>
          <a:p>
            <a:pPr>
              <a:lnSpc>
                <a:spcPct val="100000"/>
              </a:lnSpc>
            </a:pPr>
            <a:r>
              <a:rPr lang="en-US" sz="3400" b="1" strike="noStrike" spc="-1">
                <a:solidFill>
                  <a:srgbClr val="687F00"/>
                </a:solidFill>
                <a:latin typeface="Corbel"/>
              </a:rPr>
              <a:t>Classification Big Data Analytics</a:t>
            </a:r>
            <a:br/>
            <a:endParaRPr lang="en-US" sz="3400" b="0" strike="noStrike" spc="-1">
              <a:solidFill>
                <a:srgbClr val="4D3E2F"/>
              </a:solidFill>
              <a:latin typeface="Corbel"/>
            </a:endParaRPr>
          </a:p>
        </p:txBody>
      </p:sp>
      <p:sp>
        <p:nvSpPr>
          <p:cNvPr id="274" name="TextShape 2"/>
          <p:cNvSpPr txBox="1"/>
          <p:nvPr/>
        </p:nvSpPr>
        <p:spPr>
          <a:xfrm>
            <a:off x="0" y="6629400"/>
            <a:ext cx="410040" cy="228240"/>
          </a:xfrm>
          <a:prstGeom prst="rect">
            <a:avLst/>
          </a:prstGeom>
          <a:noFill/>
          <a:ln>
            <a:noFill/>
          </a:ln>
        </p:spPr>
        <p:txBody>
          <a:bodyPr anchor="ctr">
            <a:noAutofit/>
          </a:bodyPr>
          <a:lstStyle/>
          <a:p>
            <a:pPr algn="r">
              <a:lnSpc>
                <a:spcPct val="100000"/>
              </a:lnSpc>
            </a:pPr>
            <a:fld id="{BF709FAD-2BFB-4231-BEAF-DCDA83BFDA4C}" type="slidenum">
              <a:rPr lang="en-IN" sz="1100" b="0" strike="noStrike" spc="-1">
                <a:solidFill>
                  <a:srgbClr val="455500"/>
                </a:solidFill>
                <a:latin typeface="Corbel"/>
              </a:rPr>
              <a:t>5</a:t>
            </a:fld>
            <a:endParaRPr lang="en-IN" sz="1100" b="0" strike="noStrike" spc="-1">
              <a:latin typeface="Times New Roman"/>
            </a:endParaRPr>
          </a:p>
        </p:txBody>
      </p:sp>
      <p:pic>
        <p:nvPicPr>
          <p:cNvPr id="275" name="Picture 7"/>
          <p:cNvPicPr/>
          <p:nvPr/>
        </p:nvPicPr>
        <p:blipFill>
          <a:blip r:embed="rId2"/>
          <a:stretch/>
        </p:blipFill>
        <p:spPr>
          <a:xfrm>
            <a:off x="1425240" y="1935000"/>
            <a:ext cx="3714480" cy="3783960"/>
          </a:xfrm>
          <a:prstGeom prst="rect">
            <a:avLst/>
          </a:prstGeom>
          <a:ln>
            <a:noFill/>
          </a:ln>
        </p:spPr>
      </p:pic>
      <p:pic>
        <p:nvPicPr>
          <p:cNvPr id="276" name="Picture 8"/>
          <p:cNvPicPr/>
          <p:nvPr/>
        </p:nvPicPr>
        <p:blipFill>
          <a:blip r:embed="rId3"/>
          <a:stretch/>
        </p:blipFill>
        <p:spPr>
          <a:xfrm>
            <a:off x="6686640" y="2197440"/>
            <a:ext cx="4647960" cy="118332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7" name="Picture 9"/>
          <p:cNvPicPr/>
          <p:nvPr/>
        </p:nvPicPr>
        <p:blipFill>
          <a:blip r:embed="rId2"/>
          <a:srcRect r="891" b="7012"/>
          <a:stretch/>
        </p:blipFill>
        <p:spPr>
          <a:xfrm>
            <a:off x="1182240" y="1566000"/>
            <a:ext cx="8910000" cy="298260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 name="TextShape 1"/>
          <p:cNvSpPr txBox="1"/>
          <p:nvPr/>
        </p:nvSpPr>
        <p:spPr>
          <a:xfrm>
            <a:off x="0" y="6629400"/>
            <a:ext cx="410040" cy="228240"/>
          </a:xfrm>
          <a:prstGeom prst="rect">
            <a:avLst/>
          </a:prstGeom>
          <a:noFill/>
          <a:ln>
            <a:noFill/>
          </a:ln>
        </p:spPr>
        <p:txBody>
          <a:bodyPr anchor="ctr">
            <a:noAutofit/>
          </a:bodyPr>
          <a:lstStyle/>
          <a:p>
            <a:pPr algn="r">
              <a:lnSpc>
                <a:spcPct val="100000"/>
              </a:lnSpc>
            </a:pPr>
            <a:fld id="{6F6757C6-9E11-49EF-937A-B81D07D80402}" type="slidenum">
              <a:rPr lang="en-IN" sz="1100" b="0" strike="noStrike" spc="-1">
                <a:solidFill>
                  <a:srgbClr val="455500"/>
                </a:solidFill>
                <a:latin typeface="Corbel"/>
              </a:rPr>
              <a:t>7</a:t>
            </a:fld>
            <a:endParaRPr lang="en-IN" sz="1100" b="0" strike="noStrike" spc="-1">
              <a:latin typeface="Times New Roman"/>
            </a:endParaRPr>
          </a:p>
        </p:txBody>
      </p:sp>
      <p:pic>
        <p:nvPicPr>
          <p:cNvPr id="279" name="Content Placeholder 13"/>
          <p:cNvPicPr/>
          <p:nvPr/>
        </p:nvPicPr>
        <p:blipFill>
          <a:blip r:embed="rId2"/>
          <a:stretch/>
        </p:blipFill>
        <p:spPr>
          <a:xfrm>
            <a:off x="1222920" y="445680"/>
            <a:ext cx="9863640" cy="600048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TextShape 1"/>
          <p:cNvSpPr txBox="1"/>
          <p:nvPr/>
        </p:nvSpPr>
        <p:spPr>
          <a:xfrm>
            <a:off x="1410120" y="276120"/>
            <a:ext cx="9371520" cy="1183320"/>
          </a:xfrm>
          <a:prstGeom prst="rect">
            <a:avLst/>
          </a:prstGeom>
          <a:noFill/>
          <a:ln>
            <a:noFill/>
          </a:ln>
        </p:spPr>
        <p:txBody>
          <a:bodyPr anchor="b">
            <a:noAutofit/>
          </a:bodyPr>
          <a:lstStyle/>
          <a:p>
            <a:pPr>
              <a:lnSpc>
                <a:spcPct val="100000"/>
              </a:lnSpc>
            </a:pPr>
            <a:r>
              <a:rPr lang="en-US" sz="3400" b="1" strike="noStrike" spc="-1">
                <a:solidFill>
                  <a:srgbClr val="687F00"/>
                </a:solidFill>
                <a:latin typeface="Corbel"/>
              </a:rPr>
              <a:t>Major Challenges in Big Data Environment</a:t>
            </a:r>
            <a:br/>
            <a:endParaRPr lang="en-US" sz="3400" b="0" strike="noStrike" spc="-1">
              <a:solidFill>
                <a:srgbClr val="4D3E2F"/>
              </a:solidFill>
              <a:latin typeface="Corbel"/>
            </a:endParaRPr>
          </a:p>
        </p:txBody>
      </p:sp>
      <p:sp>
        <p:nvSpPr>
          <p:cNvPr id="281" name="TextShape 2"/>
          <p:cNvSpPr txBox="1"/>
          <p:nvPr/>
        </p:nvSpPr>
        <p:spPr>
          <a:xfrm>
            <a:off x="1410120" y="1177200"/>
            <a:ext cx="9371520" cy="5009040"/>
          </a:xfrm>
          <a:prstGeom prst="rect">
            <a:avLst/>
          </a:prstGeom>
          <a:noFill/>
          <a:ln>
            <a:noFill/>
          </a:ln>
        </p:spPr>
        <p:txBody>
          <a:bodyPr>
            <a:normAutofit/>
          </a:bodyPr>
          <a:lstStyle/>
          <a:p>
            <a:pPr marL="210240" indent="-209880">
              <a:lnSpc>
                <a:spcPct val="90000"/>
              </a:lnSpc>
              <a:spcBef>
                <a:spcPts val="1100"/>
              </a:spcBef>
              <a:buClr>
                <a:srgbClr val="4D3E2F"/>
              </a:buClr>
              <a:buFont typeface="Arial"/>
              <a:buChar char="•"/>
            </a:pPr>
            <a:r>
              <a:rPr lang="en-US" sz="2200" b="0" strike="noStrike" spc="-1">
                <a:solidFill>
                  <a:srgbClr val="4D3E2F"/>
                </a:solidFill>
                <a:latin typeface="Calibri"/>
              </a:rPr>
              <a:t>The </a:t>
            </a:r>
            <a:r>
              <a:rPr lang="en-US" sz="2200" b="1" strike="noStrike" spc="-1">
                <a:solidFill>
                  <a:srgbClr val="4D3E2F"/>
                </a:solidFill>
                <a:latin typeface="Calibri"/>
              </a:rPr>
              <a:t>challenges that organizations face when designing and implementing Big Data storage and processing systems</a:t>
            </a:r>
            <a:r>
              <a:rPr lang="en-US" sz="2200" b="0" strike="noStrike" spc="-1">
                <a:solidFill>
                  <a:srgbClr val="4D3E2F"/>
                </a:solidFill>
                <a:latin typeface="Calibri"/>
              </a:rPr>
              <a:t>:</a:t>
            </a:r>
            <a:endParaRPr lang="en-US" sz="2200" b="0" strike="noStrike" spc="-1">
              <a:solidFill>
                <a:srgbClr val="4D3E2F"/>
              </a:solidFill>
              <a:latin typeface="Corbel"/>
            </a:endParaRPr>
          </a:p>
          <a:p>
            <a:pPr marL="210240" indent="-209880">
              <a:lnSpc>
                <a:spcPct val="90000"/>
              </a:lnSpc>
              <a:spcBef>
                <a:spcPts val="1100"/>
              </a:spcBef>
              <a:buClr>
                <a:srgbClr val="4D3E2F"/>
              </a:buClr>
              <a:buFont typeface="Corbel"/>
              <a:buAutoNum type="arabicPeriod"/>
            </a:pPr>
            <a:r>
              <a:rPr lang="en-US" sz="2200" b="1" strike="noStrike" spc="-1">
                <a:solidFill>
                  <a:srgbClr val="4D3E2F"/>
                </a:solidFill>
                <a:latin typeface="Calibri"/>
              </a:rPr>
              <a:t>Scale</a:t>
            </a:r>
            <a:r>
              <a:rPr lang="en-US" sz="2200" b="0" strike="noStrike" spc="-1">
                <a:solidFill>
                  <a:srgbClr val="4D3E2F"/>
                </a:solidFill>
                <a:latin typeface="Calibri"/>
              </a:rPr>
              <a:t> </a:t>
            </a:r>
            <a:endParaRPr lang="en-US" sz="2200" b="0" strike="noStrike" spc="-1">
              <a:solidFill>
                <a:srgbClr val="4D3E2F"/>
              </a:solidFill>
              <a:latin typeface="Corbel"/>
            </a:endParaRPr>
          </a:p>
          <a:p>
            <a:pPr marL="210240" indent="-209880">
              <a:lnSpc>
                <a:spcPct val="90000"/>
              </a:lnSpc>
              <a:spcBef>
                <a:spcPts val="1100"/>
              </a:spcBef>
              <a:buClr>
                <a:srgbClr val="4D3E2F"/>
              </a:buClr>
              <a:buFont typeface="Corbel"/>
              <a:buAutoNum type="arabicPeriod"/>
            </a:pPr>
            <a:r>
              <a:rPr lang="en-US" sz="2200" b="1" strike="noStrike" spc="-1">
                <a:solidFill>
                  <a:srgbClr val="4D3E2F"/>
                </a:solidFill>
                <a:latin typeface="Calibri"/>
              </a:rPr>
              <a:t>Security</a:t>
            </a:r>
            <a:r>
              <a:rPr lang="en-US" sz="2200" b="0" strike="noStrike" spc="-1">
                <a:solidFill>
                  <a:srgbClr val="4D3E2F"/>
                </a:solidFill>
                <a:latin typeface="Calibri"/>
              </a:rPr>
              <a:t> </a:t>
            </a:r>
            <a:endParaRPr lang="en-US" sz="2200" b="0" strike="noStrike" spc="-1">
              <a:solidFill>
                <a:srgbClr val="4D3E2F"/>
              </a:solidFill>
              <a:latin typeface="Corbel"/>
            </a:endParaRPr>
          </a:p>
          <a:p>
            <a:pPr marL="210240" indent="-209880">
              <a:lnSpc>
                <a:spcPct val="90000"/>
              </a:lnSpc>
              <a:spcBef>
                <a:spcPts val="1100"/>
              </a:spcBef>
              <a:buClr>
                <a:srgbClr val="4D3E2F"/>
              </a:buClr>
              <a:buFont typeface="Corbel"/>
              <a:buAutoNum type="arabicPeriod"/>
            </a:pPr>
            <a:r>
              <a:rPr lang="en-US" sz="2200" b="1" strike="noStrike" spc="-1">
                <a:solidFill>
                  <a:srgbClr val="4D3E2F"/>
                </a:solidFill>
                <a:latin typeface="Calibri"/>
              </a:rPr>
              <a:t>Schema</a:t>
            </a:r>
            <a:r>
              <a:rPr lang="en-US" sz="2200" b="0" strike="noStrike" spc="-1">
                <a:solidFill>
                  <a:srgbClr val="4D3E2F"/>
                </a:solidFill>
                <a:latin typeface="Calibri"/>
              </a:rPr>
              <a:t> </a:t>
            </a:r>
            <a:endParaRPr lang="en-US" sz="2200" b="0" strike="noStrike" spc="-1">
              <a:solidFill>
                <a:srgbClr val="4D3E2F"/>
              </a:solidFill>
              <a:latin typeface="Corbel"/>
            </a:endParaRPr>
          </a:p>
          <a:p>
            <a:pPr marL="210240" indent="-209880">
              <a:lnSpc>
                <a:spcPct val="90000"/>
              </a:lnSpc>
              <a:spcBef>
                <a:spcPts val="1100"/>
              </a:spcBef>
              <a:buClr>
                <a:srgbClr val="4D3E2F"/>
              </a:buClr>
              <a:buFont typeface="Corbel"/>
              <a:buAutoNum type="arabicPeriod"/>
            </a:pPr>
            <a:r>
              <a:rPr lang="en-US" sz="2200" b="1" strike="noStrike" spc="-1">
                <a:solidFill>
                  <a:srgbClr val="4D3E2F"/>
                </a:solidFill>
                <a:latin typeface="Calibri"/>
              </a:rPr>
              <a:t>Continuous Availability</a:t>
            </a:r>
            <a:r>
              <a:rPr lang="en-US" sz="2200" b="0" strike="noStrike" spc="-1">
                <a:solidFill>
                  <a:srgbClr val="4D3E2F"/>
                </a:solidFill>
                <a:latin typeface="Calibri"/>
              </a:rPr>
              <a:t> </a:t>
            </a:r>
            <a:endParaRPr lang="en-US" sz="2200" b="0" strike="noStrike" spc="-1">
              <a:solidFill>
                <a:srgbClr val="4D3E2F"/>
              </a:solidFill>
              <a:latin typeface="Corbel"/>
            </a:endParaRPr>
          </a:p>
          <a:p>
            <a:pPr marL="210240" indent="-209880">
              <a:lnSpc>
                <a:spcPct val="90000"/>
              </a:lnSpc>
              <a:spcBef>
                <a:spcPts val="1100"/>
              </a:spcBef>
              <a:buClr>
                <a:srgbClr val="4D3E2F"/>
              </a:buClr>
              <a:buFont typeface="Corbel"/>
              <a:buAutoNum type="arabicPeriod"/>
            </a:pPr>
            <a:r>
              <a:rPr lang="en-US" sz="2200" b="1" strike="noStrike" spc="-1">
                <a:solidFill>
                  <a:srgbClr val="4D3E2F"/>
                </a:solidFill>
                <a:latin typeface="Calibri"/>
              </a:rPr>
              <a:t>Consistency</a:t>
            </a:r>
            <a:r>
              <a:rPr lang="en-US" sz="2200" b="0" strike="noStrike" spc="-1">
                <a:solidFill>
                  <a:srgbClr val="4D3E2F"/>
                </a:solidFill>
                <a:latin typeface="Calibri"/>
              </a:rPr>
              <a:t> </a:t>
            </a:r>
            <a:endParaRPr lang="en-US" sz="2200" b="0" strike="noStrike" spc="-1">
              <a:solidFill>
                <a:srgbClr val="4D3E2F"/>
              </a:solidFill>
              <a:latin typeface="Corbel"/>
            </a:endParaRPr>
          </a:p>
          <a:p>
            <a:pPr marL="210240" indent="-209880">
              <a:lnSpc>
                <a:spcPct val="90000"/>
              </a:lnSpc>
              <a:spcBef>
                <a:spcPts val="1100"/>
              </a:spcBef>
              <a:buClr>
                <a:srgbClr val="4D3E2F"/>
              </a:buClr>
              <a:buFont typeface="Corbel"/>
              <a:buAutoNum type="arabicPeriod"/>
            </a:pPr>
            <a:r>
              <a:rPr lang="en-US" sz="2200" b="1" strike="noStrike" spc="-1">
                <a:solidFill>
                  <a:srgbClr val="4D3E2F"/>
                </a:solidFill>
                <a:latin typeface="Calibri"/>
              </a:rPr>
              <a:t>Partition Tolerance</a:t>
            </a:r>
            <a:r>
              <a:rPr lang="en-US" sz="2200" b="0" strike="noStrike" spc="-1">
                <a:solidFill>
                  <a:srgbClr val="4D3E2F"/>
                </a:solidFill>
                <a:latin typeface="Calibri"/>
              </a:rPr>
              <a:t> </a:t>
            </a:r>
            <a:endParaRPr lang="en-US" sz="2200" b="0" strike="noStrike" spc="-1">
              <a:solidFill>
                <a:srgbClr val="4D3E2F"/>
              </a:solidFill>
              <a:latin typeface="Corbel"/>
            </a:endParaRPr>
          </a:p>
          <a:p>
            <a:pPr marL="210240" indent="-209880">
              <a:lnSpc>
                <a:spcPct val="90000"/>
              </a:lnSpc>
              <a:spcBef>
                <a:spcPts val="1100"/>
              </a:spcBef>
              <a:buClr>
                <a:srgbClr val="4D3E2F"/>
              </a:buClr>
              <a:buFont typeface="Corbel"/>
              <a:buAutoNum type="arabicPeriod"/>
            </a:pPr>
            <a:r>
              <a:rPr lang="en-US" sz="2200" b="1" strike="noStrike" spc="-1">
                <a:solidFill>
                  <a:srgbClr val="4D3E2F"/>
                </a:solidFill>
                <a:latin typeface="Calibri"/>
              </a:rPr>
              <a:t>Data Quality</a:t>
            </a:r>
            <a:r>
              <a:rPr lang="en-US" sz="2200" b="0" strike="noStrike" spc="-1">
                <a:solidFill>
                  <a:srgbClr val="4D3E2F"/>
                </a:solidFill>
                <a:latin typeface="Calibri"/>
              </a:rPr>
              <a:t> </a:t>
            </a:r>
            <a:endParaRPr lang="en-US" sz="2200" b="0" strike="noStrike" spc="-1">
              <a:solidFill>
                <a:srgbClr val="4D3E2F"/>
              </a:solidFill>
              <a:latin typeface="Corbel"/>
            </a:endParaRPr>
          </a:p>
          <a:p>
            <a:pPr marL="210240" indent="-209880">
              <a:lnSpc>
                <a:spcPct val="90000"/>
              </a:lnSpc>
              <a:spcBef>
                <a:spcPts val="1100"/>
              </a:spcBef>
              <a:buClr>
                <a:srgbClr val="4D3E2F"/>
              </a:buClr>
              <a:buFont typeface="Arial"/>
              <a:buChar char="•"/>
            </a:pPr>
            <a:r>
              <a:rPr lang="en-US" sz="2200" b="0" strike="noStrike" spc="-1">
                <a:solidFill>
                  <a:srgbClr val="4D3E2F"/>
                </a:solidFill>
                <a:latin typeface="Calibri"/>
              </a:rPr>
              <a:t>These challenges are especially important when choosing between </a:t>
            </a:r>
            <a:r>
              <a:rPr lang="en-US" sz="2200" b="1" strike="noStrike" spc="-1">
                <a:solidFill>
                  <a:srgbClr val="4D3E2F"/>
                </a:solidFill>
                <a:latin typeface="Calibri"/>
              </a:rPr>
              <a:t>RDBMS, NoSQL databases, distributed storage systems, and cloud-based Big Data platforms</a:t>
            </a:r>
            <a:r>
              <a:rPr lang="en-US" sz="2200" b="0" strike="noStrike" spc="-1">
                <a:solidFill>
                  <a:srgbClr val="4D3E2F"/>
                </a:solidFill>
                <a:latin typeface="Calibri"/>
              </a:rPr>
              <a:t>.</a:t>
            </a:r>
            <a:endParaRPr lang="en-US" sz="2200" b="0" strike="noStrike" spc="-1">
              <a:solidFill>
                <a:srgbClr val="4D3E2F"/>
              </a:solidFill>
              <a:latin typeface="Corbel"/>
            </a:endParaRPr>
          </a:p>
          <a:p>
            <a:pPr>
              <a:lnSpc>
                <a:spcPct val="90000"/>
              </a:lnSpc>
              <a:spcBef>
                <a:spcPts val="1100"/>
              </a:spcBef>
            </a:pPr>
            <a:endParaRPr lang="en-US" sz="2200" b="0" strike="noStrike" spc="-1">
              <a:solidFill>
                <a:srgbClr val="4D3E2F"/>
              </a:solidFill>
              <a:latin typeface="Corbel"/>
            </a:endParaRPr>
          </a:p>
        </p:txBody>
      </p:sp>
      <p:sp>
        <p:nvSpPr>
          <p:cNvPr id="282" name="TextShape 3"/>
          <p:cNvSpPr txBox="1"/>
          <p:nvPr/>
        </p:nvSpPr>
        <p:spPr>
          <a:xfrm>
            <a:off x="0" y="6629400"/>
            <a:ext cx="410040" cy="228240"/>
          </a:xfrm>
          <a:prstGeom prst="rect">
            <a:avLst/>
          </a:prstGeom>
          <a:noFill/>
          <a:ln>
            <a:noFill/>
          </a:ln>
        </p:spPr>
        <p:txBody>
          <a:bodyPr anchor="ctr">
            <a:noAutofit/>
          </a:bodyPr>
          <a:lstStyle/>
          <a:p>
            <a:pPr algn="r">
              <a:lnSpc>
                <a:spcPct val="100000"/>
              </a:lnSpc>
            </a:pPr>
            <a:fld id="{5926F67C-A609-40C9-97A5-271A3BF4E154}" type="slidenum">
              <a:rPr lang="en-IN" sz="1100" b="0" strike="noStrike" spc="-1">
                <a:solidFill>
                  <a:srgbClr val="455500"/>
                </a:solidFill>
                <a:latin typeface="Corbel"/>
              </a:rPr>
              <a:t>8</a:t>
            </a:fld>
            <a:endParaRPr lang="en-IN" sz="1100" b="0" strike="noStrike" spc="-1">
              <a:latin typeface="Times New Roman"/>
            </a:endParaRPr>
          </a:p>
        </p:txBody>
      </p:sp>
      <p:sp>
        <p:nvSpPr>
          <p:cNvPr id="283" name="TextShape 4"/>
          <p:cNvSpPr txBox="1"/>
          <p:nvPr/>
        </p:nvSpPr>
        <p:spPr>
          <a:xfrm>
            <a:off x="453240" y="6629400"/>
            <a:ext cx="1000440" cy="228240"/>
          </a:xfrm>
          <a:prstGeom prst="rect">
            <a:avLst/>
          </a:prstGeom>
          <a:noFill/>
          <a:ln>
            <a:noFill/>
          </a:ln>
        </p:spPr>
        <p:txBody>
          <a:bodyPr anchor="ctr">
            <a:noAutofit/>
          </a:bodyPr>
          <a:lstStyle/>
          <a:p>
            <a:pPr algn="r">
              <a:lnSpc>
                <a:spcPct val="100000"/>
              </a:lnSpc>
            </a:pPr>
            <a:fld id="{627C6D60-E8DD-458A-86F6-5B0429E53FE0}" type="datetime1">
              <a:rPr lang="en-IN" sz="1100" b="0" strike="noStrike" spc="-1">
                <a:solidFill>
                  <a:srgbClr val="455500"/>
                </a:solidFill>
                <a:latin typeface="Corbel"/>
              </a:rPr>
              <a:t>24-08-2026</a:t>
            </a:fld>
            <a:endParaRPr lang="en-IN" sz="1100" b="0" strike="noStrike" spc="-1">
              <a:latin typeface="Times New Roman"/>
            </a:endParaRPr>
          </a:p>
        </p:txBody>
      </p:sp>
      <p:sp>
        <p:nvSpPr>
          <p:cNvPr id="284" name="TextShape 5"/>
          <p:cNvSpPr txBox="1"/>
          <p:nvPr/>
        </p:nvSpPr>
        <p:spPr>
          <a:xfrm>
            <a:off x="1637640" y="6629400"/>
            <a:ext cx="9144000" cy="228240"/>
          </a:xfrm>
          <a:prstGeom prst="rect">
            <a:avLst/>
          </a:prstGeom>
          <a:noFill/>
          <a:ln>
            <a:noFill/>
          </a:ln>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 name="TextShape 1"/>
          <p:cNvSpPr txBox="1"/>
          <p:nvPr/>
        </p:nvSpPr>
        <p:spPr>
          <a:xfrm>
            <a:off x="0" y="6629400"/>
            <a:ext cx="410040" cy="228240"/>
          </a:xfrm>
          <a:prstGeom prst="rect">
            <a:avLst/>
          </a:prstGeom>
          <a:noFill/>
          <a:ln>
            <a:noFill/>
          </a:ln>
        </p:spPr>
        <p:txBody>
          <a:bodyPr anchor="ctr">
            <a:noAutofit/>
          </a:bodyPr>
          <a:lstStyle/>
          <a:p>
            <a:pPr algn="r">
              <a:lnSpc>
                <a:spcPct val="100000"/>
              </a:lnSpc>
            </a:pPr>
            <a:fld id="{8C1D88B1-9AC3-47D2-BA77-9F50786D93A8}" type="slidenum">
              <a:rPr lang="en-IN" sz="1100" b="0" strike="noStrike" spc="-1">
                <a:solidFill>
                  <a:srgbClr val="455500"/>
                </a:solidFill>
                <a:latin typeface="Corbel"/>
              </a:rPr>
              <a:t>9</a:t>
            </a:fld>
            <a:endParaRPr lang="en-IN" sz="1100" b="0" strike="noStrike" spc="-1">
              <a:latin typeface="Times New Roman"/>
            </a:endParaRPr>
          </a:p>
        </p:txBody>
      </p:sp>
      <p:sp>
        <p:nvSpPr>
          <p:cNvPr id="286" name="TextShape 2"/>
          <p:cNvSpPr txBox="1"/>
          <p:nvPr/>
        </p:nvSpPr>
        <p:spPr>
          <a:xfrm>
            <a:off x="453240" y="6629400"/>
            <a:ext cx="1000440" cy="228240"/>
          </a:xfrm>
          <a:prstGeom prst="rect">
            <a:avLst/>
          </a:prstGeom>
          <a:noFill/>
          <a:ln>
            <a:noFill/>
          </a:ln>
        </p:spPr>
        <p:txBody>
          <a:bodyPr anchor="ctr">
            <a:noAutofit/>
          </a:bodyPr>
          <a:lstStyle/>
          <a:p>
            <a:pPr algn="r">
              <a:lnSpc>
                <a:spcPct val="100000"/>
              </a:lnSpc>
            </a:pPr>
            <a:fld id="{61059C7E-BFAD-42B7-9191-5C9917026271}" type="datetime1">
              <a:rPr lang="en-IN" sz="1100" b="0" strike="noStrike" spc="-1">
                <a:solidFill>
                  <a:srgbClr val="455500"/>
                </a:solidFill>
                <a:latin typeface="Corbel"/>
              </a:rPr>
              <a:t>24-08-2026</a:t>
            </a:fld>
            <a:endParaRPr lang="en-IN" sz="1100" b="0" strike="noStrike" spc="-1">
              <a:latin typeface="Times New Roman"/>
            </a:endParaRPr>
          </a:p>
        </p:txBody>
      </p:sp>
      <p:sp>
        <p:nvSpPr>
          <p:cNvPr id="287" name="TextShape 3"/>
          <p:cNvSpPr txBox="1"/>
          <p:nvPr/>
        </p:nvSpPr>
        <p:spPr>
          <a:xfrm>
            <a:off x="1637640" y="6629400"/>
            <a:ext cx="9144000" cy="228240"/>
          </a:xfrm>
          <a:prstGeom prst="rect">
            <a:avLst/>
          </a:prstGeom>
          <a:noFill/>
          <a:ln>
            <a:noFill/>
          </a:ln>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
        <p:nvSpPr>
          <p:cNvPr id="288" name="TextShape 4"/>
          <p:cNvSpPr txBox="1"/>
          <p:nvPr/>
        </p:nvSpPr>
        <p:spPr>
          <a:xfrm>
            <a:off x="724320" y="1188360"/>
            <a:ext cx="10305360" cy="4480920"/>
          </a:xfrm>
          <a:prstGeom prst="rect">
            <a:avLst/>
          </a:prstGeom>
          <a:noFill/>
          <a:ln>
            <a:noFill/>
          </a:ln>
        </p:spPr>
        <p:txBody>
          <a:bodyPr anchor="ctr">
            <a:spAutoFit/>
          </a:bodyPr>
          <a:lstStyle/>
          <a:p>
            <a:pPr>
              <a:lnSpc>
                <a:spcPct val="100000"/>
              </a:lnSpc>
              <a:buClr>
                <a:srgbClr val="4D3E2F"/>
              </a:buClr>
              <a:buFont typeface="Arial"/>
              <a:buChar char="•"/>
            </a:pPr>
            <a:r>
              <a:rPr lang="en-US" sz="1800" b="1" strike="noStrike" spc="-1">
                <a:solidFill>
                  <a:srgbClr val="4D3E2F"/>
                </a:solidFill>
                <a:latin typeface="Arial"/>
              </a:rPr>
              <a:t>Scale</a:t>
            </a:r>
            <a:r>
              <a:rPr lang="en-US" sz="1800" b="0" strike="noStrike" spc="-1">
                <a:solidFill>
                  <a:srgbClr val="4D3E2F"/>
                </a:solidFill>
                <a:latin typeface="Arial"/>
              </a:rPr>
              <a:t> – Ability to handle increasing data and workloads; horizontal scaling is commonly used.</a:t>
            </a:r>
            <a:endParaRPr lang="en-US" sz="1800" b="0" strike="noStrike" spc="-1">
              <a:solidFill>
                <a:srgbClr val="4D3E2F"/>
              </a:solidFill>
              <a:latin typeface="Corbel"/>
            </a:endParaRPr>
          </a:p>
          <a:p>
            <a:pPr>
              <a:lnSpc>
                <a:spcPct val="100000"/>
              </a:lnSpc>
            </a:pPr>
            <a:endParaRPr lang="en-US" sz="1800" b="0" strike="noStrike" spc="-1">
              <a:solidFill>
                <a:srgbClr val="4D3E2F"/>
              </a:solidFill>
              <a:latin typeface="Corbel"/>
            </a:endParaRPr>
          </a:p>
          <a:p>
            <a:pPr>
              <a:lnSpc>
                <a:spcPct val="100000"/>
              </a:lnSpc>
              <a:buClr>
                <a:srgbClr val="4D3E2F"/>
              </a:buClr>
              <a:buFont typeface="Arial"/>
              <a:buChar char="•"/>
            </a:pPr>
            <a:r>
              <a:rPr lang="en-US" sz="1800" b="1" strike="noStrike" spc="-1">
                <a:solidFill>
                  <a:srgbClr val="4D3E2F"/>
                </a:solidFill>
                <a:latin typeface="Arial"/>
              </a:rPr>
              <a:t>Security</a:t>
            </a:r>
            <a:r>
              <a:rPr lang="en-US" sz="1800" b="0" strike="noStrike" spc="-1">
                <a:solidFill>
                  <a:srgbClr val="4D3E2F"/>
                </a:solidFill>
                <a:latin typeface="Arial"/>
              </a:rPr>
              <a:t> – Protecting sensitive data using authentication, authorization, encryption, and auditing. </a:t>
            </a:r>
            <a:endParaRPr lang="en-US" sz="1800" b="0" strike="noStrike" spc="-1">
              <a:solidFill>
                <a:srgbClr val="4D3E2F"/>
              </a:solidFill>
              <a:latin typeface="Corbel"/>
            </a:endParaRPr>
          </a:p>
          <a:p>
            <a:pPr>
              <a:lnSpc>
                <a:spcPct val="100000"/>
              </a:lnSpc>
            </a:pPr>
            <a:endParaRPr lang="en-US" sz="1800" b="0" strike="noStrike" spc="-1">
              <a:solidFill>
                <a:srgbClr val="4D3E2F"/>
              </a:solidFill>
              <a:latin typeface="Corbel"/>
            </a:endParaRPr>
          </a:p>
          <a:p>
            <a:pPr>
              <a:lnSpc>
                <a:spcPct val="100000"/>
              </a:lnSpc>
              <a:buClr>
                <a:srgbClr val="4D3E2F"/>
              </a:buClr>
              <a:buFont typeface="Arial"/>
              <a:buChar char="•"/>
            </a:pPr>
            <a:r>
              <a:rPr lang="en-US" sz="1800" b="1" strike="noStrike" spc="-1">
                <a:solidFill>
                  <a:srgbClr val="4D3E2F"/>
                </a:solidFill>
                <a:latin typeface="Arial"/>
              </a:rPr>
              <a:t>Schema</a:t>
            </a:r>
            <a:r>
              <a:rPr lang="en-US" sz="1800" b="0" strike="noStrike" spc="-1">
                <a:solidFill>
                  <a:srgbClr val="4D3E2F"/>
                </a:solidFill>
                <a:latin typeface="Arial"/>
              </a:rPr>
              <a:t> – Handling diverse and changing data structures; schema-on-read provides flexibility. </a:t>
            </a:r>
            <a:endParaRPr lang="en-US" sz="1800" b="0" strike="noStrike" spc="-1">
              <a:solidFill>
                <a:srgbClr val="4D3E2F"/>
              </a:solidFill>
              <a:latin typeface="Corbel"/>
            </a:endParaRPr>
          </a:p>
          <a:p>
            <a:pPr>
              <a:lnSpc>
                <a:spcPct val="100000"/>
              </a:lnSpc>
            </a:pPr>
            <a:endParaRPr lang="en-US" sz="1800" b="0" strike="noStrike" spc="-1">
              <a:solidFill>
                <a:srgbClr val="4D3E2F"/>
              </a:solidFill>
              <a:latin typeface="Corbel"/>
            </a:endParaRPr>
          </a:p>
          <a:p>
            <a:pPr>
              <a:lnSpc>
                <a:spcPct val="100000"/>
              </a:lnSpc>
              <a:buClr>
                <a:srgbClr val="4D3E2F"/>
              </a:buClr>
              <a:buFont typeface="Arial"/>
              <a:buChar char="•"/>
            </a:pPr>
            <a:r>
              <a:rPr lang="en-US" sz="1800" b="1" strike="noStrike" spc="-1">
                <a:solidFill>
                  <a:srgbClr val="4D3E2F"/>
                </a:solidFill>
                <a:latin typeface="Arial"/>
              </a:rPr>
              <a:t>Continuous Availability</a:t>
            </a:r>
            <a:r>
              <a:rPr lang="en-US" sz="1800" b="0" strike="noStrike" spc="-1">
                <a:solidFill>
                  <a:srgbClr val="4D3E2F"/>
                </a:solidFill>
                <a:latin typeface="Arial"/>
              </a:rPr>
              <a:t> – Maintaining 24/7 service through replication, redundancy, and failover. </a:t>
            </a:r>
            <a:endParaRPr lang="en-US" sz="1800" b="0" strike="noStrike" spc="-1">
              <a:solidFill>
                <a:srgbClr val="4D3E2F"/>
              </a:solidFill>
              <a:latin typeface="Corbel"/>
            </a:endParaRPr>
          </a:p>
          <a:p>
            <a:pPr>
              <a:lnSpc>
                <a:spcPct val="100000"/>
              </a:lnSpc>
            </a:pPr>
            <a:endParaRPr lang="en-US" sz="1800" b="0" strike="noStrike" spc="-1">
              <a:solidFill>
                <a:srgbClr val="4D3E2F"/>
              </a:solidFill>
              <a:latin typeface="Corbel"/>
            </a:endParaRPr>
          </a:p>
          <a:p>
            <a:pPr>
              <a:lnSpc>
                <a:spcPct val="100000"/>
              </a:lnSpc>
              <a:buClr>
                <a:srgbClr val="4D3E2F"/>
              </a:buClr>
              <a:buFont typeface="Arial"/>
              <a:buChar char="•"/>
            </a:pPr>
            <a:r>
              <a:rPr lang="en-US" sz="1800" b="1" strike="noStrike" spc="-1">
                <a:solidFill>
                  <a:srgbClr val="4D3E2F"/>
                </a:solidFill>
                <a:latin typeface="Arial"/>
              </a:rPr>
              <a:t>Consistency</a:t>
            </a:r>
            <a:r>
              <a:rPr lang="en-US" sz="1800" b="0" strike="noStrike" spc="-1">
                <a:solidFill>
                  <a:srgbClr val="4D3E2F"/>
                </a:solidFill>
                <a:latin typeface="Arial"/>
              </a:rPr>
              <a:t> – Ensuring appropriate correctness of data across distributed replicas; systems may use strong or eventual consistency depending on requirements. </a:t>
            </a:r>
            <a:endParaRPr lang="en-US" sz="1800" b="0" strike="noStrike" spc="-1">
              <a:solidFill>
                <a:srgbClr val="4D3E2F"/>
              </a:solidFill>
              <a:latin typeface="Corbel"/>
            </a:endParaRPr>
          </a:p>
          <a:p>
            <a:pPr>
              <a:lnSpc>
                <a:spcPct val="100000"/>
              </a:lnSpc>
            </a:pPr>
            <a:endParaRPr lang="en-US" sz="1800" b="0" strike="noStrike" spc="-1">
              <a:solidFill>
                <a:srgbClr val="4D3E2F"/>
              </a:solidFill>
              <a:latin typeface="Corbel"/>
            </a:endParaRPr>
          </a:p>
          <a:p>
            <a:pPr>
              <a:lnSpc>
                <a:spcPct val="100000"/>
              </a:lnSpc>
              <a:buClr>
                <a:srgbClr val="4D3E2F"/>
              </a:buClr>
              <a:buFont typeface="Arial"/>
              <a:buChar char="•"/>
            </a:pPr>
            <a:r>
              <a:rPr lang="en-US" sz="1800" b="1" strike="noStrike" spc="-1">
                <a:solidFill>
                  <a:srgbClr val="4D3E2F"/>
                </a:solidFill>
                <a:latin typeface="Arial"/>
              </a:rPr>
              <a:t>Partition Tolerance</a:t>
            </a:r>
            <a:r>
              <a:rPr lang="en-US" sz="1800" b="0" strike="noStrike" spc="-1">
                <a:solidFill>
                  <a:srgbClr val="4D3E2F"/>
                </a:solidFill>
                <a:latin typeface="Arial"/>
              </a:rPr>
              <a:t> – Continuing operation despite network failures between distributed nodes; this is a fundamental concern addressed by the CAP theorem.</a:t>
            </a:r>
            <a:endParaRPr lang="en-US" sz="1800" b="0" strike="noStrike" spc="-1">
              <a:solidFill>
                <a:srgbClr val="4D3E2F"/>
              </a:solidFill>
              <a:latin typeface="Corbel"/>
            </a:endParaRPr>
          </a:p>
          <a:p>
            <a:pPr>
              <a:lnSpc>
                <a:spcPct val="100000"/>
              </a:lnSpc>
            </a:pPr>
            <a:r>
              <a:rPr lang="en-US" sz="1800" b="0" strike="noStrike" spc="-1">
                <a:solidFill>
                  <a:srgbClr val="4D3E2F"/>
                </a:solidFill>
                <a:latin typeface="Arial"/>
              </a:rPr>
              <a:t> </a:t>
            </a:r>
            <a:endParaRPr lang="en-US" sz="1800" b="0" strike="noStrike" spc="-1">
              <a:solidFill>
                <a:srgbClr val="4D3E2F"/>
              </a:solidFill>
              <a:latin typeface="Corbel"/>
            </a:endParaRPr>
          </a:p>
          <a:p>
            <a:pPr>
              <a:lnSpc>
                <a:spcPct val="100000"/>
              </a:lnSpc>
              <a:buClr>
                <a:srgbClr val="4D3E2F"/>
              </a:buClr>
              <a:buFont typeface="Arial"/>
              <a:buChar char="•"/>
            </a:pPr>
            <a:r>
              <a:rPr lang="en-US" sz="1800" b="1" strike="noStrike" spc="-1">
                <a:solidFill>
                  <a:srgbClr val="4D3E2F"/>
                </a:solidFill>
                <a:latin typeface="Arial"/>
              </a:rPr>
              <a:t>Data Quality</a:t>
            </a:r>
            <a:r>
              <a:rPr lang="en-US" sz="1800" b="0" strike="noStrike" spc="-1">
                <a:solidFill>
                  <a:srgbClr val="4D3E2F"/>
                </a:solidFill>
                <a:latin typeface="Arial"/>
              </a:rPr>
              <a:t> – Ensuring accuracy, completeness, consistency, validity, timeliness, and proper metadata. </a:t>
            </a:r>
            <a:endParaRPr lang="en-US" sz="1800" b="0" strike="noStrike" spc="-1">
              <a:solidFill>
                <a:srgbClr val="4D3E2F"/>
              </a:solidFill>
              <a:latin typeface="Corbe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TextShape 1"/>
          <p:cNvSpPr txBox="1"/>
          <p:nvPr/>
        </p:nvSpPr>
        <p:spPr>
          <a:xfrm>
            <a:off x="1410120" y="276120"/>
            <a:ext cx="9371520" cy="1183320"/>
          </a:xfrm>
          <a:prstGeom prst="rect">
            <a:avLst/>
          </a:prstGeom>
          <a:noFill/>
          <a:ln>
            <a:noFill/>
          </a:ln>
        </p:spPr>
        <p:txBody>
          <a:bodyPr anchor="b">
            <a:noAutofit/>
          </a:bodyPr>
          <a:lstStyle/>
          <a:p>
            <a:pPr>
              <a:lnSpc>
                <a:spcPct val="100000"/>
              </a:lnSpc>
            </a:pPr>
            <a:r>
              <a:rPr lang="en-US" sz="3400" b="1" strike="noStrike" spc="-1">
                <a:solidFill>
                  <a:srgbClr val="687F00"/>
                </a:solidFill>
                <a:latin typeface="Corbel"/>
              </a:rPr>
              <a:t>Major Challenges in Big Data Environment</a:t>
            </a:r>
            <a:br/>
            <a:endParaRPr lang="en-US" sz="3400" b="0" strike="noStrike" spc="-1">
              <a:solidFill>
                <a:srgbClr val="4D3E2F"/>
              </a:solidFill>
              <a:latin typeface="Corbel"/>
            </a:endParaRPr>
          </a:p>
        </p:txBody>
      </p:sp>
      <p:graphicFrame>
        <p:nvGraphicFramePr>
          <p:cNvPr id="290" name="Table 2"/>
          <p:cNvGraphicFramePr/>
          <p:nvPr/>
        </p:nvGraphicFramePr>
        <p:xfrm>
          <a:off x="1409760" y="1533240"/>
          <a:ext cx="9372240" cy="360000"/>
        </p:xfrm>
        <a:graphic>
          <a:graphicData uri="http://schemas.openxmlformats.org/drawingml/2006/table">
            <a:tbl>
              <a:tblPr/>
              <a:tblGrid>
                <a:gridCol w="3124080">
                  <a:extLst>
                    <a:ext uri="{9D8B030D-6E8A-4147-A177-3AD203B41FA5}">
                      <a16:colId xmlns:a16="http://schemas.microsoft.com/office/drawing/2014/main" val="20000"/>
                    </a:ext>
                  </a:extLst>
                </a:gridCol>
                <a:gridCol w="3124080">
                  <a:extLst>
                    <a:ext uri="{9D8B030D-6E8A-4147-A177-3AD203B41FA5}">
                      <a16:colId xmlns:a16="http://schemas.microsoft.com/office/drawing/2014/main" val="20001"/>
                    </a:ext>
                  </a:extLst>
                </a:gridCol>
                <a:gridCol w="3124080">
                  <a:extLst>
                    <a:ext uri="{9D8B030D-6E8A-4147-A177-3AD203B41FA5}">
                      <a16:colId xmlns:a16="http://schemas.microsoft.com/office/drawing/2014/main" val="20002"/>
                    </a:ext>
                  </a:extLst>
                </a:gridCol>
              </a:tblGrid>
              <a:tr h="0">
                <a:tc>
                  <a:txBody>
                    <a:bodyPr/>
                    <a:lstStyle/>
                    <a:p>
                      <a:pPr>
                        <a:lnSpc>
                          <a:spcPct val="100000"/>
                        </a:lnSpc>
                      </a:pPr>
                      <a:r>
                        <a:rPr lang="en-IN" sz="1800" b="1" strike="noStrike" spc="-1">
                          <a:solidFill>
                            <a:srgbClr val="4D3E2F"/>
                          </a:solidFill>
                          <a:latin typeface="Corbel"/>
                        </a:rPr>
                        <a:t>Challenge</a:t>
                      </a:r>
                      <a:endParaRPr lang="en-IN" sz="1800" b="0" strike="noStrike" spc="-1">
                        <a:latin typeface="Arial"/>
                      </a:endParaRPr>
                    </a:p>
                  </a:txBody>
                  <a:tcPr>
                    <a:solidFill>
                      <a:srgbClr val="C09B75"/>
                    </a:solidFill>
                  </a:tcPr>
                </a:tc>
                <a:tc>
                  <a:txBody>
                    <a:bodyPr/>
                    <a:lstStyle/>
                    <a:p>
                      <a:pPr>
                        <a:lnSpc>
                          <a:spcPct val="100000"/>
                        </a:lnSpc>
                      </a:pPr>
                      <a:r>
                        <a:rPr lang="en-IN" sz="1800" b="1" strike="noStrike" spc="-1">
                          <a:solidFill>
                            <a:srgbClr val="4D3E2F"/>
                          </a:solidFill>
                          <a:latin typeface="Corbel"/>
                        </a:rPr>
                        <a:t>Key Question</a:t>
                      </a:r>
                      <a:endParaRPr lang="en-IN" sz="1800" b="0" strike="noStrike" spc="-1">
                        <a:latin typeface="Arial"/>
                      </a:endParaRPr>
                    </a:p>
                  </a:txBody>
                  <a:tcPr>
                    <a:solidFill>
                      <a:srgbClr val="C09B75"/>
                    </a:solidFill>
                  </a:tcPr>
                </a:tc>
                <a:tc>
                  <a:txBody>
                    <a:bodyPr/>
                    <a:lstStyle/>
                    <a:p>
                      <a:pPr>
                        <a:lnSpc>
                          <a:spcPct val="100000"/>
                        </a:lnSpc>
                      </a:pPr>
                      <a:r>
                        <a:rPr lang="en-IN" sz="1800" b="1" strike="noStrike" spc="-1">
                          <a:solidFill>
                            <a:srgbClr val="4D3E2F"/>
                          </a:solidFill>
                          <a:latin typeface="Corbel"/>
                        </a:rPr>
                        <a:t>Main Concern</a:t>
                      </a:r>
                      <a:endParaRPr lang="en-IN" sz="1800" b="0" strike="noStrike" spc="-1">
                        <a:latin typeface="Arial"/>
                      </a:endParaRPr>
                    </a:p>
                  </a:txBody>
                  <a:tcPr>
                    <a:solidFill>
                      <a:srgbClr val="C09B75"/>
                    </a:solidFill>
                  </a:tcPr>
                </a:tc>
                <a:extLst>
                  <a:ext uri="{0D108BD9-81ED-4DB2-BD59-A6C34878D82A}">
                    <a16:rowId xmlns:a16="http://schemas.microsoft.com/office/drawing/2014/main" val="10000"/>
                  </a:ext>
                </a:extLst>
              </a:tr>
              <a:tr h="0">
                <a:tc>
                  <a:txBody>
                    <a:bodyPr/>
                    <a:lstStyle/>
                    <a:p>
                      <a:pPr>
                        <a:lnSpc>
                          <a:spcPct val="100000"/>
                        </a:lnSpc>
                      </a:pPr>
                      <a:r>
                        <a:rPr lang="en-IN" sz="1800" b="1" strike="noStrike" spc="-1">
                          <a:solidFill>
                            <a:srgbClr val="4D3E2F"/>
                          </a:solidFill>
                          <a:latin typeface="Corbel"/>
                        </a:rPr>
                        <a:t>Scale</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Can the system handle increasing data?</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Scalability (horizontal, vertical)</a:t>
                      </a:r>
                      <a:endParaRPr lang="en-IN" sz="1800" b="0" strike="noStrike" spc="-1">
                        <a:latin typeface="Arial"/>
                      </a:endParaRPr>
                    </a:p>
                  </a:txBody>
                  <a:tcPr>
                    <a:solidFill>
                      <a:srgbClr val="D9D9D9"/>
                    </a:solidFill>
                  </a:tcPr>
                </a:tc>
                <a:extLst>
                  <a:ext uri="{0D108BD9-81ED-4DB2-BD59-A6C34878D82A}">
                    <a16:rowId xmlns:a16="http://schemas.microsoft.com/office/drawing/2014/main" val="10001"/>
                  </a:ext>
                </a:extLst>
              </a:tr>
              <a:tr h="0">
                <a:tc>
                  <a:txBody>
                    <a:bodyPr/>
                    <a:lstStyle/>
                    <a:p>
                      <a:pPr>
                        <a:lnSpc>
                          <a:spcPct val="100000"/>
                        </a:lnSpc>
                      </a:pPr>
                      <a:r>
                        <a:rPr lang="en-IN" sz="1800" b="1" strike="noStrike" spc="-1">
                          <a:solidFill>
                            <a:srgbClr val="4D3E2F"/>
                          </a:solidFill>
                          <a:latin typeface="Corbel"/>
                        </a:rPr>
                        <a:t>Security</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Is the data protected?</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Confidentiality &amp; access(</a:t>
                      </a:r>
                      <a:endParaRPr lang="en-IN" sz="1800" b="0" strike="noStrike" spc="-1">
                        <a:latin typeface="Arial"/>
                      </a:endParaRPr>
                    </a:p>
                  </a:txBody>
                  <a:tcPr>
                    <a:solidFill>
                      <a:srgbClr val="D9D9D9"/>
                    </a:solidFill>
                  </a:tcPr>
                </a:tc>
                <a:extLst>
                  <a:ext uri="{0D108BD9-81ED-4DB2-BD59-A6C34878D82A}">
                    <a16:rowId xmlns:a16="http://schemas.microsoft.com/office/drawing/2014/main" val="10002"/>
                  </a:ext>
                </a:extLst>
              </a:tr>
              <a:tr h="0">
                <a:tc>
                  <a:txBody>
                    <a:bodyPr/>
                    <a:lstStyle/>
                    <a:p>
                      <a:pPr>
                        <a:lnSpc>
                          <a:spcPct val="100000"/>
                        </a:lnSpc>
                      </a:pPr>
                      <a:r>
                        <a:rPr lang="en-IN" sz="1800" b="1" strike="noStrike" spc="-1">
                          <a:solidFill>
                            <a:srgbClr val="4D3E2F"/>
                          </a:solidFill>
                          <a:latin typeface="Corbel"/>
                        </a:rPr>
                        <a:t>Schema</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Can different data structures be handled?</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Flexibility</a:t>
                      </a:r>
                      <a:endParaRPr lang="en-IN" sz="1800" b="0" strike="noStrike" spc="-1">
                        <a:latin typeface="Arial"/>
                      </a:endParaRPr>
                    </a:p>
                  </a:txBody>
                  <a:tcPr>
                    <a:solidFill>
                      <a:srgbClr val="D9D9D9"/>
                    </a:solidFill>
                  </a:tcPr>
                </a:tc>
                <a:extLst>
                  <a:ext uri="{0D108BD9-81ED-4DB2-BD59-A6C34878D82A}">
                    <a16:rowId xmlns:a16="http://schemas.microsoft.com/office/drawing/2014/main" val="10003"/>
                  </a:ext>
                </a:extLst>
              </a:tr>
              <a:tr h="0">
                <a:tc>
                  <a:txBody>
                    <a:bodyPr/>
                    <a:lstStyle/>
                    <a:p>
                      <a:pPr>
                        <a:lnSpc>
                          <a:spcPct val="100000"/>
                        </a:lnSpc>
                      </a:pPr>
                      <a:r>
                        <a:rPr lang="en-IN" sz="1800" b="1" strike="noStrike" spc="-1">
                          <a:solidFill>
                            <a:srgbClr val="4D3E2F"/>
                          </a:solidFill>
                          <a:latin typeface="Corbel"/>
                        </a:rPr>
                        <a:t>Availability</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Is the system available 24/7?</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Downtime</a:t>
                      </a:r>
                      <a:endParaRPr lang="en-IN" sz="1800" b="0" strike="noStrike" spc="-1">
                        <a:latin typeface="Arial"/>
                      </a:endParaRPr>
                    </a:p>
                  </a:txBody>
                  <a:tcPr>
                    <a:solidFill>
                      <a:srgbClr val="D9D9D9"/>
                    </a:solidFill>
                  </a:tcPr>
                </a:tc>
                <a:extLst>
                  <a:ext uri="{0D108BD9-81ED-4DB2-BD59-A6C34878D82A}">
                    <a16:rowId xmlns:a16="http://schemas.microsoft.com/office/drawing/2014/main" val="10004"/>
                  </a:ext>
                </a:extLst>
              </a:tr>
              <a:tr h="0">
                <a:tc>
                  <a:txBody>
                    <a:bodyPr/>
                    <a:lstStyle/>
                    <a:p>
                      <a:pPr>
                        <a:lnSpc>
                          <a:spcPct val="100000"/>
                        </a:lnSpc>
                      </a:pPr>
                      <a:r>
                        <a:rPr lang="en-IN" sz="1800" b="1" strike="noStrike" spc="-1">
                          <a:solidFill>
                            <a:srgbClr val="4D3E2F"/>
                          </a:solidFill>
                          <a:latin typeface="Corbel"/>
                        </a:rPr>
                        <a:t>Consistency</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Do users see appropriate correct data?</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Data correctness</a:t>
                      </a:r>
                      <a:endParaRPr lang="en-IN" sz="1800" b="0" strike="noStrike" spc="-1">
                        <a:latin typeface="Arial"/>
                      </a:endParaRPr>
                    </a:p>
                  </a:txBody>
                  <a:tcPr>
                    <a:solidFill>
                      <a:srgbClr val="D9D9D9"/>
                    </a:solidFill>
                  </a:tcPr>
                </a:tc>
                <a:extLst>
                  <a:ext uri="{0D108BD9-81ED-4DB2-BD59-A6C34878D82A}">
                    <a16:rowId xmlns:a16="http://schemas.microsoft.com/office/drawing/2014/main" val="10005"/>
                  </a:ext>
                </a:extLst>
              </a:tr>
              <a:tr h="0">
                <a:tc>
                  <a:txBody>
                    <a:bodyPr/>
                    <a:lstStyle/>
                    <a:p>
                      <a:pPr>
                        <a:lnSpc>
                          <a:spcPct val="100000"/>
                        </a:lnSpc>
                      </a:pPr>
                      <a:r>
                        <a:rPr lang="en-IN" sz="1800" b="1" strike="noStrike" spc="-1">
                          <a:solidFill>
                            <a:srgbClr val="4D3E2F"/>
                          </a:solidFill>
                          <a:latin typeface="Corbel"/>
                        </a:rPr>
                        <a:t>Partition Tolerance</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Can the system survive network failures?</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Distributed reliability</a:t>
                      </a:r>
                      <a:endParaRPr lang="en-IN" sz="1800" b="0" strike="noStrike" spc="-1">
                        <a:latin typeface="Arial"/>
                      </a:endParaRPr>
                    </a:p>
                  </a:txBody>
                  <a:tcPr>
                    <a:solidFill>
                      <a:srgbClr val="D9D9D9"/>
                    </a:solidFill>
                  </a:tcPr>
                </a:tc>
                <a:extLst>
                  <a:ext uri="{0D108BD9-81ED-4DB2-BD59-A6C34878D82A}">
                    <a16:rowId xmlns:a16="http://schemas.microsoft.com/office/drawing/2014/main" val="10006"/>
                  </a:ext>
                </a:extLst>
              </a:tr>
              <a:tr h="0">
                <a:tc>
                  <a:txBody>
                    <a:bodyPr/>
                    <a:lstStyle/>
                    <a:p>
                      <a:pPr>
                        <a:lnSpc>
                          <a:spcPct val="100000"/>
                        </a:lnSpc>
                      </a:pPr>
                      <a:r>
                        <a:rPr lang="en-IN" sz="1800" b="1" strike="noStrike" spc="-1">
                          <a:solidFill>
                            <a:srgbClr val="4D3E2F"/>
                          </a:solidFill>
                          <a:latin typeface="Corbel"/>
                        </a:rPr>
                        <a:t>Data Quality</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Is the data accurate and usable?</a:t>
                      </a:r>
                      <a:endParaRPr lang="en-IN" sz="1800" b="0" strike="noStrike" spc="-1">
                        <a:latin typeface="Arial"/>
                      </a:endParaRPr>
                    </a:p>
                  </a:txBody>
                  <a:tcPr>
                    <a:solidFill>
                      <a:srgbClr val="D9D9D9"/>
                    </a:solidFill>
                  </a:tcPr>
                </a:tc>
                <a:tc>
                  <a:txBody>
                    <a:bodyPr/>
                    <a:lstStyle/>
                    <a:p>
                      <a:pPr>
                        <a:lnSpc>
                          <a:spcPct val="100000"/>
                        </a:lnSpc>
                      </a:pPr>
                      <a:r>
                        <a:rPr lang="en-IN" sz="1800" b="0" strike="noStrike" spc="-1">
                          <a:solidFill>
                            <a:srgbClr val="4D3E2F"/>
                          </a:solidFill>
                          <a:latin typeface="Corbel"/>
                        </a:rPr>
                        <a:t>Accuracy, completeness, timeliness</a:t>
                      </a:r>
                      <a:endParaRPr lang="en-IN" sz="1800" b="0" strike="noStrike" spc="-1">
                        <a:latin typeface="Arial"/>
                      </a:endParaRPr>
                    </a:p>
                  </a:txBody>
                  <a:tcPr>
                    <a:solidFill>
                      <a:srgbClr val="D9D9D9"/>
                    </a:solidFill>
                  </a:tcPr>
                </a:tc>
                <a:extLst>
                  <a:ext uri="{0D108BD9-81ED-4DB2-BD59-A6C34878D82A}">
                    <a16:rowId xmlns:a16="http://schemas.microsoft.com/office/drawing/2014/main" val="10007"/>
                  </a:ext>
                </a:extLst>
              </a:tr>
            </a:tbl>
          </a:graphicData>
        </a:graphic>
      </p:graphicFrame>
      <p:sp>
        <p:nvSpPr>
          <p:cNvPr id="291" name="TextShape 3"/>
          <p:cNvSpPr txBox="1"/>
          <p:nvPr/>
        </p:nvSpPr>
        <p:spPr>
          <a:xfrm>
            <a:off x="0" y="6629400"/>
            <a:ext cx="410040" cy="228240"/>
          </a:xfrm>
          <a:prstGeom prst="rect">
            <a:avLst/>
          </a:prstGeom>
          <a:noFill/>
          <a:ln>
            <a:noFill/>
          </a:ln>
        </p:spPr>
        <p:txBody>
          <a:bodyPr anchor="ctr">
            <a:noAutofit/>
          </a:bodyPr>
          <a:lstStyle/>
          <a:p>
            <a:pPr algn="r">
              <a:lnSpc>
                <a:spcPct val="100000"/>
              </a:lnSpc>
            </a:pPr>
            <a:fld id="{39C94151-A309-4C7A-ABA6-A5B1B6B48B8D}" type="slidenum">
              <a:rPr lang="en-IN" sz="1100" b="0" strike="noStrike" spc="-1">
                <a:solidFill>
                  <a:srgbClr val="455500"/>
                </a:solidFill>
                <a:latin typeface="Corbel"/>
              </a:rPr>
              <a:t>10</a:t>
            </a:fld>
            <a:endParaRPr lang="en-IN" sz="1100" b="0" strike="noStrike" spc="-1">
              <a:latin typeface="Times New Roman"/>
            </a:endParaRPr>
          </a:p>
        </p:txBody>
      </p:sp>
      <p:sp>
        <p:nvSpPr>
          <p:cNvPr id="292" name="TextShape 4"/>
          <p:cNvSpPr txBox="1"/>
          <p:nvPr/>
        </p:nvSpPr>
        <p:spPr>
          <a:xfrm>
            <a:off x="453240" y="6629400"/>
            <a:ext cx="1000440" cy="228240"/>
          </a:xfrm>
          <a:prstGeom prst="rect">
            <a:avLst/>
          </a:prstGeom>
          <a:noFill/>
          <a:ln>
            <a:noFill/>
          </a:ln>
        </p:spPr>
        <p:txBody>
          <a:bodyPr anchor="ctr">
            <a:noAutofit/>
          </a:bodyPr>
          <a:lstStyle/>
          <a:p>
            <a:pPr algn="r">
              <a:lnSpc>
                <a:spcPct val="100000"/>
              </a:lnSpc>
            </a:pPr>
            <a:fld id="{24C5B840-3F32-4825-9E21-01A94FFD5306}" type="datetime1">
              <a:rPr lang="en-IN" sz="1100" b="0" strike="noStrike" spc="-1">
                <a:solidFill>
                  <a:srgbClr val="455500"/>
                </a:solidFill>
                <a:latin typeface="Corbel"/>
              </a:rPr>
              <a:t>24-08-2026</a:t>
            </a:fld>
            <a:endParaRPr lang="en-IN" sz="1100" b="0" strike="noStrike" spc="-1">
              <a:latin typeface="Times New Roman"/>
            </a:endParaRPr>
          </a:p>
        </p:txBody>
      </p:sp>
      <p:sp>
        <p:nvSpPr>
          <p:cNvPr id="293" name="TextShape 5"/>
          <p:cNvSpPr txBox="1"/>
          <p:nvPr/>
        </p:nvSpPr>
        <p:spPr>
          <a:xfrm>
            <a:off x="1637640" y="6629400"/>
            <a:ext cx="9144000" cy="228240"/>
          </a:xfrm>
          <a:prstGeom prst="rect">
            <a:avLst/>
          </a:prstGeom>
          <a:noFill/>
          <a:ln>
            <a:noFill/>
          </a:ln>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 name="TextShape 1"/>
          <p:cNvSpPr txBox="1"/>
          <p:nvPr/>
        </p:nvSpPr>
        <p:spPr>
          <a:xfrm>
            <a:off x="717840" y="-79560"/>
            <a:ext cx="10983960" cy="1183320"/>
          </a:xfrm>
          <a:prstGeom prst="rect">
            <a:avLst/>
          </a:prstGeom>
          <a:noFill/>
          <a:ln>
            <a:noFill/>
          </a:ln>
        </p:spPr>
        <p:txBody>
          <a:bodyPr anchor="b">
            <a:noAutofit/>
          </a:bodyPr>
          <a:lstStyle/>
          <a:p>
            <a:pPr>
              <a:lnSpc>
                <a:spcPct val="100000"/>
              </a:lnSpc>
            </a:pPr>
            <a:r>
              <a:rPr lang="en-US" sz="3400" b="1" strike="noStrike" spc="-1">
                <a:solidFill>
                  <a:srgbClr val="687F00"/>
                </a:solidFill>
                <a:latin typeface="Corbel"/>
              </a:rPr>
              <a:t>TERMINOLOGIES USED IN BIG DATA ENVIRONMENTS</a:t>
            </a:r>
            <a:endParaRPr lang="en-US" sz="3400" b="0" strike="noStrike" spc="-1">
              <a:solidFill>
                <a:srgbClr val="4D3E2F"/>
              </a:solidFill>
              <a:latin typeface="Corbel"/>
            </a:endParaRPr>
          </a:p>
        </p:txBody>
      </p:sp>
      <p:sp>
        <p:nvSpPr>
          <p:cNvPr id="295" name="TextShape 2"/>
          <p:cNvSpPr txBox="1"/>
          <p:nvPr/>
        </p:nvSpPr>
        <p:spPr>
          <a:xfrm>
            <a:off x="410400" y="1556280"/>
            <a:ext cx="11373480" cy="4620240"/>
          </a:xfrm>
          <a:prstGeom prst="rect">
            <a:avLst/>
          </a:prstGeom>
          <a:noFill/>
          <a:ln>
            <a:noFill/>
          </a:ln>
        </p:spPr>
        <p:txBody>
          <a:bodyPr>
            <a:normAutofit/>
          </a:bodyPr>
          <a:lstStyle/>
          <a:p>
            <a:pPr>
              <a:lnSpc>
                <a:spcPct val="90000"/>
              </a:lnSpc>
              <a:spcBef>
                <a:spcPts val="1100"/>
              </a:spcBef>
            </a:pPr>
            <a:r>
              <a:rPr lang="en-US" sz="2200" b="1" strike="noStrike" spc="-1">
                <a:solidFill>
                  <a:srgbClr val="8BAA00"/>
                </a:solidFill>
                <a:latin typeface="Calibri"/>
              </a:rPr>
              <a:t>In-Memory Analytics</a:t>
            </a:r>
            <a:endParaRPr lang="en-US" sz="2200" b="0" strike="noStrike" spc="-1">
              <a:solidFill>
                <a:srgbClr val="4D3E2F"/>
              </a:solidFill>
              <a:latin typeface="Corbel"/>
            </a:endParaRPr>
          </a:p>
          <a:p>
            <a:pPr marL="210240" indent="-209880" algn="just">
              <a:lnSpc>
                <a:spcPct val="90000"/>
              </a:lnSpc>
              <a:spcBef>
                <a:spcPts val="1100"/>
              </a:spcBef>
              <a:buClr>
                <a:srgbClr val="4D3E2F"/>
              </a:buClr>
              <a:buFont typeface="Arial"/>
              <a:buChar char="•"/>
            </a:pPr>
            <a:r>
              <a:rPr lang="en-US" sz="2200" b="0" strike="noStrike" spc="-1">
                <a:solidFill>
                  <a:srgbClr val="4D3E2F"/>
                </a:solidFill>
                <a:latin typeface="Calibri"/>
              </a:rPr>
              <a:t>Data access from non-volatile storage such as hard disk is a slow process. The more the data is required to be fetched from hard disk or secondary storage, the slower the process gets. One way to combat this challenge is to pre-process and store data (cubes, aggregate tables, query sets, etc.) so that the CPU has to fetch a small subset of records. But this requires thinking in advance as to what will be required for analysis. If there is a need for different or more data, it is back to the initial process of pre-computing and storing data or fetching it from secondary storage.</a:t>
            </a:r>
            <a:endParaRPr lang="en-US" sz="2200" b="0" strike="noStrike" spc="-1">
              <a:solidFill>
                <a:srgbClr val="4D3E2F"/>
              </a:solidFill>
              <a:latin typeface="Corbel"/>
            </a:endParaRPr>
          </a:p>
          <a:p>
            <a:pPr marL="210240" indent="-209880" algn="just">
              <a:lnSpc>
                <a:spcPct val="90000"/>
              </a:lnSpc>
              <a:spcBef>
                <a:spcPts val="1100"/>
              </a:spcBef>
              <a:buClr>
                <a:srgbClr val="4D3E2F"/>
              </a:buClr>
              <a:buFont typeface="Arial"/>
              <a:buChar char="•"/>
            </a:pPr>
            <a:r>
              <a:rPr lang="en-US" sz="2200" b="0" strike="noStrike" spc="-1">
                <a:solidFill>
                  <a:srgbClr val="4D3E2F"/>
                </a:solidFill>
                <a:latin typeface="Calibri"/>
              </a:rPr>
              <a:t>This problem has been addressed using in-memory analytics. Here all the relevant data is stored in </a:t>
            </a:r>
            <a:r>
              <a:rPr lang="en-US" sz="2200" b="1" strike="noStrike" spc="-1">
                <a:solidFill>
                  <a:srgbClr val="4D3E2F"/>
                </a:solidFill>
                <a:latin typeface="Calibri"/>
              </a:rPr>
              <a:t>Random Access Memory (RAM)</a:t>
            </a:r>
            <a:r>
              <a:rPr lang="en-US" sz="2200" b="0" strike="noStrike" spc="-1">
                <a:solidFill>
                  <a:srgbClr val="4D3E2F"/>
                </a:solidFill>
                <a:latin typeface="Calibri"/>
              </a:rPr>
              <a:t> or primary storage, thus eliminating the need to fetch data from hard disk. The advantage is faster access, rapid deployment, better insights, and minimal IT involvement.</a:t>
            </a:r>
            <a:endParaRPr lang="en-US" sz="2200" b="0" strike="noStrike" spc="-1">
              <a:solidFill>
                <a:srgbClr val="4D3E2F"/>
              </a:solidFill>
              <a:latin typeface="Corbel"/>
            </a:endParaRPr>
          </a:p>
        </p:txBody>
      </p:sp>
      <p:sp>
        <p:nvSpPr>
          <p:cNvPr id="296" name="TextShape 3"/>
          <p:cNvSpPr txBox="1"/>
          <p:nvPr/>
        </p:nvSpPr>
        <p:spPr>
          <a:xfrm>
            <a:off x="0" y="6629400"/>
            <a:ext cx="410040" cy="228240"/>
          </a:xfrm>
          <a:prstGeom prst="rect">
            <a:avLst/>
          </a:prstGeom>
          <a:noFill/>
          <a:ln>
            <a:noFill/>
          </a:ln>
        </p:spPr>
        <p:txBody>
          <a:bodyPr anchor="ctr">
            <a:noAutofit/>
          </a:bodyPr>
          <a:lstStyle/>
          <a:p>
            <a:pPr algn="r">
              <a:lnSpc>
                <a:spcPct val="100000"/>
              </a:lnSpc>
            </a:pPr>
            <a:fld id="{6140BB09-AB87-45C9-BDAB-8F5518206A6D}" type="slidenum">
              <a:rPr lang="en-IN" sz="1100" b="0" strike="noStrike" spc="-1">
                <a:solidFill>
                  <a:srgbClr val="455500"/>
                </a:solidFill>
                <a:latin typeface="Corbel"/>
              </a:rPr>
              <a:t>11</a:t>
            </a:fld>
            <a:endParaRPr lang="en-IN" sz="1100" b="0" strike="noStrike" spc="-1">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TextShape 1"/>
          <p:cNvSpPr txBox="1"/>
          <p:nvPr/>
        </p:nvSpPr>
        <p:spPr>
          <a:xfrm>
            <a:off x="717840" y="-79560"/>
            <a:ext cx="10983960" cy="1183320"/>
          </a:xfrm>
          <a:prstGeom prst="rect">
            <a:avLst/>
          </a:prstGeom>
          <a:noFill/>
          <a:ln>
            <a:noFill/>
          </a:ln>
        </p:spPr>
        <p:txBody>
          <a:bodyPr anchor="b">
            <a:noAutofit/>
          </a:bodyPr>
          <a:lstStyle/>
          <a:p>
            <a:pPr>
              <a:lnSpc>
                <a:spcPct val="100000"/>
              </a:lnSpc>
            </a:pPr>
            <a:r>
              <a:rPr lang="en-US" sz="3400" b="1" strike="noStrike" spc="-1">
                <a:solidFill>
                  <a:srgbClr val="687F00"/>
                </a:solidFill>
                <a:latin typeface="Corbel"/>
              </a:rPr>
              <a:t>TERMINOLOGIES USED IN BIG DATA ENVIRONMENTS</a:t>
            </a:r>
            <a:endParaRPr lang="en-US" sz="3400" b="0" strike="noStrike" spc="-1">
              <a:solidFill>
                <a:srgbClr val="4D3E2F"/>
              </a:solidFill>
              <a:latin typeface="Corbel"/>
            </a:endParaRPr>
          </a:p>
        </p:txBody>
      </p:sp>
      <p:sp>
        <p:nvSpPr>
          <p:cNvPr id="298" name="TextShape 2"/>
          <p:cNvSpPr txBox="1"/>
          <p:nvPr/>
        </p:nvSpPr>
        <p:spPr>
          <a:xfrm>
            <a:off x="410400" y="1257480"/>
            <a:ext cx="8093160" cy="5600520"/>
          </a:xfrm>
          <a:prstGeom prst="rect">
            <a:avLst/>
          </a:prstGeom>
          <a:noFill/>
          <a:ln>
            <a:noFill/>
          </a:ln>
        </p:spPr>
        <p:txBody>
          <a:bodyPr>
            <a:normAutofit/>
          </a:bodyPr>
          <a:lstStyle/>
          <a:p>
            <a:pPr>
              <a:lnSpc>
                <a:spcPct val="90000"/>
              </a:lnSpc>
              <a:spcBef>
                <a:spcPts val="1100"/>
              </a:spcBef>
            </a:pPr>
            <a:r>
              <a:rPr lang="en-US" sz="2200" b="1" strike="noStrike" spc="-1">
                <a:solidFill>
                  <a:srgbClr val="8BAA00"/>
                </a:solidFill>
                <a:latin typeface="Calibri"/>
              </a:rPr>
              <a:t>In-</a:t>
            </a:r>
            <a:r>
              <a:rPr lang="en-US" sz="2200" b="1" strike="noStrike" spc="-1">
                <a:solidFill>
                  <a:srgbClr val="8BAA00"/>
                </a:solidFill>
                <a:latin typeface="Corbel"/>
              </a:rPr>
              <a:t>Database Processing</a:t>
            </a:r>
            <a:endParaRPr lang="en-US" sz="2200" b="0" strike="noStrike" spc="-1">
              <a:solidFill>
                <a:srgbClr val="4D3E2F"/>
              </a:solidFill>
              <a:latin typeface="Corbel"/>
            </a:endParaRPr>
          </a:p>
          <a:p>
            <a:pPr marL="210240" indent="-209880" algn="just">
              <a:lnSpc>
                <a:spcPct val="90000"/>
              </a:lnSpc>
              <a:spcBef>
                <a:spcPts val="1100"/>
              </a:spcBef>
              <a:buClr>
                <a:srgbClr val="4D3E2F"/>
              </a:buClr>
              <a:buFont typeface="Arial"/>
              <a:buChar char="•"/>
            </a:pPr>
            <a:r>
              <a:rPr lang="en-US" sz="2200" b="1" strike="noStrike" spc="-1">
                <a:solidFill>
                  <a:srgbClr val="4D3E2F"/>
                </a:solidFill>
                <a:latin typeface="Corbel"/>
              </a:rPr>
              <a:t>In-</a:t>
            </a:r>
            <a:r>
              <a:rPr lang="en-US" sz="2200" b="0" strike="noStrike" spc="-1">
                <a:solidFill>
                  <a:srgbClr val="4D3E2F"/>
                </a:solidFill>
                <a:latin typeface="Corbel"/>
              </a:rPr>
              <a:t>In-database processing is also called </a:t>
            </a:r>
            <a:r>
              <a:rPr lang="en-US" sz="2200" b="1" strike="noStrike" spc="-1">
                <a:solidFill>
                  <a:srgbClr val="4D3E2F"/>
                </a:solidFill>
                <a:latin typeface="Corbel"/>
              </a:rPr>
              <a:t>in-database analytics</a:t>
            </a:r>
            <a:r>
              <a:rPr lang="en-US" sz="2200" b="0" strike="noStrike" spc="-1">
                <a:solidFill>
                  <a:srgbClr val="4D3E2F"/>
                </a:solidFill>
                <a:latin typeface="Corbel"/>
              </a:rPr>
              <a:t>. It works by fusing data warehouses with analytical systems. Typically the data from various sources enterprise </a:t>
            </a:r>
            <a:r>
              <a:rPr lang="en-US" sz="2200" b="1" strike="noStrike" spc="-1">
                <a:solidFill>
                  <a:srgbClr val="4D3E2F"/>
                </a:solidFill>
                <a:latin typeface="Corbel"/>
              </a:rPr>
              <a:t>On Line Transaction Processing (OLTP)</a:t>
            </a:r>
            <a:r>
              <a:rPr lang="en-US" sz="2200" b="0" strike="noStrike" spc="-1">
                <a:solidFill>
                  <a:srgbClr val="4D3E2F"/>
                </a:solidFill>
                <a:latin typeface="Corbel"/>
              </a:rPr>
              <a:t> systems after </a:t>
            </a:r>
            <a:r>
              <a:rPr lang="en-US" sz="2200" b="0" strike="noStrike" spc="-1">
                <a:solidFill>
                  <a:srgbClr val="4D3E2F"/>
                </a:solidFill>
                <a:latin typeface="Calibri"/>
              </a:rPr>
              <a:t>this problem has been addressed using in-memory analytics. </a:t>
            </a:r>
            <a:endParaRPr lang="en-US" sz="2200" b="0" strike="noStrike" spc="-1">
              <a:solidFill>
                <a:srgbClr val="4D3E2F"/>
              </a:solidFill>
              <a:latin typeface="Corbel"/>
            </a:endParaRPr>
          </a:p>
          <a:p>
            <a:pPr marL="210240" indent="-209880" algn="just">
              <a:lnSpc>
                <a:spcPct val="90000"/>
              </a:lnSpc>
              <a:spcBef>
                <a:spcPts val="1100"/>
              </a:spcBef>
              <a:buClr>
                <a:srgbClr val="4D3E2F"/>
              </a:buClr>
              <a:buFont typeface="Arial"/>
              <a:buChar char="•"/>
            </a:pPr>
            <a:r>
              <a:rPr lang="en-US" sz="2200" b="0" strike="noStrike" spc="-1">
                <a:solidFill>
                  <a:srgbClr val="4D3E2F"/>
                </a:solidFill>
                <a:latin typeface="Calibri"/>
              </a:rPr>
              <a:t>Here all the relevant data is stored in </a:t>
            </a:r>
            <a:r>
              <a:rPr lang="en-US" sz="2200" b="1" strike="noStrike" spc="-1">
                <a:solidFill>
                  <a:srgbClr val="4D3E2F"/>
                </a:solidFill>
                <a:latin typeface="Calibri"/>
              </a:rPr>
              <a:t>Random Access Memory (RAM)</a:t>
            </a:r>
            <a:r>
              <a:rPr lang="en-US" sz="2200" b="0" strike="noStrike" spc="-1">
                <a:solidFill>
                  <a:srgbClr val="4D3E2F"/>
                </a:solidFill>
                <a:latin typeface="Calibri"/>
              </a:rPr>
              <a:t> or primary storage, thus eliminating the need to fetch data from hard disk. The advantage is faster access, rapid deployment, better insights, and minimal IT involvement.</a:t>
            </a:r>
            <a:endParaRPr lang="en-US" sz="2200" b="0" strike="noStrike" spc="-1">
              <a:solidFill>
                <a:srgbClr val="4D3E2F"/>
              </a:solidFill>
              <a:latin typeface="Corbel"/>
            </a:endParaRPr>
          </a:p>
          <a:p>
            <a:pPr marL="210240" indent="-209880" algn="just">
              <a:lnSpc>
                <a:spcPct val="90000"/>
              </a:lnSpc>
              <a:spcBef>
                <a:spcPts val="1100"/>
              </a:spcBef>
              <a:buClr>
                <a:srgbClr val="4D3E2F"/>
              </a:buClr>
              <a:buFont typeface="Arial"/>
              <a:buChar char="•"/>
            </a:pPr>
            <a:r>
              <a:rPr lang="en-US" sz="2200" b="0" strike="noStrike" spc="-1">
                <a:solidFill>
                  <a:srgbClr val="4D3E2F"/>
                </a:solidFill>
                <a:latin typeface="Calibri"/>
              </a:rPr>
              <a:t>Cleaning up (de-duplication, scrubbing, etc.) through the process of ETL is stored in the Enterprise Data Warehouse (EDW) or data marts. The huge datasets are then exported to analytical programs for complex and extensive computations. With in-database processing, the database program itself can run the computations, eliminating the need for export and thereby saving on time. Leading database vendors are offering this feature to large businesses.</a:t>
            </a:r>
            <a:endParaRPr lang="en-US" sz="2200" b="0" strike="noStrike" spc="-1">
              <a:solidFill>
                <a:srgbClr val="4D3E2F"/>
              </a:solidFill>
              <a:latin typeface="Corbel"/>
            </a:endParaRPr>
          </a:p>
        </p:txBody>
      </p:sp>
      <p:sp>
        <p:nvSpPr>
          <p:cNvPr id="299" name="TextShape 3"/>
          <p:cNvSpPr txBox="1"/>
          <p:nvPr/>
        </p:nvSpPr>
        <p:spPr>
          <a:xfrm>
            <a:off x="0" y="6629400"/>
            <a:ext cx="410040" cy="228240"/>
          </a:xfrm>
          <a:prstGeom prst="rect">
            <a:avLst/>
          </a:prstGeom>
          <a:noFill/>
          <a:ln>
            <a:noFill/>
          </a:ln>
        </p:spPr>
        <p:txBody>
          <a:bodyPr anchor="ctr">
            <a:noAutofit/>
          </a:bodyPr>
          <a:lstStyle/>
          <a:p>
            <a:pPr algn="r">
              <a:lnSpc>
                <a:spcPct val="100000"/>
              </a:lnSpc>
            </a:pPr>
            <a:fld id="{CEDBEDA9-EA17-4240-B14E-5DAAED325234}" type="slidenum">
              <a:rPr lang="en-IN" sz="1100" b="0" strike="noStrike" spc="-1">
                <a:solidFill>
                  <a:srgbClr val="455500"/>
                </a:solidFill>
                <a:latin typeface="Corbel"/>
              </a:rPr>
              <a:t>12</a:t>
            </a:fld>
            <a:endParaRPr lang="en-IN" sz="1100" b="0" strike="noStrike" spc="-1">
              <a:latin typeface="Times New Roman"/>
            </a:endParaRPr>
          </a:p>
        </p:txBody>
      </p:sp>
      <p:sp>
        <p:nvSpPr>
          <p:cNvPr id="300" name="CustomShape 4"/>
          <p:cNvSpPr/>
          <p:nvPr/>
        </p:nvSpPr>
        <p:spPr>
          <a:xfrm>
            <a:off x="8801280" y="1703160"/>
            <a:ext cx="3245760" cy="4501080"/>
          </a:xfrm>
          <a:prstGeom prst="rect">
            <a:avLst/>
          </a:prstGeom>
          <a:solidFill>
            <a:schemeClr val="accent2">
              <a:lumMod val="20000"/>
              <a:lumOff val="80000"/>
            </a:schemeClr>
          </a:solid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IN" sz="1600" b="0" strike="noStrike" spc="-1">
                <a:solidFill>
                  <a:srgbClr val="4D3E2F"/>
                </a:solidFill>
                <a:latin typeface="Google Sans"/>
              </a:rPr>
              <a:t>Core Tasks in ETL Transformation</a:t>
            </a:r>
            <a:endParaRPr lang="en-IN" sz="1600" b="0" strike="noStrike" spc="-1">
              <a:latin typeface="Arial"/>
            </a:endParaRPr>
          </a:p>
          <a:p>
            <a:pPr>
              <a:lnSpc>
                <a:spcPct val="100000"/>
              </a:lnSpc>
              <a:buClr>
                <a:srgbClr val="4D3E2F"/>
              </a:buClr>
              <a:buFont typeface="Symbol" charset="2"/>
              <a:buChar char=""/>
            </a:pPr>
            <a:r>
              <a:rPr lang="en-IN" sz="1600" b="1" strike="noStrike" spc="-1">
                <a:solidFill>
                  <a:srgbClr val="4D3E2F"/>
                </a:solidFill>
                <a:latin typeface="Google Sans"/>
              </a:rPr>
              <a:t>Data Scrubbing:</a:t>
            </a:r>
            <a:r>
              <a:rPr lang="en-IN" sz="1600" b="0" strike="noStrike" spc="-1">
                <a:solidFill>
                  <a:srgbClr val="4D3E2F"/>
                </a:solidFill>
                <a:latin typeface="Google Sans"/>
              </a:rPr>
              <a:t> Fixing spelling mistakes, trimming extra spaces, and correcting broken dates.</a:t>
            </a:r>
            <a:endParaRPr lang="en-IN" sz="1600" b="0" strike="noStrike" spc="-1">
              <a:latin typeface="Arial"/>
            </a:endParaRPr>
          </a:p>
          <a:p>
            <a:pPr>
              <a:lnSpc>
                <a:spcPct val="100000"/>
              </a:lnSpc>
              <a:buClr>
                <a:srgbClr val="4D3E2F"/>
              </a:buClr>
              <a:buFont typeface="Symbol" charset="2"/>
              <a:buChar char=""/>
            </a:pPr>
            <a:r>
              <a:rPr lang="en-IN" sz="1600" b="1" strike="noStrike" spc="-1">
                <a:solidFill>
                  <a:srgbClr val="4D3E2F"/>
                </a:solidFill>
                <a:latin typeface="Google Sans"/>
              </a:rPr>
              <a:t>Standardization:</a:t>
            </a:r>
            <a:r>
              <a:rPr lang="en-IN" sz="1600" b="0" strike="noStrike" spc="-1">
                <a:solidFill>
                  <a:srgbClr val="4D3E2F"/>
                </a:solidFill>
                <a:latin typeface="Google Sans"/>
              </a:rPr>
              <a:t> Making formats uniform, such as changing phone numbers or state names to match one rule.</a:t>
            </a:r>
            <a:endParaRPr lang="en-IN" sz="1600" b="0" strike="noStrike" spc="-1">
              <a:latin typeface="Arial"/>
            </a:endParaRPr>
          </a:p>
          <a:p>
            <a:pPr>
              <a:lnSpc>
                <a:spcPct val="100000"/>
              </a:lnSpc>
              <a:buClr>
                <a:srgbClr val="4D3E2F"/>
              </a:buClr>
              <a:buFont typeface="Symbol" charset="2"/>
              <a:buChar char=""/>
            </a:pPr>
            <a:r>
              <a:rPr lang="en-IN" sz="1600" b="1" strike="noStrike" spc="-1">
                <a:solidFill>
                  <a:srgbClr val="4D3E2F"/>
                </a:solidFill>
                <a:latin typeface="Google Sans"/>
              </a:rPr>
              <a:t>De-duplication:</a:t>
            </a:r>
            <a:r>
              <a:rPr lang="en-IN" sz="1600" b="0" strike="noStrike" spc="-1">
                <a:solidFill>
                  <a:srgbClr val="4D3E2F"/>
                </a:solidFill>
                <a:latin typeface="Google Sans"/>
              </a:rPr>
              <a:t> Finding and removing repeat records using exact keys or fuzzy logic matching.</a:t>
            </a:r>
            <a:endParaRPr lang="en-IN" sz="1600" b="0" strike="noStrike" spc="-1">
              <a:latin typeface="Arial"/>
            </a:endParaRPr>
          </a:p>
          <a:p>
            <a:pPr>
              <a:lnSpc>
                <a:spcPct val="100000"/>
              </a:lnSpc>
              <a:buClr>
                <a:srgbClr val="4D3E2F"/>
              </a:buClr>
              <a:buFont typeface="Symbol" charset="2"/>
              <a:buChar char=""/>
            </a:pPr>
            <a:r>
              <a:rPr lang="en-IN" sz="1600" b="1" strike="noStrike" spc="-1">
                <a:solidFill>
                  <a:srgbClr val="4D3E2F"/>
                </a:solidFill>
                <a:latin typeface="Google Sans"/>
              </a:rPr>
              <a:t>Survivorship Rules:</a:t>
            </a:r>
            <a:r>
              <a:rPr lang="en-IN" sz="1600" b="0" strike="noStrike" spc="-1">
                <a:solidFill>
                  <a:srgbClr val="4D3E2F"/>
                </a:solidFill>
                <a:latin typeface="Corbel"/>
              </a:rPr>
              <a:t> Deciding which record to keep when two matching entries have different value</a:t>
            </a:r>
            <a:endParaRPr lang="en-IN" sz="1600" b="0" strike="noStrike" spc="-1">
              <a:latin typeface="Arial"/>
            </a:endParaRPr>
          </a:p>
          <a:p>
            <a:pPr>
              <a:lnSpc>
                <a:spcPct val="100000"/>
              </a:lnSpc>
            </a:pPr>
            <a:endParaRPr lang="en-IN" sz="16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TextShape 1"/>
          <p:cNvSpPr txBox="1"/>
          <p:nvPr/>
        </p:nvSpPr>
        <p:spPr>
          <a:xfrm>
            <a:off x="717840" y="-79560"/>
            <a:ext cx="10983960" cy="1183320"/>
          </a:xfrm>
          <a:prstGeom prst="rect">
            <a:avLst/>
          </a:prstGeom>
          <a:noFill/>
          <a:ln>
            <a:noFill/>
          </a:ln>
        </p:spPr>
        <p:txBody>
          <a:bodyPr anchor="b">
            <a:noAutofit/>
          </a:bodyPr>
          <a:lstStyle/>
          <a:p>
            <a:pPr>
              <a:lnSpc>
                <a:spcPct val="100000"/>
              </a:lnSpc>
            </a:pPr>
            <a:r>
              <a:rPr lang="en-US" sz="3400" b="1" strike="noStrike" spc="-1">
                <a:solidFill>
                  <a:srgbClr val="687F00"/>
                </a:solidFill>
                <a:latin typeface="Corbel"/>
              </a:rPr>
              <a:t>TERMINOLOGIES USED IN BIG DATA ENVIRONMENTS</a:t>
            </a:r>
            <a:endParaRPr lang="en-US" sz="3400" b="0" strike="noStrike" spc="-1">
              <a:solidFill>
                <a:srgbClr val="4D3E2F"/>
              </a:solidFill>
              <a:latin typeface="Corbel"/>
            </a:endParaRPr>
          </a:p>
        </p:txBody>
      </p:sp>
      <p:sp>
        <p:nvSpPr>
          <p:cNvPr id="302" name="TextShape 2"/>
          <p:cNvSpPr txBox="1"/>
          <p:nvPr/>
        </p:nvSpPr>
        <p:spPr>
          <a:xfrm>
            <a:off x="410400" y="1303200"/>
            <a:ext cx="11373480" cy="5325840"/>
          </a:xfrm>
          <a:prstGeom prst="rect">
            <a:avLst/>
          </a:prstGeom>
          <a:noFill/>
          <a:ln>
            <a:noFill/>
          </a:ln>
        </p:spPr>
        <p:txBody>
          <a:bodyPr>
            <a:normAutofit/>
          </a:bodyPr>
          <a:lstStyle/>
          <a:p>
            <a:pPr algn="just">
              <a:lnSpc>
                <a:spcPct val="90000"/>
              </a:lnSpc>
              <a:spcBef>
                <a:spcPts val="1100"/>
              </a:spcBef>
            </a:pPr>
            <a:r>
              <a:rPr lang="en-US" sz="2200" b="1" strike="noStrike" spc="-1">
                <a:solidFill>
                  <a:srgbClr val="8BAA00"/>
                </a:solidFill>
                <a:latin typeface="Calibri"/>
              </a:rPr>
              <a:t> Symmetric Multiprocessor System (SMP)</a:t>
            </a:r>
            <a:endParaRPr lang="en-US" sz="2200" b="0" strike="noStrike" spc="-1">
              <a:solidFill>
                <a:srgbClr val="4D3E2F"/>
              </a:solidFill>
              <a:latin typeface="Corbel"/>
            </a:endParaRPr>
          </a:p>
          <a:p>
            <a:pPr marL="210240" indent="-209880" algn="just">
              <a:lnSpc>
                <a:spcPct val="90000"/>
              </a:lnSpc>
              <a:spcBef>
                <a:spcPts val="1100"/>
              </a:spcBef>
              <a:buClr>
                <a:srgbClr val="4D3E2F"/>
              </a:buClr>
              <a:buFont typeface="Arial"/>
              <a:buChar char="•"/>
            </a:pPr>
            <a:r>
              <a:rPr lang="en-US" sz="2200" b="0" strike="noStrike" spc="-1">
                <a:solidFill>
                  <a:srgbClr val="4D3E2F"/>
                </a:solidFill>
                <a:latin typeface="Calibri"/>
              </a:rPr>
              <a:t>In SMP, there is a single common main memory that is shared by two or more identical processors. The processors have full access to all I/O devices and are connected using a single operating system instance.</a:t>
            </a:r>
            <a:endParaRPr lang="en-US" sz="2200" b="0" strike="noStrike" spc="-1">
              <a:solidFill>
                <a:srgbClr val="4D3E2F"/>
              </a:solidFill>
              <a:latin typeface="Corbel"/>
            </a:endParaRPr>
          </a:p>
          <a:p>
            <a:pPr marL="210240" indent="-209880" algn="just">
              <a:lnSpc>
                <a:spcPct val="90000"/>
              </a:lnSpc>
              <a:spcBef>
                <a:spcPts val="1100"/>
              </a:spcBef>
              <a:buClr>
                <a:srgbClr val="4D3E2F"/>
              </a:buClr>
              <a:buFont typeface="Arial"/>
              <a:buChar char="•"/>
            </a:pPr>
            <a:r>
              <a:rPr lang="en-US" sz="2200" b="0" strike="noStrike" spc="-1">
                <a:solidFill>
                  <a:srgbClr val="4D3E2F"/>
                </a:solidFill>
                <a:latin typeface="Calibri"/>
              </a:rPr>
              <a:t>SMP are tightly coupled multiprocessor systems. Each processor has its own high-speed memory, called </a:t>
            </a:r>
            <a:r>
              <a:rPr lang="en-US" sz="2200" b="1" strike="noStrike" spc="-1">
                <a:solidFill>
                  <a:srgbClr val="4D3E2F"/>
                </a:solidFill>
                <a:latin typeface="Calibri"/>
              </a:rPr>
              <a:t>cache memory</a:t>
            </a:r>
            <a:r>
              <a:rPr lang="en-US" sz="2200" b="0" strike="noStrike" spc="-1">
                <a:solidFill>
                  <a:srgbClr val="4D3E2F"/>
                </a:solidFill>
                <a:latin typeface="Calibri"/>
              </a:rPr>
              <a:t>, and are connected using a system bus</a:t>
            </a:r>
            <a:endParaRPr lang="en-US" sz="2200" b="0" strike="noStrike" spc="-1">
              <a:solidFill>
                <a:srgbClr val="4D3E2F"/>
              </a:solidFill>
              <a:latin typeface="Corbel"/>
            </a:endParaRPr>
          </a:p>
          <a:p>
            <a:pPr algn="just">
              <a:lnSpc>
                <a:spcPct val="90000"/>
              </a:lnSpc>
              <a:spcBef>
                <a:spcPts val="1100"/>
              </a:spcBef>
            </a:pPr>
            <a:endParaRPr lang="en-US" sz="2200" b="0" strike="noStrike" spc="-1">
              <a:solidFill>
                <a:srgbClr val="4D3E2F"/>
              </a:solidFill>
              <a:latin typeface="Corbel"/>
            </a:endParaRPr>
          </a:p>
          <a:p>
            <a:pPr algn="just">
              <a:lnSpc>
                <a:spcPct val="90000"/>
              </a:lnSpc>
              <a:spcBef>
                <a:spcPts val="1100"/>
              </a:spcBef>
            </a:pPr>
            <a:r>
              <a:rPr lang="en-US" sz="2200" b="1" strike="noStrike" spc="-1">
                <a:solidFill>
                  <a:srgbClr val="8BAA00"/>
                </a:solidFill>
                <a:latin typeface="Calibri"/>
              </a:rPr>
              <a:t>Massively Parallel Processing Massive Parallel Processing (MPP)</a:t>
            </a:r>
            <a:endParaRPr lang="en-US" sz="2200" b="0" strike="noStrike" spc="-1">
              <a:solidFill>
                <a:srgbClr val="4D3E2F"/>
              </a:solidFill>
              <a:latin typeface="Corbel"/>
            </a:endParaRPr>
          </a:p>
          <a:p>
            <a:pPr marL="210240" indent="-209880" algn="just">
              <a:lnSpc>
                <a:spcPct val="90000"/>
              </a:lnSpc>
              <a:spcBef>
                <a:spcPts val="1100"/>
              </a:spcBef>
              <a:buClr>
                <a:srgbClr val="4D3E2F"/>
              </a:buClr>
              <a:buFont typeface="Arial"/>
              <a:buChar char="•"/>
            </a:pPr>
            <a:r>
              <a:rPr lang="en-US" sz="2200" b="0" strike="noStrike" spc="-1">
                <a:solidFill>
                  <a:srgbClr val="4D3E2F"/>
                </a:solidFill>
                <a:latin typeface="Calibri"/>
              </a:rPr>
              <a:t>Massively Parallel Processing Massive Parallel Processing (MPP) refers to the coordinated processing of programs by a number of processors working parallel. The processors, each have their own operating systems and dedicated memory. They work on different parts of the same program.</a:t>
            </a:r>
            <a:endParaRPr lang="en-US" sz="2200" b="0" strike="noStrike" spc="-1">
              <a:solidFill>
                <a:srgbClr val="4D3E2F"/>
              </a:solidFill>
              <a:latin typeface="Corbel"/>
            </a:endParaRPr>
          </a:p>
          <a:p>
            <a:pPr marL="210240" indent="-209880" algn="just">
              <a:lnSpc>
                <a:spcPct val="90000"/>
              </a:lnSpc>
              <a:spcBef>
                <a:spcPts val="1100"/>
              </a:spcBef>
              <a:buClr>
                <a:srgbClr val="4D3E2F"/>
              </a:buClr>
              <a:buFont typeface="Arial"/>
              <a:buChar char="•"/>
            </a:pPr>
            <a:r>
              <a:rPr lang="en-US" sz="2200" b="0" strike="noStrike" spc="-1">
                <a:solidFill>
                  <a:srgbClr val="4D3E2F"/>
                </a:solidFill>
                <a:latin typeface="Calibri"/>
              </a:rPr>
              <a:t> The MPP processors communicate using some sort of messaging interface. The MPP systems are more difficult to program as the executing segments must be divided in such a way that all the executing segments can communicate with each other.</a:t>
            </a:r>
            <a:endParaRPr lang="en-US" sz="2200" b="0" strike="noStrike" spc="-1">
              <a:solidFill>
                <a:srgbClr val="4D3E2F"/>
              </a:solidFill>
              <a:latin typeface="Corbel"/>
            </a:endParaRPr>
          </a:p>
          <a:p>
            <a:pPr>
              <a:lnSpc>
                <a:spcPct val="90000"/>
              </a:lnSpc>
              <a:spcBef>
                <a:spcPts val="1100"/>
              </a:spcBef>
            </a:pPr>
            <a:endParaRPr lang="en-US" sz="2200" b="0" strike="noStrike" spc="-1">
              <a:solidFill>
                <a:srgbClr val="4D3E2F"/>
              </a:solidFill>
              <a:latin typeface="Corbel"/>
            </a:endParaRPr>
          </a:p>
        </p:txBody>
      </p:sp>
      <p:sp>
        <p:nvSpPr>
          <p:cNvPr id="303" name="TextShape 3"/>
          <p:cNvSpPr txBox="1"/>
          <p:nvPr/>
        </p:nvSpPr>
        <p:spPr>
          <a:xfrm>
            <a:off x="0" y="6629400"/>
            <a:ext cx="410040" cy="228240"/>
          </a:xfrm>
          <a:prstGeom prst="rect">
            <a:avLst/>
          </a:prstGeom>
          <a:noFill/>
          <a:ln>
            <a:noFill/>
          </a:ln>
        </p:spPr>
        <p:txBody>
          <a:bodyPr anchor="ctr">
            <a:noAutofit/>
          </a:bodyPr>
          <a:lstStyle/>
          <a:p>
            <a:pPr algn="r">
              <a:lnSpc>
                <a:spcPct val="100000"/>
              </a:lnSpc>
            </a:pPr>
            <a:fld id="{E60C43B0-102F-441A-89D5-A3E593C9769A}" type="slidenum">
              <a:rPr lang="en-IN" sz="1100" b="0" strike="noStrike" spc="-1">
                <a:solidFill>
                  <a:srgbClr val="455500"/>
                </a:solidFill>
                <a:latin typeface="Corbel"/>
              </a:rPr>
              <a:t>13</a:t>
            </a:fld>
            <a:endParaRPr lang="en-IN" sz="1100" b="0" strike="noStrike" spc="-1">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extShape 1"/>
          <p:cNvSpPr txBox="1"/>
          <p:nvPr/>
        </p:nvSpPr>
        <p:spPr>
          <a:xfrm>
            <a:off x="717840" y="-79560"/>
            <a:ext cx="10983960" cy="1183320"/>
          </a:xfrm>
          <a:prstGeom prst="rect">
            <a:avLst/>
          </a:prstGeom>
          <a:noFill/>
          <a:ln>
            <a:noFill/>
          </a:ln>
        </p:spPr>
        <p:txBody>
          <a:bodyPr anchor="b">
            <a:noAutofit/>
          </a:bodyPr>
          <a:lstStyle/>
          <a:p>
            <a:pPr>
              <a:lnSpc>
                <a:spcPct val="100000"/>
              </a:lnSpc>
            </a:pPr>
            <a:r>
              <a:rPr lang="en-US" sz="3400" b="1" strike="noStrike" spc="-1">
                <a:solidFill>
                  <a:srgbClr val="687F00"/>
                </a:solidFill>
                <a:latin typeface="Corbel"/>
              </a:rPr>
              <a:t>TERMINOLOGIES USED IN BIG DATA ENVIRONMENTS</a:t>
            </a:r>
            <a:endParaRPr lang="en-US" sz="3400" b="0" strike="noStrike" spc="-1">
              <a:solidFill>
                <a:srgbClr val="4D3E2F"/>
              </a:solidFill>
              <a:latin typeface="Corbel"/>
            </a:endParaRPr>
          </a:p>
        </p:txBody>
      </p:sp>
      <p:sp>
        <p:nvSpPr>
          <p:cNvPr id="305" name="TextShape 2"/>
          <p:cNvSpPr txBox="1"/>
          <p:nvPr/>
        </p:nvSpPr>
        <p:spPr>
          <a:xfrm>
            <a:off x="410400" y="937440"/>
            <a:ext cx="7338600" cy="5691600"/>
          </a:xfrm>
          <a:prstGeom prst="rect">
            <a:avLst/>
          </a:prstGeom>
          <a:noFill/>
          <a:ln>
            <a:noFill/>
          </a:ln>
        </p:spPr>
        <p:txBody>
          <a:bodyPr>
            <a:normAutofit/>
          </a:bodyPr>
          <a:lstStyle/>
          <a:p>
            <a:pPr algn="just">
              <a:lnSpc>
                <a:spcPct val="90000"/>
              </a:lnSpc>
              <a:spcBef>
                <a:spcPts val="1100"/>
              </a:spcBef>
            </a:pPr>
            <a:endParaRPr lang="en-US" sz="2200" b="0" strike="noStrike" spc="-1">
              <a:solidFill>
                <a:srgbClr val="4D3E2F"/>
              </a:solidFill>
              <a:latin typeface="Corbel"/>
            </a:endParaRPr>
          </a:p>
          <a:p>
            <a:pPr algn="just">
              <a:lnSpc>
                <a:spcPct val="90000"/>
              </a:lnSpc>
              <a:spcBef>
                <a:spcPts val="1100"/>
              </a:spcBef>
            </a:pPr>
            <a:r>
              <a:rPr lang="en-US" sz="2000" b="1" strike="noStrike" spc="-1">
                <a:solidFill>
                  <a:srgbClr val="8BAA00"/>
                </a:solidFill>
                <a:latin typeface="Calibri"/>
              </a:rPr>
              <a:t>Massively Parallel Processing Massive Parallel Processing (MPP)</a:t>
            </a:r>
            <a:endParaRPr lang="en-US" sz="2000" b="0" strike="noStrike" spc="-1">
              <a:solidFill>
                <a:srgbClr val="4D3E2F"/>
              </a:solidFill>
              <a:latin typeface="Corbel"/>
            </a:endParaRPr>
          </a:p>
          <a:p>
            <a:pPr>
              <a:lnSpc>
                <a:spcPct val="100000"/>
              </a:lnSpc>
            </a:pPr>
            <a:r>
              <a:rPr lang="en-US" sz="2000" b="0" strike="noStrike" spc="-1">
                <a:solidFill>
                  <a:srgbClr val="4D3E2F"/>
                </a:solidFill>
                <a:latin typeface="Google Sans"/>
              </a:rPr>
              <a:t>Massively Parallel Processing (MPP) is a computing setup where many independent processors or nodes work on pieces of a big job at the same time. Each node has its own memory and operating system, and they talk to each other through a fast network to finish tasks quickly. </a:t>
            </a:r>
            <a:endParaRPr lang="en-US" sz="2000" b="0" strike="noStrike" spc="-1">
              <a:solidFill>
                <a:srgbClr val="4D3E2F"/>
              </a:solidFill>
              <a:latin typeface="Corbel"/>
            </a:endParaRPr>
          </a:p>
          <a:p>
            <a:pPr>
              <a:lnSpc>
                <a:spcPct val="100000"/>
              </a:lnSpc>
            </a:pPr>
            <a:r>
              <a:rPr lang="en-US" sz="2000" b="0" strike="noStrike" spc="-1">
                <a:solidFill>
                  <a:srgbClr val="4D3E2F"/>
                </a:solidFill>
                <a:latin typeface="Google Sans"/>
              </a:rPr>
              <a:t>Key Parts of MPP Architecture</a:t>
            </a:r>
            <a:endParaRPr lang="en-US" sz="2000" b="0" strike="noStrike" spc="-1">
              <a:solidFill>
                <a:srgbClr val="4D3E2F"/>
              </a:solidFill>
              <a:latin typeface="Corbel"/>
            </a:endParaRPr>
          </a:p>
          <a:p>
            <a:pPr>
              <a:lnSpc>
                <a:spcPct val="100000"/>
              </a:lnSpc>
              <a:buClr>
                <a:srgbClr val="4D3E2F"/>
              </a:buClr>
              <a:buFont typeface="Arial"/>
              <a:buChar char="•"/>
            </a:pPr>
            <a:r>
              <a:rPr lang="en-US" sz="2000" b="1" strike="noStrike" spc="-1">
                <a:solidFill>
                  <a:srgbClr val="4D3E2F"/>
                </a:solidFill>
                <a:latin typeface="Google Sans"/>
              </a:rPr>
              <a:t>Master Node:</a:t>
            </a:r>
            <a:r>
              <a:rPr lang="en-US" sz="2000" b="0" strike="noStrike" spc="-1">
                <a:solidFill>
                  <a:srgbClr val="4D3E2F"/>
                </a:solidFill>
                <a:latin typeface="Google Sans"/>
              </a:rPr>
              <a:t> Receives the user request, makes a plan, and sends work to the smaller nodes.</a:t>
            </a:r>
            <a:endParaRPr lang="en-US" sz="2000" b="0" strike="noStrike" spc="-1">
              <a:solidFill>
                <a:srgbClr val="4D3E2F"/>
              </a:solidFill>
              <a:latin typeface="Corbel"/>
            </a:endParaRPr>
          </a:p>
          <a:p>
            <a:pPr>
              <a:lnSpc>
                <a:spcPct val="100000"/>
              </a:lnSpc>
              <a:buClr>
                <a:srgbClr val="4D3E2F"/>
              </a:buClr>
              <a:buFont typeface="Arial"/>
              <a:buChar char="•"/>
            </a:pPr>
            <a:r>
              <a:rPr lang="en-US" sz="2000" b="1" strike="noStrike" spc="-1">
                <a:solidFill>
                  <a:srgbClr val="4D3E2F"/>
                </a:solidFill>
                <a:latin typeface="Google Sans"/>
              </a:rPr>
              <a:t>Compute Nodes:</a:t>
            </a:r>
            <a:r>
              <a:rPr lang="en-US" sz="2000" b="0" strike="noStrike" spc="-1">
                <a:solidFill>
                  <a:srgbClr val="4D3E2F"/>
                </a:solidFill>
                <a:latin typeface="Google Sans"/>
              </a:rPr>
              <a:t> Separate servers that run their own tasks on small parts of the data.</a:t>
            </a:r>
            <a:endParaRPr lang="en-US" sz="2000" b="0" strike="noStrike" spc="-1">
              <a:solidFill>
                <a:srgbClr val="4D3E2F"/>
              </a:solidFill>
              <a:latin typeface="Corbel"/>
            </a:endParaRPr>
          </a:p>
          <a:p>
            <a:pPr>
              <a:lnSpc>
                <a:spcPct val="100000"/>
              </a:lnSpc>
              <a:buClr>
                <a:srgbClr val="4D3E2F"/>
              </a:buClr>
              <a:buFont typeface="Arial"/>
              <a:buChar char="•"/>
            </a:pPr>
            <a:r>
              <a:rPr lang="en-US" sz="2000" b="1" strike="noStrike" spc="-1">
                <a:solidFill>
                  <a:srgbClr val="4D3E2F"/>
                </a:solidFill>
                <a:latin typeface="Google Sans"/>
              </a:rPr>
              <a:t>Interconnect:</a:t>
            </a:r>
            <a:r>
              <a:rPr lang="en-US" sz="2000" b="0" strike="noStrike" spc="-1">
                <a:solidFill>
                  <a:srgbClr val="4D3E2F"/>
                </a:solidFill>
                <a:latin typeface="Google Sans"/>
              </a:rPr>
              <a:t> A fast network cable system that lets nodes share info safely.</a:t>
            </a:r>
            <a:endParaRPr lang="en-US" sz="2000" b="0" strike="noStrike" spc="-1">
              <a:solidFill>
                <a:srgbClr val="4D3E2F"/>
              </a:solidFill>
              <a:latin typeface="Corbel"/>
            </a:endParaRPr>
          </a:p>
          <a:p>
            <a:pPr>
              <a:lnSpc>
                <a:spcPct val="100000"/>
              </a:lnSpc>
              <a:buClr>
                <a:srgbClr val="4D3E2F"/>
              </a:buClr>
              <a:buFont typeface="Arial"/>
              <a:buChar char="•"/>
            </a:pPr>
            <a:r>
              <a:rPr lang="en-US" sz="2000" b="1" strike="noStrike" spc="-1">
                <a:solidFill>
                  <a:srgbClr val="4D3E2F"/>
                </a:solidFill>
                <a:latin typeface="Google Sans"/>
              </a:rPr>
              <a:t>No Shared Memory:</a:t>
            </a:r>
            <a:r>
              <a:rPr lang="en-US" sz="2000" b="0" strike="noStrike" spc="-1">
                <a:solidFill>
                  <a:srgbClr val="4D3E2F"/>
                </a:solidFill>
                <a:latin typeface="Google Sans"/>
              </a:rPr>
              <a:t> Each node works on its own data slice without slowing down other units. </a:t>
            </a:r>
            <a:endParaRPr lang="en-US" sz="2000" b="0" strike="noStrike" spc="-1">
              <a:solidFill>
                <a:srgbClr val="4D3E2F"/>
              </a:solidFill>
              <a:latin typeface="Corbel"/>
            </a:endParaRPr>
          </a:p>
          <a:p>
            <a:pPr>
              <a:lnSpc>
                <a:spcPct val="90000"/>
              </a:lnSpc>
              <a:spcBef>
                <a:spcPts val="1100"/>
              </a:spcBef>
            </a:pPr>
            <a:endParaRPr lang="en-US" sz="2000" b="0" strike="noStrike" spc="-1">
              <a:solidFill>
                <a:srgbClr val="4D3E2F"/>
              </a:solidFill>
              <a:latin typeface="Corbel"/>
            </a:endParaRPr>
          </a:p>
        </p:txBody>
      </p:sp>
      <p:sp>
        <p:nvSpPr>
          <p:cNvPr id="306" name="TextShape 3"/>
          <p:cNvSpPr txBox="1"/>
          <p:nvPr/>
        </p:nvSpPr>
        <p:spPr>
          <a:xfrm>
            <a:off x="0" y="6629400"/>
            <a:ext cx="410040" cy="228240"/>
          </a:xfrm>
          <a:prstGeom prst="rect">
            <a:avLst/>
          </a:prstGeom>
          <a:noFill/>
          <a:ln>
            <a:noFill/>
          </a:ln>
        </p:spPr>
        <p:txBody>
          <a:bodyPr anchor="ctr">
            <a:noAutofit/>
          </a:bodyPr>
          <a:lstStyle/>
          <a:p>
            <a:pPr algn="r">
              <a:lnSpc>
                <a:spcPct val="100000"/>
              </a:lnSpc>
            </a:pPr>
            <a:fld id="{9ECD5512-67F6-4379-8ABE-87392C496A74}" type="slidenum">
              <a:rPr lang="en-IN" sz="1100" b="0" strike="noStrike" spc="-1">
                <a:solidFill>
                  <a:srgbClr val="455500"/>
                </a:solidFill>
                <a:latin typeface="Corbel"/>
              </a:rPr>
              <a:t>14</a:t>
            </a:fld>
            <a:endParaRPr lang="en-IN" sz="1100" b="0" strike="noStrike" spc="-1">
              <a:latin typeface="Times New Roman"/>
            </a:endParaRPr>
          </a:p>
        </p:txBody>
      </p:sp>
      <p:pic>
        <p:nvPicPr>
          <p:cNvPr id="307" name="Picture 5"/>
          <p:cNvPicPr/>
          <p:nvPr/>
        </p:nvPicPr>
        <p:blipFill>
          <a:blip r:embed="rId2"/>
          <a:stretch/>
        </p:blipFill>
        <p:spPr>
          <a:xfrm>
            <a:off x="8001000" y="1691640"/>
            <a:ext cx="4190760" cy="4800240"/>
          </a:xfrm>
          <a:prstGeom prst="rect">
            <a:avLst/>
          </a:prstGeom>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TextShape 1"/>
          <p:cNvSpPr txBox="1"/>
          <p:nvPr/>
        </p:nvSpPr>
        <p:spPr>
          <a:xfrm>
            <a:off x="0" y="6629400"/>
            <a:ext cx="410040" cy="228240"/>
          </a:xfrm>
          <a:prstGeom prst="rect">
            <a:avLst/>
          </a:prstGeom>
          <a:noFill/>
          <a:ln>
            <a:noFill/>
          </a:ln>
        </p:spPr>
        <p:txBody>
          <a:bodyPr anchor="ctr">
            <a:noAutofit/>
          </a:bodyPr>
          <a:lstStyle/>
          <a:p>
            <a:pPr algn="r">
              <a:lnSpc>
                <a:spcPct val="100000"/>
              </a:lnSpc>
            </a:pPr>
            <a:fld id="{BF445564-268F-4AFC-84BB-4F17313ABC75}" type="slidenum">
              <a:rPr lang="en-IN" sz="1100" b="0" strike="noStrike" spc="-1">
                <a:solidFill>
                  <a:srgbClr val="455500"/>
                </a:solidFill>
                <a:latin typeface="Corbel"/>
              </a:rPr>
              <a:t>15</a:t>
            </a:fld>
            <a:endParaRPr lang="en-IN" sz="1100" b="0" strike="noStrike" spc="-1">
              <a:latin typeface="Times New Roman"/>
            </a:endParaRPr>
          </a:p>
        </p:txBody>
      </p:sp>
      <p:sp>
        <p:nvSpPr>
          <p:cNvPr id="309" name="CustomShape 2"/>
          <p:cNvSpPr/>
          <p:nvPr/>
        </p:nvSpPr>
        <p:spPr>
          <a:xfrm>
            <a:off x="91440" y="0"/>
            <a:ext cx="11528640" cy="21628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IN" sz="2800" b="1" strike="noStrike" spc="-1">
                <a:solidFill>
                  <a:srgbClr val="8BAA00"/>
                </a:solidFill>
                <a:latin typeface="Corbel"/>
              </a:rPr>
              <a:t>CAP Theorem</a:t>
            </a:r>
            <a:endParaRPr lang="en-IN" sz="2800" b="0" strike="noStrike" spc="-1">
              <a:latin typeface="Arial"/>
            </a:endParaRPr>
          </a:p>
          <a:p>
            <a:pPr>
              <a:lnSpc>
                <a:spcPct val="100000"/>
              </a:lnSpc>
            </a:pPr>
            <a:r>
              <a:rPr lang="en-IN" sz="1800" b="1" strike="noStrike" spc="-1">
                <a:solidFill>
                  <a:srgbClr val="4D3E2F"/>
                </a:solidFill>
                <a:latin typeface="Corbel"/>
              </a:rPr>
              <a:t>CAP</a:t>
            </a:r>
            <a:r>
              <a:rPr lang="en-IN" sz="1800" b="0" strike="noStrike" spc="-1">
                <a:solidFill>
                  <a:srgbClr val="4D3E2F"/>
                </a:solidFill>
                <a:latin typeface="Corbel"/>
              </a:rPr>
              <a:t> refers to:</a:t>
            </a:r>
            <a:endParaRPr lang="en-IN" sz="1800" b="0" strike="noStrike" spc="-1">
              <a:latin typeface="Arial"/>
            </a:endParaRPr>
          </a:p>
          <a:p>
            <a:pPr indent="-216000">
              <a:lnSpc>
                <a:spcPct val="100000"/>
              </a:lnSpc>
              <a:buClr>
                <a:srgbClr val="4D3E2F"/>
              </a:buClr>
              <a:buFont typeface="Arial"/>
              <a:buChar char="•"/>
            </a:pPr>
            <a:r>
              <a:rPr lang="en-IN" sz="1800" b="1" strike="noStrike" spc="-1">
                <a:solidFill>
                  <a:srgbClr val="4D3E2F"/>
                </a:solidFill>
                <a:latin typeface="Corbel"/>
              </a:rPr>
              <a:t>C – Consistency</a:t>
            </a:r>
            <a:r>
              <a:rPr lang="en-IN" sz="1800" b="0" strike="noStrike" spc="-1">
                <a:solidFill>
                  <a:srgbClr val="4D3E2F"/>
                </a:solidFill>
                <a:latin typeface="Corbel"/>
              </a:rPr>
              <a:t> </a:t>
            </a:r>
            <a:endParaRPr lang="en-IN" sz="1800" b="0" strike="noStrike" spc="-1">
              <a:latin typeface="Arial"/>
            </a:endParaRPr>
          </a:p>
          <a:p>
            <a:pPr indent="-216000">
              <a:lnSpc>
                <a:spcPct val="100000"/>
              </a:lnSpc>
              <a:buClr>
                <a:srgbClr val="4D3E2F"/>
              </a:buClr>
              <a:buFont typeface="Arial"/>
              <a:buChar char="•"/>
            </a:pPr>
            <a:r>
              <a:rPr lang="en-IN" sz="1800" b="1" strike="noStrike" spc="-1">
                <a:solidFill>
                  <a:srgbClr val="4D3E2F"/>
                </a:solidFill>
                <a:latin typeface="Corbel"/>
              </a:rPr>
              <a:t>A – Availability</a:t>
            </a:r>
            <a:r>
              <a:rPr lang="en-IN" sz="1800" b="0" strike="noStrike" spc="-1">
                <a:solidFill>
                  <a:srgbClr val="4D3E2F"/>
                </a:solidFill>
                <a:latin typeface="Corbel"/>
              </a:rPr>
              <a:t> </a:t>
            </a:r>
            <a:endParaRPr lang="en-IN" sz="1800" b="0" strike="noStrike" spc="-1">
              <a:latin typeface="Arial"/>
            </a:endParaRPr>
          </a:p>
          <a:p>
            <a:pPr indent="-216000">
              <a:lnSpc>
                <a:spcPct val="100000"/>
              </a:lnSpc>
              <a:buClr>
                <a:srgbClr val="4D3E2F"/>
              </a:buClr>
              <a:buFont typeface="Arial"/>
              <a:buChar char="•"/>
            </a:pPr>
            <a:r>
              <a:rPr lang="en-IN" sz="1800" b="1" strike="noStrike" spc="-1">
                <a:solidFill>
                  <a:srgbClr val="4D3E2F"/>
                </a:solidFill>
                <a:latin typeface="Corbel"/>
              </a:rPr>
              <a:t>P – Partition Tolerance</a:t>
            </a:r>
            <a:r>
              <a:rPr lang="en-IN" sz="1800" b="0" strike="noStrike" spc="-1">
                <a:solidFill>
                  <a:srgbClr val="4D3E2F"/>
                </a:solidFill>
                <a:latin typeface="Corbel"/>
              </a:rPr>
              <a:t> </a:t>
            </a:r>
            <a:endParaRPr lang="en-IN" sz="1800" b="0" strike="noStrike" spc="-1">
              <a:latin typeface="Arial"/>
            </a:endParaRPr>
          </a:p>
          <a:p>
            <a:pPr>
              <a:lnSpc>
                <a:spcPct val="100000"/>
              </a:lnSpc>
            </a:pPr>
            <a:r>
              <a:rPr lang="en-IN" sz="1800" b="0" strike="noStrike" spc="-1">
                <a:solidFill>
                  <a:srgbClr val="4D3E2F"/>
                </a:solidFill>
                <a:latin typeface="Corbel"/>
              </a:rPr>
              <a:t>The CAP theorem describes the </a:t>
            </a:r>
            <a:r>
              <a:rPr lang="en-IN" sz="1800" b="1" strike="noStrike" spc="-1">
                <a:solidFill>
                  <a:srgbClr val="4D3E2F"/>
                </a:solidFill>
                <a:latin typeface="Corbel"/>
              </a:rPr>
              <a:t>trade-off that exists in a distributed system</a:t>
            </a:r>
            <a:r>
              <a:rPr lang="en-IN" sz="1800" b="0" strike="noStrike" spc="-1">
                <a:solidFill>
                  <a:srgbClr val="4D3E2F"/>
                </a:solidFill>
                <a:latin typeface="Corbel"/>
              </a:rPr>
              <a:t> when a network partition occurs.</a:t>
            </a:r>
            <a:endParaRPr lang="en-IN" sz="1800" b="0" strike="noStrike" spc="-1">
              <a:latin typeface="Arial"/>
            </a:endParaRPr>
          </a:p>
          <a:p>
            <a:pPr>
              <a:lnSpc>
                <a:spcPct val="100000"/>
              </a:lnSpc>
            </a:pPr>
            <a:endParaRPr lang="en-IN" sz="1800" b="0" strike="noStrike" spc="-1">
              <a:latin typeface="Arial"/>
            </a:endParaRPr>
          </a:p>
        </p:txBody>
      </p:sp>
      <p:graphicFrame>
        <p:nvGraphicFramePr>
          <p:cNvPr id="310" name="Table 3"/>
          <p:cNvGraphicFramePr/>
          <p:nvPr/>
        </p:nvGraphicFramePr>
        <p:xfrm>
          <a:off x="55080" y="1931760"/>
          <a:ext cx="12081240" cy="4731840"/>
        </p:xfrm>
        <a:graphic>
          <a:graphicData uri="http://schemas.openxmlformats.org/drawingml/2006/table">
            <a:tbl>
              <a:tblPr/>
              <a:tblGrid>
                <a:gridCol w="5817600">
                  <a:extLst>
                    <a:ext uri="{9D8B030D-6E8A-4147-A177-3AD203B41FA5}">
                      <a16:colId xmlns:a16="http://schemas.microsoft.com/office/drawing/2014/main" val="20000"/>
                    </a:ext>
                  </a:extLst>
                </a:gridCol>
                <a:gridCol w="6263640">
                  <a:extLst>
                    <a:ext uri="{9D8B030D-6E8A-4147-A177-3AD203B41FA5}">
                      <a16:colId xmlns:a16="http://schemas.microsoft.com/office/drawing/2014/main" val="20001"/>
                    </a:ext>
                  </a:extLst>
                </a:gridCol>
              </a:tblGrid>
              <a:tr h="2835000">
                <a:tc>
                  <a:txBody>
                    <a:bodyPr/>
                    <a:lstStyle/>
                    <a:p>
                      <a:pPr>
                        <a:lnSpc>
                          <a:spcPct val="100000"/>
                        </a:lnSpc>
                      </a:pPr>
                      <a:r>
                        <a:rPr lang="en-IN" sz="1800" b="1" strike="noStrike" spc="-1">
                          <a:solidFill>
                            <a:srgbClr val="4D3E2F"/>
                          </a:solidFill>
                          <a:latin typeface="Corbel"/>
                        </a:rPr>
                        <a:t>1. Consistency</a:t>
                      </a:r>
                      <a:endParaRPr lang="en-IN" sz="1800" b="0" strike="noStrike" spc="-1">
                        <a:latin typeface="Arial"/>
                      </a:endParaRPr>
                    </a:p>
                    <a:p>
                      <a:pPr>
                        <a:lnSpc>
                          <a:spcPct val="100000"/>
                        </a:lnSpc>
                      </a:pPr>
                      <a:r>
                        <a:rPr lang="en-IN" sz="1800" b="0" strike="noStrike" spc="-1">
                          <a:solidFill>
                            <a:srgbClr val="4D3E2F"/>
                          </a:solidFill>
                          <a:latin typeface="Corbel"/>
                        </a:rPr>
                        <a:t>Consistency means that all nodes in a distributed system have access to the same, up-to-date data.</a:t>
                      </a:r>
                      <a:endParaRPr lang="en-IN" sz="1800" b="0" strike="noStrike" spc="-1">
                        <a:latin typeface="Arial"/>
                      </a:endParaRPr>
                    </a:p>
                    <a:p>
                      <a:pPr>
                        <a:lnSpc>
                          <a:spcPct val="100000"/>
                        </a:lnSpc>
                      </a:pPr>
                      <a:r>
                        <a:rPr lang="en-IN" sz="1800" b="0" strike="noStrike" spc="-1">
                          <a:solidFill>
                            <a:srgbClr val="4D3E2F"/>
                          </a:solidFill>
                          <a:latin typeface="Corbel"/>
                        </a:rPr>
                        <a:t>For example, if data is updated on one node, the other nodes should reflect the updated value.</a:t>
                      </a:r>
                      <a:endParaRPr lang="en-IN" sz="1800" b="0" strike="noStrike" spc="-1">
                        <a:latin typeface="Arial"/>
                      </a:endParaRPr>
                    </a:p>
                    <a:p>
                      <a:pPr>
                        <a:lnSpc>
                          <a:spcPct val="100000"/>
                        </a:lnSpc>
                      </a:pPr>
                      <a:r>
                        <a:rPr lang="en-IN" sz="1800" b="0" strike="noStrike" spc="-1">
                          <a:solidFill>
                            <a:srgbClr val="4D3E2F"/>
                          </a:solidFill>
                          <a:latin typeface="Corbel"/>
                        </a:rPr>
                        <a:t>Simple meaning:</a:t>
                      </a:r>
                      <a:endParaRPr lang="en-IN" sz="1800" b="0" strike="noStrike" spc="-1">
                        <a:latin typeface="Arial"/>
                      </a:endParaRPr>
                    </a:p>
                    <a:p>
                      <a:pPr>
                        <a:lnSpc>
                          <a:spcPct val="100000"/>
                        </a:lnSpc>
                      </a:pPr>
                      <a:r>
                        <a:rPr lang="en-IN" sz="1800" b="1" strike="noStrike" spc="-1">
                          <a:solidFill>
                            <a:srgbClr val="4D3E2F"/>
                          </a:solidFill>
                          <a:latin typeface="Corbel"/>
                        </a:rPr>
                        <a:t>All users should see a consistent view of the data</a:t>
                      </a:r>
                      <a:r>
                        <a:rPr lang="en-IN" sz="1800" b="0" strike="noStrike" spc="-1">
                          <a:solidFill>
                            <a:srgbClr val="4D3E2F"/>
                          </a:solidFill>
                          <a:latin typeface="Corbel"/>
                        </a:rPr>
                        <a:t>.</a:t>
                      </a:r>
                      <a:endParaRPr lang="en-IN" sz="1800" b="0" strike="noStrike" spc="-1">
                        <a:latin typeface="Arial"/>
                      </a:endParaRPr>
                    </a:p>
                    <a:p>
                      <a:pPr>
                        <a:lnSpc>
                          <a:spcPct val="100000"/>
                        </a:lnSpc>
                      </a:pPr>
                      <a:endParaRPr lang="en-IN" sz="1800" b="0" strike="noStrike" spc="-1">
                        <a:latin typeface="Arial"/>
                      </a:endParaRPr>
                    </a:p>
                  </a:txBody>
                  <a:tcPr>
                    <a:lnT w="12240">
                      <a:solidFill>
                        <a:srgbClr val="4D3E2F"/>
                      </a:solidFill>
                    </a:lnT>
                    <a:lnB w="12240">
                      <a:solidFill>
                        <a:srgbClr val="4D3E2F"/>
                      </a:solidFill>
                    </a:lnB>
                    <a:solidFill>
                      <a:srgbClr val="F2F2F2"/>
                    </a:solidFill>
                  </a:tcPr>
                </a:tc>
                <a:tc>
                  <a:txBody>
                    <a:bodyPr/>
                    <a:lstStyle/>
                    <a:p>
                      <a:pPr>
                        <a:lnSpc>
                          <a:spcPct val="100000"/>
                        </a:lnSpc>
                      </a:pPr>
                      <a:r>
                        <a:rPr lang="en-IN" sz="1800" b="1" strike="noStrike" spc="-1">
                          <a:solidFill>
                            <a:srgbClr val="4D3E2F"/>
                          </a:solidFill>
                          <a:latin typeface="Corbel"/>
                        </a:rPr>
                        <a:t>2. Availability</a:t>
                      </a:r>
                      <a:endParaRPr lang="en-IN" sz="1800" b="0" strike="noStrike" spc="-1">
                        <a:latin typeface="Arial"/>
                      </a:endParaRPr>
                    </a:p>
                    <a:p>
                      <a:pPr>
                        <a:lnSpc>
                          <a:spcPct val="100000"/>
                        </a:lnSpc>
                      </a:pPr>
                      <a:r>
                        <a:rPr lang="en-IN" sz="1800" b="0" strike="noStrike" spc="-1">
                          <a:solidFill>
                            <a:srgbClr val="4D3E2F"/>
                          </a:solidFill>
                          <a:latin typeface="Corbel"/>
                        </a:rPr>
                        <a:t>Availability means that the system continues to respond to requests, even when some components of the system experience failures.</a:t>
                      </a:r>
                      <a:endParaRPr lang="en-IN" sz="1800" b="0" strike="noStrike" spc="-1">
                        <a:latin typeface="Arial"/>
                      </a:endParaRPr>
                    </a:p>
                    <a:p>
                      <a:pPr>
                        <a:lnSpc>
                          <a:spcPct val="100000"/>
                        </a:lnSpc>
                      </a:pPr>
                      <a:r>
                        <a:rPr lang="en-IN" sz="1800" b="0" strike="noStrike" spc="-1">
                          <a:solidFill>
                            <a:srgbClr val="4D3E2F"/>
                          </a:solidFill>
                          <a:latin typeface="Corbel"/>
                        </a:rPr>
                        <a:t>For example, if one server becomes unavailable, another server should still be able to provide the required service.</a:t>
                      </a: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1" strike="noStrike" spc="-1">
                          <a:solidFill>
                            <a:srgbClr val="4D3E2F"/>
                          </a:solidFill>
                          <a:latin typeface="Corbel"/>
                        </a:rPr>
                        <a:t>The system should always be available to respond to requests</a:t>
                      </a:r>
                      <a:r>
                        <a:rPr lang="en-IN" sz="1800" b="0" strike="noStrike" spc="-1">
                          <a:solidFill>
                            <a:srgbClr val="4D3E2F"/>
                          </a:solidFill>
                          <a:latin typeface="Corbel"/>
                        </a:rPr>
                        <a:t>.</a:t>
                      </a:r>
                      <a:endParaRPr lang="en-IN" sz="1800" b="0" strike="noStrike" spc="-1">
                        <a:latin typeface="Arial"/>
                      </a:endParaRPr>
                    </a:p>
                    <a:p>
                      <a:pPr>
                        <a:lnSpc>
                          <a:spcPct val="100000"/>
                        </a:lnSpc>
                      </a:pPr>
                      <a:endParaRPr lang="en-IN" sz="1800" b="0" strike="noStrike" spc="-1">
                        <a:latin typeface="Arial"/>
                      </a:endParaRPr>
                    </a:p>
                  </a:txBody>
                  <a:tcPr>
                    <a:lnT w="12240">
                      <a:solidFill>
                        <a:srgbClr val="4D3E2F"/>
                      </a:solidFill>
                    </a:lnT>
                    <a:lnB w="12240">
                      <a:solidFill>
                        <a:srgbClr val="4D3E2F"/>
                      </a:solidFill>
                    </a:lnB>
                    <a:solidFill>
                      <a:srgbClr val="D0E1F4"/>
                    </a:solidFill>
                  </a:tcPr>
                </a:tc>
                <a:extLst>
                  <a:ext uri="{0D108BD9-81ED-4DB2-BD59-A6C34878D82A}">
                    <a16:rowId xmlns:a16="http://schemas.microsoft.com/office/drawing/2014/main" val="10000"/>
                  </a:ext>
                </a:extLst>
              </a:tr>
              <a:tr h="1896840">
                <a:tc gridSpan="2">
                  <a:txBody>
                    <a:bodyPr/>
                    <a:lstStyle/>
                    <a:p>
                      <a:pPr>
                        <a:lnSpc>
                          <a:spcPct val="100000"/>
                        </a:lnSpc>
                      </a:pPr>
                      <a:r>
                        <a:rPr lang="en-IN" sz="1800" b="1" strike="noStrike" spc="-1">
                          <a:solidFill>
                            <a:srgbClr val="4D3E2F"/>
                          </a:solidFill>
                          <a:latin typeface="Corbel"/>
                        </a:rPr>
                        <a:t>3. Partition Tolerance</a:t>
                      </a:r>
                      <a:endParaRPr lang="en-IN" sz="1800" b="0" strike="noStrike" spc="-1">
                        <a:latin typeface="Arial"/>
                      </a:endParaRPr>
                    </a:p>
                    <a:p>
                      <a:pPr>
                        <a:lnSpc>
                          <a:spcPct val="100000"/>
                        </a:lnSpc>
                      </a:pPr>
                      <a:r>
                        <a:rPr lang="en-IN" sz="1800" b="1" strike="noStrike" spc="-1">
                          <a:solidFill>
                            <a:srgbClr val="4D3E2F"/>
                          </a:solidFill>
                          <a:latin typeface="Corbel"/>
                        </a:rPr>
                        <a:t>Partition tolerance</a:t>
                      </a:r>
                      <a:r>
                        <a:rPr lang="en-IN" sz="1800" b="0" strike="noStrike" spc="-1">
                          <a:solidFill>
                            <a:srgbClr val="4D3E2F"/>
                          </a:solidFill>
                          <a:latin typeface="Corbel"/>
                        </a:rPr>
                        <a:t> refers to the ability of a distributed system to continue functioning when there is a </a:t>
                      </a:r>
                      <a:r>
                        <a:rPr lang="en-IN" sz="1800" b="1" strike="noStrike" spc="-1">
                          <a:solidFill>
                            <a:srgbClr val="4D3E2F"/>
                          </a:solidFill>
                          <a:latin typeface="Corbel"/>
                        </a:rPr>
                        <a:t>failure in communication between nodes</a:t>
                      </a:r>
                      <a:r>
                        <a:rPr lang="en-IN" sz="1800" b="0" strike="noStrike" spc="-1">
                          <a:solidFill>
                            <a:srgbClr val="4D3E2F"/>
                          </a:solidFill>
                          <a:latin typeface="Corbel"/>
                        </a:rPr>
                        <a:t>.</a:t>
                      </a:r>
                      <a:endParaRPr lang="en-IN" sz="1800" b="0" strike="noStrike" spc="-1">
                        <a:latin typeface="Arial"/>
                      </a:endParaRPr>
                    </a:p>
                    <a:p>
                      <a:pPr>
                        <a:lnSpc>
                          <a:spcPct val="100000"/>
                        </a:lnSpc>
                      </a:pPr>
                      <a:r>
                        <a:rPr lang="en-IN" sz="1800" b="0" strike="noStrike" spc="-1">
                          <a:solidFill>
                            <a:srgbClr val="4D3E2F"/>
                          </a:solidFill>
                          <a:latin typeface="Corbel"/>
                        </a:rPr>
                        <a:t>The nodes cannot communicate with each other, but the distributed system should be designed to handle this situation.</a:t>
                      </a:r>
                      <a:endParaRPr lang="en-IN" sz="1800" b="0" strike="noStrike" spc="-1">
                        <a:latin typeface="Arial"/>
                      </a:endParaRPr>
                    </a:p>
                    <a:p>
                      <a:pPr>
                        <a:lnSpc>
                          <a:spcPct val="100000"/>
                        </a:lnSpc>
                      </a:pPr>
                      <a:r>
                        <a:rPr lang="en-IN" sz="1800" b="1" strike="noStrike" spc="-1">
                          <a:solidFill>
                            <a:srgbClr val="4D3E2F"/>
                          </a:solidFill>
                          <a:latin typeface="Corbel"/>
                        </a:rPr>
                        <a:t>The system should continue operating even when communication between nodes is interrupted.</a:t>
                      </a:r>
                      <a:endParaRPr lang="en-IN" sz="1800" b="0" strike="noStrike" spc="-1">
                        <a:latin typeface="Arial"/>
                      </a:endParaRPr>
                    </a:p>
                    <a:p>
                      <a:pPr>
                        <a:lnSpc>
                          <a:spcPct val="100000"/>
                        </a:lnSpc>
                      </a:pPr>
                      <a:endParaRPr lang="en-IN" sz="1800" b="0" strike="noStrike" spc="-1">
                        <a:latin typeface="Arial"/>
                      </a:endParaRPr>
                    </a:p>
                  </a:txBody>
                  <a:tcPr>
                    <a:lnT w="12240">
                      <a:solidFill>
                        <a:srgbClr val="4D3E2F"/>
                      </a:solidFill>
                    </a:lnT>
                    <a:lnB w="12240">
                      <a:solidFill>
                        <a:srgbClr val="4D3E2F"/>
                      </a:solidFill>
                    </a:lnB>
                    <a:solidFill>
                      <a:srgbClr val="F3FFBB">
                        <a:alpha val="20000"/>
                      </a:srgbClr>
                    </a:solidFill>
                  </a:tcPr>
                </a:tc>
                <a:tc hMerge="1">
                  <a:txBody>
                    <a:bodyPr/>
                    <a:lstStyle/>
                    <a:p>
                      <a:endParaRPr lang="en-US"/>
                    </a:p>
                  </a:txBody>
                  <a:tcPr marL="90000" marR="90000">
                    <a:solidFill>
                      <a:srgbClr val="729FCF"/>
                    </a:solidFill>
                  </a:tcPr>
                </a:tc>
                <a:extLst>
                  <a:ext uri="{0D108BD9-81ED-4DB2-BD59-A6C34878D82A}">
                    <a16:rowId xmlns:a16="http://schemas.microsoft.com/office/drawing/2014/main" val="10001"/>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 name="TextShape 1"/>
          <p:cNvSpPr txBox="1"/>
          <p:nvPr/>
        </p:nvSpPr>
        <p:spPr>
          <a:xfrm>
            <a:off x="0" y="6629400"/>
            <a:ext cx="410040" cy="228240"/>
          </a:xfrm>
          <a:prstGeom prst="rect">
            <a:avLst/>
          </a:prstGeom>
          <a:noFill/>
          <a:ln>
            <a:noFill/>
          </a:ln>
        </p:spPr>
        <p:txBody>
          <a:bodyPr anchor="ctr">
            <a:noAutofit/>
          </a:bodyPr>
          <a:lstStyle/>
          <a:p>
            <a:pPr algn="r">
              <a:lnSpc>
                <a:spcPct val="100000"/>
              </a:lnSpc>
            </a:pPr>
            <a:fld id="{61652FD9-F547-47F7-905C-461A723DEA1E}" type="slidenum">
              <a:rPr lang="en-IN" sz="1100" b="0" strike="noStrike" spc="-1">
                <a:solidFill>
                  <a:srgbClr val="455500"/>
                </a:solidFill>
                <a:latin typeface="Corbel"/>
              </a:rPr>
              <a:t>16</a:t>
            </a:fld>
            <a:endParaRPr lang="en-IN" sz="1100" b="0" strike="noStrike" spc="-1">
              <a:latin typeface="Times New Roman"/>
            </a:endParaRPr>
          </a:p>
        </p:txBody>
      </p:sp>
      <p:sp>
        <p:nvSpPr>
          <p:cNvPr id="312" name="CustomShape 2"/>
          <p:cNvSpPr/>
          <p:nvPr/>
        </p:nvSpPr>
        <p:spPr>
          <a:xfrm>
            <a:off x="685800" y="285840"/>
            <a:ext cx="11086920" cy="56376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IN" sz="2200" b="1" strike="noStrike" spc="-1">
                <a:solidFill>
                  <a:srgbClr val="8BAA00"/>
                </a:solidFill>
                <a:latin typeface="Corbel"/>
              </a:rPr>
              <a:t>The CAP Trade-off</a:t>
            </a:r>
            <a:endParaRPr lang="en-IN" sz="2200" b="0" strike="noStrike" spc="-1">
              <a:latin typeface="Arial"/>
            </a:endParaRPr>
          </a:p>
          <a:p>
            <a:pPr>
              <a:lnSpc>
                <a:spcPct val="100000"/>
              </a:lnSpc>
            </a:pPr>
            <a:endParaRPr lang="en-IN" sz="2200" b="0" strike="noStrike" spc="-1">
              <a:latin typeface="Arial"/>
            </a:endParaRPr>
          </a:p>
          <a:p>
            <a:pPr>
              <a:lnSpc>
                <a:spcPct val="100000"/>
              </a:lnSpc>
            </a:pPr>
            <a:r>
              <a:rPr lang="en-IN" sz="1800" b="0" strike="noStrike" spc="-1">
                <a:solidFill>
                  <a:srgbClr val="4D3E2F"/>
                </a:solidFill>
                <a:latin typeface="Corbel"/>
              </a:rPr>
              <a:t>The fundamental idea is that a distributed system </a:t>
            </a:r>
            <a:r>
              <a:rPr lang="en-IN" sz="1800" b="1" strike="noStrike" spc="-1">
                <a:solidFill>
                  <a:srgbClr val="4D3E2F"/>
                </a:solidFill>
                <a:latin typeface="Corbel"/>
              </a:rPr>
              <a:t>cannot guarantee all three properties simultaneously when a network partition occurs</a:t>
            </a:r>
            <a:r>
              <a:rPr lang="en-IN" sz="1800" b="0" strike="noStrike" spc="-1">
                <a:solidFill>
                  <a:srgbClr val="4D3E2F"/>
                </a:solidFill>
                <a:latin typeface="Corbel"/>
              </a:rPr>
              <a:t>.</a:t>
            </a:r>
            <a:endParaRPr lang="en-IN" sz="1800" b="0" strike="noStrike" spc="-1">
              <a:latin typeface="Arial"/>
            </a:endParaRPr>
          </a:p>
          <a:p>
            <a:pPr>
              <a:lnSpc>
                <a:spcPct val="100000"/>
              </a:lnSpc>
            </a:pP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0" strike="noStrike" spc="-1">
                <a:solidFill>
                  <a:srgbClr val="4D3E2F"/>
                </a:solidFill>
                <a:latin typeface="Corbel"/>
              </a:rPr>
              <a:t>When a </a:t>
            </a:r>
            <a:r>
              <a:rPr lang="en-IN" sz="1800" b="1" strike="noStrike" spc="-1">
                <a:solidFill>
                  <a:srgbClr val="4D3E2F"/>
                </a:solidFill>
                <a:latin typeface="Corbel"/>
              </a:rPr>
              <a:t>partition</a:t>
            </a:r>
            <a:r>
              <a:rPr lang="en-IN" sz="1800" b="0" strike="noStrike" spc="-1">
                <a:solidFill>
                  <a:srgbClr val="4D3E2F"/>
                </a:solidFill>
                <a:latin typeface="Corbel"/>
              </a:rPr>
              <a:t> occurs, the system has to make a choice:</a:t>
            </a:r>
            <a:endParaRPr lang="en-IN" sz="1800" b="0" strike="noStrike" spc="-1">
              <a:latin typeface="Arial"/>
            </a:endParaRPr>
          </a:p>
          <a:p>
            <a:pPr>
              <a:lnSpc>
                <a:spcPct val="100000"/>
              </a:lnSpc>
            </a:pPr>
            <a:r>
              <a:rPr lang="en-IN" sz="1800" b="1" strike="noStrike" spc="-1">
                <a:solidFill>
                  <a:srgbClr val="4D3E2F"/>
                </a:solidFill>
                <a:latin typeface="Corbel"/>
              </a:rPr>
              <a:t>CP — Consistency + Partition Tolerance</a:t>
            </a: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0" strike="noStrike" spc="-1">
                <a:solidFill>
                  <a:srgbClr val="4D3E2F"/>
                </a:solidFill>
                <a:latin typeface="Corbel"/>
              </a:rPr>
              <a:t>The system maintains </a:t>
            </a:r>
            <a:r>
              <a:rPr lang="en-IN" sz="1800" b="1" strike="noStrike" spc="-1">
                <a:solidFill>
                  <a:srgbClr val="4D3E2F"/>
                </a:solidFill>
                <a:latin typeface="Corbel"/>
              </a:rPr>
              <a:t>consistent data</a:t>
            </a:r>
            <a:r>
              <a:rPr lang="en-IN" sz="1800" b="0" strike="noStrike" spc="-1">
                <a:solidFill>
                  <a:srgbClr val="4D3E2F"/>
                </a:solidFill>
                <a:latin typeface="Corbel"/>
              </a:rPr>
              <a:t> even during a partition, but some requests may not be served.</a:t>
            </a: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1" strike="noStrike" spc="-1">
                <a:solidFill>
                  <a:srgbClr val="4D3E2F"/>
                </a:solidFill>
                <a:latin typeface="Corbel"/>
              </a:rPr>
              <a:t>C + P → Availability may be sacrificed</a:t>
            </a: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1" strike="noStrike" spc="-1">
                <a:solidFill>
                  <a:srgbClr val="4D3E2F"/>
                </a:solidFill>
                <a:latin typeface="Corbel"/>
              </a:rPr>
              <a:t>AP — Availability + Partition Tolerance</a:t>
            </a: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0" strike="noStrike" spc="-1">
                <a:solidFill>
                  <a:srgbClr val="4D3E2F"/>
                </a:solidFill>
                <a:latin typeface="Corbel"/>
              </a:rPr>
              <a:t>The system continues to respond to requests even during a partition, but different nodes may temporarily have different values.</a:t>
            </a: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1" strike="noStrike" spc="-1">
                <a:solidFill>
                  <a:srgbClr val="4D3E2F"/>
                </a:solidFill>
                <a:latin typeface="Corbel"/>
              </a:rPr>
              <a:t>A + P → Consistency may be sacrificed temporarily</a:t>
            </a:r>
            <a:endParaRPr lang="en-IN" sz="1800" b="0" strike="noStrike" spc="-1">
              <a:latin typeface="Arial"/>
            </a:endParaRPr>
          </a:p>
          <a:p>
            <a:pPr>
              <a:lnSpc>
                <a:spcPct val="100000"/>
              </a:lnSpc>
            </a:pPr>
            <a:endParaRPr lang="en-IN"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TextShape 1"/>
          <p:cNvSpPr txBox="1"/>
          <p:nvPr/>
        </p:nvSpPr>
        <p:spPr>
          <a:xfrm>
            <a:off x="0" y="6629400"/>
            <a:ext cx="410040" cy="228240"/>
          </a:xfrm>
          <a:prstGeom prst="rect">
            <a:avLst/>
          </a:prstGeom>
          <a:noFill/>
          <a:ln>
            <a:noFill/>
          </a:ln>
        </p:spPr>
        <p:txBody>
          <a:bodyPr anchor="ctr">
            <a:noAutofit/>
          </a:bodyPr>
          <a:lstStyle/>
          <a:p>
            <a:pPr algn="r">
              <a:lnSpc>
                <a:spcPct val="100000"/>
              </a:lnSpc>
            </a:pPr>
            <a:fld id="{87F797EE-1BFD-46C5-BEA2-DA77C22990FB}" type="slidenum">
              <a:rPr lang="en-IN" sz="1100" b="0" strike="noStrike" spc="-1">
                <a:solidFill>
                  <a:srgbClr val="455500"/>
                </a:solidFill>
                <a:latin typeface="Corbel"/>
              </a:rPr>
              <a:t>17</a:t>
            </a:fld>
            <a:endParaRPr lang="en-IN" sz="1100" b="0" strike="noStrike" spc="-1">
              <a:latin typeface="Times New Roman"/>
            </a:endParaRPr>
          </a:p>
        </p:txBody>
      </p:sp>
      <p:sp>
        <p:nvSpPr>
          <p:cNvPr id="314" name="CustomShape 2"/>
          <p:cNvSpPr/>
          <p:nvPr/>
        </p:nvSpPr>
        <p:spPr>
          <a:xfrm>
            <a:off x="685800" y="285840"/>
            <a:ext cx="11086920" cy="47840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IN" sz="2800" b="1" strike="noStrike" spc="-1">
                <a:solidFill>
                  <a:srgbClr val="8BAA00"/>
                </a:solidFill>
                <a:latin typeface="Corbel"/>
              </a:rPr>
              <a:t>BASE: Basically Available, Soft State, Eventual Consistency</a:t>
            </a:r>
            <a:endParaRPr lang="en-IN" sz="2800" b="0" strike="noStrike" spc="-1">
              <a:latin typeface="Arial"/>
            </a:endParaRPr>
          </a:p>
          <a:p>
            <a:pPr>
              <a:lnSpc>
                <a:spcPct val="100000"/>
              </a:lnSpc>
            </a:pPr>
            <a:endParaRPr lang="en-IN" sz="2800" b="0" strike="noStrike" spc="-1">
              <a:latin typeface="Arial"/>
            </a:endParaRPr>
          </a:p>
          <a:p>
            <a:pPr>
              <a:lnSpc>
                <a:spcPct val="100000"/>
              </a:lnSpc>
            </a:pPr>
            <a:r>
              <a:rPr lang="en-IN" sz="1800" b="0" strike="noStrike" spc="-1">
                <a:solidFill>
                  <a:srgbClr val="4D3E2F"/>
                </a:solidFill>
                <a:latin typeface="Corbel"/>
              </a:rPr>
              <a:t>In </a:t>
            </a:r>
            <a:r>
              <a:rPr lang="en-IN" sz="1800" b="1" strike="noStrike" spc="-1">
                <a:solidFill>
                  <a:srgbClr val="4D3E2F"/>
                </a:solidFill>
                <a:latin typeface="Corbel"/>
              </a:rPr>
              <a:t>Advanced Operating Systems / Distributed Systems</a:t>
            </a:r>
            <a:r>
              <a:rPr lang="en-IN" sz="1800" b="0" strike="noStrike" spc="-1">
                <a:solidFill>
                  <a:srgbClr val="4D3E2F"/>
                </a:solidFill>
                <a:latin typeface="Corbel"/>
              </a:rPr>
              <a:t>, </a:t>
            </a:r>
            <a:r>
              <a:rPr lang="en-IN" sz="1800" b="1" strike="noStrike" spc="-1">
                <a:solidFill>
                  <a:srgbClr val="4D3E2F"/>
                </a:solidFill>
                <a:latin typeface="Corbel"/>
              </a:rPr>
              <a:t>BASE</a:t>
            </a:r>
            <a:r>
              <a:rPr lang="en-IN" sz="1800" b="0" strike="noStrike" spc="-1">
                <a:solidFill>
                  <a:srgbClr val="4D3E2F"/>
                </a:solidFill>
                <a:latin typeface="Corbel"/>
              </a:rPr>
              <a:t> is an important concept for understanding how some </a:t>
            </a:r>
            <a:r>
              <a:rPr lang="en-IN" sz="1800" b="1" strike="noStrike" spc="-1">
                <a:solidFill>
                  <a:srgbClr val="4D3E2F"/>
                </a:solidFill>
                <a:latin typeface="Corbel"/>
              </a:rPr>
              <a:t>large-scale distributed systems</a:t>
            </a:r>
            <a:r>
              <a:rPr lang="en-IN" sz="1800" b="0" strike="noStrike" spc="-1">
                <a:solidFill>
                  <a:srgbClr val="4D3E2F"/>
                </a:solidFill>
                <a:latin typeface="Corbel"/>
              </a:rPr>
              <a:t> handle data consistency and availability.</a:t>
            </a:r>
            <a:endParaRPr lang="en-IN" sz="1800" b="0" strike="noStrike" spc="-1">
              <a:latin typeface="Arial"/>
            </a:endParaRPr>
          </a:p>
          <a:p>
            <a:pPr>
              <a:lnSpc>
                <a:spcPct val="100000"/>
              </a:lnSpc>
            </a:pP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1" strike="noStrike" spc="-1">
                <a:solidFill>
                  <a:srgbClr val="4D3E2F"/>
                </a:solidFill>
                <a:latin typeface="Corbel"/>
              </a:rPr>
              <a:t>BASE stands for:</a:t>
            </a:r>
            <a:endParaRPr lang="en-IN" sz="1800" b="0" strike="noStrike" spc="-1">
              <a:latin typeface="Arial"/>
            </a:endParaRPr>
          </a:p>
          <a:p>
            <a:pPr indent="-216000">
              <a:lnSpc>
                <a:spcPct val="100000"/>
              </a:lnSpc>
              <a:buClr>
                <a:srgbClr val="4D3E2F"/>
              </a:buClr>
              <a:buFont typeface="Arial"/>
              <a:buChar char="•"/>
            </a:pPr>
            <a:r>
              <a:rPr lang="en-IN" sz="1800" b="1" strike="noStrike" spc="-1">
                <a:solidFill>
                  <a:srgbClr val="4D3E2F"/>
                </a:solidFill>
                <a:latin typeface="Corbel"/>
              </a:rPr>
              <a:t>B – Basically Available</a:t>
            </a:r>
            <a:r>
              <a:rPr lang="en-IN" sz="1800" b="0" strike="noStrike" spc="-1">
                <a:solidFill>
                  <a:srgbClr val="4D3E2F"/>
                </a:solidFill>
                <a:latin typeface="Corbel"/>
              </a:rPr>
              <a:t> </a:t>
            </a:r>
            <a:endParaRPr lang="en-IN" sz="1800" b="0" strike="noStrike" spc="-1">
              <a:latin typeface="Arial"/>
            </a:endParaRPr>
          </a:p>
          <a:p>
            <a:pPr indent="-216000">
              <a:lnSpc>
                <a:spcPct val="100000"/>
              </a:lnSpc>
              <a:buClr>
                <a:srgbClr val="4D3E2F"/>
              </a:buClr>
              <a:buFont typeface="Arial"/>
              <a:buChar char="•"/>
            </a:pPr>
            <a:r>
              <a:rPr lang="en-IN" sz="1800" b="1" strike="noStrike" spc="-1">
                <a:solidFill>
                  <a:srgbClr val="4D3E2F"/>
                </a:solidFill>
                <a:latin typeface="Corbel"/>
              </a:rPr>
              <a:t>S – Soft State</a:t>
            </a:r>
            <a:r>
              <a:rPr lang="en-IN" sz="1800" b="0" strike="noStrike" spc="-1">
                <a:solidFill>
                  <a:srgbClr val="4D3E2F"/>
                </a:solidFill>
                <a:latin typeface="Corbel"/>
              </a:rPr>
              <a:t> </a:t>
            </a:r>
            <a:endParaRPr lang="en-IN" sz="1800" b="0" strike="noStrike" spc="-1">
              <a:latin typeface="Arial"/>
            </a:endParaRPr>
          </a:p>
          <a:p>
            <a:pPr indent="-216000">
              <a:lnSpc>
                <a:spcPct val="100000"/>
              </a:lnSpc>
              <a:buClr>
                <a:srgbClr val="4D3E2F"/>
              </a:buClr>
              <a:buFont typeface="Arial"/>
              <a:buChar char="•"/>
            </a:pPr>
            <a:r>
              <a:rPr lang="en-IN" sz="1800" b="1" strike="noStrike" spc="-1">
                <a:solidFill>
                  <a:srgbClr val="4D3E2F"/>
                </a:solidFill>
                <a:latin typeface="Corbel"/>
              </a:rPr>
              <a:t>E – Eventual Consistency</a:t>
            </a:r>
            <a:r>
              <a:rPr lang="en-IN" sz="1800" b="0" strike="noStrike" spc="-1">
                <a:solidFill>
                  <a:srgbClr val="4D3E2F"/>
                </a:solidFill>
                <a:latin typeface="Corbel"/>
              </a:rPr>
              <a:t> </a:t>
            </a:r>
            <a:endParaRPr lang="en-IN" sz="1800" b="0" strike="noStrike" spc="-1">
              <a:latin typeface="Arial"/>
            </a:endParaRPr>
          </a:p>
          <a:p>
            <a:pPr>
              <a:lnSpc>
                <a:spcPct val="100000"/>
              </a:lnSpc>
            </a:pPr>
            <a:r>
              <a:rPr lang="en-IN" sz="1800" b="0" strike="noStrike" spc="-1">
                <a:solidFill>
                  <a:srgbClr val="4D3E2F"/>
                </a:solidFill>
                <a:latin typeface="Corbel"/>
              </a:rPr>
              <a:t>It is useful to teach BASE </a:t>
            </a:r>
            <a:r>
              <a:rPr lang="en-IN" sz="1800" b="1" strike="noStrike" spc="-1">
                <a:solidFill>
                  <a:srgbClr val="4D3E2F"/>
                </a:solidFill>
                <a:latin typeface="Corbel"/>
              </a:rPr>
              <a:t>in contrast to ACID</a:t>
            </a:r>
            <a:r>
              <a:rPr lang="en-IN" sz="1800" b="0" strike="noStrike" spc="-1">
                <a:solidFill>
                  <a:srgbClr val="4D3E2F"/>
                </a:solidFill>
                <a:latin typeface="Corbel"/>
              </a:rPr>
              <a:t> and in connection with the </a:t>
            </a:r>
            <a:r>
              <a:rPr lang="en-IN" sz="1800" b="1" strike="noStrike" spc="-1">
                <a:solidFill>
                  <a:srgbClr val="4D3E2F"/>
                </a:solidFill>
                <a:latin typeface="Corbel"/>
              </a:rPr>
              <a:t>CAP theorem</a:t>
            </a:r>
            <a:r>
              <a:rPr lang="en-IN" sz="1800" b="0" strike="noStrike" spc="-1">
                <a:solidFill>
                  <a:srgbClr val="4D3E2F"/>
                </a:solidFill>
                <a:latin typeface="Corbel"/>
              </a:rPr>
              <a:t>.</a:t>
            </a:r>
            <a:endParaRPr lang="en-IN" sz="1800" b="0" strike="noStrike" spc="-1">
              <a:latin typeface="Arial"/>
            </a:endParaRPr>
          </a:p>
          <a:p>
            <a:pPr>
              <a:lnSpc>
                <a:spcPct val="100000"/>
              </a:lnSpc>
            </a:pP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0" strike="noStrike" spc="-1">
                <a:solidFill>
                  <a:srgbClr val="4D3E2F"/>
                </a:solidFill>
                <a:latin typeface="Corbel"/>
              </a:rPr>
              <a:t>Suppose a distributed system has three nodes: Even if Node 2 fails, the system can continue providing service using the other nodes.</a:t>
            </a:r>
            <a:endParaRPr lang="en-IN" sz="1800" b="0" strike="noStrike" spc="-1">
              <a:latin typeface="Arial"/>
            </a:endParaRPr>
          </a:p>
          <a:p>
            <a:pPr>
              <a:lnSpc>
                <a:spcPct val="100000"/>
              </a:lnSpc>
            </a:pPr>
            <a:endParaRPr lang="en-IN"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 name="TextShape 1"/>
          <p:cNvSpPr txBox="1"/>
          <p:nvPr/>
        </p:nvSpPr>
        <p:spPr>
          <a:xfrm>
            <a:off x="0" y="6629400"/>
            <a:ext cx="410040" cy="228240"/>
          </a:xfrm>
          <a:prstGeom prst="rect">
            <a:avLst/>
          </a:prstGeom>
          <a:noFill/>
          <a:ln>
            <a:noFill/>
          </a:ln>
        </p:spPr>
        <p:txBody>
          <a:bodyPr anchor="ctr">
            <a:noAutofit/>
          </a:bodyPr>
          <a:lstStyle/>
          <a:p>
            <a:pPr algn="r">
              <a:lnSpc>
                <a:spcPct val="100000"/>
              </a:lnSpc>
            </a:pPr>
            <a:fld id="{61FA73BD-F346-4256-9985-AAF803C8FAD0}" type="slidenum">
              <a:rPr lang="en-IN" sz="1100" b="0" strike="noStrike" spc="-1">
                <a:solidFill>
                  <a:srgbClr val="455500"/>
                </a:solidFill>
                <a:latin typeface="Corbel"/>
              </a:rPr>
              <a:t>18</a:t>
            </a:fld>
            <a:endParaRPr lang="en-IN" sz="1100" b="0" strike="noStrike" spc="-1">
              <a:latin typeface="Times New Roman"/>
            </a:endParaRPr>
          </a:p>
        </p:txBody>
      </p:sp>
      <p:graphicFrame>
        <p:nvGraphicFramePr>
          <p:cNvPr id="316" name="Table 2"/>
          <p:cNvGraphicFramePr/>
          <p:nvPr/>
        </p:nvGraphicFramePr>
        <p:xfrm>
          <a:off x="537120" y="148680"/>
          <a:ext cx="10572480" cy="6311160"/>
        </p:xfrm>
        <a:graphic>
          <a:graphicData uri="http://schemas.openxmlformats.org/drawingml/2006/table">
            <a:tbl>
              <a:tblPr/>
              <a:tblGrid>
                <a:gridCol w="5394960">
                  <a:extLst>
                    <a:ext uri="{9D8B030D-6E8A-4147-A177-3AD203B41FA5}">
                      <a16:colId xmlns:a16="http://schemas.microsoft.com/office/drawing/2014/main" val="20000"/>
                    </a:ext>
                  </a:extLst>
                </a:gridCol>
                <a:gridCol w="5177520">
                  <a:extLst>
                    <a:ext uri="{9D8B030D-6E8A-4147-A177-3AD203B41FA5}">
                      <a16:colId xmlns:a16="http://schemas.microsoft.com/office/drawing/2014/main" val="20001"/>
                    </a:ext>
                  </a:extLst>
                </a:gridCol>
              </a:tblGrid>
              <a:tr h="3438720">
                <a:tc>
                  <a:txBody>
                    <a:bodyPr/>
                    <a:lstStyle/>
                    <a:p>
                      <a:pPr>
                        <a:lnSpc>
                          <a:spcPct val="100000"/>
                        </a:lnSpc>
                      </a:pPr>
                      <a:r>
                        <a:rPr lang="en-IN" sz="1800" b="1" strike="noStrike" spc="-1">
                          <a:solidFill>
                            <a:srgbClr val="4D3E2F"/>
                          </a:solidFill>
                          <a:latin typeface="Corbel"/>
                        </a:rPr>
                        <a:t>1. Basically Available (BA)</a:t>
                      </a:r>
                      <a:endParaRPr lang="en-IN" sz="1800" b="0" strike="noStrike" spc="-1">
                        <a:latin typeface="Arial"/>
                      </a:endParaRPr>
                    </a:p>
                    <a:p>
                      <a:pPr>
                        <a:lnSpc>
                          <a:spcPct val="100000"/>
                        </a:lnSpc>
                      </a:pPr>
                      <a:r>
                        <a:rPr lang="en-IN" sz="1800" b="0" strike="noStrike" spc="-1">
                          <a:solidFill>
                            <a:srgbClr val="4D3E2F"/>
                          </a:solidFill>
                          <a:latin typeface="Corbel"/>
                        </a:rPr>
                        <a:t>Basically Available means that the system provides a response to requests even when some components of the distributed system are experiencing failures.</a:t>
                      </a:r>
                      <a:endParaRPr lang="en-IN" sz="1800" b="0" strike="noStrike" spc="-1">
                        <a:latin typeface="Arial"/>
                      </a:endParaRPr>
                    </a:p>
                    <a:p>
                      <a:pPr>
                        <a:lnSpc>
                          <a:spcPct val="100000"/>
                        </a:lnSpc>
                      </a:pPr>
                      <a:r>
                        <a:rPr lang="en-IN" sz="1800" b="0" strike="noStrike" spc="-1">
                          <a:solidFill>
                            <a:srgbClr val="4D3E2F"/>
                          </a:solidFill>
                          <a:latin typeface="Corbel"/>
                        </a:rPr>
                        <a:t>The system attempts to remain available rather than stopping completely.</a:t>
                      </a:r>
                      <a:endParaRPr lang="en-IN" sz="1800" b="0" strike="noStrike" spc="-1">
                        <a:latin typeface="Arial"/>
                      </a:endParaRPr>
                    </a:p>
                    <a:p>
                      <a:pPr>
                        <a:lnSpc>
                          <a:spcPct val="100000"/>
                        </a:lnSpc>
                      </a:pPr>
                      <a:r>
                        <a:rPr lang="en-IN" sz="1800" b="0" strike="noStrike" spc="-1">
                          <a:solidFill>
                            <a:srgbClr val="4D3E2F"/>
                          </a:solidFill>
                          <a:latin typeface="Corbel"/>
                        </a:rPr>
                        <a:t>Example</a:t>
                      </a:r>
                      <a:endParaRPr lang="en-IN" sz="1800" b="0" strike="noStrike" spc="-1">
                        <a:latin typeface="Arial"/>
                      </a:endParaRPr>
                    </a:p>
                    <a:p>
                      <a:pPr>
                        <a:lnSpc>
                          <a:spcPct val="100000"/>
                        </a:lnSpc>
                      </a:pPr>
                      <a:r>
                        <a:rPr lang="en-IN" sz="1800" b="0" strike="noStrike" spc="-1">
                          <a:solidFill>
                            <a:srgbClr val="4D3E2F"/>
                          </a:solidFill>
                          <a:latin typeface="Corbel"/>
                        </a:rPr>
                        <a:t>Even if Node 2 fails, the system can continue providing service using the other nodes.</a:t>
                      </a:r>
                      <a:endParaRPr lang="en-IN" sz="1800" b="0" strike="noStrike" spc="-1">
                        <a:latin typeface="Arial"/>
                      </a:endParaRPr>
                    </a:p>
                    <a:p>
                      <a:pPr>
                        <a:lnSpc>
                          <a:spcPct val="100000"/>
                        </a:lnSpc>
                      </a:pPr>
                      <a:r>
                        <a:rPr lang="en-IN" sz="1800" b="1" strike="noStrike" spc="-1">
                          <a:solidFill>
                            <a:srgbClr val="4D3E2F"/>
                          </a:solidFill>
                          <a:latin typeface="Corbel"/>
                        </a:rPr>
                        <a:t>Basically Available = The system remains available even when some failures occur.</a:t>
                      </a:r>
                      <a:endParaRPr lang="en-IN" sz="1800" b="0" strike="noStrike" spc="-1">
                        <a:latin typeface="Arial"/>
                      </a:endParaRPr>
                    </a:p>
                  </a:txBody>
                  <a:tcPr>
                    <a:lnT w="12240">
                      <a:solidFill>
                        <a:srgbClr val="8BAA00"/>
                      </a:solidFill>
                    </a:lnT>
                    <a:lnB w="12240">
                      <a:solidFill>
                        <a:srgbClr val="8BAA00"/>
                      </a:solidFill>
                    </a:lnB>
                    <a:solidFill>
                      <a:srgbClr val="E4F0FC"/>
                    </a:solidFill>
                  </a:tcPr>
                </a:tc>
                <a:tc>
                  <a:txBody>
                    <a:bodyPr/>
                    <a:lstStyle/>
                    <a:p>
                      <a:pPr>
                        <a:lnSpc>
                          <a:spcPct val="100000"/>
                        </a:lnSpc>
                      </a:pPr>
                      <a:r>
                        <a:rPr lang="en-IN" sz="1800" b="1" strike="noStrike" spc="-1">
                          <a:solidFill>
                            <a:srgbClr val="4D3E2F"/>
                          </a:solidFill>
                          <a:latin typeface="Corbel"/>
                        </a:rPr>
                        <a:t>2. Soft State (S)</a:t>
                      </a:r>
                      <a:endParaRPr lang="en-IN" sz="1800" b="0" strike="noStrike" spc="-1">
                        <a:latin typeface="Arial"/>
                      </a:endParaRPr>
                    </a:p>
                    <a:p>
                      <a:pPr>
                        <a:lnSpc>
                          <a:spcPct val="100000"/>
                        </a:lnSpc>
                      </a:pPr>
                      <a:r>
                        <a:rPr lang="en-IN" sz="1800" b="0" strike="noStrike" spc="-1">
                          <a:solidFill>
                            <a:srgbClr val="4D3E2F"/>
                          </a:solidFill>
                          <a:latin typeface="Corbel"/>
                        </a:rPr>
                        <a:t>Soft State means that the state of the system may change over time, even without a new user request, because the state can be updated or synchronized by the system itself.</a:t>
                      </a:r>
                      <a:endParaRPr lang="en-IN" sz="1800" b="0" strike="noStrike" spc="-1">
                        <a:latin typeface="Arial"/>
                      </a:endParaRPr>
                    </a:p>
                    <a:p>
                      <a:pPr>
                        <a:lnSpc>
                          <a:spcPct val="100000"/>
                        </a:lnSpc>
                      </a:pPr>
                      <a:r>
                        <a:rPr lang="en-IN" sz="1800" b="0" strike="noStrike" spc="-1">
                          <a:solidFill>
                            <a:srgbClr val="4D3E2F"/>
                          </a:solidFill>
                          <a:latin typeface="Corbel"/>
                        </a:rPr>
                        <a:t>Unlike a strictly consistent system, the data at different nodes may temporarily be different.</a:t>
                      </a: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1" strike="noStrike" spc="-1">
                          <a:solidFill>
                            <a:srgbClr val="4D3E2F"/>
                          </a:solidFill>
                          <a:latin typeface="Corbel"/>
                        </a:rPr>
                        <a:t>Soft State = Data may temporarily change or differ while the system is synchronizing.</a:t>
                      </a:r>
                      <a:endParaRPr lang="en-IN" sz="1800" b="0" strike="noStrike" spc="-1">
                        <a:latin typeface="Arial"/>
                      </a:endParaRPr>
                    </a:p>
                  </a:txBody>
                  <a:tcPr>
                    <a:lnT w="12240">
                      <a:solidFill>
                        <a:srgbClr val="8BAA00"/>
                      </a:solidFill>
                    </a:lnT>
                    <a:lnB w="12240">
                      <a:solidFill>
                        <a:srgbClr val="8BAA00"/>
                      </a:solidFill>
                    </a:lnB>
                    <a:solidFill>
                      <a:srgbClr val="E4F0FC"/>
                    </a:solidFill>
                  </a:tcPr>
                </a:tc>
                <a:extLst>
                  <a:ext uri="{0D108BD9-81ED-4DB2-BD59-A6C34878D82A}">
                    <a16:rowId xmlns:a16="http://schemas.microsoft.com/office/drawing/2014/main" val="10000"/>
                  </a:ext>
                </a:extLst>
              </a:tr>
              <a:tr h="2224800">
                <a:tc>
                  <a:txBody>
                    <a:bodyPr/>
                    <a:lstStyle/>
                    <a:p>
                      <a:pPr>
                        <a:lnSpc>
                          <a:spcPct val="100000"/>
                        </a:lnSpc>
                      </a:pPr>
                      <a:r>
                        <a:rPr lang="en-IN" sz="1800" b="1" strike="noStrike" spc="-1">
                          <a:solidFill>
                            <a:srgbClr val="4D3E2F"/>
                          </a:solidFill>
                          <a:latin typeface="Corbel"/>
                        </a:rPr>
                        <a:t>3. Eventual Consistency (E)</a:t>
                      </a:r>
                      <a:endParaRPr lang="en-IN" sz="1800" b="0" strike="noStrike" spc="-1">
                        <a:latin typeface="Arial"/>
                      </a:endParaRPr>
                    </a:p>
                    <a:p>
                      <a:pPr>
                        <a:lnSpc>
                          <a:spcPct val="100000"/>
                        </a:lnSpc>
                      </a:pPr>
                      <a:r>
                        <a:rPr lang="en-IN" sz="1800" b="0" strike="noStrike" spc="-1">
                          <a:solidFill>
                            <a:srgbClr val="4D3E2F"/>
                          </a:solidFill>
                          <a:latin typeface="Corbel"/>
                        </a:rPr>
                        <a:t>Eventual Consistency means that the system may not provide the latest value immediately at every node, but if no new updates occur, all replicas will eventually become consistent.</a:t>
                      </a:r>
                      <a:endParaRPr lang="en-IN" sz="1800" b="0" strike="noStrike" spc="-1">
                        <a:latin typeface="Arial"/>
                      </a:endParaRPr>
                    </a:p>
                    <a:p>
                      <a:pPr>
                        <a:lnSpc>
                          <a:spcPct val="100000"/>
                        </a:lnSpc>
                      </a:pPr>
                      <a:r>
                        <a:rPr lang="en-IN" sz="1800" b="1" strike="noStrike" spc="-1">
                          <a:solidFill>
                            <a:srgbClr val="4D3E2F"/>
                          </a:solidFill>
                          <a:latin typeface="Corbel"/>
                        </a:rPr>
                        <a:t>Eventual Consistency = Not necessarily consistent immediately, but becomes consistent eventually.</a:t>
                      </a:r>
                      <a:endParaRPr lang="en-IN" sz="1800" b="0" strike="noStrike" spc="-1">
                        <a:latin typeface="Arial"/>
                      </a:endParaRPr>
                    </a:p>
                  </a:txBody>
                  <a:tcPr>
                    <a:lnT w="12240">
                      <a:solidFill>
                        <a:srgbClr val="8BAA00"/>
                      </a:solidFill>
                    </a:lnT>
                    <a:lnB w="12240">
                      <a:solidFill>
                        <a:srgbClr val="8BAA00"/>
                      </a:solidFill>
                    </a:lnB>
                    <a:solidFill>
                      <a:srgbClr val="AFD2F6">
                        <a:alpha val="20000"/>
                      </a:srgbClr>
                    </a:solidFill>
                  </a:tcPr>
                </a:tc>
                <a:tc>
                  <a:txBody>
                    <a:bodyPr/>
                    <a:lstStyle/>
                    <a:p>
                      <a:endParaRPr lang="en-US"/>
                    </a:p>
                  </a:txBody>
                  <a:tcPr>
                    <a:lnT w="12240">
                      <a:solidFill>
                        <a:srgbClr val="8BAA00"/>
                      </a:solidFill>
                    </a:lnT>
                    <a:lnB w="12240">
                      <a:solidFill>
                        <a:srgbClr val="8BAA00"/>
                      </a:solidFill>
                    </a:lnB>
                    <a:solidFill>
                      <a:srgbClr val="AFD2F6">
                        <a:alpha val="20000"/>
                      </a:srgbClr>
                    </a:solidFill>
                  </a:tcPr>
                </a:tc>
                <a:extLst>
                  <a:ext uri="{0D108BD9-81ED-4DB2-BD59-A6C34878D82A}">
                    <a16:rowId xmlns:a16="http://schemas.microsoft.com/office/drawing/2014/main" val="10001"/>
                  </a:ext>
                </a:extLst>
              </a:tr>
              <a:tr h="647640">
                <a:tc>
                  <a:txBody>
                    <a:bodyPr/>
                    <a:lstStyle/>
                    <a:p>
                      <a:endParaRPr lang="en-US"/>
                    </a:p>
                  </a:txBody>
                  <a:tcPr>
                    <a:lnT w="12240">
                      <a:solidFill>
                        <a:srgbClr val="8BAA00"/>
                      </a:solidFill>
                    </a:lnT>
                    <a:lnB w="12240">
                      <a:solidFill>
                        <a:srgbClr val="8BAA00"/>
                      </a:solidFill>
                    </a:lnB>
                    <a:noFill/>
                  </a:tcPr>
                </a:tc>
                <a:tc>
                  <a:txBody>
                    <a:bodyPr/>
                    <a:lstStyle/>
                    <a:p>
                      <a:endParaRPr lang="en-US"/>
                    </a:p>
                  </a:txBody>
                  <a:tcPr>
                    <a:lnT w="12240">
                      <a:solidFill>
                        <a:srgbClr val="8BAA00"/>
                      </a:solidFill>
                    </a:lnT>
                    <a:lnB w="12240">
                      <a:solidFill>
                        <a:srgbClr val="8BAA00"/>
                      </a:solidFill>
                    </a:lnB>
                    <a:noFill/>
                  </a:tcPr>
                </a:tc>
                <a:extLst>
                  <a:ext uri="{0D108BD9-81ED-4DB2-BD59-A6C34878D82A}">
                    <a16:rowId xmlns:a16="http://schemas.microsoft.com/office/drawing/2014/main" val="10002"/>
                  </a:ext>
                </a:extLst>
              </a:tr>
            </a:tbl>
          </a:graphicData>
        </a:graphic>
      </p:graphicFrame>
      <p:sp>
        <p:nvSpPr>
          <p:cNvPr id="317" name="CustomShape 3"/>
          <p:cNvSpPr/>
          <p:nvPr/>
        </p:nvSpPr>
        <p:spPr>
          <a:xfrm>
            <a:off x="6275160" y="4023360"/>
            <a:ext cx="5691960" cy="2559240"/>
          </a:xfrm>
          <a:prstGeom prst="rect">
            <a:avLst/>
          </a:prstGeom>
          <a:solidFill>
            <a:schemeClr val="accent4">
              <a:lumMod val="60000"/>
              <a:lumOff val="40000"/>
            </a:schemeClr>
          </a:solid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r>
              <a:rPr lang="en-IN" sz="1800" b="0" strike="noStrike" spc="-1">
                <a:solidFill>
                  <a:srgbClr val="4D3E2F"/>
                </a:solidFill>
                <a:latin typeface="Corbel"/>
              </a:rPr>
              <a:t>                              </a:t>
            </a:r>
            <a:r>
              <a:rPr lang="en-IN" sz="1800" b="1" strike="noStrike" spc="-1">
                <a:solidFill>
                  <a:srgbClr val="4D3E2F"/>
                </a:solidFill>
                <a:latin typeface="Corbel"/>
              </a:rPr>
              <a:t>         BASE</a:t>
            </a:r>
            <a:endParaRPr lang="en-IN" sz="1800" b="0" strike="noStrike" spc="-1">
              <a:latin typeface="Arial"/>
            </a:endParaRPr>
          </a:p>
          <a:p>
            <a:pPr>
              <a:lnSpc>
                <a:spcPct val="100000"/>
              </a:lnSpc>
            </a:pPr>
            <a:r>
              <a:rPr lang="en-IN" sz="1800" b="1" strike="noStrike" spc="-1">
                <a:solidFill>
                  <a:srgbClr val="4D3E2F"/>
                </a:solidFill>
                <a:latin typeface="Corbel"/>
              </a:rPr>
              <a:t>                                            |</a:t>
            </a:r>
            <a:endParaRPr lang="en-IN" sz="1800" b="0" strike="noStrike" spc="-1">
              <a:latin typeface="Arial"/>
            </a:endParaRPr>
          </a:p>
          <a:p>
            <a:pPr>
              <a:lnSpc>
                <a:spcPct val="100000"/>
              </a:lnSpc>
            </a:pPr>
            <a:r>
              <a:rPr lang="en-IN" sz="1800" b="1" strike="noStrike" spc="-1">
                <a:solidFill>
                  <a:srgbClr val="4D3E2F"/>
                </a:solidFill>
                <a:latin typeface="Corbel"/>
              </a:rPr>
              <a:t>       -----------------------------------------------</a:t>
            </a:r>
            <a:endParaRPr lang="en-IN" sz="1800" b="0" strike="noStrike" spc="-1">
              <a:latin typeface="Arial"/>
            </a:endParaRPr>
          </a:p>
          <a:p>
            <a:pPr>
              <a:lnSpc>
                <a:spcPct val="100000"/>
              </a:lnSpc>
            </a:pPr>
            <a:r>
              <a:rPr lang="en-IN" sz="1800" b="1" strike="noStrike" spc="-1">
                <a:solidFill>
                  <a:srgbClr val="4D3E2F"/>
                </a:solidFill>
                <a:latin typeface="Corbel"/>
              </a:rPr>
              <a:t>       |                                     |                                 |</a:t>
            </a:r>
            <a:endParaRPr lang="en-IN" sz="1800" b="0" strike="noStrike" spc="-1">
              <a:latin typeface="Arial"/>
            </a:endParaRPr>
          </a:p>
          <a:p>
            <a:pPr>
              <a:lnSpc>
                <a:spcPct val="100000"/>
              </a:lnSpc>
            </a:pPr>
            <a:r>
              <a:rPr lang="en-IN" sz="1800" b="1" strike="noStrike" spc="-1">
                <a:solidFill>
                  <a:srgbClr val="4D3E2F"/>
                </a:solidFill>
                <a:latin typeface="Corbel"/>
              </a:rPr>
              <a:t>   Basically             Soft State               Eventual</a:t>
            </a:r>
            <a:endParaRPr lang="en-IN" sz="1800" b="0" strike="noStrike" spc="-1">
              <a:latin typeface="Arial"/>
            </a:endParaRPr>
          </a:p>
          <a:p>
            <a:pPr>
              <a:lnSpc>
                <a:spcPct val="100000"/>
              </a:lnSpc>
            </a:pPr>
            <a:r>
              <a:rPr lang="en-IN" sz="1800" b="1" strike="noStrike" spc="-1">
                <a:solidFill>
                  <a:srgbClr val="4D3E2F"/>
                </a:solidFill>
                <a:latin typeface="Corbel"/>
              </a:rPr>
              <a:t>   Available                                             Consistency</a:t>
            </a:r>
            <a:endParaRPr lang="en-IN" sz="1800" b="0" strike="noStrike" spc="-1">
              <a:latin typeface="Arial"/>
            </a:endParaRPr>
          </a:p>
          <a:p>
            <a:pPr>
              <a:lnSpc>
                <a:spcPct val="100000"/>
              </a:lnSpc>
            </a:pPr>
            <a:r>
              <a:rPr lang="en-IN" sz="1800" b="1" strike="noStrike" spc="-1">
                <a:solidFill>
                  <a:srgbClr val="4D3E2F"/>
                </a:solidFill>
                <a:latin typeface="Corbel"/>
              </a:rPr>
              <a:t>       |                                     |                                 |</a:t>
            </a:r>
            <a:endParaRPr lang="en-IN" sz="1800" b="0" strike="noStrike" spc="-1">
              <a:latin typeface="Arial"/>
            </a:endParaRPr>
          </a:p>
          <a:p>
            <a:pPr>
              <a:lnSpc>
                <a:spcPct val="100000"/>
              </a:lnSpc>
            </a:pPr>
            <a:r>
              <a:rPr lang="en-IN" sz="1800" b="1" strike="noStrike" spc="-1">
                <a:solidFill>
                  <a:srgbClr val="4D3E2F"/>
                </a:solidFill>
                <a:latin typeface="Corbel"/>
              </a:rPr>
              <a:t>   Stay available   Temporary                Eventually</a:t>
            </a:r>
            <a:endParaRPr lang="en-IN" sz="1800" b="0" strike="noStrike" spc="-1">
              <a:latin typeface="Arial"/>
            </a:endParaRPr>
          </a:p>
          <a:p>
            <a:pPr>
              <a:lnSpc>
                <a:spcPct val="100000"/>
              </a:lnSpc>
            </a:pPr>
            <a:r>
              <a:rPr lang="en-IN" sz="1800" b="1" strike="noStrike" spc="-1">
                <a:solidFill>
                  <a:srgbClr val="4D3E2F"/>
                </a:solidFill>
                <a:latin typeface="Corbel"/>
              </a:rPr>
              <a:t>   during failures  state changes     become  consistent</a:t>
            </a:r>
            <a:endParaRPr lang="en-IN"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 name="TextShape 1"/>
          <p:cNvSpPr txBox="1"/>
          <p:nvPr/>
        </p:nvSpPr>
        <p:spPr>
          <a:xfrm>
            <a:off x="0" y="6629400"/>
            <a:ext cx="410040" cy="228240"/>
          </a:xfrm>
          <a:prstGeom prst="rect">
            <a:avLst/>
          </a:prstGeom>
          <a:noFill/>
          <a:ln>
            <a:noFill/>
          </a:ln>
        </p:spPr>
        <p:txBody>
          <a:bodyPr anchor="ctr">
            <a:noAutofit/>
          </a:bodyPr>
          <a:lstStyle/>
          <a:p>
            <a:pPr algn="r">
              <a:lnSpc>
                <a:spcPct val="100000"/>
              </a:lnSpc>
            </a:pPr>
            <a:fld id="{17B035C6-E2D6-4292-AB76-0C7EC132F9D1}" type="slidenum">
              <a:rPr lang="en-IN" sz="1100" b="0" strike="noStrike" spc="-1">
                <a:solidFill>
                  <a:srgbClr val="455500"/>
                </a:solidFill>
                <a:latin typeface="Corbel"/>
              </a:rPr>
              <a:t>19</a:t>
            </a:fld>
            <a:endParaRPr lang="en-IN" sz="1100" b="0" strike="noStrike" spc="-1">
              <a:latin typeface="Times New Roman"/>
            </a:endParaRPr>
          </a:p>
        </p:txBody>
      </p:sp>
      <p:sp>
        <p:nvSpPr>
          <p:cNvPr id="319" name="TextShape 2"/>
          <p:cNvSpPr txBox="1"/>
          <p:nvPr/>
        </p:nvSpPr>
        <p:spPr>
          <a:xfrm>
            <a:off x="360000" y="374400"/>
            <a:ext cx="11160000" cy="5465520"/>
          </a:xfrm>
          <a:prstGeom prst="rect">
            <a:avLst/>
          </a:prstGeom>
          <a:noFill/>
          <a:ln>
            <a:noFill/>
          </a:ln>
        </p:spPr>
        <p:txBody>
          <a:bodyPr lIns="90000" tIns="45000" rIns="90000" bIns="45000">
            <a:spAutoFit/>
          </a:bodyPr>
          <a:lstStyle/>
          <a:p>
            <a:pPr algn="ctr"/>
            <a:r>
              <a:rPr lang="en-IN" sz="1800" b="1" strike="noStrike" spc="-1" dirty="0">
                <a:latin typeface="Arial"/>
              </a:rPr>
              <a:t>BASIC ANALYTICS</a:t>
            </a:r>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r>
              <a:rPr lang="en-IN" sz="1800" b="0" strike="noStrike" spc="-1" dirty="0">
                <a:latin typeface="Arial"/>
              </a:rPr>
              <a:t>Basic Analytics is the initial level of analytics in which existing or historical data is examined to understand business performance.</a:t>
            </a:r>
          </a:p>
          <a:p>
            <a:endParaRPr lang="en-IN" sz="1800" b="0" strike="noStrike" spc="-1" dirty="0">
              <a:latin typeface="Arial"/>
            </a:endParaRPr>
          </a:p>
          <a:p>
            <a:r>
              <a:rPr lang="en-IN" sz="1800" b="0" strike="noStrike" spc="-1" dirty="0">
                <a:latin typeface="Arial"/>
              </a:rPr>
              <a:t>It mainly focuses on:</a:t>
            </a:r>
          </a:p>
          <a:p>
            <a:endParaRPr lang="en-IN" sz="1800" b="0" strike="noStrike" spc="-1" dirty="0">
              <a:latin typeface="Arial"/>
            </a:endParaRPr>
          </a:p>
          <a:p>
            <a:pPr marL="216000" indent="-216000">
              <a:buClr>
                <a:srgbClr val="000000"/>
              </a:buClr>
              <a:buSzPct val="45000"/>
              <a:buFont typeface="Wingdings" charset="2"/>
              <a:buChar char=""/>
            </a:pPr>
            <a:r>
              <a:rPr lang="en-IN" sz="1800" b="0" strike="noStrike" spc="-1" dirty="0">
                <a:latin typeface="Arial"/>
              </a:rPr>
              <a:t>Collecting available data</a:t>
            </a:r>
          </a:p>
          <a:p>
            <a:pPr marL="216000" indent="-216000">
              <a:buClr>
                <a:srgbClr val="000000"/>
              </a:buClr>
              <a:buSzPct val="45000"/>
              <a:buFont typeface="Wingdings" charset="2"/>
              <a:buChar char=""/>
            </a:pPr>
            <a:r>
              <a:rPr lang="en-IN" sz="1800" b="0" strike="noStrike" spc="-1" dirty="0">
                <a:latin typeface="Arial"/>
              </a:rPr>
              <a:t>Organizing data</a:t>
            </a:r>
          </a:p>
          <a:p>
            <a:pPr marL="216000" indent="-216000">
              <a:buClr>
                <a:srgbClr val="000000"/>
              </a:buClr>
              <a:buSzPct val="45000"/>
              <a:buFont typeface="Wingdings" charset="2"/>
              <a:buChar char=""/>
            </a:pPr>
            <a:r>
              <a:rPr lang="en-IN" sz="1800" b="0" strike="noStrike" spc="-1" dirty="0">
                <a:latin typeface="Arial"/>
              </a:rPr>
              <a:t>Summarizing information</a:t>
            </a:r>
          </a:p>
          <a:p>
            <a:pPr marL="216000" indent="-216000">
              <a:buClr>
                <a:srgbClr val="000000"/>
              </a:buClr>
              <a:buSzPct val="45000"/>
              <a:buFont typeface="Wingdings" charset="2"/>
              <a:buChar char=""/>
            </a:pPr>
            <a:r>
              <a:rPr lang="en-IN" sz="1800" b="0" strike="noStrike" spc="-1" dirty="0">
                <a:latin typeface="Arial"/>
              </a:rPr>
              <a:t>Generating reports</a:t>
            </a:r>
          </a:p>
          <a:p>
            <a:pPr marL="216000" indent="-216000">
              <a:buClr>
                <a:srgbClr val="000000"/>
              </a:buClr>
              <a:buSzPct val="45000"/>
              <a:buFont typeface="Wingdings" charset="2"/>
              <a:buChar char=""/>
            </a:pPr>
            <a:r>
              <a:rPr lang="en-IN" sz="1800" b="0" strike="noStrike" spc="-1" dirty="0">
                <a:latin typeface="Arial"/>
              </a:rPr>
              <a:t>Identifying simple patterns</a:t>
            </a:r>
          </a:p>
          <a:p>
            <a:pPr marL="216000" indent="-216000">
              <a:buClr>
                <a:srgbClr val="000000"/>
              </a:buClr>
              <a:buSzPct val="45000"/>
              <a:buFont typeface="Wingdings" charset="2"/>
              <a:buChar char=""/>
            </a:pPr>
            <a:r>
              <a:rPr lang="en-IN" sz="1800" b="0" strike="noStrike" spc="-1" dirty="0">
                <a:latin typeface="Arial"/>
              </a:rPr>
              <a:t>Visualizing historical performance</a:t>
            </a:r>
          </a:p>
          <a:p>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r>
              <a:rPr lang="en-IN" sz="1800" b="0" strike="noStrike" spc="-1" dirty="0">
                <a:latin typeface="Arial"/>
              </a:rPr>
              <a:t>Basic analytics generally helps an organization understand its past and present situation.</a:t>
            </a:r>
          </a:p>
        </p:txBody>
      </p:sp>
      <p:sp>
        <p:nvSpPr>
          <p:cNvPr id="320" name="TextShape 3"/>
          <p:cNvSpPr txBox="1"/>
          <p:nvPr/>
        </p:nvSpPr>
        <p:spPr>
          <a:xfrm>
            <a:off x="6264000" y="2664000"/>
            <a:ext cx="5256000" cy="3137867"/>
          </a:xfrm>
          <a:prstGeom prst="rect">
            <a:avLst/>
          </a:prstGeom>
          <a:solidFill>
            <a:schemeClr val="accent5">
              <a:lumMod val="40000"/>
              <a:lumOff val="60000"/>
            </a:schemeClr>
          </a:solidFill>
          <a:ln>
            <a:noFill/>
          </a:ln>
        </p:spPr>
        <p:txBody>
          <a:bodyPr wrap="square" lIns="90000" tIns="45000" rIns="90000" bIns="45000">
            <a:spAutoFit/>
          </a:bodyPr>
          <a:lstStyle/>
          <a:p>
            <a:r>
              <a:rPr lang="en-IN" sz="1800" b="1" strike="noStrike" spc="-1" dirty="0">
                <a:latin typeface="Arial"/>
              </a:rPr>
              <a:t>Objectives of Basic Analytics</a:t>
            </a:r>
            <a:endParaRPr lang="en-IN" sz="1800" b="0" strike="noStrike" spc="-1" dirty="0">
              <a:latin typeface="Arial"/>
            </a:endParaRPr>
          </a:p>
          <a:p>
            <a:endParaRPr lang="en-IN" sz="1800" b="0" strike="noStrike" spc="-1" dirty="0">
              <a:latin typeface="Arial"/>
            </a:endParaRPr>
          </a:p>
          <a:p>
            <a:r>
              <a:rPr lang="en-IN" sz="1800" b="0" strike="noStrike" spc="-1" dirty="0">
                <a:latin typeface="Arial"/>
              </a:rPr>
              <a:t>The major objectives are:</a:t>
            </a:r>
          </a:p>
          <a:p>
            <a:pPr marL="216000" indent="-216000">
              <a:buClr>
                <a:srgbClr val="000000"/>
              </a:buClr>
              <a:buSzPct val="45000"/>
              <a:buFont typeface="Wingdings" charset="2"/>
              <a:buChar char=""/>
            </a:pPr>
            <a:endParaRPr lang="en-IN" sz="1800" b="0" strike="noStrike" spc="-1" dirty="0">
              <a:latin typeface="Arial"/>
            </a:endParaRPr>
          </a:p>
          <a:p>
            <a:pPr marL="216000" indent="-216000">
              <a:buClr>
                <a:srgbClr val="000000"/>
              </a:buClr>
              <a:buSzPct val="45000"/>
              <a:buFont typeface="Wingdings" charset="2"/>
              <a:buChar char=""/>
            </a:pPr>
            <a:r>
              <a:rPr lang="en-IN" sz="1800" b="0" strike="noStrike" spc="-1" dirty="0">
                <a:latin typeface="Arial"/>
              </a:rPr>
              <a:t>To understand historical business performance.</a:t>
            </a:r>
          </a:p>
          <a:p>
            <a:pPr marL="216000" indent="-216000">
              <a:buClr>
                <a:srgbClr val="000000"/>
              </a:buClr>
              <a:buSzPct val="45000"/>
              <a:buFont typeface="Wingdings" charset="2"/>
              <a:buChar char=""/>
            </a:pPr>
            <a:r>
              <a:rPr lang="en-IN" sz="1800" b="0" strike="noStrike" spc="-1" dirty="0">
                <a:latin typeface="Arial"/>
              </a:rPr>
              <a:t>To summarize large quantities of data.</a:t>
            </a:r>
          </a:p>
          <a:p>
            <a:pPr marL="216000" indent="-216000">
              <a:buClr>
                <a:srgbClr val="000000"/>
              </a:buClr>
              <a:buSzPct val="45000"/>
              <a:buFont typeface="Wingdings" charset="2"/>
              <a:buChar char=""/>
            </a:pPr>
            <a:r>
              <a:rPr lang="en-IN" sz="1800" b="0" strike="noStrike" spc="-1" dirty="0">
                <a:latin typeface="Arial"/>
              </a:rPr>
              <a:t>To identify trends and patterns.</a:t>
            </a:r>
          </a:p>
          <a:p>
            <a:pPr marL="216000" indent="-216000">
              <a:buClr>
                <a:srgbClr val="000000"/>
              </a:buClr>
              <a:buSzPct val="45000"/>
              <a:buFont typeface="Wingdings" charset="2"/>
              <a:buChar char=""/>
            </a:pPr>
            <a:r>
              <a:rPr lang="en-IN" sz="1800" b="0" strike="noStrike" spc="-1" dirty="0">
                <a:latin typeface="Arial"/>
              </a:rPr>
              <a:t>To support routine managerial decisions.</a:t>
            </a:r>
          </a:p>
          <a:p>
            <a:pPr marL="216000" indent="-216000">
              <a:buClr>
                <a:srgbClr val="000000"/>
              </a:buClr>
              <a:buSzPct val="45000"/>
              <a:buFont typeface="Wingdings" charset="2"/>
              <a:buChar char=""/>
            </a:pPr>
            <a:r>
              <a:rPr lang="en-IN" sz="1800" b="0" strike="noStrike" spc="-1" dirty="0">
                <a:latin typeface="Arial"/>
              </a:rPr>
              <a:t>To monitor Key Performance Indicators (KPIs).</a:t>
            </a:r>
          </a:p>
          <a:p>
            <a:pPr marL="216000" indent="-216000">
              <a:buClr>
                <a:srgbClr val="000000"/>
              </a:buClr>
              <a:buSzPct val="45000"/>
              <a:buFont typeface="Wingdings" charset="2"/>
              <a:buChar char=""/>
            </a:pPr>
            <a:r>
              <a:rPr lang="en-IN" sz="1800" b="0" strike="noStrike" spc="-1" dirty="0">
                <a:latin typeface="Arial"/>
              </a:rPr>
              <a:t>To provide information through reports and dashboards.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extShape 1"/>
          <p:cNvSpPr txBox="1"/>
          <p:nvPr/>
        </p:nvSpPr>
        <p:spPr>
          <a:xfrm>
            <a:off x="0" y="6629400"/>
            <a:ext cx="410040" cy="228240"/>
          </a:xfrm>
          <a:prstGeom prst="rect">
            <a:avLst/>
          </a:prstGeom>
          <a:noFill/>
          <a:ln>
            <a:noFill/>
          </a:ln>
        </p:spPr>
        <p:txBody>
          <a:bodyPr anchor="ctr">
            <a:noAutofit/>
          </a:bodyPr>
          <a:lstStyle/>
          <a:p>
            <a:pPr algn="r">
              <a:lnSpc>
                <a:spcPct val="100000"/>
              </a:lnSpc>
            </a:pPr>
            <a:fld id="{70480798-8330-462B-96EA-B81248666094}" type="slidenum">
              <a:rPr lang="en-IN" sz="1100" b="0" strike="noStrike" spc="-1">
                <a:solidFill>
                  <a:srgbClr val="455500"/>
                </a:solidFill>
                <a:latin typeface="Corbel"/>
              </a:rPr>
              <a:t>20</a:t>
            </a:fld>
            <a:endParaRPr lang="en-IN" sz="1100" b="0" strike="noStrike" spc="-1">
              <a:latin typeface="Times New Roman"/>
            </a:endParaRPr>
          </a:p>
        </p:txBody>
      </p:sp>
      <p:sp>
        <p:nvSpPr>
          <p:cNvPr id="322" name="TextShape 2"/>
          <p:cNvSpPr txBox="1"/>
          <p:nvPr/>
        </p:nvSpPr>
        <p:spPr>
          <a:xfrm>
            <a:off x="360000" y="374400"/>
            <a:ext cx="11160000" cy="3929760"/>
          </a:xfrm>
          <a:prstGeom prst="rect">
            <a:avLst/>
          </a:prstGeom>
          <a:noFill/>
          <a:ln>
            <a:noFill/>
          </a:ln>
        </p:spPr>
        <p:txBody>
          <a:bodyPr lIns="90000" tIns="45000" rIns="90000" bIns="45000">
            <a:spAutoFit/>
          </a:bodyPr>
          <a:lstStyle/>
          <a:p>
            <a:r>
              <a:rPr lang="en-IN" sz="1800" b="1" strike="noStrike" spc="-1" dirty="0">
                <a:latin typeface="Arial"/>
              </a:rPr>
              <a:t>BASIC ANALYTICS     :   Techniques Used</a:t>
            </a:r>
            <a:endParaRPr lang="en-IN" sz="1800" b="0" strike="noStrike" spc="-1" dirty="0">
              <a:latin typeface="Arial"/>
            </a:endParaRPr>
          </a:p>
          <a:p>
            <a:endParaRPr lang="en-IN" sz="1800" b="0" strike="noStrike" spc="-1" dirty="0">
              <a:latin typeface="Arial"/>
            </a:endParaRPr>
          </a:p>
          <a:p>
            <a:r>
              <a:rPr lang="en-IN" sz="1800" b="0" strike="noStrike" spc="-1" dirty="0">
                <a:latin typeface="Arial"/>
              </a:rPr>
              <a:t>Basic Analytics commonly uses:</a:t>
            </a:r>
          </a:p>
          <a:p>
            <a:pPr marL="216000" indent="-216000">
              <a:buClr>
                <a:srgbClr val="000000"/>
              </a:buClr>
              <a:buSzPct val="45000"/>
              <a:buFont typeface="Wingdings" charset="2"/>
              <a:buChar char=""/>
            </a:pPr>
            <a:endParaRPr lang="en-IN" sz="1800" b="0" strike="noStrike" spc="-1" dirty="0">
              <a:latin typeface="Arial"/>
            </a:endParaRPr>
          </a:p>
          <a:p>
            <a:pPr marL="216000" indent="-216000">
              <a:buClr>
                <a:srgbClr val="000000"/>
              </a:buClr>
              <a:buSzPct val="45000"/>
              <a:buFont typeface="Wingdings" charset="2"/>
              <a:buChar char=""/>
            </a:pPr>
            <a:r>
              <a:rPr lang="en-IN" sz="1800" b="0" strike="noStrike" spc="-1" dirty="0">
                <a:latin typeface="Arial"/>
              </a:rPr>
              <a:t>Reporting</a:t>
            </a:r>
          </a:p>
          <a:p>
            <a:pPr marL="216000" indent="-216000">
              <a:buClr>
                <a:srgbClr val="000000"/>
              </a:buClr>
              <a:buSzPct val="45000"/>
              <a:buFont typeface="Wingdings" charset="2"/>
              <a:buChar char=""/>
            </a:pPr>
            <a:r>
              <a:rPr lang="en-IN" sz="1800" b="0" strike="noStrike" spc="-1" dirty="0">
                <a:latin typeface="Arial"/>
              </a:rPr>
              <a:t>Querying</a:t>
            </a:r>
          </a:p>
          <a:p>
            <a:pPr marL="216000" indent="-216000">
              <a:buClr>
                <a:srgbClr val="000000"/>
              </a:buClr>
              <a:buSzPct val="45000"/>
              <a:buFont typeface="Wingdings" charset="2"/>
              <a:buChar char=""/>
            </a:pPr>
            <a:r>
              <a:rPr lang="en-IN" sz="1800" b="0" strike="noStrike" spc="-1" dirty="0">
                <a:latin typeface="Arial"/>
              </a:rPr>
              <a:t>Dashboards</a:t>
            </a:r>
          </a:p>
          <a:p>
            <a:pPr marL="216000" indent="-216000">
              <a:buClr>
                <a:srgbClr val="000000"/>
              </a:buClr>
              <a:buSzPct val="45000"/>
              <a:buFont typeface="Wingdings" charset="2"/>
              <a:buChar char=""/>
            </a:pPr>
            <a:r>
              <a:rPr lang="en-IN" sz="1800" b="0" strike="noStrike" spc="-1" dirty="0">
                <a:latin typeface="Arial"/>
              </a:rPr>
              <a:t>Data visualization</a:t>
            </a:r>
          </a:p>
          <a:p>
            <a:pPr marL="216000" indent="-216000">
              <a:buClr>
                <a:srgbClr val="000000"/>
              </a:buClr>
              <a:buSzPct val="45000"/>
              <a:buFont typeface="Wingdings" charset="2"/>
              <a:buChar char=""/>
            </a:pPr>
            <a:r>
              <a:rPr lang="en-IN" sz="1800" b="0" strike="noStrike" spc="-1" dirty="0">
                <a:latin typeface="Arial"/>
              </a:rPr>
              <a:t>Descriptive statistics</a:t>
            </a:r>
          </a:p>
          <a:p>
            <a:pPr marL="216000" indent="-216000">
              <a:buClr>
                <a:srgbClr val="000000"/>
              </a:buClr>
              <a:buSzPct val="45000"/>
              <a:buFont typeface="Wingdings" charset="2"/>
              <a:buChar char=""/>
            </a:pPr>
            <a:r>
              <a:rPr lang="en-IN" sz="1800" b="0" strike="noStrike" spc="-1" dirty="0">
                <a:latin typeface="Arial"/>
              </a:rPr>
              <a:t>Aggregation</a:t>
            </a:r>
          </a:p>
          <a:p>
            <a:pPr marL="216000" indent="-216000">
              <a:buClr>
                <a:srgbClr val="000000"/>
              </a:buClr>
              <a:buSzPct val="45000"/>
              <a:buFont typeface="Wingdings" charset="2"/>
              <a:buChar char=""/>
            </a:pPr>
            <a:r>
              <a:rPr lang="en-IN" sz="1800" b="0" strike="noStrike" spc="-1" dirty="0">
                <a:latin typeface="Arial"/>
              </a:rPr>
              <a:t>OLAP</a:t>
            </a:r>
          </a:p>
          <a:p>
            <a:pPr marL="216000" indent="-216000">
              <a:buClr>
                <a:srgbClr val="000000"/>
              </a:buClr>
              <a:buSzPct val="45000"/>
              <a:buFont typeface="Wingdings" charset="2"/>
              <a:buChar char=""/>
            </a:pPr>
            <a:r>
              <a:rPr lang="en-IN" sz="1800" b="0" strike="noStrike" spc="-1" dirty="0">
                <a:latin typeface="Arial"/>
              </a:rPr>
              <a:t>Drill-down</a:t>
            </a:r>
          </a:p>
          <a:p>
            <a:pPr marL="216000" indent="-216000">
              <a:buClr>
                <a:srgbClr val="000000"/>
              </a:buClr>
              <a:buSzPct val="45000"/>
              <a:buFont typeface="Wingdings" charset="2"/>
              <a:buChar char=""/>
            </a:pPr>
            <a:r>
              <a:rPr lang="en-IN" sz="1800" b="0" strike="noStrike" spc="-1" dirty="0">
                <a:latin typeface="Arial"/>
              </a:rPr>
              <a:t>Roll-up</a:t>
            </a:r>
          </a:p>
          <a:p>
            <a:pPr marL="216000" indent="-216000">
              <a:buClr>
                <a:srgbClr val="000000"/>
              </a:buClr>
              <a:buSzPct val="45000"/>
              <a:buFont typeface="Wingdings" charset="2"/>
              <a:buChar char=""/>
            </a:pPr>
            <a:r>
              <a:rPr lang="en-IN" sz="1800" b="0" strike="noStrike" spc="-1" dirty="0">
                <a:latin typeface="Arial"/>
              </a:rPr>
              <a:t>Slice and dice</a:t>
            </a:r>
          </a:p>
          <a:p>
            <a:endParaRPr lang="en-IN" sz="1800" b="0" strike="noStrike" spc="-1" dirty="0">
              <a:latin typeface="Arial"/>
            </a:endParaRPr>
          </a:p>
        </p:txBody>
      </p:sp>
      <p:sp>
        <p:nvSpPr>
          <p:cNvPr id="323" name="TextShape 3"/>
          <p:cNvSpPr txBox="1"/>
          <p:nvPr/>
        </p:nvSpPr>
        <p:spPr>
          <a:xfrm>
            <a:off x="4968000" y="1822320"/>
            <a:ext cx="7056000" cy="4441680"/>
          </a:xfrm>
          <a:prstGeom prst="rect">
            <a:avLst/>
          </a:prstGeom>
          <a:solidFill>
            <a:schemeClr val="accent5">
              <a:lumMod val="40000"/>
              <a:lumOff val="60000"/>
            </a:schemeClr>
          </a:solidFill>
          <a:ln>
            <a:noFill/>
          </a:ln>
        </p:spPr>
        <p:txBody>
          <a:bodyPr lIns="90000" tIns="45000" rIns="90000" bIns="45000">
            <a:spAutoFit/>
          </a:bodyPr>
          <a:lstStyle/>
          <a:p>
            <a:pPr>
              <a:lnSpc>
                <a:spcPct val="100000"/>
              </a:lnSpc>
            </a:pPr>
            <a:r>
              <a:rPr lang="en-IN" sz="1800" b="1" strike="noStrike" spc="-1" dirty="0">
                <a:latin typeface="Arial"/>
              </a:rPr>
              <a:t>Example</a:t>
            </a:r>
            <a:endParaRPr lang="en-IN" sz="1800" b="0" strike="noStrike" spc="-1" dirty="0">
              <a:latin typeface="Arial"/>
            </a:endParaRPr>
          </a:p>
          <a:p>
            <a:pPr>
              <a:lnSpc>
                <a:spcPct val="100000"/>
              </a:lnSpc>
            </a:pPr>
            <a:endParaRPr lang="en-IN" sz="1800" b="0" strike="noStrike" spc="-1" dirty="0">
              <a:latin typeface="Arial"/>
            </a:endParaRPr>
          </a:p>
          <a:p>
            <a:pPr>
              <a:lnSpc>
                <a:spcPct val="100000"/>
              </a:lnSpc>
            </a:pPr>
            <a:r>
              <a:rPr lang="en-IN" sz="1800" b="0" strike="noStrike" spc="-1" dirty="0">
                <a:latin typeface="Arial"/>
              </a:rPr>
              <a:t>A retail manager wants to know:</a:t>
            </a:r>
          </a:p>
          <a:p>
            <a:pPr>
              <a:lnSpc>
                <a:spcPct val="100000"/>
              </a:lnSpc>
            </a:pPr>
            <a:endParaRPr lang="en-IN" sz="1800" b="0" strike="noStrike" spc="-1" dirty="0">
              <a:latin typeface="Arial"/>
            </a:endParaRPr>
          </a:p>
          <a:p>
            <a:pPr>
              <a:lnSpc>
                <a:spcPct val="100000"/>
              </a:lnSpc>
            </a:pPr>
            <a:r>
              <a:rPr lang="en-IN" sz="1800" b="0" strike="noStrike" spc="-1" dirty="0">
                <a:latin typeface="Arial"/>
              </a:rPr>
              <a:t>Total sales in 2025</a:t>
            </a:r>
          </a:p>
          <a:p>
            <a:pPr>
              <a:lnSpc>
                <a:spcPct val="100000"/>
              </a:lnSpc>
            </a:pPr>
            <a:r>
              <a:rPr lang="en-IN" sz="1800" b="0" strike="noStrike" spc="-1" dirty="0">
                <a:latin typeface="Arial"/>
              </a:rPr>
              <a:t>Sales by region</a:t>
            </a:r>
          </a:p>
          <a:p>
            <a:pPr>
              <a:lnSpc>
                <a:spcPct val="100000"/>
              </a:lnSpc>
            </a:pPr>
            <a:r>
              <a:rPr lang="en-IN" sz="1800" b="0" strike="noStrike" spc="-1" dirty="0">
                <a:latin typeface="Arial"/>
              </a:rPr>
              <a:t>Best-selling product</a:t>
            </a:r>
          </a:p>
          <a:p>
            <a:pPr>
              <a:lnSpc>
                <a:spcPct val="100000"/>
              </a:lnSpc>
            </a:pPr>
            <a:r>
              <a:rPr lang="en-IN" sz="1800" b="0" strike="noStrike" spc="-1" dirty="0">
                <a:latin typeface="Arial"/>
              </a:rPr>
              <a:t>Monthly revenue</a:t>
            </a:r>
          </a:p>
          <a:p>
            <a:pPr>
              <a:lnSpc>
                <a:spcPct val="100000"/>
              </a:lnSpc>
            </a:pPr>
            <a:r>
              <a:rPr lang="en-IN" sz="1800" b="0" strike="noStrike" spc="-1" dirty="0">
                <a:latin typeface="Arial"/>
              </a:rPr>
              <a:t>Number of customers</a:t>
            </a:r>
          </a:p>
          <a:p>
            <a:pPr>
              <a:lnSpc>
                <a:spcPct val="100000"/>
              </a:lnSpc>
            </a:pPr>
            <a:endParaRPr lang="en-IN" sz="1800" b="0" strike="noStrike" spc="-1" dirty="0">
              <a:latin typeface="Arial"/>
            </a:endParaRPr>
          </a:p>
          <a:p>
            <a:pPr>
              <a:lnSpc>
                <a:spcPct val="100000"/>
              </a:lnSpc>
            </a:pPr>
            <a:r>
              <a:rPr lang="en-IN" sz="1800" b="0" strike="noStrike" spc="-1" dirty="0">
                <a:latin typeface="Arial"/>
              </a:rPr>
              <a:t>A dashboard can provide all this information.</a:t>
            </a:r>
          </a:p>
          <a:p>
            <a:pPr>
              <a:lnSpc>
                <a:spcPct val="100000"/>
              </a:lnSpc>
            </a:pPr>
            <a:endParaRPr lang="en-IN" sz="1800" b="0" strike="noStrike" spc="-1" dirty="0">
              <a:latin typeface="Arial"/>
            </a:endParaRPr>
          </a:p>
          <a:p>
            <a:pPr>
              <a:lnSpc>
                <a:spcPct val="100000"/>
              </a:lnSpc>
            </a:pPr>
            <a:r>
              <a:rPr lang="en-IN" sz="1800" b="0" strike="noStrike" spc="-1" dirty="0">
                <a:latin typeface="Arial"/>
              </a:rPr>
              <a:t>This is Basic Analytics because the objective is to understand existing performance rather than predict future </a:t>
            </a:r>
            <a:r>
              <a:rPr lang="en-IN" sz="1800" b="0" strike="noStrike" spc="-1" dirty="0" err="1">
                <a:latin typeface="Arial"/>
              </a:rPr>
              <a:t>behavior</a:t>
            </a:r>
            <a:r>
              <a:rPr lang="en-IN" sz="1800" b="0" strike="noStrike" spc="-1" dirty="0">
                <a:latin typeface="Arial"/>
              </a:rPr>
              <a:t>.</a:t>
            </a:r>
          </a:p>
          <a:p>
            <a:pPr>
              <a:lnSpc>
                <a:spcPct val="100000"/>
              </a:lnSpc>
            </a:pPr>
            <a:endParaRPr lang="en-IN" sz="1800" b="0" strike="noStrike" spc="-1" dirty="0">
              <a:latin typeface="Arial"/>
            </a:endParaRPr>
          </a:p>
          <a:p>
            <a:endParaRPr lang="en-IN" sz="18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TextShape 1"/>
          <p:cNvSpPr txBox="1"/>
          <p:nvPr/>
        </p:nvSpPr>
        <p:spPr>
          <a:xfrm>
            <a:off x="0" y="6629400"/>
            <a:ext cx="410040" cy="228240"/>
          </a:xfrm>
          <a:prstGeom prst="rect">
            <a:avLst/>
          </a:prstGeom>
          <a:noFill/>
          <a:ln>
            <a:noFill/>
          </a:ln>
        </p:spPr>
        <p:txBody>
          <a:bodyPr anchor="ctr">
            <a:noAutofit/>
          </a:bodyPr>
          <a:lstStyle/>
          <a:p>
            <a:pPr algn="r">
              <a:lnSpc>
                <a:spcPct val="100000"/>
              </a:lnSpc>
            </a:pPr>
            <a:fld id="{CDDC46BF-FBD1-4E8A-BDA0-98993F851910}" type="slidenum">
              <a:rPr lang="en-IN" sz="1100" b="0" strike="noStrike" spc="-1">
                <a:solidFill>
                  <a:srgbClr val="455500"/>
                </a:solidFill>
                <a:latin typeface="Corbel"/>
              </a:rPr>
              <a:t>21</a:t>
            </a:fld>
            <a:endParaRPr lang="en-IN" sz="1100" b="0" strike="noStrike" spc="-1">
              <a:latin typeface="Times New Roman"/>
            </a:endParaRPr>
          </a:p>
        </p:txBody>
      </p:sp>
      <p:sp>
        <p:nvSpPr>
          <p:cNvPr id="325" name="TextShape 2"/>
          <p:cNvSpPr txBox="1"/>
          <p:nvPr/>
        </p:nvSpPr>
        <p:spPr>
          <a:xfrm>
            <a:off x="72000" y="216000"/>
            <a:ext cx="11160000" cy="5907856"/>
          </a:xfrm>
          <a:prstGeom prst="rect">
            <a:avLst/>
          </a:prstGeom>
          <a:noFill/>
          <a:ln>
            <a:noFill/>
          </a:ln>
        </p:spPr>
        <p:txBody>
          <a:bodyPr lIns="90000" tIns="45000" rIns="90000" bIns="45000">
            <a:spAutoFit/>
          </a:bodyPr>
          <a:lstStyle/>
          <a:p>
            <a:pPr algn="ctr"/>
            <a:r>
              <a:rPr lang="en-IN" sz="1800" b="1" strike="noStrike" spc="-1" dirty="0">
                <a:latin typeface="Arial"/>
              </a:rPr>
              <a:t>ADVANCED ANALYTICS</a:t>
            </a:r>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r>
              <a:rPr lang="en-IN" sz="1800" b="0" strike="noStrike" spc="-1" dirty="0">
                <a:latin typeface="Arial"/>
              </a:rPr>
              <a:t>Advanced Analytics uses sophisticated statistical, mathematical and computational techniques to discover deeper insights from data.</a:t>
            </a:r>
          </a:p>
          <a:p>
            <a:endParaRPr lang="en-IN" sz="1800" b="0" strike="noStrike" spc="-1" dirty="0">
              <a:latin typeface="Arial"/>
            </a:endParaRPr>
          </a:p>
          <a:p>
            <a:r>
              <a:rPr lang="en-IN" sz="1800" b="0" strike="noStrike" spc="-1" dirty="0">
                <a:latin typeface="Arial"/>
              </a:rPr>
              <a:t>It goes beyond simple reporting.</a:t>
            </a:r>
          </a:p>
          <a:p>
            <a:pPr algn="ctr"/>
            <a:endParaRPr lang="en-IN" sz="1800" b="0" strike="noStrike" spc="-1" dirty="0">
              <a:latin typeface="Arial"/>
            </a:endParaRPr>
          </a:p>
          <a:p>
            <a:pPr algn="ctr"/>
            <a:endParaRPr lang="en-IN" sz="1800" b="1" strike="noStrike" spc="-1" dirty="0">
              <a:latin typeface="Arial"/>
            </a:endParaRPr>
          </a:p>
          <a:p>
            <a:pPr algn="ctr"/>
            <a:endParaRPr lang="en-IN" b="1" spc="-1" dirty="0">
              <a:latin typeface="Arial"/>
            </a:endParaRPr>
          </a:p>
          <a:p>
            <a:pPr algn="ctr"/>
            <a:endParaRPr lang="en-IN" sz="1800" b="1" strike="noStrike" spc="-1" dirty="0">
              <a:latin typeface="Arial"/>
            </a:endParaRPr>
          </a:p>
          <a:p>
            <a:pPr algn="ctr"/>
            <a:r>
              <a:rPr lang="en-IN" sz="1800" b="1" strike="noStrike" spc="-1" dirty="0">
                <a:latin typeface="Arial"/>
              </a:rPr>
              <a:t>Characteristics of Advanced Analytics:</a:t>
            </a:r>
            <a:endParaRPr lang="en-IN" sz="1800" b="0" strike="noStrike" spc="-1" dirty="0">
              <a:latin typeface="Arial"/>
            </a:endParaRPr>
          </a:p>
          <a:p>
            <a:pPr algn="ctr"/>
            <a:endParaRPr lang="en-IN" sz="1800" b="0" strike="noStrike" spc="-1" dirty="0">
              <a:latin typeface="Arial"/>
            </a:endParaRPr>
          </a:p>
          <a:p>
            <a:pPr marL="216000" indent="-216000" algn="ctr">
              <a:buClr>
                <a:srgbClr val="000000"/>
              </a:buClr>
              <a:buSzPct val="45000"/>
              <a:buFont typeface="Wingdings" charset="2"/>
              <a:buChar char=""/>
            </a:pPr>
            <a:r>
              <a:rPr lang="en-IN" sz="1800" b="0" strike="noStrike" spc="-1" dirty="0">
                <a:latin typeface="Arial"/>
              </a:rPr>
              <a:t>Uses sophisticated analytical techniques.</a:t>
            </a:r>
          </a:p>
          <a:p>
            <a:pPr marL="216000" indent="-216000" algn="ctr">
              <a:buClr>
                <a:srgbClr val="000000"/>
              </a:buClr>
              <a:buSzPct val="45000"/>
              <a:buFont typeface="Wingdings" charset="2"/>
              <a:buChar char=""/>
            </a:pPr>
            <a:r>
              <a:rPr lang="en-IN" sz="1800" b="0" strike="noStrike" spc="-1" dirty="0">
                <a:latin typeface="Arial"/>
              </a:rPr>
              <a:t>Can work with large and complex datasets.</a:t>
            </a:r>
          </a:p>
          <a:p>
            <a:pPr marL="216000" indent="-216000" algn="ctr">
              <a:buClr>
                <a:srgbClr val="000000"/>
              </a:buClr>
              <a:buSzPct val="45000"/>
              <a:buFont typeface="Wingdings" charset="2"/>
              <a:buChar char=""/>
            </a:pPr>
            <a:r>
              <a:rPr lang="en-IN" sz="1800" b="0" strike="noStrike" spc="-1" dirty="0">
                <a:latin typeface="Arial"/>
              </a:rPr>
              <a:t>Identifies hidden relationships.</a:t>
            </a:r>
          </a:p>
          <a:p>
            <a:pPr marL="216000" indent="-216000" algn="ctr">
              <a:buClr>
                <a:srgbClr val="000000"/>
              </a:buClr>
              <a:buSzPct val="45000"/>
              <a:buFont typeface="Wingdings" charset="2"/>
              <a:buChar char=""/>
            </a:pPr>
            <a:r>
              <a:rPr lang="en-IN" sz="1800" b="0" strike="noStrike" spc="-1" dirty="0">
                <a:latin typeface="Arial"/>
              </a:rPr>
              <a:t>Predicts future events.</a:t>
            </a:r>
          </a:p>
          <a:p>
            <a:pPr marL="216000" indent="-216000" algn="ctr">
              <a:buClr>
                <a:srgbClr val="000000"/>
              </a:buClr>
              <a:buSzPct val="45000"/>
              <a:buFont typeface="Wingdings" charset="2"/>
              <a:buChar char=""/>
            </a:pPr>
            <a:r>
              <a:rPr lang="en-IN" sz="1800" b="0" strike="noStrike" spc="-1" dirty="0">
                <a:latin typeface="Arial"/>
              </a:rPr>
              <a:t>Supports complex decision-making.</a:t>
            </a:r>
          </a:p>
          <a:p>
            <a:pPr marL="216000" indent="-216000" algn="ctr">
              <a:buClr>
                <a:srgbClr val="000000"/>
              </a:buClr>
              <a:buSzPct val="45000"/>
              <a:buFont typeface="Wingdings" charset="2"/>
              <a:buChar char=""/>
            </a:pPr>
            <a:r>
              <a:rPr lang="en-IN" sz="1800" b="0" strike="noStrike" spc="-1" dirty="0">
                <a:latin typeface="Arial"/>
              </a:rPr>
              <a:t>Can use machine learning.</a:t>
            </a:r>
          </a:p>
          <a:p>
            <a:pPr marL="216000" indent="-216000" algn="ctr">
              <a:buClr>
                <a:srgbClr val="000000"/>
              </a:buClr>
              <a:buSzPct val="45000"/>
              <a:buFont typeface="Wingdings" charset="2"/>
              <a:buChar char=""/>
            </a:pPr>
            <a:r>
              <a:rPr lang="en-IN" sz="1800" b="0" strike="noStrike" spc="-1" dirty="0">
                <a:latin typeface="Arial"/>
              </a:rPr>
              <a:t>Can incorporate structured and unstructured data.</a:t>
            </a:r>
          </a:p>
          <a:p>
            <a:endParaRPr lang="en-IN" sz="18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TextShape 1"/>
          <p:cNvSpPr txBox="1"/>
          <p:nvPr/>
        </p:nvSpPr>
        <p:spPr>
          <a:xfrm>
            <a:off x="936000" y="85680"/>
            <a:ext cx="10440000" cy="346320"/>
          </a:xfrm>
          <a:prstGeom prst="rect">
            <a:avLst/>
          </a:prstGeom>
          <a:noFill/>
          <a:ln>
            <a:noFill/>
          </a:ln>
        </p:spPr>
        <p:txBody>
          <a:bodyPr lIns="90000" tIns="45000" rIns="90000" bIns="45000">
            <a:spAutoFit/>
          </a:bodyPr>
          <a:lstStyle/>
          <a:p>
            <a:r>
              <a:rPr lang="en-IN" sz="1800" b="1" strike="noStrike" spc="-1">
                <a:latin typeface="Arial"/>
              </a:rPr>
              <a:t>Types of Advanced Analytics</a:t>
            </a:r>
          </a:p>
        </p:txBody>
      </p:sp>
      <p:graphicFrame>
        <p:nvGraphicFramePr>
          <p:cNvPr id="327" name="Table 2"/>
          <p:cNvGraphicFramePr/>
          <p:nvPr>
            <p:extLst>
              <p:ext uri="{D42A27DB-BD31-4B8C-83A1-F6EECF244321}">
                <p14:modId xmlns:p14="http://schemas.microsoft.com/office/powerpoint/2010/main" val="3212161015"/>
              </p:ext>
            </p:extLst>
          </p:nvPr>
        </p:nvGraphicFramePr>
        <p:xfrm>
          <a:off x="864000" y="609600"/>
          <a:ext cx="10080000" cy="5634713"/>
        </p:xfrm>
        <a:graphic>
          <a:graphicData uri="http://schemas.openxmlformats.org/drawingml/2006/table">
            <a:tbl>
              <a:tblPr/>
              <a:tblGrid>
                <a:gridCol w="3358800">
                  <a:extLst>
                    <a:ext uri="{9D8B030D-6E8A-4147-A177-3AD203B41FA5}">
                      <a16:colId xmlns:a16="http://schemas.microsoft.com/office/drawing/2014/main" val="20000"/>
                    </a:ext>
                  </a:extLst>
                </a:gridCol>
                <a:gridCol w="3358800">
                  <a:extLst>
                    <a:ext uri="{9D8B030D-6E8A-4147-A177-3AD203B41FA5}">
                      <a16:colId xmlns:a16="http://schemas.microsoft.com/office/drawing/2014/main" val="20001"/>
                    </a:ext>
                  </a:extLst>
                </a:gridCol>
                <a:gridCol w="3362400">
                  <a:extLst>
                    <a:ext uri="{9D8B030D-6E8A-4147-A177-3AD203B41FA5}">
                      <a16:colId xmlns:a16="http://schemas.microsoft.com/office/drawing/2014/main" val="20002"/>
                    </a:ext>
                  </a:extLst>
                </a:gridCol>
              </a:tblGrid>
              <a:tr h="5634713">
                <a:tc>
                  <a:txBody>
                    <a:bodyPr/>
                    <a:lstStyle/>
                    <a:p>
                      <a:endParaRPr lang="en-IN" sz="1800" b="0" strike="noStrike" spc="-1" dirty="0">
                        <a:latin typeface="Arial"/>
                      </a:endParaRPr>
                    </a:p>
                    <a:p>
                      <a:r>
                        <a:rPr lang="en-IN" sz="1800" b="0" strike="noStrike" spc="-1" dirty="0">
                          <a:latin typeface="Arial"/>
                        </a:rPr>
                        <a:t>A.</a:t>
                      </a:r>
                      <a:r>
                        <a:rPr lang="en-IN" sz="1800" b="1" strike="noStrike" spc="-1" dirty="0">
                          <a:latin typeface="Arial"/>
                        </a:rPr>
                        <a:t> Diagnostic Analytics</a:t>
                      </a:r>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r>
                        <a:rPr lang="en-IN" sz="1800" b="0" strike="noStrike" spc="-1" dirty="0">
                          <a:latin typeface="Arial"/>
                        </a:rPr>
                        <a:t>Why did it happen?</a:t>
                      </a:r>
                    </a:p>
                    <a:p>
                      <a:endParaRPr lang="en-IN" sz="1800" b="0" strike="noStrike" spc="-1" dirty="0">
                        <a:latin typeface="Arial"/>
                      </a:endParaRPr>
                    </a:p>
                    <a:p>
                      <a:r>
                        <a:rPr lang="en-IN" sz="1800" b="1" strike="noStrike" spc="-1" dirty="0">
                          <a:latin typeface="Arial"/>
                        </a:rPr>
                        <a:t>Example:</a:t>
                      </a:r>
                    </a:p>
                    <a:p>
                      <a:endParaRPr lang="en-IN" sz="1800" b="0" strike="noStrike" spc="-1" dirty="0">
                        <a:latin typeface="Arial"/>
                      </a:endParaRPr>
                    </a:p>
                    <a:p>
                      <a:r>
                        <a:rPr lang="en-IN" sz="1800" b="0" strike="noStrike" spc="-1" dirty="0">
                          <a:latin typeface="Arial"/>
                        </a:rPr>
                        <a:t>Sales decreased by 15%.</a:t>
                      </a:r>
                    </a:p>
                    <a:p>
                      <a:endParaRPr lang="en-IN" sz="1800" b="0" strike="noStrike" spc="-1" dirty="0">
                        <a:latin typeface="Arial"/>
                      </a:endParaRPr>
                    </a:p>
                    <a:p>
                      <a:r>
                        <a:rPr lang="en-IN" sz="1800" b="0" strike="noStrike" spc="-1" dirty="0">
                          <a:latin typeface="Arial"/>
                        </a:rPr>
                        <a:t>Diagnostic analysis may identify:</a:t>
                      </a:r>
                    </a:p>
                    <a:p>
                      <a:endParaRPr lang="en-IN" sz="1800" b="0" strike="noStrike" spc="-1" dirty="0">
                        <a:latin typeface="Arial"/>
                      </a:endParaRPr>
                    </a:p>
                    <a:p>
                      <a:r>
                        <a:rPr lang="en-IN" sz="1800" b="0" strike="noStrike" spc="-1" dirty="0">
                          <a:latin typeface="Arial"/>
                        </a:rPr>
                        <a:t>Competitor introduced a cheaper product.</a:t>
                      </a:r>
                    </a:p>
                    <a:p>
                      <a:r>
                        <a:rPr lang="en-IN" sz="1800" b="0" strike="noStrike" spc="-1" dirty="0">
                          <a:latin typeface="Arial"/>
                        </a:rPr>
                        <a:t>Advertising expenditure decreased.</a:t>
                      </a:r>
                    </a:p>
                    <a:p>
                      <a:r>
                        <a:rPr lang="en-IN" sz="1800" b="0" strike="noStrike" spc="-1" dirty="0">
                          <a:latin typeface="Arial"/>
                        </a:rPr>
                        <a:t>Product availability declined.</a:t>
                      </a:r>
                    </a:p>
                    <a:p>
                      <a:r>
                        <a:rPr lang="en-IN" sz="1800" b="0" strike="noStrike" spc="-1" dirty="0">
                          <a:latin typeface="Arial"/>
                        </a:rPr>
                        <a:t>Customer complaints increased.</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endParaRPr lang="en-IN" sz="1800" b="0" strike="noStrike" spc="-1" dirty="0">
                        <a:latin typeface="Arial"/>
                      </a:endParaRPr>
                    </a:p>
                    <a:p>
                      <a:r>
                        <a:rPr lang="en-IN" sz="1800" b="0" strike="noStrike" spc="-1" dirty="0">
                          <a:latin typeface="Arial"/>
                        </a:rPr>
                        <a:t>B</a:t>
                      </a:r>
                      <a:r>
                        <a:rPr lang="en-IN" sz="1800" b="1" strike="noStrike" spc="-1" dirty="0">
                          <a:latin typeface="Arial"/>
                        </a:rPr>
                        <a:t>. Predictive Analytics</a:t>
                      </a:r>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r>
                        <a:rPr lang="en-IN" sz="1800" b="0" strike="noStrike" spc="-1" dirty="0">
                          <a:latin typeface="Arial"/>
                        </a:rPr>
                        <a:t>What is likely to happen?</a:t>
                      </a:r>
                    </a:p>
                    <a:p>
                      <a:endParaRPr lang="en-IN" sz="1800" b="0" strike="noStrike" spc="-1" dirty="0">
                        <a:latin typeface="Arial"/>
                      </a:endParaRPr>
                    </a:p>
                    <a:p>
                      <a:r>
                        <a:rPr lang="en-IN" sz="1800" b="0" strike="noStrike" spc="-1" dirty="0">
                          <a:latin typeface="Arial"/>
                        </a:rPr>
                        <a:t>It uses historical data to predict future outcomes.</a:t>
                      </a:r>
                    </a:p>
                    <a:p>
                      <a:endParaRPr lang="en-IN" sz="1800" b="0" strike="noStrike" spc="-1" dirty="0">
                        <a:latin typeface="Arial"/>
                      </a:endParaRPr>
                    </a:p>
                    <a:p>
                      <a:r>
                        <a:rPr lang="en-IN" sz="1800" b="1" strike="noStrike" spc="-1" dirty="0">
                          <a:latin typeface="Arial"/>
                        </a:rPr>
                        <a:t>Examples:</a:t>
                      </a:r>
                    </a:p>
                    <a:p>
                      <a:endParaRPr lang="en-IN" sz="1800" b="0" strike="noStrike" spc="-1" dirty="0">
                        <a:latin typeface="Arial"/>
                      </a:endParaRPr>
                    </a:p>
                    <a:p>
                      <a:r>
                        <a:rPr lang="en-IN" sz="1800" b="0" strike="noStrike" spc="-1" dirty="0">
                          <a:latin typeface="Arial"/>
                        </a:rPr>
                        <a:t>Predicting customer churn</a:t>
                      </a:r>
                    </a:p>
                    <a:p>
                      <a:r>
                        <a:rPr lang="en-IN" sz="1800" b="0" strike="noStrike" spc="-1" dirty="0">
                          <a:latin typeface="Arial"/>
                        </a:rPr>
                        <a:t>Predicting sales</a:t>
                      </a:r>
                    </a:p>
                    <a:p>
                      <a:r>
                        <a:rPr lang="en-IN" sz="1800" b="0" strike="noStrike" spc="-1" dirty="0">
                          <a:latin typeface="Arial"/>
                        </a:rPr>
                        <a:t>Predicting fraud</a:t>
                      </a:r>
                    </a:p>
                    <a:p>
                      <a:r>
                        <a:rPr lang="en-IN" sz="1800" b="0" strike="noStrike" spc="-1" dirty="0">
                          <a:latin typeface="Arial"/>
                        </a:rPr>
                        <a:t>Predicting equipment failure</a:t>
                      </a:r>
                    </a:p>
                    <a:p>
                      <a:r>
                        <a:rPr lang="en-IN" sz="1800" b="0" strike="noStrike" spc="-1" dirty="0">
                          <a:latin typeface="Arial"/>
                        </a:rPr>
                        <a:t>Predicting demand</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endParaRPr lang="en-IN" sz="1800" b="0" strike="noStrike" spc="-1" dirty="0">
                        <a:latin typeface="Arial"/>
                      </a:endParaRPr>
                    </a:p>
                    <a:p>
                      <a:r>
                        <a:rPr lang="en-IN" sz="1800" b="0" strike="noStrike" spc="-1" dirty="0">
                          <a:latin typeface="Arial"/>
                        </a:rPr>
                        <a:t>C.</a:t>
                      </a:r>
                      <a:r>
                        <a:rPr lang="en-IN" sz="1800" b="1" strike="noStrike" spc="-1" dirty="0">
                          <a:latin typeface="Arial"/>
                        </a:rPr>
                        <a:t> Prescriptive Analytics</a:t>
                      </a:r>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r>
                        <a:rPr lang="en-IN" sz="1800" b="0" strike="noStrike" spc="-1" dirty="0">
                          <a:latin typeface="Arial"/>
                        </a:rPr>
                        <a:t>What should we do?</a:t>
                      </a:r>
                    </a:p>
                    <a:p>
                      <a:endParaRPr lang="en-IN" sz="1800" b="0" strike="noStrike" spc="-1" dirty="0">
                        <a:latin typeface="Arial"/>
                      </a:endParaRPr>
                    </a:p>
                    <a:p>
                      <a:r>
                        <a:rPr lang="en-IN" sz="1800" b="0" strike="noStrike" spc="-1" dirty="0">
                          <a:latin typeface="Arial"/>
                        </a:rPr>
                        <a:t>Prescriptive analytics recommends an appropriate action.</a:t>
                      </a:r>
                    </a:p>
                    <a:p>
                      <a:endParaRPr lang="en-IN" sz="1800" b="0" strike="noStrike" spc="-1" dirty="0">
                        <a:latin typeface="Arial"/>
                      </a:endParaRPr>
                    </a:p>
                    <a:p>
                      <a:r>
                        <a:rPr lang="en-IN" sz="1800" b="1" strike="noStrike" spc="-1" dirty="0">
                          <a:latin typeface="Arial"/>
                        </a:rPr>
                        <a:t>Example:</a:t>
                      </a:r>
                    </a:p>
                    <a:p>
                      <a:endParaRPr lang="en-IN" sz="1800" b="0" strike="noStrike" spc="-1" dirty="0">
                        <a:latin typeface="Arial"/>
                      </a:endParaRPr>
                    </a:p>
                    <a:p>
                      <a:r>
                        <a:rPr lang="en-IN" sz="1800" b="0" strike="noStrike" spc="-1" dirty="0">
                          <a:latin typeface="Arial"/>
                        </a:rPr>
                        <a:t>A bank predicts that a customer is likely to leave.</a:t>
                      </a:r>
                    </a:p>
                    <a:p>
                      <a:endParaRPr lang="en-IN" sz="1800" b="0" strike="noStrike" spc="-1" dirty="0">
                        <a:latin typeface="Arial"/>
                      </a:endParaRPr>
                    </a:p>
                    <a:p>
                      <a:r>
                        <a:rPr lang="en-IN" sz="1800" b="0" strike="noStrike" spc="-1" dirty="0">
                          <a:latin typeface="Arial"/>
                        </a:rPr>
                        <a:t>The system may recommend:</a:t>
                      </a:r>
                    </a:p>
                    <a:p>
                      <a:endParaRPr lang="en-IN" sz="1800" b="0" strike="noStrike" spc="-1" dirty="0">
                        <a:latin typeface="Arial"/>
                      </a:endParaRPr>
                    </a:p>
                    <a:p>
                      <a:r>
                        <a:rPr lang="en-IN" sz="1800" b="0" strike="noStrike" spc="-1" dirty="0">
                          <a:latin typeface="Arial"/>
                        </a:rPr>
                        <a:t>Provide a customized interest rate or retention offer.</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extShape 1"/>
          <p:cNvSpPr txBox="1"/>
          <p:nvPr/>
        </p:nvSpPr>
        <p:spPr>
          <a:xfrm>
            <a:off x="720000" y="576000"/>
            <a:ext cx="11232000" cy="5465520"/>
          </a:xfrm>
          <a:prstGeom prst="rect">
            <a:avLst/>
          </a:prstGeom>
          <a:noFill/>
          <a:ln>
            <a:noFill/>
          </a:ln>
        </p:spPr>
        <p:txBody>
          <a:bodyPr lIns="90000" tIns="45000" rIns="90000" bIns="45000">
            <a:spAutoFit/>
          </a:bodyPr>
          <a:lstStyle/>
          <a:p>
            <a:r>
              <a:rPr lang="en-IN" sz="1800" b="1" strike="noStrike" spc="-1" dirty="0">
                <a:latin typeface="Arial"/>
              </a:rPr>
              <a:t>Advanced Analytics Techniques</a:t>
            </a:r>
            <a:endParaRPr lang="en-IN" sz="1800" b="0" strike="noStrike" spc="-1" dirty="0">
              <a:latin typeface="Arial"/>
            </a:endParaRPr>
          </a:p>
          <a:p>
            <a:endParaRPr lang="en-IN" sz="1800" b="0" strike="noStrike" spc="-1" dirty="0">
              <a:latin typeface="Arial"/>
            </a:endParaRPr>
          </a:p>
          <a:p>
            <a:r>
              <a:rPr lang="en-IN" sz="1800" b="0" strike="noStrike" spc="-1" dirty="0">
                <a:latin typeface="Arial"/>
              </a:rPr>
              <a:t>Important techniques include:</a:t>
            </a:r>
          </a:p>
          <a:p>
            <a:endParaRPr lang="en-IN" sz="1800" b="0" strike="noStrike" spc="-1" dirty="0">
              <a:latin typeface="Arial"/>
            </a:endParaRPr>
          </a:p>
          <a:p>
            <a:pPr marL="216000" indent="-216000">
              <a:buClr>
                <a:srgbClr val="000000"/>
              </a:buClr>
              <a:buSzPct val="45000"/>
              <a:buFont typeface="Wingdings" charset="2"/>
              <a:buChar char=""/>
            </a:pPr>
            <a:r>
              <a:rPr lang="en-IN" sz="1800" b="0" strike="noStrike" spc="-1" dirty="0">
                <a:latin typeface="Arial"/>
              </a:rPr>
              <a:t>Statistical techniques</a:t>
            </a:r>
          </a:p>
          <a:p>
            <a:pPr marL="216000" indent="-216000">
              <a:buClr>
                <a:srgbClr val="000000"/>
              </a:buClr>
              <a:buSzPct val="45000"/>
              <a:buFont typeface="Wingdings" charset="2"/>
              <a:buChar char=""/>
            </a:pPr>
            <a:r>
              <a:rPr lang="en-IN" sz="1800" b="0" strike="noStrike" spc="-1" dirty="0">
                <a:latin typeface="Arial"/>
              </a:rPr>
              <a:t>Regression</a:t>
            </a:r>
          </a:p>
          <a:p>
            <a:pPr marL="216000" indent="-216000">
              <a:buClr>
                <a:srgbClr val="000000"/>
              </a:buClr>
              <a:buSzPct val="45000"/>
              <a:buFont typeface="Wingdings" charset="2"/>
              <a:buChar char=""/>
            </a:pPr>
            <a:r>
              <a:rPr lang="en-IN" sz="1800" b="0" strike="noStrike" spc="-1" dirty="0">
                <a:latin typeface="Arial"/>
              </a:rPr>
              <a:t>Correlation</a:t>
            </a:r>
          </a:p>
          <a:p>
            <a:pPr marL="216000" indent="-216000">
              <a:buClr>
                <a:srgbClr val="000000"/>
              </a:buClr>
              <a:buSzPct val="45000"/>
              <a:buFont typeface="Wingdings" charset="2"/>
              <a:buChar char=""/>
            </a:pPr>
            <a:r>
              <a:rPr lang="en-IN" sz="1800" b="0" strike="noStrike" spc="-1" dirty="0">
                <a:latin typeface="Arial"/>
              </a:rPr>
              <a:t>Time-series analysis</a:t>
            </a:r>
          </a:p>
          <a:p>
            <a:pPr marL="216000" indent="-216000">
              <a:buClr>
                <a:srgbClr val="000000"/>
              </a:buClr>
              <a:buSzPct val="45000"/>
              <a:buFont typeface="Wingdings" charset="2"/>
              <a:buChar char=""/>
            </a:pPr>
            <a:r>
              <a:rPr lang="en-IN" sz="1800" b="0" strike="noStrike" spc="-1" dirty="0">
                <a:latin typeface="Arial"/>
              </a:rPr>
              <a:t>Data mining</a:t>
            </a:r>
          </a:p>
          <a:p>
            <a:pPr marL="216000" indent="-216000">
              <a:buClr>
                <a:srgbClr val="000000"/>
              </a:buClr>
              <a:buSzPct val="45000"/>
              <a:buFont typeface="Wingdings" charset="2"/>
              <a:buChar char=""/>
            </a:pPr>
            <a:r>
              <a:rPr lang="en-IN" sz="1800" b="0" strike="noStrike" spc="-1" dirty="0">
                <a:latin typeface="Arial"/>
              </a:rPr>
              <a:t>Classification</a:t>
            </a:r>
          </a:p>
          <a:p>
            <a:pPr marL="216000" indent="-216000">
              <a:buClr>
                <a:srgbClr val="000000"/>
              </a:buClr>
              <a:buSzPct val="45000"/>
              <a:buFont typeface="Wingdings" charset="2"/>
              <a:buChar char=""/>
            </a:pPr>
            <a:r>
              <a:rPr lang="en-IN" sz="1800" b="0" strike="noStrike" spc="-1" dirty="0">
                <a:latin typeface="Arial"/>
              </a:rPr>
              <a:t>Clustering</a:t>
            </a:r>
          </a:p>
          <a:p>
            <a:pPr marL="216000" indent="-216000">
              <a:buClr>
                <a:srgbClr val="000000"/>
              </a:buClr>
              <a:buSzPct val="45000"/>
              <a:buFont typeface="Wingdings" charset="2"/>
              <a:buChar char=""/>
            </a:pPr>
            <a:r>
              <a:rPr lang="en-IN" sz="1800" b="0" strike="noStrike" spc="-1" dirty="0">
                <a:latin typeface="Arial"/>
              </a:rPr>
              <a:t>Association analysis</a:t>
            </a:r>
          </a:p>
          <a:p>
            <a:pPr marL="216000" indent="-216000">
              <a:buClr>
                <a:srgbClr val="000000"/>
              </a:buClr>
              <a:buSzPct val="45000"/>
              <a:buFont typeface="Wingdings" charset="2"/>
              <a:buChar char=""/>
            </a:pPr>
            <a:r>
              <a:rPr lang="en-IN" sz="1800" b="0" strike="noStrike" spc="-1" dirty="0">
                <a:latin typeface="Arial"/>
              </a:rPr>
              <a:t>Machine learning</a:t>
            </a:r>
          </a:p>
          <a:p>
            <a:pPr marL="216000" indent="-216000">
              <a:buClr>
                <a:srgbClr val="000000"/>
              </a:buClr>
              <a:buSzPct val="45000"/>
              <a:buFont typeface="Wingdings" charset="2"/>
              <a:buChar char=""/>
            </a:pPr>
            <a:r>
              <a:rPr lang="en-IN" sz="1800" b="0" strike="noStrike" spc="-1" dirty="0">
                <a:latin typeface="Arial"/>
              </a:rPr>
              <a:t>Decision trees</a:t>
            </a:r>
          </a:p>
          <a:p>
            <a:pPr marL="216000" indent="-216000">
              <a:buClr>
                <a:srgbClr val="000000"/>
              </a:buClr>
              <a:buSzPct val="45000"/>
              <a:buFont typeface="Wingdings" charset="2"/>
              <a:buChar char=""/>
            </a:pPr>
            <a:r>
              <a:rPr lang="en-IN" sz="1800" b="0" strike="noStrike" spc="-1" dirty="0">
                <a:latin typeface="Arial"/>
              </a:rPr>
              <a:t>Neural networks</a:t>
            </a:r>
          </a:p>
          <a:p>
            <a:pPr marL="216000" indent="-216000">
              <a:buClr>
                <a:srgbClr val="000000"/>
              </a:buClr>
              <a:buSzPct val="45000"/>
              <a:buFont typeface="Wingdings" charset="2"/>
              <a:buChar char=""/>
            </a:pPr>
            <a:r>
              <a:rPr lang="en-IN" sz="1800" b="0" strike="noStrike" spc="-1" dirty="0">
                <a:latin typeface="Arial"/>
              </a:rPr>
              <a:t>Classification models</a:t>
            </a:r>
          </a:p>
          <a:p>
            <a:pPr marL="216000" indent="-216000">
              <a:buClr>
                <a:srgbClr val="000000"/>
              </a:buClr>
              <a:buSzPct val="45000"/>
              <a:buFont typeface="Wingdings" charset="2"/>
              <a:buChar char=""/>
            </a:pPr>
            <a:r>
              <a:rPr lang="en-IN" sz="1800" b="0" strike="noStrike" spc="-1" dirty="0">
                <a:latin typeface="Arial"/>
              </a:rPr>
              <a:t>Recommendation systems</a:t>
            </a:r>
          </a:p>
          <a:p>
            <a:pPr marL="216000" indent="-216000">
              <a:buClr>
                <a:srgbClr val="000000"/>
              </a:buClr>
              <a:buSzPct val="45000"/>
              <a:buFont typeface="Wingdings" charset="2"/>
              <a:buChar char=""/>
            </a:pPr>
            <a:r>
              <a:rPr lang="en-IN" sz="1800" b="0" strike="noStrike" spc="-1" dirty="0">
                <a:latin typeface="Arial"/>
              </a:rPr>
              <a:t>Optimization</a:t>
            </a:r>
          </a:p>
          <a:p>
            <a:pPr marL="216000" indent="-216000">
              <a:buClr>
                <a:srgbClr val="000000"/>
              </a:buClr>
              <a:buSzPct val="45000"/>
              <a:buFont typeface="Wingdings" charset="2"/>
              <a:buChar char=""/>
            </a:pPr>
            <a:r>
              <a:rPr lang="en-IN" sz="1800" b="0" strike="noStrike" spc="-1" dirty="0">
                <a:latin typeface="Arial"/>
              </a:rPr>
              <a:t>Resource optimization</a:t>
            </a:r>
          </a:p>
          <a:p>
            <a:pPr marL="216000" indent="-216000">
              <a:buClr>
                <a:srgbClr val="000000"/>
              </a:buClr>
              <a:buSzPct val="45000"/>
              <a:buFont typeface="Wingdings" charset="2"/>
              <a:buChar char=""/>
            </a:pPr>
            <a:r>
              <a:rPr lang="en-IN" sz="1800" b="0" strike="noStrike" spc="-1" dirty="0">
                <a:latin typeface="Arial"/>
              </a:rPr>
              <a:t>Pricing optimization</a:t>
            </a:r>
          </a:p>
          <a:p>
            <a:pPr marL="216000" indent="-216000">
              <a:buClr>
                <a:srgbClr val="000000"/>
              </a:buClr>
              <a:buSzPct val="45000"/>
              <a:buFont typeface="Wingdings" charset="2"/>
              <a:buChar char=""/>
            </a:pPr>
            <a:r>
              <a:rPr lang="en-IN" sz="1800" b="0" strike="noStrike" spc="-1" dirty="0">
                <a:latin typeface="Arial"/>
              </a:rPr>
              <a:t>Route optimization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 name="TextShape 1"/>
          <p:cNvSpPr txBox="1"/>
          <p:nvPr/>
        </p:nvSpPr>
        <p:spPr>
          <a:xfrm>
            <a:off x="0" y="360000"/>
            <a:ext cx="5040000" cy="5721480"/>
          </a:xfrm>
          <a:prstGeom prst="rect">
            <a:avLst/>
          </a:prstGeom>
          <a:noFill/>
          <a:ln>
            <a:noFill/>
          </a:ln>
        </p:spPr>
        <p:txBody>
          <a:bodyPr lIns="90000" tIns="45000" rIns="90000" bIns="45000">
            <a:spAutoFit/>
          </a:bodyPr>
          <a:lstStyle/>
          <a:p>
            <a:pPr algn="ctr"/>
            <a:r>
              <a:rPr lang="en-IN" sz="1800" b="1" strike="noStrike" spc="-1">
                <a:latin typeface="Arial"/>
              </a:rPr>
              <a:t>OPERATIONALIZED ANALYTICS</a:t>
            </a:r>
            <a:endParaRPr lang="en-IN" sz="1800" b="0" strike="noStrike" spc="-1">
              <a:latin typeface="Arial"/>
            </a:endParaRPr>
          </a:p>
          <a:p>
            <a:endParaRPr lang="en-IN" sz="1800" b="0" strike="noStrike" spc="-1">
              <a:latin typeface="Arial"/>
            </a:endParaRPr>
          </a:p>
          <a:p>
            <a:endParaRPr lang="en-IN" sz="1800" b="0" strike="noStrike" spc="-1">
              <a:latin typeface="Arial"/>
            </a:endParaRPr>
          </a:p>
          <a:p>
            <a:r>
              <a:rPr lang="en-IN" sz="1800" b="0" strike="noStrike" spc="-1">
                <a:latin typeface="Arial"/>
              </a:rPr>
              <a:t>Operationalized Analytics means integrating analytical models and insights directly into an organization's operational/business processes.</a:t>
            </a:r>
          </a:p>
          <a:p>
            <a:endParaRPr lang="en-IN" sz="1800" b="0" strike="noStrike" spc="-1">
              <a:latin typeface="Arial"/>
            </a:endParaRPr>
          </a:p>
          <a:p>
            <a:r>
              <a:rPr lang="en-IN" sz="1800" b="0" strike="noStrike" spc="-1">
                <a:latin typeface="Arial"/>
              </a:rPr>
              <a:t>The important idea is:</a:t>
            </a:r>
          </a:p>
          <a:p>
            <a:endParaRPr lang="en-IN" sz="1800" b="0" strike="noStrike" spc="-1">
              <a:latin typeface="Arial"/>
            </a:endParaRPr>
          </a:p>
          <a:p>
            <a:r>
              <a:rPr lang="en-IN" sz="1800" b="0" strike="noStrike" spc="-1">
                <a:latin typeface="Arial"/>
              </a:rPr>
              <a:t>Analytics should not remain only in reports or analytical models; it should become part of everyday business operations.</a:t>
            </a:r>
          </a:p>
          <a:p>
            <a:endParaRPr lang="en-IN" sz="1800" b="0" strike="noStrike" spc="-1">
              <a:latin typeface="Arial"/>
            </a:endParaRPr>
          </a:p>
          <a:p>
            <a:r>
              <a:rPr lang="en-IN" sz="1800" b="0" strike="noStrike" spc="-1">
                <a:latin typeface="Arial"/>
              </a:rPr>
              <a:t>Simple progression</a:t>
            </a:r>
          </a:p>
          <a:p>
            <a:endParaRPr lang="en-IN" sz="1800" b="0" strike="noStrike" spc="-1">
              <a:latin typeface="Arial"/>
            </a:endParaRPr>
          </a:p>
          <a:p>
            <a:r>
              <a:rPr lang="en-IN" sz="1800" b="1" strike="noStrike" spc="-1">
                <a:latin typeface="Arial"/>
              </a:rPr>
              <a:t>Data → Analysis → Insight → Business Process → Action</a:t>
            </a:r>
            <a:endParaRPr lang="en-IN" sz="1800" b="0" strike="noStrike" spc="-1">
              <a:latin typeface="Arial"/>
            </a:endParaRPr>
          </a:p>
          <a:p>
            <a:endParaRPr lang="en-IN" sz="1800" b="0" strike="noStrike" spc="-1">
              <a:latin typeface="Arial"/>
            </a:endParaRPr>
          </a:p>
          <a:p>
            <a:endParaRPr lang="en-IN" sz="1800" b="0" strike="noStrike" spc="-1">
              <a:latin typeface="Arial"/>
            </a:endParaRPr>
          </a:p>
          <a:p>
            <a:endParaRPr lang="en-IN" sz="1800" b="0" strike="noStrike" spc="-1">
              <a:latin typeface="Arial"/>
            </a:endParaRPr>
          </a:p>
        </p:txBody>
      </p:sp>
      <p:graphicFrame>
        <p:nvGraphicFramePr>
          <p:cNvPr id="330" name="Table 2"/>
          <p:cNvGraphicFramePr/>
          <p:nvPr>
            <p:extLst>
              <p:ext uri="{D42A27DB-BD31-4B8C-83A1-F6EECF244321}">
                <p14:modId xmlns:p14="http://schemas.microsoft.com/office/powerpoint/2010/main" val="3689228374"/>
              </p:ext>
            </p:extLst>
          </p:nvPr>
        </p:nvGraphicFramePr>
        <p:xfrm>
          <a:off x="4979520" y="955440"/>
          <a:ext cx="7228080" cy="3657600"/>
        </p:xfrm>
        <a:graphic>
          <a:graphicData uri="http://schemas.openxmlformats.org/drawingml/2006/table">
            <a:tbl>
              <a:tblPr/>
              <a:tblGrid>
                <a:gridCol w="3613680">
                  <a:extLst>
                    <a:ext uri="{9D8B030D-6E8A-4147-A177-3AD203B41FA5}">
                      <a16:colId xmlns:a16="http://schemas.microsoft.com/office/drawing/2014/main" val="20000"/>
                    </a:ext>
                  </a:extLst>
                </a:gridCol>
                <a:gridCol w="3614400">
                  <a:extLst>
                    <a:ext uri="{9D8B030D-6E8A-4147-A177-3AD203B41FA5}">
                      <a16:colId xmlns:a16="http://schemas.microsoft.com/office/drawing/2014/main" val="20001"/>
                    </a:ext>
                  </a:extLst>
                </a:gridCol>
              </a:tblGrid>
              <a:tr h="2658600">
                <a:tc>
                  <a:txBody>
                    <a:bodyPr/>
                    <a:lstStyle/>
                    <a:p>
                      <a:pPr algn="ctr"/>
                      <a:r>
                        <a:rPr lang="en-IN" sz="1800" b="1" strike="noStrike" spc="-1" dirty="0">
                          <a:latin typeface="Arial"/>
                        </a:rPr>
                        <a:t>Traditional analytics</a:t>
                      </a:r>
                      <a:endParaRPr lang="en-IN" sz="1800" b="0" strike="noStrike" spc="-1" dirty="0">
                        <a:latin typeface="Arial"/>
                      </a:endParaRPr>
                    </a:p>
                    <a:p>
                      <a:pPr algn="ctr"/>
                      <a:endParaRPr lang="en-IN" sz="1800" b="0" strike="noStrike" spc="-1" dirty="0">
                        <a:latin typeface="Arial"/>
                      </a:endParaRPr>
                    </a:p>
                    <a:p>
                      <a:pPr algn="ctr"/>
                      <a:r>
                        <a:rPr lang="en-IN" sz="1800" b="0" strike="noStrike" spc="-1" dirty="0">
                          <a:latin typeface="Arial"/>
                        </a:rPr>
                        <a:t>Data</a:t>
                      </a:r>
                    </a:p>
                    <a:p>
                      <a:pPr algn="ctr"/>
                      <a:r>
                        <a:rPr lang="en-IN" sz="1800" b="0" strike="noStrike" spc="-1" dirty="0">
                          <a:latin typeface="Arial"/>
                        </a:rPr>
                        <a:t> ↓</a:t>
                      </a:r>
                    </a:p>
                    <a:p>
                      <a:pPr algn="ctr"/>
                      <a:r>
                        <a:rPr lang="en-IN" sz="1800" b="0" strike="noStrike" spc="-1" dirty="0">
                          <a:latin typeface="Arial"/>
                        </a:rPr>
                        <a:t>Analysis</a:t>
                      </a:r>
                    </a:p>
                    <a:p>
                      <a:pPr algn="ctr"/>
                      <a:r>
                        <a:rPr lang="en-IN" sz="1800" b="0" strike="noStrike" spc="-1" dirty="0">
                          <a:latin typeface="Arial"/>
                        </a:rPr>
                        <a:t> ↓</a:t>
                      </a:r>
                    </a:p>
                    <a:p>
                      <a:pPr algn="ctr"/>
                      <a:r>
                        <a:rPr lang="en-IN" sz="1800" b="0" strike="noStrike" spc="-1" dirty="0">
                          <a:latin typeface="Arial"/>
                        </a:rPr>
                        <a:t>Report</a:t>
                      </a:r>
                    </a:p>
                    <a:p>
                      <a:pPr algn="ctr"/>
                      <a:r>
                        <a:rPr lang="en-IN" sz="1800" b="0" strike="noStrike" spc="-1" dirty="0">
                          <a:latin typeface="Arial"/>
                        </a:rPr>
                        <a:t> ↓</a:t>
                      </a:r>
                    </a:p>
                    <a:p>
                      <a:pPr algn="ctr"/>
                      <a:r>
                        <a:rPr lang="en-IN" sz="1800" b="0" strike="noStrike" spc="-1" dirty="0">
                          <a:latin typeface="Arial"/>
                        </a:rPr>
                        <a:t>Manager</a:t>
                      </a:r>
                    </a:p>
                    <a:p>
                      <a:pPr algn="ctr"/>
                      <a:r>
                        <a:rPr lang="en-IN" sz="1800" b="0" strike="noStrike" spc="-1" dirty="0">
                          <a:latin typeface="Arial"/>
                        </a:rPr>
                        <a:t> ↓</a:t>
                      </a:r>
                    </a:p>
                    <a:p>
                      <a:pPr algn="ctr"/>
                      <a:r>
                        <a:rPr lang="en-IN" sz="1800" b="0" strike="noStrike" spc="-1" dirty="0">
                          <a:latin typeface="Arial"/>
                        </a:rPr>
                        <a:t>Decision</a:t>
                      </a:r>
                    </a:p>
                    <a:p>
                      <a:pPr algn="ctr"/>
                      <a:r>
                        <a:rPr lang="en-IN" sz="1800" b="0" strike="noStrike" spc="-1" dirty="0">
                          <a:latin typeface="Arial"/>
                        </a:rPr>
                        <a:t> ↓</a:t>
                      </a:r>
                    </a:p>
                    <a:p>
                      <a:pPr algn="ctr"/>
                      <a:r>
                        <a:rPr lang="en-IN" sz="1800" b="0" strike="noStrike" spc="-1" dirty="0">
                          <a:latin typeface="Arial"/>
                        </a:rPr>
                        <a:t>Action</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chemeClr val="accent5">
                        <a:lumMod val="40000"/>
                        <a:lumOff val="60000"/>
                      </a:schemeClr>
                    </a:solidFill>
                  </a:tcPr>
                </a:tc>
                <a:tc>
                  <a:txBody>
                    <a:bodyPr/>
                    <a:lstStyle/>
                    <a:p>
                      <a:pPr algn="ctr"/>
                      <a:r>
                        <a:rPr lang="en-IN" sz="1800" b="1" strike="noStrike" spc="-1" dirty="0">
                          <a:latin typeface="Arial"/>
                        </a:rPr>
                        <a:t>Operationalized Analytics</a:t>
                      </a:r>
                    </a:p>
                    <a:p>
                      <a:pPr algn="ctr"/>
                      <a:endParaRPr lang="en-IN" sz="1800" b="1" strike="noStrike" spc="-1" dirty="0">
                        <a:latin typeface="Arial"/>
                      </a:endParaRPr>
                    </a:p>
                    <a:p>
                      <a:pPr algn="ctr"/>
                      <a:r>
                        <a:rPr lang="en-IN" sz="1800" b="0" strike="noStrike" spc="-1" dirty="0">
                          <a:latin typeface="Arial"/>
                        </a:rPr>
                        <a:t>Data</a:t>
                      </a:r>
                      <a:endParaRPr lang="en-IN" sz="1800" b="1" strike="noStrike" spc="-1" dirty="0">
                        <a:latin typeface="Arial"/>
                      </a:endParaRPr>
                    </a:p>
                    <a:p>
                      <a:pPr algn="ctr"/>
                      <a:r>
                        <a:rPr lang="en-IN" sz="1800" b="0" strike="noStrike" spc="-1" dirty="0">
                          <a:latin typeface="Arial"/>
                        </a:rPr>
                        <a:t> ↓</a:t>
                      </a:r>
                      <a:endParaRPr lang="en-IN" sz="1800" b="1" strike="noStrike" spc="-1" dirty="0">
                        <a:latin typeface="Arial"/>
                      </a:endParaRPr>
                    </a:p>
                    <a:p>
                      <a:pPr algn="ctr"/>
                      <a:r>
                        <a:rPr lang="en-IN" sz="1800" b="0" strike="noStrike" spc="-1" dirty="0">
                          <a:latin typeface="Arial"/>
                        </a:rPr>
                        <a:t>Analytical Model</a:t>
                      </a:r>
                      <a:endParaRPr lang="en-IN" sz="1800" b="1" strike="noStrike" spc="-1" dirty="0">
                        <a:latin typeface="Arial"/>
                      </a:endParaRPr>
                    </a:p>
                    <a:p>
                      <a:pPr algn="ctr"/>
                      <a:r>
                        <a:rPr lang="en-IN" sz="1800" b="0" strike="noStrike" spc="-1" dirty="0">
                          <a:latin typeface="Arial"/>
                        </a:rPr>
                        <a:t> ↓</a:t>
                      </a:r>
                      <a:endParaRPr lang="en-IN" sz="1800" b="1" strike="noStrike" spc="-1" dirty="0">
                        <a:latin typeface="Arial"/>
                      </a:endParaRPr>
                    </a:p>
                    <a:p>
                      <a:pPr algn="ctr"/>
                      <a:r>
                        <a:rPr lang="en-IN" sz="1800" b="0" strike="noStrike" spc="-1" dirty="0">
                          <a:latin typeface="Arial"/>
                        </a:rPr>
                        <a:t>Decision</a:t>
                      </a:r>
                      <a:endParaRPr lang="en-IN" sz="1800" b="1" strike="noStrike" spc="-1" dirty="0">
                        <a:latin typeface="Arial"/>
                      </a:endParaRPr>
                    </a:p>
                    <a:p>
                      <a:pPr algn="ctr"/>
                      <a:r>
                        <a:rPr lang="en-IN" sz="1800" b="0" strike="noStrike" spc="-1" dirty="0">
                          <a:latin typeface="Arial"/>
                        </a:rPr>
                        <a:t> ↓</a:t>
                      </a:r>
                      <a:endParaRPr lang="en-IN" sz="1800" b="1" strike="noStrike" spc="-1" dirty="0">
                        <a:latin typeface="Arial"/>
                      </a:endParaRPr>
                    </a:p>
                    <a:p>
                      <a:pPr algn="ctr"/>
                      <a:r>
                        <a:rPr lang="en-IN" sz="1800" b="0" strike="noStrike" spc="-1" dirty="0">
                          <a:latin typeface="Arial"/>
                        </a:rPr>
                        <a:t>Automatic/Embedded Action</a:t>
                      </a:r>
                      <a:endParaRPr lang="en-IN" sz="1800" b="1" strike="noStrike" spc="-1" dirty="0">
                        <a:latin typeface="Arial"/>
                      </a:endParaRPr>
                    </a:p>
                    <a:p>
                      <a:pPr algn="ctr"/>
                      <a:r>
                        <a:rPr lang="en-IN" sz="1800" b="0" strike="noStrike" spc="-1" dirty="0">
                          <a:latin typeface="Arial"/>
                        </a:rPr>
                        <a:t> ↓</a:t>
                      </a:r>
                      <a:endParaRPr lang="en-IN" sz="1800" b="1" strike="noStrike" spc="-1" dirty="0">
                        <a:latin typeface="Arial"/>
                      </a:endParaRPr>
                    </a:p>
                    <a:p>
                      <a:pPr algn="ctr"/>
                      <a:r>
                        <a:rPr lang="en-IN" sz="1800" b="0" strike="noStrike" spc="-1" dirty="0">
                          <a:latin typeface="Arial"/>
                        </a:rPr>
                        <a:t>Business Process</a:t>
                      </a:r>
                      <a:endParaRPr lang="en-IN" sz="1800" b="1" strike="noStrike" spc="-1" dirty="0">
                        <a:latin typeface="Arial"/>
                      </a:endParaRPr>
                    </a:p>
                  </a:txBody>
                  <a:tcPr marL="90000" marR="90000">
                    <a:lnL w="720">
                      <a:solidFill>
                        <a:srgbClr val="FFFFFF"/>
                      </a:solidFill>
                    </a:lnL>
                    <a:lnR w="720">
                      <a:solidFill>
                        <a:srgbClr val="FFFFFF"/>
                      </a:solidFill>
                    </a:lnR>
                    <a:lnT w="720">
                      <a:solidFill>
                        <a:srgbClr val="FFFFFF"/>
                      </a:solidFill>
                    </a:lnT>
                    <a:lnB w="720">
                      <a:solidFill>
                        <a:srgbClr val="FFFFFF"/>
                      </a:solidFill>
                    </a:lnB>
                    <a:solidFill>
                      <a:schemeClr val="accent5">
                        <a:lumMod val="40000"/>
                        <a:lumOff val="60000"/>
                      </a:schemeClr>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TextShape 1"/>
          <p:cNvSpPr txBox="1"/>
          <p:nvPr/>
        </p:nvSpPr>
        <p:spPr>
          <a:xfrm>
            <a:off x="72000" y="144000"/>
            <a:ext cx="11592000" cy="2905920"/>
          </a:xfrm>
          <a:prstGeom prst="rect">
            <a:avLst/>
          </a:prstGeom>
          <a:noFill/>
          <a:ln>
            <a:noFill/>
          </a:ln>
        </p:spPr>
        <p:txBody>
          <a:bodyPr lIns="90000" tIns="45000" rIns="90000" bIns="45000">
            <a:spAutoFit/>
          </a:bodyPr>
          <a:lstStyle/>
          <a:p>
            <a:pPr algn="ctr"/>
            <a:endParaRPr lang="en-IN" sz="1800" b="0" strike="noStrike" spc="-1">
              <a:latin typeface="Arial"/>
            </a:endParaRPr>
          </a:p>
          <a:p>
            <a:pPr algn="ctr"/>
            <a:r>
              <a:rPr lang="en-IN" sz="1800" b="1" strike="noStrike" spc="-1">
                <a:latin typeface="Arial"/>
              </a:rPr>
              <a:t>MONETIZING ANALYTICS</a:t>
            </a:r>
            <a:endParaRPr lang="en-IN" sz="1800" b="0" strike="noStrike" spc="-1">
              <a:latin typeface="Arial"/>
            </a:endParaRPr>
          </a:p>
          <a:p>
            <a:r>
              <a:rPr lang="en-IN" sz="1800" b="0" strike="noStrike" spc="-1">
                <a:latin typeface="Arial"/>
              </a:rPr>
              <a:t>Monetizing Analytics means using data and analytical capabilities to generate direct or indirect economic value.</a:t>
            </a:r>
          </a:p>
          <a:p>
            <a:endParaRPr lang="en-IN" sz="1800" b="0" strike="noStrike" spc="-1">
              <a:latin typeface="Arial"/>
            </a:endParaRPr>
          </a:p>
          <a:p>
            <a:r>
              <a:rPr lang="en-IN" sz="1800" b="0" strike="noStrike" spc="-1">
                <a:latin typeface="Arial"/>
              </a:rPr>
              <a:t>The organization moves beyond:</a:t>
            </a:r>
          </a:p>
          <a:p>
            <a:endParaRPr lang="en-IN" sz="1800" b="0" strike="noStrike" spc="-1">
              <a:latin typeface="Arial"/>
            </a:endParaRPr>
          </a:p>
          <a:p>
            <a:r>
              <a:rPr lang="en-IN" sz="1800" b="0" strike="noStrike" spc="-1">
                <a:latin typeface="Arial"/>
              </a:rPr>
              <a:t>"Analytics helps us make better decisions."</a:t>
            </a:r>
          </a:p>
          <a:p>
            <a:endParaRPr lang="en-IN" sz="1800" b="0" strike="noStrike" spc="-1">
              <a:latin typeface="Arial"/>
            </a:endParaRPr>
          </a:p>
          <a:p>
            <a:r>
              <a:rPr lang="en-IN" sz="1800" b="0" strike="noStrike" spc="-1">
                <a:latin typeface="Arial"/>
              </a:rPr>
              <a:t>to:</a:t>
            </a:r>
          </a:p>
          <a:p>
            <a:endParaRPr lang="en-IN" sz="1800" b="0" strike="noStrike" spc="-1">
              <a:latin typeface="Arial"/>
            </a:endParaRPr>
          </a:p>
          <a:p>
            <a:r>
              <a:rPr lang="en-IN" sz="1800" b="0" strike="noStrike" spc="-1">
                <a:latin typeface="Arial"/>
              </a:rPr>
              <a:t>"Analytics itself helps us generate measurable business value."</a:t>
            </a:r>
          </a:p>
        </p:txBody>
      </p:sp>
      <p:sp>
        <p:nvSpPr>
          <p:cNvPr id="332" name="TextShape 2"/>
          <p:cNvSpPr txBox="1"/>
          <p:nvPr/>
        </p:nvSpPr>
        <p:spPr>
          <a:xfrm>
            <a:off x="3600000" y="3462120"/>
            <a:ext cx="4320000" cy="3161880"/>
          </a:xfrm>
          <a:prstGeom prst="rect">
            <a:avLst/>
          </a:prstGeom>
          <a:noFill/>
          <a:ln>
            <a:noFill/>
          </a:ln>
        </p:spPr>
        <p:txBody>
          <a:bodyPr lIns="90000" tIns="45000" rIns="90000" bIns="45000">
            <a:spAutoFit/>
          </a:bodyPr>
          <a:lstStyle/>
          <a:p>
            <a:pPr>
              <a:lnSpc>
                <a:spcPct val="100000"/>
              </a:lnSpc>
            </a:pPr>
            <a:r>
              <a:rPr lang="en-IN" sz="1800" b="1" strike="noStrike" spc="-1">
                <a:latin typeface="Arial"/>
              </a:rPr>
              <a:t>How Analytics Creates Value</a:t>
            </a:r>
            <a:endParaRPr lang="en-IN" sz="1800" b="0" strike="noStrike" spc="-1">
              <a:latin typeface="Arial"/>
            </a:endParaRPr>
          </a:p>
          <a:p>
            <a:pPr>
              <a:lnSpc>
                <a:spcPct val="100000"/>
              </a:lnSpc>
            </a:pPr>
            <a:endParaRPr lang="en-IN" sz="1800" b="0" strike="noStrike" spc="-1">
              <a:latin typeface="Arial"/>
            </a:endParaRPr>
          </a:p>
          <a:p>
            <a:pPr>
              <a:lnSpc>
                <a:spcPct val="100000"/>
              </a:lnSpc>
            </a:pPr>
            <a:r>
              <a:rPr lang="en-IN" sz="1800" b="0" strike="noStrike" spc="-1">
                <a:latin typeface="Arial"/>
              </a:rPr>
              <a:t>Analytics can create value by:</a:t>
            </a:r>
          </a:p>
          <a:p>
            <a:pPr>
              <a:lnSpc>
                <a:spcPct val="100000"/>
              </a:lnSpc>
            </a:pPr>
            <a:endParaRPr lang="en-IN" sz="1800" b="0" strike="noStrike" spc="-1">
              <a:latin typeface="Arial"/>
            </a:endParaRPr>
          </a:p>
          <a:p>
            <a:pPr marL="216000" indent="-216000">
              <a:lnSpc>
                <a:spcPct val="100000"/>
              </a:lnSpc>
              <a:buClr>
                <a:srgbClr val="000000"/>
              </a:buClr>
              <a:buSzPct val="45000"/>
              <a:buFont typeface="Wingdings" charset="2"/>
              <a:buChar char=""/>
            </a:pPr>
            <a:r>
              <a:rPr lang="en-IN" sz="1800" b="0" strike="noStrike" spc="-1">
                <a:latin typeface="Arial"/>
              </a:rPr>
              <a:t>Increasing revenue</a:t>
            </a:r>
          </a:p>
          <a:p>
            <a:pPr marL="216000" indent="-216000">
              <a:lnSpc>
                <a:spcPct val="100000"/>
              </a:lnSpc>
              <a:buClr>
                <a:srgbClr val="000000"/>
              </a:buClr>
              <a:buSzPct val="45000"/>
              <a:buFont typeface="Wingdings" charset="2"/>
              <a:buChar char=""/>
            </a:pPr>
            <a:r>
              <a:rPr lang="en-IN" sz="1800" b="0" strike="noStrike" spc="-1">
                <a:latin typeface="Arial"/>
              </a:rPr>
              <a:t>Reducing costs</a:t>
            </a:r>
          </a:p>
          <a:p>
            <a:pPr marL="216000" indent="-216000">
              <a:lnSpc>
                <a:spcPct val="100000"/>
              </a:lnSpc>
              <a:buClr>
                <a:srgbClr val="000000"/>
              </a:buClr>
              <a:buSzPct val="45000"/>
              <a:buFont typeface="Wingdings" charset="2"/>
              <a:buChar char=""/>
            </a:pPr>
            <a:r>
              <a:rPr lang="en-IN" sz="1800" b="0" strike="noStrike" spc="-1">
                <a:latin typeface="Arial"/>
              </a:rPr>
              <a:t>Improving customer retention</a:t>
            </a:r>
          </a:p>
          <a:p>
            <a:pPr marL="216000" indent="-216000">
              <a:lnSpc>
                <a:spcPct val="100000"/>
              </a:lnSpc>
              <a:buClr>
                <a:srgbClr val="000000"/>
              </a:buClr>
              <a:buSzPct val="45000"/>
              <a:buFont typeface="Wingdings" charset="2"/>
              <a:buChar char=""/>
            </a:pPr>
            <a:r>
              <a:rPr lang="en-IN" sz="1800" b="0" strike="noStrike" spc="-1">
                <a:latin typeface="Arial"/>
              </a:rPr>
              <a:t>Improving pricing</a:t>
            </a:r>
          </a:p>
          <a:p>
            <a:pPr marL="216000" indent="-216000">
              <a:lnSpc>
                <a:spcPct val="100000"/>
              </a:lnSpc>
              <a:buClr>
                <a:srgbClr val="000000"/>
              </a:buClr>
              <a:buSzPct val="45000"/>
              <a:buFont typeface="Wingdings" charset="2"/>
              <a:buChar char=""/>
            </a:pPr>
            <a:r>
              <a:rPr lang="en-IN" sz="1800" b="0" strike="noStrike" spc="-1">
                <a:latin typeface="Arial"/>
              </a:rPr>
              <a:t>Increasing productivity</a:t>
            </a:r>
          </a:p>
          <a:p>
            <a:pPr marL="216000" indent="-216000">
              <a:lnSpc>
                <a:spcPct val="100000"/>
              </a:lnSpc>
              <a:buClr>
                <a:srgbClr val="000000"/>
              </a:buClr>
              <a:buSzPct val="45000"/>
              <a:buFont typeface="Wingdings" charset="2"/>
              <a:buChar char=""/>
            </a:pPr>
            <a:r>
              <a:rPr lang="en-IN" sz="1800" b="0" strike="noStrike" spc="-1">
                <a:latin typeface="Arial"/>
              </a:rPr>
              <a:t>Creating new products/services</a:t>
            </a:r>
          </a:p>
          <a:p>
            <a:pPr marL="216000" indent="-216000">
              <a:lnSpc>
                <a:spcPct val="100000"/>
              </a:lnSpc>
              <a:buClr>
                <a:srgbClr val="000000"/>
              </a:buClr>
              <a:buSzPct val="45000"/>
              <a:buFont typeface="Wingdings" charset="2"/>
              <a:buChar char=""/>
            </a:pPr>
            <a:r>
              <a:rPr lang="en-IN" sz="1800" b="0" strike="noStrike" spc="-1">
                <a:latin typeface="Arial"/>
              </a:rPr>
              <a:t>Improving customer experience</a:t>
            </a:r>
          </a:p>
          <a:p>
            <a:pPr marL="216000" indent="-216000">
              <a:buClr>
                <a:srgbClr val="000000"/>
              </a:buClr>
              <a:buSzPct val="45000"/>
              <a:buFont typeface="Wingdings" charset="2"/>
              <a:buChar char=""/>
            </a:pPr>
            <a:r>
              <a:rPr lang="en-IN" sz="1800" b="0" strike="noStrike" spc="-1">
                <a:latin typeface="Arial"/>
              </a:rPr>
              <a:t>Identifying new business opportunities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TextShape 1"/>
          <p:cNvSpPr txBox="1"/>
          <p:nvPr/>
        </p:nvSpPr>
        <p:spPr>
          <a:xfrm>
            <a:off x="72000" y="97200"/>
            <a:ext cx="6192000" cy="6839640"/>
          </a:xfrm>
          <a:prstGeom prst="rect">
            <a:avLst/>
          </a:prstGeom>
          <a:noFill/>
          <a:ln>
            <a:noFill/>
          </a:ln>
        </p:spPr>
        <p:txBody>
          <a:bodyPr lIns="90000" tIns="45000" rIns="90000" bIns="45000">
            <a:spAutoFit/>
          </a:bodyPr>
          <a:lstStyle/>
          <a:p>
            <a:r>
              <a:rPr lang="en-IN" sz="1800" b="1" strike="noStrike" spc="-1">
                <a:latin typeface="Arial"/>
              </a:rPr>
              <a:t>Methods of Monetizing Analytics</a:t>
            </a:r>
            <a:endParaRPr lang="en-IN" sz="1800" b="0" strike="noStrike" spc="-1">
              <a:latin typeface="Arial"/>
            </a:endParaRPr>
          </a:p>
          <a:p>
            <a:endParaRPr lang="en-IN" sz="1800" b="0" strike="noStrike" spc="-1">
              <a:latin typeface="Arial"/>
            </a:endParaRPr>
          </a:p>
          <a:p>
            <a:r>
              <a:rPr lang="en-IN" sz="1600" b="0" strike="noStrike" spc="-1">
                <a:latin typeface="Arial"/>
              </a:rPr>
              <a:t>1. </a:t>
            </a:r>
            <a:r>
              <a:rPr lang="en-IN" sz="1600" b="1" strike="noStrike" spc="-1">
                <a:latin typeface="Arial"/>
              </a:rPr>
              <a:t>Personalized Marketing</a:t>
            </a:r>
            <a:endParaRPr lang="en-IN" sz="1600" b="0" strike="noStrike" spc="-1">
              <a:latin typeface="Arial"/>
            </a:endParaRPr>
          </a:p>
          <a:p>
            <a:endParaRPr lang="en-IN" sz="1600" b="0" strike="noStrike" spc="-1">
              <a:latin typeface="Arial"/>
            </a:endParaRPr>
          </a:p>
          <a:p>
            <a:r>
              <a:rPr lang="en-IN" sz="1600" b="0" strike="noStrike" spc="-1">
                <a:latin typeface="Arial"/>
              </a:rPr>
              <a:t>Analyze customer behavior to provide targeted offers.</a:t>
            </a:r>
          </a:p>
          <a:p>
            <a:endParaRPr lang="en-IN" sz="1600" b="0" strike="noStrike" spc="-1">
              <a:latin typeface="Arial"/>
            </a:endParaRPr>
          </a:p>
          <a:p>
            <a:r>
              <a:rPr lang="en-IN" sz="1600" b="0" strike="noStrike" spc="-1">
                <a:latin typeface="Arial"/>
              </a:rPr>
              <a:t>2. </a:t>
            </a:r>
            <a:r>
              <a:rPr lang="en-IN" sz="1600" b="1" strike="noStrike" spc="-1">
                <a:latin typeface="Arial"/>
              </a:rPr>
              <a:t>Cross-Selling</a:t>
            </a:r>
            <a:endParaRPr lang="en-IN" sz="1600" b="0" strike="noStrike" spc="-1">
              <a:latin typeface="Arial"/>
            </a:endParaRPr>
          </a:p>
          <a:p>
            <a:endParaRPr lang="en-IN" sz="1600" b="0" strike="noStrike" spc="-1">
              <a:latin typeface="Arial"/>
            </a:endParaRPr>
          </a:p>
          <a:p>
            <a:r>
              <a:rPr lang="en-IN" sz="1600" b="0" strike="noStrike" spc="-1">
                <a:latin typeface="Arial"/>
              </a:rPr>
              <a:t>Identify products that existing customers are likely to purchase.</a:t>
            </a:r>
          </a:p>
          <a:p>
            <a:endParaRPr lang="en-IN" sz="1600" b="0" strike="noStrike" spc="-1">
              <a:latin typeface="Arial"/>
            </a:endParaRPr>
          </a:p>
          <a:p>
            <a:r>
              <a:rPr lang="en-IN" sz="1600" b="0" strike="noStrike" spc="-1">
                <a:latin typeface="Arial"/>
              </a:rPr>
              <a:t>3.</a:t>
            </a:r>
            <a:r>
              <a:rPr lang="en-IN" sz="1600" b="1" strike="noStrike" spc="-1">
                <a:latin typeface="Arial"/>
              </a:rPr>
              <a:t> Up-Selling</a:t>
            </a:r>
            <a:endParaRPr lang="en-IN" sz="1600" b="0" strike="noStrike" spc="-1">
              <a:latin typeface="Arial"/>
            </a:endParaRPr>
          </a:p>
          <a:p>
            <a:endParaRPr lang="en-IN" sz="1600" b="0" strike="noStrike" spc="-1">
              <a:latin typeface="Arial"/>
            </a:endParaRPr>
          </a:p>
          <a:p>
            <a:r>
              <a:rPr lang="en-IN" sz="1600" b="0" strike="noStrike" spc="-1">
                <a:latin typeface="Arial"/>
              </a:rPr>
              <a:t>Identify opportunities to move customers toward higher-value products.</a:t>
            </a:r>
          </a:p>
          <a:p>
            <a:endParaRPr lang="en-IN" sz="1600" b="0" strike="noStrike" spc="-1">
              <a:latin typeface="Arial"/>
            </a:endParaRPr>
          </a:p>
          <a:p>
            <a:r>
              <a:rPr lang="en-IN" sz="1600" b="0" strike="noStrike" spc="-1">
                <a:latin typeface="Arial"/>
              </a:rPr>
              <a:t>4. </a:t>
            </a:r>
            <a:r>
              <a:rPr lang="en-IN" sz="1600" b="1" strike="noStrike" spc="-1">
                <a:latin typeface="Arial"/>
              </a:rPr>
              <a:t>Dynamic/Optimized Pricing</a:t>
            </a:r>
            <a:endParaRPr lang="en-IN" sz="1600" b="0" strike="noStrike" spc="-1">
              <a:latin typeface="Arial"/>
            </a:endParaRPr>
          </a:p>
          <a:p>
            <a:endParaRPr lang="en-IN" sz="1600" b="0" strike="noStrike" spc="-1">
              <a:latin typeface="Arial"/>
            </a:endParaRPr>
          </a:p>
          <a:p>
            <a:r>
              <a:rPr lang="en-IN" sz="1600" b="0" strike="noStrike" spc="-1">
                <a:latin typeface="Arial"/>
              </a:rPr>
              <a:t>Use demand and customer information to support pricing decisions.</a:t>
            </a:r>
          </a:p>
          <a:p>
            <a:endParaRPr lang="en-IN" sz="1600" b="0" strike="noStrike" spc="-1">
              <a:latin typeface="Arial"/>
            </a:endParaRPr>
          </a:p>
          <a:p>
            <a:r>
              <a:rPr lang="en-IN" sz="1600" b="0" strike="noStrike" spc="-1">
                <a:latin typeface="Arial"/>
              </a:rPr>
              <a:t>5.</a:t>
            </a:r>
            <a:r>
              <a:rPr lang="en-IN" sz="1600" b="1" strike="noStrike" spc="-1">
                <a:latin typeface="Arial"/>
              </a:rPr>
              <a:t> New Analytical Products</a:t>
            </a:r>
            <a:endParaRPr lang="en-IN" sz="1600" b="0" strike="noStrike" spc="-1">
              <a:latin typeface="Arial"/>
            </a:endParaRPr>
          </a:p>
          <a:p>
            <a:endParaRPr lang="en-IN" sz="1600" b="0" strike="noStrike" spc="-1">
              <a:latin typeface="Arial"/>
            </a:endParaRPr>
          </a:p>
          <a:p>
            <a:r>
              <a:rPr lang="en-IN" sz="1600" b="0" strike="noStrike" spc="-1">
                <a:latin typeface="Arial"/>
              </a:rPr>
              <a:t>Organizations can incorporate analytics into products and services.</a:t>
            </a:r>
          </a:p>
          <a:p>
            <a:endParaRPr lang="en-IN" sz="1600" b="0" strike="noStrike" spc="-1">
              <a:latin typeface="Arial"/>
            </a:endParaRPr>
          </a:p>
          <a:p>
            <a:r>
              <a:rPr lang="en-IN" sz="1600" b="0" strike="noStrike" spc="-1">
                <a:latin typeface="Arial"/>
              </a:rPr>
              <a:t>6. </a:t>
            </a:r>
            <a:r>
              <a:rPr lang="en-IN" sz="1600" b="1" strike="noStrike" spc="-1">
                <a:latin typeface="Arial"/>
              </a:rPr>
              <a:t>Improved Customer Retention</a:t>
            </a:r>
            <a:endParaRPr lang="en-IN" sz="1600" b="0" strike="noStrike" spc="-1">
              <a:latin typeface="Arial"/>
            </a:endParaRPr>
          </a:p>
          <a:p>
            <a:endParaRPr lang="en-IN" sz="1600" b="0" strike="noStrike" spc="-1">
              <a:latin typeface="Arial"/>
            </a:endParaRPr>
          </a:p>
          <a:p>
            <a:r>
              <a:rPr lang="en-IN" sz="1600" b="0" strike="noStrike" spc="-1">
                <a:latin typeface="Arial"/>
              </a:rPr>
              <a:t>Predict customers who may leave and take preventive action.</a:t>
            </a:r>
          </a:p>
          <a:p>
            <a:endParaRPr lang="en-IN" sz="1600" b="0" strike="noStrike" spc="-1">
              <a:latin typeface="Arial"/>
            </a:endParaRPr>
          </a:p>
          <a:p>
            <a:endParaRPr lang="en-IN" sz="1600" b="0" strike="noStrike" spc="-1">
              <a:latin typeface="Arial"/>
            </a:endParaRPr>
          </a:p>
        </p:txBody>
      </p:sp>
      <p:sp>
        <p:nvSpPr>
          <p:cNvPr id="334" name="TextShape 2"/>
          <p:cNvSpPr txBox="1"/>
          <p:nvPr/>
        </p:nvSpPr>
        <p:spPr>
          <a:xfrm>
            <a:off x="6461760" y="1224000"/>
            <a:ext cx="5634240" cy="4276640"/>
          </a:xfrm>
          <a:prstGeom prst="rect">
            <a:avLst/>
          </a:prstGeom>
          <a:solidFill>
            <a:schemeClr val="accent5">
              <a:lumMod val="40000"/>
              <a:lumOff val="60000"/>
            </a:schemeClr>
          </a:solidFill>
          <a:ln>
            <a:noFill/>
          </a:ln>
        </p:spPr>
        <p:txBody>
          <a:bodyPr wrap="square" lIns="90000" tIns="45000" rIns="90000" bIns="45000">
            <a:spAutoFit/>
          </a:bodyPr>
          <a:lstStyle/>
          <a:p>
            <a:pPr>
              <a:lnSpc>
                <a:spcPct val="100000"/>
              </a:lnSpc>
            </a:pPr>
            <a:r>
              <a:rPr lang="en-IN" sz="1600" b="1" strike="noStrike" spc="-1" dirty="0">
                <a:latin typeface="Arial"/>
              </a:rPr>
              <a:t>4.4 Example — E-Commerce</a:t>
            </a:r>
            <a:endParaRPr lang="en-IN" sz="1600" b="0" strike="noStrike" spc="-1" dirty="0">
              <a:latin typeface="Arial"/>
            </a:endParaRPr>
          </a:p>
          <a:p>
            <a:pPr>
              <a:lnSpc>
                <a:spcPct val="100000"/>
              </a:lnSpc>
            </a:pPr>
            <a:endParaRPr lang="en-IN" sz="1600" b="0" strike="noStrike" spc="-1" dirty="0">
              <a:latin typeface="Arial"/>
            </a:endParaRPr>
          </a:p>
          <a:p>
            <a:pPr>
              <a:lnSpc>
                <a:spcPct val="100000"/>
              </a:lnSpc>
            </a:pPr>
            <a:r>
              <a:rPr lang="en-IN" sz="1600" b="0" strike="noStrike" spc="-1" dirty="0">
                <a:latin typeface="Arial"/>
              </a:rPr>
              <a:t>Suppose an online retailer </a:t>
            </a:r>
            <a:r>
              <a:rPr lang="en-IN" sz="1600" b="0" strike="noStrike" spc="-1" dirty="0" err="1">
                <a:latin typeface="Arial"/>
              </a:rPr>
              <a:t>analyzes</a:t>
            </a:r>
            <a:r>
              <a:rPr lang="en-IN" sz="1600" b="0" strike="noStrike" spc="-1" dirty="0">
                <a:latin typeface="Arial"/>
              </a:rPr>
              <a:t> customer data.</a:t>
            </a:r>
          </a:p>
          <a:p>
            <a:pPr>
              <a:lnSpc>
                <a:spcPct val="100000"/>
              </a:lnSpc>
            </a:pPr>
            <a:endParaRPr lang="en-IN" sz="1600" b="0" strike="noStrike" spc="-1" dirty="0">
              <a:latin typeface="Arial"/>
            </a:endParaRPr>
          </a:p>
          <a:p>
            <a:pPr>
              <a:lnSpc>
                <a:spcPct val="100000"/>
              </a:lnSpc>
            </a:pPr>
            <a:r>
              <a:rPr lang="en-IN" sz="1600" b="0" strike="noStrike" spc="-1" dirty="0">
                <a:latin typeface="Arial"/>
              </a:rPr>
              <a:t>It discovers:</a:t>
            </a:r>
          </a:p>
          <a:p>
            <a:pPr>
              <a:lnSpc>
                <a:spcPct val="100000"/>
              </a:lnSpc>
            </a:pPr>
            <a:endParaRPr lang="en-IN" sz="1600" b="0" strike="noStrike" spc="-1" dirty="0">
              <a:latin typeface="Arial"/>
            </a:endParaRPr>
          </a:p>
          <a:p>
            <a:pPr>
              <a:lnSpc>
                <a:spcPct val="100000"/>
              </a:lnSpc>
            </a:pPr>
            <a:r>
              <a:rPr lang="en-IN" sz="1600" b="0" strike="noStrike" spc="-1" dirty="0">
                <a:latin typeface="Arial"/>
              </a:rPr>
              <a:t>Customers who purchase a mobile phone frequently purchase a protective case.</a:t>
            </a:r>
          </a:p>
          <a:p>
            <a:pPr>
              <a:lnSpc>
                <a:spcPct val="100000"/>
              </a:lnSpc>
            </a:pPr>
            <a:endParaRPr lang="en-IN" sz="1600" b="0" strike="noStrike" spc="-1" dirty="0">
              <a:latin typeface="Arial"/>
            </a:endParaRPr>
          </a:p>
          <a:p>
            <a:pPr>
              <a:lnSpc>
                <a:spcPct val="100000"/>
              </a:lnSpc>
            </a:pPr>
            <a:r>
              <a:rPr lang="en-IN" sz="1600" b="0" strike="noStrike" spc="-1" dirty="0">
                <a:latin typeface="Arial"/>
              </a:rPr>
              <a:t>The system recommends the case.</a:t>
            </a:r>
          </a:p>
          <a:p>
            <a:pPr>
              <a:lnSpc>
                <a:spcPct val="100000"/>
              </a:lnSpc>
            </a:pPr>
            <a:endParaRPr lang="en-IN" sz="1600" b="0" strike="noStrike" spc="-1" dirty="0">
              <a:latin typeface="Arial"/>
            </a:endParaRPr>
          </a:p>
          <a:p>
            <a:pPr>
              <a:lnSpc>
                <a:spcPct val="100000"/>
              </a:lnSpc>
            </a:pPr>
            <a:r>
              <a:rPr lang="en-IN" sz="1600" b="0" strike="noStrike" spc="-1" dirty="0">
                <a:latin typeface="Arial"/>
              </a:rPr>
              <a:t>Result:</a:t>
            </a:r>
          </a:p>
          <a:p>
            <a:pPr>
              <a:lnSpc>
                <a:spcPct val="100000"/>
              </a:lnSpc>
            </a:pPr>
            <a:endParaRPr lang="en-IN" sz="1600" b="0" strike="noStrike" spc="-1" dirty="0">
              <a:latin typeface="Arial"/>
            </a:endParaRPr>
          </a:p>
          <a:p>
            <a:pPr>
              <a:lnSpc>
                <a:spcPct val="100000"/>
              </a:lnSpc>
            </a:pPr>
            <a:r>
              <a:rPr lang="en-IN" sz="1600" b="0" strike="noStrike" spc="-1" dirty="0">
                <a:latin typeface="Arial"/>
              </a:rPr>
              <a:t>Recommendation → Additional purchase → Increased revenue</a:t>
            </a:r>
          </a:p>
          <a:p>
            <a:pPr>
              <a:lnSpc>
                <a:spcPct val="100000"/>
              </a:lnSpc>
            </a:pPr>
            <a:endParaRPr lang="en-IN" sz="1600" b="0" strike="noStrike" spc="-1" dirty="0">
              <a:latin typeface="Arial"/>
            </a:endParaRPr>
          </a:p>
          <a:p>
            <a:r>
              <a:rPr lang="en-IN" sz="1600" b="0" strike="noStrike" spc="-1" dirty="0">
                <a:latin typeface="Arial"/>
              </a:rPr>
              <a:t>Analytics has therefore generated economic value.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TextShape 1"/>
          <p:cNvSpPr txBox="1"/>
          <p:nvPr/>
        </p:nvSpPr>
        <p:spPr>
          <a:xfrm>
            <a:off x="3093120" y="2053800"/>
            <a:ext cx="4453728" cy="3691865"/>
          </a:xfrm>
          <a:prstGeom prst="rect">
            <a:avLst/>
          </a:prstGeom>
          <a:solidFill>
            <a:schemeClr val="accent3">
              <a:lumMod val="20000"/>
              <a:lumOff val="80000"/>
            </a:schemeClr>
          </a:solidFill>
          <a:ln>
            <a:noFill/>
          </a:ln>
        </p:spPr>
        <p:txBody>
          <a:bodyPr wrap="square" lIns="90000" tIns="45000" rIns="90000" bIns="45000">
            <a:spAutoFit/>
          </a:bodyPr>
          <a:lstStyle/>
          <a:p>
            <a:pPr algn="ctr"/>
            <a:r>
              <a:rPr lang="en-IN" sz="1800" b="1" strike="noStrike" spc="-1" dirty="0">
                <a:latin typeface="Arial"/>
              </a:rPr>
              <a:t>DATA</a:t>
            </a:r>
          </a:p>
          <a:p>
            <a:pPr algn="ctr"/>
            <a:r>
              <a:rPr lang="en-IN" sz="1800" b="1" strike="noStrike" spc="-1" dirty="0">
                <a:latin typeface="Arial"/>
              </a:rPr>
              <a:t> ↓</a:t>
            </a:r>
          </a:p>
          <a:p>
            <a:pPr algn="ctr"/>
            <a:r>
              <a:rPr lang="en-IN" sz="1800" b="1" strike="noStrike" spc="-1" dirty="0">
                <a:latin typeface="Arial"/>
              </a:rPr>
              <a:t>ANALYTICS</a:t>
            </a:r>
          </a:p>
          <a:p>
            <a:pPr algn="ctr"/>
            <a:r>
              <a:rPr lang="en-IN" sz="1800" b="1" strike="noStrike" spc="-1" dirty="0">
                <a:latin typeface="Arial"/>
              </a:rPr>
              <a:t> ↓</a:t>
            </a:r>
          </a:p>
          <a:p>
            <a:pPr algn="ctr"/>
            <a:r>
              <a:rPr lang="en-IN" sz="1800" b="1" strike="noStrike" spc="-1" dirty="0">
                <a:latin typeface="Arial"/>
              </a:rPr>
              <a:t>INSIGHT</a:t>
            </a:r>
          </a:p>
          <a:p>
            <a:pPr algn="ctr"/>
            <a:r>
              <a:rPr lang="en-IN" sz="1800" b="1" strike="noStrike" spc="-1" dirty="0">
                <a:latin typeface="Arial"/>
              </a:rPr>
              <a:t> ↓</a:t>
            </a:r>
          </a:p>
          <a:p>
            <a:pPr algn="ctr"/>
            <a:r>
              <a:rPr lang="en-IN" sz="1800" b="1" strike="noStrike" spc="-1" dirty="0">
                <a:latin typeface="Arial"/>
              </a:rPr>
              <a:t>DECISION</a:t>
            </a:r>
          </a:p>
          <a:p>
            <a:pPr algn="ctr"/>
            <a:r>
              <a:rPr lang="en-IN" sz="1800" b="1" strike="noStrike" spc="-1" dirty="0">
                <a:latin typeface="Arial"/>
              </a:rPr>
              <a:t> ↓</a:t>
            </a:r>
          </a:p>
          <a:p>
            <a:pPr algn="ctr"/>
            <a:r>
              <a:rPr lang="en-IN" sz="1800" b="1" strike="noStrike" spc="-1" dirty="0">
                <a:latin typeface="Arial"/>
              </a:rPr>
              <a:t>ACTION</a:t>
            </a:r>
          </a:p>
          <a:p>
            <a:pPr algn="ctr"/>
            <a:r>
              <a:rPr lang="en-IN" sz="1800" b="1" strike="noStrike" spc="-1" dirty="0">
                <a:latin typeface="Arial"/>
              </a:rPr>
              <a:t> ↓</a:t>
            </a:r>
          </a:p>
          <a:p>
            <a:pPr algn="ctr"/>
            <a:r>
              <a:rPr lang="en-IN" sz="1800" b="1" strike="noStrike" spc="-1" dirty="0">
                <a:latin typeface="Arial"/>
              </a:rPr>
              <a:t>BUSINESS VALUE</a:t>
            </a:r>
          </a:p>
          <a:p>
            <a:pPr algn="ctr"/>
            <a:r>
              <a:rPr lang="en-IN" sz="1800" b="1" strike="noStrike" spc="-1" dirty="0">
                <a:latin typeface="Arial"/>
              </a:rPr>
              <a:t> ↓</a:t>
            </a:r>
          </a:p>
          <a:p>
            <a:pPr algn="ctr"/>
            <a:r>
              <a:rPr lang="en-IN" sz="1800" b="1" strike="noStrike" spc="-1" dirty="0">
                <a:latin typeface="Arial"/>
              </a:rPr>
              <a:t>REVENUE / COST SAVINGS</a:t>
            </a:r>
          </a:p>
        </p:txBody>
      </p:sp>
      <p:sp>
        <p:nvSpPr>
          <p:cNvPr id="336" name="TextShape 2"/>
          <p:cNvSpPr txBox="1"/>
          <p:nvPr/>
        </p:nvSpPr>
        <p:spPr>
          <a:xfrm>
            <a:off x="3744000" y="1237680"/>
            <a:ext cx="7128000" cy="402840"/>
          </a:xfrm>
          <a:prstGeom prst="rect">
            <a:avLst/>
          </a:prstGeom>
          <a:noFill/>
          <a:ln>
            <a:noFill/>
          </a:ln>
        </p:spPr>
        <p:txBody>
          <a:bodyPr lIns="90000" tIns="45000" rIns="90000" bIns="45000">
            <a:spAutoFit/>
          </a:bodyPr>
          <a:lstStyle/>
          <a:p>
            <a:r>
              <a:rPr lang="en-IN" sz="2200" b="1" strike="noStrike" spc="-1">
                <a:latin typeface="Arial"/>
              </a:rPr>
              <a:t>Analytics Value Chain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TextShape 1"/>
          <p:cNvSpPr txBox="1"/>
          <p:nvPr/>
        </p:nvSpPr>
        <p:spPr>
          <a:xfrm>
            <a:off x="936000" y="504000"/>
            <a:ext cx="10944000" cy="5209560"/>
          </a:xfrm>
          <a:prstGeom prst="rect">
            <a:avLst/>
          </a:prstGeom>
          <a:noFill/>
          <a:ln>
            <a:noFill/>
          </a:ln>
        </p:spPr>
        <p:txBody>
          <a:bodyPr lIns="90000" tIns="45000" rIns="90000" bIns="45000">
            <a:spAutoFit/>
          </a:bodyPr>
          <a:lstStyle/>
          <a:p>
            <a:r>
              <a:rPr lang="en-IN" sz="1800" b="1" strike="noStrike" spc="-1" dirty="0">
                <a:latin typeface="Arial"/>
              </a:rPr>
              <a:t>MODIFYING BUSINESS INTELLIGENCE PRODUCTS TO HANDLE BIG DATA</a:t>
            </a:r>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a:p>
            <a:r>
              <a:rPr lang="en-IN" sz="1800" b="0" strike="noStrike" spc="-1" dirty="0">
                <a:latin typeface="Arial"/>
              </a:rPr>
              <a:t>Traditional Business Intelligence</a:t>
            </a:r>
          </a:p>
          <a:p>
            <a:endParaRPr lang="en-IN" sz="1800" b="0" strike="noStrike" spc="-1" dirty="0">
              <a:latin typeface="Arial"/>
            </a:endParaRPr>
          </a:p>
          <a:p>
            <a:r>
              <a:rPr lang="en-IN" sz="1800" b="0" strike="noStrike" spc="-1" dirty="0">
                <a:latin typeface="Arial"/>
              </a:rPr>
              <a:t>Traditional BI typically follows:</a:t>
            </a:r>
          </a:p>
          <a:p>
            <a:pPr algn="ctr"/>
            <a:endParaRPr lang="en-IN" sz="1800" b="0" strike="noStrike" spc="-1" dirty="0">
              <a:latin typeface="Arial"/>
            </a:endParaRPr>
          </a:p>
          <a:p>
            <a:pPr algn="ctr"/>
            <a:r>
              <a:rPr lang="en-IN" sz="1800" b="1" strike="noStrike" spc="-1" dirty="0">
                <a:latin typeface="Arial"/>
              </a:rPr>
              <a:t>               Operational Data Sources</a:t>
            </a:r>
            <a:endParaRPr lang="en-IN" sz="1800" b="0" strike="noStrike" spc="-1" dirty="0">
              <a:latin typeface="Arial"/>
            </a:endParaRPr>
          </a:p>
          <a:p>
            <a:pPr algn="ctr"/>
            <a:r>
              <a:rPr lang="en-IN" sz="1800" b="1" strike="noStrike" spc="-1" dirty="0">
                <a:latin typeface="Arial"/>
              </a:rPr>
              <a:t>          ↓</a:t>
            </a:r>
            <a:endParaRPr lang="en-IN" sz="1800" b="0" strike="noStrike" spc="-1" dirty="0">
              <a:latin typeface="Arial"/>
            </a:endParaRPr>
          </a:p>
          <a:p>
            <a:pPr algn="ctr"/>
            <a:r>
              <a:rPr lang="en-IN" sz="1800" b="1" strike="noStrike" spc="-1" dirty="0">
                <a:latin typeface="Arial"/>
              </a:rPr>
              <a:t>         ETL</a:t>
            </a:r>
            <a:endParaRPr lang="en-IN" sz="1800" b="0" strike="noStrike" spc="-1" dirty="0">
              <a:latin typeface="Arial"/>
            </a:endParaRPr>
          </a:p>
          <a:p>
            <a:pPr algn="ctr"/>
            <a:r>
              <a:rPr lang="en-IN" sz="1800" b="1" strike="noStrike" spc="-1" dirty="0">
                <a:latin typeface="Arial"/>
              </a:rPr>
              <a:t>          ↓</a:t>
            </a:r>
            <a:endParaRPr lang="en-IN" sz="1800" b="0" strike="noStrike" spc="-1" dirty="0">
              <a:latin typeface="Arial"/>
            </a:endParaRPr>
          </a:p>
          <a:p>
            <a:pPr algn="ctr"/>
            <a:r>
              <a:rPr lang="en-IN" sz="1800" b="1" strike="noStrike" spc="-1" dirty="0">
                <a:latin typeface="Arial"/>
              </a:rPr>
              <a:t>   Data Warehouse</a:t>
            </a:r>
            <a:endParaRPr lang="en-IN" sz="1800" b="0" strike="noStrike" spc="-1" dirty="0">
              <a:latin typeface="Arial"/>
            </a:endParaRPr>
          </a:p>
          <a:p>
            <a:pPr algn="ctr"/>
            <a:r>
              <a:rPr lang="en-IN" sz="1800" b="1" strike="noStrike" spc="-1" dirty="0">
                <a:latin typeface="Arial"/>
              </a:rPr>
              <a:t>          ↓</a:t>
            </a:r>
            <a:endParaRPr lang="en-IN" sz="1800" b="0" strike="noStrike" spc="-1" dirty="0">
              <a:latin typeface="Arial"/>
            </a:endParaRPr>
          </a:p>
          <a:p>
            <a:pPr algn="ctr"/>
            <a:r>
              <a:rPr lang="en-IN" sz="1800" b="1" strike="noStrike" spc="-1" dirty="0">
                <a:latin typeface="Arial"/>
              </a:rPr>
              <a:t>    OLAP / Analytics</a:t>
            </a:r>
            <a:endParaRPr lang="en-IN" sz="1800" b="0" strike="noStrike" spc="-1" dirty="0">
              <a:latin typeface="Arial"/>
            </a:endParaRPr>
          </a:p>
          <a:p>
            <a:pPr algn="ctr"/>
            <a:r>
              <a:rPr lang="en-IN" sz="1800" b="1" strike="noStrike" spc="-1" dirty="0">
                <a:latin typeface="Arial"/>
              </a:rPr>
              <a:t>          ↓</a:t>
            </a:r>
            <a:endParaRPr lang="en-IN" sz="1800" b="0" strike="noStrike" spc="-1" dirty="0">
              <a:latin typeface="Arial"/>
            </a:endParaRPr>
          </a:p>
          <a:p>
            <a:pPr algn="ctr"/>
            <a:r>
              <a:rPr lang="en-IN" sz="1800" b="1" strike="noStrike" spc="-1" dirty="0">
                <a:latin typeface="Arial"/>
              </a:rPr>
              <a:t> Reports / Dashboards</a:t>
            </a:r>
            <a:endParaRPr lang="en-IN" sz="1800" b="0" strike="noStrike" spc="-1" dirty="0">
              <a:latin typeface="Arial"/>
            </a:endParaRPr>
          </a:p>
          <a:p>
            <a:pPr algn="ctr"/>
            <a:r>
              <a:rPr lang="en-IN" sz="1800" b="1" strike="noStrike" spc="-1" dirty="0">
                <a:latin typeface="Arial"/>
              </a:rPr>
              <a:t>          ↓</a:t>
            </a:r>
            <a:endParaRPr lang="en-IN" sz="1800" b="0" strike="noStrike" spc="-1" dirty="0">
              <a:latin typeface="Arial"/>
            </a:endParaRPr>
          </a:p>
          <a:p>
            <a:pPr algn="ctr"/>
            <a:r>
              <a:rPr lang="en-IN" sz="1800" b="1" strike="noStrike" spc="-1" dirty="0">
                <a:latin typeface="Arial"/>
              </a:rPr>
              <a:t> Management Decision</a:t>
            </a:r>
            <a:endParaRPr lang="en-IN" sz="1800" b="0" strike="noStrike" spc="-1" dirty="0">
              <a:latin typeface="Arial"/>
            </a:endParaRPr>
          </a:p>
          <a:p>
            <a:endParaRPr lang="en-IN" sz="1800" b="0" strike="noStrike" spc="-1" dirty="0">
              <a:latin typeface="Arial"/>
            </a:endParaRPr>
          </a:p>
          <a:p>
            <a:endParaRPr lang="en-IN" sz="18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TextShape 1"/>
          <p:cNvSpPr txBox="1"/>
          <p:nvPr/>
        </p:nvSpPr>
        <p:spPr>
          <a:xfrm>
            <a:off x="720000" y="360000"/>
            <a:ext cx="7421400" cy="3417840"/>
          </a:xfrm>
          <a:prstGeom prst="rect">
            <a:avLst/>
          </a:prstGeom>
          <a:noFill/>
          <a:ln>
            <a:noFill/>
          </a:ln>
        </p:spPr>
        <p:txBody>
          <a:bodyPr lIns="90000" tIns="45000" rIns="90000" bIns="45000">
            <a:spAutoFit/>
          </a:bodyPr>
          <a:lstStyle/>
          <a:p>
            <a:r>
              <a:rPr lang="en-IN" sz="1800" b="1" strike="noStrike" spc="-1">
                <a:latin typeface="Arial"/>
              </a:rPr>
              <a:t>Three Major Areas of Modification</a:t>
            </a:r>
            <a:endParaRPr lang="en-IN" sz="1800" b="0" strike="noStrike" spc="-1">
              <a:latin typeface="Arial"/>
            </a:endParaRPr>
          </a:p>
          <a:p>
            <a:endParaRPr lang="en-IN" sz="1800" b="0" strike="noStrike" spc="-1">
              <a:latin typeface="Arial"/>
            </a:endParaRPr>
          </a:p>
          <a:p>
            <a:r>
              <a:rPr lang="en-IN" sz="1800" b="0" strike="noStrike" spc="-1">
                <a:latin typeface="Arial"/>
              </a:rPr>
              <a:t>For your presentation, explain the modification under three major areas:</a:t>
            </a:r>
          </a:p>
          <a:p>
            <a:pPr marL="216000" indent="-216000">
              <a:buClr>
                <a:srgbClr val="000000"/>
              </a:buClr>
              <a:buSzPct val="45000"/>
              <a:buFont typeface="Wingdings" charset="2"/>
              <a:buChar char=""/>
            </a:pPr>
            <a:endParaRPr lang="en-IN" sz="1800" b="0" strike="noStrike" spc="-1">
              <a:latin typeface="Arial"/>
            </a:endParaRPr>
          </a:p>
          <a:p>
            <a:pPr marL="216000" indent="-216000">
              <a:buClr>
                <a:srgbClr val="000000"/>
              </a:buClr>
              <a:buSzPct val="45000"/>
              <a:buFont typeface="Wingdings" charset="2"/>
              <a:buChar char=""/>
            </a:pPr>
            <a:endParaRPr lang="en-IN" sz="1800" b="0" strike="noStrike" spc="-1">
              <a:latin typeface="Arial"/>
            </a:endParaRPr>
          </a:p>
          <a:p>
            <a:pPr marL="216000" indent="-216000">
              <a:buClr>
                <a:srgbClr val="000000"/>
              </a:buClr>
              <a:buSzPct val="45000"/>
              <a:buFont typeface="Wingdings" charset="2"/>
              <a:buChar char=""/>
            </a:pPr>
            <a:endParaRPr lang="en-IN" sz="1800" b="0" strike="noStrike" spc="-1">
              <a:latin typeface="Arial"/>
            </a:endParaRPr>
          </a:p>
          <a:p>
            <a:pPr marL="216000" indent="-216000">
              <a:buClr>
                <a:srgbClr val="000000"/>
              </a:buClr>
              <a:buSzPct val="45000"/>
              <a:buFont typeface="Wingdings" charset="2"/>
              <a:buChar char=""/>
            </a:pPr>
            <a:r>
              <a:rPr lang="en-IN" sz="1800" b="1" strike="noStrike" spc="-1">
                <a:latin typeface="Arial"/>
              </a:rPr>
              <a:t>1. Data</a:t>
            </a:r>
            <a:endParaRPr lang="en-IN" sz="1800" b="0" strike="noStrike" spc="-1">
              <a:latin typeface="Arial"/>
            </a:endParaRPr>
          </a:p>
          <a:p>
            <a:pPr marL="216000" indent="-216000">
              <a:buClr>
                <a:srgbClr val="000000"/>
              </a:buClr>
              <a:buSzPct val="45000"/>
              <a:buFont typeface="Wingdings" charset="2"/>
              <a:buChar char=""/>
            </a:pPr>
            <a:endParaRPr lang="en-IN" sz="1800" b="0" strike="noStrike" spc="-1">
              <a:latin typeface="Arial"/>
            </a:endParaRPr>
          </a:p>
          <a:p>
            <a:pPr marL="216000" indent="-216000">
              <a:buClr>
                <a:srgbClr val="000000"/>
              </a:buClr>
              <a:buSzPct val="45000"/>
              <a:buFont typeface="Wingdings" charset="2"/>
              <a:buChar char=""/>
            </a:pPr>
            <a:r>
              <a:rPr lang="en-IN" sz="1800" b="1" strike="noStrike" spc="-1">
                <a:latin typeface="Arial"/>
              </a:rPr>
              <a:t>2. Analytical Algorithms</a:t>
            </a:r>
            <a:endParaRPr lang="en-IN" sz="1800" b="0" strike="noStrike" spc="-1">
              <a:latin typeface="Arial"/>
            </a:endParaRPr>
          </a:p>
          <a:p>
            <a:pPr marL="216000" indent="-216000">
              <a:buClr>
                <a:srgbClr val="000000"/>
              </a:buClr>
              <a:buSzPct val="45000"/>
              <a:buFont typeface="Wingdings" charset="2"/>
              <a:buChar char=""/>
            </a:pPr>
            <a:endParaRPr lang="en-IN" sz="1800" b="0" strike="noStrike" spc="-1">
              <a:latin typeface="Arial"/>
            </a:endParaRPr>
          </a:p>
          <a:p>
            <a:pPr marL="216000" indent="-216000">
              <a:buClr>
                <a:srgbClr val="000000"/>
              </a:buClr>
              <a:buSzPct val="45000"/>
              <a:buFont typeface="Wingdings" charset="2"/>
              <a:buChar char=""/>
            </a:pPr>
            <a:r>
              <a:rPr lang="en-IN" sz="1800" b="1" strike="noStrike" spc="-1">
                <a:latin typeface="Arial"/>
              </a:rPr>
              <a:t>3. Infrastructure</a:t>
            </a:r>
            <a:endParaRPr lang="en-IN" sz="1800" b="0" strike="noStrike" spc="-1">
              <a:latin typeface="Arial"/>
            </a:endParaRPr>
          </a:p>
          <a:p>
            <a:pPr marL="216000" indent="-216000">
              <a:buClr>
                <a:srgbClr val="000000"/>
              </a:buClr>
              <a:buSzPct val="45000"/>
              <a:buFont typeface="Wingdings" charset="2"/>
              <a:buChar char=""/>
            </a:pPr>
            <a:endParaRPr lang="en-IN" sz="1800" b="0" strike="noStrike" spc="-1">
              <a:latin typeface="Arial"/>
            </a:endParaRPr>
          </a:p>
          <a:p>
            <a:pPr marL="216000" indent="-216000">
              <a:buClr>
                <a:srgbClr val="000000"/>
              </a:buClr>
              <a:buSzPct val="45000"/>
              <a:buFont typeface="Wingdings" charset="2"/>
              <a:buChar char=""/>
            </a:pPr>
            <a:endParaRPr lang="en-IN" sz="1800" b="0" strike="noStrike" spc="-1">
              <a:latin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9" name="Table 1"/>
          <p:cNvGraphicFramePr/>
          <p:nvPr/>
        </p:nvGraphicFramePr>
        <p:xfrm>
          <a:off x="370800" y="695520"/>
          <a:ext cx="10728000" cy="5824080"/>
        </p:xfrm>
        <a:graphic>
          <a:graphicData uri="http://schemas.openxmlformats.org/drawingml/2006/table">
            <a:tbl>
              <a:tblPr/>
              <a:tblGrid>
                <a:gridCol w="3575520">
                  <a:extLst>
                    <a:ext uri="{9D8B030D-6E8A-4147-A177-3AD203B41FA5}">
                      <a16:colId xmlns:a16="http://schemas.microsoft.com/office/drawing/2014/main" val="20000"/>
                    </a:ext>
                  </a:extLst>
                </a:gridCol>
                <a:gridCol w="3575520">
                  <a:extLst>
                    <a:ext uri="{9D8B030D-6E8A-4147-A177-3AD203B41FA5}">
                      <a16:colId xmlns:a16="http://schemas.microsoft.com/office/drawing/2014/main" val="20001"/>
                    </a:ext>
                  </a:extLst>
                </a:gridCol>
                <a:gridCol w="3576960">
                  <a:extLst>
                    <a:ext uri="{9D8B030D-6E8A-4147-A177-3AD203B41FA5}">
                      <a16:colId xmlns:a16="http://schemas.microsoft.com/office/drawing/2014/main" val="20002"/>
                    </a:ext>
                  </a:extLst>
                </a:gridCol>
              </a:tblGrid>
              <a:tr h="5824080">
                <a:tc>
                  <a:txBody>
                    <a:bodyPr/>
                    <a:lstStyle/>
                    <a:p>
                      <a:endParaRPr lang="en-IN" sz="1800" b="0" strike="noStrike" spc="-1">
                        <a:latin typeface="Arial"/>
                      </a:endParaRPr>
                    </a:p>
                    <a:p>
                      <a:endParaRPr lang="en-IN" sz="1800" b="0" strike="noStrike" spc="-1">
                        <a:latin typeface="Arial"/>
                      </a:endParaRPr>
                    </a:p>
                    <a:p>
                      <a:r>
                        <a:rPr lang="en-IN" sz="1800" b="1" strike="noStrike" spc="-1">
                          <a:latin typeface="Arial"/>
                        </a:rPr>
                        <a:t>Traditional BI primarily works with structured data.</a:t>
                      </a:r>
                      <a:endParaRPr lang="en-IN" sz="1800" b="0" strike="noStrike" spc="-1">
                        <a:latin typeface="Arial"/>
                      </a:endParaRPr>
                    </a:p>
                    <a:p>
                      <a:endParaRPr lang="en-IN" sz="1800" b="0" strike="noStrike" spc="-1">
                        <a:latin typeface="Arial"/>
                      </a:endParaRPr>
                    </a:p>
                    <a:p>
                      <a:r>
                        <a:rPr lang="en-IN" sz="1800" b="1" strike="noStrike" spc="-1">
                          <a:latin typeface="Arial"/>
                        </a:rPr>
                        <a:t>Big Data BI must handle:</a:t>
                      </a:r>
                      <a:endParaRPr lang="en-IN" sz="1800" b="0" strike="noStrike" spc="-1">
                        <a:latin typeface="Arial"/>
                      </a:endParaRPr>
                    </a:p>
                    <a:p>
                      <a:endParaRPr lang="en-IN" sz="1800" b="0" strike="noStrike" spc="-1">
                        <a:latin typeface="Arial"/>
                      </a:endParaRPr>
                    </a:p>
                    <a:p>
                      <a:r>
                        <a:rPr lang="en-IN" sz="1800" b="0" strike="noStrike" spc="-1">
                          <a:latin typeface="Arial"/>
                        </a:rPr>
                        <a:t>Structured Data</a:t>
                      </a:r>
                    </a:p>
                    <a:p>
                      <a:endParaRPr lang="en-IN" sz="1800" b="0" strike="noStrike" spc="-1">
                        <a:latin typeface="Arial"/>
                      </a:endParaRPr>
                    </a:p>
                    <a:p>
                      <a:r>
                        <a:rPr lang="en-IN" sz="1400" b="0" strike="noStrike" spc="-1">
                          <a:latin typeface="Arial"/>
                        </a:rPr>
                        <a:t>Examples:</a:t>
                      </a:r>
                    </a:p>
                    <a:p>
                      <a:r>
                        <a:rPr lang="en-IN" sz="1400" b="0" strike="noStrike" spc="-1">
                          <a:latin typeface="Arial"/>
                        </a:rPr>
                        <a:t>Customer tables,Sales records,Employee records</a:t>
                      </a:r>
                    </a:p>
                    <a:p>
                      <a:endParaRPr lang="en-IN" sz="1400" b="0" strike="noStrike" spc="-1">
                        <a:latin typeface="Arial"/>
                      </a:endParaRPr>
                    </a:p>
                    <a:p>
                      <a:r>
                        <a:rPr lang="en-IN" sz="1800" b="0" strike="noStrike" spc="-1">
                          <a:latin typeface="Arial"/>
                        </a:rPr>
                        <a:t>Semi-Structured Data</a:t>
                      </a:r>
                    </a:p>
                    <a:p>
                      <a:r>
                        <a:rPr lang="en-IN" sz="1400" b="0" strike="noStrike" spc="-1">
                          <a:latin typeface="Arial"/>
                        </a:rPr>
                        <a:t>Examples:</a:t>
                      </a:r>
                    </a:p>
                    <a:p>
                      <a:r>
                        <a:rPr lang="en-IN" sz="1400" b="0" strike="noStrike" spc="-1">
                          <a:latin typeface="Arial"/>
                        </a:rPr>
                        <a:t>XML,JSON,Web logs</a:t>
                      </a:r>
                    </a:p>
                    <a:p>
                      <a:endParaRPr lang="en-IN" sz="1400" b="0" strike="noStrike" spc="-1">
                        <a:latin typeface="Arial"/>
                      </a:endParaRPr>
                    </a:p>
                    <a:p>
                      <a:r>
                        <a:rPr lang="en-IN" sz="1800" b="0" strike="noStrike" spc="-1">
                          <a:latin typeface="Arial"/>
                        </a:rPr>
                        <a:t>Unstructured Data</a:t>
                      </a:r>
                    </a:p>
                    <a:p>
                      <a:endParaRPr lang="en-IN" sz="1800" b="0" strike="noStrike" spc="-1">
                        <a:latin typeface="Arial"/>
                      </a:endParaRPr>
                    </a:p>
                    <a:p>
                      <a:r>
                        <a:rPr lang="en-IN" sz="1400" b="0" strike="noStrike" spc="-1">
                          <a:latin typeface="Arial"/>
                        </a:rPr>
                        <a:t>Examples:</a:t>
                      </a:r>
                    </a:p>
                    <a:p>
                      <a:r>
                        <a:rPr lang="en-IN" sz="1400" b="0" strike="noStrike" spc="-1">
                          <a:latin typeface="Arial"/>
                        </a:rPr>
                        <a:t>Text,Images,Audio,Video,Social-media content</a:t>
                      </a:r>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endParaRPr lang="en-US"/>
                    </a:p>
                  </a:txBody>
                  <a:tcPr marL="90000" marR="9000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bl>
          </a:graphicData>
        </a:graphic>
      </p:graphicFrame>
      <p:sp>
        <p:nvSpPr>
          <p:cNvPr id="340" name="TextShape 2"/>
          <p:cNvSpPr txBox="1"/>
          <p:nvPr/>
        </p:nvSpPr>
        <p:spPr>
          <a:xfrm>
            <a:off x="792000" y="0"/>
            <a:ext cx="8568000" cy="602280"/>
          </a:xfrm>
          <a:prstGeom prst="rect">
            <a:avLst/>
          </a:prstGeom>
          <a:noFill/>
          <a:ln>
            <a:noFill/>
          </a:ln>
        </p:spPr>
        <p:txBody>
          <a:bodyPr lIns="90000" tIns="45000" rIns="90000" bIns="45000">
            <a:spAutoFit/>
          </a:bodyPr>
          <a:lstStyle/>
          <a:p>
            <a:pPr>
              <a:lnSpc>
                <a:spcPct val="100000"/>
              </a:lnSpc>
            </a:pPr>
            <a:r>
              <a:rPr lang="en-IN" sz="1800" b="1" strike="noStrike" spc="-1">
                <a:latin typeface="Arial"/>
              </a:rPr>
              <a:t>MODIFICATION IN DATA HANDLING  :  Handling Different Types of Data</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TextShape 1"/>
          <p:cNvSpPr txBox="1"/>
          <p:nvPr/>
        </p:nvSpPr>
        <p:spPr>
          <a:xfrm>
            <a:off x="6682320" y="919440"/>
            <a:ext cx="4155120" cy="2532600"/>
          </a:xfrm>
          <a:prstGeom prst="rect">
            <a:avLst/>
          </a:prstGeom>
          <a:noFill/>
          <a:ln>
            <a:noFill/>
          </a:ln>
        </p:spPr>
        <p:txBody>
          <a:bodyPr anchor="b">
            <a:noAutofit/>
          </a:bodyPr>
          <a:lstStyle/>
          <a:p>
            <a:pPr>
              <a:lnSpc>
                <a:spcPct val="100000"/>
              </a:lnSpc>
            </a:pPr>
            <a:r>
              <a:rPr lang="en-US" sz="3200" b="0" strike="noStrike" spc="-1">
                <a:solidFill>
                  <a:srgbClr val="687F00"/>
                </a:solidFill>
                <a:latin typeface="Corbel"/>
              </a:rPr>
              <a:t>Add a Slide Title - 4</a:t>
            </a:r>
            <a:endParaRPr lang="en-US" sz="3200" b="0" strike="noStrike" spc="-1">
              <a:solidFill>
                <a:srgbClr val="4D3E2F"/>
              </a:solidFill>
              <a:latin typeface="Corbel"/>
            </a:endParaRPr>
          </a:p>
        </p:txBody>
      </p:sp>
      <p:sp>
        <p:nvSpPr>
          <p:cNvPr id="342" name="TextShape 2"/>
          <p:cNvSpPr txBox="1"/>
          <p:nvPr/>
        </p:nvSpPr>
        <p:spPr>
          <a:xfrm>
            <a:off x="1409760" y="915840"/>
            <a:ext cx="5216760" cy="5065560"/>
          </a:xfrm>
          <a:prstGeom prst="rect">
            <a:avLst/>
          </a:prstGeom>
          <a:noFill/>
          <a:ln>
            <a:noFill/>
          </a:ln>
        </p:spPr>
        <p:txBody>
          <a:bodyPr>
            <a:noAutofit/>
          </a:bodyPr>
          <a:lstStyle/>
          <a:p>
            <a:endParaRPr lang="en-US" sz="2200" b="0" strike="noStrike" spc="-1">
              <a:solidFill>
                <a:srgbClr val="4D3E2F"/>
              </a:solidFill>
              <a:latin typeface="Corbel"/>
            </a:endParaRPr>
          </a:p>
        </p:txBody>
      </p:sp>
      <p:sp>
        <p:nvSpPr>
          <p:cNvPr id="343" name="TextShape 3"/>
          <p:cNvSpPr txBox="1"/>
          <p:nvPr/>
        </p:nvSpPr>
        <p:spPr>
          <a:xfrm>
            <a:off x="6682320" y="3502080"/>
            <a:ext cx="4155120" cy="2479320"/>
          </a:xfrm>
          <a:prstGeom prst="rect">
            <a:avLst/>
          </a:prstGeom>
          <a:noFill/>
          <a:ln>
            <a:noFill/>
          </a:ln>
        </p:spPr>
        <p:txBody>
          <a:bodyPr>
            <a:noAutofit/>
          </a:bodyPr>
          <a:lstStyle/>
          <a:p>
            <a:endParaRPr lang="en-US" sz="2200" b="0" strike="noStrike" spc="-1">
              <a:solidFill>
                <a:srgbClr val="4D3E2F"/>
              </a:solidFill>
              <a:latin typeface="Corbel"/>
            </a:endParaRPr>
          </a:p>
        </p:txBody>
      </p:sp>
      <p:sp>
        <p:nvSpPr>
          <p:cNvPr id="344" name="TextShape 4"/>
          <p:cNvSpPr txBox="1"/>
          <p:nvPr/>
        </p:nvSpPr>
        <p:spPr>
          <a:xfrm>
            <a:off x="0" y="6629400"/>
            <a:ext cx="410040" cy="228240"/>
          </a:xfrm>
          <a:prstGeom prst="rect">
            <a:avLst/>
          </a:prstGeom>
          <a:noFill/>
          <a:ln>
            <a:noFill/>
          </a:ln>
        </p:spPr>
        <p:txBody>
          <a:bodyPr anchor="ctr">
            <a:noAutofit/>
          </a:bodyPr>
          <a:lstStyle/>
          <a:p>
            <a:pPr algn="r">
              <a:lnSpc>
                <a:spcPct val="100000"/>
              </a:lnSpc>
            </a:pPr>
            <a:fld id="{821F63F9-6D17-4AD4-8DA7-2EA52757F6E9}" type="slidenum">
              <a:rPr lang="en-IN" sz="1100" b="0" strike="noStrike" spc="-1">
                <a:solidFill>
                  <a:srgbClr val="455500"/>
                </a:solidFill>
                <a:latin typeface="Corbel"/>
              </a:rPr>
              <a:t>31</a:t>
            </a:fld>
            <a:endParaRPr lang="en-IN" sz="1100" b="0" strike="noStrike" spc="-1">
              <a:latin typeface="Times New Roman"/>
            </a:endParaRPr>
          </a:p>
        </p:txBody>
      </p:sp>
      <p:sp>
        <p:nvSpPr>
          <p:cNvPr id="345" name="TextShape 5"/>
          <p:cNvSpPr txBox="1"/>
          <p:nvPr/>
        </p:nvSpPr>
        <p:spPr>
          <a:xfrm>
            <a:off x="453240" y="6629400"/>
            <a:ext cx="1000440" cy="228240"/>
          </a:xfrm>
          <a:prstGeom prst="rect">
            <a:avLst/>
          </a:prstGeom>
          <a:noFill/>
          <a:ln>
            <a:noFill/>
          </a:ln>
        </p:spPr>
        <p:txBody>
          <a:bodyPr anchor="ctr">
            <a:noAutofit/>
          </a:bodyPr>
          <a:lstStyle/>
          <a:p>
            <a:pPr algn="r">
              <a:lnSpc>
                <a:spcPct val="100000"/>
              </a:lnSpc>
            </a:pPr>
            <a:fld id="{207470E0-EC87-42F4-A9F6-86D3107B0037}" type="datetime1">
              <a:rPr lang="en-IN" sz="1100" b="0" strike="noStrike" spc="-1">
                <a:solidFill>
                  <a:srgbClr val="455500"/>
                </a:solidFill>
                <a:latin typeface="Corbel"/>
              </a:rPr>
              <a:t>24-08-2026</a:t>
            </a:fld>
            <a:endParaRPr lang="en-IN" sz="1100" b="0" strike="noStrike" spc="-1">
              <a:latin typeface="Times New Roman"/>
            </a:endParaRPr>
          </a:p>
        </p:txBody>
      </p:sp>
      <p:sp>
        <p:nvSpPr>
          <p:cNvPr id="346" name="TextShape 6"/>
          <p:cNvSpPr txBox="1"/>
          <p:nvPr/>
        </p:nvSpPr>
        <p:spPr>
          <a:xfrm>
            <a:off x="1637640" y="6629400"/>
            <a:ext cx="9144000" cy="228240"/>
          </a:xfrm>
          <a:prstGeom prst="rect">
            <a:avLst/>
          </a:prstGeom>
          <a:noFill/>
          <a:ln>
            <a:noFill/>
          </a:ln>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TextShape 1"/>
          <p:cNvSpPr txBox="1"/>
          <p:nvPr/>
        </p:nvSpPr>
        <p:spPr>
          <a:xfrm>
            <a:off x="6682320" y="919440"/>
            <a:ext cx="4155120" cy="2532600"/>
          </a:xfrm>
          <a:prstGeom prst="rect">
            <a:avLst/>
          </a:prstGeom>
          <a:noFill/>
          <a:ln>
            <a:noFill/>
          </a:ln>
        </p:spPr>
        <p:txBody>
          <a:bodyPr anchor="b">
            <a:noAutofit/>
          </a:bodyPr>
          <a:lstStyle/>
          <a:p>
            <a:pPr>
              <a:lnSpc>
                <a:spcPct val="100000"/>
              </a:lnSpc>
            </a:pPr>
            <a:r>
              <a:rPr lang="en-US" sz="3200" b="0" strike="noStrike" spc="-1">
                <a:solidFill>
                  <a:srgbClr val="687F00"/>
                </a:solidFill>
                <a:latin typeface="Corbel"/>
              </a:rPr>
              <a:t>Add a Slide Title - 5</a:t>
            </a:r>
            <a:endParaRPr lang="en-US" sz="3200" b="0" strike="noStrike" spc="-1">
              <a:solidFill>
                <a:srgbClr val="4D3E2F"/>
              </a:solidFill>
              <a:latin typeface="Corbel"/>
            </a:endParaRPr>
          </a:p>
        </p:txBody>
      </p:sp>
      <p:sp>
        <p:nvSpPr>
          <p:cNvPr id="348" name="TextShape 2"/>
          <p:cNvSpPr txBox="1"/>
          <p:nvPr/>
        </p:nvSpPr>
        <p:spPr>
          <a:xfrm>
            <a:off x="6682320" y="3502080"/>
            <a:ext cx="4155120" cy="2479320"/>
          </a:xfrm>
          <a:prstGeom prst="rect">
            <a:avLst/>
          </a:prstGeom>
          <a:noFill/>
          <a:ln>
            <a:noFill/>
          </a:ln>
        </p:spPr>
        <p:txBody>
          <a:bodyPr>
            <a:noAutofit/>
          </a:bodyPr>
          <a:lstStyle/>
          <a:p>
            <a:endParaRPr lang="en-US" sz="2200" b="0" strike="noStrike" spc="-1">
              <a:solidFill>
                <a:srgbClr val="4D3E2F"/>
              </a:solidFill>
              <a:latin typeface="Corbel"/>
            </a:endParaRPr>
          </a:p>
        </p:txBody>
      </p:sp>
      <p:sp>
        <p:nvSpPr>
          <p:cNvPr id="349" name="TextShape 3"/>
          <p:cNvSpPr txBox="1"/>
          <p:nvPr/>
        </p:nvSpPr>
        <p:spPr>
          <a:xfrm>
            <a:off x="0" y="6629400"/>
            <a:ext cx="410040" cy="228240"/>
          </a:xfrm>
          <a:prstGeom prst="rect">
            <a:avLst/>
          </a:prstGeom>
          <a:noFill/>
          <a:ln>
            <a:noFill/>
          </a:ln>
        </p:spPr>
        <p:txBody>
          <a:bodyPr anchor="ctr">
            <a:noAutofit/>
          </a:bodyPr>
          <a:lstStyle/>
          <a:p>
            <a:pPr algn="r">
              <a:lnSpc>
                <a:spcPct val="100000"/>
              </a:lnSpc>
            </a:pPr>
            <a:fld id="{50C5BB16-A634-441E-B3CD-7954AB411826}" type="slidenum">
              <a:rPr lang="en-IN" sz="1100" b="0" strike="noStrike" spc="-1">
                <a:solidFill>
                  <a:srgbClr val="455500"/>
                </a:solidFill>
                <a:latin typeface="Corbel"/>
              </a:rPr>
              <a:t>32</a:t>
            </a:fld>
            <a:endParaRPr lang="en-IN" sz="1100" b="0" strike="noStrike" spc="-1">
              <a:latin typeface="Times New Roman"/>
            </a:endParaRPr>
          </a:p>
        </p:txBody>
      </p:sp>
      <p:sp>
        <p:nvSpPr>
          <p:cNvPr id="350" name="TextShape 4"/>
          <p:cNvSpPr txBox="1"/>
          <p:nvPr/>
        </p:nvSpPr>
        <p:spPr>
          <a:xfrm>
            <a:off x="453240" y="6629400"/>
            <a:ext cx="1000440" cy="228240"/>
          </a:xfrm>
          <a:prstGeom prst="rect">
            <a:avLst/>
          </a:prstGeom>
          <a:noFill/>
          <a:ln>
            <a:noFill/>
          </a:ln>
        </p:spPr>
        <p:txBody>
          <a:bodyPr anchor="ctr">
            <a:noAutofit/>
          </a:bodyPr>
          <a:lstStyle/>
          <a:p>
            <a:pPr algn="r">
              <a:lnSpc>
                <a:spcPct val="100000"/>
              </a:lnSpc>
            </a:pPr>
            <a:fld id="{8D9644A6-A7EA-40F2-B62A-3E32E5240867}" type="datetime1">
              <a:rPr lang="en-IN" sz="1100" b="0" strike="noStrike" spc="-1">
                <a:solidFill>
                  <a:srgbClr val="455500"/>
                </a:solidFill>
                <a:latin typeface="Corbel"/>
              </a:rPr>
              <a:t>24-08-2026</a:t>
            </a:fld>
            <a:endParaRPr lang="en-IN" sz="1100" b="0" strike="noStrike" spc="-1">
              <a:latin typeface="Times New Roman"/>
            </a:endParaRPr>
          </a:p>
        </p:txBody>
      </p:sp>
      <p:sp>
        <p:nvSpPr>
          <p:cNvPr id="351" name="TextShape 5"/>
          <p:cNvSpPr txBox="1"/>
          <p:nvPr/>
        </p:nvSpPr>
        <p:spPr>
          <a:xfrm>
            <a:off x="1637640" y="6629400"/>
            <a:ext cx="9144000" cy="228240"/>
          </a:xfrm>
          <a:prstGeom prst="rect">
            <a:avLst/>
          </a:prstGeom>
          <a:noFill/>
          <a:ln>
            <a:noFill/>
          </a:ln>
        </p:spPr>
        <p:txBody>
          <a:bodyPr anchor="ctr">
            <a:noAutofit/>
          </a:bodyPr>
          <a:lstStyle/>
          <a:p>
            <a:pPr>
              <a:lnSpc>
                <a:spcPct val="100000"/>
              </a:lnSpc>
            </a:pPr>
            <a:r>
              <a:rPr lang="en-IN" sz="1100" b="0" strike="noStrike" spc="-1">
                <a:solidFill>
                  <a:srgbClr val="455500"/>
                </a:solidFill>
                <a:latin typeface="Corbel"/>
              </a:rPr>
              <a:t>Add a footer</a:t>
            </a:r>
            <a:endParaRPr lang="en-IN" sz="1100" b="0" strike="noStrike" spc="-1">
              <a:latin typeface="Times New Roman"/>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00000"/>
      </a:dk2>
      <a:lt2>
        <a:srgbClr val="DDDDDD"/>
      </a:lt2>
      <a:accent1>
        <a:srgbClr val="8BAA00"/>
      </a:accent1>
      <a:accent2>
        <a:srgbClr val="2A6CB2"/>
      </a:accent2>
      <a:accent3>
        <a:srgbClr val="795837"/>
      </a:accent3>
      <a:accent4>
        <a:srgbClr val="D18316"/>
      </a:accent4>
      <a:accent5>
        <a:srgbClr val="79B4F0"/>
      </a:accent5>
      <a:accent6>
        <a:srgbClr val="CDC80F"/>
      </a:accent6>
      <a:hlink>
        <a:srgbClr val="2A6CB2"/>
      </a:hlink>
      <a:folHlink>
        <a:srgbClr val="808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Nature ecology education photo presentation</Template>
  <TotalTime>214</TotalTime>
  <Words>2820</Words>
  <Application>Microsoft Office PowerPoint</Application>
  <PresentationFormat>Widescreen</PresentationFormat>
  <Paragraphs>543</Paragraphs>
  <Slides>32</Slides>
  <Notes>0</Notes>
  <HiddenSlides>0</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32</vt:i4>
      </vt:variant>
    </vt:vector>
  </HeadingPairs>
  <TitlesOfParts>
    <vt:vector size="45" baseType="lpstr">
      <vt:lpstr>Arial</vt:lpstr>
      <vt:lpstr>Calibri</vt:lpstr>
      <vt:lpstr>Corbel</vt:lpstr>
      <vt:lpstr>Google Sans</vt:lpstr>
      <vt:lpstr>Symbol</vt:lpstr>
      <vt:lpstr>Times New Roman</vt:lpstr>
      <vt:lpstr>Wingdings</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Arhath Kumar</dc:creator>
  <dc:description/>
  <cp:lastModifiedBy>Arhath Kumar</cp:lastModifiedBy>
  <cp:revision>12</cp:revision>
  <dcterms:created xsi:type="dcterms:W3CDTF">2026-08-13T09:56:40Z</dcterms:created>
  <dcterms:modified xsi:type="dcterms:W3CDTF">2026-08-24T11:01:22Z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ntentTypeId">
    <vt:lpwstr>0x010100AA3F7D94069FF64A86F7DFF56D60E3BE</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Widescreen</vt:lpwstr>
  </property>
  <property fmtid="{D5CDD505-2E9C-101B-9397-08002B2CF9AE}" pid="10" name="ScaleCrop">
    <vt:bool>false</vt:bool>
  </property>
  <property fmtid="{D5CDD505-2E9C-101B-9397-08002B2CF9AE}" pid="11" name="ShareDoc">
    <vt:bool>false</vt:bool>
  </property>
  <property fmtid="{D5CDD505-2E9C-101B-9397-08002B2CF9AE}" pid="12" name="Slides">
    <vt:i4>20</vt:i4>
  </property>
</Properties>
</file>