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10080625" cy="7559675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AF01784-F6D3-4B5F-B22B-BF4D8CC4AD2B}" styleName="">
    <a:wholeTbl>
      <a:tcStyle>
        <a:tcBdr/>
      </a:tcStyle>
    </a:wholeTbl>
    <a:band1H>
      <a:tcStyle>
        <a:tcBdr/>
      </a:tcStyle>
    </a:band1H>
    <a:band1V>
      <a:tcStyle>
        <a:tcBdr/>
      </a:tcStyle>
    </a:band1V>
    <a:lastCol>
      <a:tcStyle>
        <a:tcBdr/>
      </a:tcStyle>
    </a:lastCol>
    <a:firstCol>
      <a:tcStyle>
        <a:tcBdr/>
      </a:tcStyle>
    </a:firstCol>
    <a:lastRow>
      <a:tcStyle>
        <a:tcBdr/>
      </a:tcStyle>
    </a:lastRow>
    <a:firstRow>
      <a:tcStyle>
        <a:tcBdr/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BF9B51-8DD0-4476-B920-30B3FF8F7B85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IN" sz="14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8A8E20-0302-4711-8790-64190C58B857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9320" y="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IN" sz="14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748BBA-E417-43A6-8BE0-6330CCA45C6B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IN" sz="14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84F394-4D28-4E14-9DF5-04742A4A1074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9320" y="1015740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0E33A895-42EC-4849-94C2-CEF949DA7D45}" type="slidenum">
              <a:t>‹#›</a:t>
            </a:fld>
            <a:endParaRPr lang="en-IN" sz="1400" b="0" i="0" u="none" strike="noStrike" kern="1200" cap="none">
              <a:ln>
                <a:noFill/>
              </a:ln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6547228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23387C-AC91-4F14-8B9C-AA0EA55415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60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D078E3-4982-462A-8AFA-A30867C7E96E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1F62841-2C55-4161-8B75-4491845606CC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IN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F1ED3-3CE6-413D-BB53-78CFDD7AC504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9320" y="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IN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EA3182-7CEB-45BB-B3D1-BB0FBEF6FB62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IN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D51CDB-E416-4A41-A6CC-2877CF4836C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9320" y="1015740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IN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11240F0D-DC17-4235-8D68-B76DA43CC18E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729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IN" sz="2000" b="0" i="0" u="none" strike="noStrike" kern="1200" cap="none">
        <a:ln>
          <a:noFill/>
        </a:ln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B52E0-F28A-4525-ACAA-EED1802392A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E17CE0B-DBDA-4492-ADC8-BF4C8D764D31}" type="slidenum">
              <a:t>1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C06B94-081F-46F8-9EAB-8CC4C3F2B12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F56EB4-0DCF-4A36-B2C7-99D53A11182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2B845-62D8-4A44-9F21-E7D5E7C9F39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275B2B7-0E0B-48E1-A6F8-C98AE7002298}" type="slidenum">
              <a:t>2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A041CF-F94C-437B-A8E0-8A1E1820CB1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D14F91-BB3F-47B3-A129-9B3F29E4CE8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DB181A-FC67-4434-A3A6-2AA210D3D4B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2E8B654-22BE-44E8-B98B-AD785639E222}" type="slidenum">
              <a:t>3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210AE1-BC71-4065-B26A-9F5938EEFE9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36F7EC-B8C7-481B-B398-FC5EE06C136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FCC85F-FE15-4FEA-B34F-54166940B38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4F350AD-0AC6-4E0C-83AB-BDAEB8A25C6D}" type="slidenum">
              <a:t>4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5FB6C3-819C-49E5-ACED-17C47F6AEFC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5D1896-832F-4B1B-8477-301128B0BD9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3CA19A-84B3-4B08-AF4A-8C29AF2CE0B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3BE6D1A-E636-45A1-8752-1A11BFC6B7B5}" type="slidenum">
              <a:t>5</a:t>
            </a:fld>
            <a:endParaRPr lang="en-IN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396B60-327E-4F3D-AE89-A66926B1004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9CE279-ED8F-437A-99D3-F366ECFAE8D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14E90-55EE-4A32-8136-87A8A3677A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355623-7533-446D-A507-5BBEAFBB12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50474-5720-4CEF-AFC6-6B6F5BE53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0D31A-B72F-494E-A995-CB9A99AB0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D7C26-BA29-4FEE-9D36-A85BD3176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E31CDA5-34E5-40CA-BFE5-B3638F4E8C29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945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656B-71F7-4408-9DC8-91C0F1039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885BC-2C19-419D-93E8-3159BF078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C003B-7D29-4626-9F5E-0C3001E82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D0C98-8436-4DEB-9EF4-0E769E93A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1CC0B-D6AD-4C45-ABA2-3AB9D7B7C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4CA2D51-6F08-4A73-9F43-B239F793588E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611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6A463-97C9-42B8-B964-79A33F805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3A959-2DD2-4A8E-B1D6-3DE999EFD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DC419-3B5A-4090-AC54-9AFE62E08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78EB-D1C4-43DC-922C-14B944F68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40A4A-B617-411C-988C-D9CA28E03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EC2C60E-9203-47C3-BAD1-BADD5A7D0D97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913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CFF0F-5F21-41BB-A0D0-DA6EF2F02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9C79-E840-473A-ACB9-E5DDA7BD5E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E91FAB-C00C-489B-B823-BB0E8EF67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56026-C987-4BA4-8D9D-05987A33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48400-1807-42A3-B0CF-39C5E4D26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8DB14-3723-4582-B7E1-9A0E51419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B463AC4-B23A-447B-88CF-5248BA999753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288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94143-3B91-495B-9BFE-1DE6180C7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AB846-995E-4628-A123-2B4514336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48F75E-8B33-4557-AE01-984A6FCB1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7EBF9-6D3F-4F60-8BD3-3BF806E72A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91171F-B2A1-4E21-9D7F-DD3FECD077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E30AC7-6B2F-4209-A2FE-E6816A3C5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3FA25E-51D2-4726-AFAB-700D663C0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EC97EA-0C2D-4807-BEBB-CC168772F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4BEC330-AD71-4531-AB61-2EBE27569C9E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69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05FCB-87F8-4FF1-A77E-716EB276B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02F7BF-BC03-4C00-AC91-838B8EF99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91D6E-EC5B-4750-B32A-860975BAD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28781-21F9-453A-A87F-4BD6EC9D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4271B90-A054-4D64-B9C5-85B89FED8EA1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166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29B337-B823-43F8-8431-49ECBC0BC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4FE278-C715-48B0-ABB6-FBCD45258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C2EC8-FC0C-45A2-ADF5-64FB2A7A3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CE811B0-E30C-4F0B-8956-4E17CFCD7C07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01655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AA178-22C2-405D-8873-542F20770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EE73D-711C-4F91-925F-EA238631B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6DB38-BC88-4135-BE1F-89A2EA70F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7B61D8-68B9-4DFC-AA89-C49440C2D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83B63-7061-48A1-B051-49E111FD3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3D8133-764E-4F52-B52B-269520F8F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AEFD719-58E4-4B84-8502-6F1DDE13CFB5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830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1B274-82AA-441C-96C1-B8B92A452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DC3E20-C217-431B-8595-C1449764F0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371852-EA0C-4B6A-A938-89EB1DDBF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E8B85-6CFB-40D8-9AB8-EB2C6D203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A9767-D332-4136-9921-1F2A634D1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ECEE0A-D820-4DA1-81B1-8506AE6B3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6A523A9-B9CB-487F-959B-FC618B865BED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295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E03A9-E298-49C0-B0D8-9E196BCDB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E5B510-65E2-472A-8166-B6DD35EAB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DE14F-0952-4A30-924C-719920211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39C66-2EC7-417D-8CEB-B2D2C3B32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3B1A3-1C80-433C-855E-DBF8C3A7C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A1F7364-1445-431C-BDAA-D22B9ED53330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349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475FAA-6C8B-4BB4-BA55-D0B10B8C9E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BD6190-F0B2-4086-A6B5-96B1D3AF2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AA4D3-506D-4C75-BF11-FBFC3EA09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25C5B-8322-46CD-AEA0-887A55384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251F1-4ADA-4B4A-9B5D-70DB2F7D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4618269-B2B4-42FD-B80E-869F70CD5A2A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060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CFE20B-2115-4F9A-A58A-F209994575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90D96-CE0E-49A4-B560-7B11D9174E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9040"/>
            <a:ext cx="9071640" cy="4384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6C5AD-04E8-4CCE-9A17-C3528B8371E1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IN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5D43B-4DAD-4946-BE99-35C6AB28C0B5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IN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02507-0725-4E0E-8091-97BDFD1E494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00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IN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45415BAF-AD29-4A1D-BA8B-097C8505D7F3}" type="slidenum"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hangingPunct="0">
        <a:tabLst/>
        <a:defRPr lang="en-IN" sz="4400" b="0" i="0" u="none" strike="noStrike" kern="1200" cap="none">
          <a:ln>
            <a:noFill/>
          </a:ln>
          <a:latin typeface="Liberation Sans" pitchFamily="18"/>
        </a:defRPr>
      </a:lvl1pPr>
    </p:titleStyle>
    <p:bodyStyle>
      <a:lvl1pPr hangingPunct="0">
        <a:spcBef>
          <a:spcPts val="0"/>
        </a:spcBef>
        <a:spcAft>
          <a:spcPts val="1417"/>
        </a:spcAft>
        <a:tabLst/>
        <a:defRPr lang="en-IN" sz="3200" b="0" i="0" u="none" strike="noStrike" kern="1200" cap="none">
          <a:ln>
            <a:noFill/>
          </a:ln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6D8F2B-D7F5-4FD6-97FB-D482AB464374}"/>
              </a:ext>
            </a:extLst>
          </p:cNvPr>
          <p:cNvSpPr txBox="1"/>
          <p:nvPr/>
        </p:nvSpPr>
        <p:spPr>
          <a:xfrm>
            <a:off x="72000" y="72000"/>
            <a:ext cx="10008000" cy="83915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IN" sz="3600" b="1" i="0" u="none" strike="noStrike" kern="1200" cap="none">
                <a:ln>
                  <a:noFill/>
                </a:ln>
                <a:solidFill>
                  <a:srgbClr val="FF00FF"/>
                </a:solidFill>
                <a:latin typeface="Liberation Sans" pitchFamily="18"/>
                <a:ea typeface="Droid Sans Fallback" pitchFamily="2"/>
                <a:cs typeface="FreeSans" pitchFamily="2"/>
              </a:rPr>
              <a:t>Classification of Analytics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82294F-1C97-4666-8DB1-D038EA958ACD}"/>
              </a:ext>
            </a:extLst>
          </p:cNvPr>
          <p:cNvSpPr txBox="1"/>
          <p:nvPr/>
        </p:nvSpPr>
        <p:spPr>
          <a:xfrm>
            <a:off x="144000" y="6630120"/>
            <a:ext cx="5544000" cy="6411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400"/>
            </a:pPr>
            <a:r>
              <a:rPr lang="en-IN" sz="14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ERP* enterprise resource planning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400"/>
            </a:pPr>
            <a:r>
              <a:rPr lang="en-IN" sz="1400" b="0" i="0" u="none" strike="noStrike" kern="1200" cap="none">
                <a:ln>
                  <a:noFill/>
                </a:ln>
                <a:latin typeface="Liberation Sans" pitchFamily="18"/>
                <a:ea typeface="Droid Sans Fallback" pitchFamily="2"/>
                <a:cs typeface="FreeSans" pitchFamily="2"/>
              </a:rPr>
              <a:t>CRM* customer relationship management.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10ECF87-996C-4F84-8A7C-C258FB51759C}"/>
              </a:ext>
            </a:extLst>
          </p:cNvPr>
          <p:cNvGraphicFramePr>
            <a:graphicFrameLocks noGrp="1"/>
          </p:cNvGraphicFramePr>
          <p:nvPr/>
        </p:nvGraphicFramePr>
        <p:xfrm>
          <a:off x="120960" y="640440"/>
          <a:ext cx="9939960" cy="5989680"/>
        </p:xfrm>
        <a:graphic>
          <a:graphicData uri="http://schemas.openxmlformats.org/drawingml/2006/table">
            <a:tbl>
              <a:tblPr firstRow="1" bandRow="1">
                <a:tableStyleId>{CAF01784-F6D3-4B5F-B22B-BF4D8CC4AD2B}</a:tableStyleId>
              </a:tblPr>
              <a:tblGrid>
                <a:gridCol w="2637360">
                  <a:extLst>
                    <a:ext uri="{9D8B030D-6E8A-4147-A177-3AD203B41FA5}">
                      <a16:colId xmlns:a16="http://schemas.microsoft.com/office/drawing/2014/main" val="1294720897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070717847"/>
                    </a:ext>
                  </a:extLst>
                </a:gridCol>
                <a:gridCol w="3645360">
                  <a:extLst>
                    <a:ext uri="{9D8B030D-6E8A-4147-A177-3AD203B41FA5}">
                      <a16:colId xmlns:a16="http://schemas.microsoft.com/office/drawing/2014/main" val="3270041316"/>
                    </a:ext>
                  </a:extLst>
                </a:gridCol>
              </a:tblGrid>
              <a:tr h="507959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2800" b="1" i="0" u="none" strike="noStrike" kern="1200" cap="none">
                          <a:ln>
                            <a:noFill/>
                          </a:ln>
                          <a:solidFill>
                            <a:srgbClr val="0000CC"/>
                          </a:solidFill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Analytics 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1">
                          <a:solidFill>
                            <a:srgbClr val="0000CC"/>
                          </a:solidFill>
                        </a:defRPr>
                      </a:pPr>
                      <a:r>
                        <a:rPr lang="en-IN" sz="2800" b="1" i="0" u="none" strike="noStrike" kern="1200" cap="none">
                          <a:ln>
                            <a:noFill/>
                          </a:ln>
                          <a:solidFill>
                            <a:srgbClr val="0000CC"/>
                          </a:solidFill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Analytics 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1">
                          <a:solidFill>
                            <a:srgbClr val="0000CC"/>
                          </a:solidFill>
                        </a:defRPr>
                      </a:pPr>
                      <a:r>
                        <a:rPr lang="en-IN" sz="2800" b="1" i="0" u="none" strike="noStrike" kern="1200" cap="none">
                          <a:ln>
                            <a:noFill/>
                          </a:ln>
                          <a:solidFill>
                            <a:srgbClr val="0000CC"/>
                          </a:solidFill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Analytics 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2760274"/>
                  </a:ext>
                </a:extLst>
              </a:tr>
              <a:tr h="514439"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1" i="0" u="none" strike="noStrike" kern="1200" cap="none">
                          <a:ln>
                            <a:noFill/>
                          </a:ln>
                          <a:solidFill>
                            <a:srgbClr val="C5000B"/>
                          </a:solidFill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Era:</a:t>
                      </a:r>
                      <a:r>
                        <a:rPr lang="en-IN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 mid 1950's to 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1" i="0" u="none" strike="noStrike" kern="1200" cap="none">
                          <a:ln>
                            <a:noFill/>
                          </a:ln>
                          <a:solidFill>
                            <a:srgbClr val="C5000B"/>
                          </a:solidFill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Era:</a:t>
                      </a:r>
                      <a:r>
                        <a:rPr lang="en-IN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2005 to 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1" i="0" u="none" strike="noStrike" kern="1200" cap="none">
                          <a:ln>
                            <a:noFill/>
                          </a:ln>
                          <a:solidFill>
                            <a:srgbClr val="C5000B"/>
                          </a:solidFill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Era:</a:t>
                      </a:r>
                      <a:r>
                        <a:rPr lang="en-IN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2012 To Present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352612"/>
                  </a:ext>
                </a:extLst>
              </a:tr>
              <a:tr h="1947960"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1" i="0" u="none" strike="noStrike" kern="1200" cap="none">
                          <a:ln>
                            <a:noFill/>
                          </a:ln>
                          <a:solidFill>
                            <a:srgbClr val="C5000B"/>
                          </a:solidFill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Descriptive Staistics</a:t>
                      </a:r>
                    </a:p>
                    <a:p>
                      <a:pPr marL="0" marR="0" lvl="0" indent="0" algn="just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( report on events, occurences etc of the past)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1" i="0" u="none" strike="noStrike" kern="1200" cap="none">
                          <a:ln>
                            <a:noFill/>
                          </a:ln>
                          <a:solidFill>
                            <a:srgbClr val="C5000B"/>
                          </a:solidFill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Descriptive+Predictive Statistics</a:t>
                      </a:r>
                    </a:p>
                    <a:p>
                      <a:pPr marL="0" marR="0" lvl="0" indent="0" algn="just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(use data from the past to made predictions for the future)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1" i="0" u="none" strike="noStrike" kern="1200" cap="none">
                          <a:ln>
                            <a:noFill/>
                          </a:ln>
                          <a:solidFill>
                            <a:srgbClr val="C5000B"/>
                          </a:solidFill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Descriptive+Predictive + Prescritive Statistics</a:t>
                      </a:r>
                    </a:p>
                    <a:p>
                      <a:pPr marL="0" marR="0" lvl="0" indent="0" algn="just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(use data from the past to made predictions for the future at the same time make recommendations to leverage the situation to one's advantage)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292195"/>
                  </a:ext>
                </a:extLst>
              </a:tr>
              <a:tr h="1947960"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1" i="0" u="none" strike="noStrike" kern="1200" cap="none">
                          <a:ln>
                            <a:noFill/>
                          </a:ln>
                          <a:solidFill>
                            <a:srgbClr val="C5000B"/>
                          </a:solidFill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Key Questions asked:</a:t>
                      </a:r>
                    </a:p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What happed?</a:t>
                      </a:r>
                    </a:p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Why did it happen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1" i="0" u="none" strike="noStrike" kern="1200" cap="none">
                          <a:ln>
                            <a:noFill/>
                          </a:ln>
                          <a:solidFill>
                            <a:srgbClr val="C5000B"/>
                          </a:solidFill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Key Questions asked:</a:t>
                      </a:r>
                    </a:p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What will happen?</a:t>
                      </a:r>
                    </a:p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Why will it happen?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1" i="0" u="none" strike="noStrike" kern="1200" cap="none">
                          <a:ln>
                            <a:noFill/>
                          </a:ln>
                          <a:solidFill>
                            <a:srgbClr val="C5000B"/>
                          </a:solidFill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Key Questions asked:</a:t>
                      </a:r>
                    </a:p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What will happen?</a:t>
                      </a:r>
                    </a:p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Why will it happen?</a:t>
                      </a:r>
                    </a:p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When will it happen</a:t>
                      </a:r>
                    </a:p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What should be the action taken to take advantage of what will happen?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53045"/>
                  </a:ext>
                </a:extLst>
              </a:tr>
              <a:tr h="1071720">
                <a:tc>
                  <a:txBody>
                    <a:bodyPr/>
                    <a:lstStyle/>
                    <a:p>
                      <a:pPr marL="0" marR="0" lvl="0" indent="0" algn="just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Data from legacy systems, ERP,CRM and 3</a:t>
                      </a:r>
                      <a:r>
                        <a:rPr lang="en-IN" sz="1800" b="0" i="0" u="none" strike="noStrike" kern="1200" cap="none" baseline="30000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rd</a:t>
                      </a:r>
                      <a:r>
                        <a:rPr lang="en-IN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 party 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Big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A blend of big data and data from legacy systems, ERP,CRM and 3</a:t>
                      </a:r>
                      <a:r>
                        <a:rPr lang="en-IN" sz="1800" b="0" i="0" u="none" strike="noStrike" kern="1200" cap="none" baseline="30000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rd</a:t>
                      </a:r>
                      <a:r>
                        <a:rPr lang="en-IN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 party applications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5072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693AED6-DBE9-41DC-A3A1-E4C294068DD3}"/>
              </a:ext>
            </a:extLst>
          </p:cNvPr>
          <p:cNvGraphicFramePr>
            <a:graphicFrameLocks noGrp="1"/>
          </p:cNvGraphicFramePr>
          <p:nvPr/>
        </p:nvGraphicFramePr>
        <p:xfrm>
          <a:off x="121320" y="640800"/>
          <a:ext cx="9940680" cy="4297680"/>
        </p:xfrm>
        <a:graphic>
          <a:graphicData uri="http://schemas.openxmlformats.org/drawingml/2006/table">
            <a:tbl>
              <a:tblPr firstRow="1" bandRow="1">
                <a:tableStyleId>{CAF01784-F6D3-4B5F-B22B-BF4D8CC4AD2B}</a:tableStyleId>
              </a:tblPr>
              <a:tblGrid>
                <a:gridCol w="2637360">
                  <a:extLst>
                    <a:ext uri="{9D8B030D-6E8A-4147-A177-3AD203B41FA5}">
                      <a16:colId xmlns:a16="http://schemas.microsoft.com/office/drawing/2014/main" val="194927567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467423703"/>
                    </a:ext>
                  </a:extLst>
                </a:gridCol>
                <a:gridCol w="3646079">
                  <a:extLst>
                    <a:ext uri="{9D8B030D-6E8A-4147-A177-3AD203B41FA5}">
                      <a16:colId xmlns:a16="http://schemas.microsoft.com/office/drawing/2014/main" val="278124567"/>
                    </a:ext>
                  </a:extLst>
                </a:gridCol>
              </a:tblGrid>
              <a:tr h="491760"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2800" b="1" i="0" u="none" strike="noStrike" kern="1200" cap="none">
                          <a:ln>
                            <a:noFill/>
                          </a:ln>
                          <a:solidFill>
                            <a:srgbClr val="0000CC"/>
                          </a:solidFill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Analytics 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1">
                          <a:solidFill>
                            <a:srgbClr val="0000CC"/>
                          </a:solidFill>
                        </a:defRPr>
                      </a:pPr>
                      <a:r>
                        <a:rPr lang="en-IN" sz="2800" b="1" i="0" u="none" strike="noStrike" kern="1200" cap="none">
                          <a:ln>
                            <a:noFill/>
                          </a:ln>
                          <a:solidFill>
                            <a:srgbClr val="0000CC"/>
                          </a:solidFill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Analytics 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2800" b="1">
                          <a:solidFill>
                            <a:srgbClr val="0000CC"/>
                          </a:solidFill>
                        </a:defRPr>
                      </a:pPr>
                      <a:r>
                        <a:rPr lang="en-IN" sz="2800" b="1" i="0" u="none" strike="noStrike" kern="1200" cap="none">
                          <a:ln>
                            <a:noFill/>
                          </a:ln>
                          <a:solidFill>
                            <a:srgbClr val="0000CC"/>
                          </a:solidFill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Analytics 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884645"/>
                  </a:ext>
                </a:extLst>
              </a:tr>
              <a:tr h="1477799">
                <a:tc>
                  <a:txBody>
                    <a:bodyPr/>
                    <a:lstStyle/>
                    <a:p>
                      <a:pPr marL="0" marR="0" lvl="0" indent="0" algn="just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Small and structured data sources. Data stored in enterprise data warehouse or data 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Big data is being taken up seriously. Data is mainly unstructured, arriving at a much higher pace.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A blend of big data and traditional analytics to yield insights and offerings with speed and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474731"/>
                  </a:ext>
                </a:extLst>
              </a:tr>
              <a:tr h="999720">
                <a:tc>
                  <a:txBody>
                    <a:bodyPr/>
                    <a:lstStyle/>
                    <a:p>
                      <a:pPr marL="0" marR="0" lvl="0" indent="0" algn="just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Data was internally sourced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Data was often externally sourced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Data is both being internally and externally sourced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315638"/>
                  </a:ext>
                </a:extLst>
              </a:tr>
              <a:tr h="1328760">
                <a:tc>
                  <a:txBody>
                    <a:bodyPr/>
                    <a:lstStyle/>
                    <a:p>
                      <a:pPr marL="0" marR="0" lvl="0" indent="0" algn="just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Relational Databases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Database appliances, Hadoop clusters, SQL to Hadoop environments etc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IN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Droid Sans Fallback" pitchFamily="2"/>
                          <a:cs typeface="FreeSans" pitchFamily="2"/>
                        </a:rPr>
                        <a:t>In memory analytics, in database processing, agile analytical methods, machine learning techniques etc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0871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76B87A5B-D8B9-4279-81E3-E49B8A824B2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0480" y="-16920"/>
            <a:ext cx="9944280" cy="755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10EC8F61-FF5D-4BF1-B9C4-F83E45C4FE2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0" y="0"/>
            <a:ext cx="10008000" cy="7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B2FCC15B-B414-44CF-8765-0F4F1FEC21F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0" y="0"/>
            <a:ext cx="10080000" cy="75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295</Words>
  <Application>Microsoft Office PowerPoint</Application>
  <PresentationFormat>Widescreen</PresentationFormat>
  <Paragraphs>46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Liberation Sans</vt:lpstr>
      <vt:lpstr>Liberation Serif</vt:lpstr>
      <vt:lpstr>Default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cloudconvert_9</cp:lastModifiedBy>
  <cp:revision>10</cp:revision>
  <dcterms:created xsi:type="dcterms:W3CDTF">2018-08-10T10:43:17Z</dcterms:created>
  <dcterms:modified xsi:type="dcterms:W3CDTF">2026-09-06T01:22:31Z</dcterms:modified>
</cp:coreProperties>
</file>