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6" r:id="rId39"/>
    <p:sldId id="295" r:id="rId40"/>
    <p:sldId id="302" r:id="rId41"/>
    <p:sldId id="303" r:id="rId42"/>
    <p:sldId id="297" r:id="rId43"/>
    <p:sldId id="304" r:id="rId44"/>
    <p:sldId id="298" r:id="rId45"/>
    <p:sldId id="305" r:id="rId46"/>
    <p:sldId id="306" r:id="rId47"/>
    <p:sldId id="308" r:id="rId48"/>
    <p:sldId id="299" r:id="rId49"/>
    <p:sldId id="300" r:id="rId50"/>
    <p:sldId id="307" r:id="rId51"/>
    <p:sldId id="301" r:id="rId52"/>
    <p:sldId id="293" r:id="rId53"/>
    <p:sldId id="294" r:id="rId54"/>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1746"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824E8FB1-5CB5-4E98-B066-9619CBE1B233}" type="datetimeFigureOut">
              <a:rPr lang="en-IN" smtClean="0"/>
              <a:t>13-08-2026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8844B6EA-18E9-4C07-ADE8-30F0FE11AE3F}" type="slidenum">
              <a:rPr lang="en-IN" smtClean="0"/>
              <a:t>‹#›</a:t>
            </a:fld>
            <a:endParaRPr lang="en-IN"/>
          </a:p>
        </p:txBody>
      </p:sp>
    </p:spTree>
    <p:extLst>
      <p:ext uri="{BB962C8B-B14F-4D97-AF65-F5344CB8AC3E}">
        <p14:creationId xmlns:p14="http://schemas.microsoft.com/office/powerpoint/2010/main" val="2421264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E63FE2D-BC68-0AEA-36E8-AEDBE155B1A7}"/>
              </a:ext>
            </a:extLst>
          </p:cNvPr>
          <p:cNvSpPr txBox="1">
            <a:spLocks noGrp="1"/>
          </p:cNvSpPr>
          <p:nvPr>
            <p:ph type="sldNum" sz="quarter" idx="5"/>
          </p:nvPr>
        </p:nvSpPr>
        <p:spPr>
          <a:ln/>
        </p:spPr>
        <p:txBody>
          <a:bodyPr lIns="0" tIns="0" rIns="0" bIns="0" anchor="b" anchorCtr="0">
            <a:noAutofit/>
          </a:bodyPr>
          <a:lstStyle/>
          <a:p>
            <a:pPr lvl="0"/>
            <a:fld id="{7DF54AEC-4F2D-4D9F-9F20-20EED344BFDE}" type="slidenum">
              <a:t>38</a:t>
            </a:fld>
            <a:endParaRPr lang="en-IN"/>
          </a:p>
        </p:txBody>
      </p:sp>
      <p:sp>
        <p:nvSpPr>
          <p:cNvPr id="2" name="Slide Image Placeholder 1">
            <a:extLst>
              <a:ext uri="{FF2B5EF4-FFF2-40B4-BE49-F238E27FC236}">
                <a16:creationId xmlns:a16="http://schemas.microsoft.com/office/drawing/2014/main" id="{236DB643-B37E-8E76-2AC4-4C0C35275931}"/>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0AE63ECD-D034-2306-AFCF-AEB71388746E}"/>
              </a:ext>
            </a:extLst>
          </p:cNvPr>
          <p:cNvSpPr txBox="1">
            <a:spLocks noGrp="1"/>
          </p:cNvSpPr>
          <p:nvPr>
            <p:ph type="body" sz="quarter" idx="1"/>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01700" y="908684"/>
            <a:ext cx="2641600" cy="756919"/>
          </a:xfrm>
          <a:prstGeom prst="rect">
            <a:avLst/>
          </a:prstGeom>
        </p:spPr>
        <p:txBody>
          <a:bodyPr wrap="square" lIns="0" tIns="0" rIns="0" bIns="0">
            <a:spAutoFit/>
          </a:bodyPr>
          <a:lstStyle>
            <a:lvl1pPr>
              <a:defRPr sz="2000" b="1" i="0">
                <a:solidFill>
                  <a:srgbClr val="404040"/>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404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4040"/>
                </a:solidFill>
                <a:latin typeface="Calibri"/>
                <a:cs typeface="Calibri"/>
              </a:defRPr>
            </a:lvl1pPr>
          </a:lstStyle>
          <a:p>
            <a:endParaRPr/>
          </a:p>
        </p:txBody>
      </p:sp>
      <p:sp>
        <p:nvSpPr>
          <p:cNvPr id="3" name="Holder 3"/>
          <p:cNvSpPr>
            <a:spLocks noGrp="1"/>
          </p:cNvSpPr>
          <p:nvPr>
            <p:ph sz="half" idx="2"/>
          </p:nvPr>
        </p:nvSpPr>
        <p:spPr>
          <a:xfrm>
            <a:off x="694436" y="1277948"/>
            <a:ext cx="2025014" cy="409511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rgbClr val="40404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799"/>
            <a:ext cx="9144000" cy="457200"/>
          </a:xfrm>
          <a:custGeom>
            <a:avLst/>
            <a:gdLst/>
            <a:ahLst/>
            <a:cxnLst/>
            <a:rect l="l" t="t" r="r" b="b"/>
            <a:pathLst>
              <a:path w="9144000" h="457200">
                <a:moveTo>
                  <a:pt x="9144000" y="0"/>
                </a:moveTo>
                <a:lnTo>
                  <a:pt x="0" y="0"/>
                </a:lnTo>
                <a:lnTo>
                  <a:pt x="0" y="457199"/>
                </a:lnTo>
                <a:lnTo>
                  <a:pt x="9144000" y="457199"/>
                </a:lnTo>
                <a:lnTo>
                  <a:pt x="9144000" y="0"/>
                </a:lnTo>
                <a:close/>
              </a:path>
            </a:pathLst>
          </a:custGeom>
          <a:solidFill>
            <a:srgbClr val="BC572C"/>
          </a:solidFill>
        </p:spPr>
        <p:txBody>
          <a:bodyPr wrap="square" lIns="0" tIns="0" rIns="0" bIns="0" rtlCol="0"/>
          <a:lstStyle/>
          <a:p>
            <a:endParaRPr/>
          </a:p>
        </p:txBody>
      </p:sp>
      <p:sp>
        <p:nvSpPr>
          <p:cNvPr id="17" name="bg object 17"/>
          <p:cNvSpPr/>
          <p:nvPr/>
        </p:nvSpPr>
        <p:spPr>
          <a:xfrm>
            <a:off x="0" y="6334318"/>
            <a:ext cx="9144000" cy="66040"/>
          </a:xfrm>
          <a:custGeom>
            <a:avLst/>
            <a:gdLst/>
            <a:ahLst/>
            <a:cxnLst/>
            <a:rect l="l" t="t" r="r" b="b"/>
            <a:pathLst>
              <a:path w="9144000" h="66039">
                <a:moveTo>
                  <a:pt x="9144000" y="0"/>
                </a:moveTo>
                <a:lnTo>
                  <a:pt x="0" y="0"/>
                </a:lnTo>
                <a:lnTo>
                  <a:pt x="0" y="65999"/>
                </a:lnTo>
                <a:lnTo>
                  <a:pt x="9144000" y="65999"/>
                </a:lnTo>
                <a:lnTo>
                  <a:pt x="9144000" y="0"/>
                </a:lnTo>
                <a:close/>
              </a:path>
            </a:pathLst>
          </a:custGeom>
          <a:solidFill>
            <a:srgbClr val="E38312"/>
          </a:solidFill>
        </p:spPr>
        <p:txBody>
          <a:bodyPr wrap="square" lIns="0" tIns="0" rIns="0" bIns="0" rtlCol="0"/>
          <a:lstStyle/>
          <a:p>
            <a:endParaRPr/>
          </a:p>
        </p:txBody>
      </p:sp>
      <p:sp>
        <p:nvSpPr>
          <p:cNvPr id="18" name="bg object 18"/>
          <p:cNvSpPr/>
          <p:nvPr/>
        </p:nvSpPr>
        <p:spPr>
          <a:xfrm>
            <a:off x="895146" y="1737867"/>
            <a:ext cx="7475220" cy="0"/>
          </a:xfrm>
          <a:custGeom>
            <a:avLst/>
            <a:gdLst/>
            <a:ahLst/>
            <a:cxnLst/>
            <a:rect l="l" t="t" r="r" b="b"/>
            <a:pathLst>
              <a:path w="7475220">
                <a:moveTo>
                  <a:pt x="0" y="0"/>
                </a:moveTo>
                <a:lnTo>
                  <a:pt x="7475169" y="0"/>
                </a:lnTo>
              </a:path>
            </a:pathLst>
          </a:custGeom>
          <a:ln w="6350">
            <a:solidFill>
              <a:srgbClr val="7E7E7E"/>
            </a:solidFill>
          </a:ln>
        </p:spPr>
        <p:txBody>
          <a:bodyPr wrap="square" lIns="0" tIns="0" rIns="0" bIns="0" rtlCol="0"/>
          <a:lstStyle/>
          <a:p>
            <a:endParaRPr/>
          </a:p>
        </p:txBody>
      </p:sp>
      <p:sp>
        <p:nvSpPr>
          <p:cNvPr id="2" name="Holder 2"/>
          <p:cNvSpPr>
            <a:spLocks noGrp="1"/>
          </p:cNvSpPr>
          <p:nvPr>
            <p:ph type="title"/>
          </p:nvPr>
        </p:nvSpPr>
        <p:spPr>
          <a:xfrm>
            <a:off x="310388" y="-3200"/>
            <a:ext cx="3084829" cy="931544"/>
          </a:xfrm>
          <a:prstGeom prst="rect">
            <a:avLst/>
          </a:prstGeom>
        </p:spPr>
        <p:txBody>
          <a:bodyPr wrap="square" lIns="0" tIns="0" rIns="0" bIns="0">
            <a:spAutoFit/>
          </a:bodyPr>
          <a:lstStyle>
            <a:lvl1pPr>
              <a:defRPr sz="2000" b="1" i="0">
                <a:solidFill>
                  <a:srgbClr val="404040"/>
                </a:solidFill>
                <a:latin typeface="Calibri"/>
                <a:cs typeface="Calibri"/>
              </a:defRPr>
            </a:lvl1pPr>
          </a:lstStyle>
          <a:p>
            <a:endParaRPr/>
          </a:p>
        </p:txBody>
      </p:sp>
      <p:sp>
        <p:nvSpPr>
          <p:cNvPr id="3" name="Holder 3"/>
          <p:cNvSpPr>
            <a:spLocks noGrp="1"/>
          </p:cNvSpPr>
          <p:nvPr>
            <p:ph type="body" idx="1"/>
          </p:nvPr>
        </p:nvSpPr>
        <p:spPr>
          <a:xfrm>
            <a:off x="939800" y="2821177"/>
            <a:ext cx="7620000" cy="29235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8/13/2026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74065" y="1744726"/>
            <a:ext cx="3626485" cy="1379220"/>
          </a:xfrm>
          <a:prstGeom prst="rect">
            <a:avLst/>
          </a:prstGeom>
        </p:spPr>
        <p:txBody>
          <a:bodyPr vert="horz" wrap="square" lIns="0" tIns="124460" rIns="0" bIns="0" rtlCol="0">
            <a:spAutoFit/>
          </a:bodyPr>
          <a:lstStyle/>
          <a:p>
            <a:pPr marL="12700" marR="5080">
              <a:lnSpc>
                <a:spcPts val="4900"/>
              </a:lnSpc>
              <a:spcBef>
                <a:spcPts val="980"/>
              </a:spcBef>
            </a:pPr>
            <a:r>
              <a:rPr sz="4800" b="0" spc="-65" dirty="0">
                <a:latin typeface="Calibri Light"/>
                <a:cs typeface="Calibri Light"/>
              </a:rPr>
              <a:t>Introduction</a:t>
            </a:r>
            <a:r>
              <a:rPr sz="4800" b="0" spc="-160" dirty="0">
                <a:latin typeface="Calibri Light"/>
                <a:cs typeface="Calibri Light"/>
              </a:rPr>
              <a:t> </a:t>
            </a:r>
            <a:r>
              <a:rPr sz="4800" b="0" spc="-25" dirty="0">
                <a:latin typeface="Calibri Light"/>
                <a:cs typeface="Calibri Light"/>
              </a:rPr>
              <a:t>to </a:t>
            </a:r>
            <a:r>
              <a:rPr sz="4800" b="0" dirty="0">
                <a:latin typeface="Calibri Light"/>
                <a:cs typeface="Calibri Light"/>
              </a:rPr>
              <a:t>Big</a:t>
            </a:r>
            <a:r>
              <a:rPr sz="4800" b="0" spc="-235" dirty="0">
                <a:latin typeface="Calibri Light"/>
                <a:cs typeface="Calibri Light"/>
              </a:rPr>
              <a:t> </a:t>
            </a:r>
            <a:r>
              <a:rPr sz="4800" b="0" spc="-20" dirty="0">
                <a:latin typeface="Calibri Light"/>
                <a:cs typeface="Calibri Light"/>
              </a:rPr>
              <a:t>Data</a:t>
            </a:r>
            <a:endParaRPr sz="4800">
              <a:latin typeface="Calibri Light"/>
              <a:cs typeface="Calibri Light"/>
            </a:endParaRPr>
          </a:p>
        </p:txBody>
      </p:sp>
      <p:pic>
        <p:nvPicPr>
          <p:cNvPr id="3" name="object 3"/>
          <p:cNvPicPr/>
          <p:nvPr/>
        </p:nvPicPr>
        <p:blipFill>
          <a:blip r:embed="rId2" cstate="print"/>
          <a:stretch>
            <a:fillRect/>
          </a:stretch>
        </p:blipFill>
        <p:spPr>
          <a:xfrm>
            <a:off x="5667375" y="1129030"/>
            <a:ext cx="3476625" cy="5210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93598" rIns="0" bIns="0" rtlCol="0">
            <a:spAutoFit/>
          </a:bodyPr>
          <a:lstStyle/>
          <a:p>
            <a:pPr>
              <a:lnSpc>
                <a:spcPct val="100000"/>
              </a:lnSpc>
              <a:spcBef>
                <a:spcPts val="100"/>
              </a:spcBef>
            </a:pPr>
            <a:r>
              <a:rPr sz="3000" dirty="0"/>
              <a:t>What</a:t>
            </a:r>
            <a:r>
              <a:rPr sz="3000" spc="-55" dirty="0"/>
              <a:t> </a:t>
            </a:r>
            <a:r>
              <a:rPr sz="3000" dirty="0"/>
              <a:t>is</a:t>
            </a:r>
            <a:r>
              <a:rPr sz="3000" spc="-65" dirty="0"/>
              <a:t> </a:t>
            </a:r>
            <a:r>
              <a:rPr sz="3000" dirty="0"/>
              <a:t>Big</a:t>
            </a:r>
            <a:r>
              <a:rPr sz="3000" spc="-45" dirty="0"/>
              <a:t> </a:t>
            </a:r>
            <a:r>
              <a:rPr sz="3000" spc="-20" dirty="0"/>
              <a:t>Data?</a:t>
            </a:r>
            <a:endParaRPr sz="3000"/>
          </a:p>
        </p:txBody>
      </p:sp>
      <p:sp>
        <p:nvSpPr>
          <p:cNvPr id="3" name="object 3"/>
          <p:cNvSpPr txBox="1"/>
          <p:nvPr/>
        </p:nvSpPr>
        <p:spPr>
          <a:xfrm>
            <a:off x="292100" y="1290403"/>
            <a:ext cx="8084820" cy="2618105"/>
          </a:xfrm>
          <a:prstGeom prst="rect">
            <a:avLst/>
          </a:prstGeom>
        </p:spPr>
        <p:txBody>
          <a:bodyPr vert="horz" wrap="square" lIns="0" tIns="152400" rIns="0" bIns="0" rtlCol="0">
            <a:spAutoFit/>
          </a:bodyPr>
          <a:lstStyle/>
          <a:p>
            <a:pPr marL="12700">
              <a:lnSpc>
                <a:spcPct val="100000"/>
              </a:lnSpc>
              <a:spcBef>
                <a:spcPts val="1200"/>
              </a:spcBef>
            </a:pPr>
            <a:r>
              <a:rPr sz="2500" b="1" spc="-10" dirty="0">
                <a:solidFill>
                  <a:srgbClr val="404040"/>
                </a:solidFill>
                <a:latin typeface="Calibri"/>
                <a:cs typeface="Calibri"/>
              </a:rPr>
              <a:t>Definition</a:t>
            </a:r>
            <a:endParaRPr sz="2500">
              <a:latin typeface="Calibri"/>
              <a:cs typeface="Calibri"/>
            </a:endParaRPr>
          </a:p>
          <a:p>
            <a:pPr marL="104139" marR="180975">
              <a:lnSpc>
                <a:spcPct val="90000"/>
              </a:lnSpc>
              <a:spcBef>
                <a:spcPts val="1405"/>
              </a:spcBef>
            </a:pPr>
            <a:r>
              <a:rPr sz="2500" b="1" dirty="0">
                <a:solidFill>
                  <a:srgbClr val="404040"/>
                </a:solidFill>
                <a:latin typeface="Calibri"/>
                <a:cs typeface="Calibri"/>
              </a:rPr>
              <a:t>Big</a:t>
            </a:r>
            <a:r>
              <a:rPr sz="2500" b="1" spc="-90" dirty="0">
                <a:solidFill>
                  <a:srgbClr val="404040"/>
                </a:solidFill>
                <a:latin typeface="Calibri"/>
                <a:cs typeface="Calibri"/>
              </a:rPr>
              <a:t> </a:t>
            </a:r>
            <a:r>
              <a:rPr sz="2500" b="1" dirty="0">
                <a:solidFill>
                  <a:srgbClr val="404040"/>
                </a:solidFill>
                <a:latin typeface="Calibri"/>
                <a:cs typeface="Calibri"/>
              </a:rPr>
              <a:t>Data</a:t>
            </a:r>
            <a:r>
              <a:rPr sz="2500" b="1" spc="-80" dirty="0">
                <a:solidFill>
                  <a:srgbClr val="404040"/>
                </a:solidFill>
                <a:latin typeface="Calibri"/>
                <a:cs typeface="Calibri"/>
              </a:rPr>
              <a:t> </a:t>
            </a:r>
            <a:r>
              <a:rPr sz="2500" spc="-20" dirty="0">
                <a:solidFill>
                  <a:srgbClr val="404040"/>
                </a:solidFill>
                <a:latin typeface="Calibri"/>
                <a:cs typeface="Calibri"/>
              </a:rPr>
              <a:t>refers</a:t>
            </a:r>
            <a:r>
              <a:rPr sz="2500" spc="-90" dirty="0">
                <a:solidFill>
                  <a:srgbClr val="404040"/>
                </a:solidFill>
                <a:latin typeface="Calibri"/>
                <a:cs typeface="Calibri"/>
              </a:rPr>
              <a:t> </a:t>
            </a:r>
            <a:r>
              <a:rPr sz="2500" dirty="0">
                <a:solidFill>
                  <a:srgbClr val="404040"/>
                </a:solidFill>
                <a:latin typeface="Calibri"/>
                <a:cs typeface="Calibri"/>
              </a:rPr>
              <a:t>to</a:t>
            </a:r>
            <a:r>
              <a:rPr sz="2500" spc="-95" dirty="0">
                <a:solidFill>
                  <a:srgbClr val="404040"/>
                </a:solidFill>
                <a:latin typeface="Calibri"/>
                <a:cs typeface="Calibri"/>
              </a:rPr>
              <a:t> </a:t>
            </a:r>
            <a:r>
              <a:rPr sz="2500" spc="-10" dirty="0">
                <a:solidFill>
                  <a:srgbClr val="404040"/>
                </a:solidFill>
                <a:latin typeface="Calibri"/>
                <a:cs typeface="Calibri"/>
              </a:rPr>
              <a:t>extremely</a:t>
            </a:r>
            <a:r>
              <a:rPr sz="2500" spc="-65" dirty="0">
                <a:solidFill>
                  <a:srgbClr val="404040"/>
                </a:solidFill>
                <a:latin typeface="Calibri"/>
                <a:cs typeface="Calibri"/>
              </a:rPr>
              <a:t> </a:t>
            </a:r>
            <a:r>
              <a:rPr sz="2500" dirty="0">
                <a:solidFill>
                  <a:srgbClr val="404040"/>
                </a:solidFill>
                <a:latin typeface="Calibri"/>
                <a:cs typeface="Calibri"/>
              </a:rPr>
              <a:t>large</a:t>
            </a:r>
            <a:r>
              <a:rPr sz="2500" spc="-85" dirty="0">
                <a:solidFill>
                  <a:srgbClr val="404040"/>
                </a:solidFill>
                <a:latin typeface="Calibri"/>
                <a:cs typeface="Calibri"/>
              </a:rPr>
              <a:t> </a:t>
            </a:r>
            <a:r>
              <a:rPr sz="2500" dirty="0">
                <a:solidFill>
                  <a:srgbClr val="404040"/>
                </a:solidFill>
                <a:latin typeface="Calibri"/>
                <a:cs typeface="Calibri"/>
              </a:rPr>
              <a:t>and</a:t>
            </a:r>
            <a:r>
              <a:rPr sz="2500" spc="-80" dirty="0">
                <a:solidFill>
                  <a:srgbClr val="404040"/>
                </a:solidFill>
                <a:latin typeface="Calibri"/>
                <a:cs typeface="Calibri"/>
              </a:rPr>
              <a:t> </a:t>
            </a:r>
            <a:r>
              <a:rPr sz="2500" dirty="0">
                <a:solidFill>
                  <a:srgbClr val="404040"/>
                </a:solidFill>
                <a:latin typeface="Calibri"/>
                <a:cs typeface="Calibri"/>
              </a:rPr>
              <a:t>complex</a:t>
            </a:r>
            <a:r>
              <a:rPr sz="2500" spc="-70" dirty="0">
                <a:solidFill>
                  <a:srgbClr val="404040"/>
                </a:solidFill>
                <a:latin typeface="Calibri"/>
                <a:cs typeface="Calibri"/>
              </a:rPr>
              <a:t> </a:t>
            </a:r>
            <a:r>
              <a:rPr sz="2500" dirty="0">
                <a:solidFill>
                  <a:srgbClr val="404040"/>
                </a:solidFill>
                <a:latin typeface="Calibri"/>
                <a:cs typeface="Calibri"/>
              </a:rPr>
              <a:t>datasets</a:t>
            </a:r>
            <a:r>
              <a:rPr sz="2500" spc="-80" dirty="0">
                <a:solidFill>
                  <a:srgbClr val="404040"/>
                </a:solidFill>
                <a:latin typeface="Calibri"/>
                <a:cs typeface="Calibri"/>
              </a:rPr>
              <a:t> </a:t>
            </a:r>
            <a:r>
              <a:rPr sz="2500" spc="-20" dirty="0">
                <a:solidFill>
                  <a:srgbClr val="404040"/>
                </a:solidFill>
                <a:latin typeface="Calibri"/>
                <a:cs typeface="Calibri"/>
              </a:rPr>
              <a:t>that </a:t>
            </a:r>
            <a:r>
              <a:rPr sz="2500" dirty="0">
                <a:solidFill>
                  <a:srgbClr val="404040"/>
                </a:solidFill>
                <a:latin typeface="Calibri"/>
                <a:cs typeface="Calibri"/>
              </a:rPr>
              <a:t>cannot</a:t>
            </a:r>
            <a:r>
              <a:rPr sz="2500" spc="-70" dirty="0">
                <a:solidFill>
                  <a:srgbClr val="404040"/>
                </a:solidFill>
                <a:latin typeface="Calibri"/>
                <a:cs typeface="Calibri"/>
              </a:rPr>
              <a:t> </a:t>
            </a:r>
            <a:r>
              <a:rPr sz="2500" dirty="0">
                <a:solidFill>
                  <a:srgbClr val="404040"/>
                </a:solidFill>
                <a:latin typeface="Calibri"/>
                <a:cs typeface="Calibri"/>
              </a:rPr>
              <a:t>be</a:t>
            </a:r>
            <a:r>
              <a:rPr sz="2500" spc="-80" dirty="0">
                <a:solidFill>
                  <a:srgbClr val="404040"/>
                </a:solidFill>
                <a:latin typeface="Calibri"/>
                <a:cs typeface="Calibri"/>
              </a:rPr>
              <a:t> </a:t>
            </a:r>
            <a:r>
              <a:rPr sz="2500" spc="-10" dirty="0">
                <a:solidFill>
                  <a:srgbClr val="404040"/>
                </a:solidFill>
                <a:latin typeface="Calibri"/>
                <a:cs typeface="Calibri"/>
              </a:rPr>
              <a:t>efficiently</a:t>
            </a:r>
            <a:r>
              <a:rPr sz="2500" spc="-45" dirty="0">
                <a:solidFill>
                  <a:srgbClr val="404040"/>
                </a:solidFill>
                <a:latin typeface="Calibri"/>
                <a:cs typeface="Calibri"/>
              </a:rPr>
              <a:t> </a:t>
            </a:r>
            <a:r>
              <a:rPr sz="2500" spc="-10" dirty="0">
                <a:solidFill>
                  <a:srgbClr val="404040"/>
                </a:solidFill>
                <a:latin typeface="Calibri"/>
                <a:cs typeface="Calibri"/>
              </a:rPr>
              <a:t>stored,</a:t>
            </a:r>
            <a:r>
              <a:rPr sz="2500" spc="-85" dirty="0">
                <a:solidFill>
                  <a:srgbClr val="404040"/>
                </a:solidFill>
                <a:latin typeface="Calibri"/>
                <a:cs typeface="Calibri"/>
              </a:rPr>
              <a:t> </a:t>
            </a:r>
            <a:r>
              <a:rPr sz="2500" dirty="0">
                <a:solidFill>
                  <a:srgbClr val="404040"/>
                </a:solidFill>
                <a:latin typeface="Calibri"/>
                <a:cs typeface="Calibri"/>
              </a:rPr>
              <a:t>processed,</a:t>
            </a:r>
            <a:r>
              <a:rPr sz="2500" spc="-70" dirty="0">
                <a:solidFill>
                  <a:srgbClr val="404040"/>
                </a:solidFill>
                <a:latin typeface="Calibri"/>
                <a:cs typeface="Calibri"/>
              </a:rPr>
              <a:t> </a:t>
            </a:r>
            <a:r>
              <a:rPr sz="2500" dirty="0">
                <a:solidFill>
                  <a:srgbClr val="404040"/>
                </a:solidFill>
                <a:latin typeface="Calibri"/>
                <a:cs typeface="Calibri"/>
              </a:rPr>
              <a:t>or</a:t>
            </a:r>
            <a:r>
              <a:rPr sz="2500" spc="-75" dirty="0">
                <a:solidFill>
                  <a:srgbClr val="404040"/>
                </a:solidFill>
                <a:latin typeface="Calibri"/>
                <a:cs typeface="Calibri"/>
              </a:rPr>
              <a:t> </a:t>
            </a:r>
            <a:r>
              <a:rPr sz="2500" spc="-10" dirty="0">
                <a:solidFill>
                  <a:srgbClr val="404040"/>
                </a:solidFill>
                <a:latin typeface="Calibri"/>
                <a:cs typeface="Calibri"/>
              </a:rPr>
              <a:t>analyzed</a:t>
            </a:r>
            <a:r>
              <a:rPr sz="2500" spc="-60" dirty="0">
                <a:solidFill>
                  <a:srgbClr val="404040"/>
                </a:solidFill>
                <a:latin typeface="Calibri"/>
                <a:cs typeface="Calibri"/>
              </a:rPr>
              <a:t> </a:t>
            </a:r>
            <a:r>
              <a:rPr sz="2500" spc="-10" dirty="0">
                <a:solidFill>
                  <a:srgbClr val="404040"/>
                </a:solidFill>
                <a:latin typeface="Calibri"/>
                <a:cs typeface="Calibri"/>
              </a:rPr>
              <a:t>using traditional</a:t>
            </a:r>
            <a:r>
              <a:rPr sz="2500" spc="-95" dirty="0">
                <a:solidFill>
                  <a:srgbClr val="404040"/>
                </a:solidFill>
                <a:latin typeface="Calibri"/>
                <a:cs typeface="Calibri"/>
              </a:rPr>
              <a:t> </a:t>
            </a:r>
            <a:r>
              <a:rPr sz="2500" dirty="0">
                <a:solidFill>
                  <a:srgbClr val="404040"/>
                </a:solidFill>
                <a:latin typeface="Calibri"/>
                <a:cs typeface="Calibri"/>
              </a:rPr>
              <a:t>database</a:t>
            </a:r>
            <a:r>
              <a:rPr sz="2500" spc="-70" dirty="0">
                <a:solidFill>
                  <a:srgbClr val="404040"/>
                </a:solidFill>
                <a:latin typeface="Calibri"/>
                <a:cs typeface="Calibri"/>
              </a:rPr>
              <a:t> </a:t>
            </a:r>
            <a:r>
              <a:rPr sz="2500" spc="-10" dirty="0">
                <a:solidFill>
                  <a:srgbClr val="404040"/>
                </a:solidFill>
                <a:latin typeface="Calibri"/>
                <a:cs typeface="Calibri"/>
              </a:rPr>
              <a:t>management</a:t>
            </a:r>
            <a:r>
              <a:rPr sz="2500" spc="-55" dirty="0">
                <a:solidFill>
                  <a:srgbClr val="404040"/>
                </a:solidFill>
                <a:latin typeface="Calibri"/>
                <a:cs typeface="Calibri"/>
              </a:rPr>
              <a:t> </a:t>
            </a:r>
            <a:r>
              <a:rPr sz="2500" spc="-10" dirty="0">
                <a:solidFill>
                  <a:srgbClr val="404040"/>
                </a:solidFill>
                <a:latin typeface="Calibri"/>
                <a:cs typeface="Calibri"/>
              </a:rPr>
              <a:t>systems.</a:t>
            </a:r>
            <a:endParaRPr sz="2500">
              <a:latin typeface="Calibri"/>
              <a:cs typeface="Calibri"/>
            </a:endParaRPr>
          </a:p>
          <a:p>
            <a:pPr marL="104139" marR="5080">
              <a:lnSpc>
                <a:spcPts val="2700"/>
              </a:lnSpc>
              <a:spcBef>
                <a:spcPts val="1445"/>
              </a:spcBef>
            </a:pPr>
            <a:r>
              <a:rPr sz="2500" dirty="0">
                <a:solidFill>
                  <a:srgbClr val="404040"/>
                </a:solidFill>
                <a:latin typeface="Calibri"/>
                <a:cs typeface="Calibri"/>
              </a:rPr>
              <a:t>It</a:t>
            </a:r>
            <a:r>
              <a:rPr sz="2500" spc="-85" dirty="0">
                <a:solidFill>
                  <a:srgbClr val="404040"/>
                </a:solidFill>
                <a:latin typeface="Calibri"/>
                <a:cs typeface="Calibri"/>
              </a:rPr>
              <a:t> </a:t>
            </a:r>
            <a:r>
              <a:rPr sz="2500" dirty="0">
                <a:solidFill>
                  <a:srgbClr val="404040"/>
                </a:solidFill>
                <a:latin typeface="Calibri"/>
                <a:cs typeface="Calibri"/>
              </a:rPr>
              <a:t>includes</a:t>
            </a:r>
            <a:r>
              <a:rPr sz="2500" spc="-60" dirty="0">
                <a:solidFill>
                  <a:srgbClr val="404040"/>
                </a:solidFill>
                <a:latin typeface="Calibri"/>
                <a:cs typeface="Calibri"/>
              </a:rPr>
              <a:t> </a:t>
            </a:r>
            <a:r>
              <a:rPr sz="2500" spc="-10" dirty="0">
                <a:solidFill>
                  <a:srgbClr val="404040"/>
                </a:solidFill>
                <a:latin typeface="Calibri"/>
                <a:cs typeface="Calibri"/>
              </a:rPr>
              <a:t>structured,</a:t>
            </a:r>
            <a:r>
              <a:rPr sz="2500" spc="-70" dirty="0">
                <a:solidFill>
                  <a:srgbClr val="404040"/>
                </a:solidFill>
                <a:latin typeface="Calibri"/>
                <a:cs typeface="Calibri"/>
              </a:rPr>
              <a:t> </a:t>
            </a:r>
            <a:r>
              <a:rPr sz="2500" spc="-10" dirty="0">
                <a:solidFill>
                  <a:srgbClr val="404040"/>
                </a:solidFill>
                <a:latin typeface="Calibri"/>
                <a:cs typeface="Calibri"/>
              </a:rPr>
              <a:t>semi-</a:t>
            </a:r>
            <a:r>
              <a:rPr sz="2500" dirty="0">
                <a:solidFill>
                  <a:srgbClr val="404040"/>
                </a:solidFill>
                <a:latin typeface="Calibri"/>
                <a:cs typeface="Calibri"/>
              </a:rPr>
              <a:t>structured,</a:t>
            </a:r>
            <a:r>
              <a:rPr sz="2500" spc="-55" dirty="0">
                <a:solidFill>
                  <a:srgbClr val="404040"/>
                </a:solidFill>
                <a:latin typeface="Calibri"/>
                <a:cs typeface="Calibri"/>
              </a:rPr>
              <a:t> </a:t>
            </a:r>
            <a:r>
              <a:rPr sz="2500" dirty="0">
                <a:solidFill>
                  <a:srgbClr val="404040"/>
                </a:solidFill>
                <a:latin typeface="Calibri"/>
                <a:cs typeface="Calibri"/>
              </a:rPr>
              <a:t>and</a:t>
            </a:r>
            <a:r>
              <a:rPr sz="2500" spc="-80" dirty="0">
                <a:solidFill>
                  <a:srgbClr val="404040"/>
                </a:solidFill>
                <a:latin typeface="Calibri"/>
                <a:cs typeface="Calibri"/>
              </a:rPr>
              <a:t> </a:t>
            </a:r>
            <a:r>
              <a:rPr sz="2500" spc="-10" dirty="0">
                <a:solidFill>
                  <a:srgbClr val="404040"/>
                </a:solidFill>
                <a:latin typeface="Calibri"/>
                <a:cs typeface="Calibri"/>
              </a:rPr>
              <a:t>unstructured</a:t>
            </a:r>
            <a:r>
              <a:rPr sz="2500" spc="-50" dirty="0">
                <a:solidFill>
                  <a:srgbClr val="404040"/>
                </a:solidFill>
                <a:latin typeface="Calibri"/>
                <a:cs typeface="Calibri"/>
              </a:rPr>
              <a:t> </a:t>
            </a:r>
            <a:r>
              <a:rPr sz="2500" spc="-20" dirty="0">
                <a:solidFill>
                  <a:srgbClr val="404040"/>
                </a:solidFill>
                <a:latin typeface="Calibri"/>
                <a:cs typeface="Calibri"/>
              </a:rPr>
              <a:t>data </a:t>
            </a:r>
            <a:r>
              <a:rPr sz="2500" spc="-10" dirty="0">
                <a:solidFill>
                  <a:srgbClr val="404040"/>
                </a:solidFill>
                <a:latin typeface="Calibri"/>
                <a:cs typeface="Calibri"/>
              </a:rPr>
              <a:t>generated</a:t>
            </a:r>
            <a:r>
              <a:rPr sz="2500" spc="-85" dirty="0">
                <a:solidFill>
                  <a:srgbClr val="404040"/>
                </a:solidFill>
                <a:latin typeface="Calibri"/>
                <a:cs typeface="Calibri"/>
              </a:rPr>
              <a:t> </a:t>
            </a:r>
            <a:r>
              <a:rPr sz="2500" dirty="0">
                <a:solidFill>
                  <a:srgbClr val="404040"/>
                </a:solidFill>
                <a:latin typeface="Calibri"/>
                <a:cs typeface="Calibri"/>
              </a:rPr>
              <a:t>from</a:t>
            </a:r>
            <a:r>
              <a:rPr sz="2500" spc="-90" dirty="0">
                <a:solidFill>
                  <a:srgbClr val="404040"/>
                </a:solidFill>
                <a:latin typeface="Calibri"/>
                <a:cs typeface="Calibri"/>
              </a:rPr>
              <a:t> </a:t>
            </a:r>
            <a:r>
              <a:rPr sz="2500" dirty="0">
                <a:solidFill>
                  <a:srgbClr val="404040"/>
                </a:solidFill>
                <a:latin typeface="Calibri"/>
                <a:cs typeface="Calibri"/>
              </a:rPr>
              <a:t>various</a:t>
            </a:r>
            <a:r>
              <a:rPr sz="2500" spc="-100" dirty="0">
                <a:solidFill>
                  <a:srgbClr val="404040"/>
                </a:solidFill>
                <a:latin typeface="Calibri"/>
                <a:cs typeface="Calibri"/>
              </a:rPr>
              <a:t> </a:t>
            </a:r>
            <a:r>
              <a:rPr sz="2500" dirty="0">
                <a:solidFill>
                  <a:srgbClr val="404040"/>
                </a:solidFill>
                <a:latin typeface="Calibri"/>
                <a:cs typeface="Calibri"/>
              </a:rPr>
              <a:t>digital</a:t>
            </a:r>
            <a:r>
              <a:rPr sz="2500" spc="-85" dirty="0">
                <a:solidFill>
                  <a:srgbClr val="404040"/>
                </a:solidFill>
                <a:latin typeface="Calibri"/>
                <a:cs typeface="Calibri"/>
              </a:rPr>
              <a:t> </a:t>
            </a:r>
            <a:r>
              <a:rPr sz="2500" spc="-10" dirty="0">
                <a:solidFill>
                  <a:srgbClr val="404040"/>
                </a:solidFill>
                <a:latin typeface="Calibri"/>
                <a:cs typeface="Calibri"/>
              </a:rPr>
              <a:t>sources.</a:t>
            </a:r>
            <a:endParaRPr sz="2500">
              <a:latin typeface="Calibri"/>
              <a:cs typeface="Calibri"/>
            </a:endParaRPr>
          </a:p>
        </p:txBody>
      </p:sp>
      <p:sp>
        <p:nvSpPr>
          <p:cNvPr id="4" name="object 4"/>
          <p:cNvSpPr txBox="1"/>
          <p:nvPr/>
        </p:nvSpPr>
        <p:spPr>
          <a:xfrm>
            <a:off x="292100" y="4338775"/>
            <a:ext cx="3121025" cy="1834514"/>
          </a:xfrm>
          <a:prstGeom prst="rect">
            <a:avLst/>
          </a:prstGeom>
        </p:spPr>
        <p:txBody>
          <a:bodyPr vert="horz" wrap="square" lIns="0" tIns="160020" rIns="0" bIns="0" rtlCol="0">
            <a:spAutoFit/>
          </a:bodyPr>
          <a:lstStyle/>
          <a:p>
            <a:pPr marL="104139">
              <a:lnSpc>
                <a:spcPct val="100000"/>
              </a:lnSpc>
              <a:spcBef>
                <a:spcPts val="1260"/>
              </a:spcBef>
            </a:pPr>
            <a:r>
              <a:rPr sz="2000" b="1" spc="-10" dirty="0">
                <a:solidFill>
                  <a:srgbClr val="404040"/>
                </a:solidFill>
                <a:latin typeface="Calibri"/>
                <a:cs typeface="Calibri"/>
              </a:rPr>
              <a:t>Examples</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dirty="0">
                <a:solidFill>
                  <a:srgbClr val="404040"/>
                </a:solidFill>
                <a:latin typeface="Calibri"/>
                <a:cs typeface="Calibri"/>
              </a:rPr>
              <a:t>Social</a:t>
            </a:r>
            <a:r>
              <a:rPr sz="2000" spc="-40" dirty="0">
                <a:solidFill>
                  <a:srgbClr val="404040"/>
                </a:solidFill>
                <a:latin typeface="Calibri"/>
                <a:cs typeface="Calibri"/>
              </a:rPr>
              <a:t> </a:t>
            </a:r>
            <a:r>
              <a:rPr sz="2000" dirty="0">
                <a:solidFill>
                  <a:srgbClr val="404040"/>
                </a:solidFill>
                <a:latin typeface="Calibri"/>
                <a:cs typeface="Calibri"/>
              </a:rPr>
              <a:t>media</a:t>
            </a:r>
            <a:r>
              <a:rPr sz="2000" spc="-25" dirty="0">
                <a:solidFill>
                  <a:srgbClr val="404040"/>
                </a:solidFill>
                <a:latin typeface="Calibri"/>
                <a:cs typeface="Calibri"/>
              </a:rPr>
              <a:t> </a:t>
            </a:r>
            <a:r>
              <a:rPr sz="2000" spc="-10" dirty="0">
                <a:solidFill>
                  <a:srgbClr val="404040"/>
                </a:solidFill>
                <a:latin typeface="Calibri"/>
                <a:cs typeface="Calibri"/>
              </a:rPr>
              <a:t>posts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dirty="0">
                <a:solidFill>
                  <a:srgbClr val="404040"/>
                </a:solidFill>
                <a:latin typeface="Calibri"/>
                <a:cs typeface="Calibri"/>
              </a:rPr>
              <a:t>Online</a:t>
            </a:r>
            <a:r>
              <a:rPr sz="2000" spc="-25" dirty="0">
                <a:solidFill>
                  <a:srgbClr val="404040"/>
                </a:solidFill>
                <a:latin typeface="Calibri"/>
                <a:cs typeface="Calibri"/>
              </a:rPr>
              <a:t> </a:t>
            </a:r>
            <a:r>
              <a:rPr sz="2000" dirty="0">
                <a:solidFill>
                  <a:srgbClr val="404040"/>
                </a:solidFill>
                <a:latin typeface="Calibri"/>
                <a:cs typeface="Calibri"/>
              </a:rPr>
              <a:t>shopping</a:t>
            </a:r>
            <a:r>
              <a:rPr sz="2000" spc="-35" dirty="0">
                <a:solidFill>
                  <a:srgbClr val="404040"/>
                </a:solidFill>
                <a:latin typeface="Calibri"/>
                <a:cs typeface="Calibri"/>
              </a:rPr>
              <a:t> </a:t>
            </a:r>
            <a:r>
              <a:rPr sz="2000" spc="-10" dirty="0">
                <a:solidFill>
                  <a:srgbClr val="404040"/>
                </a:solidFill>
                <a:latin typeface="Calibri"/>
                <a:cs typeface="Calibri"/>
              </a:rPr>
              <a:t>transactions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Healthcare</a:t>
            </a:r>
            <a:r>
              <a:rPr sz="2000" spc="-20" dirty="0">
                <a:solidFill>
                  <a:srgbClr val="404040"/>
                </a:solidFill>
                <a:latin typeface="Calibri"/>
                <a:cs typeface="Calibri"/>
              </a:rPr>
              <a:t> </a:t>
            </a:r>
            <a:r>
              <a:rPr sz="2000" spc="-10" dirty="0">
                <a:solidFill>
                  <a:srgbClr val="404040"/>
                </a:solidFill>
                <a:latin typeface="Calibri"/>
                <a:cs typeface="Calibri"/>
              </a:rPr>
              <a:t>records</a:t>
            </a:r>
            <a:endParaRPr sz="2000">
              <a:latin typeface="Calibri"/>
              <a:cs typeface="Calibri"/>
            </a:endParaRPr>
          </a:p>
        </p:txBody>
      </p:sp>
      <p:sp>
        <p:nvSpPr>
          <p:cNvPr id="5" name="object 5"/>
          <p:cNvSpPr txBox="1"/>
          <p:nvPr/>
        </p:nvSpPr>
        <p:spPr>
          <a:xfrm>
            <a:off x="4797678" y="4692142"/>
            <a:ext cx="2186940" cy="574675"/>
          </a:xfrm>
          <a:prstGeom prst="rect">
            <a:avLst/>
          </a:prstGeom>
        </p:spPr>
        <p:txBody>
          <a:bodyPr vert="horz" wrap="square" lIns="0" tIns="12700" rIns="0" bIns="0" rtlCol="0">
            <a:spAutoFit/>
          </a:bodyPr>
          <a:lstStyle/>
          <a:p>
            <a:pPr marL="756285" indent="-286385">
              <a:lnSpc>
                <a:spcPct val="100000"/>
              </a:lnSpc>
              <a:spcBef>
                <a:spcPts val="100"/>
              </a:spcBef>
              <a:buFont typeface="Tahoma"/>
              <a:buChar char="•"/>
              <a:tabLst>
                <a:tab pos="756285" algn="l"/>
              </a:tabLst>
            </a:pPr>
            <a:r>
              <a:rPr sz="1800" dirty="0">
                <a:latin typeface="Calibri"/>
                <a:cs typeface="Calibri"/>
              </a:rPr>
              <a:t>IoT</a:t>
            </a:r>
            <a:r>
              <a:rPr sz="1800" spc="-20" dirty="0">
                <a:latin typeface="Calibri"/>
                <a:cs typeface="Calibri"/>
              </a:rPr>
              <a:t> </a:t>
            </a:r>
            <a:r>
              <a:rPr sz="1800" dirty="0">
                <a:latin typeface="Calibri"/>
                <a:cs typeface="Calibri"/>
              </a:rPr>
              <a:t>sensor</a:t>
            </a:r>
            <a:r>
              <a:rPr sz="1800" spc="-30" dirty="0">
                <a:latin typeface="Calibri"/>
                <a:cs typeface="Calibri"/>
              </a:rPr>
              <a:t> </a:t>
            </a:r>
            <a:r>
              <a:rPr sz="1800" spc="-20" dirty="0">
                <a:latin typeface="Calibri"/>
                <a:cs typeface="Calibri"/>
              </a:rPr>
              <a:t>data</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Satellite</a:t>
            </a:r>
            <a:r>
              <a:rPr sz="1800" spc="-100" dirty="0">
                <a:latin typeface="Calibri"/>
                <a:cs typeface="Calibri"/>
              </a:rPr>
              <a:t> </a:t>
            </a:r>
            <a:r>
              <a:rPr sz="1800" spc="-10" dirty="0">
                <a:latin typeface="Calibri"/>
                <a:cs typeface="Calibri"/>
              </a:rPr>
              <a:t>imagery</a:t>
            </a:r>
            <a:endParaRPr sz="1800">
              <a:latin typeface="Calibri"/>
              <a:cs typeface="Calibri"/>
            </a:endParaRPr>
          </a:p>
        </p:txBody>
      </p:sp>
      <p:sp>
        <p:nvSpPr>
          <p:cNvPr id="6" name="object 6"/>
          <p:cNvSpPr txBox="1"/>
          <p:nvPr/>
        </p:nvSpPr>
        <p:spPr>
          <a:xfrm>
            <a:off x="4797678" y="5241163"/>
            <a:ext cx="2112010" cy="574040"/>
          </a:xfrm>
          <a:prstGeom prst="rect">
            <a:avLst/>
          </a:prstGeom>
        </p:spPr>
        <p:txBody>
          <a:bodyPr vert="horz" wrap="square" lIns="0" tIns="12700" rIns="0" bIns="0" rtlCol="0">
            <a:spAutoFit/>
          </a:bodyPr>
          <a:lstStyle/>
          <a:p>
            <a:pPr marL="91440" indent="-90805">
              <a:lnSpc>
                <a:spcPct val="100000"/>
              </a:lnSpc>
              <a:spcBef>
                <a:spcPts val="100"/>
              </a:spcBef>
              <a:buSzPct val="75000"/>
              <a:buFont typeface="Tahoma"/>
              <a:buChar char="•"/>
              <a:tabLst>
                <a:tab pos="91440" algn="l"/>
              </a:tabLst>
            </a:pPr>
            <a:r>
              <a:rPr sz="1800" dirty="0">
                <a:latin typeface="Calibri"/>
                <a:cs typeface="Calibri"/>
              </a:rPr>
              <a:t>Financial</a:t>
            </a:r>
            <a:r>
              <a:rPr sz="1800" spc="-45" dirty="0">
                <a:latin typeface="Calibri"/>
                <a:cs typeface="Calibri"/>
              </a:rPr>
              <a:t> </a:t>
            </a:r>
            <a:r>
              <a:rPr sz="1800" spc="-10" dirty="0">
                <a:latin typeface="Calibri"/>
                <a:cs typeface="Calibri"/>
              </a:rPr>
              <a:t>transactions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Video</a:t>
            </a:r>
            <a:r>
              <a:rPr sz="1800" spc="-65" dirty="0">
                <a:latin typeface="Calibri"/>
                <a:cs typeface="Calibri"/>
              </a:rPr>
              <a:t> </a:t>
            </a:r>
            <a:r>
              <a:rPr sz="1800" dirty="0">
                <a:latin typeface="Calibri"/>
                <a:cs typeface="Calibri"/>
              </a:rPr>
              <a:t>streaming</a:t>
            </a:r>
            <a:r>
              <a:rPr sz="1800" spc="-60" dirty="0">
                <a:latin typeface="Calibri"/>
                <a:cs typeface="Calibri"/>
              </a:rPr>
              <a:t> </a:t>
            </a:r>
            <a:r>
              <a:rPr sz="1800" spc="-20" dirty="0">
                <a:latin typeface="Calibri"/>
                <a:cs typeface="Calibri"/>
              </a:rPr>
              <a:t>data</a:t>
            </a:r>
            <a:endParaRPr sz="1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83540" y="313690"/>
            <a:ext cx="3459479" cy="69596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000000"/>
                </a:solidFill>
              </a:rPr>
              <a:t>Why</a:t>
            </a:r>
            <a:r>
              <a:rPr sz="2200" spc="-60" dirty="0">
                <a:solidFill>
                  <a:srgbClr val="000000"/>
                </a:solidFill>
              </a:rPr>
              <a:t> </a:t>
            </a:r>
            <a:r>
              <a:rPr sz="2200" dirty="0">
                <a:solidFill>
                  <a:srgbClr val="000000"/>
                </a:solidFill>
              </a:rPr>
              <a:t>Big</a:t>
            </a:r>
            <a:r>
              <a:rPr sz="2200" spc="-60" dirty="0">
                <a:solidFill>
                  <a:srgbClr val="000000"/>
                </a:solidFill>
              </a:rPr>
              <a:t> </a:t>
            </a:r>
            <a:r>
              <a:rPr sz="2200" spc="-20" dirty="0">
                <a:solidFill>
                  <a:srgbClr val="000000"/>
                </a:solidFill>
              </a:rPr>
              <a:t>Data?</a:t>
            </a:r>
            <a:endParaRPr sz="2200"/>
          </a:p>
          <a:p>
            <a:pPr marL="12700">
              <a:lnSpc>
                <a:spcPct val="100000"/>
              </a:lnSpc>
            </a:pPr>
            <a:r>
              <a:rPr sz="2200" dirty="0">
                <a:solidFill>
                  <a:srgbClr val="000000"/>
                </a:solidFill>
              </a:rPr>
              <a:t>Growth</a:t>
            </a:r>
            <a:r>
              <a:rPr sz="2200" spc="-40" dirty="0">
                <a:solidFill>
                  <a:srgbClr val="000000"/>
                </a:solidFill>
              </a:rPr>
              <a:t> </a:t>
            </a:r>
            <a:r>
              <a:rPr sz="2200" dirty="0">
                <a:solidFill>
                  <a:srgbClr val="000000"/>
                </a:solidFill>
              </a:rPr>
              <a:t>of</a:t>
            </a:r>
            <a:r>
              <a:rPr sz="2200" spc="-30" dirty="0">
                <a:solidFill>
                  <a:srgbClr val="000000"/>
                </a:solidFill>
              </a:rPr>
              <a:t> </a:t>
            </a:r>
            <a:r>
              <a:rPr sz="2200" dirty="0">
                <a:solidFill>
                  <a:srgbClr val="000000"/>
                </a:solidFill>
              </a:rPr>
              <a:t>Digital</a:t>
            </a:r>
            <a:r>
              <a:rPr sz="2200" spc="-50" dirty="0">
                <a:solidFill>
                  <a:srgbClr val="000000"/>
                </a:solidFill>
              </a:rPr>
              <a:t> </a:t>
            </a:r>
            <a:r>
              <a:rPr sz="2200" spc="-10" dirty="0">
                <a:solidFill>
                  <a:srgbClr val="000000"/>
                </a:solidFill>
              </a:rPr>
              <a:t>Information</a:t>
            </a:r>
            <a:endParaRPr sz="2200"/>
          </a:p>
        </p:txBody>
      </p:sp>
      <p:sp>
        <p:nvSpPr>
          <p:cNvPr id="3" name="object 3"/>
          <p:cNvSpPr txBox="1"/>
          <p:nvPr/>
        </p:nvSpPr>
        <p:spPr>
          <a:xfrm>
            <a:off x="383540" y="984630"/>
            <a:ext cx="7981315" cy="1031240"/>
          </a:xfrm>
          <a:prstGeom prst="rect">
            <a:avLst/>
          </a:prstGeom>
        </p:spPr>
        <p:txBody>
          <a:bodyPr vert="horz" wrap="square" lIns="0" tIns="12065" rIns="0" bIns="0" rtlCol="0">
            <a:spAutoFit/>
          </a:bodyPr>
          <a:lstStyle/>
          <a:p>
            <a:pPr marL="12700">
              <a:lnSpc>
                <a:spcPct val="100000"/>
              </a:lnSpc>
              <a:spcBef>
                <a:spcPts val="95"/>
              </a:spcBef>
            </a:pPr>
            <a:r>
              <a:rPr sz="2200" dirty="0">
                <a:latin typeface="Calibri"/>
                <a:cs typeface="Calibri"/>
              </a:rPr>
              <a:t>Every</a:t>
            </a:r>
            <a:r>
              <a:rPr sz="2200" spc="-70" dirty="0">
                <a:latin typeface="Calibri"/>
                <a:cs typeface="Calibri"/>
              </a:rPr>
              <a:t> </a:t>
            </a:r>
            <a:r>
              <a:rPr sz="2200" spc="-30" dirty="0">
                <a:latin typeface="Calibri"/>
                <a:cs typeface="Calibri"/>
              </a:rPr>
              <a:t>day,</a:t>
            </a:r>
            <a:r>
              <a:rPr sz="2200" spc="-65" dirty="0">
                <a:latin typeface="Calibri"/>
                <a:cs typeface="Calibri"/>
              </a:rPr>
              <a:t> </a:t>
            </a:r>
            <a:r>
              <a:rPr sz="2200" dirty="0">
                <a:latin typeface="Calibri"/>
                <a:cs typeface="Calibri"/>
              </a:rPr>
              <a:t>billions</a:t>
            </a:r>
            <a:r>
              <a:rPr sz="2200" spc="-100" dirty="0">
                <a:latin typeface="Calibri"/>
                <a:cs typeface="Calibri"/>
              </a:rPr>
              <a:t> </a:t>
            </a:r>
            <a:r>
              <a:rPr sz="2200" dirty="0">
                <a:latin typeface="Calibri"/>
                <a:cs typeface="Calibri"/>
              </a:rPr>
              <a:t>of</a:t>
            </a:r>
            <a:r>
              <a:rPr sz="2200" spc="-65" dirty="0">
                <a:latin typeface="Calibri"/>
                <a:cs typeface="Calibri"/>
              </a:rPr>
              <a:t> </a:t>
            </a:r>
            <a:r>
              <a:rPr sz="2200" dirty="0">
                <a:latin typeface="Calibri"/>
                <a:cs typeface="Calibri"/>
              </a:rPr>
              <a:t>users</a:t>
            </a:r>
            <a:r>
              <a:rPr sz="2200" spc="-70" dirty="0">
                <a:latin typeface="Calibri"/>
                <a:cs typeface="Calibri"/>
              </a:rPr>
              <a:t> </a:t>
            </a:r>
            <a:r>
              <a:rPr sz="2200" spc="-10" dirty="0">
                <a:latin typeface="Calibri"/>
                <a:cs typeface="Calibri"/>
              </a:rPr>
              <a:t>generate</a:t>
            </a:r>
            <a:r>
              <a:rPr sz="2200" spc="-40" dirty="0">
                <a:latin typeface="Calibri"/>
                <a:cs typeface="Calibri"/>
              </a:rPr>
              <a:t> </a:t>
            </a:r>
            <a:r>
              <a:rPr sz="2200" dirty="0">
                <a:latin typeface="Calibri"/>
                <a:cs typeface="Calibri"/>
              </a:rPr>
              <a:t>massive</a:t>
            </a:r>
            <a:r>
              <a:rPr sz="2200" spc="-75" dirty="0">
                <a:latin typeface="Calibri"/>
                <a:cs typeface="Calibri"/>
              </a:rPr>
              <a:t> </a:t>
            </a:r>
            <a:r>
              <a:rPr sz="2200" dirty="0">
                <a:latin typeface="Calibri"/>
                <a:cs typeface="Calibri"/>
              </a:rPr>
              <a:t>amounts</a:t>
            </a:r>
            <a:r>
              <a:rPr sz="2200" spc="-65" dirty="0">
                <a:latin typeface="Calibri"/>
                <a:cs typeface="Calibri"/>
              </a:rPr>
              <a:t> </a:t>
            </a:r>
            <a:r>
              <a:rPr sz="2200" dirty="0">
                <a:latin typeface="Calibri"/>
                <a:cs typeface="Calibri"/>
              </a:rPr>
              <a:t>of</a:t>
            </a:r>
            <a:r>
              <a:rPr sz="2200" spc="-65" dirty="0">
                <a:latin typeface="Calibri"/>
                <a:cs typeface="Calibri"/>
              </a:rPr>
              <a:t> </a:t>
            </a:r>
            <a:r>
              <a:rPr sz="2200" dirty="0">
                <a:latin typeface="Calibri"/>
                <a:cs typeface="Calibri"/>
              </a:rPr>
              <a:t>data</a:t>
            </a:r>
            <a:r>
              <a:rPr sz="2200" spc="-75" dirty="0">
                <a:latin typeface="Calibri"/>
                <a:cs typeface="Calibri"/>
              </a:rPr>
              <a:t> </a:t>
            </a:r>
            <a:r>
              <a:rPr sz="2200" spc="-10" dirty="0">
                <a:latin typeface="Calibri"/>
                <a:cs typeface="Calibri"/>
              </a:rPr>
              <a:t>through:</a:t>
            </a:r>
            <a:endParaRPr sz="2200">
              <a:latin typeface="Calibri"/>
              <a:cs typeface="Calibri"/>
            </a:endParaRPr>
          </a:p>
          <a:p>
            <a:pPr marL="111125" indent="-111125">
              <a:lnSpc>
                <a:spcPct val="100000"/>
              </a:lnSpc>
              <a:buSzPct val="77272"/>
              <a:buFont typeface="Tahoma"/>
              <a:buChar char="•"/>
              <a:tabLst>
                <a:tab pos="111125" algn="l"/>
              </a:tabLst>
            </a:pPr>
            <a:r>
              <a:rPr sz="2200" spc="-10" dirty="0">
                <a:latin typeface="Calibri"/>
                <a:cs typeface="Calibri"/>
              </a:rPr>
              <a:t>Smartphones</a:t>
            </a:r>
            <a:endParaRPr sz="2200">
              <a:latin typeface="Calibri"/>
              <a:cs typeface="Calibri"/>
            </a:endParaRPr>
          </a:p>
          <a:p>
            <a:pPr marL="111125" indent="-111125">
              <a:lnSpc>
                <a:spcPct val="100000"/>
              </a:lnSpc>
              <a:buSzPct val="77272"/>
              <a:buFont typeface="Tahoma"/>
              <a:buChar char="•"/>
              <a:tabLst>
                <a:tab pos="111125" algn="l"/>
              </a:tabLst>
            </a:pPr>
            <a:r>
              <a:rPr sz="2200" dirty="0">
                <a:latin typeface="Calibri"/>
                <a:cs typeface="Calibri"/>
              </a:rPr>
              <a:t>Social</a:t>
            </a:r>
            <a:r>
              <a:rPr sz="2200" spc="-40" dirty="0">
                <a:latin typeface="Calibri"/>
                <a:cs typeface="Calibri"/>
              </a:rPr>
              <a:t> </a:t>
            </a:r>
            <a:r>
              <a:rPr sz="2200" spc="-10" dirty="0">
                <a:latin typeface="Calibri"/>
                <a:cs typeface="Calibri"/>
              </a:rPr>
              <a:t>media</a:t>
            </a:r>
            <a:endParaRPr sz="2200">
              <a:latin typeface="Calibri"/>
              <a:cs typeface="Calibri"/>
            </a:endParaRPr>
          </a:p>
        </p:txBody>
      </p:sp>
      <p:sp>
        <p:nvSpPr>
          <p:cNvPr id="4" name="object 4"/>
          <p:cNvSpPr txBox="1"/>
          <p:nvPr/>
        </p:nvSpPr>
        <p:spPr>
          <a:xfrm>
            <a:off x="383540" y="1990470"/>
            <a:ext cx="2602865" cy="2037080"/>
          </a:xfrm>
          <a:prstGeom prst="rect">
            <a:avLst/>
          </a:prstGeom>
        </p:spPr>
        <p:txBody>
          <a:bodyPr vert="horz" wrap="square" lIns="0" tIns="12065" rIns="0" bIns="0" rtlCol="0">
            <a:spAutoFit/>
          </a:bodyPr>
          <a:lstStyle/>
          <a:p>
            <a:pPr marL="111125" indent="-111125">
              <a:lnSpc>
                <a:spcPct val="100000"/>
              </a:lnSpc>
              <a:spcBef>
                <a:spcPts val="95"/>
              </a:spcBef>
              <a:buSzPct val="77272"/>
              <a:buFont typeface="Tahoma"/>
              <a:buChar char="•"/>
              <a:tabLst>
                <a:tab pos="111125" algn="l"/>
              </a:tabLst>
            </a:pPr>
            <a:r>
              <a:rPr sz="2200" dirty="0">
                <a:latin typeface="Calibri"/>
                <a:cs typeface="Calibri"/>
              </a:rPr>
              <a:t>Online</a:t>
            </a:r>
            <a:r>
              <a:rPr sz="2200" spc="-70" dirty="0">
                <a:latin typeface="Calibri"/>
                <a:cs typeface="Calibri"/>
              </a:rPr>
              <a:t> </a:t>
            </a:r>
            <a:r>
              <a:rPr sz="2200" spc="-10" dirty="0">
                <a:latin typeface="Calibri"/>
                <a:cs typeface="Calibri"/>
              </a:rPr>
              <a:t>banking</a:t>
            </a:r>
            <a:endParaRPr sz="2200">
              <a:latin typeface="Calibri"/>
              <a:cs typeface="Calibri"/>
            </a:endParaRPr>
          </a:p>
          <a:p>
            <a:pPr marL="111125" indent="-111125">
              <a:lnSpc>
                <a:spcPct val="100000"/>
              </a:lnSpc>
              <a:buSzPct val="77272"/>
              <a:buFont typeface="Tahoma"/>
              <a:buChar char="•"/>
              <a:tabLst>
                <a:tab pos="111125" algn="l"/>
              </a:tabLst>
            </a:pPr>
            <a:r>
              <a:rPr sz="2200" dirty="0">
                <a:latin typeface="Calibri"/>
                <a:cs typeface="Calibri"/>
              </a:rPr>
              <a:t>GPS</a:t>
            </a:r>
            <a:r>
              <a:rPr sz="2200" spc="-50" dirty="0">
                <a:latin typeface="Calibri"/>
                <a:cs typeface="Calibri"/>
              </a:rPr>
              <a:t> </a:t>
            </a:r>
            <a:r>
              <a:rPr sz="2200" spc="-10" dirty="0">
                <a:latin typeface="Calibri"/>
                <a:cs typeface="Calibri"/>
              </a:rPr>
              <a:t>devices</a:t>
            </a:r>
            <a:endParaRPr sz="2200">
              <a:latin typeface="Calibri"/>
              <a:cs typeface="Calibri"/>
            </a:endParaRPr>
          </a:p>
          <a:p>
            <a:pPr marL="111125" indent="-111125">
              <a:lnSpc>
                <a:spcPct val="100000"/>
              </a:lnSpc>
              <a:buSzPct val="77272"/>
              <a:buFont typeface="Tahoma"/>
              <a:buChar char="•"/>
              <a:tabLst>
                <a:tab pos="111125" algn="l"/>
              </a:tabLst>
            </a:pPr>
            <a:r>
              <a:rPr sz="2200" dirty="0">
                <a:latin typeface="Calibri"/>
                <a:cs typeface="Calibri"/>
              </a:rPr>
              <a:t>Smart</a:t>
            </a:r>
            <a:r>
              <a:rPr sz="2200" spc="-55" dirty="0">
                <a:latin typeface="Calibri"/>
                <a:cs typeface="Calibri"/>
              </a:rPr>
              <a:t> </a:t>
            </a:r>
            <a:r>
              <a:rPr sz="2200" spc="-10" dirty="0">
                <a:latin typeface="Calibri"/>
                <a:cs typeface="Calibri"/>
              </a:rPr>
              <a:t>watches</a:t>
            </a:r>
            <a:endParaRPr sz="2200">
              <a:latin typeface="Calibri"/>
              <a:cs typeface="Calibri"/>
            </a:endParaRPr>
          </a:p>
          <a:p>
            <a:pPr marL="111125" indent="-111125">
              <a:lnSpc>
                <a:spcPct val="100000"/>
              </a:lnSpc>
              <a:buSzPct val="77272"/>
              <a:buFont typeface="Tahoma"/>
              <a:buChar char="•"/>
              <a:tabLst>
                <a:tab pos="111125" algn="l"/>
              </a:tabLst>
            </a:pPr>
            <a:r>
              <a:rPr sz="2200" dirty="0">
                <a:latin typeface="Calibri"/>
                <a:cs typeface="Calibri"/>
              </a:rPr>
              <a:t>IoT</a:t>
            </a:r>
            <a:r>
              <a:rPr sz="2200" spc="-35" dirty="0">
                <a:latin typeface="Calibri"/>
                <a:cs typeface="Calibri"/>
              </a:rPr>
              <a:t> </a:t>
            </a:r>
            <a:r>
              <a:rPr sz="2200" spc="-10" dirty="0">
                <a:latin typeface="Calibri"/>
                <a:cs typeface="Calibri"/>
              </a:rPr>
              <a:t>devices</a:t>
            </a:r>
            <a:endParaRPr sz="2200">
              <a:latin typeface="Calibri"/>
              <a:cs typeface="Calibri"/>
            </a:endParaRPr>
          </a:p>
          <a:p>
            <a:pPr marL="111125" indent="-111125">
              <a:lnSpc>
                <a:spcPct val="100000"/>
              </a:lnSpc>
              <a:buSzPct val="77272"/>
              <a:buFont typeface="Tahoma"/>
              <a:buChar char="•"/>
              <a:tabLst>
                <a:tab pos="111125" algn="l"/>
              </a:tabLst>
            </a:pPr>
            <a:r>
              <a:rPr sz="2200" dirty="0">
                <a:latin typeface="Calibri"/>
                <a:cs typeface="Calibri"/>
              </a:rPr>
              <a:t>Cloud</a:t>
            </a:r>
            <a:r>
              <a:rPr sz="2200" spc="-45" dirty="0">
                <a:latin typeface="Calibri"/>
                <a:cs typeface="Calibri"/>
              </a:rPr>
              <a:t> </a:t>
            </a:r>
            <a:r>
              <a:rPr sz="2200" spc="-10" dirty="0">
                <a:latin typeface="Calibri"/>
                <a:cs typeface="Calibri"/>
              </a:rPr>
              <a:t>computing</a:t>
            </a:r>
            <a:endParaRPr sz="2200">
              <a:latin typeface="Calibri"/>
              <a:cs typeface="Calibri"/>
            </a:endParaRPr>
          </a:p>
          <a:p>
            <a:pPr marL="111125" indent="-111125">
              <a:lnSpc>
                <a:spcPct val="100000"/>
              </a:lnSpc>
              <a:buSzPct val="77272"/>
              <a:buFont typeface="Tahoma"/>
              <a:buChar char="•"/>
              <a:tabLst>
                <a:tab pos="111125" algn="l"/>
              </a:tabLst>
            </a:pPr>
            <a:r>
              <a:rPr sz="2200" spc="-25" dirty="0">
                <a:latin typeface="Calibri"/>
                <a:cs typeface="Calibri"/>
              </a:rPr>
              <a:t>E-</a:t>
            </a:r>
            <a:r>
              <a:rPr sz="2200" dirty="0">
                <a:latin typeface="Calibri"/>
                <a:cs typeface="Calibri"/>
              </a:rPr>
              <a:t>commerce</a:t>
            </a:r>
            <a:r>
              <a:rPr sz="2200" spc="-105" dirty="0">
                <a:latin typeface="Calibri"/>
                <a:cs typeface="Calibri"/>
              </a:rPr>
              <a:t> </a:t>
            </a:r>
            <a:r>
              <a:rPr sz="2200" spc="-10" dirty="0">
                <a:latin typeface="Calibri"/>
                <a:cs typeface="Calibri"/>
              </a:rPr>
              <a:t>websites</a:t>
            </a:r>
            <a:endParaRPr sz="2200">
              <a:latin typeface="Calibri"/>
              <a:cs typeface="Calibri"/>
            </a:endParaRPr>
          </a:p>
        </p:txBody>
      </p:sp>
      <p:sp>
        <p:nvSpPr>
          <p:cNvPr id="5" name="object 5"/>
          <p:cNvSpPr txBox="1"/>
          <p:nvPr/>
        </p:nvSpPr>
        <p:spPr>
          <a:xfrm>
            <a:off x="3688207" y="3434918"/>
            <a:ext cx="4808855" cy="249555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Example</a:t>
            </a:r>
            <a:endParaRPr sz="1800">
              <a:latin typeface="Calibri"/>
              <a:cs typeface="Calibri"/>
            </a:endParaRPr>
          </a:p>
          <a:p>
            <a:pPr marL="12700">
              <a:lnSpc>
                <a:spcPct val="100000"/>
              </a:lnSpc>
              <a:spcBef>
                <a:spcPts val="5"/>
              </a:spcBef>
            </a:pPr>
            <a:r>
              <a:rPr sz="1800" dirty="0">
                <a:latin typeface="Calibri"/>
                <a:cs typeface="Calibri"/>
              </a:rPr>
              <a:t>A</a:t>
            </a:r>
            <a:r>
              <a:rPr sz="1800" spc="-40" dirty="0">
                <a:latin typeface="Calibri"/>
                <a:cs typeface="Calibri"/>
              </a:rPr>
              <a:t> </a:t>
            </a:r>
            <a:r>
              <a:rPr sz="1800" dirty="0">
                <a:latin typeface="Calibri"/>
                <a:cs typeface="Calibri"/>
              </a:rPr>
              <a:t>single</a:t>
            </a:r>
            <a:r>
              <a:rPr sz="1800" spc="-40" dirty="0">
                <a:latin typeface="Calibri"/>
                <a:cs typeface="Calibri"/>
              </a:rPr>
              <a:t> </a:t>
            </a:r>
            <a:r>
              <a:rPr sz="1800" dirty="0">
                <a:latin typeface="Calibri"/>
                <a:cs typeface="Calibri"/>
              </a:rPr>
              <a:t>day</a:t>
            </a:r>
            <a:r>
              <a:rPr sz="1800" spc="-25"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internet</a:t>
            </a:r>
            <a:r>
              <a:rPr sz="1800" spc="-30" dirty="0">
                <a:latin typeface="Calibri"/>
                <a:cs typeface="Calibri"/>
              </a:rPr>
              <a:t> </a:t>
            </a:r>
            <a:r>
              <a:rPr sz="1800" dirty="0">
                <a:latin typeface="Calibri"/>
                <a:cs typeface="Calibri"/>
              </a:rPr>
              <a:t>activity</a:t>
            </a:r>
            <a:r>
              <a:rPr sz="1800" spc="-30" dirty="0">
                <a:latin typeface="Calibri"/>
                <a:cs typeface="Calibri"/>
              </a:rPr>
              <a:t> </a:t>
            </a:r>
            <a:r>
              <a:rPr sz="1800" spc="-10" dirty="0">
                <a:latin typeface="Calibri"/>
                <a:cs typeface="Calibri"/>
              </a:rPr>
              <a:t>includes: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Millions</a:t>
            </a:r>
            <a:r>
              <a:rPr sz="1800" spc="-10" dirty="0">
                <a:latin typeface="Calibri"/>
                <a:cs typeface="Calibri"/>
              </a:rPr>
              <a:t> </a:t>
            </a:r>
            <a:r>
              <a:rPr sz="1800" dirty="0">
                <a:latin typeface="Calibri"/>
                <a:cs typeface="Calibri"/>
              </a:rPr>
              <a:t>of</a:t>
            </a:r>
            <a:r>
              <a:rPr sz="1800" spc="-35" dirty="0">
                <a:latin typeface="Calibri"/>
                <a:cs typeface="Calibri"/>
              </a:rPr>
              <a:t> </a:t>
            </a:r>
            <a:r>
              <a:rPr sz="1800" dirty="0">
                <a:latin typeface="Calibri"/>
                <a:cs typeface="Calibri"/>
              </a:rPr>
              <a:t>emails</a:t>
            </a:r>
            <a:r>
              <a:rPr sz="1800" spc="-30" dirty="0">
                <a:latin typeface="Calibri"/>
                <a:cs typeface="Calibri"/>
              </a:rPr>
              <a:t> </a:t>
            </a:r>
            <a:r>
              <a:rPr sz="1800" spc="-20" dirty="0">
                <a:latin typeface="Calibri"/>
                <a:cs typeface="Calibri"/>
              </a:rPr>
              <a:t>sent</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Billions</a:t>
            </a:r>
            <a:r>
              <a:rPr sz="1800" spc="-30"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Google</a:t>
            </a:r>
            <a:r>
              <a:rPr sz="1800" spc="-30" dirty="0">
                <a:latin typeface="Calibri"/>
                <a:cs typeface="Calibri"/>
              </a:rPr>
              <a:t> </a:t>
            </a:r>
            <a:r>
              <a:rPr sz="1800" spc="-10" dirty="0">
                <a:latin typeface="Calibri"/>
                <a:cs typeface="Calibri"/>
              </a:rPr>
              <a:t>searches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Hours</a:t>
            </a:r>
            <a:r>
              <a:rPr sz="1800" spc="-4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video</a:t>
            </a:r>
            <a:r>
              <a:rPr sz="1800" spc="-60" dirty="0">
                <a:latin typeface="Calibri"/>
                <a:cs typeface="Calibri"/>
              </a:rPr>
              <a:t> </a:t>
            </a:r>
            <a:r>
              <a:rPr sz="1800" dirty="0">
                <a:latin typeface="Calibri"/>
                <a:cs typeface="Calibri"/>
              </a:rPr>
              <a:t>uploaded</a:t>
            </a:r>
            <a:r>
              <a:rPr sz="1800" spc="-35" dirty="0">
                <a:latin typeface="Calibri"/>
                <a:cs typeface="Calibri"/>
              </a:rPr>
              <a:t> </a:t>
            </a:r>
            <a:r>
              <a:rPr sz="1800" dirty="0">
                <a:latin typeface="Calibri"/>
                <a:cs typeface="Calibri"/>
              </a:rPr>
              <a:t>to</a:t>
            </a:r>
            <a:r>
              <a:rPr sz="1800" spc="-65" dirty="0">
                <a:latin typeface="Calibri"/>
                <a:cs typeface="Calibri"/>
              </a:rPr>
              <a:t> </a:t>
            </a:r>
            <a:r>
              <a:rPr sz="1800" spc="-10" dirty="0">
                <a:latin typeface="Calibri"/>
                <a:cs typeface="Calibri"/>
              </a:rPr>
              <a:t>YouTube</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Millions</a:t>
            </a:r>
            <a:r>
              <a:rPr sz="1800" spc="-25"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online</a:t>
            </a:r>
            <a:r>
              <a:rPr sz="1800" spc="-20" dirty="0">
                <a:latin typeface="Calibri"/>
                <a:cs typeface="Calibri"/>
              </a:rPr>
              <a:t> </a:t>
            </a:r>
            <a:r>
              <a:rPr sz="1800" spc="-10" dirty="0">
                <a:latin typeface="Calibri"/>
                <a:cs typeface="Calibri"/>
              </a:rPr>
              <a:t>purchases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Social</a:t>
            </a:r>
            <a:r>
              <a:rPr sz="1800" spc="-30" dirty="0">
                <a:latin typeface="Calibri"/>
                <a:cs typeface="Calibri"/>
              </a:rPr>
              <a:t> </a:t>
            </a:r>
            <a:r>
              <a:rPr sz="1800" dirty="0">
                <a:latin typeface="Calibri"/>
                <a:cs typeface="Calibri"/>
              </a:rPr>
              <a:t>media</a:t>
            </a:r>
            <a:r>
              <a:rPr sz="1800" spc="-30" dirty="0">
                <a:latin typeface="Calibri"/>
                <a:cs typeface="Calibri"/>
              </a:rPr>
              <a:t> </a:t>
            </a:r>
            <a:r>
              <a:rPr sz="1800" spc="-10" dirty="0">
                <a:latin typeface="Calibri"/>
                <a:cs typeface="Calibri"/>
              </a:rPr>
              <a:t>interactions</a:t>
            </a:r>
            <a:endParaRPr sz="1800">
              <a:latin typeface="Calibri"/>
              <a:cs typeface="Calibri"/>
            </a:endParaRPr>
          </a:p>
          <a:p>
            <a:pPr marL="12700" marR="5080">
              <a:lnSpc>
                <a:spcPct val="100000"/>
              </a:lnSpc>
            </a:pPr>
            <a:r>
              <a:rPr sz="1800" spc="-20" dirty="0">
                <a:latin typeface="Calibri"/>
                <a:cs typeface="Calibri"/>
              </a:rPr>
              <a:t>Traditional</a:t>
            </a:r>
            <a:r>
              <a:rPr sz="1800" spc="-70" dirty="0">
                <a:latin typeface="Calibri"/>
                <a:cs typeface="Calibri"/>
              </a:rPr>
              <a:t> </a:t>
            </a:r>
            <a:r>
              <a:rPr sz="1800" dirty="0">
                <a:latin typeface="Calibri"/>
                <a:cs typeface="Calibri"/>
              </a:rPr>
              <a:t>databases</a:t>
            </a:r>
            <a:r>
              <a:rPr sz="1800" spc="-80" dirty="0">
                <a:latin typeface="Calibri"/>
                <a:cs typeface="Calibri"/>
              </a:rPr>
              <a:t> </a:t>
            </a:r>
            <a:r>
              <a:rPr sz="1800" dirty="0">
                <a:latin typeface="Calibri"/>
                <a:cs typeface="Calibri"/>
              </a:rPr>
              <a:t>cannot</a:t>
            </a:r>
            <a:r>
              <a:rPr sz="1800" spc="-65" dirty="0">
                <a:latin typeface="Calibri"/>
                <a:cs typeface="Calibri"/>
              </a:rPr>
              <a:t> </a:t>
            </a:r>
            <a:r>
              <a:rPr sz="1800" dirty="0">
                <a:latin typeface="Calibri"/>
                <a:cs typeface="Calibri"/>
              </a:rPr>
              <a:t>efficiently</a:t>
            </a:r>
            <a:r>
              <a:rPr sz="1800" spc="-65" dirty="0">
                <a:latin typeface="Calibri"/>
                <a:cs typeface="Calibri"/>
              </a:rPr>
              <a:t> </a:t>
            </a:r>
            <a:r>
              <a:rPr sz="1800" dirty="0">
                <a:latin typeface="Calibri"/>
                <a:cs typeface="Calibri"/>
              </a:rPr>
              <a:t>process</a:t>
            </a:r>
            <a:r>
              <a:rPr sz="1800" spc="-75" dirty="0">
                <a:latin typeface="Calibri"/>
                <a:cs typeface="Calibri"/>
              </a:rPr>
              <a:t> </a:t>
            </a:r>
            <a:r>
              <a:rPr sz="1800" spc="-20" dirty="0">
                <a:latin typeface="Calibri"/>
                <a:cs typeface="Calibri"/>
              </a:rPr>
              <a:t>this </a:t>
            </a:r>
            <a:r>
              <a:rPr sz="1800" dirty="0">
                <a:latin typeface="Calibri"/>
                <a:cs typeface="Calibri"/>
              </a:rPr>
              <a:t>scale</a:t>
            </a:r>
            <a:r>
              <a:rPr sz="1800" spc="-30" dirty="0">
                <a:latin typeface="Calibri"/>
                <a:cs typeface="Calibri"/>
              </a:rPr>
              <a:t> </a:t>
            </a:r>
            <a:r>
              <a:rPr sz="1800" dirty="0">
                <a:latin typeface="Calibri"/>
                <a:cs typeface="Calibri"/>
              </a:rPr>
              <a:t>of</a:t>
            </a:r>
            <a:r>
              <a:rPr sz="1800" spc="-20" dirty="0">
                <a:latin typeface="Calibri"/>
                <a:cs typeface="Calibri"/>
              </a:rPr>
              <a:t> </a:t>
            </a:r>
            <a:r>
              <a:rPr sz="1800" spc="-10" dirty="0">
                <a:latin typeface="Calibri"/>
                <a:cs typeface="Calibri"/>
              </a:rPr>
              <a:t>data.</a:t>
            </a:r>
            <a:endParaRPr sz="18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400" y="716635"/>
            <a:ext cx="7481570" cy="3740150"/>
          </a:xfrm>
          <a:prstGeom prst="rect">
            <a:avLst/>
          </a:prstGeom>
        </p:spPr>
        <p:txBody>
          <a:bodyPr vert="horz" wrap="square" lIns="0" tIns="160020" rIns="0" bIns="0" rtlCol="0">
            <a:spAutoFit/>
          </a:bodyPr>
          <a:lstStyle/>
          <a:p>
            <a:pPr marL="104139">
              <a:lnSpc>
                <a:spcPct val="100000"/>
              </a:lnSpc>
              <a:spcBef>
                <a:spcPts val="1260"/>
              </a:spcBef>
            </a:pPr>
            <a:r>
              <a:rPr sz="2000" b="1" spc="-10" dirty="0">
                <a:solidFill>
                  <a:srgbClr val="404040"/>
                </a:solidFill>
                <a:latin typeface="Calibri"/>
                <a:cs typeface="Calibri"/>
              </a:rPr>
              <a:t>Characteristics</a:t>
            </a:r>
            <a:r>
              <a:rPr sz="2000" b="1" spc="-20" dirty="0">
                <a:solidFill>
                  <a:srgbClr val="404040"/>
                </a:solidFill>
                <a:latin typeface="Calibri"/>
                <a:cs typeface="Calibri"/>
              </a:rPr>
              <a:t> </a:t>
            </a:r>
            <a:r>
              <a:rPr sz="2000" b="1" dirty="0">
                <a:solidFill>
                  <a:srgbClr val="404040"/>
                </a:solidFill>
                <a:latin typeface="Calibri"/>
                <a:cs typeface="Calibri"/>
              </a:rPr>
              <a:t>of</a:t>
            </a:r>
            <a:r>
              <a:rPr sz="2000" b="1" spc="-15" dirty="0">
                <a:solidFill>
                  <a:srgbClr val="404040"/>
                </a:solidFill>
                <a:latin typeface="Calibri"/>
                <a:cs typeface="Calibri"/>
              </a:rPr>
              <a:t> </a:t>
            </a:r>
            <a:r>
              <a:rPr sz="2000" b="1" dirty="0">
                <a:solidFill>
                  <a:srgbClr val="404040"/>
                </a:solidFill>
                <a:latin typeface="Calibri"/>
                <a:cs typeface="Calibri"/>
              </a:rPr>
              <a:t>Big</a:t>
            </a:r>
            <a:r>
              <a:rPr sz="2000" b="1" spc="-20" dirty="0">
                <a:solidFill>
                  <a:srgbClr val="404040"/>
                </a:solidFill>
                <a:latin typeface="Calibri"/>
                <a:cs typeface="Calibri"/>
              </a:rPr>
              <a:t> </a:t>
            </a:r>
            <a:r>
              <a:rPr sz="2000" b="1" dirty="0">
                <a:solidFill>
                  <a:srgbClr val="404040"/>
                </a:solidFill>
                <a:latin typeface="Calibri"/>
                <a:cs typeface="Calibri"/>
              </a:rPr>
              <a:t>Data</a:t>
            </a:r>
            <a:r>
              <a:rPr sz="2000" b="1" spc="-10" dirty="0">
                <a:solidFill>
                  <a:srgbClr val="404040"/>
                </a:solidFill>
                <a:latin typeface="Calibri"/>
                <a:cs typeface="Calibri"/>
              </a:rPr>
              <a:t> </a:t>
            </a:r>
            <a:r>
              <a:rPr sz="2000" b="1" dirty="0">
                <a:solidFill>
                  <a:srgbClr val="404040"/>
                </a:solidFill>
                <a:latin typeface="Calibri"/>
                <a:cs typeface="Calibri"/>
              </a:rPr>
              <a:t>(5</a:t>
            </a:r>
            <a:r>
              <a:rPr sz="2000" b="1" spc="-15" dirty="0">
                <a:solidFill>
                  <a:srgbClr val="404040"/>
                </a:solidFill>
                <a:latin typeface="Calibri"/>
                <a:cs typeface="Calibri"/>
              </a:rPr>
              <a:t> </a:t>
            </a:r>
            <a:r>
              <a:rPr sz="2000" b="1" spc="-25" dirty="0">
                <a:solidFill>
                  <a:srgbClr val="404040"/>
                </a:solidFill>
                <a:latin typeface="Calibri"/>
                <a:cs typeface="Calibri"/>
              </a:rPr>
              <a:t>Vs)</a:t>
            </a:r>
            <a:endParaRPr sz="2000">
              <a:latin typeface="Calibri"/>
              <a:cs typeface="Calibri"/>
            </a:endParaRPr>
          </a:p>
          <a:p>
            <a:pPr marL="104139">
              <a:lnSpc>
                <a:spcPct val="100000"/>
              </a:lnSpc>
              <a:spcBef>
                <a:spcPts val="1165"/>
              </a:spcBef>
            </a:pP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five</a:t>
            </a:r>
            <a:r>
              <a:rPr sz="2000" spc="-25" dirty="0">
                <a:solidFill>
                  <a:srgbClr val="404040"/>
                </a:solidFill>
                <a:latin typeface="Calibri"/>
                <a:cs typeface="Calibri"/>
              </a:rPr>
              <a:t> </a:t>
            </a:r>
            <a:r>
              <a:rPr sz="2000" spc="-10" dirty="0">
                <a:solidFill>
                  <a:srgbClr val="404040"/>
                </a:solidFill>
                <a:latin typeface="Calibri"/>
                <a:cs typeface="Calibri"/>
              </a:rPr>
              <a:t>fundamental</a:t>
            </a:r>
            <a:r>
              <a:rPr sz="2000" spc="-25" dirty="0">
                <a:solidFill>
                  <a:srgbClr val="404040"/>
                </a:solidFill>
                <a:latin typeface="Calibri"/>
                <a:cs typeface="Calibri"/>
              </a:rPr>
              <a:t> </a:t>
            </a:r>
            <a:r>
              <a:rPr sz="2000" spc="-10" dirty="0">
                <a:solidFill>
                  <a:srgbClr val="404040"/>
                </a:solidFill>
                <a:latin typeface="Calibri"/>
                <a:cs typeface="Calibri"/>
              </a:rPr>
              <a:t>characteristics</a:t>
            </a:r>
            <a:r>
              <a:rPr sz="2000" spc="10" dirty="0">
                <a:solidFill>
                  <a:srgbClr val="404040"/>
                </a:solidFill>
                <a:latin typeface="Calibri"/>
                <a:cs typeface="Calibri"/>
              </a:rPr>
              <a:t> </a:t>
            </a:r>
            <a:r>
              <a:rPr sz="2000" dirty="0">
                <a:solidFill>
                  <a:srgbClr val="404040"/>
                </a:solidFill>
                <a:latin typeface="Calibri"/>
                <a:cs typeface="Calibri"/>
              </a:rPr>
              <a:t>of</a:t>
            </a:r>
            <a:r>
              <a:rPr sz="2000" spc="-25" dirty="0">
                <a:solidFill>
                  <a:srgbClr val="404040"/>
                </a:solidFill>
                <a:latin typeface="Calibri"/>
                <a:cs typeface="Calibri"/>
              </a:rPr>
              <a:t> </a:t>
            </a:r>
            <a:r>
              <a:rPr sz="2000" dirty="0">
                <a:solidFill>
                  <a:srgbClr val="404040"/>
                </a:solidFill>
                <a:latin typeface="Calibri"/>
                <a:cs typeface="Calibri"/>
              </a:rPr>
              <a:t>Big</a:t>
            </a:r>
            <a:r>
              <a:rPr sz="2000" spc="-35" dirty="0">
                <a:solidFill>
                  <a:srgbClr val="404040"/>
                </a:solidFill>
                <a:latin typeface="Calibri"/>
                <a:cs typeface="Calibri"/>
              </a:rPr>
              <a:t> </a:t>
            </a:r>
            <a:r>
              <a:rPr sz="2000" dirty="0">
                <a:solidFill>
                  <a:srgbClr val="404040"/>
                </a:solidFill>
                <a:latin typeface="Calibri"/>
                <a:cs typeface="Calibri"/>
              </a:rPr>
              <a:t>Data</a:t>
            </a:r>
            <a:r>
              <a:rPr sz="2000" spc="-35" dirty="0">
                <a:solidFill>
                  <a:srgbClr val="404040"/>
                </a:solidFill>
                <a:latin typeface="Calibri"/>
                <a:cs typeface="Calibri"/>
              </a:rPr>
              <a:t> </a:t>
            </a:r>
            <a:r>
              <a:rPr sz="2000" spc="-20" dirty="0">
                <a:solidFill>
                  <a:srgbClr val="404040"/>
                </a:solidFill>
                <a:latin typeface="Calibri"/>
                <a:cs typeface="Calibri"/>
              </a:rPr>
              <a:t>are:</a:t>
            </a:r>
            <a:endParaRPr sz="2000">
              <a:latin typeface="Calibri"/>
              <a:cs typeface="Calibri"/>
            </a:endParaRPr>
          </a:p>
          <a:p>
            <a:pPr marL="208915" indent="-200025">
              <a:lnSpc>
                <a:spcPts val="2280"/>
              </a:lnSpc>
              <a:spcBef>
                <a:spcPts val="1155"/>
              </a:spcBef>
              <a:buClr>
                <a:srgbClr val="E38312"/>
              </a:buClr>
              <a:buSzPct val="95000"/>
              <a:buAutoNum type="arabicPeriod"/>
              <a:tabLst>
                <a:tab pos="208915" algn="l"/>
              </a:tabLst>
            </a:pPr>
            <a:r>
              <a:rPr sz="2000" b="1" spc="-10" dirty="0">
                <a:solidFill>
                  <a:srgbClr val="404040"/>
                </a:solidFill>
                <a:latin typeface="Calibri"/>
                <a:cs typeface="Calibri"/>
              </a:rPr>
              <a:t>Volume</a:t>
            </a:r>
            <a:r>
              <a:rPr sz="2000" b="1" spc="-65" dirty="0">
                <a:solidFill>
                  <a:srgbClr val="404040"/>
                </a:solidFill>
                <a:latin typeface="Calibri"/>
                <a:cs typeface="Calibri"/>
              </a:rPr>
              <a:t> </a:t>
            </a:r>
            <a:r>
              <a:rPr sz="2000" dirty="0">
                <a:solidFill>
                  <a:srgbClr val="404040"/>
                </a:solidFill>
                <a:latin typeface="Calibri"/>
                <a:cs typeface="Calibri"/>
              </a:rPr>
              <a:t>:Volume</a:t>
            </a:r>
            <a:r>
              <a:rPr sz="2000" spc="-60" dirty="0">
                <a:solidFill>
                  <a:srgbClr val="404040"/>
                </a:solidFill>
                <a:latin typeface="Calibri"/>
                <a:cs typeface="Calibri"/>
              </a:rPr>
              <a:t> </a:t>
            </a:r>
            <a:r>
              <a:rPr sz="2000" spc="-20" dirty="0">
                <a:solidFill>
                  <a:srgbClr val="404040"/>
                </a:solidFill>
                <a:latin typeface="Calibri"/>
                <a:cs typeface="Calibri"/>
              </a:rPr>
              <a:t>refers</a:t>
            </a:r>
            <a:r>
              <a:rPr sz="2000" spc="-50" dirty="0">
                <a:solidFill>
                  <a:srgbClr val="404040"/>
                </a:solidFill>
                <a:latin typeface="Calibri"/>
                <a:cs typeface="Calibri"/>
              </a:rPr>
              <a:t> </a:t>
            </a:r>
            <a:r>
              <a:rPr sz="2000" dirty="0">
                <a:solidFill>
                  <a:srgbClr val="404040"/>
                </a:solidFill>
                <a:latin typeface="Calibri"/>
                <a:cs typeface="Calibri"/>
              </a:rPr>
              <a:t>to</a:t>
            </a:r>
            <a:r>
              <a:rPr sz="2000" spc="-50" dirty="0">
                <a:solidFill>
                  <a:srgbClr val="404040"/>
                </a:solidFill>
                <a:latin typeface="Calibri"/>
                <a:cs typeface="Calibri"/>
              </a:rPr>
              <a:t> </a:t>
            </a:r>
            <a:r>
              <a:rPr sz="2000" dirty="0">
                <a:solidFill>
                  <a:srgbClr val="404040"/>
                </a:solidFill>
                <a:latin typeface="Calibri"/>
                <a:cs typeface="Calibri"/>
              </a:rPr>
              <a:t>the</a:t>
            </a:r>
            <a:r>
              <a:rPr sz="2000" spc="-50" dirty="0">
                <a:solidFill>
                  <a:srgbClr val="404040"/>
                </a:solidFill>
                <a:latin typeface="Calibri"/>
                <a:cs typeface="Calibri"/>
              </a:rPr>
              <a:t> </a:t>
            </a:r>
            <a:r>
              <a:rPr sz="2000" dirty="0">
                <a:solidFill>
                  <a:srgbClr val="404040"/>
                </a:solidFill>
                <a:latin typeface="Calibri"/>
                <a:cs typeface="Calibri"/>
              </a:rPr>
              <a:t>enormous</a:t>
            </a:r>
            <a:r>
              <a:rPr sz="2000" spc="-60" dirty="0">
                <a:solidFill>
                  <a:srgbClr val="404040"/>
                </a:solidFill>
                <a:latin typeface="Calibri"/>
                <a:cs typeface="Calibri"/>
              </a:rPr>
              <a:t> </a:t>
            </a:r>
            <a:r>
              <a:rPr sz="2000" dirty="0">
                <a:solidFill>
                  <a:srgbClr val="404040"/>
                </a:solidFill>
                <a:latin typeface="Calibri"/>
                <a:cs typeface="Calibri"/>
              </a:rPr>
              <a:t>amount</a:t>
            </a:r>
            <a:r>
              <a:rPr sz="2000" spc="-60" dirty="0">
                <a:solidFill>
                  <a:srgbClr val="404040"/>
                </a:solidFill>
                <a:latin typeface="Calibri"/>
                <a:cs typeface="Calibri"/>
              </a:rPr>
              <a:t> </a:t>
            </a:r>
            <a:r>
              <a:rPr sz="2000" dirty="0">
                <a:solidFill>
                  <a:srgbClr val="404040"/>
                </a:solidFill>
                <a:latin typeface="Calibri"/>
                <a:cs typeface="Calibri"/>
              </a:rPr>
              <a:t>of</a:t>
            </a:r>
            <a:r>
              <a:rPr sz="2000" spc="-60" dirty="0">
                <a:solidFill>
                  <a:srgbClr val="404040"/>
                </a:solidFill>
                <a:latin typeface="Calibri"/>
                <a:cs typeface="Calibri"/>
              </a:rPr>
              <a:t> </a:t>
            </a:r>
            <a:r>
              <a:rPr sz="2000" dirty="0">
                <a:solidFill>
                  <a:srgbClr val="404040"/>
                </a:solidFill>
                <a:latin typeface="Calibri"/>
                <a:cs typeface="Calibri"/>
              </a:rPr>
              <a:t>data</a:t>
            </a:r>
            <a:r>
              <a:rPr sz="2000" spc="-50" dirty="0">
                <a:solidFill>
                  <a:srgbClr val="404040"/>
                </a:solidFill>
                <a:latin typeface="Calibri"/>
                <a:cs typeface="Calibri"/>
              </a:rPr>
              <a:t> </a:t>
            </a:r>
            <a:r>
              <a:rPr sz="2000" spc="-10" dirty="0">
                <a:solidFill>
                  <a:srgbClr val="404040"/>
                </a:solidFill>
                <a:latin typeface="Calibri"/>
                <a:cs typeface="Calibri"/>
              </a:rPr>
              <a:t>generated</a:t>
            </a:r>
            <a:endParaRPr sz="2000">
              <a:latin typeface="Calibri"/>
              <a:cs typeface="Calibri"/>
            </a:endParaRPr>
          </a:p>
          <a:p>
            <a:pPr marL="104139">
              <a:lnSpc>
                <a:spcPts val="2280"/>
              </a:lnSpc>
            </a:pP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stored.</a:t>
            </a:r>
            <a:endParaRPr sz="2000">
              <a:latin typeface="Calibri"/>
              <a:cs typeface="Calibri"/>
            </a:endParaRPr>
          </a:p>
          <a:p>
            <a:pPr marL="104139" marR="70485" indent="-95250">
              <a:lnSpc>
                <a:spcPts val="2160"/>
              </a:lnSpc>
              <a:spcBef>
                <a:spcPts val="1435"/>
              </a:spcBef>
              <a:buClr>
                <a:srgbClr val="E38312"/>
              </a:buClr>
              <a:buSzPct val="95000"/>
              <a:buAutoNum type="arabicPeriod" startAt="2"/>
              <a:tabLst>
                <a:tab pos="104139" algn="l"/>
                <a:tab pos="208915" algn="l"/>
              </a:tabLst>
            </a:pPr>
            <a:r>
              <a:rPr sz="2000" b="1" spc="-20" dirty="0">
                <a:solidFill>
                  <a:srgbClr val="404040"/>
                </a:solidFill>
                <a:latin typeface="Calibri"/>
                <a:cs typeface="Calibri"/>
              </a:rPr>
              <a:t>	Velocity:</a:t>
            </a:r>
            <a:r>
              <a:rPr sz="2000" spc="-20" dirty="0">
                <a:solidFill>
                  <a:srgbClr val="404040"/>
                </a:solidFill>
                <a:latin typeface="Calibri"/>
                <a:cs typeface="Calibri"/>
              </a:rPr>
              <a:t>Velocity</a:t>
            </a:r>
            <a:r>
              <a:rPr sz="2000" spc="-45" dirty="0">
                <a:solidFill>
                  <a:srgbClr val="404040"/>
                </a:solidFill>
                <a:latin typeface="Calibri"/>
                <a:cs typeface="Calibri"/>
              </a:rPr>
              <a:t> </a:t>
            </a:r>
            <a:r>
              <a:rPr sz="2000" dirty="0">
                <a:solidFill>
                  <a:srgbClr val="404040"/>
                </a:solidFill>
                <a:latin typeface="Calibri"/>
                <a:cs typeface="Calibri"/>
              </a:rPr>
              <a:t>is</a:t>
            </a:r>
            <a:r>
              <a:rPr sz="2000" spc="-35" dirty="0">
                <a:solidFill>
                  <a:srgbClr val="404040"/>
                </a:solidFill>
                <a:latin typeface="Calibri"/>
                <a:cs typeface="Calibri"/>
              </a:rPr>
              <a:t> </a:t>
            </a:r>
            <a:r>
              <a:rPr sz="2000" dirty="0">
                <a:solidFill>
                  <a:srgbClr val="404040"/>
                </a:solidFill>
                <a:latin typeface="Calibri"/>
                <a:cs typeface="Calibri"/>
              </a:rPr>
              <a:t>the</a:t>
            </a:r>
            <a:r>
              <a:rPr sz="2000" spc="-25" dirty="0">
                <a:solidFill>
                  <a:srgbClr val="404040"/>
                </a:solidFill>
                <a:latin typeface="Calibri"/>
                <a:cs typeface="Calibri"/>
              </a:rPr>
              <a:t> </a:t>
            </a:r>
            <a:r>
              <a:rPr sz="2000" dirty="0">
                <a:solidFill>
                  <a:srgbClr val="404040"/>
                </a:solidFill>
                <a:latin typeface="Calibri"/>
                <a:cs typeface="Calibri"/>
              </a:rPr>
              <a:t>speed</a:t>
            </a:r>
            <a:r>
              <a:rPr sz="2000" spc="-25" dirty="0">
                <a:solidFill>
                  <a:srgbClr val="404040"/>
                </a:solidFill>
                <a:latin typeface="Calibri"/>
                <a:cs typeface="Calibri"/>
              </a:rPr>
              <a:t> </a:t>
            </a:r>
            <a:r>
              <a:rPr sz="2000" dirty="0">
                <a:solidFill>
                  <a:srgbClr val="404040"/>
                </a:solidFill>
                <a:latin typeface="Calibri"/>
                <a:cs typeface="Calibri"/>
              </a:rPr>
              <a:t>at</a:t>
            </a:r>
            <a:r>
              <a:rPr sz="2000" spc="-25" dirty="0">
                <a:solidFill>
                  <a:srgbClr val="404040"/>
                </a:solidFill>
                <a:latin typeface="Calibri"/>
                <a:cs typeface="Calibri"/>
              </a:rPr>
              <a:t> </a:t>
            </a:r>
            <a:r>
              <a:rPr sz="2000" dirty="0">
                <a:solidFill>
                  <a:srgbClr val="404040"/>
                </a:solidFill>
                <a:latin typeface="Calibri"/>
                <a:cs typeface="Calibri"/>
              </a:rPr>
              <a:t>which</a:t>
            </a:r>
            <a:r>
              <a:rPr sz="2000" spc="-30" dirty="0">
                <a:solidFill>
                  <a:srgbClr val="404040"/>
                </a:solidFill>
                <a:latin typeface="Calibri"/>
                <a:cs typeface="Calibri"/>
              </a:rPr>
              <a:t> </a:t>
            </a:r>
            <a:r>
              <a:rPr sz="2000" dirty="0">
                <a:solidFill>
                  <a:srgbClr val="404040"/>
                </a:solidFill>
                <a:latin typeface="Calibri"/>
                <a:cs typeface="Calibri"/>
              </a:rPr>
              <a:t>data</a:t>
            </a:r>
            <a:r>
              <a:rPr sz="2000" spc="-25" dirty="0">
                <a:solidFill>
                  <a:srgbClr val="404040"/>
                </a:solidFill>
                <a:latin typeface="Calibri"/>
                <a:cs typeface="Calibri"/>
              </a:rPr>
              <a:t> </a:t>
            </a:r>
            <a:r>
              <a:rPr sz="2000" dirty="0">
                <a:solidFill>
                  <a:srgbClr val="404040"/>
                </a:solidFill>
                <a:latin typeface="Calibri"/>
                <a:cs typeface="Calibri"/>
              </a:rPr>
              <a:t>is</a:t>
            </a:r>
            <a:r>
              <a:rPr sz="2000" spc="-20" dirty="0">
                <a:solidFill>
                  <a:srgbClr val="404040"/>
                </a:solidFill>
                <a:latin typeface="Calibri"/>
                <a:cs typeface="Calibri"/>
              </a:rPr>
              <a:t> </a:t>
            </a:r>
            <a:r>
              <a:rPr sz="2000" spc="-10" dirty="0">
                <a:solidFill>
                  <a:srgbClr val="404040"/>
                </a:solidFill>
                <a:latin typeface="Calibri"/>
                <a:cs typeface="Calibri"/>
              </a:rPr>
              <a:t>generated,</a:t>
            </a:r>
            <a:r>
              <a:rPr sz="2000" spc="-25" dirty="0">
                <a:solidFill>
                  <a:srgbClr val="404040"/>
                </a:solidFill>
                <a:latin typeface="Calibri"/>
                <a:cs typeface="Calibri"/>
              </a:rPr>
              <a:t> </a:t>
            </a:r>
            <a:r>
              <a:rPr sz="2000" spc="-10" dirty="0">
                <a:solidFill>
                  <a:srgbClr val="404040"/>
                </a:solidFill>
                <a:latin typeface="Calibri"/>
                <a:cs typeface="Calibri"/>
              </a:rPr>
              <a:t>transmitted, </a:t>
            </a:r>
            <a:r>
              <a:rPr sz="2000" dirty="0">
                <a:solidFill>
                  <a:srgbClr val="404040"/>
                </a:solidFill>
                <a:latin typeface="Calibri"/>
                <a:cs typeface="Calibri"/>
              </a:rPr>
              <a:t>and</a:t>
            </a:r>
            <a:r>
              <a:rPr sz="2000" spc="-5" dirty="0">
                <a:solidFill>
                  <a:srgbClr val="404040"/>
                </a:solidFill>
                <a:latin typeface="Calibri"/>
                <a:cs typeface="Calibri"/>
              </a:rPr>
              <a:t> </a:t>
            </a:r>
            <a:r>
              <a:rPr sz="2000" spc="-10" dirty="0">
                <a:solidFill>
                  <a:srgbClr val="404040"/>
                </a:solidFill>
                <a:latin typeface="Calibri"/>
                <a:cs typeface="Calibri"/>
              </a:rPr>
              <a:t>processed.</a:t>
            </a:r>
            <a:endParaRPr sz="2000">
              <a:latin typeface="Calibri"/>
              <a:cs typeface="Calibri"/>
            </a:endParaRPr>
          </a:p>
          <a:p>
            <a:pPr marL="208915" indent="-200025">
              <a:lnSpc>
                <a:spcPct val="100000"/>
              </a:lnSpc>
              <a:spcBef>
                <a:spcPts val="1130"/>
              </a:spcBef>
              <a:buClr>
                <a:srgbClr val="E38312"/>
              </a:buClr>
              <a:buSzPct val="95000"/>
              <a:buAutoNum type="arabicPeriod" startAt="2"/>
              <a:tabLst>
                <a:tab pos="208915" algn="l"/>
              </a:tabLst>
            </a:pPr>
            <a:r>
              <a:rPr sz="2000" b="1" spc="-20" dirty="0">
                <a:solidFill>
                  <a:srgbClr val="404040"/>
                </a:solidFill>
                <a:latin typeface="Calibri"/>
                <a:cs typeface="Calibri"/>
              </a:rPr>
              <a:t>Variety</a:t>
            </a:r>
            <a:r>
              <a:rPr sz="2000" b="1" spc="-70" dirty="0">
                <a:solidFill>
                  <a:srgbClr val="404040"/>
                </a:solidFill>
                <a:latin typeface="Calibri"/>
                <a:cs typeface="Calibri"/>
              </a:rPr>
              <a:t> </a:t>
            </a:r>
            <a:r>
              <a:rPr sz="2000" spc="-10" dirty="0">
                <a:solidFill>
                  <a:srgbClr val="404040"/>
                </a:solidFill>
                <a:latin typeface="Calibri"/>
                <a:cs typeface="Calibri"/>
              </a:rPr>
              <a:t>:Variety</a:t>
            </a:r>
            <a:r>
              <a:rPr sz="2000" spc="-50" dirty="0">
                <a:solidFill>
                  <a:srgbClr val="404040"/>
                </a:solidFill>
                <a:latin typeface="Calibri"/>
                <a:cs typeface="Calibri"/>
              </a:rPr>
              <a:t> </a:t>
            </a:r>
            <a:r>
              <a:rPr sz="2000" spc="-20" dirty="0">
                <a:solidFill>
                  <a:srgbClr val="404040"/>
                </a:solidFill>
                <a:latin typeface="Calibri"/>
                <a:cs typeface="Calibri"/>
              </a:rPr>
              <a:t>refers</a:t>
            </a:r>
            <a:r>
              <a:rPr sz="2000" spc="-50" dirty="0">
                <a:solidFill>
                  <a:srgbClr val="404040"/>
                </a:solidFill>
                <a:latin typeface="Calibri"/>
                <a:cs typeface="Calibri"/>
              </a:rPr>
              <a:t> </a:t>
            </a:r>
            <a:r>
              <a:rPr sz="2000" dirty="0">
                <a:solidFill>
                  <a:srgbClr val="404040"/>
                </a:solidFill>
                <a:latin typeface="Calibri"/>
                <a:cs typeface="Calibri"/>
              </a:rPr>
              <a:t>to</a:t>
            </a:r>
            <a:r>
              <a:rPr sz="2000" spc="-65" dirty="0">
                <a:solidFill>
                  <a:srgbClr val="404040"/>
                </a:solidFill>
                <a:latin typeface="Calibri"/>
                <a:cs typeface="Calibri"/>
              </a:rPr>
              <a:t> </a:t>
            </a:r>
            <a:r>
              <a:rPr sz="2000" spc="-10" dirty="0">
                <a:solidFill>
                  <a:srgbClr val="404040"/>
                </a:solidFill>
                <a:latin typeface="Calibri"/>
                <a:cs typeface="Calibri"/>
              </a:rPr>
              <a:t>different</a:t>
            </a:r>
            <a:r>
              <a:rPr sz="2000" spc="-50" dirty="0">
                <a:solidFill>
                  <a:srgbClr val="404040"/>
                </a:solidFill>
                <a:latin typeface="Calibri"/>
                <a:cs typeface="Calibri"/>
              </a:rPr>
              <a:t> </a:t>
            </a:r>
            <a:r>
              <a:rPr sz="2000" dirty="0">
                <a:solidFill>
                  <a:srgbClr val="404040"/>
                </a:solidFill>
                <a:latin typeface="Calibri"/>
                <a:cs typeface="Calibri"/>
              </a:rPr>
              <a:t>forms</a:t>
            </a:r>
            <a:r>
              <a:rPr sz="2000" spc="-60" dirty="0">
                <a:solidFill>
                  <a:srgbClr val="404040"/>
                </a:solidFill>
                <a:latin typeface="Calibri"/>
                <a:cs typeface="Calibri"/>
              </a:rPr>
              <a:t> </a:t>
            </a:r>
            <a:r>
              <a:rPr sz="2000" dirty="0">
                <a:solidFill>
                  <a:srgbClr val="404040"/>
                </a:solidFill>
                <a:latin typeface="Calibri"/>
                <a:cs typeface="Calibri"/>
              </a:rPr>
              <a:t>of</a:t>
            </a:r>
            <a:r>
              <a:rPr sz="2000" spc="-65" dirty="0">
                <a:solidFill>
                  <a:srgbClr val="404040"/>
                </a:solidFill>
                <a:latin typeface="Calibri"/>
                <a:cs typeface="Calibri"/>
              </a:rPr>
              <a:t> </a:t>
            </a:r>
            <a:r>
              <a:rPr sz="2000" spc="-10" dirty="0">
                <a:solidFill>
                  <a:srgbClr val="404040"/>
                </a:solidFill>
                <a:latin typeface="Calibri"/>
                <a:cs typeface="Calibri"/>
              </a:rPr>
              <a:t>data.</a:t>
            </a:r>
            <a:endParaRPr sz="2000">
              <a:latin typeface="Calibri"/>
              <a:cs typeface="Calibri"/>
            </a:endParaRPr>
          </a:p>
          <a:p>
            <a:pPr marL="208915" indent="-200025">
              <a:lnSpc>
                <a:spcPct val="100000"/>
              </a:lnSpc>
              <a:spcBef>
                <a:spcPts val="1155"/>
              </a:spcBef>
              <a:buClr>
                <a:srgbClr val="E38312"/>
              </a:buClr>
              <a:buSzPct val="95000"/>
              <a:buAutoNum type="arabicPeriod" startAt="2"/>
              <a:tabLst>
                <a:tab pos="208915" algn="l"/>
              </a:tabLst>
            </a:pPr>
            <a:r>
              <a:rPr sz="2000" b="1" spc="-20" dirty="0">
                <a:solidFill>
                  <a:srgbClr val="404040"/>
                </a:solidFill>
                <a:latin typeface="Calibri"/>
                <a:cs typeface="Calibri"/>
              </a:rPr>
              <a:t>Veracity</a:t>
            </a:r>
            <a:r>
              <a:rPr sz="2000" b="1" spc="-45" dirty="0">
                <a:solidFill>
                  <a:srgbClr val="404040"/>
                </a:solidFill>
                <a:latin typeface="Calibri"/>
                <a:cs typeface="Calibri"/>
              </a:rPr>
              <a:t> </a:t>
            </a:r>
            <a:r>
              <a:rPr sz="2000" spc="-20" dirty="0">
                <a:solidFill>
                  <a:srgbClr val="404040"/>
                </a:solidFill>
                <a:latin typeface="Calibri"/>
                <a:cs typeface="Calibri"/>
              </a:rPr>
              <a:t>:Veracity</a:t>
            </a:r>
            <a:r>
              <a:rPr sz="2000" spc="-40" dirty="0">
                <a:solidFill>
                  <a:srgbClr val="404040"/>
                </a:solidFill>
                <a:latin typeface="Calibri"/>
                <a:cs typeface="Calibri"/>
              </a:rPr>
              <a:t> </a:t>
            </a:r>
            <a:r>
              <a:rPr sz="2000" spc="-20" dirty="0">
                <a:solidFill>
                  <a:srgbClr val="404040"/>
                </a:solidFill>
                <a:latin typeface="Calibri"/>
                <a:cs typeface="Calibri"/>
              </a:rPr>
              <a:t>refers</a:t>
            </a:r>
            <a:r>
              <a:rPr sz="2000" spc="-35" dirty="0">
                <a:solidFill>
                  <a:srgbClr val="404040"/>
                </a:solidFill>
                <a:latin typeface="Calibri"/>
                <a:cs typeface="Calibri"/>
              </a:rPr>
              <a:t> </a:t>
            </a:r>
            <a:r>
              <a:rPr sz="2000" dirty="0">
                <a:solidFill>
                  <a:srgbClr val="404040"/>
                </a:solidFill>
                <a:latin typeface="Calibri"/>
                <a:cs typeface="Calibri"/>
              </a:rPr>
              <a:t>to</a:t>
            </a:r>
            <a:r>
              <a:rPr sz="2000" spc="-40" dirty="0">
                <a:solidFill>
                  <a:srgbClr val="404040"/>
                </a:solidFill>
                <a:latin typeface="Calibri"/>
                <a:cs typeface="Calibri"/>
              </a:rPr>
              <a:t> </a:t>
            </a:r>
            <a:r>
              <a:rPr sz="2000" dirty="0">
                <a:solidFill>
                  <a:srgbClr val="404040"/>
                </a:solidFill>
                <a:latin typeface="Calibri"/>
                <a:cs typeface="Calibri"/>
              </a:rPr>
              <a:t>the</a:t>
            </a:r>
            <a:r>
              <a:rPr sz="2000" spc="-45" dirty="0">
                <a:solidFill>
                  <a:srgbClr val="404040"/>
                </a:solidFill>
                <a:latin typeface="Calibri"/>
                <a:cs typeface="Calibri"/>
              </a:rPr>
              <a:t> </a:t>
            </a:r>
            <a:r>
              <a:rPr sz="2000" spc="-10" dirty="0">
                <a:solidFill>
                  <a:srgbClr val="404040"/>
                </a:solidFill>
                <a:latin typeface="Calibri"/>
                <a:cs typeface="Calibri"/>
              </a:rPr>
              <a:t>quality,</a:t>
            </a:r>
            <a:r>
              <a:rPr sz="2000" spc="-40" dirty="0">
                <a:solidFill>
                  <a:srgbClr val="404040"/>
                </a:solidFill>
                <a:latin typeface="Calibri"/>
                <a:cs typeface="Calibri"/>
              </a:rPr>
              <a:t> </a:t>
            </a:r>
            <a:r>
              <a:rPr sz="2000" spc="-20" dirty="0">
                <a:solidFill>
                  <a:srgbClr val="404040"/>
                </a:solidFill>
                <a:latin typeface="Calibri"/>
                <a:cs typeface="Calibri"/>
              </a:rPr>
              <a:t>reliability,</a:t>
            </a:r>
            <a:r>
              <a:rPr sz="2000" spc="-30" dirty="0">
                <a:solidFill>
                  <a:srgbClr val="404040"/>
                </a:solidFill>
                <a:latin typeface="Calibri"/>
                <a:cs typeface="Calibri"/>
              </a:rPr>
              <a:t> </a:t>
            </a:r>
            <a:r>
              <a:rPr sz="2000" dirty="0">
                <a:solidFill>
                  <a:srgbClr val="404040"/>
                </a:solidFill>
                <a:latin typeface="Calibri"/>
                <a:cs typeface="Calibri"/>
              </a:rPr>
              <a:t>and</a:t>
            </a:r>
            <a:r>
              <a:rPr sz="2000" spc="-40" dirty="0">
                <a:solidFill>
                  <a:srgbClr val="404040"/>
                </a:solidFill>
                <a:latin typeface="Calibri"/>
                <a:cs typeface="Calibri"/>
              </a:rPr>
              <a:t> </a:t>
            </a:r>
            <a:r>
              <a:rPr sz="2000" dirty="0">
                <a:solidFill>
                  <a:srgbClr val="404040"/>
                </a:solidFill>
                <a:latin typeface="Calibri"/>
                <a:cs typeface="Calibri"/>
              </a:rPr>
              <a:t>accuracy</a:t>
            </a:r>
            <a:r>
              <a:rPr sz="2000" spc="-55" dirty="0">
                <a:solidFill>
                  <a:srgbClr val="404040"/>
                </a:solidFill>
                <a:latin typeface="Calibri"/>
                <a:cs typeface="Calibri"/>
              </a:rPr>
              <a:t> </a:t>
            </a:r>
            <a:r>
              <a:rPr sz="2000" dirty="0">
                <a:solidFill>
                  <a:srgbClr val="404040"/>
                </a:solidFill>
                <a:latin typeface="Calibri"/>
                <a:cs typeface="Calibri"/>
              </a:rPr>
              <a:t>of</a:t>
            </a:r>
            <a:r>
              <a:rPr sz="2000" spc="-50" dirty="0">
                <a:solidFill>
                  <a:srgbClr val="404040"/>
                </a:solidFill>
                <a:latin typeface="Calibri"/>
                <a:cs typeface="Calibri"/>
              </a:rPr>
              <a:t> </a:t>
            </a:r>
            <a:r>
              <a:rPr sz="2000" spc="-10" dirty="0">
                <a:solidFill>
                  <a:srgbClr val="404040"/>
                </a:solidFill>
                <a:latin typeface="Calibri"/>
                <a:cs typeface="Calibri"/>
              </a:rPr>
              <a:t>data.</a:t>
            </a:r>
            <a:endParaRPr sz="2000">
              <a:latin typeface="Calibri"/>
              <a:cs typeface="Calibri"/>
            </a:endParaRPr>
          </a:p>
          <a:p>
            <a:pPr marL="208915" indent="-200025">
              <a:lnSpc>
                <a:spcPct val="100000"/>
              </a:lnSpc>
              <a:spcBef>
                <a:spcPts val="1165"/>
              </a:spcBef>
              <a:buClr>
                <a:srgbClr val="E38312"/>
              </a:buClr>
              <a:buSzPct val="95000"/>
              <a:buAutoNum type="arabicPeriod" startAt="2"/>
              <a:tabLst>
                <a:tab pos="208915" algn="l"/>
              </a:tabLst>
            </a:pPr>
            <a:r>
              <a:rPr sz="2000" b="1" spc="-20" dirty="0">
                <a:solidFill>
                  <a:srgbClr val="404040"/>
                </a:solidFill>
                <a:latin typeface="Calibri"/>
                <a:cs typeface="Calibri"/>
              </a:rPr>
              <a:t>Value:</a:t>
            </a:r>
            <a:r>
              <a:rPr sz="2000" b="1" spc="-70" dirty="0">
                <a:solidFill>
                  <a:srgbClr val="404040"/>
                </a:solidFill>
                <a:latin typeface="Calibri"/>
                <a:cs typeface="Calibri"/>
              </a:rPr>
              <a:t> </a:t>
            </a:r>
            <a:r>
              <a:rPr sz="2000" spc="-10" dirty="0">
                <a:solidFill>
                  <a:srgbClr val="404040"/>
                </a:solidFill>
                <a:latin typeface="Calibri"/>
                <a:cs typeface="Calibri"/>
              </a:rPr>
              <a:t>Value</a:t>
            </a:r>
            <a:r>
              <a:rPr sz="2000" spc="-55" dirty="0">
                <a:solidFill>
                  <a:srgbClr val="404040"/>
                </a:solidFill>
                <a:latin typeface="Calibri"/>
                <a:cs typeface="Calibri"/>
              </a:rPr>
              <a:t> </a:t>
            </a:r>
            <a:r>
              <a:rPr sz="2000" spc="-20" dirty="0">
                <a:solidFill>
                  <a:srgbClr val="404040"/>
                </a:solidFill>
                <a:latin typeface="Calibri"/>
                <a:cs typeface="Calibri"/>
              </a:rPr>
              <a:t>refers</a:t>
            </a:r>
            <a:r>
              <a:rPr sz="2000" spc="-60" dirty="0">
                <a:solidFill>
                  <a:srgbClr val="404040"/>
                </a:solidFill>
                <a:latin typeface="Calibri"/>
                <a:cs typeface="Calibri"/>
              </a:rPr>
              <a:t> </a:t>
            </a:r>
            <a:r>
              <a:rPr sz="2000" dirty="0">
                <a:solidFill>
                  <a:srgbClr val="404040"/>
                </a:solidFill>
                <a:latin typeface="Calibri"/>
                <a:cs typeface="Calibri"/>
              </a:rPr>
              <a:t>to</a:t>
            </a:r>
            <a:r>
              <a:rPr sz="2000" spc="-55" dirty="0">
                <a:solidFill>
                  <a:srgbClr val="404040"/>
                </a:solidFill>
                <a:latin typeface="Calibri"/>
                <a:cs typeface="Calibri"/>
              </a:rPr>
              <a:t> </a:t>
            </a:r>
            <a:r>
              <a:rPr sz="2000" spc="-10" dirty="0">
                <a:solidFill>
                  <a:srgbClr val="404040"/>
                </a:solidFill>
                <a:latin typeface="Calibri"/>
                <a:cs typeface="Calibri"/>
              </a:rPr>
              <a:t>extracting</a:t>
            </a:r>
            <a:r>
              <a:rPr sz="2000" spc="-55" dirty="0">
                <a:solidFill>
                  <a:srgbClr val="404040"/>
                </a:solidFill>
                <a:latin typeface="Calibri"/>
                <a:cs typeface="Calibri"/>
              </a:rPr>
              <a:t> </a:t>
            </a:r>
            <a:r>
              <a:rPr sz="2000" dirty="0">
                <a:solidFill>
                  <a:srgbClr val="404040"/>
                </a:solidFill>
                <a:latin typeface="Calibri"/>
                <a:cs typeface="Calibri"/>
              </a:rPr>
              <a:t>useful</a:t>
            </a:r>
            <a:r>
              <a:rPr sz="2000" spc="-60" dirty="0">
                <a:solidFill>
                  <a:srgbClr val="404040"/>
                </a:solidFill>
                <a:latin typeface="Calibri"/>
                <a:cs typeface="Calibri"/>
              </a:rPr>
              <a:t> </a:t>
            </a:r>
            <a:r>
              <a:rPr sz="2000" dirty="0">
                <a:solidFill>
                  <a:srgbClr val="404040"/>
                </a:solidFill>
                <a:latin typeface="Calibri"/>
                <a:cs typeface="Calibri"/>
              </a:rPr>
              <a:t>insights</a:t>
            </a:r>
            <a:r>
              <a:rPr sz="2000" spc="-50" dirty="0">
                <a:solidFill>
                  <a:srgbClr val="404040"/>
                </a:solidFill>
                <a:latin typeface="Calibri"/>
                <a:cs typeface="Calibri"/>
              </a:rPr>
              <a:t> </a:t>
            </a:r>
            <a:r>
              <a:rPr sz="2000" dirty="0">
                <a:solidFill>
                  <a:srgbClr val="404040"/>
                </a:solidFill>
                <a:latin typeface="Calibri"/>
                <a:cs typeface="Calibri"/>
              </a:rPr>
              <a:t>from</a:t>
            </a:r>
            <a:r>
              <a:rPr sz="2000" spc="-55" dirty="0">
                <a:solidFill>
                  <a:srgbClr val="404040"/>
                </a:solidFill>
                <a:latin typeface="Calibri"/>
                <a:cs typeface="Calibri"/>
              </a:rPr>
              <a:t> </a:t>
            </a:r>
            <a:r>
              <a:rPr sz="2000" spc="-10" dirty="0">
                <a:solidFill>
                  <a:srgbClr val="404040"/>
                </a:solidFill>
                <a:latin typeface="Calibri"/>
                <a:cs typeface="Calibri"/>
              </a:rPr>
              <a:t>data.</a:t>
            </a:r>
            <a:endParaRPr sz="20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855980" y="2256282"/>
            <a:ext cx="7261859" cy="1395730"/>
          </a:xfrm>
          <a:prstGeom prst="rect">
            <a:avLst/>
          </a:prstGeom>
        </p:spPr>
        <p:txBody>
          <a:bodyPr vert="horz" wrap="square" lIns="0" tIns="12700" rIns="0" bIns="0" rtlCol="0">
            <a:spAutoFit/>
          </a:bodyPr>
          <a:lstStyle/>
          <a:p>
            <a:pPr marL="12700">
              <a:lnSpc>
                <a:spcPts val="5610"/>
              </a:lnSpc>
              <a:spcBef>
                <a:spcPts val="100"/>
              </a:spcBef>
            </a:pPr>
            <a:r>
              <a:rPr sz="4800" b="0" spc="-95" dirty="0">
                <a:latin typeface="Calibri Light"/>
                <a:cs typeface="Calibri Light"/>
              </a:rPr>
              <a:t>Classification</a:t>
            </a:r>
            <a:r>
              <a:rPr sz="4800" b="0" spc="-204" dirty="0">
                <a:latin typeface="Calibri Light"/>
                <a:cs typeface="Calibri Light"/>
              </a:rPr>
              <a:t> </a:t>
            </a:r>
            <a:r>
              <a:rPr sz="4800" b="0" dirty="0">
                <a:latin typeface="Calibri Light"/>
                <a:cs typeface="Calibri Light"/>
              </a:rPr>
              <a:t>of</a:t>
            </a:r>
            <a:r>
              <a:rPr sz="4800" b="0" spc="-200" dirty="0">
                <a:latin typeface="Calibri Light"/>
                <a:cs typeface="Calibri Light"/>
              </a:rPr>
              <a:t> </a:t>
            </a:r>
            <a:r>
              <a:rPr sz="4800" b="0" spc="-90" dirty="0">
                <a:latin typeface="Calibri Light"/>
                <a:cs typeface="Calibri Light"/>
              </a:rPr>
              <a:t>Digital</a:t>
            </a:r>
            <a:r>
              <a:rPr sz="4800" b="0" spc="-190" dirty="0">
                <a:latin typeface="Calibri Light"/>
                <a:cs typeface="Calibri Light"/>
              </a:rPr>
              <a:t> </a:t>
            </a:r>
            <a:r>
              <a:rPr sz="4800" b="0" spc="-20" dirty="0">
                <a:latin typeface="Calibri Light"/>
                <a:cs typeface="Calibri Light"/>
              </a:rPr>
              <a:t>Data</a:t>
            </a:r>
            <a:endParaRPr sz="4800">
              <a:latin typeface="Calibri Light"/>
              <a:cs typeface="Calibri Light"/>
            </a:endParaRPr>
          </a:p>
          <a:p>
            <a:pPr marL="12700" marR="5080">
              <a:lnSpc>
                <a:spcPts val="2450"/>
              </a:lnSpc>
              <a:spcBef>
                <a:spcPts val="290"/>
              </a:spcBef>
            </a:pPr>
            <a:r>
              <a:rPr sz="2400" b="0" spc="-65" dirty="0">
                <a:latin typeface="Calibri Light"/>
                <a:cs typeface="Calibri Light"/>
              </a:rPr>
              <a:t>Understanding</a:t>
            </a:r>
            <a:r>
              <a:rPr sz="2400" b="0" spc="-55" dirty="0">
                <a:latin typeface="Calibri Light"/>
                <a:cs typeface="Calibri Light"/>
              </a:rPr>
              <a:t> </a:t>
            </a:r>
            <a:r>
              <a:rPr sz="2400" b="0" spc="-60" dirty="0">
                <a:latin typeface="Calibri Light"/>
                <a:cs typeface="Calibri Light"/>
              </a:rPr>
              <a:t>Structured, </a:t>
            </a:r>
            <a:r>
              <a:rPr sz="2400" b="0" spc="-75" dirty="0">
                <a:latin typeface="Calibri Light"/>
                <a:cs typeface="Calibri Light"/>
              </a:rPr>
              <a:t>Semi-</a:t>
            </a:r>
            <a:r>
              <a:rPr sz="2400" b="0" spc="-60" dirty="0">
                <a:latin typeface="Calibri Light"/>
                <a:cs typeface="Calibri Light"/>
              </a:rPr>
              <a:t>Structured,</a:t>
            </a:r>
            <a:r>
              <a:rPr sz="2400" b="0" spc="-75" dirty="0">
                <a:latin typeface="Calibri Light"/>
                <a:cs typeface="Calibri Light"/>
              </a:rPr>
              <a:t> </a:t>
            </a:r>
            <a:r>
              <a:rPr sz="2400" b="0" spc="-50" dirty="0">
                <a:latin typeface="Calibri Light"/>
                <a:cs typeface="Calibri Light"/>
              </a:rPr>
              <a:t>and</a:t>
            </a:r>
            <a:r>
              <a:rPr sz="2400" b="0" spc="-30" dirty="0">
                <a:latin typeface="Calibri Light"/>
                <a:cs typeface="Calibri Light"/>
              </a:rPr>
              <a:t> Unstructured </a:t>
            </a:r>
            <a:r>
              <a:rPr sz="2400" b="0" spc="-20" dirty="0">
                <a:latin typeface="Calibri Light"/>
                <a:cs typeface="Calibri Light"/>
              </a:rPr>
              <a:t>Data</a:t>
            </a:r>
            <a:endParaRPr sz="2400">
              <a:latin typeface="Calibri Light"/>
              <a:cs typeface="Calibri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302463"/>
            <a:ext cx="2230120" cy="331470"/>
          </a:xfrm>
          <a:prstGeom prst="rect">
            <a:avLst/>
          </a:prstGeom>
        </p:spPr>
        <p:txBody>
          <a:bodyPr vert="horz" wrap="square" lIns="0" tIns="13335" rIns="0" bIns="0" rtlCol="0">
            <a:spAutoFit/>
          </a:bodyPr>
          <a:lstStyle/>
          <a:p>
            <a:pPr marL="12700">
              <a:lnSpc>
                <a:spcPct val="100000"/>
              </a:lnSpc>
              <a:spcBef>
                <a:spcPts val="105"/>
              </a:spcBef>
            </a:pPr>
            <a:r>
              <a:rPr dirty="0"/>
              <a:t>What</a:t>
            </a:r>
            <a:r>
              <a:rPr spc="-35" dirty="0"/>
              <a:t> </a:t>
            </a:r>
            <a:r>
              <a:rPr dirty="0"/>
              <a:t>is</a:t>
            </a:r>
            <a:r>
              <a:rPr spc="-20" dirty="0"/>
              <a:t> </a:t>
            </a:r>
            <a:r>
              <a:rPr dirty="0"/>
              <a:t>Digital</a:t>
            </a:r>
            <a:r>
              <a:rPr spc="-35" dirty="0"/>
              <a:t> </a:t>
            </a:r>
            <a:r>
              <a:rPr spc="-20" dirty="0"/>
              <a:t>Data?</a:t>
            </a:r>
          </a:p>
        </p:txBody>
      </p:sp>
      <p:sp>
        <p:nvSpPr>
          <p:cNvPr id="3" name="object 3"/>
          <p:cNvSpPr txBox="1"/>
          <p:nvPr/>
        </p:nvSpPr>
        <p:spPr>
          <a:xfrm>
            <a:off x="901700" y="725170"/>
            <a:ext cx="7399655" cy="995680"/>
          </a:xfrm>
          <a:prstGeom prst="rect">
            <a:avLst/>
          </a:prstGeom>
        </p:spPr>
        <p:txBody>
          <a:bodyPr vert="horz" wrap="square" lIns="0" tIns="74295" rIns="0" bIns="0" rtlCol="0">
            <a:spAutoFit/>
          </a:bodyPr>
          <a:lstStyle/>
          <a:p>
            <a:pPr marL="12700" marR="5080">
              <a:lnSpc>
                <a:spcPct val="80000"/>
              </a:lnSpc>
              <a:spcBef>
                <a:spcPts val="585"/>
              </a:spcBef>
            </a:pPr>
            <a:r>
              <a:rPr sz="2000" dirty="0">
                <a:solidFill>
                  <a:srgbClr val="404040"/>
                </a:solidFill>
                <a:latin typeface="Calibri"/>
                <a:cs typeface="Calibri"/>
              </a:rPr>
              <a:t>Digital</a:t>
            </a:r>
            <a:r>
              <a:rPr sz="2000" spc="-65" dirty="0">
                <a:solidFill>
                  <a:srgbClr val="404040"/>
                </a:solidFill>
                <a:latin typeface="Calibri"/>
                <a:cs typeface="Calibri"/>
              </a:rPr>
              <a:t> </a:t>
            </a:r>
            <a:r>
              <a:rPr sz="2000" dirty="0">
                <a:solidFill>
                  <a:srgbClr val="404040"/>
                </a:solidFill>
                <a:latin typeface="Calibri"/>
                <a:cs typeface="Calibri"/>
              </a:rPr>
              <a:t>data</a:t>
            </a:r>
            <a:r>
              <a:rPr sz="2000" spc="-65" dirty="0">
                <a:solidFill>
                  <a:srgbClr val="404040"/>
                </a:solidFill>
                <a:latin typeface="Calibri"/>
                <a:cs typeface="Calibri"/>
              </a:rPr>
              <a:t> </a:t>
            </a:r>
            <a:r>
              <a:rPr sz="2000" spc="-10" dirty="0">
                <a:solidFill>
                  <a:srgbClr val="404040"/>
                </a:solidFill>
                <a:latin typeface="Calibri"/>
                <a:cs typeface="Calibri"/>
              </a:rPr>
              <a:t>refers</a:t>
            </a:r>
            <a:r>
              <a:rPr sz="2000" spc="-55" dirty="0">
                <a:solidFill>
                  <a:srgbClr val="404040"/>
                </a:solidFill>
                <a:latin typeface="Calibri"/>
                <a:cs typeface="Calibri"/>
              </a:rPr>
              <a:t> </a:t>
            </a:r>
            <a:r>
              <a:rPr sz="2000" dirty="0">
                <a:solidFill>
                  <a:srgbClr val="404040"/>
                </a:solidFill>
                <a:latin typeface="Calibri"/>
                <a:cs typeface="Calibri"/>
              </a:rPr>
              <a:t>to</a:t>
            </a:r>
            <a:r>
              <a:rPr sz="2000" spc="-100" dirty="0">
                <a:solidFill>
                  <a:srgbClr val="404040"/>
                </a:solidFill>
                <a:latin typeface="Calibri"/>
                <a:cs typeface="Calibri"/>
              </a:rPr>
              <a:t> </a:t>
            </a:r>
            <a:r>
              <a:rPr sz="2000" b="1" dirty="0">
                <a:solidFill>
                  <a:srgbClr val="404040"/>
                </a:solidFill>
                <a:latin typeface="Calibri"/>
                <a:cs typeface="Calibri"/>
              </a:rPr>
              <a:t>information</a:t>
            </a:r>
            <a:r>
              <a:rPr sz="2000" b="1" spc="-75" dirty="0">
                <a:solidFill>
                  <a:srgbClr val="404040"/>
                </a:solidFill>
                <a:latin typeface="Calibri"/>
                <a:cs typeface="Calibri"/>
              </a:rPr>
              <a:t> </a:t>
            </a:r>
            <a:r>
              <a:rPr sz="2000" b="1" spc="-10" dirty="0">
                <a:solidFill>
                  <a:srgbClr val="404040"/>
                </a:solidFill>
                <a:latin typeface="Calibri"/>
                <a:cs typeface="Calibri"/>
              </a:rPr>
              <a:t>represented</a:t>
            </a:r>
            <a:r>
              <a:rPr sz="2000" b="1" spc="-60" dirty="0">
                <a:solidFill>
                  <a:srgbClr val="404040"/>
                </a:solidFill>
                <a:latin typeface="Calibri"/>
                <a:cs typeface="Calibri"/>
              </a:rPr>
              <a:t> </a:t>
            </a:r>
            <a:r>
              <a:rPr sz="2000" b="1" dirty="0">
                <a:solidFill>
                  <a:srgbClr val="404040"/>
                </a:solidFill>
                <a:latin typeface="Calibri"/>
                <a:cs typeface="Calibri"/>
              </a:rPr>
              <a:t>electronically</a:t>
            </a:r>
            <a:r>
              <a:rPr sz="2000" b="1" spc="-80" dirty="0">
                <a:solidFill>
                  <a:srgbClr val="404040"/>
                </a:solidFill>
                <a:latin typeface="Calibri"/>
                <a:cs typeface="Calibri"/>
              </a:rPr>
              <a:t> </a:t>
            </a:r>
            <a:r>
              <a:rPr sz="2000" dirty="0">
                <a:solidFill>
                  <a:srgbClr val="404040"/>
                </a:solidFill>
                <a:latin typeface="Calibri"/>
                <a:cs typeface="Calibri"/>
              </a:rPr>
              <a:t>and</a:t>
            </a:r>
            <a:r>
              <a:rPr sz="2000" spc="-80" dirty="0">
                <a:solidFill>
                  <a:srgbClr val="404040"/>
                </a:solidFill>
                <a:latin typeface="Calibri"/>
                <a:cs typeface="Calibri"/>
              </a:rPr>
              <a:t> </a:t>
            </a:r>
            <a:r>
              <a:rPr sz="2000" spc="-10" dirty="0">
                <a:solidFill>
                  <a:srgbClr val="404040"/>
                </a:solidFill>
                <a:latin typeface="Calibri"/>
                <a:cs typeface="Calibri"/>
              </a:rPr>
              <a:t>stored </a:t>
            </a:r>
            <a:r>
              <a:rPr sz="2000" dirty="0">
                <a:solidFill>
                  <a:srgbClr val="404040"/>
                </a:solidFill>
                <a:latin typeface="Calibri"/>
                <a:cs typeface="Calibri"/>
              </a:rPr>
              <a:t>using</a:t>
            </a:r>
            <a:r>
              <a:rPr sz="2000" spc="-30" dirty="0">
                <a:solidFill>
                  <a:srgbClr val="404040"/>
                </a:solidFill>
                <a:latin typeface="Calibri"/>
                <a:cs typeface="Calibri"/>
              </a:rPr>
              <a:t> </a:t>
            </a:r>
            <a:r>
              <a:rPr sz="2000" dirty="0">
                <a:solidFill>
                  <a:srgbClr val="404040"/>
                </a:solidFill>
                <a:latin typeface="Calibri"/>
                <a:cs typeface="Calibri"/>
              </a:rPr>
              <a:t>binary</a:t>
            </a:r>
            <a:r>
              <a:rPr sz="2000" spc="-35" dirty="0">
                <a:solidFill>
                  <a:srgbClr val="404040"/>
                </a:solidFill>
                <a:latin typeface="Calibri"/>
                <a:cs typeface="Calibri"/>
              </a:rPr>
              <a:t> </a:t>
            </a:r>
            <a:r>
              <a:rPr sz="2000" dirty="0">
                <a:solidFill>
                  <a:srgbClr val="404040"/>
                </a:solidFill>
                <a:latin typeface="Calibri"/>
                <a:cs typeface="Calibri"/>
              </a:rPr>
              <a:t>digits</a:t>
            </a:r>
            <a:r>
              <a:rPr sz="2000" spc="-20" dirty="0">
                <a:solidFill>
                  <a:srgbClr val="404040"/>
                </a:solidFill>
                <a:latin typeface="Calibri"/>
                <a:cs typeface="Calibri"/>
              </a:rPr>
              <a:t> </a:t>
            </a:r>
            <a:r>
              <a:rPr sz="2000" dirty="0">
                <a:solidFill>
                  <a:srgbClr val="404040"/>
                </a:solidFill>
                <a:latin typeface="Calibri"/>
                <a:cs typeface="Calibri"/>
              </a:rPr>
              <a:t>(0s</a:t>
            </a:r>
            <a:r>
              <a:rPr sz="2000" spc="-20" dirty="0">
                <a:solidFill>
                  <a:srgbClr val="404040"/>
                </a:solidFill>
                <a:latin typeface="Calibri"/>
                <a:cs typeface="Calibri"/>
              </a:rPr>
              <a:t> </a:t>
            </a:r>
            <a:r>
              <a:rPr sz="2000" dirty="0">
                <a:solidFill>
                  <a:srgbClr val="404040"/>
                </a:solidFill>
                <a:latin typeface="Calibri"/>
                <a:cs typeface="Calibri"/>
              </a:rPr>
              <a:t>and</a:t>
            </a:r>
            <a:r>
              <a:rPr sz="2000" spc="-25" dirty="0">
                <a:solidFill>
                  <a:srgbClr val="404040"/>
                </a:solidFill>
                <a:latin typeface="Calibri"/>
                <a:cs typeface="Calibri"/>
              </a:rPr>
              <a:t> </a:t>
            </a:r>
            <a:r>
              <a:rPr sz="2000" spc="-20" dirty="0">
                <a:solidFill>
                  <a:srgbClr val="404040"/>
                </a:solidFill>
                <a:latin typeface="Calibri"/>
                <a:cs typeface="Calibri"/>
              </a:rPr>
              <a:t>1s).</a:t>
            </a:r>
            <a:endParaRPr sz="2000">
              <a:latin typeface="Calibri"/>
              <a:cs typeface="Calibri"/>
            </a:endParaRPr>
          </a:p>
          <a:p>
            <a:pPr marL="12700">
              <a:lnSpc>
                <a:spcPct val="100000"/>
              </a:lnSpc>
              <a:spcBef>
                <a:spcPts val="910"/>
              </a:spcBef>
            </a:pPr>
            <a:r>
              <a:rPr sz="2000" spc="-10" dirty="0">
                <a:solidFill>
                  <a:srgbClr val="404040"/>
                </a:solidFill>
                <a:latin typeface="Calibri"/>
                <a:cs typeface="Calibri"/>
              </a:rPr>
              <a:t>Examples</a:t>
            </a:r>
            <a:r>
              <a:rPr sz="2000" spc="-40" dirty="0">
                <a:solidFill>
                  <a:srgbClr val="404040"/>
                </a:solidFill>
                <a:latin typeface="Calibri"/>
                <a:cs typeface="Calibri"/>
              </a:rPr>
              <a:t> </a:t>
            </a:r>
            <a:r>
              <a:rPr sz="2000" spc="-10" dirty="0">
                <a:solidFill>
                  <a:srgbClr val="404040"/>
                </a:solidFill>
                <a:latin typeface="Calibri"/>
                <a:cs typeface="Calibri"/>
              </a:rPr>
              <a:t>include</a:t>
            </a:r>
            <a:endParaRPr sz="2000">
              <a:latin typeface="Calibri"/>
              <a:cs typeface="Calibri"/>
            </a:endParaRPr>
          </a:p>
        </p:txBody>
      </p:sp>
      <p:sp>
        <p:nvSpPr>
          <p:cNvPr id="4" name="object 4"/>
          <p:cNvSpPr txBox="1"/>
          <p:nvPr/>
        </p:nvSpPr>
        <p:spPr>
          <a:xfrm>
            <a:off x="810259" y="1694278"/>
            <a:ext cx="2029460" cy="3822065"/>
          </a:xfrm>
          <a:prstGeom prst="rect">
            <a:avLst/>
          </a:prstGeom>
        </p:spPr>
        <p:txBody>
          <a:bodyPr vert="horz" wrap="square" lIns="0" tIns="130810" rIns="0" bIns="0" rtlCol="0">
            <a:spAutoFit/>
          </a:bodyPr>
          <a:lstStyle/>
          <a:p>
            <a:pPr marL="103505" indent="-101600">
              <a:lnSpc>
                <a:spcPct val="100000"/>
              </a:lnSpc>
              <a:spcBef>
                <a:spcPts val="1030"/>
              </a:spcBef>
              <a:buClr>
                <a:srgbClr val="E38312"/>
              </a:buClr>
              <a:buSzPct val="77500"/>
              <a:buFont typeface="Tahoma"/>
              <a:buChar char="•"/>
              <a:tabLst>
                <a:tab pos="103505" algn="l"/>
              </a:tabLst>
            </a:pPr>
            <a:r>
              <a:rPr sz="2000" dirty="0">
                <a:solidFill>
                  <a:srgbClr val="404040"/>
                </a:solidFill>
                <a:latin typeface="Calibri"/>
                <a:cs typeface="Calibri"/>
              </a:rPr>
              <a:t>Student</a:t>
            </a:r>
            <a:r>
              <a:rPr sz="2000" spc="-60" dirty="0">
                <a:solidFill>
                  <a:srgbClr val="404040"/>
                </a:solidFill>
                <a:latin typeface="Calibri"/>
                <a:cs typeface="Calibri"/>
              </a:rPr>
              <a:t> </a:t>
            </a:r>
            <a:r>
              <a:rPr sz="2000" spc="-10" dirty="0">
                <a:solidFill>
                  <a:srgbClr val="404040"/>
                </a:solidFill>
                <a:latin typeface="Calibri"/>
                <a:cs typeface="Calibri"/>
              </a:rPr>
              <a:t>databases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Hospital</a:t>
            </a:r>
            <a:r>
              <a:rPr sz="2000" spc="-60" dirty="0">
                <a:solidFill>
                  <a:srgbClr val="404040"/>
                </a:solidFill>
                <a:latin typeface="Calibri"/>
                <a:cs typeface="Calibri"/>
              </a:rPr>
              <a:t> </a:t>
            </a:r>
            <a:r>
              <a:rPr sz="2000" spc="-10" dirty="0">
                <a:solidFill>
                  <a:srgbClr val="404040"/>
                </a:solidFill>
                <a:latin typeface="Calibri"/>
                <a:cs typeface="Calibri"/>
              </a:rPr>
              <a:t>records</a:t>
            </a:r>
            <a:endParaRPr sz="2000">
              <a:latin typeface="Calibri"/>
              <a:cs typeface="Calibri"/>
            </a:endParaRPr>
          </a:p>
          <a:p>
            <a:pPr marL="103505" indent="-101600">
              <a:lnSpc>
                <a:spcPct val="100000"/>
              </a:lnSpc>
              <a:spcBef>
                <a:spcPts val="910"/>
              </a:spcBef>
              <a:buClr>
                <a:srgbClr val="E38312"/>
              </a:buClr>
              <a:buSzPct val="77500"/>
              <a:buFont typeface="Tahoma"/>
              <a:buChar char="•"/>
              <a:tabLst>
                <a:tab pos="103505" algn="l"/>
              </a:tabLst>
            </a:pPr>
            <a:r>
              <a:rPr sz="2000" spc="-10" dirty="0">
                <a:solidFill>
                  <a:srgbClr val="404040"/>
                </a:solidFill>
                <a:latin typeface="Calibri"/>
                <a:cs typeface="Calibri"/>
              </a:rPr>
              <a:t>Emails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spc="-10" dirty="0">
                <a:solidFill>
                  <a:srgbClr val="404040"/>
                </a:solidFill>
                <a:latin typeface="Calibri"/>
                <a:cs typeface="Calibri"/>
              </a:rPr>
              <a:t>Images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spc="-10" dirty="0">
                <a:solidFill>
                  <a:srgbClr val="404040"/>
                </a:solidFill>
                <a:latin typeface="Calibri"/>
                <a:cs typeface="Calibri"/>
              </a:rPr>
              <a:t>Videos</a:t>
            </a:r>
            <a:endParaRPr sz="2000">
              <a:latin typeface="Calibri"/>
              <a:cs typeface="Calibri"/>
            </a:endParaRPr>
          </a:p>
          <a:p>
            <a:pPr marL="103505" indent="-101600">
              <a:lnSpc>
                <a:spcPct val="100000"/>
              </a:lnSpc>
              <a:spcBef>
                <a:spcPts val="915"/>
              </a:spcBef>
              <a:buClr>
                <a:srgbClr val="E38312"/>
              </a:buClr>
              <a:buSzPct val="77500"/>
              <a:buFont typeface="Tahoma"/>
              <a:buChar char="•"/>
              <a:tabLst>
                <a:tab pos="103505" algn="l"/>
              </a:tabLst>
            </a:pPr>
            <a:r>
              <a:rPr sz="2000" dirty="0">
                <a:solidFill>
                  <a:srgbClr val="404040"/>
                </a:solidFill>
                <a:latin typeface="Calibri"/>
                <a:cs typeface="Calibri"/>
              </a:rPr>
              <a:t>Audio</a:t>
            </a:r>
            <a:r>
              <a:rPr sz="2000" spc="-45" dirty="0">
                <a:solidFill>
                  <a:srgbClr val="404040"/>
                </a:solidFill>
                <a:latin typeface="Calibri"/>
                <a:cs typeface="Calibri"/>
              </a:rPr>
              <a:t> </a:t>
            </a:r>
            <a:r>
              <a:rPr sz="2000" spc="-10" dirty="0">
                <a:solidFill>
                  <a:srgbClr val="404040"/>
                </a:solidFill>
                <a:latin typeface="Calibri"/>
                <a:cs typeface="Calibri"/>
              </a:rPr>
              <a:t>files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GPS</a:t>
            </a:r>
            <a:r>
              <a:rPr sz="2000" spc="-50" dirty="0">
                <a:solidFill>
                  <a:srgbClr val="404040"/>
                </a:solidFill>
                <a:latin typeface="Calibri"/>
                <a:cs typeface="Calibri"/>
              </a:rPr>
              <a:t> </a:t>
            </a:r>
            <a:r>
              <a:rPr sz="2000" spc="-10" dirty="0">
                <a:solidFill>
                  <a:srgbClr val="404040"/>
                </a:solidFill>
                <a:latin typeface="Calibri"/>
                <a:cs typeface="Calibri"/>
              </a:rPr>
              <a:t>coordinates</a:t>
            </a:r>
            <a:endParaRPr sz="2000">
              <a:latin typeface="Calibri"/>
              <a:cs typeface="Calibri"/>
            </a:endParaRPr>
          </a:p>
          <a:p>
            <a:pPr marL="103505" indent="-101600">
              <a:lnSpc>
                <a:spcPct val="100000"/>
              </a:lnSpc>
              <a:spcBef>
                <a:spcPts val="919"/>
              </a:spcBef>
              <a:buClr>
                <a:srgbClr val="E38312"/>
              </a:buClr>
              <a:buSzPct val="77500"/>
              <a:buFont typeface="Tahoma"/>
              <a:buChar char="•"/>
              <a:tabLst>
                <a:tab pos="103505" algn="l"/>
              </a:tabLst>
            </a:pPr>
            <a:r>
              <a:rPr sz="2000" dirty="0">
                <a:solidFill>
                  <a:srgbClr val="404040"/>
                </a:solidFill>
                <a:latin typeface="Calibri"/>
                <a:cs typeface="Calibri"/>
              </a:rPr>
              <a:t>Social</a:t>
            </a:r>
            <a:r>
              <a:rPr sz="2000" spc="-35" dirty="0">
                <a:solidFill>
                  <a:srgbClr val="404040"/>
                </a:solidFill>
                <a:latin typeface="Calibri"/>
                <a:cs typeface="Calibri"/>
              </a:rPr>
              <a:t> </a:t>
            </a:r>
            <a:r>
              <a:rPr sz="2000" dirty="0">
                <a:solidFill>
                  <a:srgbClr val="404040"/>
                </a:solidFill>
                <a:latin typeface="Calibri"/>
                <a:cs typeface="Calibri"/>
              </a:rPr>
              <a:t>media</a:t>
            </a:r>
            <a:r>
              <a:rPr sz="2000" spc="-15" dirty="0">
                <a:solidFill>
                  <a:srgbClr val="404040"/>
                </a:solidFill>
                <a:latin typeface="Calibri"/>
                <a:cs typeface="Calibri"/>
              </a:rPr>
              <a:t> </a:t>
            </a:r>
            <a:r>
              <a:rPr sz="2000" spc="-20" dirty="0">
                <a:solidFill>
                  <a:srgbClr val="404040"/>
                </a:solidFill>
                <a:latin typeface="Calibri"/>
                <a:cs typeface="Calibri"/>
              </a:rPr>
              <a:t>posts</a:t>
            </a:r>
            <a:endParaRPr sz="2000">
              <a:latin typeface="Calibri"/>
              <a:cs typeface="Calibri"/>
            </a:endParaRPr>
          </a:p>
          <a:p>
            <a:pPr marL="103505" indent="-101600">
              <a:lnSpc>
                <a:spcPct val="100000"/>
              </a:lnSpc>
              <a:spcBef>
                <a:spcPts val="915"/>
              </a:spcBef>
              <a:buClr>
                <a:srgbClr val="E38312"/>
              </a:buClr>
              <a:buSzPct val="77500"/>
              <a:buFont typeface="Tahoma"/>
              <a:buChar char="•"/>
              <a:tabLst>
                <a:tab pos="103505" algn="l"/>
              </a:tabLst>
            </a:pPr>
            <a:r>
              <a:rPr sz="2000" dirty="0">
                <a:solidFill>
                  <a:srgbClr val="404040"/>
                </a:solidFill>
                <a:latin typeface="Calibri"/>
                <a:cs typeface="Calibri"/>
              </a:rPr>
              <a:t>Sensor</a:t>
            </a:r>
            <a:r>
              <a:rPr sz="2000" spc="-15" dirty="0">
                <a:solidFill>
                  <a:srgbClr val="404040"/>
                </a:solidFill>
                <a:latin typeface="Calibri"/>
                <a:cs typeface="Calibri"/>
              </a:rPr>
              <a:t> </a:t>
            </a:r>
            <a:r>
              <a:rPr sz="2000" spc="-10" dirty="0">
                <a:solidFill>
                  <a:srgbClr val="404040"/>
                </a:solidFill>
                <a:latin typeface="Calibri"/>
                <a:cs typeface="Calibri"/>
              </a:rPr>
              <a:t>readings</a:t>
            </a:r>
            <a:endParaRPr sz="2000">
              <a:latin typeface="Calibri"/>
              <a:cs typeface="Calibri"/>
            </a:endParaRPr>
          </a:p>
        </p:txBody>
      </p:sp>
      <p:sp>
        <p:nvSpPr>
          <p:cNvPr id="5" name="object 5"/>
          <p:cNvSpPr txBox="1"/>
          <p:nvPr/>
        </p:nvSpPr>
        <p:spPr>
          <a:xfrm>
            <a:off x="4346575" y="2859151"/>
            <a:ext cx="4521835" cy="3317875"/>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Digital</a:t>
            </a:r>
            <a:r>
              <a:rPr sz="1800" b="1" spc="-55" dirty="0">
                <a:latin typeface="Calibri"/>
                <a:cs typeface="Calibri"/>
              </a:rPr>
              <a:t> </a:t>
            </a:r>
            <a:r>
              <a:rPr sz="1800" b="1" spc="-10" dirty="0">
                <a:latin typeface="Calibri"/>
                <a:cs typeface="Calibri"/>
              </a:rPr>
              <a:t>Revolution</a:t>
            </a:r>
            <a:endParaRPr sz="1800">
              <a:latin typeface="Calibri"/>
              <a:cs typeface="Calibri"/>
            </a:endParaRPr>
          </a:p>
          <a:p>
            <a:pPr marL="12700">
              <a:lnSpc>
                <a:spcPct val="100000"/>
              </a:lnSpc>
            </a:pPr>
            <a:r>
              <a:rPr sz="1800" spc="-30" dirty="0">
                <a:latin typeface="Calibri"/>
                <a:cs typeface="Calibri"/>
              </a:rPr>
              <a:t>Today</a:t>
            </a:r>
            <a:r>
              <a:rPr sz="1800" spc="-60" dirty="0">
                <a:latin typeface="Calibri"/>
                <a:cs typeface="Calibri"/>
              </a:rPr>
              <a:t> </a:t>
            </a:r>
            <a:r>
              <a:rPr sz="1800" dirty="0">
                <a:latin typeface="Calibri"/>
                <a:cs typeface="Calibri"/>
              </a:rPr>
              <a:t>digital</a:t>
            </a:r>
            <a:r>
              <a:rPr sz="1800" spc="-40" dirty="0">
                <a:latin typeface="Calibri"/>
                <a:cs typeface="Calibri"/>
              </a:rPr>
              <a:t> </a:t>
            </a:r>
            <a:r>
              <a:rPr sz="1800" dirty="0">
                <a:latin typeface="Calibri"/>
                <a:cs typeface="Calibri"/>
              </a:rPr>
              <a:t>data</a:t>
            </a:r>
            <a:r>
              <a:rPr sz="1800" spc="-65" dirty="0">
                <a:latin typeface="Calibri"/>
                <a:cs typeface="Calibri"/>
              </a:rPr>
              <a:t> </a:t>
            </a:r>
            <a:r>
              <a:rPr sz="1800" dirty="0">
                <a:latin typeface="Calibri"/>
                <a:cs typeface="Calibri"/>
              </a:rPr>
              <a:t>is</a:t>
            </a:r>
            <a:r>
              <a:rPr sz="1800" spc="-60" dirty="0">
                <a:latin typeface="Calibri"/>
                <a:cs typeface="Calibri"/>
              </a:rPr>
              <a:t> </a:t>
            </a:r>
            <a:r>
              <a:rPr sz="1800" spc="-10" dirty="0">
                <a:latin typeface="Calibri"/>
                <a:cs typeface="Calibri"/>
              </a:rPr>
              <a:t>generated</a:t>
            </a:r>
            <a:r>
              <a:rPr sz="1800" spc="-60" dirty="0">
                <a:latin typeface="Calibri"/>
                <a:cs typeface="Calibri"/>
              </a:rPr>
              <a:t> </a:t>
            </a:r>
            <a:r>
              <a:rPr sz="1800" spc="-25" dirty="0">
                <a:latin typeface="Calibri"/>
                <a:cs typeface="Calibri"/>
              </a:rPr>
              <a:t>by</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Smartphones</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Computers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IoT</a:t>
            </a:r>
            <a:r>
              <a:rPr sz="1800" spc="-25" dirty="0">
                <a:latin typeface="Calibri"/>
                <a:cs typeface="Calibri"/>
              </a:rPr>
              <a:t> </a:t>
            </a:r>
            <a:r>
              <a:rPr sz="1800" spc="-10" dirty="0">
                <a:latin typeface="Calibri"/>
                <a:cs typeface="Calibri"/>
              </a:rPr>
              <a:t>devices</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Social</a:t>
            </a:r>
            <a:r>
              <a:rPr sz="1800" spc="-15" dirty="0">
                <a:latin typeface="Calibri"/>
                <a:cs typeface="Calibri"/>
              </a:rPr>
              <a:t> </a:t>
            </a:r>
            <a:r>
              <a:rPr sz="1800" spc="-20" dirty="0">
                <a:latin typeface="Calibri"/>
                <a:cs typeface="Calibri"/>
              </a:rPr>
              <a:t>media</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Banking</a:t>
            </a:r>
            <a:r>
              <a:rPr sz="1800" spc="-15" dirty="0">
                <a:latin typeface="Calibri"/>
                <a:cs typeface="Calibri"/>
              </a:rPr>
              <a:t> </a:t>
            </a:r>
            <a:r>
              <a:rPr sz="1800" spc="-10" dirty="0">
                <a:latin typeface="Calibri"/>
                <a:cs typeface="Calibri"/>
              </a:rPr>
              <a:t>systems</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Hospitals</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Industries</a:t>
            </a:r>
            <a:endParaRPr sz="1800">
              <a:latin typeface="Calibri"/>
              <a:cs typeface="Calibri"/>
            </a:endParaRPr>
          </a:p>
          <a:p>
            <a:pPr marL="91440" indent="-90805">
              <a:lnSpc>
                <a:spcPct val="100000"/>
              </a:lnSpc>
              <a:spcBef>
                <a:spcPts val="5"/>
              </a:spcBef>
              <a:buSzPct val="75000"/>
              <a:buFont typeface="Tahoma"/>
              <a:buChar char="•"/>
              <a:tabLst>
                <a:tab pos="91440" algn="l"/>
              </a:tabLst>
            </a:pPr>
            <a:r>
              <a:rPr sz="1800" spc="-10" dirty="0">
                <a:latin typeface="Calibri"/>
                <a:cs typeface="Calibri"/>
              </a:rPr>
              <a:t>Satellites</a:t>
            </a:r>
            <a:endParaRPr sz="1800">
              <a:latin typeface="Calibri"/>
              <a:cs typeface="Calibri"/>
            </a:endParaRPr>
          </a:p>
          <a:p>
            <a:pPr marL="12700" marR="5080">
              <a:lnSpc>
                <a:spcPct val="100000"/>
              </a:lnSpc>
            </a:pPr>
            <a:r>
              <a:rPr sz="1800" b="1" dirty="0">
                <a:latin typeface="Calibri"/>
                <a:cs typeface="Calibri"/>
              </a:rPr>
              <a:t>Every</a:t>
            </a:r>
            <a:r>
              <a:rPr sz="1800" b="1" spc="-60" dirty="0">
                <a:latin typeface="Calibri"/>
                <a:cs typeface="Calibri"/>
              </a:rPr>
              <a:t> </a:t>
            </a:r>
            <a:r>
              <a:rPr sz="1800" b="1" dirty="0">
                <a:latin typeface="Calibri"/>
                <a:cs typeface="Calibri"/>
              </a:rPr>
              <a:t>day</a:t>
            </a:r>
            <a:r>
              <a:rPr sz="1800" b="1" spc="-35" dirty="0">
                <a:latin typeface="Calibri"/>
                <a:cs typeface="Calibri"/>
              </a:rPr>
              <a:t> </a:t>
            </a:r>
            <a:r>
              <a:rPr sz="1800" b="1" dirty="0">
                <a:latin typeface="Calibri"/>
                <a:cs typeface="Calibri"/>
              </a:rPr>
              <a:t>more</a:t>
            </a:r>
            <a:r>
              <a:rPr sz="1800" b="1" spc="-45" dirty="0">
                <a:latin typeface="Calibri"/>
                <a:cs typeface="Calibri"/>
              </a:rPr>
              <a:t> </a:t>
            </a:r>
            <a:r>
              <a:rPr sz="1800" b="1" dirty="0">
                <a:latin typeface="Calibri"/>
                <a:cs typeface="Calibri"/>
              </a:rPr>
              <a:t>than</a:t>
            </a:r>
            <a:r>
              <a:rPr sz="1800" b="1" spc="-45" dirty="0">
                <a:latin typeface="Calibri"/>
                <a:cs typeface="Calibri"/>
              </a:rPr>
              <a:t> </a:t>
            </a:r>
            <a:r>
              <a:rPr sz="1800" b="1" dirty="0">
                <a:latin typeface="Calibri"/>
                <a:cs typeface="Calibri"/>
              </a:rPr>
              <a:t>hundreds</a:t>
            </a:r>
            <a:r>
              <a:rPr sz="1800" b="1" spc="-65" dirty="0">
                <a:latin typeface="Calibri"/>
                <a:cs typeface="Calibri"/>
              </a:rPr>
              <a:t> </a:t>
            </a:r>
            <a:r>
              <a:rPr sz="1800" b="1" dirty="0">
                <a:latin typeface="Calibri"/>
                <a:cs typeface="Calibri"/>
              </a:rPr>
              <a:t>of</a:t>
            </a:r>
            <a:r>
              <a:rPr sz="1800" b="1" spc="-30" dirty="0">
                <a:latin typeface="Calibri"/>
                <a:cs typeface="Calibri"/>
              </a:rPr>
              <a:t> </a:t>
            </a:r>
            <a:r>
              <a:rPr sz="1800" b="1" dirty="0">
                <a:latin typeface="Calibri"/>
                <a:cs typeface="Calibri"/>
              </a:rPr>
              <a:t>quintillions</a:t>
            </a:r>
            <a:r>
              <a:rPr sz="1800" b="1" spc="-85" dirty="0">
                <a:latin typeface="Calibri"/>
                <a:cs typeface="Calibri"/>
              </a:rPr>
              <a:t> </a:t>
            </a:r>
            <a:r>
              <a:rPr sz="1800" b="1" spc="-25" dirty="0">
                <a:latin typeface="Calibri"/>
                <a:cs typeface="Calibri"/>
              </a:rPr>
              <a:t>of </a:t>
            </a:r>
            <a:r>
              <a:rPr sz="1800" b="1" dirty="0">
                <a:latin typeface="Calibri"/>
                <a:cs typeface="Calibri"/>
              </a:rPr>
              <a:t>bytes</a:t>
            </a:r>
            <a:r>
              <a:rPr sz="1800" b="1" spc="-60" dirty="0">
                <a:latin typeface="Calibri"/>
                <a:cs typeface="Calibri"/>
              </a:rPr>
              <a:t> </a:t>
            </a:r>
            <a:r>
              <a:rPr sz="1800" b="1" dirty="0">
                <a:latin typeface="Calibri"/>
                <a:cs typeface="Calibri"/>
              </a:rPr>
              <a:t>of</a:t>
            </a:r>
            <a:r>
              <a:rPr sz="1800" b="1" spc="-35" dirty="0">
                <a:latin typeface="Calibri"/>
                <a:cs typeface="Calibri"/>
              </a:rPr>
              <a:t> </a:t>
            </a:r>
            <a:r>
              <a:rPr sz="1800" b="1" dirty="0">
                <a:latin typeface="Calibri"/>
                <a:cs typeface="Calibri"/>
              </a:rPr>
              <a:t>data</a:t>
            </a:r>
            <a:r>
              <a:rPr sz="1800" b="1" spc="-50" dirty="0">
                <a:latin typeface="Calibri"/>
                <a:cs typeface="Calibri"/>
              </a:rPr>
              <a:t> </a:t>
            </a:r>
            <a:r>
              <a:rPr sz="1800" b="1" dirty="0">
                <a:latin typeface="Calibri"/>
                <a:cs typeface="Calibri"/>
              </a:rPr>
              <a:t>are</a:t>
            </a:r>
            <a:r>
              <a:rPr sz="1800" b="1" spc="-35" dirty="0">
                <a:latin typeface="Calibri"/>
                <a:cs typeface="Calibri"/>
              </a:rPr>
              <a:t> </a:t>
            </a:r>
            <a:r>
              <a:rPr sz="1800" b="1" spc="-10" dirty="0">
                <a:latin typeface="Calibri"/>
                <a:cs typeface="Calibri"/>
              </a:rPr>
              <a:t>generated</a:t>
            </a:r>
            <a:r>
              <a:rPr sz="1800" b="1" spc="-40" dirty="0">
                <a:latin typeface="Calibri"/>
                <a:cs typeface="Calibri"/>
              </a:rPr>
              <a:t> </a:t>
            </a:r>
            <a:r>
              <a:rPr sz="1800" b="1" spc="-10" dirty="0">
                <a:latin typeface="Calibri"/>
                <a:cs typeface="Calibri"/>
              </a:rPr>
              <a:t>globally.</a:t>
            </a:r>
            <a:endParaRPr sz="180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1174749"/>
            <a:ext cx="3709035" cy="406400"/>
          </a:xfrm>
          <a:prstGeom prst="rect">
            <a:avLst/>
          </a:prstGeom>
        </p:spPr>
        <p:txBody>
          <a:bodyPr vert="horz" wrap="square" lIns="0" tIns="12065" rIns="0" bIns="0" rtlCol="0">
            <a:spAutoFit/>
          </a:bodyPr>
          <a:lstStyle/>
          <a:p>
            <a:pPr marL="12700">
              <a:lnSpc>
                <a:spcPct val="100000"/>
              </a:lnSpc>
              <a:spcBef>
                <a:spcPts val="95"/>
              </a:spcBef>
            </a:pPr>
            <a:r>
              <a:rPr sz="2500" spc="-10" dirty="0"/>
              <a:t>Classification</a:t>
            </a:r>
            <a:r>
              <a:rPr sz="2500" spc="-35" dirty="0"/>
              <a:t> </a:t>
            </a:r>
            <a:r>
              <a:rPr sz="2500" dirty="0"/>
              <a:t>of</a:t>
            </a:r>
            <a:r>
              <a:rPr sz="2500" spc="-45" dirty="0"/>
              <a:t> </a:t>
            </a:r>
            <a:r>
              <a:rPr sz="2500" dirty="0"/>
              <a:t>Digital</a:t>
            </a:r>
            <a:r>
              <a:rPr sz="2500" spc="-45" dirty="0"/>
              <a:t> </a:t>
            </a:r>
            <a:r>
              <a:rPr sz="2500" spc="-20" dirty="0"/>
              <a:t>Data</a:t>
            </a:r>
            <a:endParaRPr sz="2500"/>
          </a:p>
        </p:txBody>
      </p:sp>
      <p:sp>
        <p:nvSpPr>
          <p:cNvPr id="3" name="object 3"/>
          <p:cNvSpPr txBox="1"/>
          <p:nvPr/>
        </p:nvSpPr>
        <p:spPr>
          <a:xfrm>
            <a:off x="810259" y="2013940"/>
            <a:ext cx="4826000" cy="1380490"/>
          </a:xfrm>
          <a:prstGeom prst="rect">
            <a:avLst/>
          </a:prstGeom>
        </p:spPr>
        <p:txBody>
          <a:bodyPr vert="horz" wrap="square" lIns="0" tIns="158750" rIns="0" bIns="0" rtlCol="0">
            <a:spAutoFit/>
          </a:bodyPr>
          <a:lstStyle/>
          <a:p>
            <a:pPr marL="469900" indent="-457200">
              <a:lnSpc>
                <a:spcPct val="100000"/>
              </a:lnSpc>
              <a:spcBef>
                <a:spcPts val="1250"/>
              </a:spcBef>
              <a:buClr>
                <a:srgbClr val="E38312"/>
              </a:buClr>
              <a:buAutoNum type="arabicPeriod"/>
              <a:tabLst>
                <a:tab pos="469900" algn="l"/>
                <a:tab pos="1758950" algn="l"/>
              </a:tabLst>
            </a:pPr>
            <a:r>
              <a:rPr sz="2000" b="1" spc="-10" dirty="0">
                <a:solidFill>
                  <a:srgbClr val="404040"/>
                </a:solidFill>
                <a:latin typeface="Calibri"/>
                <a:cs typeface="Calibri"/>
              </a:rPr>
              <a:t>Structured</a:t>
            </a:r>
            <a:r>
              <a:rPr sz="2000" b="1" dirty="0">
                <a:solidFill>
                  <a:srgbClr val="404040"/>
                </a:solidFill>
                <a:latin typeface="Calibri"/>
                <a:cs typeface="Calibri"/>
              </a:rPr>
              <a:t>	</a:t>
            </a:r>
            <a:r>
              <a:rPr sz="2000" dirty="0">
                <a:solidFill>
                  <a:srgbClr val="404040"/>
                </a:solidFill>
                <a:latin typeface="Calibri"/>
                <a:cs typeface="Calibri"/>
              </a:rPr>
              <a:t>:Highly</a:t>
            </a:r>
            <a:r>
              <a:rPr sz="2000" spc="-15" dirty="0">
                <a:solidFill>
                  <a:srgbClr val="404040"/>
                </a:solidFill>
                <a:latin typeface="Calibri"/>
                <a:cs typeface="Calibri"/>
              </a:rPr>
              <a:t> </a:t>
            </a:r>
            <a:r>
              <a:rPr sz="2000" spc="-10" dirty="0">
                <a:solidFill>
                  <a:srgbClr val="404040"/>
                </a:solidFill>
                <a:latin typeface="Calibri"/>
                <a:cs typeface="Calibri"/>
              </a:rPr>
              <a:t>organized</a:t>
            </a:r>
            <a:endParaRPr sz="2000">
              <a:latin typeface="Calibri"/>
              <a:cs typeface="Calibri"/>
            </a:endParaRPr>
          </a:p>
          <a:p>
            <a:pPr marL="469900" indent="-457200">
              <a:lnSpc>
                <a:spcPct val="100000"/>
              </a:lnSpc>
              <a:spcBef>
                <a:spcPts val="1150"/>
              </a:spcBef>
              <a:buClr>
                <a:srgbClr val="E38312"/>
              </a:buClr>
              <a:buAutoNum type="arabicPeriod"/>
              <a:tabLst>
                <a:tab pos="469900" algn="l"/>
              </a:tabLst>
            </a:pPr>
            <a:r>
              <a:rPr sz="2000" b="1" spc="-10" dirty="0">
                <a:solidFill>
                  <a:srgbClr val="404040"/>
                </a:solidFill>
                <a:latin typeface="Calibri"/>
                <a:cs typeface="Calibri"/>
              </a:rPr>
              <a:t>Semi-</a:t>
            </a:r>
            <a:r>
              <a:rPr sz="2000" b="1" dirty="0">
                <a:solidFill>
                  <a:srgbClr val="404040"/>
                </a:solidFill>
                <a:latin typeface="Calibri"/>
                <a:cs typeface="Calibri"/>
              </a:rPr>
              <a:t>Structured</a:t>
            </a:r>
            <a:r>
              <a:rPr sz="2000" b="1" spc="405" dirty="0">
                <a:solidFill>
                  <a:srgbClr val="404040"/>
                </a:solidFill>
                <a:latin typeface="Calibri"/>
                <a:cs typeface="Calibri"/>
              </a:rPr>
              <a:t> </a:t>
            </a:r>
            <a:r>
              <a:rPr sz="2000" spc="-10" dirty="0">
                <a:solidFill>
                  <a:srgbClr val="404040"/>
                </a:solidFill>
                <a:latin typeface="Calibri"/>
                <a:cs typeface="Calibri"/>
              </a:rPr>
              <a:t>:Partially</a:t>
            </a:r>
            <a:r>
              <a:rPr sz="2000" spc="-5" dirty="0">
                <a:solidFill>
                  <a:srgbClr val="404040"/>
                </a:solidFill>
                <a:latin typeface="Calibri"/>
                <a:cs typeface="Calibri"/>
              </a:rPr>
              <a:t> </a:t>
            </a:r>
            <a:r>
              <a:rPr sz="2000" spc="-10" dirty="0">
                <a:solidFill>
                  <a:srgbClr val="404040"/>
                </a:solidFill>
                <a:latin typeface="Calibri"/>
                <a:cs typeface="Calibri"/>
              </a:rPr>
              <a:t>organized</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b="1" spc="-10" dirty="0">
                <a:solidFill>
                  <a:srgbClr val="404040"/>
                </a:solidFill>
                <a:latin typeface="Calibri"/>
                <a:cs typeface="Calibri"/>
              </a:rPr>
              <a:t>Unstructured</a:t>
            </a:r>
            <a:r>
              <a:rPr sz="2000" spc="-10" dirty="0">
                <a:solidFill>
                  <a:srgbClr val="404040"/>
                </a:solidFill>
                <a:latin typeface="Calibri"/>
                <a:cs typeface="Calibri"/>
              </a:rPr>
              <a:t>:</a:t>
            </a:r>
            <a:r>
              <a:rPr sz="2000" spc="-45" dirty="0">
                <a:solidFill>
                  <a:srgbClr val="404040"/>
                </a:solidFill>
                <a:latin typeface="Calibri"/>
                <a:cs typeface="Calibri"/>
              </a:rPr>
              <a:t> </a:t>
            </a:r>
            <a:r>
              <a:rPr sz="2000" dirty="0">
                <a:solidFill>
                  <a:srgbClr val="404040"/>
                </a:solidFill>
                <a:latin typeface="Calibri"/>
                <a:cs typeface="Calibri"/>
              </a:rPr>
              <a:t>No</a:t>
            </a:r>
            <a:r>
              <a:rPr sz="2000" spc="-5" dirty="0">
                <a:solidFill>
                  <a:srgbClr val="404040"/>
                </a:solidFill>
                <a:latin typeface="Calibri"/>
                <a:cs typeface="Calibri"/>
              </a:rPr>
              <a:t> </a:t>
            </a:r>
            <a:r>
              <a:rPr sz="2000" spc="-10" dirty="0">
                <a:solidFill>
                  <a:srgbClr val="404040"/>
                </a:solidFill>
                <a:latin typeface="Calibri"/>
                <a:cs typeface="Calibri"/>
              </a:rPr>
              <a:t>predefined</a:t>
            </a:r>
            <a:r>
              <a:rPr sz="2000" spc="-20" dirty="0">
                <a:solidFill>
                  <a:srgbClr val="404040"/>
                </a:solidFill>
                <a:latin typeface="Calibri"/>
                <a:cs typeface="Calibri"/>
              </a:rPr>
              <a:t> </a:t>
            </a:r>
            <a:r>
              <a:rPr sz="2000" spc="-10" dirty="0">
                <a:solidFill>
                  <a:srgbClr val="404040"/>
                </a:solidFill>
                <a:latin typeface="Calibri"/>
                <a:cs typeface="Calibri"/>
              </a:rPr>
              <a:t>organization</a:t>
            </a:r>
            <a:endParaRPr sz="20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99363" y="389890"/>
            <a:ext cx="1858645" cy="360680"/>
          </a:xfrm>
          <a:prstGeom prst="rect">
            <a:avLst/>
          </a:prstGeom>
        </p:spPr>
        <p:txBody>
          <a:bodyPr vert="horz" wrap="square" lIns="0" tIns="12065" rIns="0" bIns="0" rtlCol="0">
            <a:spAutoFit/>
          </a:bodyPr>
          <a:lstStyle/>
          <a:p>
            <a:pPr marL="12700">
              <a:lnSpc>
                <a:spcPct val="100000"/>
              </a:lnSpc>
              <a:spcBef>
                <a:spcPts val="95"/>
              </a:spcBef>
            </a:pPr>
            <a:r>
              <a:rPr sz="2200" dirty="0"/>
              <a:t>Structured</a:t>
            </a:r>
            <a:r>
              <a:rPr sz="2200" spc="-114" dirty="0"/>
              <a:t> </a:t>
            </a:r>
            <a:r>
              <a:rPr sz="2200" spc="-20" dirty="0"/>
              <a:t>Data</a:t>
            </a:r>
            <a:endParaRPr sz="2200"/>
          </a:p>
        </p:txBody>
      </p:sp>
      <p:sp>
        <p:nvSpPr>
          <p:cNvPr id="3" name="object 3"/>
          <p:cNvSpPr txBox="1"/>
          <p:nvPr/>
        </p:nvSpPr>
        <p:spPr>
          <a:xfrm>
            <a:off x="499363" y="722252"/>
            <a:ext cx="8571865" cy="1289050"/>
          </a:xfrm>
          <a:prstGeom prst="rect">
            <a:avLst/>
          </a:prstGeom>
        </p:spPr>
        <p:txBody>
          <a:bodyPr vert="horz" wrap="square" lIns="0" tIns="158115" rIns="0" bIns="0" rtlCol="0">
            <a:spAutoFit/>
          </a:bodyPr>
          <a:lstStyle/>
          <a:p>
            <a:pPr marL="12700">
              <a:lnSpc>
                <a:spcPct val="100000"/>
              </a:lnSpc>
              <a:spcBef>
                <a:spcPts val="1245"/>
              </a:spcBef>
            </a:pPr>
            <a:r>
              <a:rPr sz="2200" b="1" spc="-10" dirty="0">
                <a:solidFill>
                  <a:srgbClr val="404040"/>
                </a:solidFill>
                <a:latin typeface="Calibri"/>
                <a:cs typeface="Calibri"/>
              </a:rPr>
              <a:t>Definition</a:t>
            </a:r>
            <a:endParaRPr sz="2200">
              <a:latin typeface="Calibri"/>
              <a:cs typeface="Calibri"/>
            </a:endParaRPr>
          </a:p>
          <a:p>
            <a:pPr marL="12700" marR="5080">
              <a:lnSpc>
                <a:spcPts val="2380"/>
              </a:lnSpc>
              <a:spcBef>
                <a:spcPts val="1440"/>
              </a:spcBef>
            </a:pPr>
            <a:r>
              <a:rPr sz="2200" dirty="0">
                <a:solidFill>
                  <a:srgbClr val="404040"/>
                </a:solidFill>
                <a:latin typeface="Calibri"/>
                <a:cs typeface="Calibri"/>
              </a:rPr>
              <a:t>Structured</a:t>
            </a:r>
            <a:r>
              <a:rPr sz="2200" spc="-55" dirty="0">
                <a:solidFill>
                  <a:srgbClr val="404040"/>
                </a:solidFill>
                <a:latin typeface="Calibri"/>
                <a:cs typeface="Calibri"/>
              </a:rPr>
              <a:t> </a:t>
            </a:r>
            <a:r>
              <a:rPr sz="2200" dirty="0">
                <a:solidFill>
                  <a:srgbClr val="404040"/>
                </a:solidFill>
                <a:latin typeface="Calibri"/>
                <a:cs typeface="Calibri"/>
              </a:rPr>
              <a:t>data</a:t>
            </a:r>
            <a:r>
              <a:rPr sz="2200" spc="-55" dirty="0">
                <a:solidFill>
                  <a:srgbClr val="404040"/>
                </a:solidFill>
                <a:latin typeface="Calibri"/>
                <a:cs typeface="Calibri"/>
              </a:rPr>
              <a:t> </a:t>
            </a:r>
            <a:r>
              <a:rPr sz="2200" dirty="0">
                <a:solidFill>
                  <a:srgbClr val="404040"/>
                </a:solidFill>
                <a:latin typeface="Calibri"/>
                <a:cs typeface="Calibri"/>
              </a:rPr>
              <a:t>is</a:t>
            </a:r>
            <a:r>
              <a:rPr sz="2200" spc="-55" dirty="0">
                <a:solidFill>
                  <a:srgbClr val="404040"/>
                </a:solidFill>
                <a:latin typeface="Calibri"/>
                <a:cs typeface="Calibri"/>
              </a:rPr>
              <a:t> </a:t>
            </a:r>
            <a:r>
              <a:rPr sz="2200" dirty="0">
                <a:solidFill>
                  <a:srgbClr val="404040"/>
                </a:solidFill>
                <a:latin typeface="Calibri"/>
                <a:cs typeface="Calibri"/>
              </a:rPr>
              <a:t>data</a:t>
            </a:r>
            <a:r>
              <a:rPr sz="2200" spc="-55" dirty="0">
                <a:solidFill>
                  <a:srgbClr val="404040"/>
                </a:solidFill>
                <a:latin typeface="Calibri"/>
                <a:cs typeface="Calibri"/>
              </a:rPr>
              <a:t> </a:t>
            </a:r>
            <a:r>
              <a:rPr sz="2200" spc="-10" dirty="0">
                <a:solidFill>
                  <a:srgbClr val="404040"/>
                </a:solidFill>
                <a:latin typeface="Calibri"/>
                <a:cs typeface="Calibri"/>
              </a:rPr>
              <a:t>stored</a:t>
            </a:r>
            <a:r>
              <a:rPr sz="2200" spc="-50" dirty="0">
                <a:solidFill>
                  <a:srgbClr val="404040"/>
                </a:solidFill>
                <a:latin typeface="Calibri"/>
                <a:cs typeface="Calibri"/>
              </a:rPr>
              <a:t> </a:t>
            </a:r>
            <a:r>
              <a:rPr sz="2200" dirty="0">
                <a:solidFill>
                  <a:srgbClr val="404040"/>
                </a:solidFill>
                <a:latin typeface="Calibri"/>
                <a:cs typeface="Calibri"/>
              </a:rPr>
              <a:t>in</a:t>
            </a:r>
            <a:r>
              <a:rPr sz="2200" spc="-55" dirty="0">
                <a:solidFill>
                  <a:srgbClr val="404040"/>
                </a:solidFill>
                <a:latin typeface="Calibri"/>
                <a:cs typeface="Calibri"/>
              </a:rPr>
              <a:t> </a:t>
            </a:r>
            <a:r>
              <a:rPr sz="2200" dirty="0">
                <a:solidFill>
                  <a:srgbClr val="404040"/>
                </a:solidFill>
                <a:latin typeface="Calibri"/>
                <a:cs typeface="Calibri"/>
              </a:rPr>
              <a:t>a</a:t>
            </a:r>
            <a:r>
              <a:rPr sz="2200" spc="-55" dirty="0">
                <a:solidFill>
                  <a:srgbClr val="404040"/>
                </a:solidFill>
                <a:latin typeface="Calibri"/>
                <a:cs typeface="Calibri"/>
              </a:rPr>
              <a:t> </a:t>
            </a:r>
            <a:r>
              <a:rPr sz="2200" spc="-10" dirty="0">
                <a:solidFill>
                  <a:srgbClr val="404040"/>
                </a:solidFill>
                <a:latin typeface="Calibri"/>
                <a:cs typeface="Calibri"/>
              </a:rPr>
              <a:t>predefined</a:t>
            </a:r>
            <a:r>
              <a:rPr sz="2200" spc="-40" dirty="0">
                <a:solidFill>
                  <a:srgbClr val="404040"/>
                </a:solidFill>
                <a:latin typeface="Calibri"/>
                <a:cs typeface="Calibri"/>
              </a:rPr>
              <a:t> </a:t>
            </a:r>
            <a:r>
              <a:rPr sz="2200" spc="-10" dirty="0">
                <a:solidFill>
                  <a:srgbClr val="404040"/>
                </a:solidFill>
                <a:latin typeface="Calibri"/>
                <a:cs typeface="Calibri"/>
              </a:rPr>
              <a:t>format</a:t>
            </a:r>
            <a:r>
              <a:rPr sz="2200" spc="-55" dirty="0">
                <a:solidFill>
                  <a:srgbClr val="404040"/>
                </a:solidFill>
                <a:latin typeface="Calibri"/>
                <a:cs typeface="Calibri"/>
              </a:rPr>
              <a:t> </a:t>
            </a:r>
            <a:r>
              <a:rPr sz="2200" dirty="0">
                <a:solidFill>
                  <a:srgbClr val="404040"/>
                </a:solidFill>
                <a:latin typeface="Calibri"/>
                <a:cs typeface="Calibri"/>
              </a:rPr>
              <a:t>consisting</a:t>
            </a:r>
            <a:r>
              <a:rPr sz="2200" spc="-50" dirty="0">
                <a:solidFill>
                  <a:srgbClr val="404040"/>
                </a:solidFill>
                <a:latin typeface="Calibri"/>
                <a:cs typeface="Calibri"/>
              </a:rPr>
              <a:t> </a:t>
            </a:r>
            <a:r>
              <a:rPr sz="2200" dirty="0">
                <a:solidFill>
                  <a:srgbClr val="404040"/>
                </a:solidFill>
                <a:latin typeface="Calibri"/>
                <a:cs typeface="Calibri"/>
              </a:rPr>
              <a:t>of</a:t>
            </a:r>
            <a:r>
              <a:rPr sz="2200" spc="-45" dirty="0">
                <a:solidFill>
                  <a:srgbClr val="404040"/>
                </a:solidFill>
                <a:latin typeface="Calibri"/>
                <a:cs typeface="Calibri"/>
              </a:rPr>
              <a:t> </a:t>
            </a:r>
            <a:r>
              <a:rPr sz="2200" dirty="0">
                <a:solidFill>
                  <a:srgbClr val="404040"/>
                </a:solidFill>
                <a:latin typeface="Calibri"/>
                <a:cs typeface="Calibri"/>
              </a:rPr>
              <a:t>rows</a:t>
            </a:r>
            <a:r>
              <a:rPr sz="2200" spc="-45" dirty="0">
                <a:solidFill>
                  <a:srgbClr val="404040"/>
                </a:solidFill>
                <a:latin typeface="Calibri"/>
                <a:cs typeface="Calibri"/>
              </a:rPr>
              <a:t> </a:t>
            </a:r>
            <a:r>
              <a:rPr sz="2200" spc="-25" dirty="0">
                <a:solidFill>
                  <a:srgbClr val="404040"/>
                </a:solidFill>
                <a:latin typeface="Calibri"/>
                <a:cs typeface="Calibri"/>
              </a:rPr>
              <a:t>and </a:t>
            </a:r>
            <a:r>
              <a:rPr sz="2200" spc="-10" dirty="0">
                <a:solidFill>
                  <a:srgbClr val="404040"/>
                </a:solidFill>
                <a:latin typeface="Calibri"/>
                <a:cs typeface="Calibri"/>
              </a:rPr>
              <a:t>columns.</a:t>
            </a:r>
            <a:endParaRPr sz="2200">
              <a:latin typeface="Calibri"/>
              <a:cs typeface="Calibri"/>
            </a:endParaRPr>
          </a:p>
        </p:txBody>
      </p:sp>
      <p:sp>
        <p:nvSpPr>
          <p:cNvPr id="4" name="object 4"/>
          <p:cNvSpPr txBox="1"/>
          <p:nvPr/>
        </p:nvSpPr>
        <p:spPr>
          <a:xfrm>
            <a:off x="499363" y="2130679"/>
            <a:ext cx="2870200" cy="360680"/>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404040"/>
                </a:solidFill>
                <a:latin typeface="Calibri"/>
                <a:cs typeface="Calibri"/>
              </a:rPr>
              <a:t>It</a:t>
            </a:r>
            <a:r>
              <a:rPr sz="2200" spc="-50" dirty="0">
                <a:solidFill>
                  <a:srgbClr val="404040"/>
                </a:solidFill>
                <a:latin typeface="Calibri"/>
                <a:cs typeface="Calibri"/>
              </a:rPr>
              <a:t> </a:t>
            </a:r>
            <a:r>
              <a:rPr sz="2200" spc="-10" dirty="0">
                <a:solidFill>
                  <a:srgbClr val="404040"/>
                </a:solidFill>
                <a:latin typeface="Calibri"/>
                <a:cs typeface="Calibri"/>
              </a:rPr>
              <a:t>follows</a:t>
            </a:r>
            <a:r>
              <a:rPr sz="2200" spc="-35" dirty="0">
                <a:solidFill>
                  <a:srgbClr val="404040"/>
                </a:solidFill>
                <a:latin typeface="Calibri"/>
                <a:cs typeface="Calibri"/>
              </a:rPr>
              <a:t> </a:t>
            </a:r>
            <a:r>
              <a:rPr sz="2200" dirty="0">
                <a:solidFill>
                  <a:srgbClr val="404040"/>
                </a:solidFill>
                <a:latin typeface="Calibri"/>
                <a:cs typeface="Calibri"/>
              </a:rPr>
              <a:t>a</a:t>
            </a:r>
            <a:r>
              <a:rPr sz="2200" spc="-45" dirty="0">
                <a:solidFill>
                  <a:srgbClr val="404040"/>
                </a:solidFill>
                <a:latin typeface="Calibri"/>
                <a:cs typeface="Calibri"/>
              </a:rPr>
              <a:t> </a:t>
            </a:r>
            <a:r>
              <a:rPr sz="2200" dirty="0">
                <a:solidFill>
                  <a:srgbClr val="404040"/>
                </a:solidFill>
                <a:latin typeface="Calibri"/>
                <a:cs typeface="Calibri"/>
              </a:rPr>
              <a:t>fixed</a:t>
            </a:r>
            <a:r>
              <a:rPr sz="2200" spc="-35" dirty="0">
                <a:solidFill>
                  <a:srgbClr val="404040"/>
                </a:solidFill>
                <a:latin typeface="Calibri"/>
                <a:cs typeface="Calibri"/>
              </a:rPr>
              <a:t> </a:t>
            </a:r>
            <a:r>
              <a:rPr sz="2200" spc="-10" dirty="0">
                <a:solidFill>
                  <a:srgbClr val="404040"/>
                </a:solidFill>
                <a:latin typeface="Calibri"/>
                <a:cs typeface="Calibri"/>
              </a:rPr>
              <a:t>schema.</a:t>
            </a:r>
            <a:endParaRPr sz="2200">
              <a:latin typeface="Calibri"/>
              <a:cs typeface="Calibri"/>
            </a:endParaRPr>
          </a:p>
        </p:txBody>
      </p:sp>
      <p:sp>
        <p:nvSpPr>
          <p:cNvPr id="5" name="object 5"/>
          <p:cNvSpPr txBox="1"/>
          <p:nvPr/>
        </p:nvSpPr>
        <p:spPr>
          <a:xfrm>
            <a:off x="499363" y="3970096"/>
            <a:ext cx="899794" cy="331470"/>
          </a:xfrm>
          <a:prstGeom prst="rect">
            <a:avLst/>
          </a:prstGeom>
        </p:spPr>
        <p:txBody>
          <a:bodyPr vert="horz" wrap="square" lIns="0" tIns="13335" rIns="0" bIns="0" rtlCol="0">
            <a:spAutoFit/>
          </a:bodyPr>
          <a:lstStyle/>
          <a:p>
            <a:pPr marL="12700">
              <a:lnSpc>
                <a:spcPct val="100000"/>
              </a:lnSpc>
              <a:spcBef>
                <a:spcPts val="105"/>
              </a:spcBef>
            </a:pPr>
            <a:r>
              <a:rPr sz="2000" spc="-10" dirty="0">
                <a:solidFill>
                  <a:srgbClr val="404040"/>
                </a:solidFill>
                <a:latin typeface="Calibri"/>
                <a:cs typeface="Calibri"/>
              </a:rPr>
              <a:t>Example</a:t>
            </a:r>
            <a:endParaRPr sz="2000">
              <a:latin typeface="Calibri"/>
              <a:cs typeface="Calibri"/>
            </a:endParaRPr>
          </a:p>
        </p:txBody>
      </p:sp>
      <p:graphicFrame>
        <p:nvGraphicFramePr>
          <p:cNvPr id="6" name="object 6"/>
          <p:cNvGraphicFramePr>
            <a:graphicFrameLocks noGrp="1"/>
          </p:cNvGraphicFramePr>
          <p:nvPr/>
        </p:nvGraphicFramePr>
        <p:xfrm>
          <a:off x="420624" y="4635246"/>
          <a:ext cx="4444999" cy="1370330"/>
        </p:xfrm>
        <a:graphic>
          <a:graphicData uri="http://schemas.openxmlformats.org/drawingml/2006/table">
            <a:tbl>
              <a:tblPr firstRow="1" bandRow="1">
                <a:tableStyleId>{2D5ABB26-0587-4C30-8999-92F81FD0307C}</a:tableStyleId>
              </a:tblPr>
              <a:tblGrid>
                <a:gridCol w="1013460">
                  <a:extLst>
                    <a:ext uri="{9D8B030D-6E8A-4147-A177-3AD203B41FA5}">
                      <a16:colId xmlns:a16="http://schemas.microsoft.com/office/drawing/2014/main" val="20000"/>
                    </a:ext>
                  </a:extLst>
                </a:gridCol>
                <a:gridCol w="1022350">
                  <a:extLst>
                    <a:ext uri="{9D8B030D-6E8A-4147-A177-3AD203B41FA5}">
                      <a16:colId xmlns:a16="http://schemas.microsoft.com/office/drawing/2014/main" val="20001"/>
                    </a:ext>
                  </a:extLst>
                </a:gridCol>
                <a:gridCol w="1245869">
                  <a:extLst>
                    <a:ext uri="{9D8B030D-6E8A-4147-A177-3AD203B41FA5}">
                      <a16:colId xmlns:a16="http://schemas.microsoft.com/office/drawing/2014/main" val="20002"/>
                    </a:ext>
                  </a:extLst>
                </a:gridCol>
                <a:gridCol w="1163320">
                  <a:extLst>
                    <a:ext uri="{9D8B030D-6E8A-4147-A177-3AD203B41FA5}">
                      <a16:colId xmlns:a16="http://schemas.microsoft.com/office/drawing/2014/main" val="20003"/>
                    </a:ext>
                  </a:extLst>
                </a:gridCol>
              </a:tblGrid>
              <a:tr h="639445">
                <a:tc>
                  <a:txBody>
                    <a:bodyPr/>
                    <a:lstStyle/>
                    <a:p>
                      <a:pPr marL="91440" marR="181610">
                        <a:lnSpc>
                          <a:spcPct val="100000"/>
                        </a:lnSpc>
                        <a:spcBef>
                          <a:spcPts val="245"/>
                        </a:spcBef>
                      </a:pPr>
                      <a:r>
                        <a:rPr sz="1800" spc="-10" dirty="0">
                          <a:latin typeface="Calibri"/>
                          <a:cs typeface="Calibri"/>
                        </a:rPr>
                        <a:t>Student </a:t>
                      </a:r>
                      <a:r>
                        <a:rPr sz="1800" spc="-25" dirty="0">
                          <a:latin typeface="Calibri"/>
                          <a:cs typeface="Calibri"/>
                        </a:rPr>
                        <a:t>ID</a:t>
                      </a:r>
                      <a:endParaRPr sz="1800">
                        <a:latin typeface="Calibri"/>
                        <a:cs typeface="Calibri"/>
                      </a:endParaRPr>
                    </a:p>
                  </a:txBody>
                  <a:tcPr marL="0" marR="0" marT="31115" marB="0">
                    <a:solidFill>
                      <a:srgbClr val="FAE6CE"/>
                    </a:solidFill>
                  </a:tcPr>
                </a:tc>
                <a:tc>
                  <a:txBody>
                    <a:bodyPr/>
                    <a:lstStyle/>
                    <a:p>
                      <a:pPr marL="189230">
                        <a:lnSpc>
                          <a:spcPct val="100000"/>
                        </a:lnSpc>
                        <a:spcBef>
                          <a:spcPts val="1325"/>
                        </a:spcBef>
                      </a:pPr>
                      <a:r>
                        <a:rPr sz="1800" spc="-20" dirty="0">
                          <a:latin typeface="Calibri"/>
                          <a:cs typeface="Calibri"/>
                        </a:rPr>
                        <a:t>Name</a:t>
                      </a:r>
                      <a:endParaRPr sz="1800">
                        <a:latin typeface="Calibri"/>
                        <a:cs typeface="Calibri"/>
                      </a:endParaRPr>
                    </a:p>
                  </a:txBody>
                  <a:tcPr marL="0" marR="0" marT="168275" marB="0">
                    <a:solidFill>
                      <a:srgbClr val="FAE6CE"/>
                    </a:solidFill>
                  </a:tcPr>
                </a:tc>
                <a:tc>
                  <a:txBody>
                    <a:bodyPr/>
                    <a:lstStyle/>
                    <a:p>
                      <a:pPr marL="278130" marR="135890">
                        <a:lnSpc>
                          <a:spcPct val="100000"/>
                        </a:lnSpc>
                        <a:spcBef>
                          <a:spcPts val="245"/>
                        </a:spcBef>
                      </a:pPr>
                      <a:r>
                        <a:rPr sz="1800" spc="-10" dirty="0">
                          <a:latin typeface="Calibri"/>
                          <a:cs typeface="Calibri"/>
                        </a:rPr>
                        <a:t>Departm </a:t>
                      </a:r>
                      <a:r>
                        <a:rPr sz="1800" spc="-25" dirty="0">
                          <a:latin typeface="Calibri"/>
                          <a:cs typeface="Calibri"/>
                        </a:rPr>
                        <a:t>ent</a:t>
                      </a:r>
                      <a:endParaRPr sz="1800">
                        <a:latin typeface="Calibri"/>
                        <a:cs typeface="Calibri"/>
                      </a:endParaRPr>
                    </a:p>
                  </a:txBody>
                  <a:tcPr marL="0" marR="0" marT="31115" marB="0">
                    <a:solidFill>
                      <a:srgbClr val="FAE6CE"/>
                    </a:solidFill>
                  </a:tcPr>
                </a:tc>
                <a:tc>
                  <a:txBody>
                    <a:bodyPr/>
                    <a:lstStyle/>
                    <a:p>
                      <a:pPr marL="143510">
                        <a:lnSpc>
                          <a:spcPct val="100000"/>
                        </a:lnSpc>
                        <a:spcBef>
                          <a:spcPts val="1325"/>
                        </a:spcBef>
                      </a:pPr>
                      <a:r>
                        <a:rPr sz="1800" spc="-20" dirty="0">
                          <a:latin typeface="Calibri"/>
                          <a:cs typeface="Calibri"/>
                        </a:rPr>
                        <a:t>CGPA</a:t>
                      </a:r>
                      <a:endParaRPr sz="1800">
                        <a:latin typeface="Calibri"/>
                        <a:cs typeface="Calibri"/>
                      </a:endParaRPr>
                    </a:p>
                  </a:txBody>
                  <a:tcPr marL="0" marR="0" marT="168275" marB="0">
                    <a:solidFill>
                      <a:srgbClr val="FAE6CE"/>
                    </a:solidFill>
                  </a:tcPr>
                </a:tc>
                <a:extLst>
                  <a:ext uri="{0D108BD9-81ED-4DB2-BD59-A6C34878D82A}">
                    <a16:rowId xmlns:a16="http://schemas.microsoft.com/office/drawing/2014/main" val="10000"/>
                  </a:ext>
                </a:extLst>
              </a:tr>
              <a:tr h="385445">
                <a:tc>
                  <a:txBody>
                    <a:bodyPr/>
                    <a:lstStyle/>
                    <a:p>
                      <a:pPr marL="91440">
                        <a:lnSpc>
                          <a:spcPct val="100000"/>
                        </a:lnSpc>
                        <a:spcBef>
                          <a:spcPts val="245"/>
                        </a:spcBef>
                      </a:pPr>
                      <a:r>
                        <a:rPr sz="1800" spc="-25" dirty="0">
                          <a:latin typeface="Calibri"/>
                          <a:cs typeface="Calibri"/>
                        </a:rPr>
                        <a:t>101</a:t>
                      </a:r>
                      <a:endParaRPr sz="1800">
                        <a:latin typeface="Calibri"/>
                        <a:cs typeface="Calibri"/>
                      </a:endParaRPr>
                    </a:p>
                  </a:txBody>
                  <a:tcPr marL="0" marR="0" marT="31115" marB="0">
                    <a:solidFill>
                      <a:srgbClr val="EAEBE7"/>
                    </a:solidFill>
                  </a:tcPr>
                </a:tc>
                <a:tc>
                  <a:txBody>
                    <a:bodyPr/>
                    <a:lstStyle/>
                    <a:p>
                      <a:pPr marL="189230">
                        <a:lnSpc>
                          <a:spcPct val="100000"/>
                        </a:lnSpc>
                        <a:spcBef>
                          <a:spcPts val="245"/>
                        </a:spcBef>
                      </a:pPr>
                      <a:r>
                        <a:rPr sz="1800" spc="-20" dirty="0">
                          <a:latin typeface="Calibri"/>
                          <a:cs typeface="Calibri"/>
                        </a:rPr>
                        <a:t>John</a:t>
                      </a:r>
                      <a:endParaRPr sz="1800">
                        <a:latin typeface="Calibri"/>
                        <a:cs typeface="Calibri"/>
                      </a:endParaRPr>
                    </a:p>
                  </a:txBody>
                  <a:tcPr marL="0" marR="0" marT="31115" marB="0">
                    <a:solidFill>
                      <a:srgbClr val="EAEBE7"/>
                    </a:solidFill>
                  </a:tcPr>
                </a:tc>
                <a:tc>
                  <a:txBody>
                    <a:bodyPr/>
                    <a:lstStyle/>
                    <a:p>
                      <a:pPr marL="278130">
                        <a:lnSpc>
                          <a:spcPct val="100000"/>
                        </a:lnSpc>
                        <a:spcBef>
                          <a:spcPts val="245"/>
                        </a:spcBef>
                      </a:pPr>
                      <a:r>
                        <a:rPr sz="1800" spc="-25" dirty="0">
                          <a:latin typeface="Calibri"/>
                          <a:cs typeface="Calibri"/>
                        </a:rPr>
                        <a:t>CSE</a:t>
                      </a:r>
                      <a:endParaRPr sz="1800">
                        <a:latin typeface="Calibri"/>
                        <a:cs typeface="Calibri"/>
                      </a:endParaRPr>
                    </a:p>
                  </a:txBody>
                  <a:tcPr marL="0" marR="0" marT="31115" marB="0">
                    <a:solidFill>
                      <a:srgbClr val="EAEBE7"/>
                    </a:solidFill>
                  </a:tcPr>
                </a:tc>
                <a:tc>
                  <a:txBody>
                    <a:bodyPr/>
                    <a:lstStyle/>
                    <a:p>
                      <a:pPr marL="143510">
                        <a:lnSpc>
                          <a:spcPct val="100000"/>
                        </a:lnSpc>
                        <a:spcBef>
                          <a:spcPts val="245"/>
                        </a:spcBef>
                      </a:pPr>
                      <a:r>
                        <a:rPr sz="1800" spc="-25" dirty="0">
                          <a:latin typeface="Calibri"/>
                          <a:cs typeface="Calibri"/>
                        </a:rPr>
                        <a:t>8.7</a:t>
                      </a:r>
                      <a:endParaRPr sz="1800">
                        <a:latin typeface="Calibri"/>
                        <a:cs typeface="Calibri"/>
                      </a:endParaRPr>
                    </a:p>
                  </a:txBody>
                  <a:tcPr marL="0" marR="0" marT="31115" marB="0">
                    <a:solidFill>
                      <a:srgbClr val="EAEBE7"/>
                    </a:solidFill>
                  </a:tcPr>
                </a:tc>
                <a:extLst>
                  <a:ext uri="{0D108BD9-81ED-4DB2-BD59-A6C34878D82A}">
                    <a16:rowId xmlns:a16="http://schemas.microsoft.com/office/drawing/2014/main" val="10001"/>
                  </a:ext>
                </a:extLst>
              </a:tr>
              <a:tr h="345440">
                <a:tc>
                  <a:txBody>
                    <a:bodyPr/>
                    <a:lstStyle/>
                    <a:p>
                      <a:pPr marL="91440">
                        <a:lnSpc>
                          <a:spcPct val="100000"/>
                        </a:lnSpc>
                        <a:spcBef>
                          <a:spcPts val="90"/>
                        </a:spcBef>
                      </a:pPr>
                      <a:r>
                        <a:rPr sz="1800" spc="-25" dirty="0">
                          <a:latin typeface="Calibri"/>
                          <a:cs typeface="Calibri"/>
                        </a:rPr>
                        <a:t>102</a:t>
                      </a:r>
                      <a:endParaRPr sz="1800">
                        <a:latin typeface="Calibri"/>
                        <a:cs typeface="Calibri"/>
                      </a:endParaRPr>
                    </a:p>
                  </a:txBody>
                  <a:tcPr marL="0" marR="0" marT="11430" marB="0">
                    <a:solidFill>
                      <a:srgbClr val="EAEBE7"/>
                    </a:solidFill>
                  </a:tcPr>
                </a:tc>
                <a:tc>
                  <a:txBody>
                    <a:bodyPr/>
                    <a:lstStyle/>
                    <a:p>
                      <a:pPr marL="189230">
                        <a:lnSpc>
                          <a:spcPct val="100000"/>
                        </a:lnSpc>
                        <a:spcBef>
                          <a:spcPts val="90"/>
                        </a:spcBef>
                      </a:pPr>
                      <a:r>
                        <a:rPr sz="1800" spc="-20" dirty="0">
                          <a:latin typeface="Calibri"/>
                          <a:cs typeface="Calibri"/>
                        </a:rPr>
                        <a:t>Riya</a:t>
                      </a:r>
                      <a:endParaRPr sz="1800">
                        <a:latin typeface="Calibri"/>
                        <a:cs typeface="Calibri"/>
                      </a:endParaRPr>
                    </a:p>
                  </a:txBody>
                  <a:tcPr marL="0" marR="0" marT="11430" marB="0">
                    <a:solidFill>
                      <a:srgbClr val="EAEBE7"/>
                    </a:solidFill>
                  </a:tcPr>
                </a:tc>
                <a:tc>
                  <a:txBody>
                    <a:bodyPr/>
                    <a:lstStyle/>
                    <a:p>
                      <a:pPr marL="278130">
                        <a:lnSpc>
                          <a:spcPct val="100000"/>
                        </a:lnSpc>
                        <a:spcBef>
                          <a:spcPts val="90"/>
                        </a:spcBef>
                      </a:pPr>
                      <a:r>
                        <a:rPr sz="1800" spc="-25" dirty="0">
                          <a:latin typeface="Calibri"/>
                          <a:cs typeface="Calibri"/>
                        </a:rPr>
                        <a:t>ECE</a:t>
                      </a:r>
                      <a:endParaRPr sz="1800">
                        <a:latin typeface="Calibri"/>
                        <a:cs typeface="Calibri"/>
                      </a:endParaRPr>
                    </a:p>
                  </a:txBody>
                  <a:tcPr marL="0" marR="0" marT="11430" marB="0">
                    <a:solidFill>
                      <a:srgbClr val="EAEBE7"/>
                    </a:solidFill>
                  </a:tcPr>
                </a:tc>
                <a:tc>
                  <a:txBody>
                    <a:bodyPr/>
                    <a:lstStyle/>
                    <a:p>
                      <a:pPr marL="143510">
                        <a:lnSpc>
                          <a:spcPct val="100000"/>
                        </a:lnSpc>
                        <a:spcBef>
                          <a:spcPts val="90"/>
                        </a:spcBef>
                      </a:pPr>
                      <a:r>
                        <a:rPr sz="1800" spc="-25" dirty="0">
                          <a:latin typeface="Calibri"/>
                          <a:cs typeface="Calibri"/>
                        </a:rPr>
                        <a:t>9.2</a:t>
                      </a:r>
                      <a:endParaRPr sz="1800">
                        <a:latin typeface="Calibri"/>
                        <a:cs typeface="Calibri"/>
                      </a:endParaRPr>
                    </a:p>
                  </a:txBody>
                  <a:tcPr marL="0" marR="0" marT="11430" marB="0">
                    <a:solidFill>
                      <a:srgbClr val="EAEBE7"/>
                    </a:solidFill>
                  </a:tcPr>
                </a:tc>
                <a:extLst>
                  <a:ext uri="{0D108BD9-81ED-4DB2-BD59-A6C34878D82A}">
                    <a16:rowId xmlns:a16="http://schemas.microsoft.com/office/drawing/2014/main" val="10002"/>
                  </a:ext>
                </a:extLst>
              </a:tr>
            </a:tbl>
          </a:graphicData>
        </a:graphic>
      </p:graphicFrame>
      <p:grpSp>
        <p:nvGrpSpPr>
          <p:cNvPr id="7" name="object 7"/>
          <p:cNvGrpSpPr/>
          <p:nvPr/>
        </p:nvGrpSpPr>
        <p:grpSpPr>
          <a:xfrm>
            <a:off x="4526279" y="2149729"/>
            <a:ext cx="3520440" cy="2097405"/>
            <a:chOff x="4526279" y="2149729"/>
            <a:chExt cx="3520440" cy="2097405"/>
          </a:xfrm>
        </p:grpSpPr>
        <p:sp>
          <p:nvSpPr>
            <p:cNvPr id="8" name="object 8"/>
            <p:cNvSpPr/>
            <p:nvPr/>
          </p:nvSpPr>
          <p:spPr>
            <a:xfrm>
              <a:off x="4571999" y="2149729"/>
              <a:ext cx="3474720" cy="2031364"/>
            </a:xfrm>
            <a:custGeom>
              <a:avLst/>
              <a:gdLst/>
              <a:ahLst/>
              <a:cxnLst/>
              <a:rect l="l" t="t" r="r" b="b"/>
              <a:pathLst>
                <a:path w="3474720" h="2031364">
                  <a:moveTo>
                    <a:pt x="3474720" y="0"/>
                  </a:moveTo>
                  <a:lnTo>
                    <a:pt x="0" y="0"/>
                  </a:lnTo>
                  <a:lnTo>
                    <a:pt x="0" y="2031365"/>
                  </a:lnTo>
                  <a:lnTo>
                    <a:pt x="3474720" y="2031365"/>
                  </a:lnTo>
                  <a:lnTo>
                    <a:pt x="3474720" y="0"/>
                  </a:lnTo>
                  <a:close/>
                </a:path>
              </a:pathLst>
            </a:custGeom>
            <a:solidFill>
              <a:srgbClr val="E7E3CC"/>
            </a:solidFill>
          </p:spPr>
          <p:txBody>
            <a:bodyPr wrap="square" lIns="0" tIns="0" rIns="0" bIns="0" rtlCol="0"/>
            <a:lstStyle/>
            <a:p>
              <a:endParaRPr/>
            </a:p>
          </p:txBody>
        </p:sp>
        <p:pic>
          <p:nvPicPr>
            <p:cNvPr id="9" name="object 9"/>
            <p:cNvPicPr/>
            <p:nvPr/>
          </p:nvPicPr>
          <p:blipFill>
            <a:blip r:embed="rId2" cstate="print"/>
            <a:stretch>
              <a:fillRect/>
            </a:stretch>
          </p:blipFill>
          <p:spPr>
            <a:xfrm>
              <a:off x="4526279" y="2394204"/>
              <a:ext cx="456438" cy="480822"/>
            </a:xfrm>
            <a:prstGeom prst="rect">
              <a:avLst/>
            </a:prstGeom>
          </p:spPr>
        </p:pic>
        <p:pic>
          <p:nvPicPr>
            <p:cNvPr id="10" name="object 10"/>
            <p:cNvPicPr/>
            <p:nvPr/>
          </p:nvPicPr>
          <p:blipFill>
            <a:blip r:embed="rId2" cstate="print"/>
            <a:stretch>
              <a:fillRect/>
            </a:stretch>
          </p:blipFill>
          <p:spPr>
            <a:xfrm>
              <a:off x="4526279" y="2668524"/>
              <a:ext cx="456438" cy="480822"/>
            </a:xfrm>
            <a:prstGeom prst="rect">
              <a:avLst/>
            </a:prstGeom>
          </p:spPr>
        </p:pic>
        <p:pic>
          <p:nvPicPr>
            <p:cNvPr id="11" name="object 11"/>
            <p:cNvPicPr/>
            <p:nvPr/>
          </p:nvPicPr>
          <p:blipFill>
            <a:blip r:embed="rId2" cstate="print"/>
            <a:stretch>
              <a:fillRect/>
            </a:stretch>
          </p:blipFill>
          <p:spPr>
            <a:xfrm>
              <a:off x="4526279" y="2942844"/>
              <a:ext cx="456438" cy="480822"/>
            </a:xfrm>
            <a:prstGeom prst="rect">
              <a:avLst/>
            </a:prstGeom>
          </p:spPr>
        </p:pic>
        <p:pic>
          <p:nvPicPr>
            <p:cNvPr id="12" name="object 12"/>
            <p:cNvPicPr/>
            <p:nvPr/>
          </p:nvPicPr>
          <p:blipFill>
            <a:blip r:embed="rId2" cstate="print"/>
            <a:stretch>
              <a:fillRect/>
            </a:stretch>
          </p:blipFill>
          <p:spPr>
            <a:xfrm>
              <a:off x="4526279" y="3217164"/>
              <a:ext cx="456438" cy="480822"/>
            </a:xfrm>
            <a:prstGeom prst="rect">
              <a:avLst/>
            </a:prstGeom>
          </p:spPr>
        </p:pic>
        <p:pic>
          <p:nvPicPr>
            <p:cNvPr id="13" name="object 13"/>
            <p:cNvPicPr/>
            <p:nvPr/>
          </p:nvPicPr>
          <p:blipFill>
            <a:blip r:embed="rId2" cstate="print"/>
            <a:stretch>
              <a:fillRect/>
            </a:stretch>
          </p:blipFill>
          <p:spPr>
            <a:xfrm>
              <a:off x="4526279" y="3491484"/>
              <a:ext cx="456438" cy="480821"/>
            </a:xfrm>
            <a:prstGeom prst="rect">
              <a:avLst/>
            </a:prstGeom>
          </p:spPr>
        </p:pic>
        <p:pic>
          <p:nvPicPr>
            <p:cNvPr id="14" name="object 14"/>
            <p:cNvPicPr/>
            <p:nvPr/>
          </p:nvPicPr>
          <p:blipFill>
            <a:blip r:embed="rId2" cstate="print"/>
            <a:stretch>
              <a:fillRect/>
            </a:stretch>
          </p:blipFill>
          <p:spPr>
            <a:xfrm>
              <a:off x="4526279" y="3765804"/>
              <a:ext cx="456438" cy="480822"/>
            </a:xfrm>
            <a:prstGeom prst="rect">
              <a:avLst/>
            </a:prstGeom>
          </p:spPr>
        </p:pic>
      </p:grpSp>
      <p:sp>
        <p:nvSpPr>
          <p:cNvPr id="15" name="object 15"/>
          <p:cNvSpPr txBox="1"/>
          <p:nvPr/>
        </p:nvSpPr>
        <p:spPr>
          <a:xfrm>
            <a:off x="4572000" y="2149729"/>
            <a:ext cx="3474720" cy="2031364"/>
          </a:xfrm>
          <a:prstGeom prst="rect">
            <a:avLst/>
          </a:prstGeom>
        </p:spPr>
        <p:txBody>
          <a:bodyPr vert="horz" wrap="square" lIns="0" tIns="29845" rIns="0" bIns="0" rtlCol="0">
            <a:spAutoFit/>
          </a:bodyPr>
          <a:lstStyle/>
          <a:p>
            <a:pPr marL="326390" marR="1564005" indent="-234950">
              <a:lnSpc>
                <a:spcPct val="100200"/>
              </a:lnSpc>
              <a:spcBef>
                <a:spcPts val="235"/>
              </a:spcBef>
            </a:pPr>
            <a:r>
              <a:rPr sz="1800" b="1" spc="-10" dirty="0">
                <a:latin typeface="Calibri"/>
                <a:cs typeface="Calibri"/>
              </a:rPr>
              <a:t>Characteristics </a:t>
            </a:r>
            <a:r>
              <a:rPr sz="1800" dirty="0">
                <a:latin typeface="Calibri"/>
                <a:cs typeface="Calibri"/>
              </a:rPr>
              <a:t>Fixed</a:t>
            </a:r>
            <a:r>
              <a:rPr sz="1800" spc="-90" dirty="0">
                <a:latin typeface="Calibri"/>
                <a:cs typeface="Calibri"/>
              </a:rPr>
              <a:t> </a:t>
            </a:r>
            <a:r>
              <a:rPr sz="1800" spc="-10" dirty="0">
                <a:latin typeface="Calibri"/>
                <a:cs typeface="Calibri"/>
              </a:rPr>
              <a:t>schema </a:t>
            </a:r>
            <a:r>
              <a:rPr sz="1800" dirty="0">
                <a:latin typeface="Calibri"/>
                <a:cs typeface="Calibri"/>
              </a:rPr>
              <a:t>Highly</a:t>
            </a:r>
            <a:r>
              <a:rPr sz="1800" spc="-35" dirty="0">
                <a:latin typeface="Calibri"/>
                <a:cs typeface="Calibri"/>
              </a:rPr>
              <a:t> </a:t>
            </a:r>
            <a:r>
              <a:rPr sz="1800" spc="-10" dirty="0">
                <a:latin typeface="Calibri"/>
                <a:cs typeface="Calibri"/>
              </a:rPr>
              <a:t>organized </a:t>
            </a:r>
            <a:r>
              <a:rPr sz="1800" dirty="0">
                <a:latin typeface="Calibri"/>
                <a:cs typeface="Calibri"/>
              </a:rPr>
              <a:t>Easy</a:t>
            </a:r>
            <a:r>
              <a:rPr sz="1800" spc="-85" dirty="0">
                <a:latin typeface="Calibri"/>
                <a:cs typeface="Calibri"/>
              </a:rPr>
              <a:t> </a:t>
            </a:r>
            <a:r>
              <a:rPr sz="1800" spc="-10" dirty="0">
                <a:latin typeface="Calibri"/>
                <a:cs typeface="Calibri"/>
              </a:rPr>
              <a:t>searching </a:t>
            </a:r>
            <a:r>
              <a:rPr sz="1800" dirty="0">
                <a:latin typeface="Calibri"/>
                <a:cs typeface="Calibri"/>
              </a:rPr>
              <a:t>Easy</a:t>
            </a:r>
            <a:r>
              <a:rPr sz="1800" spc="-85" dirty="0">
                <a:latin typeface="Calibri"/>
                <a:cs typeface="Calibri"/>
              </a:rPr>
              <a:t> </a:t>
            </a:r>
            <a:r>
              <a:rPr sz="1800" spc="-10" dirty="0">
                <a:latin typeface="Calibri"/>
                <a:cs typeface="Calibri"/>
              </a:rPr>
              <a:t>querying </a:t>
            </a:r>
            <a:r>
              <a:rPr sz="1800" dirty="0">
                <a:latin typeface="Calibri"/>
                <a:cs typeface="Calibri"/>
              </a:rPr>
              <a:t>Stored</a:t>
            </a:r>
            <a:r>
              <a:rPr sz="1800" spc="-45" dirty="0">
                <a:latin typeface="Calibri"/>
                <a:cs typeface="Calibri"/>
              </a:rPr>
              <a:t> </a:t>
            </a:r>
            <a:r>
              <a:rPr sz="1800" dirty="0">
                <a:latin typeface="Calibri"/>
                <a:cs typeface="Calibri"/>
              </a:rPr>
              <a:t>in</a:t>
            </a:r>
            <a:r>
              <a:rPr sz="1800" spc="-40" dirty="0">
                <a:latin typeface="Calibri"/>
                <a:cs typeface="Calibri"/>
              </a:rPr>
              <a:t> </a:t>
            </a:r>
            <a:r>
              <a:rPr sz="1800" spc="-10" dirty="0">
                <a:latin typeface="Calibri"/>
                <a:cs typeface="Calibri"/>
              </a:rPr>
              <a:t>RDBMS </a:t>
            </a:r>
            <a:r>
              <a:rPr sz="1800" dirty="0">
                <a:latin typeface="Calibri"/>
                <a:cs typeface="Calibri"/>
              </a:rPr>
              <a:t>Supports</a:t>
            </a:r>
            <a:r>
              <a:rPr sz="1800" spc="-65" dirty="0">
                <a:latin typeface="Calibri"/>
                <a:cs typeface="Calibri"/>
              </a:rPr>
              <a:t> </a:t>
            </a:r>
            <a:r>
              <a:rPr sz="1800" spc="-25" dirty="0">
                <a:latin typeface="Calibri"/>
                <a:cs typeface="Calibri"/>
              </a:rPr>
              <a:t>SQL</a:t>
            </a:r>
            <a:endParaRPr sz="18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719701"/>
            <a:ext cx="9144000" cy="2138680"/>
            <a:chOff x="0" y="4719701"/>
            <a:chExt cx="9144000" cy="2138680"/>
          </a:xfrm>
        </p:grpSpPr>
        <p:sp>
          <p:nvSpPr>
            <p:cNvPr id="3" name="object 3"/>
            <p:cNvSpPr/>
            <p:nvPr/>
          </p:nvSpPr>
          <p:spPr>
            <a:xfrm>
              <a:off x="0" y="6400799"/>
              <a:ext cx="9144000" cy="457200"/>
            </a:xfrm>
            <a:custGeom>
              <a:avLst/>
              <a:gdLst/>
              <a:ahLst/>
              <a:cxnLst/>
              <a:rect l="l" t="t" r="r" b="b"/>
              <a:pathLst>
                <a:path w="9144000" h="457200">
                  <a:moveTo>
                    <a:pt x="9144000" y="0"/>
                  </a:moveTo>
                  <a:lnTo>
                    <a:pt x="0" y="0"/>
                  </a:lnTo>
                  <a:lnTo>
                    <a:pt x="0" y="457199"/>
                  </a:lnTo>
                  <a:lnTo>
                    <a:pt x="9144000" y="457199"/>
                  </a:lnTo>
                  <a:lnTo>
                    <a:pt x="9144000" y="0"/>
                  </a:lnTo>
                  <a:close/>
                </a:path>
              </a:pathLst>
            </a:custGeom>
            <a:solidFill>
              <a:srgbClr val="BC572C"/>
            </a:solidFill>
          </p:spPr>
          <p:txBody>
            <a:bodyPr wrap="square" lIns="0" tIns="0" rIns="0" bIns="0" rtlCol="0"/>
            <a:lstStyle/>
            <a:p>
              <a:endParaRPr/>
            </a:p>
          </p:txBody>
        </p:sp>
        <p:sp>
          <p:nvSpPr>
            <p:cNvPr id="4" name="object 4"/>
            <p:cNvSpPr/>
            <p:nvPr/>
          </p:nvSpPr>
          <p:spPr>
            <a:xfrm>
              <a:off x="0" y="6334318"/>
              <a:ext cx="9144000" cy="66040"/>
            </a:xfrm>
            <a:custGeom>
              <a:avLst/>
              <a:gdLst/>
              <a:ahLst/>
              <a:cxnLst/>
              <a:rect l="l" t="t" r="r" b="b"/>
              <a:pathLst>
                <a:path w="9144000" h="66039">
                  <a:moveTo>
                    <a:pt x="9144000" y="0"/>
                  </a:moveTo>
                  <a:lnTo>
                    <a:pt x="0" y="0"/>
                  </a:lnTo>
                  <a:lnTo>
                    <a:pt x="0" y="65999"/>
                  </a:lnTo>
                  <a:lnTo>
                    <a:pt x="9144000" y="65999"/>
                  </a:lnTo>
                  <a:lnTo>
                    <a:pt x="9144000" y="0"/>
                  </a:lnTo>
                  <a:close/>
                </a:path>
              </a:pathLst>
            </a:custGeom>
            <a:solidFill>
              <a:srgbClr val="E38312"/>
            </a:solidFill>
          </p:spPr>
          <p:txBody>
            <a:bodyPr wrap="square" lIns="0" tIns="0" rIns="0" bIns="0" rtlCol="0"/>
            <a:lstStyle/>
            <a:p>
              <a:endParaRPr/>
            </a:p>
          </p:txBody>
        </p:sp>
        <p:sp>
          <p:nvSpPr>
            <p:cNvPr id="5" name="object 5"/>
            <p:cNvSpPr/>
            <p:nvPr/>
          </p:nvSpPr>
          <p:spPr>
            <a:xfrm>
              <a:off x="729995" y="4726089"/>
              <a:ext cx="6207760" cy="2132330"/>
            </a:xfrm>
            <a:custGeom>
              <a:avLst/>
              <a:gdLst/>
              <a:ahLst/>
              <a:cxnLst/>
              <a:rect l="l" t="t" r="r" b="b"/>
              <a:pathLst>
                <a:path w="6207759" h="2132329">
                  <a:moveTo>
                    <a:pt x="6207252" y="0"/>
                  </a:moveTo>
                  <a:lnTo>
                    <a:pt x="0" y="0"/>
                  </a:lnTo>
                  <a:lnTo>
                    <a:pt x="0" y="2131910"/>
                  </a:lnTo>
                  <a:lnTo>
                    <a:pt x="6207252" y="2131910"/>
                  </a:lnTo>
                  <a:lnTo>
                    <a:pt x="6207252" y="0"/>
                  </a:lnTo>
                  <a:close/>
                </a:path>
              </a:pathLst>
            </a:custGeom>
            <a:solidFill>
              <a:srgbClr val="ACC7DD"/>
            </a:solidFill>
          </p:spPr>
          <p:txBody>
            <a:bodyPr wrap="square" lIns="0" tIns="0" rIns="0" bIns="0" rtlCol="0"/>
            <a:lstStyle/>
            <a:p>
              <a:endParaRPr/>
            </a:p>
          </p:txBody>
        </p:sp>
        <p:sp>
          <p:nvSpPr>
            <p:cNvPr id="6" name="object 6"/>
            <p:cNvSpPr/>
            <p:nvPr/>
          </p:nvSpPr>
          <p:spPr>
            <a:xfrm>
              <a:off x="723646" y="4719700"/>
              <a:ext cx="6220460" cy="2138680"/>
            </a:xfrm>
            <a:custGeom>
              <a:avLst/>
              <a:gdLst/>
              <a:ahLst/>
              <a:cxnLst/>
              <a:rect l="l" t="t" r="r" b="b"/>
              <a:pathLst>
                <a:path w="6220459" h="2138679">
                  <a:moveTo>
                    <a:pt x="12700" y="0"/>
                  </a:moveTo>
                  <a:lnTo>
                    <a:pt x="0" y="0"/>
                  </a:lnTo>
                  <a:lnTo>
                    <a:pt x="0" y="2138299"/>
                  </a:lnTo>
                  <a:lnTo>
                    <a:pt x="12700" y="2138299"/>
                  </a:lnTo>
                  <a:lnTo>
                    <a:pt x="12700" y="0"/>
                  </a:lnTo>
                  <a:close/>
                </a:path>
                <a:path w="6220459" h="2138679">
                  <a:moveTo>
                    <a:pt x="6219952" y="0"/>
                  </a:moveTo>
                  <a:lnTo>
                    <a:pt x="6207252" y="0"/>
                  </a:lnTo>
                  <a:lnTo>
                    <a:pt x="6207252" y="2138299"/>
                  </a:lnTo>
                  <a:lnTo>
                    <a:pt x="6219952" y="2138299"/>
                  </a:lnTo>
                  <a:lnTo>
                    <a:pt x="6219952" y="0"/>
                  </a:lnTo>
                  <a:close/>
                </a:path>
              </a:pathLst>
            </a:custGeom>
            <a:solidFill>
              <a:srgbClr val="FFFFFF"/>
            </a:solidFill>
          </p:spPr>
          <p:txBody>
            <a:bodyPr wrap="square" lIns="0" tIns="0" rIns="0" bIns="0" rtlCol="0"/>
            <a:lstStyle/>
            <a:p>
              <a:endParaRPr/>
            </a:p>
          </p:txBody>
        </p:sp>
        <p:sp>
          <p:nvSpPr>
            <p:cNvPr id="7" name="object 7"/>
            <p:cNvSpPr/>
            <p:nvPr/>
          </p:nvSpPr>
          <p:spPr>
            <a:xfrm>
              <a:off x="723645" y="4726051"/>
              <a:ext cx="6220460" cy="0"/>
            </a:xfrm>
            <a:custGeom>
              <a:avLst/>
              <a:gdLst/>
              <a:ahLst/>
              <a:cxnLst/>
              <a:rect l="l" t="t" r="r" b="b"/>
              <a:pathLst>
                <a:path w="6220459">
                  <a:moveTo>
                    <a:pt x="0" y="0"/>
                  </a:moveTo>
                  <a:lnTo>
                    <a:pt x="6219952" y="0"/>
                  </a:lnTo>
                </a:path>
              </a:pathLst>
            </a:custGeom>
            <a:ln w="12700">
              <a:solidFill>
                <a:srgbClr val="FFFFFF"/>
              </a:solidFill>
            </a:ln>
          </p:spPr>
          <p:txBody>
            <a:bodyPr wrap="square" lIns="0" tIns="0" rIns="0" bIns="0" rtlCol="0"/>
            <a:lstStyle/>
            <a:p>
              <a:endParaRPr/>
            </a:p>
          </p:txBody>
        </p:sp>
      </p:grpSp>
      <p:graphicFrame>
        <p:nvGraphicFramePr>
          <p:cNvPr id="8" name="object 8"/>
          <p:cNvGraphicFramePr>
            <a:graphicFrameLocks noGrp="1"/>
          </p:cNvGraphicFramePr>
          <p:nvPr/>
        </p:nvGraphicFramePr>
        <p:xfrm>
          <a:off x="770890" y="1362202"/>
          <a:ext cx="7593329" cy="2925445"/>
        </p:xfrm>
        <a:graphic>
          <a:graphicData uri="http://schemas.openxmlformats.org/drawingml/2006/table">
            <a:tbl>
              <a:tblPr firstRow="1" bandRow="1">
                <a:tableStyleId>{2D5ABB26-0587-4C30-8999-92F81FD0307C}</a:tableStyleId>
              </a:tblPr>
              <a:tblGrid>
                <a:gridCol w="2263775">
                  <a:extLst>
                    <a:ext uri="{9D8B030D-6E8A-4147-A177-3AD203B41FA5}">
                      <a16:colId xmlns:a16="http://schemas.microsoft.com/office/drawing/2014/main" val="20000"/>
                    </a:ext>
                  </a:extLst>
                </a:gridCol>
                <a:gridCol w="2263775">
                  <a:extLst>
                    <a:ext uri="{9D8B030D-6E8A-4147-A177-3AD203B41FA5}">
                      <a16:colId xmlns:a16="http://schemas.microsoft.com/office/drawing/2014/main" val="20001"/>
                    </a:ext>
                  </a:extLst>
                </a:gridCol>
                <a:gridCol w="2263775">
                  <a:extLst>
                    <a:ext uri="{9D8B030D-6E8A-4147-A177-3AD203B41FA5}">
                      <a16:colId xmlns:a16="http://schemas.microsoft.com/office/drawing/2014/main" val="20002"/>
                    </a:ext>
                  </a:extLst>
                </a:gridCol>
                <a:gridCol w="802004">
                  <a:extLst>
                    <a:ext uri="{9D8B030D-6E8A-4147-A177-3AD203B41FA5}">
                      <a16:colId xmlns:a16="http://schemas.microsoft.com/office/drawing/2014/main" val="20003"/>
                    </a:ext>
                  </a:extLst>
                </a:gridCol>
              </a:tblGrid>
              <a:tr h="368935">
                <a:tc>
                  <a:txBody>
                    <a:bodyPr/>
                    <a:lstStyle/>
                    <a:p>
                      <a:pPr marL="91440">
                        <a:lnSpc>
                          <a:spcPct val="100000"/>
                        </a:lnSpc>
                        <a:spcBef>
                          <a:spcPts val="240"/>
                        </a:spcBef>
                      </a:pPr>
                      <a:r>
                        <a:rPr sz="1800" b="1" spc="-10" dirty="0">
                          <a:latin typeface="Calibri"/>
                          <a:cs typeface="Calibri"/>
                        </a:rPr>
                        <a:t>Educational</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6350">
                      <a:solidFill>
                        <a:srgbClr val="7E7E7E"/>
                      </a:solidFill>
                      <a:prstDash val="solid"/>
                    </a:lnB>
                    <a:solidFill>
                      <a:srgbClr val="F5DDD2"/>
                    </a:solidFill>
                  </a:tcPr>
                </a:tc>
                <a:tc>
                  <a:txBody>
                    <a:bodyPr/>
                    <a:lstStyle/>
                    <a:p>
                      <a:pPr marL="91440">
                        <a:lnSpc>
                          <a:spcPct val="100000"/>
                        </a:lnSpc>
                        <a:spcBef>
                          <a:spcPts val="240"/>
                        </a:spcBef>
                      </a:pPr>
                      <a:r>
                        <a:rPr sz="1800" b="1" spc="-10" dirty="0">
                          <a:latin typeface="Calibri"/>
                          <a:cs typeface="Calibri"/>
                        </a:rPr>
                        <a:t>Hospitals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6350">
                      <a:solidFill>
                        <a:srgbClr val="7E7E7E"/>
                      </a:solidFill>
                      <a:prstDash val="solid"/>
                    </a:lnB>
                    <a:solidFill>
                      <a:srgbClr val="F5DDD2"/>
                    </a:solidFill>
                  </a:tcPr>
                </a:tc>
                <a:tc>
                  <a:txBody>
                    <a:bodyPr/>
                    <a:lstStyle/>
                    <a:p>
                      <a:pPr marL="92075">
                        <a:lnSpc>
                          <a:spcPct val="100000"/>
                        </a:lnSpc>
                        <a:spcBef>
                          <a:spcPts val="240"/>
                        </a:spcBef>
                      </a:pPr>
                      <a:r>
                        <a:rPr sz="1800" b="1" spc="-10" dirty="0">
                          <a:latin typeface="Calibri"/>
                          <a:cs typeface="Calibri"/>
                        </a:rPr>
                        <a:t>E-commerce</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6350">
                      <a:solidFill>
                        <a:srgbClr val="7E7E7E"/>
                      </a:solidFill>
                      <a:prstDash val="solid"/>
                    </a:lnB>
                    <a:solidFill>
                      <a:srgbClr val="F5DDD2"/>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B w="6350">
                      <a:solidFill>
                        <a:srgbClr val="7E7E7E"/>
                      </a:solidFill>
                      <a:prstDash val="solid"/>
                    </a:lnB>
                  </a:tcPr>
                </a:tc>
                <a:extLst>
                  <a:ext uri="{0D108BD9-81ED-4DB2-BD59-A6C34878D82A}">
                    <a16:rowId xmlns:a16="http://schemas.microsoft.com/office/drawing/2014/main" val="10000"/>
                  </a:ext>
                </a:extLst>
              </a:tr>
              <a:tr h="1093470">
                <a:tc>
                  <a:txBody>
                    <a:bodyPr/>
                    <a:lstStyle/>
                    <a:p>
                      <a:pPr marL="91440">
                        <a:lnSpc>
                          <a:spcPts val="1655"/>
                        </a:lnSpc>
                      </a:pPr>
                      <a:r>
                        <a:rPr sz="1800" b="1" spc="-10" dirty="0">
                          <a:latin typeface="Calibri"/>
                          <a:cs typeface="Calibri"/>
                        </a:rPr>
                        <a:t>Institutions</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Student</a:t>
                      </a:r>
                      <a:r>
                        <a:rPr sz="1800" spc="-45" dirty="0">
                          <a:latin typeface="Calibri"/>
                          <a:cs typeface="Calibri"/>
                        </a:rPr>
                        <a:t> </a:t>
                      </a:r>
                      <a:r>
                        <a:rPr sz="1800" spc="-10" dirty="0">
                          <a:latin typeface="Calibri"/>
                          <a:cs typeface="Calibri"/>
                        </a:rPr>
                        <a:t>records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Examination</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databases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6350">
                      <a:solidFill>
                        <a:srgbClr val="7E7E7E"/>
                      </a:solidFill>
                      <a:prstDash val="solid"/>
                    </a:lnT>
                    <a:lnB w="38100">
                      <a:solidFill>
                        <a:srgbClr val="FFFFFF"/>
                      </a:solidFill>
                      <a:prstDash val="solid"/>
                    </a:lnB>
                    <a:solidFill>
                      <a:srgbClr val="F5DDD2"/>
                    </a:solidFill>
                  </a:tcPr>
                </a:tc>
                <a:tc>
                  <a:txBody>
                    <a:bodyPr/>
                    <a:lstStyle/>
                    <a:p>
                      <a:pPr marL="170180" indent="-111125">
                        <a:lnSpc>
                          <a:spcPts val="1655"/>
                        </a:lnSpc>
                        <a:buSzPct val="94444"/>
                        <a:buFont typeface="Tahoma"/>
                        <a:buChar char="•"/>
                        <a:tabLst>
                          <a:tab pos="170180" algn="l"/>
                        </a:tabLst>
                      </a:pPr>
                      <a:r>
                        <a:rPr sz="1800" spc="-10" dirty="0">
                          <a:latin typeface="Calibri"/>
                          <a:cs typeface="Calibri"/>
                        </a:rPr>
                        <a:t>Patient</a:t>
                      </a:r>
                      <a:r>
                        <a:rPr sz="1800" spc="-50" dirty="0">
                          <a:latin typeface="Calibri"/>
                          <a:cs typeface="Calibri"/>
                        </a:rPr>
                        <a:t> </a:t>
                      </a:r>
                      <a:r>
                        <a:rPr sz="1800" spc="-10" dirty="0">
                          <a:latin typeface="Calibri"/>
                          <a:cs typeface="Calibri"/>
                        </a:rPr>
                        <a:t>records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Laboratory</a:t>
                      </a:r>
                      <a:r>
                        <a:rPr sz="1800" spc="-25" dirty="0">
                          <a:latin typeface="Calibri"/>
                          <a:cs typeface="Calibri"/>
                        </a:rPr>
                        <a:t> </a:t>
                      </a:r>
                      <a:r>
                        <a:rPr sz="1800" spc="-10" dirty="0">
                          <a:latin typeface="Calibri"/>
                          <a:cs typeface="Calibri"/>
                        </a:rPr>
                        <a:t>reports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6350">
                      <a:solidFill>
                        <a:srgbClr val="7E7E7E"/>
                      </a:solidFill>
                      <a:prstDash val="solid"/>
                    </a:lnT>
                    <a:lnB w="38100">
                      <a:solidFill>
                        <a:srgbClr val="FFFFFF"/>
                      </a:solidFill>
                      <a:prstDash val="solid"/>
                    </a:lnB>
                    <a:solidFill>
                      <a:srgbClr val="F5DDD2"/>
                    </a:solidFill>
                  </a:tcPr>
                </a:tc>
                <a:tc>
                  <a:txBody>
                    <a:bodyPr/>
                    <a:lstStyle/>
                    <a:p>
                      <a:pPr marL="170815" indent="-111125">
                        <a:lnSpc>
                          <a:spcPts val="1655"/>
                        </a:lnSpc>
                        <a:buSzPct val="94444"/>
                        <a:buFont typeface="Tahoma"/>
                        <a:buChar char="•"/>
                        <a:tabLst>
                          <a:tab pos="170815" algn="l"/>
                        </a:tabLst>
                      </a:pPr>
                      <a:r>
                        <a:rPr sz="1800" dirty="0">
                          <a:latin typeface="Calibri"/>
                          <a:cs typeface="Calibri"/>
                        </a:rPr>
                        <a:t>Product</a:t>
                      </a:r>
                      <a:r>
                        <a:rPr sz="1800" spc="-80" dirty="0">
                          <a:latin typeface="Calibri"/>
                          <a:cs typeface="Calibri"/>
                        </a:rPr>
                        <a:t> </a:t>
                      </a:r>
                      <a:r>
                        <a:rPr sz="1800" spc="-10" dirty="0">
                          <a:latin typeface="Calibri"/>
                          <a:cs typeface="Calibri"/>
                        </a:rPr>
                        <a:t>catalog</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Customer</a:t>
                      </a:r>
                      <a:r>
                        <a:rPr sz="1800" spc="-50" dirty="0">
                          <a:latin typeface="Calibri"/>
                          <a:cs typeface="Calibri"/>
                        </a:rPr>
                        <a:t> </a:t>
                      </a:r>
                      <a:r>
                        <a:rPr sz="1800" spc="-10" dirty="0">
                          <a:latin typeface="Calibri"/>
                          <a:cs typeface="Calibri"/>
                        </a:rPr>
                        <a:t>details</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Orders</a:t>
                      </a:r>
                      <a:endParaRPr sz="1800">
                        <a:latin typeface="Calibri"/>
                        <a:cs typeface="Calibri"/>
                      </a:endParaRPr>
                    </a:p>
                  </a:txBody>
                  <a:tcPr marL="0" marR="0" marT="0" marB="0">
                    <a:lnL w="12700">
                      <a:solidFill>
                        <a:srgbClr val="FFFFFF"/>
                      </a:solidFill>
                      <a:prstDash val="solid"/>
                    </a:lnL>
                    <a:lnR w="12700">
                      <a:solidFill>
                        <a:srgbClr val="FFFFFF"/>
                      </a:solidFill>
                      <a:prstDash val="solid"/>
                    </a:lnR>
                    <a:lnT w="6350">
                      <a:solidFill>
                        <a:srgbClr val="7E7E7E"/>
                      </a:solidFill>
                      <a:prstDash val="solid"/>
                    </a:lnT>
                    <a:lnB w="38100">
                      <a:solidFill>
                        <a:srgbClr val="FFFFFF"/>
                      </a:solidFill>
                      <a:prstDash val="solid"/>
                    </a:lnB>
                    <a:solidFill>
                      <a:srgbClr val="F5DDD2"/>
                    </a:solidFill>
                  </a:tcPr>
                </a:tc>
                <a:tc rowSpan="2">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T w="6350">
                      <a:solidFill>
                        <a:srgbClr val="7E7E7E"/>
                      </a:solidFill>
                      <a:prstDash val="solid"/>
                    </a:lnT>
                  </a:tcPr>
                </a:tc>
                <a:extLst>
                  <a:ext uri="{0D108BD9-81ED-4DB2-BD59-A6C34878D82A}">
                    <a16:rowId xmlns:a16="http://schemas.microsoft.com/office/drawing/2014/main" val="10001"/>
                  </a:ext>
                </a:extLst>
              </a:tr>
              <a:tr h="1463040">
                <a:tc>
                  <a:txBody>
                    <a:bodyPr/>
                    <a:lstStyle/>
                    <a:p>
                      <a:pPr marL="91440">
                        <a:lnSpc>
                          <a:spcPct val="100000"/>
                        </a:lnSpc>
                        <a:spcBef>
                          <a:spcPts val="245"/>
                        </a:spcBef>
                      </a:pPr>
                      <a:r>
                        <a:rPr sz="1800" b="1" spc="-10" dirty="0">
                          <a:latin typeface="Calibri"/>
                          <a:cs typeface="Calibri"/>
                        </a:rPr>
                        <a:t>Government</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Census</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Passport</a:t>
                      </a:r>
                      <a:r>
                        <a:rPr sz="1800" spc="-60" dirty="0">
                          <a:latin typeface="Calibri"/>
                          <a:cs typeface="Calibri"/>
                        </a:rPr>
                        <a:t> </a:t>
                      </a:r>
                      <a:r>
                        <a:rPr sz="1800" spc="-10" dirty="0">
                          <a:latin typeface="Calibri"/>
                          <a:cs typeface="Calibri"/>
                        </a:rPr>
                        <a:t>database</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Income</a:t>
                      </a:r>
                      <a:r>
                        <a:rPr sz="1800" spc="-60" dirty="0">
                          <a:latin typeface="Calibri"/>
                          <a:cs typeface="Calibri"/>
                        </a:rPr>
                        <a:t> </a:t>
                      </a:r>
                      <a:r>
                        <a:rPr sz="1800" dirty="0">
                          <a:latin typeface="Calibri"/>
                          <a:cs typeface="Calibri"/>
                        </a:rPr>
                        <a:t>tax</a:t>
                      </a:r>
                      <a:r>
                        <a:rPr sz="1800" spc="-65" dirty="0">
                          <a:latin typeface="Calibri"/>
                          <a:cs typeface="Calibri"/>
                        </a:rPr>
                        <a:t> </a:t>
                      </a:r>
                      <a:r>
                        <a:rPr sz="1800" spc="-10" dirty="0">
                          <a:latin typeface="Calibri"/>
                          <a:cs typeface="Calibri"/>
                        </a:rPr>
                        <a:t>records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marL="91440">
                        <a:lnSpc>
                          <a:spcPct val="100000"/>
                        </a:lnSpc>
                        <a:spcBef>
                          <a:spcPts val="245"/>
                        </a:spcBef>
                      </a:pPr>
                      <a:r>
                        <a:rPr sz="1800" b="1" dirty="0">
                          <a:latin typeface="Calibri"/>
                          <a:cs typeface="Calibri"/>
                        </a:rPr>
                        <a:t>Banking</a:t>
                      </a:r>
                      <a:r>
                        <a:rPr sz="1800" b="1" spc="-20" dirty="0">
                          <a:latin typeface="Calibri"/>
                          <a:cs typeface="Calibri"/>
                        </a:rPr>
                        <a:t> </a:t>
                      </a:r>
                      <a:r>
                        <a:rPr sz="1800" b="1" spc="-10" dirty="0">
                          <a:latin typeface="Calibri"/>
                          <a:cs typeface="Calibri"/>
                        </a:rPr>
                        <a:t>Systems</a:t>
                      </a:r>
                      <a:endParaRPr sz="1800">
                        <a:latin typeface="Calibri"/>
                        <a:cs typeface="Calibri"/>
                      </a:endParaRPr>
                    </a:p>
                    <a:p>
                      <a:pPr marL="170180" indent="-111125">
                        <a:lnSpc>
                          <a:spcPct val="100000"/>
                        </a:lnSpc>
                        <a:buSzPct val="94444"/>
                        <a:buFont typeface="Tahoma"/>
                        <a:buChar char="•"/>
                        <a:tabLst>
                          <a:tab pos="170180" algn="l"/>
                        </a:tabLst>
                      </a:pPr>
                      <a:r>
                        <a:rPr sz="1800" spc="-25" dirty="0">
                          <a:latin typeface="Calibri"/>
                          <a:cs typeface="Calibri"/>
                        </a:rPr>
                        <a:t>ATM</a:t>
                      </a:r>
                      <a:r>
                        <a:rPr sz="1800" spc="-75" dirty="0">
                          <a:latin typeface="Calibri"/>
                          <a:cs typeface="Calibri"/>
                        </a:rPr>
                        <a:t> </a:t>
                      </a:r>
                      <a:r>
                        <a:rPr sz="1800" spc="-10" dirty="0">
                          <a:latin typeface="Calibri"/>
                          <a:cs typeface="Calibri"/>
                        </a:rPr>
                        <a:t>transactions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Deposits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Withdrawals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F5D9CC"/>
                    </a:solidFill>
                  </a:tcPr>
                </a:tc>
                <a:tc vMerge="1">
                  <a:txBody>
                    <a:bodyPr/>
                    <a:lstStyle/>
                    <a:p>
                      <a:endParaRPr/>
                    </a:p>
                  </a:txBody>
                  <a:tcPr marL="0" marR="0" marT="0" marB="0">
                    <a:lnL w="12700">
                      <a:solidFill>
                        <a:srgbClr val="FFFFFF"/>
                      </a:solidFill>
                      <a:prstDash val="solid"/>
                    </a:lnL>
                    <a:lnT w="6350">
                      <a:solidFill>
                        <a:srgbClr val="7E7E7E"/>
                      </a:solidFill>
                      <a:prstDash val="solid"/>
                    </a:lnT>
                  </a:tcPr>
                </a:tc>
                <a:extLst>
                  <a:ext uri="{0D108BD9-81ED-4DB2-BD59-A6C34878D82A}">
                    <a16:rowId xmlns:a16="http://schemas.microsoft.com/office/drawing/2014/main" val="10002"/>
                  </a:ext>
                </a:extLst>
              </a:tr>
            </a:tbl>
          </a:graphicData>
        </a:graphic>
      </p:graphicFrame>
      <p:sp>
        <p:nvSpPr>
          <p:cNvPr id="9" name="object 9" descr="$PPTXTitle"/>
          <p:cNvSpPr txBox="1">
            <a:spLocks noGrp="1"/>
          </p:cNvSpPr>
          <p:nvPr>
            <p:ph type="title"/>
          </p:nvPr>
        </p:nvSpPr>
        <p:spPr>
          <a:xfrm>
            <a:off x="493268" y="192735"/>
            <a:ext cx="2841625" cy="331470"/>
          </a:xfrm>
          <a:prstGeom prst="rect">
            <a:avLst/>
          </a:prstGeom>
        </p:spPr>
        <p:txBody>
          <a:bodyPr vert="horz" wrap="square" lIns="0" tIns="13335" rIns="0" bIns="0" rtlCol="0">
            <a:spAutoFit/>
          </a:bodyPr>
          <a:lstStyle/>
          <a:p>
            <a:pPr marL="12700">
              <a:lnSpc>
                <a:spcPct val="100000"/>
              </a:lnSpc>
              <a:spcBef>
                <a:spcPts val="105"/>
              </a:spcBef>
            </a:pPr>
            <a:r>
              <a:rPr dirty="0"/>
              <a:t>Sources</a:t>
            </a:r>
            <a:r>
              <a:rPr spc="-50" dirty="0"/>
              <a:t> </a:t>
            </a:r>
            <a:r>
              <a:rPr dirty="0"/>
              <a:t>of</a:t>
            </a:r>
            <a:r>
              <a:rPr spc="-60" dirty="0"/>
              <a:t> </a:t>
            </a:r>
            <a:r>
              <a:rPr dirty="0"/>
              <a:t>Structured</a:t>
            </a:r>
            <a:r>
              <a:rPr spc="-65" dirty="0"/>
              <a:t> </a:t>
            </a:r>
            <a:r>
              <a:rPr spc="-20" dirty="0"/>
              <a:t>Data</a:t>
            </a:r>
          </a:p>
        </p:txBody>
      </p:sp>
      <p:sp>
        <p:nvSpPr>
          <p:cNvPr id="10" name="object 10"/>
          <p:cNvSpPr txBox="1"/>
          <p:nvPr/>
        </p:nvSpPr>
        <p:spPr>
          <a:xfrm>
            <a:off x="493268" y="645921"/>
            <a:ext cx="230251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404040"/>
                </a:solidFill>
                <a:latin typeface="Calibri"/>
                <a:cs typeface="Calibri"/>
              </a:rPr>
              <a:t>Major</a:t>
            </a:r>
            <a:r>
              <a:rPr sz="2000" spc="-45" dirty="0">
                <a:solidFill>
                  <a:srgbClr val="404040"/>
                </a:solidFill>
                <a:latin typeface="Calibri"/>
                <a:cs typeface="Calibri"/>
              </a:rPr>
              <a:t> </a:t>
            </a:r>
            <a:r>
              <a:rPr sz="2000" dirty="0">
                <a:solidFill>
                  <a:srgbClr val="404040"/>
                </a:solidFill>
                <a:latin typeface="Calibri"/>
                <a:cs typeface="Calibri"/>
              </a:rPr>
              <a:t>sources</a:t>
            </a:r>
            <a:r>
              <a:rPr sz="2000" spc="-35" dirty="0">
                <a:solidFill>
                  <a:srgbClr val="404040"/>
                </a:solidFill>
                <a:latin typeface="Calibri"/>
                <a:cs typeface="Calibri"/>
              </a:rPr>
              <a:t> </a:t>
            </a:r>
            <a:r>
              <a:rPr sz="2000" spc="-10" dirty="0">
                <a:solidFill>
                  <a:srgbClr val="404040"/>
                </a:solidFill>
                <a:latin typeface="Calibri"/>
                <a:cs typeface="Calibri"/>
              </a:rPr>
              <a:t>include</a:t>
            </a:r>
            <a:endParaRPr sz="2000">
              <a:latin typeface="Calibri"/>
              <a:cs typeface="Calibri"/>
            </a:endParaRPr>
          </a:p>
        </p:txBody>
      </p:sp>
      <p:sp>
        <p:nvSpPr>
          <p:cNvPr id="11" name="object 11"/>
          <p:cNvSpPr txBox="1"/>
          <p:nvPr/>
        </p:nvSpPr>
        <p:spPr>
          <a:xfrm>
            <a:off x="736345" y="4744973"/>
            <a:ext cx="6195060" cy="1946275"/>
          </a:xfrm>
          <a:prstGeom prst="rect">
            <a:avLst/>
          </a:prstGeom>
        </p:spPr>
        <p:txBody>
          <a:bodyPr vert="horz" wrap="square" lIns="0" tIns="12700" rIns="0" bIns="0" rtlCol="0">
            <a:spAutoFit/>
          </a:bodyPr>
          <a:lstStyle/>
          <a:p>
            <a:pPr marL="85090" marR="3541395">
              <a:lnSpc>
                <a:spcPct val="100000"/>
              </a:lnSpc>
              <a:spcBef>
                <a:spcPts val="100"/>
              </a:spcBef>
            </a:pPr>
            <a:r>
              <a:rPr sz="1800" b="1" dirty="0">
                <a:latin typeface="Calibri"/>
                <a:cs typeface="Calibri"/>
              </a:rPr>
              <a:t>Database</a:t>
            </a:r>
            <a:r>
              <a:rPr sz="1800" b="1" spc="-75" dirty="0">
                <a:latin typeface="Calibri"/>
                <a:cs typeface="Calibri"/>
              </a:rPr>
              <a:t> </a:t>
            </a:r>
            <a:r>
              <a:rPr sz="1800" b="1" spc="-10" dirty="0">
                <a:latin typeface="Calibri"/>
                <a:cs typeface="Calibri"/>
              </a:rPr>
              <a:t>Technologies </a:t>
            </a:r>
            <a:r>
              <a:rPr sz="1800" b="1" dirty="0">
                <a:latin typeface="Calibri"/>
                <a:cs typeface="Calibri"/>
              </a:rPr>
              <a:t>Structured</a:t>
            </a:r>
            <a:r>
              <a:rPr sz="1800" b="1" spc="-80" dirty="0">
                <a:latin typeface="Calibri"/>
                <a:cs typeface="Calibri"/>
              </a:rPr>
              <a:t> </a:t>
            </a:r>
            <a:r>
              <a:rPr sz="1800" b="1" dirty="0">
                <a:latin typeface="Calibri"/>
                <a:cs typeface="Calibri"/>
              </a:rPr>
              <a:t>data</a:t>
            </a:r>
            <a:r>
              <a:rPr sz="1800" b="1" spc="-55" dirty="0">
                <a:latin typeface="Calibri"/>
                <a:cs typeface="Calibri"/>
              </a:rPr>
              <a:t> </a:t>
            </a:r>
            <a:r>
              <a:rPr sz="1800" b="1" dirty="0">
                <a:latin typeface="Calibri"/>
                <a:cs typeface="Calibri"/>
              </a:rPr>
              <a:t>is</a:t>
            </a:r>
            <a:r>
              <a:rPr sz="1800" b="1" spc="-55" dirty="0">
                <a:latin typeface="Calibri"/>
                <a:cs typeface="Calibri"/>
              </a:rPr>
              <a:t> </a:t>
            </a:r>
            <a:r>
              <a:rPr sz="1800" b="1" dirty="0">
                <a:latin typeface="Calibri"/>
                <a:cs typeface="Calibri"/>
              </a:rPr>
              <a:t>stored</a:t>
            </a:r>
            <a:r>
              <a:rPr sz="1800" b="1" spc="-60" dirty="0">
                <a:latin typeface="Calibri"/>
                <a:cs typeface="Calibri"/>
              </a:rPr>
              <a:t> </a:t>
            </a:r>
            <a:r>
              <a:rPr sz="1800" b="1" spc="-25" dirty="0">
                <a:latin typeface="Calibri"/>
                <a:cs typeface="Calibri"/>
              </a:rPr>
              <a:t>in</a:t>
            </a:r>
            <a:endParaRPr sz="1800">
              <a:latin typeface="Calibri"/>
              <a:cs typeface="Calibri"/>
            </a:endParaRPr>
          </a:p>
          <a:p>
            <a:pPr marL="163830" indent="-111125">
              <a:lnSpc>
                <a:spcPct val="100000"/>
              </a:lnSpc>
              <a:buSzPct val="94444"/>
              <a:buFont typeface="Tahoma"/>
              <a:buChar char="•"/>
              <a:tabLst>
                <a:tab pos="163830" algn="l"/>
              </a:tabLst>
            </a:pPr>
            <a:r>
              <a:rPr sz="1800" spc="-10" dirty="0">
                <a:latin typeface="Calibri"/>
                <a:cs typeface="Calibri"/>
              </a:rPr>
              <a:t>Oracle</a:t>
            </a:r>
            <a:endParaRPr sz="1800">
              <a:latin typeface="Calibri"/>
              <a:cs typeface="Calibri"/>
            </a:endParaRPr>
          </a:p>
          <a:p>
            <a:pPr marL="163830" indent="-111125">
              <a:lnSpc>
                <a:spcPct val="100000"/>
              </a:lnSpc>
              <a:buSzPct val="94444"/>
              <a:buFont typeface="Tahoma"/>
              <a:buChar char="•"/>
              <a:tabLst>
                <a:tab pos="163830" algn="l"/>
              </a:tabLst>
            </a:pPr>
            <a:r>
              <a:rPr sz="1800" spc="-10" dirty="0">
                <a:latin typeface="Calibri"/>
                <a:cs typeface="Calibri"/>
              </a:rPr>
              <a:t>MySQL</a:t>
            </a:r>
            <a:endParaRPr sz="1800">
              <a:latin typeface="Calibri"/>
              <a:cs typeface="Calibri"/>
            </a:endParaRPr>
          </a:p>
          <a:p>
            <a:pPr marL="163830" indent="-111125">
              <a:lnSpc>
                <a:spcPct val="100000"/>
              </a:lnSpc>
              <a:buSzPct val="94444"/>
              <a:buFont typeface="Tahoma"/>
              <a:buChar char="•"/>
              <a:tabLst>
                <a:tab pos="163830" algn="l"/>
              </a:tabLst>
            </a:pPr>
            <a:r>
              <a:rPr sz="1800" dirty="0">
                <a:latin typeface="Calibri"/>
                <a:cs typeface="Calibri"/>
              </a:rPr>
              <a:t>SQL</a:t>
            </a:r>
            <a:r>
              <a:rPr sz="1800" spc="-30" dirty="0">
                <a:latin typeface="Calibri"/>
                <a:cs typeface="Calibri"/>
              </a:rPr>
              <a:t> </a:t>
            </a:r>
            <a:r>
              <a:rPr sz="1800" spc="-10" dirty="0">
                <a:latin typeface="Calibri"/>
                <a:cs typeface="Calibri"/>
              </a:rPr>
              <a:t>Server</a:t>
            </a:r>
            <a:endParaRPr sz="1800">
              <a:latin typeface="Calibri"/>
              <a:cs typeface="Calibri"/>
            </a:endParaRPr>
          </a:p>
          <a:p>
            <a:pPr marL="163830" indent="-111125">
              <a:lnSpc>
                <a:spcPct val="100000"/>
              </a:lnSpc>
              <a:buSzPct val="94444"/>
              <a:buFont typeface="Tahoma"/>
              <a:buChar char="•"/>
              <a:tabLst>
                <a:tab pos="163830" algn="l"/>
              </a:tabLst>
            </a:pPr>
            <a:r>
              <a:rPr sz="1800" spc="-10" dirty="0">
                <a:latin typeface="Calibri"/>
                <a:cs typeface="Calibri"/>
              </a:rPr>
              <a:t>PostgreSQL</a:t>
            </a:r>
            <a:endParaRPr sz="1800">
              <a:latin typeface="Calibri"/>
              <a:cs typeface="Calibri"/>
            </a:endParaRPr>
          </a:p>
          <a:p>
            <a:pPr marL="163830" indent="-111125">
              <a:lnSpc>
                <a:spcPct val="100000"/>
              </a:lnSpc>
              <a:buSzPct val="94444"/>
              <a:buFont typeface="Tahoma"/>
              <a:buChar char="•"/>
              <a:tabLst>
                <a:tab pos="163830" algn="l"/>
              </a:tabLst>
            </a:pPr>
            <a:r>
              <a:rPr sz="1800" dirty="0">
                <a:latin typeface="Calibri"/>
                <a:cs typeface="Calibri"/>
              </a:rPr>
              <a:t>IBM</a:t>
            </a:r>
            <a:r>
              <a:rPr sz="1800" spc="-10" dirty="0">
                <a:latin typeface="Calibri"/>
                <a:cs typeface="Calibri"/>
              </a:rPr>
              <a:t> </a:t>
            </a:r>
            <a:r>
              <a:rPr sz="1800" spc="-25" dirty="0">
                <a:latin typeface="Calibri"/>
                <a:cs typeface="Calibri"/>
              </a:rPr>
              <a:t>DB2</a:t>
            </a:r>
            <a:endParaRPr sz="180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0811" y="4060571"/>
            <a:ext cx="0" cy="2311400"/>
          </a:xfrm>
          <a:custGeom>
            <a:avLst/>
            <a:gdLst/>
            <a:ahLst/>
            <a:cxnLst/>
            <a:rect l="l" t="t" r="r" b="b"/>
            <a:pathLst>
              <a:path h="2311400">
                <a:moveTo>
                  <a:pt x="0" y="0"/>
                </a:moveTo>
                <a:lnTo>
                  <a:pt x="0" y="2311349"/>
                </a:lnTo>
              </a:path>
            </a:pathLst>
          </a:custGeom>
          <a:ln w="12700">
            <a:solidFill>
              <a:srgbClr val="FFFFFF"/>
            </a:solidFill>
          </a:ln>
        </p:spPr>
        <p:txBody>
          <a:bodyPr wrap="square" lIns="0" tIns="0" rIns="0" bIns="0" rtlCol="0"/>
          <a:lstStyle/>
          <a:p>
            <a:endParaRPr/>
          </a:p>
        </p:txBody>
      </p:sp>
      <p:grpSp>
        <p:nvGrpSpPr>
          <p:cNvPr id="3" name="object 3"/>
          <p:cNvGrpSpPr/>
          <p:nvPr/>
        </p:nvGrpSpPr>
        <p:grpSpPr>
          <a:xfrm>
            <a:off x="394461" y="4060571"/>
            <a:ext cx="3769360" cy="2311400"/>
            <a:chOff x="394461" y="4060571"/>
            <a:chExt cx="3769360" cy="2311400"/>
          </a:xfrm>
        </p:grpSpPr>
        <p:sp>
          <p:nvSpPr>
            <p:cNvPr id="4" name="object 4"/>
            <p:cNvSpPr/>
            <p:nvPr/>
          </p:nvSpPr>
          <p:spPr>
            <a:xfrm>
              <a:off x="394461" y="4060571"/>
              <a:ext cx="3769360" cy="2311400"/>
            </a:xfrm>
            <a:custGeom>
              <a:avLst/>
              <a:gdLst/>
              <a:ahLst/>
              <a:cxnLst/>
              <a:rect l="l" t="t" r="r" b="b"/>
              <a:pathLst>
                <a:path w="3769360" h="2311400">
                  <a:moveTo>
                    <a:pt x="3763010" y="0"/>
                  </a:moveTo>
                  <a:lnTo>
                    <a:pt x="3763010" y="2311349"/>
                  </a:lnTo>
                </a:path>
                <a:path w="3769360" h="2311400">
                  <a:moveTo>
                    <a:pt x="0" y="6349"/>
                  </a:moveTo>
                  <a:lnTo>
                    <a:pt x="3769360" y="6349"/>
                  </a:lnTo>
                </a:path>
              </a:pathLst>
            </a:custGeom>
            <a:ln w="12700">
              <a:solidFill>
                <a:srgbClr val="FFFFFF"/>
              </a:solidFill>
            </a:ln>
          </p:spPr>
          <p:txBody>
            <a:bodyPr wrap="square" lIns="0" tIns="0" rIns="0" bIns="0" rtlCol="0"/>
            <a:lstStyle/>
            <a:p>
              <a:endParaRPr/>
            </a:p>
          </p:txBody>
        </p:sp>
        <p:sp>
          <p:nvSpPr>
            <p:cNvPr id="5" name="object 5"/>
            <p:cNvSpPr/>
            <p:nvPr/>
          </p:nvSpPr>
          <p:spPr>
            <a:xfrm>
              <a:off x="394461" y="6352870"/>
              <a:ext cx="3769360" cy="0"/>
            </a:xfrm>
            <a:custGeom>
              <a:avLst/>
              <a:gdLst/>
              <a:ahLst/>
              <a:cxnLst/>
              <a:rect l="l" t="t" r="r" b="b"/>
              <a:pathLst>
                <a:path w="3769360">
                  <a:moveTo>
                    <a:pt x="0" y="0"/>
                  </a:moveTo>
                  <a:lnTo>
                    <a:pt x="3769360" y="0"/>
                  </a:lnTo>
                </a:path>
              </a:pathLst>
            </a:custGeom>
            <a:ln w="38100">
              <a:solidFill>
                <a:srgbClr val="FFFFFF"/>
              </a:solidFill>
            </a:ln>
          </p:spPr>
          <p:txBody>
            <a:bodyPr wrap="square" lIns="0" tIns="0" rIns="0" bIns="0" rtlCol="0"/>
            <a:lstStyle/>
            <a:p>
              <a:endParaRPr/>
            </a:p>
          </p:txBody>
        </p:sp>
      </p:grpSp>
      <p:sp>
        <p:nvSpPr>
          <p:cNvPr id="6" name="object 6"/>
          <p:cNvSpPr txBox="1"/>
          <p:nvPr/>
        </p:nvSpPr>
        <p:spPr>
          <a:xfrm>
            <a:off x="400811" y="4066870"/>
            <a:ext cx="3756660" cy="2286000"/>
          </a:xfrm>
          <a:prstGeom prst="rect">
            <a:avLst/>
          </a:prstGeom>
          <a:solidFill>
            <a:srgbClr val="ACC7DD"/>
          </a:solidFill>
        </p:spPr>
        <p:txBody>
          <a:bodyPr vert="horz" wrap="square" lIns="0" tIns="31115" rIns="0" bIns="0" rtlCol="0">
            <a:spAutoFit/>
          </a:bodyPr>
          <a:lstStyle/>
          <a:p>
            <a:pPr marL="90805" marR="126364">
              <a:lnSpc>
                <a:spcPct val="100000"/>
              </a:lnSpc>
              <a:spcBef>
                <a:spcPts val="245"/>
              </a:spcBef>
              <a:tabLst>
                <a:tab pos="1166495" algn="l"/>
              </a:tabLst>
            </a:pPr>
            <a:r>
              <a:rPr sz="1800" b="1" spc="-10" dirty="0">
                <a:latin typeface="Calibri"/>
                <a:cs typeface="Calibri"/>
              </a:rPr>
              <a:t>Example:</a:t>
            </a:r>
            <a:r>
              <a:rPr sz="1800" b="1" dirty="0">
                <a:latin typeface="Calibri"/>
                <a:cs typeface="Calibri"/>
              </a:rPr>
              <a:t>	no</a:t>
            </a:r>
            <a:r>
              <a:rPr sz="1800" b="1" spc="-20" dirty="0">
                <a:latin typeface="Calibri"/>
                <a:cs typeface="Calibri"/>
              </a:rPr>
              <a:t> </a:t>
            </a:r>
            <a:r>
              <a:rPr sz="1800" b="1" dirty="0">
                <a:latin typeface="Calibri"/>
                <a:cs typeface="Calibri"/>
              </a:rPr>
              <a:t>rows</a:t>
            </a:r>
            <a:r>
              <a:rPr sz="1800" b="1" spc="-35" dirty="0">
                <a:latin typeface="Calibri"/>
                <a:cs typeface="Calibri"/>
              </a:rPr>
              <a:t> </a:t>
            </a:r>
            <a:r>
              <a:rPr sz="1800" b="1" dirty="0">
                <a:latin typeface="Calibri"/>
                <a:cs typeface="Calibri"/>
              </a:rPr>
              <a:t>,</a:t>
            </a:r>
            <a:r>
              <a:rPr sz="1800" b="1" spc="-5" dirty="0">
                <a:latin typeface="Calibri"/>
                <a:cs typeface="Calibri"/>
              </a:rPr>
              <a:t> </a:t>
            </a:r>
            <a:r>
              <a:rPr sz="1800" b="1" dirty="0">
                <a:latin typeface="Calibri"/>
                <a:cs typeface="Calibri"/>
              </a:rPr>
              <a:t>no</a:t>
            </a:r>
            <a:r>
              <a:rPr sz="1800" b="1" spc="-20" dirty="0">
                <a:latin typeface="Calibri"/>
                <a:cs typeface="Calibri"/>
              </a:rPr>
              <a:t> </a:t>
            </a:r>
            <a:r>
              <a:rPr sz="1800" b="1" dirty="0">
                <a:latin typeface="Calibri"/>
                <a:cs typeface="Calibri"/>
              </a:rPr>
              <a:t>columns</a:t>
            </a:r>
            <a:r>
              <a:rPr sz="1800" b="1" spc="-50" dirty="0">
                <a:latin typeface="Calibri"/>
                <a:cs typeface="Calibri"/>
              </a:rPr>
              <a:t> </a:t>
            </a:r>
            <a:r>
              <a:rPr sz="1800" b="1" spc="-10" dirty="0">
                <a:latin typeface="Calibri"/>
                <a:cs typeface="Calibri"/>
              </a:rPr>
              <a:t>,still organized</a:t>
            </a:r>
            <a:endParaRPr sz="1800">
              <a:latin typeface="Calibri"/>
              <a:cs typeface="Calibri"/>
            </a:endParaRPr>
          </a:p>
          <a:p>
            <a:pPr marL="90805">
              <a:lnSpc>
                <a:spcPct val="100000"/>
              </a:lnSpc>
            </a:pPr>
            <a:r>
              <a:rPr sz="1800" b="1" spc="-50" dirty="0">
                <a:latin typeface="Calibri"/>
                <a:cs typeface="Calibri"/>
              </a:rPr>
              <a:t>{</a:t>
            </a:r>
            <a:endParaRPr sz="1800">
              <a:latin typeface="Calibri"/>
              <a:cs typeface="Calibri"/>
            </a:endParaRPr>
          </a:p>
          <a:p>
            <a:pPr marL="142875" marR="1971039">
              <a:lnSpc>
                <a:spcPct val="100000"/>
              </a:lnSpc>
            </a:pPr>
            <a:r>
              <a:rPr sz="1800" b="1" spc="-10" dirty="0">
                <a:latin typeface="Calibri"/>
                <a:cs typeface="Calibri"/>
              </a:rPr>
              <a:t>"StudentID":101, "Name":"Rahul",</a:t>
            </a:r>
            <a:endParaRPr sz="1800">
              <a:latin typeface="Calibri"/>
              <a:cs typeface="Calibri"/>
            </a:endParaRPr>
          </a:p>
          <a:p>
            <a:pPr marL="142875">
              <a:lnSpc>
                <a:spcPct val="100000"/>
              </a:lnSpc>
            </a:pPr>
            <a:r>
              <a:rPr sz="1800" b="1" spc="-10" dirty="0">
                <a:latin typeface="Calibri"/>
                <a:cs typeface="Calibri"/>
              </a:rPr>
              <a:t>"Department":"CSE",</a:t>
            </a:r>
            <a:endParaRPr sz="1800">
              <a:latin typeface="Calibri"/>
              <a:cs typeface="Calibri"/>
            </a:endParaRPr>
          </a:p>
          <a:p>
            <a:pPr marL="142875">
              <a:lnSpc>
                <a:spcPct val="100000"/>
              </a:lnSpc>
              <a:spcBef>
                <a:spcPts val="5"/>
              </a:spcBef>
            </a:pPr>
            <a:r>
              <a:rPr sz="1800" b="1" spc="-10" dirty="0">
                <a:latin typeface="Calibri"/>
                <a:cs typeface="Calibri"/>
              </a:rPr>
              <a:t>"CGPA":8.7</a:t>
            </a:r>
            <a:endParaRPr sz="1800">
              <a:latin typeface="Calibri"/>
              <a:cs typeface="Calibri"/>
            </a:endParaRPr>
          </a:p>
          <a:p>
            <a:pPr marL="90805">
              <a:lnSpc>
                <a:spcPct val="100000"/>
              </a:lnSpc>
            </a:pPr>
            <a:r>
              <a:rPr sz="1800" b="1" spc="-50" dirty="0">
                <a:latin typeface="Calibri"/>
                <a:cs typeface="Calibri"/>
              </a:rPr>
              <a:t>}</a:t>
            </a:r>
            <a:endParaRPr sz="1800">
              <a:latin typeface="Calibri"/>
              <a:cs typeface="Calibri"/>
            </a:endParaRPr>
          </a:p>
        </p:txBody>
      </p:sp>
      <p:sp>
        <p:nvSpPr>
          <p:cNvPr id="7" name="object 7" descr="$PPTXTitle"/>
          <p:cNvSpPr txBox="1">
            <a:spLocks noGrp="1"/>
          </p:cNvSpPr>
          <p:nvPr>
            <p:ph type="title"/>
          </p:nvPr>
        </p:nvSpPr>
        <p:spPr>
          <a:xfrm>
            <a:off x="808736" y="369519"/>
            <a:ext cx="7298055" cy="1031240"/>
          </a:xfrm>
          <a:prstGeom prst="rect">
            <a:avLst/>
          </a:prstGeom>
        </p:spPr>
        <p:txBody>
          <a:bodyPr vert="horz" wrap="square" lIns="0" tIns="12065" rIns="0" bIns="0" rtlCol="0">
            <a:spAutoFit/>
          </a:bodyPr>
          <a:lstStyle/>
          <a:p>
            <a:pPr marL="12700">
              <a:lnSpc>
                <a:spcPct val="100000"/>
              </a:lnSpc>
              <a:spcBef>
                <a:spcPts val="95"/>
              </a:spcBef>
            </a:pPr>
            <a:r>
              <a:rPr sz="2200" spc="-20" dirty="0">
                <a:solidFill>
                  <a:srgbClr val="000000"/>
                </a:solidFill>
              </a:rPr>
              <a:t>Semi-</a:t>
            </a:r>
            <a:r>
              <a:rPr sz="2200" spc="-10" dirty="0">
                <a:solidFill>
                  <a:srgbClr val="000000"/>
                </a:solidFill>
              </a:rPr>
              <a:t>Structured</a:t>
            </a:r>
            <a:r>
              <a:rPr sz="2200" spc="5" dirty="0">
                <a:solidFill>
                  <a:srgbClr val="000000"/>
                </a:solidFill>
              </a:rPr>
              <a:t> </a:t>
            </a:r>
            <a:r>
              <a:rPr sz="2200" spc="-20" dirty="0">
                <a:solidFill>
                  <a:srgbClr val="000000"/>
                </a:solidFill>
              </a:rPr>
              <a:t>Data</a:t>
            </a:r>
            <a:endParaRPr sz="2200"/>
          </a:p>
          <a:p>
            <a:pPr marL="12700" marR="5080">
              <a:lnSpc>
                <a:spcPct val="100000"/>
              </a:lnSpc>
              <a:spcBef>
                <a:spcPts val="5"/>
              </a:spcBef>
            </a:pPr>
            <a:r>
              <a:rPr sz="2200" dirty="0">
                <a:solidFill>
                  <a:srgbClr val="000000"/>
                </a:solidFill>
              </a:rPr>
              <a:t>Definition:</a:t>
            </a:r>
            <a:r>
              <a:rPr sz="2200" spc="420" dirty="0">
                <a:solidFill>
                  <a:srgbClr val="000000"/>
                </a:solidFill>
              </a:rPr>
              <a:t> </a:t>
            </a:r>
            <a:r>
              <a:rPr sz="2200" b="0" spc="-20" dirty="0">
                <a:solidFill>
                  <a:srgbClr val="000000"/>
                </a:solidFill>
                <a:latin typeface="Calibri"/>
                <a:cs typeface="Calibri"/>
              </a:rPr>
              <a:t>Semi-</a:t>
            </a:r>
            <a:r>
              <a:rPr sz="2200" b="0" dirty="0">
                <a:solidFill>
                  <a:srgbClr val="000000"/>
                </a:solidFill>
                <a:latin typeface="Calibri"/>
                <a:cs typeface="Calibri"/>
              </a:rPr>
              <a:t>structured</a:t>
            </a:r>
            <a:r>
              <a:rPr sz="2200" b="0" spc="-30" dirty="0">
                <a:solidFill>
                  <a:srgbClr val="000000"/>
                </a:solidFill>
                <a:latin typeface="Calibri"/>
                <a:cs typeface="Calibri"/>
              </a:rPr>
              <a:t> </a:t>
            </a:r>
            <a:r>
              <a:rPr sz="2200" b="0" dirty="0">
                <a:solidFill>
                  <a:srgbClr val="000000"/>
                </a:solidFill>
                <a:latin typeface="Calibri"/>
                <a:cs typeface="Calibri"/>
              </a:rPr>
              <a:t>data</a:t>
            </a:r>
            <a:r>
              <a:rPr sz="2200" b="0" spc="-60" dirty="0">
                <a:solidFill>
                  <a:srgbClr val="000000"/>
                </a:solidFill>
                <a:latin typeface="Calibri"/>
                <a:cs typeface="Calibri"/>
              </a:rPr>
              <a:t> </a:t>
            </a:r>
            <a:r>
              <a:rPr sz="2200" b="0" dirty="0">
                <a:solidFill>
                  <a:srgbClr val="000000"/>
                </a:solidFill>
                <a:latin typeface="Calibri"/>
                <a:cs typeface="Calibri"/>
              </a:rPr>
              <a:t>does</a:t>
            </a:r>
            <a:r>
              <a:rPr sz="2200" b="0" spc="-40" dirty="0">
                <a:solidFill>
                  <a:srgbClr val="000000"/>
                </a:solidFill>
                <a:latin typeface="Calibri"/>
                <a:cs typeface="Calibri"/>
              </a:rPr>
              <a:t> </a:t>
            </a:r>
            <a:r>
              <a:rPr sz="2200" b="0" dirty="0">
                <a:solidFill>
                  <a:srgbClr val="000000"/>
                </a:solidFill>
                <a:latin typeface="Calibri"/>
                <a:cs typeface="Calibri"/>
              </a:rPr>
              <a:t>not</a:t>
            </a:r>
            <a:r>
              <a:rPr sz="2200" b="0" spc="-55" dirty="0">
                <a:solidFill>
                  <a:srgbClr val="000000"/>
                </a:solidFill>
                <a:latin typeface="Calibri"/>
                <a:cs typeface="Calibri"/>
              </a:rPr>
              <a:t> </a:t>
            </a:r>
            <a:r>
              <a:rPr sz="2200" b="0" dirty="0">
                <a:solidFill>
                  <a:srgbClr val="000000"/>
                </a:solidFill>
                <a:latin typeface="Calibri"/>
                <a:cs typeface="Calibri"/>
              </a:rPr>
              <a:t>follow</a:t>
            </a:r>
            <a:r>
              <a:rPr sz="2200" b="0" spc="-50" dirty="0">
                <a:solidFill>
                  <a:srgbClr val="000000"/>
                </a:solidFill>
                <a:latin typeface="Calibri"/>
                <a:cs typeface="Calibri"/>
              </a:rPr>
              <a:t> </a:t>
            </a:r>
            <a:r>
              <a:rPr sz="2200" b="0" dirty="0">
                <a:solidFill>
                  <a:srgbClr val="000000"/>
                </a:solidFill>
                <a:latin typeface="Calibri"/>
                <a:cs typeface="Calibri"/>
              </a:rPr>
              <a:t>a</a:t>
            </a:r>
            <a:r>
              <a:rPr sz="2200" b="0" spc="-55" dirty="0">
                <a:solidFill>
                  <a:srgbClr val="000000"/>
                </a:solidFill>
                <a:latin typeface="Calibri"/>
                <a:cs typeface="Calibri"/>
              </a:rPr>
              <a:t> </a:t>
            </a:r>
            <a:r>
              <a:rPr sz="2200" b="0" dirty="0">
                <a:solidFill>
                  <a:srgbClr val="000000"/>
                </a:solidFill>
                <a:latin typeface="Calibri"/>
                <a:cs typeface="Calibri"/>
              </a:rPr>
              <a:t>strict</a:t>
            </a:r>
            <a:r>
              <a:rPr sz="2200" b="0" spc="-55" dirty="0">
                <a:solidFill>
                  <a:srgbClr val="000000"/>
                </a:solidFill>
                <a:latin typeface="Calibri"/>
                <a:cs typeface="Calibri"/>
              </a:rPr>
              <a:t> </a:t>
            </a:r>
            <a:r>
              <a:rPr sz="2200" b="0" spc="-10" dirty="0">
                <a:solidFill>
                  <a:srgbClr val="000000"/>
                </a:solidFill>
                <a:latin typeface="Calibri"/>
                <a:cs typeface="Calibri"/>
              </a:rPr>
              <a:t>tabular </a:t>
            </a:r>
            <a:r>
              <a:rPr sz="2200" b="0" dirty="0">
                <a:solidFill>
                  <a:srgbClr val="000000"/>
                </a:solidFill>
                <a:latin typeface="Calibri"/>
                <a:cs typeface="Calibri"/>
              </a:rPr>
              <a:t>format</a:t>
            </a:r>
            <a:r>
              <a:rPr sz="2200" b="0" spc="-65" dirty="0">
                <a:solidFill>
                  <a:srgbClr val="000000"/>
                </a:solidFill>
                <a:latin typeface="Calibri"/>
                <a:cs typeface="Calibri"/>
              </a:rPr>
              <a:t> </a:t>
            </a:r>
            <a:r>
              <a:rPr sz="2200" b="0" dirty="0">
                <a:solidFill>
                  <a:srgbClr val="000000"/>
                </a:solidFill>
                <a:latin typeface="Calibri"/>
                <a:cs typeface="Calibri"/>
              </a:rPr>
              <a:t>but</a:t>
            </a:r>
            <a:r>
              <a:rPr sz="2200" b="0" spc="-75" dirty="0">
                <a:solidFill>
                  <a:srgbClr val="000000"/>
                </a:solidFill>
                <a:latin typeface="Calibri"/>
                <a:cs typeface="Calibri"/>
              </a:rPr>
              <a:t> </a:t>
            </a:r>
            <a:r>
              <a:rPr sz="2200" b="0" dirty="0">
                <a:solidFill>
                  <a:srgbClr val="000000"/>
                </a:solidFill>
                <a:latin typeface="Calibri"/>
                <a:cs typeface="Calibri"/>
              </a:rPr>
              <a:t>contains</a:t>
            </a:r>
            <a:r>
              <a:rPr sz="2200" b="0" spc="-65" dirty="0">
                <a:solidFill>
                  <a:srgbClr val="000000"/>
                </a:solidFill>
                <a:latin typeface="Calibri"/>
                <a:cs typeface="Calibri"/>
              </a:rPr>
              <a:t> </a:t>
            </a:r>
            <a:r>
              <a:rPr sz="2200" b="0" dirty="0">
                <a:solidFill>
                  <a:srgbClr val="000000"/>
                </a:solidFill>
                <a:latin typeface="Calibri"/>
                <a:cs typeface="Calibri"/>
              </a:rPr>
              <a:t>tags</a:t>
            </a:r>
            <a:r>
              <a:rPr sz="2200" b="0" spc="-70" dirty="0">
                <a:solidFill>
                  <a:srgbClr val="000000"/>
                </a:solidFill>
                <a:latin typeface="Calibri"/>
                <a:cs typeface="Calibri"/>
              </a:rPr>
              <a:t> </a:t>
            </a:r>
            <a:r>
              <a:rPr sz="2200" b="0" dirty="0">
                <a:solidFill>
                  <a:srgbClr val="000000"/>
                </a:solidFill>
                <a:latin typeface="Calibri"/>
                <a:cs typeface="Calibri"/>
              </a:rPr>
              <a:t>or</a:t>
            </a:r>
            <a:r>
              <a:rPr sz="2200" b="0" spc="-65" dirty="0">
                <a:solidFill>
                  <a:srgbClr val="000000"/>
                </a:solidFill>
                <a:latin typeface="Calibri"/>
                <a:cs typeface="Calibri"/>
              </a:rPr>
              <a:t> </a:t>
            </a:r>
            <a:r>
              <a:rPr sz="2200" b="0" spc="-10" dirty="0">
                <a:solidFill>
                  <a:srgbClr val="000000"/>
                </a:solidFill>
                <a:latin typeface="Calibri"/>
                <a:cs typeface="Calibri"/>
              </a:rPr>
              <a:t>metadata</a:t>
            </a:r>
            <a:endParaRPr sz="2200">
              <a:latin typeface="Calibri"/>
              <a:cs typeface="Calibri"/>
            </a:endParaRPr>
          </a:p>
        </p:txBody>
      </p:sp>
      <p:sp>
        <p:nvSpPr>
          <p:cNvPr id="8" name="object 8"/>
          <p:cNvSpPr txBox="1"/>
          <p:nvPr/>
        </p:nvSpPr>
        <p:spPr>
          <a:xfrm>
            <a:off x="808736" y="1758441"/>
            <a:ext cx="923925" cy="1671955"/>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Examples</a:t>
            </a:r>
            <a:endParaRPr sz="1800">
              <a:latin typeface="Calibri"/>
              <a:cs typeface="Calibri"/>
            </a:endParaRPr>
          </a:p>
          <a:p>
            <a:pPr marL="91440" indent="-90805">
              <a:lnSpc>
                <a:spcPct val="100000"/>
              </a:lnSpc>
              <a:buSzPct val="75000"/>
              <a:buFont typeface="Tahoma"/>
              <a:buChar char="•"/>
              <a:tabLst>
                <a:tab pos="91440" algn="l"/>
              </a:tabLst>
            </a:pPr>
            <a:r>
              <a:rPr sz="1800" spc="-25" dirty="0">
                <a:latin typeface="Calibri"/>
                <a:cs typeface="Calibri"/>
              </a:rPr>
              <a:t>XML</a:t>
            </a:r>
            <a:endParaRPr sz="1800">
              <a:latin typeface="Calibri"/>
              <a:cs typeface="Calibri"/>
            </a:endParaRPr>
          </a:p>
          <a:p>
            <a:pPr marL="91440" indent="-90805">
              <a:lnSpc>
                <a:spcPct val="100000"/>
              </a:lnSpc>
              <a:buSzPct val="75000"/>
              <a:buFont typeface="Tahoma"/>
              <a:buChar char="•"/>
              <a:tabLst>
                <a:tab pos="91440" algn="l"/>
              </a:tabLst>
            </a:pPr>
            <a:r>
              <a:rPr sz="1800" spc="-20" dirty="0">
                <a:latin typeface="Calibri"/>
                <a:cs typeface="Calibri"/>
              </a:rPr>
              <a:t>JSON</a:t>
            </a:r>
            <a:endParaRPr sz="1800">
              <a:latin typeface="Calibri"/>
              <a:cs typeface="Calibri"/>
            </a:endParaRPr>
          </a:p>
          <a:p>
            <a:pPr marL="91440" indent="-90805">
              <a:lnSpc>
                <a:spcPct val="100000"/>
              </a:lnSpc>
              <a:buSzPct val="75000"/>
              <a:buFont typeface="Tahoma"/>
              <a:buChar char="•"/>
              <a:tabLst>
                <a:tab pos="91440" algn="l"/>
              </a:tabLst>
            </a:pPr>
            <a:r>
              <a:rPr sz="1800" spc="-20" dirty="0">
                <a:latin typeface="Calibri"/>
                <a:cs typeface="Calibri"/>
              </a:rPr>
              <a:t>HTML</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Email</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Log</a:t>
            </a:r>
            <a:r>
              <a:rPr sz="1800" spc="-10" dirty="0">
                <a:latin typeface="Calibri"/>
                <a:cs typeface="Calibri"/>
              </a:rPr>
              <a:t> files</a:t>
            </a:r>
            <a:endParaRPr sz="1800">
              <a:latin typeface="Calibri"/>
              <a:cs typeface="Calibri"/>
            </a:endParaRPr>
          </a:p>
        </p:txBody>
      </p:sp>
      <p:grpSp>
        <p:nvGrpSpPr>
          <p:cNvPr id="9" name="object 9"/>
          <p:cNvGrpSpPr/>
          <p:nvPr/>
        </p:nvGrpSpPr>
        <p:grpSpPr>
          <a:xfrm>
            <a:off x="4565650" y="4081653"/>
            <a:ext cx="4328795" cy="2722880"/>
            <a:chOff x="4565650" y="4081653"/>
            <a:chExt cx="4328795" cy="2722880"/>
          </a:xfrm>
        </p:grpSpPr>
        <p:sp>
          <p:nvSpPr>
            <p:cNvPr id="10" name="object 10"/>
            <p:cNvSpPr/>
            <p:nvPr/>
          </p:nvSpPr>
          <p:spPr>
            <a:xfrm>
              <a:off x="4572000" y="4087946"/>
              <a:ext cx="4316095" cy="2697480"/>
            </a:xfrm>
            <a:custGeom>
              <a:avLst/>
              <a:gdLst/>
              <a:ahLst/>
              <a:cxnLst/>
              <a:rect l="l" t="t" r="r" b="b"/>
              <a:pathLst>
                <a:path w="4316095" h="2697479">
                  <a:moveTo>
                    <a:pt x="4315967" y="0"/>
                  </a:moveTo>
                  <a:lnTo>
                    <a:pt x="0" y="0"/>
                  </a:lnTo>
                  <a:lnTo>
                    <a:pt x="0" y="2697480"/>
                  </a:lnTo>
                  <a:lnTo>
                    <a:pt x="4315967" y="2697480"/>
                  </a:lnTo>
                  <a:lnTo>
                    <a:pt x="4315967" y="0"/>
                  </a:lnTo>
                  <a:close/>
                </a:path>
              </a:pathLst>
            </a:custGeom>
            <a:solidFill>
              <a:srgbClr val="ACC7DD"/>
            </a:solidFill>
          </p:spPr>
          <p:txBody>
            <a:bodyPr wrap="square" lIns="0" tIns="0" rIns="0" bIns="0" rtlCol="0"/>
            <a:lstStyle/>
            <a:p>
              <a:endParaRPr/>
            </a:p>
          </p:txBody>
        </p:sp>
        <p:sp>
          <p:nvSpPr>
            <p:cNvPr id="11" name="object 11"/>
            <p:cNvSpPr/>
            <p:nvPr/>
          </p:nvSpPr>
          <p:spPr>
            <a:xfrm>
              <a:off x="4565650" y="4081653"/>
              <a:ext cx="4328795" cy="2722880"/>
            </a:xfrm>
            <a:custGeom>
              <a:avLst/>
              <a:gdLst/>
              <a:ahLst/>
              <a:cxnLst/>
              <a:rect l="l" t="t" r="r" b="b"/>
              <a:pathLst>
                <a:path w="4328795" h="2722879">
                  <a:moveTo>
                    <a:pt x="6350" y="0"/>
                  </a:moveTo>
                  <a:lnTo>
                    <a:pt x="6350" y="2722822"/>
                  </a:lnTo>
                </a:path>
                <a:path w="4328795" h="2722879">
                  <a:moveTo>
                    <a:pt x="4322318" y="0"/>
                  </a:moveTo>
                  <a:lnTo>
                    <a:pt x="4322318" y="2722822"/>
                  </a:lnTo>
                </a:path>
                <a:path w="4328795" h="2722879">
                  <a:moveTo>
                    <a:pt x="0" y="6350"/>
                  </a:moveTo>
                  <a:lnTo>
                    <a:pt x="4328668" y="6350"/>
                  </a:lnTo>
                </a:path>
              </a:pathLst>
            </a:custGeom>
            <a:ln w="12700">
              <a:solidFill>
                <a:srgbClr val="FFFFFF"/>
              </a:solidFill>
            </a:ln>
          </p:spPr>
          <p:txBody>
            <a:bodyPr wrap="square" lIns="0" tIns="0" rIns="0" bIns="0" rtlCol="0"/>
            <a:lstStyle/>
            <a:p>
              <a:endParaRPr/>
            </a:p>
          </p:txBody>
        </p:sp>
        <p:sp>
          <p:nvSpPr>
            <p:cNvPr id="12" name="object 12"/>
            <p:cNvSpPr/>
            <p:nvPr/>
          </p:nvSpPr>
          <p:spPr>
            <a:xfrm>
              <a:off x="4565650" y="6785425"/>
              <a:ext cx="4328795" cy="0"/>
            </a:xfrm>
            <a:custGeom>
              <a:avLst/>
              <a:gdLst/>
              <a:ahLst/>
              <a:cxnLst/>
              <a:rect l="l" t="t" r="r" b="b"/>
              <a:pathLst>
                <a:path w="4328795">
                  <a:moveTo>
                    <a:pt x="0" y="0"/>
                  </a:moveTo>
                  <a:lnTo>
                    <a:pt x="4328668" y="0"/>
                  </a:lnTo>
                </a:path>
              </a:pathLst>
            </a:custGeom>
            <a:ln w="38100">
              <a:solidFill>
                <a:srgbClr val="FFFFFF"/>
              </a:solidFill>
            </a:ln>
          </p:spPr>
          <p:txBody>
            <a:bodyPr wrap="square" lIns="0" tIns="0" rIns="0" bIns="0" rtlCol="0"/>
            <a:lstStyle/>
            <a:p>
              <a:endParaRPr/>
            </a:p>
          </p:txBody>
        </p:sp>
      </p:grpSp>
      <p:sp>
        <p:nvSpPr>
          <p:cNvPr id="13" name="object 13"/>
          <p:cNvSpPr txBox="1"/>
          <p:nvPr/>
        </p:nvSpPr>
        <p:spPr>
          <a:xfrm>
            <a:off x="4664075" y="4106671"/>
            <a:ext cx="2957830" cy="805815"/>
          </a:xfrm>
          <a:prstGeom prst="rect">
            <a:avLst/>
          </a:prstGeom>
        </p:spPr>
        <p:txBody>
          <a:bodyPr vert="horz" wrap="square" lIns="0" tIns="12700" rIns="0" bIns="0" rtlCol="0">
            <a:spAutoFit/>
          </a:bodyPr>
          <a:lstStyle/>
          <a:p>
            <a:pPr marR="5080">
              <a:lnSpc>
                <a:spcPct val="100000"/>
              </a:lnSpc>
              <a:spcBef>
                <a:spcPts val="100"/>
              </a:spcBef>
            </a:pPr>
            <a:r>
              <a:rPr sz="1800" b="1" dirty="0">
                <a:latin typeface="Calibri"/>
                <a:cs typeface="Calibri"/>
              </a:rPr>
              <a:t>Example</a:t>
            </a:r>
            <a:r>
              <a:rPr sz="1800" b="1" spc="-60" dirty="0">
                <a:latin typeface="Calibri"/>
                <a:cs typeface="Calibri"/>
              </a:rPr>
              <a:t> </a:t>
            </a:r>
            <a:r>
              <a:rPr sz="1800" b="1" dirty="0">
                <a:latin typeface="Calibri"/>
                <a:cs typeface="Calibri"/>
              </a:rPr>
              <a:t>xml:</a:t>
            </a:r>
            <a:r>
              <a:rPr sz="1800" b="1" spc="-30" dirty="0">
                <a:latin typeface="Calibri"/>
                <a:cs typeface="Calibri"/>
              </a:rPr>
              <a:t> </a:t>
            </a:r>
            <a:r>
              <a:rPr sz="1800" b="1" spc="-20" dirty="0">
                <a:latin typeface="Calibri"/>
                <a:cs typeface="Calibri"/>
              </a:rPr>
              <a:t>Tags</a:t>
            </a:r>
            <a:r>
              <a:rPr sz="1800" b="1" spc="-30" dirty="0">
                <a:latin typeface="Calibri"/>
                <a:cs typeface="Calibri"/>
              </a:rPr>
              <a:t> </a:t>
            </a:r>
            <a:r>
              <a:rPr sz="1800" b="1" dirty="0">
                <a:latin typeface="Calibri"/>
                <a:cs typeface="Calibri"/>
              </a:rPr>
              <a:t>describe</a:t>
            </a:r>
            <a:r>
              <a:rPr sz="1800" b="1" spc="-35" dirty="0">
                <a:latin typeface="Calibri"/>
                <a:cs typeface="Calibri"/>
              </a:rPr>
              <a:t> </a:t>
            </a:r>
            <a:r>
              <a:rPr sz="1800" b="1" spc="-25" dirty="0">
                <a:latin typeface="Calibri"/>
                <a:cs typeface="Calibri"/>
              </a:rPr>
              <a:t>the </a:t>
            </a:r>
            <a:r>
              <a:rPr sz="1800" b="1" spc="-10" dirty="0">
                <a:latin typeface="Calibri"/>
                <a:cs typeface="Calibri"/>
              </a:rPr>
              <a:t>information.</a:t>
            </a:r>
            <a:endParaRPr sz="1800">
              <a:latin typeface="Calibri"/>
              <a:cs typeface="Calibri"/>
            </a:endParaRPr>
          </a:p>
          <a:p>
            <a:pPr>
              <a:lnSpc>
                <a:spcPct val="100000"/>
              </a:lnSpc>
              <a:spcBef>
                <a:spcPts val="25"/>
              </a:spcBef>
            </a:pPr>
            <a:r>
              <a:rPr sz="1500" b="1" spc="-10" dirty="0">
                <a:latin typeface="Calibri"/>
                <a:cs typeface="Calibri"/>
              </a:rPr>
              <a:t>&lt;Student&gt;</a:t>
            </a:r>
            <a:endParaRPr sz="1500">
              <a:latin typeface="Calibri"/>
              <a:cs typeface="Calibri"/>
            </a:endParaRPr>
          </a:p>
        </p:txBody>
      </p:sp>
      <p:sp>
        <p:nvSpPr>
          <p:cNvPr id="14" name="object 14"/>
          <p:cNvSpPr txBox="1"/>
          <p:nvPr/>
        </p:nvSpPr>
        <p:spPr>
          <a:xfrm>
            <a:off x="4664075" y="5115559"/>
            <a:ext cx="1103630" cy="254000"/>
          </a:xfrm>
          <a:prstGeom prst="rect">
            <a:avLst/>
          </a:prstGeom>
        </p:spPr>
        <p:txBody>
          <a:bodyPr vert="horz" wrap="square" lIns="0" tIns="12700" rIns="0" bIns="0" rtlCol="0">
            <a:spAutoFit/>
          </a:bodyPr>
          <a:lstStyle/>
          <a:p>
            <a:pPr>
              <a:lnSpc>
                <a:spcPct val="100000"/>
              </a:lnSpc>
              <a:spcBef>
                <a:spcPts val="100"/>
              </a:spcBef>
            </a:pPr>
            <a:r>
              <a:rPr sz="1500" b="1" spc="-10" dirty="0">
                <a:latin typeface="Calibri"/>
                <a:cs typeface="Calibri"/>
              </a:rPr>
              <a:t>&lt;ID&gt;101&lt;/ID&gt;</a:t>
            </a:r>
            <a:endParaRPr sz="1500">
              <a:latin typeface="Calibri"/>
              <a:cs typeface="Calibri"/>
            </a:endParaRPr>
          </a:p>
        </p:txBody>
      </p:sp>
      <p:sp>
        <p:nvSpPr>
          <p:cNvPr id="15" name="object 15"/>
          <p:cNvSpPr txBox="1"/>
          <p:nvPr/>
        </p:nvSpPr>
        <p:spPr>
          <a:xfrm>
            <a:off x="4664075" y="5573064"/>
            <a:ext cx="1866264" cy="254000"/>
          </a:xfrm>
          <a:prstGeom prst="rect">
            <a:avLst/>
          </a:prstGeom>
        </p:spPr>
        <p:txBody>
          <a:bodyPr vert="horz" wrap="square" lIns="0" tIns="12700" rIns="0" bIns="0" rtlCol="0">
            <a:spAutoFit/>
          </a:bodyPr>
          <a:lstStyle/>
          <a:p>
            <a:pPr>
              <a:lnSpc>
                <a:spcPct val="100000"/>
              </a:lnSpc>
              <a:spcBef>
                <a:spcPts val="100"/>
              </a:spcBef>
            </a:pPr>
            <a:r>
              <a:rPr sz="1500" b="1" spc="-10" dirty="0">
                <a:latin typeface="Calibri"/>
                <a:cs typeface="Calibri"/>
              </a:rPr>
              <a:t>&lt;Name&gt;Rahul&lt;/Name&gt;</a:t>
            </a:r>
            <a:endParaRPr sz="1500">
              <a:latin typeface="Calibri"/>
              <a:cs typeface="Calibri"/>
            </a:endParaRPr>
          </a:p>
        </p:txBody>
      </p:sp>
      <p:sp>
        <p:nvSpPr>
          <p:cNvPr id="16" name="object 16"/>
          <p:cNvSpPr txBox="1"/>
          <p:nvPr/>
        </p:nvSpPr>
        <p:spPr>
          <a:xfrm>
            <a:off x="4664075" y="6030264"/>
            <a:ext cx="2684145" cy="254000"/>
          </a:xfrm>
          <a:prstGeom prst="rect">
            <a:avLst/>
          </a:prstGeom>
        </p:spPr>
        <p:txBody>
          <a:bodyPr vert="horz" wrap="square" lIns="0" tIns="12700" rIns="0" bIns="0" rtlCol="0">
            <a:spAutoFit/>
          </a:bodyPr>
          <a:lstStyle/>
          <a:p>
            <a:pPr>
              <a:lnSpc>
                <a:spcPct val="100000"/>
              </a:lnSpc>
              <a:spcBef>
                <a:spcPts val="100"/>
              </a:spcBef>
            </a:pPr>
            <a:r>
              <a:rPr sz="1500" b="1" spc="-10" dirty="0">
                <a:latin typeface="Calibri"/>
                <a:cs typeface="Calibri"/>
              </a:rPr>
              <a:t>&lt;Department&gt;CSE&lt;/Department&gt;</a:t>
            </a:r>
            <a:endParaRPr sz="1500">
              <a:latin typeface="Calibri"/>
              <a:cs typeface="Calibri"/>
            </a:endParaRPr>
          </a:p>
        </p:txBody>
      </p:sp>
      <p:sp>
        <p:nvSpPr>
          <p:cNvPr id="17" name="object 17"/>
          <p:cNvSpPr txBox="1"/>
          <p:nvPr/>
        </p:nvSpPr>
        <p:spPr>
          <a:xfrm>
            <a:off x="4578350" y="6400317"/>
            <a:ext cx="4303395" cy="366395"/>
          </a:xfrm>
          <a:prstGeom prst="rect">
            <a:avLst/>
          </a:prstGeom>
          <a:solidFill>
            <a:srgbClr val="ACC7DD"/>
          </a:solidFill>
        </p:spPr>
        <p:txBody>
          <a:bodyPr vert="horz" wrap="square" lIns="0" tIns="99695" rIns="0" bIns="0" rtlCol="0">
            <a:spAutoFit/>
          </a:bodyPr>
          <a:lstStyle/>
          <a:p>
            <a:pPr marL="85725">
              <a:lnSpc>
                <a:spcPct val="100000"/>
              </a:lnSpc>
              <a:spcBef>
                <a:spcPts val="785"/>
              </a:spcBef>
            </a:pPr>
            <a:r>
              <a:rPr sz="1500" b="1" spc="-10" dirty="0">
                <a:latin typeface="Calibri"/>
                <a:cs typeface="Calibri"/>
              </a:rPr>
              <a:t>&lt;/Student&gt;</a:t>
            </a:r>
            <a:endParaRPr sz="1500">
              <a:latin typeface="Calibri"/>
              <a:cs typeface="Calibri"/>
            </a:endParaRPr>
          </a:p>
        </p:txBody>
      </p:sp>
      <p:grpSp>
        <p:nvGrpSpPr>
          <p:cNvPr id="18" name="object 18"/>
          <p:cNvGrpSpPr/>
          <p:nvPr/>
        </p:nvGrpSpPr>
        <p:grpSpPr>
          <a:xfrm>
            <a:off x="3621023" y="1775460"/>
            <a:ext cx="5061585" cy="2098040"/>
            <a:chOff x="3621023" y="1775460"/>
            <a:chExt cx="5061585" cy="2098040"/>
          </a:xfrm>
        </p:grpSpPr>
        <p:sp>
          <p:nvSpPr>
            <p:cNvPr id="19" name="object 19"/>
            <p:cNvSpPr/>
            <p:nvPr/>
          </p:nvSpPr>
          <p:spPr>
            <a:xfrm>
              <a:off x="3668267" y="1775460"/>
              <a:ext cx="5013960" cy="2031364"/>
            </a:xfrm>
            <a:custGeom>
              <a:avLst/>
              <a:gdLst/>
              <a:ahLst/>
              <a:cxnLst/>
              <a:rect l="l" t="t" r="r" b="b"/>
              <a:pathLst>
                <a:path w="5013959" h="2031364">
                  <a:moveTo>
                    <a:pt x="5013960" y="0"/>
                  </a:moveTo>
                  <a:lnTo>
                    <a:pt x="0" y="0"/>
                  </a:lnTo>
                  <a:lnTo>
                    <a:pt x="0" y="2031364"/>
                  </a:lnTo>
                  <a:lnTo>
                    <a:pt x="5013960" y="2031364"/>
                  </a:lnTo>
                  <a:lnTo>
                    <a:pt x="5013960" y="0"/>
                  </a:lnTo>
                  <a:close/>
                </a:path>
              </a:pathLst>
            </a:custGeom>
            <a:solidFill>
              <a:srgbClr val="E7E3CC"/>
            </a:solidFill>
          </p:spPr>
          <p:txBody>
            <a:bodyPr wrap="square" lIns="0" tIns="0" rIns="0" bIns="0" rtlCol="0"/>
            <a:lstStyle/>
            <a:p>
              <a:endParaRPr/>
            </a:p>
          </p:txBody>
        </p:sp>
        <p:pic>
          <p:nvPicPr>
            <p:cNvPr id="20" name="object 20"/>
            <p:cNvPicPr/>
            <p:nvPr/>
          </p:nvPicPr>
          <p:blipFill>
            <a:blip r:embed="rId2" cstate="print"/>
            <a:stretch>
              <a:fillRect/>
            </a:stretch>
          </p:blipFill>
          <p:spPr>
            <a:xfrm>
              <a:off x="3621023" y="2020824"/>
              <a:ext cx="457962" cy="480822"/>
            </a:xfrm>
            <a:prstGeom prst="rect">
              <a:avLst/>
            </a:prstGeom>
          </p:spPr>
        </p:pic>
        <p:pic>
          <p:nvPicPr>
            <p:cNvPr id="21" name="object 21"/>
            <p:cNvPicPr/>
            <p:nvPr/>
          </p:nvPicPr>
          <p:blipFill>
            <a:blip r:embed="rId2" cstate="print"/>
            <a:stretch>
              <a:fillRect/>
            </a:stretch>
          </p:blipFill>
          <p:spPr>
            <a:xfrm>
              <a:off x="3621023" y="2295144"/>
              <a:ext cx="457962" cy="480822"/>
            </a:xfrm>
            <a:prstGeom prst="rect">
              <a:avLst/>
            </a:prstGeom>
          </p:spPr>
        </p:pic>
        <p:pic>
          <p:nvPicPr>
            <p:cNvPr id="22" name="object 22"/>
            <p:cNvPicPr/>
            <p:nvPr/>
          </p:nvPicPr>
          <p:blipFill>
            <a:blip r:embed="rId2" cstate="print"/>
            <a:stretch>
              <a:fillRect/>
            </a:stretch>
          </p:blipFill>
          <p:spPr>
            <a:xfrm>
              <a:off x="3621023" y="2569464"/>
              <a:ext cx="457962" cy="480822"/>
            </a:xfrm>
            <a:prstGeom prst="rect">
              <a:avLst/>
            </a:prstGeom>
          </p:spPr>
        </p:pic>
        <p:pic>
          <p:nvPicPr>
            <p:cNvPr id="23" name="object 23"/>
            <p:cNvPicPr/>
            <p:nvPr/>
          </p:nvPicPr>
          <p:blipFill>
            <a:blip r:embed="rId2" cstate="print"/>
            <a:stretch>
              <a:fillRect/>
            </a:stretch>
          </p:blipFill>
          <p:spPr>
            <a:xfrm>
              <a:off x="3621023" y="2843784"/>
              <a:ext cx="457962" cy="480822"/>
            </a:xfrm>
            <a:prstGeom prst="rect">
              <a:avLst/>
            </a:prstGeom>
          </p:spPr>
        </p:pic>
        <p:pic>
          <p:nvPicPr>
            <p:cNvPr id="24" name="object 24"/>
            <p:cNvPicPr/>
            <p:nvPr/>
          </p:nvPicPr>
          <p:blipFill>
            <a:blip r:embed="rId2" cstate="print"/>
            <a:stretch>
              <a:fillRect/>
            </a:stretch>
          </p:blipFill>
          <p:spPr>
            <a:xfrm>
              <a:off x="3621023" y="3118104"/>
              <a:ext cx="457962" cy="480822"/>
            </a:xfrm>
            <a:prstGeom prst="rect">
              <a:avLst/>
            </a:prstGeom>
          </p:spPr>
        </p:pic>
        <p:pic>
          <p:nvPicPr>
            <p:cNvPr id="25" name="object 25"/>
            <p:cNvPicPr/>
            <p:nvPr/>
          </p:nvPicPr>
          <p:blipFill>
            <a:blip r:embed="rId2" cstate="print"/>
            <a:stretch>
              <a:fillRect/>
            </a:stretch>
          </p:blipFill>
          <p:spPr>
            <a:xfrm>
              <a:off x="3621023" y="3392424"/>
              <a:ext cx="457962" cy="480821"/>
            </a:xfrm>
            <a:prstGeom prst="rect">
              <a:avLst/>
            </a:prstGeom>
          </p:spPr>
        </p:pic>
      </p:grpSp>
      <p:sp>
        <p:nvSpPr>
          <p:cNvPr id="26" name="object 26"/>
          <p:cNvSpPr txBox="1"/>
          <p:nvPr/>
        </p:nvSpPr>
        <p:spPr>
          <a:xfrm>
            <a:off x="3668267" y="1775460"/>
            <a:ext cx="5013960" cy="2031364"/>
          </a:xfrm>
          <a:prstGeom prst="rect">
            <a:avLst/>
          </a:prstGeom>
        </p:spPr>
        <p:txBody>
          <a:bodyPr vert="horz" wrap="square" lIns="0" tIns="30480" rIns="0" bIns="0" rtlCol="0">
            <a:spAutoFit/>
          </a:bodyPr>
          <a:lstStyle/>
          <a:p>
            <a:pPr marL="92075">
              <a:lnSpc>
                <a:spcPct val="100000"/>
              </a:lnSpc>
              <a:spcBef>
                <a:spcPts val="240"/>
              </a:spcBef>
            </a:pPr>
            <a:r>
              <a:rPr sz="1800" b="1" spc="-10" dirty="0">
                <a:latin typeface="Calibri"/>
                <a:cs typeface="Calibri"/>
              </a:rPr>
              <a:t>Characteristics</a:t>
            </a:r>
            <a:r>
              <a:rPr sz="1800" b="1" spc="-55" dirty="0">
                <a:latin typeface="Calibri"/>
                <a:cs typeface="Calibri"/>
              </a:rPr>
              <a:t> </a:t>
            </a:r>
            <a:r>
              <a:rPr sz="1800" b="1" dirty="0">
                <a:latin typeface="Calibri"/>
                <a:cs typeface="Calibri"/>
              </a:rPr>
              <a:t>of</a:t>
            </a:r>
            <a:r>
              <a:rPr sz="1800" b="1" spc="-25" dirty="0">
                <a:latin typeface="Calibri"/>
                <a:cs typeface="Calibri"/>
              </a:rPr>
              <a:t> </a:t>
            </a:r>
            <a:r>
              <a:rPr sz="1800" b="1" dirty="0">
                <a:latin typeface="Calibri"/>
                <a:cs typeface="Calibri"/>
              </a:rPr>
              <a:t>Semi-Structured</a:t>
            </a:r>
            <a:r>
              <a:rPr sz="1800" b="1" spc="-35" dirty="0">
                <a:latin typeface="Calibri"/>
                <a:cs typeface="Calibri"/>
              </a:rPr>
              <a:t> </a:t>
            </a:r>
            <a:r>
              <a:rPr sz="1800" b="1" spc="-20" dirty="0">
                <a:latin typeface="Calibri"/>
                <a:cs typeface="Calibri"/>
              </a:rPr>
              <a:t>Data</a:t>
            </a:r>
            <a:endParaRPr sz="1800">
              <a:latin typeface="Calibri"/>
              <a:cs typeface="Calibri"/>
            </a:endParaRPr>
          </a:p>
          <a:p>
            <a:pPr marL="326390" marR="2907030">
              <a:lnSpc>
                <a:spcPct val="100000"/>
              </a:lnSpc>
              <a:spcBef>
                <a:spcPts val="25"/>
              </a:spcBef>
            </a:pPr>
            <a:r>
              <a:rPr sz="1800" dirty="0">
                <a:latin typeface="Calibri"/>
                <a:cs typeface="Calibri"/>
              </a:rPr>
              <a:t>Flexible</a:t>
            </a:r>
            <a:r>
              <a:rPr sz="1800" spc="-65" dirty="0">
                <a:latin typeface="Calibri"/>
                <a:cs typeface="Calibri"/>
              </a:rPr>
              <a:t> </a:t>
            </a:r>
            <a:r>
              <a:rPr sz="1800" spc="-10" dirty="0">
                <a:latin typeface="Calibri"/>
                <a:cs typeface="Calibri"/>
              </a:rPr>
              <a:t>schema Self-describing Metadata</a:t>
            </a:r>
            <a:r>
              <a:rPr sz="1800" spc="-55" dirty="0">
                <a:latin typeface="Calibri"/>
                <a:cs typeface="Calibri"/>
              </a:rPr>
              <a:t> </a:t>
            </a:r>
            <a:r>
              <a:rPr sz="1800" spc="-10" dirty="0">
                <a:latin typeface="Calibri"/>
                <a:cs typeface="Calibri"/>
              </a:rPr>
              <a:t>available </a:t>
            </a:r>
            <a:r>
              <a:rPr sz="1800" dirty="0">
                <a:latin typeface="Calibri"/>
                <a:cs typeface="Calibri"/>
              </a:rPr>
              <a:t>Easier</a:t>
            </a:r>
            <a:r>
              <a:rPr sz="1800" spc="-60" dirty="0">
                <a:latin typeface="Calibri"/>
                <a:cs typeface="Calibri"/>
              </a:rPr>
              <a:t> </a:t>
            </a:r>
            <a:r>
              <a:rPr sz="1800" spc="-10" dirty="0">
                <a:latin typeface="Calibri"/>
                <a:cs typeface="Calibri"/>
              </a:rPr>
              <a:t>integration</a:t>
            </a:r>
            <a:endParaRPr sz="1800">
              <a:latin typeface="Calibri"/>
              <a:cs typeface="Calibri"/>
            </a:endParaRPr>
          </a:p>
          <a:p>
            <a:pPr marL="326390">
              <a:lnSpc>
                <a:spcPct val="100000"/>
              </a:lnSpc>
            </a:pPr>
            <a:r>
              <a:rPr sz="1800" spc="-10" dirty="0">
                <a:latin typeface="Calibri"/>
                <a:cs typeface="Calibri"/>
              </a:rPr>
              <a:t>Hierarchical</a:t>
            </a:r>
            <a:r>
              <a:rPr sz="1800" spc="-25" dirty="0">
                <a:latin typeface="Calibri"/>
                <a:cs typeface="Calibri"/>
              </a:rPr>
              <a:t> </a:t>
            </a:r>
            <a:r>
              <a:rPr sz="1800" spc="-10" dirty="0">
                <a:latin typeface="Calibri"/>
                <a:cs typeface="Calibri"/>
              </a:rPr>
              <a:t>structure</a:t>
            </a:r>
            <a:endParaRPr sz="1800">
              <a:latin typeface="Calibri"/>
              <a:cs typeface="Calibri"/>
            </a:endParaRPr>
          </a:p>
          <a:p>
            <a:pPr marL="326390">
              <a:lnSpc>
                <a:spcPct val="100000"/>
              </a:lnSpc>
            </a:pPr>
            <a:r>
              <a:rPr sz="1800" dirty="0">
                <a:latin typeface="Calibri"/>
                <a:cs typeface="Calibri"/>
              </a:rPr>
              <a:t>Easily</a:t>
            </a:r>
            <a:r>
              <a:rPr sz="1800" spc="-25" dirty="0">
                <a:latin typeface="Calibri"/>
                <a:cs typeface="Calibri"/>
              </a:rPr>
              <a:t> </a:t>
            </a:r>
            <a:r>
              <a:rPr sz="1800" spc="-20" dirty="0">
                <a:latin typeface="Calibri"/>
                <a:cs typeface="Calibri"/>
              </a:rPr>
              <a:t>exchanged</a:t>
            </a:r>
            <a:r>
              <a:rPr sz="1800" spc="-35" dirty="0">
                <a:latin typeface="Calibri"/>
                <a:cs typeface="Calibri"/>
              </a:rPr>
              <a:t> </a:t>
            </a:r>
            <a:r>
              <a:rPr sz="1800" dirty="0">
                <a:latin typeface="Calibri"/>
                <a:cs typeface="Calibri"/>
              </a:rPr>
              <a:t>over</a:t>
            </a:r>
            <a:r>
              <a:rPr sz="1800" spc="-10" dirty="0">
                <a:latin typeface="Calibri"/>
                <a:cs typeface="Calibri"/>
              </a:rPr>
              <a:t> Internet</a:t>
            </a:r>
            <a:endParaRPr sz="18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85876" y="-161392"/>
            <a:ext cx="6840855" cy="1463040"/>
          </a:xfrm>
          <a:prstGeom prst="rect">
            <a:avLst/>
          </a:prstGeom>
        </p:spPr>
        <p:txBody>
          <a:bodyPr vert="horz" wrap="square" lIns="0" tIns="156210" rIns="0" bIns="0" rtlCol="0">
            <a:spAutoFit/>
          </a:bodyPr>
          <a:lstStyle/>
          <a:p>
            <a:pPr marL="12700">
              <a:lnSpc>
                <a:spcPct val="100000"/>
              </a:lnSpc>
              <a:spcBef>
                <a:spcPts val="1230"/>
              </a:spcBef>
            </a:pPr>
            <a:r>
              <a:rPr sz="2200" spc="-10" dirty="0"/>
              <a:t>Unstructured</a:t>
            </a:r>
            <a:r>
              <a:rPr sz="2200" spc="-50" dirty="0"/>
              <a:t> </a:t>
            </a:r>
            <a:r>
              <a:rPr sz="2200" spc="-20" dirty="0"/>
              <a:t>Data</a:t>
            </a:r>
            <a:endParaRPr sz="2200"/>
          </a:p>
          <a:p>
            <a:pPr marL="12700" marR="5080">
              <a:lnSpc>
                <a:spcPts val="3779"/>
              </a:lnSpc>
              <a:spcBef>
                <a:spcPts val="105"/>
              </a:spcBef>
            </a:pPr>
            <a:r>
              <a:rPr sz="2200" b="0" dirty="0">
                <a:latin typeface="Calibri"/>
                <a:cs typeface="Calibri"/>
              </a:rPr>
              <a:t>Definition:</a:t>
            </a:r>
            <a:r>
              <a:rPr sz="2200" b="0" spc="-55" dirty="0">
                <a:latin typeface="Calibri"/>
                <a:cs typeface="Calibri"/>
              </a:rPr>
              <a:t> </a:t>
            </a:r>
            <a:r>
              <a:rPr sz="2200" b="0" dirty="0">
                <a:latin typeface="Calibri"/>
                <a:cs typeface="Calibri"/>
              </a:rPr>
              <a:t>Data</a:t>
            </a:r>
            <a:r>
              <a:rPr sz="2200" b="0" spc="-50" dirty="0">
                <a:latin typeface="Calibri"/>
                <a:cs typeface="Calibri"/>
              </a:rPr>
              <a:t> </a:t>
            </a:r>
            <a:r>
              <a:rPr sz="2200" b="0" dirty="0">
                <a:latin typeface="Calibri"/>
                <a:cs typeface="Calibri"/>
              </a:rPr>
              <a:t>without</a:t>
            </a:r>
            <a:r>
              <a:rPr sz="2200" b="0" spc="-45" dirty="0">
                <a:latin typeface="Calibri"/>
                <a:cs typeface="Calibri"/>
              </a:rPr>
              <a:t> </a:t>
            </a:r>
            <a:r>
              <a:rPr sz="2200" b="0" spc="-10" dirty="0">
                <a:latin typeface="Calibri"/>
                <a:cs typeface="Calibri"/>
              </a:rPr>
              <a:t>predefined</a:t>
            </a:r>
            <a:r>
              <a:rPr sz="2200" b="0" spc="-35" dirty="0">
                <a:latin typeface="Calibri"/>
                <a:cs typeface="Calibri"/>
              </a:rPr>
              <a:t> </a:t>
            </a:r>
            <a:r>
              <a:rPr sz="2200" b="0" spc="-10" dirty="0">
                <a:latin typeface="Calibri"/>
                <a:cs typeface="Calibri"/>
              </a:rPr>
              <a:t>organization</a:t>
            </a:r>
            <a:r>
              <a:rPr sz="2200" b="0" spc="-65" dirty="0">
                <a:latin typeface="Calibri"/>
                <a:cs typeface="Calibri"/>
              </a:rPr>
              <a:t> </a:t>
            </a:r>
            <a:r>
              <a:rPr sz="2200" b="0" dirty="0">
                <a:latin typeface="Calibri"/>
                <a:cs typeface="Calibri"/>
              </a:rPr>
              <a:t>or</a:t>
            </a:r>
            <a:r>
              <a:rPr sz="2200" b="0" spc="-50" dirty="0">
                <a:latin typeface="Calibri"/>
                <a:cs typeface="Calibri"/>
              </a:rPr>
              <a:t> </a:t>
            </a:r>
            <a:r>
              <a:rPr sz="2200" b="0" spc="-10" dirty="0">
                <a:latin typeface="Calibri"/>
                <a:cs typeface="Calibri"/>
              </a:rPr>
              <a:t>schema. </a:t>
            </a:r>
            <a:r>
              <a:rPr sz="2200" b="0" dirty="0">
                <a:latin typeface="Calibri"/>
                <a:cs typeface="Calibri"/>
              </a:rPr>
              <a:t>Cannot</a:t>
            </a:r>
            <a:r>
              <a:rPr sz="2200" b="0" spc="-45" dirty="0">
                <a:latin typeface="Calibri"/>
                <a:cs typeface="Calibri"/>
              </a:rPr>
              <a:t> </a:t>
            </a:r>
            <a:r>
              <a:rPr sz="2200" b="0" dirty="0">
                <a:latin typeface="Calibri"/>
                <a:cs typeface="Calibri"/>
              </a:rPr>
              <a:t>be</a:t>
            </a:r>
            <a:r>
              <a:rPr sz="2200" b="0" spc="-45" dirty="0">
                <a:latin typeface="Calibri"/>
                <a:cs typeface="Calibri"/>
              </a:rPr>
              <a:t> </a:t>
            </a:r>
            <a:r>
              <a:rPr sz="2200" b="0" spc="-10" dirty="0">
                <a:latin typeface="Calibri"/>
                <a:cs typeface="Calibri"/>
              </a:rPr>
              <a:t>stored</a:t>
            </a:r>
            <a:r>
              <a:rPr sz="2200" b="0" spc="-45" dirty="0">
                <a:latin typeface="Calibri"/>
                <a:cs typeface="Calibri"/>
              </a:rPr>
              <a:t> </a:t>
            </a:r>
            <a:r>
              <a:rPr sz="2200" b="0" dirty="0">
                <a:latin typeface="Calibri"/>
                <a:cs typeface="Calibri"/>
              </a:rPr>
              <a:t>easily</a:t>
            </a:r>
            <a:r>
              <a:rPr sz="2200" b="0" spc="-45" dirty="0">
                <a:latin typeface="Calibri"/>
                <a:cs typeface="Calibri"/>
              </a:rPr>
              <a:t> </a:t>
            </a:r>
            <a:r>
              <a:rPr sz="2200" b="0" dirty="0">
                <a:latin typeface="Calibri"/>
                <a:cs typeface="Calibri"/>
              </a:rPr>
              <a:t>inside</a:t>
            </a:r>
            <a:r>
              <a:rPr sz="2200" b="0" spc="-35" dirty="0">
                <a:latin typeface="Calibri"/>
                <a:cs typeface="Calibri"/>
              </a:rPr>
              <a:t> </a:t>
            </a:r>
            <a:r>
              <a:rPr sz="2200" b="0" dirty="0">
                <a:latin typeface="Calibri"/>
                <a:cs typeface="Calibri"/>
              </a:rPr>
              <a:t>relational</a:t>
            </a:r>
            <a:r>
              <a:rPr sz="2200" b="0" spc="-65" dirty="0">
                <a:latin typeface="Calibri"/>
                <a:cs typeface="Calibri"/>
              </a:rPr>
              <a:t> </a:t>
            </a:r>
            <a:r>
              <a:rPr sz="2200" b="0" spc="-10" dirty="0">
                <a:latin typeface="Calibri"/>
                <a:cs typeface="Calibri"/>
              </a:rPr>
              <a:t>tables.</a:t>
            </a:r>
            <a:endParaRPr sz="2200">
              <a:latin typeface="Calibri"/>
              <a:cs typeface="Calibri"/>
            </a:endParaRPr>
          </a:p>
        </p:txBody>
      </p:sp>
      <p:sp>
        <p:nvSpPr>
          <p:cNvPr id="3" name="object 3"/>
          <p:cNvSpPr txBox="1"/>
          <p:nvPr/>
        </p:nvSpPr>
        <p:spPr>
          <a:xfrm>
            <a:off x="694436" y="1277948"/>
            <a:ext cx="2025014" cy="4095115"/>
          </a:xfrm>
          <a:prstGeom prst="rect">
            <a:avLst/>
          </a:prstGeom>
        </p:spPr>
        <p:txBody>
          <a:bodyPr vert="horz" wrap="square" lIns="0" tIns="160020" rIns="0" bIns="0" rtlCol="0">
            <a:spAutoFit/>
          </a:bodyPr>
          <a:lstStyle/>
          <a:p>
            <a:pPr marL="104139">
              <a:lnSpc>
                <a:spcPct val="100000"/>
              </a:lnSpc>
              <a:spcBef>
                <a:spcPts val="1260"/>
              </a:spcBef>
            </a:pPr>
            <a:r>
              <a:rPr sz="2000" spc="-10" dirty="0">
                <a:solidFill>
                  <a:srgbClr val="404040"/>
                </a:solidFill>
                <a:latin typeface="Calibri"/>
                <a:cs typeface="Calibri"/>
              </a:rPr>
              <a:t>Examples</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spc="-10" dirty="0">
                <a:solidFill>
                  <a:srgbClr val="404040"/>
                </a:solidFill>
                <a:latin typeface="Calibri"/>
                <a:cs typeface="Calibri"/>
              </a:rPr>
              <a:t>Images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Videos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Audio</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News</a:t>
            </a:r>
            <a:r>
              <a:rPr sz="2000" spc="-60" dirty="0">
                <a:solidFill>
                  <a:srgbClr val="404040"/>
                </a:solidFill>
                <a:latin typeface="Calibri"/>
                <a:cs typeface="Calibri"/>
              </a:rPr>
              <a:t> </a:t>
            </a:r>
            <a:r>
              <a:rPr sz="2000" spc="-10" dirty="0">
                <a:solidFill>
                  <a:srgbClr val="404040"/>
                </a:solidFill>
                <a:latin typeface="Calibri"/>
                <a:cs typeface="Calibri"/>
              </a:rPr>
              <a:t>articles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20" dirty="0">
                <a:solidFill>
                  <a:srgbClr val="404040"/>
                </a:solidFill>
                <a:latin typeface="Calibri"/>
                <a:cs typeface="Calibri"/>
              </a:rPr>
              <a:t>PDFs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CCTV</a:t>
            </a:r>
            <a:r>
              <a:rPr sz="2000" spc="-30" dirty="0">
                <a:solidFill>
                  <a:srgbClr val="404040"/>
                </a:solidFill>
                <a:latin typeface="Calibri"/>
                <a:cs typeface="Calibri"/>
              </a:rPr>
              <a:t> </a:t>
            </a:r>
            <a:r>
              <a:rPr sz="2000" spc="-10" dirty="0">
                <a:solidFill>
                  <a:srgbClr val="404040"/>
                </a:solidFill>
                <a:latin typeface="Calibri"/>
                <a:cs typeface="Calibri"/>
              </a:rPr>
              <a:t>footage</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spc="-10" dirty="0">
                <a:solidFill>
                  <a:srgbClr val="404040"/>
                </a:solidFill>
                <a:latin typeface="Calibri"/>
                <a:cs typeface="Calibri"/>
              </a:rPr>
              <a:t>Satellite</a:t>
            </a:r>
            <a:r>
              <a:rPr sz="2000" spc="-30" dirty="0">
                <a:solidFill>
                  <a:srgbClr val="404040"/>
                </a:solidFill>
                <a:latin typeface="Calibri"/>
                <a:cs typeface="Calibri"/>
              </a:rPr>
              <a:t> </a:t>
            </a:r>
            <a:r>
              <a:rPr sz="2000" spc="-10" dirty="0">
                <a:solidFill>
                  <a:srgbClr val="404040"/>
                </a:solidFill>
                <a:latin typeface="Calibri"/>
                <a:cs typeface="Calibri"/>
              </a:rPr>
              <a:t>images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dirty="0">
                <a:solidFill>
                  <a:srgbClr val="404040"/>
                </a:solidFill>
                <a:latin typeface="Calibri"/>
                <a:cs typeface="Calibri"/>
              </a:rPr>
              <a:t>Social</a:t>
            </a:r>
            <a:r>
              <a:rPr sz="2000" spc="-45" dirty="0">
                <a:solidFill>
                  <a:srgbClr val="404040"/>
                </a:solidFill>
                <a:latin typeface="Calibri"/>
                <a:cs typeface="Calibri"/>
              </a:rPr>
              <a:t> </a:t>
            </a:r>
            <a:r>
              <a:rPr sz="2000" dirty="0">
                <a:solidFill>
                  <a:srgbClr val="404040"/>
                </a:solidFill>
                <a:latin typeface="Calibri"/>
                <a:cs typeface="Calibri"/>
              </a:rPr>
              <a:t>media</a:t>
            </a:r>
            <a:r>
              <a:rPr sz="2000" spc="-25" dirty="0">
                <a:solidFill>
                  <a:srgbClr val="404040"/>
                </a:solidFill>
                <a:latin typeface="Calibri"/>
                <a:cs typeface="Calibri"/>
              </a:rPr>
              <a:t> </a:t>
            </a:r>
            <a:r>
              <a:rPr sz="2000" spc="-10" dirty="0">
                <a:solidFill>
                  <a:srgbClr val="404040"/>
                </a:solidFill>
                <a:latin typeface="Calibri"/>
                <a:cs typeface="Calibri"/>
              </a:rPr>
              <a:t>posts</a:t>
            </a:r>
            <a:endParaRPr sz="2000">
              <a:latin typeface="Calibri"/>
              <a:cs typeface="Calibri"/>
            </a:endParaRPr>
          </a:p>
        </p:txBody>
      </p:sp>
      <p:sp>
        <p:nvSpPr>
          <p:cNvPr id="4" name="object 4"/>
          <p:cNvSpPr txBox="1"/>
          <p:nvPr/>
        </p:nvSpPr>
        <p:spPr>
          <a:xfrm>
            <a:off x="4181855" y="1962911"/>
            <a:ext cx="4815840" cy="2585720"/>
          </a:xfrm>
          <a:prstGeom prst="rect">
            <a:avLst/>
          </a:prstGeom>
          <a:solidFill>
            <a:srgbClr val="F3F1E6"/>
          </a:solidFill>
        </p:spPr>
        <p:txBody>
          <a:bodyPr vert="horz" wrap="square" lIns="0" tIns="30480" rIns="0" bIns="0" rtlCol="0">
            <a:spAutoFit/>
          </a:bodyPr>
          <a:lstStyle/>
          <a:p>
            <a:pPr marL="92075" marR="1261745" algn="just">
              <a:lnSpc>
                <a:spcPct val="100000"/>
              </a:lnSpc>
              <a:spcBef>
                <a:spcPts val="240"/>
              </a:spcBef>
            </a:pPr>
            <a:r>
              <a:rPr sz="1800" b="1" dirty="0">
                <a:latin typeface="Calibri"/>
                <a:cs typeface="Calibri"/>
              </a:rPr>
              <a:t>Why</a:t>
            </a:r>
            <a:r>
              <a:rPr sz="1800" b="1" spc="-5" dirty="0">
                <a:latin typeface="Calibri"/>
                <a:cs typeface="Calibri"/>
              </a:rPr>
              <a:t> </a:t>
            </a:r>
            <a:r>
              <a:rPr sz="1800" b="1" spc="-10" dirty="0">
                <a:latin typeface="Calibri"/>
                <a:cs typeface="Calibri"/>
              </a:rPr>
              <a:t>Unstructured</a:t>
            </a:r>
            <a:r>
              <a:rPr sz="1800" b="1" spc="-45" dirty="0">
                <a:latin typeface="Calibri"/>
                <a:cs typeface="Calibri"/>
              </a:rPr>
              <a:t> </a:t>
            </a:r>
            <a:r>
              <a:rPr sz="1800" b="1" dirty="0">
                <a:latin typeface="Calibri"/>
                <a:cs typeface="Calibri"/>
              </a:rPr>
              <a:t>Data</a:t>
            </a:r>
            <a:r>
              <a:rPr sz="1800" b="1" spc="-5" dirty="0">
                <a:latin typeface="Calibri"/>
                <a:cs typeface="Calibri"/>
              </a:rPr>
              <a:t> </a:t>
            </a:r>
            <a:r>
              <a:rPr sz="1800" b="1" dirty="0">
                <a:latin typeface="Calibri"/>
                <a:cs typeface="Calibri"/>
              </a:rPr>
              <a:t>is</a:t>
            </a:r>
            <a:r>
              <a:rPr sz="1800" b="1" spc="-15" dirty="0">
                <a:latin typeface="Calibri"/>
                <a:cs typeface="Calibri"/>
              </a:rPr>
              <a:t> </a:t>
            </a:r>
            <a:r>
              <a:rPr sz="1800" b="1" spc="-10" dirty="0">
                <a:latin typeface="Calibri"/>
                <a:cs typeface="Calibri"/>
              </a:rPr>
              <a:t>Important </a:t>
            </a:r>
            <a:r>
              <a:rPr sz="1800" dirty="0">
                <a:latin typeface="Calibri"/>
                <a:cs typeface="Calibri"/>
              </a:rPr>
              <a:t>Around</a:t>
            </a:r>
            <a:r>
              <a:rPr sz="1800" spc="-20" dirty="0">
                <a:latin typeface="Calibri"/>
                <a:cs typeface="Calibri"/>
              </a:rPr>
              <a:t> </a:t>
            </a:r>
            <a:r>
              <a:rPr sz="1800" b="1" spc="-20" dirty="0">
                <a:latin typeface="Calibri"/>
                <a:cs typeface="Calibri"/>
              </a:rPr>
              <a:t>80–</a:t>
            </a:r>
            <a:r>
              <a:rPr sz="1800" b="1" dirty="0">
                <a:latin typeface="Calibri"/>
                <a:cs typeface="Calibri"/>
              </a:rPr>
              <a:t>90%</a:t>
            </a:r>
            <a:r>
              <a:rPr sz="1800" b="1" spc="-20" dirty="0">
                <a:latin typeface="Calibri"/>
                <a:cs typeface="Calibri"/>
              </a:rPr>
              <a:t> </a:t>
            </a:r>
            <a:r>
              <a:rPr sz="1800" b="1" dirty="0">
                <a:latin typeface="Calibri"/>
                <a:cs typeface="Calibri"/>
              </a:rPr>
              <a:t>of</a:t>
            </a:r>
            <a:r>
              <a:rPr sz="1800" b="1" spc="-15" dirty="0">
                <a:latin typeface="Calibri"/>
                <a:cs typeface="Calibri"/>
              </a:rPr>
              <a:t> </a:t>
            </a:r>
            <a:r>
              <a:rPr sz="1800" b="1" spc="-10" dirty="0">
                <a:latin typeface="Calibri"/>
                <a:cs typeface="Calibri"/>
              </a:rPr>
              <a:t>enterprise</a:t>
            </a:r>
            <a:r>
              <a:rPr sz="1800" b="1" spc="-65" dirty="0">
                <a:latin typeface="Calibri"/>
                <a:cs typeface="Calibri"/>
              </a:rPr>
              <a:t> </a:t>
            </a:r>
            <a:r>
              <a:rPr sz="1800" b="1" dirty="0">
                <a:latin typeface="Calibri"/>
                <a:cs typeface="Calibri"/>
              </a:rPr>
              <a:t>data</a:t>
            </a:r>
            <a:r>
              <a:rPr sz="1800" b="1" spc="-25" dirty="0">
                <a:latin typeface="Calibri"/>
                <a:cs typeface="Calibri"/>
              </a:rPr>
              <a:t> </a:t>
            </a:r>
            <a:r>
              <a:rPr sz="1800" spc="-25" dirty="0">
                <a:latin typeface="Calibri"/>
                <a:cs typeface="Calibri"/>
              </a:rPr>
              <a:t>is </a:t>
            </a:r>
            <a:r>
              <a:rPr sz="1800" spc="-10" dirty="0">
                <a:latin typeface="Calibri"/>
                <a:cs typeface="Calibri"/>
              </a:rPr>
              <a:t>unstructured.</a:t>
            </a:r>
            <a:endParaRPr sz="1800">
              <a:latin typeface="Calibri"/>
              <a:cs typeface="Calibri"/>
            </a:endParaRPr>
          </a:p>
          <a:p>
            <a:pPr marL="92075">
              <a:lnSpc>
                <a:spcPct val="100000"/>
              </a:lnSpc>
              <a:spcBef>
                <a:spcPts val="5"/>
              </a:spcBef>
            </a:pPr>
            <a:r>
              <a:rPr sz="1800" dirty="0">
                <a:latin typeface="Calibri"/>
                <a:cs typeface="Calibri"/>
              </a:rPr>
              <a:t>It</a:t>
            </a:r>
            <a:r>
              <a:rPr sz="1800" spc="-35" dirty="0">
                <a:latin typeface="Calibri"/>
                <a:cs typeface="Calibri"/>
              </a:rPr>
              <a:t> </a:t>
            </a:r>
            <a:r>
              <a:rPr sz="1800" spc="-10" dirty="0">
                <a:latin typeface="Calibri"/>
                <a:cs typeface="Calibri"/>
              </a:rPr>
              <a:t>contains</a:t>
            </a:r>
            <a:r>
              <a:rPr sz="1800" spc="-35" dirty="0">
                <a:latin typeface="Calibri"/>
                <a:cs typeface="Calibri"/>
              </a:rPr>
              <a:t> </a:t>
            </a:r>
            <a:r>
              <a:rPr sz="1800" dirty="0">
                <a:latin typeface="Calibri"/>
                <a:cs typeface="Calibri"/>
              </a:rPr>
              <a:t>valuable</a:t>
            </a:r>
            <a:r>
              <a:rPr sz="1800" spc="-25" dirty="0">
                <a:latin typeface="Calibri"/>
                <a:cs typeface="Calibri"/>
              </a:rPr>
              <a:t> </a:t>
            </a:r>
            <a:r>
              <a:rPr sz="1800" spc="-10" dirty="0">
                <a:latin typeface="Calibri"/>
                <a:cs typeface="Calibri"/>
              </a:rPr>
              <a:t>information</a:t>
            </a:r>
            <a:r>
              <a:rPr sz="1800" spc="-20" dirty="0">
                <a:latin typeface="Calibri"/>
                <a:cs typeface="Calibri"/>
              </a:rPr>
              <a:t> </a:t>
            </a:r>
            <a:r>
              <a:rPr sz="1800" dirty="0">
                <a:latin typeface="Calibri"/>
                <a:cs typeface="Calibri"/>
              </a:rPr>
              <a:t>such</a:t>
            </a:r>
            <a:r>
              <a:rPr sz="1800" spc="-20" dirty="0">
                <a:latin typeface="Calibri"/>
                <a:cs typeface="Calibri"/>
              </a:rPr>
              <a:t> </a:t>
            </a:r>
            <a:r>
              <a:rPr sz="1800" spc="-25" dirty="0">
                <a:latin typeface="Calibri"/>
                <a:cs typeface="Calibri"/>
              </a:rPr>
              <a:t>as</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Customer</a:t>
            </a:r>
            <a:r>
              <a:rPr sz="1800" spc="-35" dirty="0">
                <a:latin typeface="Calibri"/>
                <a:cs typeface="Calibri"/>
              </a:rPr>
              <a:t> </a:t>
            </a:r>
            <a:r>
              <a:rPr sz="1800" spc="-10" dirty="0">
                <a:latin typeface="Calibri"/>
                <a:cs typeface="Calibri"/>
              </a:rPr>
              <a:t>opinions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Human</a:t>
            </a:r>
            <a:r>
              <a:rPr sz="1800" spc="-50" dirty="0">
                <a:latin typeface="Calibri"/>
                <a:cs typeface="Calibri"/>
              </a:rPr>
              <a:t> </a:t>
            </a:r>
            <a:r>
              <a:rPr sz="1800" spc="-10" dirty="0">
                <a:latin typeface="Calibri"/>
                <a:cs typeface="Calibri"/>
              </a:rPr>
              <a:t>emotions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Medical</a:t>
            </a:r>
            <a:r>
              <a:rPr sz="1800" spc="-50" dirty="0">
                <a:latin typeface="Calibri"/>
                <a:cs typeface="Calibri"/>
              </a:rPr>
              <a:t> </a:t>
            </a:r>
            <a:r>
              <a:rPr sz="1800" spc="-10" dirty="0">
                <a:latin typeface="Calibri"/>
                <a:cs typeface="Calibri"/>
              </a:rPr>
              <a:t>diagnosis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Security</a:t>
            </a:r>
            <a:r>
              <a:rPr sz="1800" spc="-50" dirty="0">
                <a:latin typeface="Calibri"/>
                <a:cs typeface="Calibri"/>
              </a:rPr>
              <a:t> </a:t>
            </a:r>
            <a:r>
              <a:rPr sz="1800" spc="-10" dirty="0">
                <a:latin typeface="Calibri"/>
                <a:cs typeface="Calibri"/>
              </a:rPr>
              <a:t>intelligence</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Business</a:t>
            </a:r>
            <a:r>
              <a:rPr sz="1800" spc="-100" dirty="0">
                <a:latin typeface="Calibri"/>
                <a:cs typeface="Calibri"/>
              </a:rPr>
              <a:t> </a:t>
            </a:r>
            <a:r>
              <a:rPr sz="1800" spc="-10" dirty="0">
                <a:latin typeface="Calibri"/>
                <a:cs typeface="Calibri"/>
              </a:rPr>
              <a:t>insights</a:t>
            </a:r>
            <a:endParaRPr sz="1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0259" y="57339"/>
            <a:ext cx="7259955" cy="4194175"/>
          </a:xfrm>
          <a:prstGeom prst="rect">
            <a:avLst/>
          </a:prstGeom>
        </p:spPr>
        <p:txBody>
          <a:bodyPr vert="horz" wrap="square" lIns="0" tIns="160655" rIns="0" bIns="0" rtlCol="0">
            <a:spAutoFit/>
          </a:bodyPr>
          <a:lstStyle/>
          <a:p>
            <a:pPr marL="12700">
              <a:lnSpc>
                <a:spcPct val="100000"/>
              </a:lnSpc>
              <a:spcBef>
                <a:spcPts val="1265"/>
              </a:spcBef>
            </a:pPr>
            <a:r>
              <a:rPr sz="2000" b="1" dirty="0">
                <a:solidFill>
                  <a:srgbClr val="404040"/>
                </a:solidFill>
                <a:latin typeface="Calibri"/>
                <a:cs typeface="Calibri"/>
              </a:rPr>
              <a:t>Challenges</a:t>
            </a:r>
            <a:r>
              <a:rPr sz="2000" b="1" spc="-55" dirty="0">
                <a:solidFill>
                  <a:srgbClr val="404040"/>
                </a:solidFill>
                <a:latin typeface="Calibri"/>
                <a:cs typeface="Calibri"/>
              </a:rPr>
              <a:t> </a:t>
            </a:r>
            <a:r>
              <a:rPr sz="2000" b="1" dirty="0">
                <a:solidFill>
                  <a:srgbClr val="404040"/>
                </a:solidFill>
                <a:latin typeface="Calibri"/>
                <a:cs typeface="Calibri"/>
              </a:rPr>
              <a:t>with</a:t>
            </a:r>
            <a:r>
              <a:rPr sz="2000" b="1" spc="-75" dirty="0">
                <a:solidFill>
                  <a:srgbClr val="404040"/>
                </a:solidFill>
                <a:latin typeface="Calibri"/>
                <a:cs typeface="Calibri"/>
              </a:rPr>
              <a:t> </a:t>
            </a:r>
            <a:r>
              <a:rPr sz="2000" b="1" dirty="0">
                <a:solidFill>
                  <a:srgbClr val="404040"/>
                </a:solidFill>
                <a:latin typeface="Calibri"/>
                <a:cs typeface="Calibri"/>
              </a:rPr>
              <a:t>Unstructured</a:t>
            </a:r>
            <a:r>
              <a:rPr sz="2000" b="1" spc="-80" dirty="0">
                <a:solidFill>
                  <a:srgbClr val="404040"/>
                </a:solidFill>
                <a:latin typeface="Calibri"/>
                <a:cs typeface="Calibri"/>
              </a:rPr>
              <a:t> </a:t>
            </a:r>
            <a:r>
              <a:rPr sz="2000" b="1" spc="-20" dirty="0">
                <a:solidFill>
                  <a:srgbClr val="404040"/>
                </a:solidFill>
                <a:latin typeface="Calibri"/>
                <a:cs typeface="Calibri"/>
              </a:rPr>
              <a:t>Data</a:t>
            </a:r>
            <a:endParaRPr sz="2000">
              <a:latin typeface="Calibri"/>
              <a:cs typeface="Calibri"/>
            </a:endParaRPr>
          </a:p>
          <a:p>
            <a:pPr marL="469900" indent="-457200">
              <a:lnSpc>
                <a:spcPct val="100000"/>
              </a:lnSpc>
              <a:spcBef>
                <a:spcPts val="1170"/>
              </a:spcBef>
              <a:buClr>
                <a:srgbClr val="E38312"/>
              </a:buClr>
              <a:buAutoNum type="arabicPeriod"/>
              <a:tabLst>
                <a:tab pos="469900" algn="l"/>
              </a:tabLst>
            </a:pPr>
            <a:r>
              <a:rPr sz="2000" dirty="0">
                <a:solidFill>
                  <a:srgbClr val="404040"/>
                </a:solidFill>
                <a:latin typeface="Calibri"/>
                <a:cs typeface="Calibri"/>
              </a:rPr>
              <a:t>Huge</a:t>
            </a:r>
            <a:r>
              <a:rPr sz="2000" spc="-25" dirty="0">
                <a:solidFill>
                  <a:srgbClr val="404040"/>
                </a:solidFill>
                <a:latin typeface="Calibri"/>
                <a:cs typeface="Calibri"/>
              </a:rPr>
              <a:t> </a:t>
            </a:r>
            <a:r>
              <a:rPr sz="2000" spc="-10" dirty="0">
                <a:solidFill>
                  <a:srgbClr val="404040"/>
                </a:solidFill>
                <a:latin typeface="Calibri"/>
                <a:cs typeface="Calibri"/>
              </a:rPr>
              <a:t>Volume</a:t>
            </a:r>
            <a:endParaRPr sz="2000">
              <a:latin typeface="Calibri"/>
              <a:cs typeface="Calibri"/>
            </a:endParaRPr>
          </a:p>
          <a:p>
            <a:pPr marL="469900" indent="-457200">
              <a:lnSpc>
                <a:spcPct val="100000"/>
              </a:lnSpc>
              <a:spcBef>
                <a:spcPts val="1150"/>
              </a:spcBef>
              <a:buClr>
                <a:srgbClr val="E38312"/>
              </a:buClr>
              <a:buAutoNum type="arabicPeriod"/>
              <a:tabLst>
                <a:tab pos="469900" algn="l"/>
              </a:tabLst>
            </a:pPr>
            <a:r>
              <a:rPr sz="2000" spc="-10" dirty="0">
                <a:solidFill>
                  <a:srgbClr val="404040"/>
                </a:solidFill>
                <a:latin typeface="Calibri"/>
                <a:cs typeface="Calibri"/>
              </a:rPr>
              <a:t>Storage</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spc="-10" dirty="0">
                <a:solidFill>
                  <a:srgbClr val="404040"/>
                </a:solidFill>
                <a:latin typeface="Calibri"/>
                <a:cs typeface="Calibri"/>
              </a:rPr>
              <a:t>Searching</a:t>
            </a:r>
            <a:endParaRPr sz="2000">
              <a:latin typeface="Calibri"/>
              <a:cs typeface="Calibri"/>
            </a:endParaRPr>
          </a:p>
          <a:p>
            <a:pPr marL="469900" indent="-457200">
              <a:lnSpc>
                <a:spcPct val="100000"/>
              </a:lnSpc>
              <a:spcBef>
                <a:spcPts val="1165"/>
              </a:spcBef>
              <a:buClr>
                <a:srgbClr val="E38312"/>
              </a:buClr>
              <a:buAutoNum type="arabicPeriod"/>
              <a:tabLst>
                <a:tab pos="469900" algn="l"/>
              </a:tabLst>
            </a:pPr>
            <a:r>
              <a:rPr sz="2000" spc="-10" dirty="0">
                <a:solidFill>
                  <a:srgbClr val="404040"/>
                </a:solidFill>
                <a:latin typeface="Calibri"/>
                <a:cs typeface="Calibri"/>
              </a:rPr>
              <a:t>Different</a:t>
            </a:r>
            <a:r>
              <a:rPr sz="2000" spc="-55" dirty="0">
                <a:solidFill>
                  <a:srgbClr val="404040"/>
                </a:solidFill>
                <a:latin typeface="Calibri"/>
                <a:cs typeface="Calibri"/>
              </a:rPr>
              <a:t> </a:t>
            </a:r>
            <a:r>
              <a:rPr sz="2000" dirty="0">
                <a:solidFill>
                  <a:srgbClr val="404040"/>
                </a:solidFill>
                <a:latin typeface="Calibri"/>
                <a:cs typeface="Calibri"/>
              </a:rPr>
              <a:t>Formats</a:t>
            </a:r>
            <a:r>
              <a:rPr sz="2000" spc="360" dirty="0">
                <a:solidFill>
                  <a:srgbClr val="404040"/>
                </a:solidFill>
                <a:latin typeface="Calibri"/>
                <a:cs typeface="Calibri"/>
              </a:rPr>
              <a:t> </a:t>
            </a:r>
            <a:r>
              <a:rPr sz="2000" dirty="0">
                <a:solidFill>
                  <a:srgbClr val="404040"/>
                </a:solidFill>
                <a:latin typeface="Calibri"/>
                <a:cs typeface="Calibri"/>
              </a:rPr>
              <a:t>:</a:t>
            </a:r>
            <a:r>
              <a:rPr sz="2000" spc="-55" dirty="0">
                <a:solidFill>
                  <a:srgbClr val="404040"/>
                </a:solidFill>
                <a:latin typeface="Calibri"/>
                <a:cs typeface="Calibri"/>
              </a:rPr>
              <a:t> </a:t>
            </a:r>
            <a:r>
              <a:rPr sz="2000" dirty="0">
                <a:solidFill>
                  <a:srgbClr val="404040"/>
                </a:solidFill>
                <a:latin typeface="Calibri"/>
                <a:cs typeface="Calibri"/>
              </a:rPr>
              <a:t>Images,</a:t>
            </a:r>
            <a:r>
              <a:rPr sz="2000" spc="-60" dirty="0">
                <a:solidFill>
                  <a:srgbClr val="404040"/>
                </a:solidFill>
                <a:latin typeface="Calibri"/>
                <a:cs typeface="Calibri"/>
              </a:rPr>
              <a:t> </a:t>
            </a:r>
            <a:r>
              <a:rPr sz="2000" dirty="0">
                <a:solidFill>
                  <a:srgbClr val="404040"/>
                </a:solidFill>
                <a:latin typeface="Calibri"/>
                <a:cs typeface="Calibri"/>
              </a:rPr>
              <a:t>Videos,</a:t>
            </a:r>
            <a:r>
              <a:rPr sz="2000" spc="-50" dirty="0">
                <a:solidFill>
                  <a:srgbClr val="404040"/>
                </a:solidFill>
                <a:latin typeface="Calibri"/>
                <a:cs typeface="Calibri"/>
              </a:rPr>
              <a:t> </a:t>
            </a:r>
            <a:r>
              <a:rPr sz="2000" dirty="0">
                <a:solidFill>
                  <a:srgbClr val="404040"/>
                </a:solidFill>
                <a:latin typeface="Calibri"/>
                <a:cs typeface="Calibri"/>
              </a:rPr>
              <a:t>Audio,</a:t>
            </a:r>
            <a:r>
              <a:rPr sz="2000" spc="-55" dirty="0">
                <a:solidFill>
                  <a:srgbClr val="404040"/>
                </a:solidFill>
                <a:latin typeface="Calibri"/>
                <a:cs typeface="Calibri"/>
              </a:rPr>
              <a:t> </a:t>
            </a:r>
            <a:r>
              <a:rPr sz="2000" spc="-10" dirty="0">
                <a:solidFill>
                  <a:srgbClr val="404040"/>
                </a:solidFill>
                <a:latin typeface="Calibri"/>
                <a:cs typeface="Calibri"/>
              </a:rPr>
              <a:t>PDF,Text,Emails</a:t>
            </a:r>
            <a:endParaRPr sz="2000">
              <a:latin typeface="Calibri"/>
              <a:cs typeface="Calibri"/>
            </a:endParaRPr>
          </a:p>
          <a:p>
            <a:pPr marL="469900" indent="-457200">
              <a:lnSpc>
                <a:spcPct val="100000"/>
              </a:lnSpc>
              <a:spcBef>
                <a:spcPts val="1155"/>
              </a:spcBef>
              <a:buClr>
                <a:srgbClr val="E38312"/>
              </a:buClr>
              <a:buAutoNum type="arabicPeriod"/>
              <a:tabLst>
                <a:tab pos="469900" algn="l"/>
              </a:tabLst>
            </a:pPr>
            <a:r>
              <a:rPr sz="2000" dirty="0">
                <a:solidFill>
                  <a:srgbClr val="404040"/>
                </a:solidFill>
                <a:latin typeface="Calibri"/>
                <a:cs typeface="Calibri"/>
              </a:rPr>
              <a:t>Processing</a:t>
            </a:r>
            <a:r>
              <a:rPr sz="2000" spc="-105" dirty="0">
                <a:solidFill>
                  <a:srgbClr val="404040"/>
                </a:solidFill>
                <a:latin typeface="Calibri"/>
                <a:cs typeface="Calibri"/>
              </a:rPr>
              <a:t> </a:t>
            </a:r>
            <a:r>
              <a:rPr sz="2000" spc="-10" dirty="0">
                <a:solidFill>
                  <a:srgbClr val="404040"/>
                </a:solidFill>
                <a:latin typeface="Calibri"/>
                <a:cs typeface="Calibri"/>
              </a:rPr>
              <a:t>Complexity</a:t>
            </a:r>
            <a:endParaRPr sz="2000">
              <a:latin typeface="Calibri"/>
              <a:cs typeface="Calibri"/>
            </a:endParaRPr>
          </a:p>
          <a:p>
            <a:pPr marL="469900" marR="5080" indent="-457834">
              <a:lnSpc>
                <a:spcPts val="2160"/>
              </a:lnSpc>
              <a:spcBef>
                <a:spcPts val="1435"/>
              </a:spcBef>
              <a:buClr>
                <a:srgbClr val="E38312"/>
              </a:buClr>
              <a:buAutoNum type="arabicPeriod"/>
              <a:tabLst>
                <a:tab pos="469900" algn="l"/>
              </a:tabLst>
            </a:pPr>
            <a:r>
              <a:rPr sz="2000" dirty="0">
                <a:solidFill>
                  <a:srgbClr val="404040"/>
                </a:solidFill>
                <a:latin typeface="Calibri"/>
                <a:cs typeface="Calibri"/>
              </a:rPr>
              <a:t>Poor</a:t>
            </a:r>
            <a:r>
              <a:rPr sz="2000" spc="-55" dirty="0">
                <a:solidFill>
                  <a:srgbClr val="404040"/>
                </a:solidFill>
                <a:latin typeface="Calibri"/>
                <a:cs typeface="Calibri"/>
              </a:rPr>
              <a:t> </a:t>
            </a:r>
            <a:r>
              <a:rPr sz="2000" dirty="0">
                <a:solidFill>
                  <a:srgbClr val="404040"/>
                </a:solidFill>
                <a:latin typeface="Calibri"/>
                <a:cs typeface="Calibri"/>
              </a:rPr>
              <a:t>Data</a:t>
            </a:r>
            <a:r>
              <a:rPr sz="2000" spc="-40" dirty="0">
                <a:solidFill>
                  <a:srgbClr val="404040"/>
                </a:solidFill>
                <a:latin typeface="Calibri"/>
                <a:cs typeface="Calibri"/>
              </a:rPr>
              <a:t> </a:t>
            </a:r>
            <a:r>
              <a:rPr sz="2000" spc="-10" dirty="0">
                <a:solidFill>
                  <a:srgbClr val="404040"/>
                </a:solidFill>
                <a:latin typeface="Calibri"/>
                <a:cs typeface="Calibri"/>
              </a:rPr>
              <a:t>Quality:Noise,Duplicate</a:t>
            </a:r>
            <a:r>
              <a:rPr sz="2000" spc="-30" dirty="0">
                <a:solidFill>
                  <a:srgbClr val="404040"/>
                </a:solidFill>
                <a:latin typeface="Calibri"/>
                <a:cs typeface="Calibri"/>
              </a:rPr>
              <a:t> </a:t>
            </a:r>
            <a:r>
              <a:rPr sz="2000" dirty="0">
                <a:solidFill>
                  <a:srgbClr val="404040"/>
                </a:solidFill>
                <a:latin typeface="Calibri"/>
                <a:cs typeface="Calibri"/>
              </a:rPr>
              <a:t>files,</a:t>
            </a:r>
            <a:r>
              <a:rPr sz="2000" spc="-30" dirty="0">
                <a:solidFill>
                  <a:srgbClr val="404040"/>
                </a:solidFill>
                <a:latin typeface="Calibri"/>
                <a:cs typeface="Calibri"/>
              </a:rPr>
              <a:t> </a:t>
            </a:r>
            <a:r>
              <a:rPr sz="2000" dirty="0">
                <a:solidFill>
                  <a:srgbClr val="404040"/>
                </a:solidFill>
                <a:latin typeface="Calibri"/>
                <a:cs typeface="Calibri"/>
              </a:rPr>
              <a:t>Corrupted</a:t>
            </a:r>
            <a:r>
              <a:rPr sz="2000" spc="-45" dirty="0">
                <a:solidFill>
                  <a:srgbClr val="404040"/>
                </a:solidFill>
                <a:latin typeface="Calibri"/>
                <a:cs typeface="Calibri"/>
              </a:rPr>
              <a:t> </a:t>
            </a:r>
            <a:r>
              <a:rPr sz="2000" dirty="0">
                <a:solidFill>
                  <a:srgbClr val="404040"/>
                </a:solidFill>
                <a:latin typeface="Calibri"/>
                <a:cs typeface="Calibri"/>
              </a:rPr>
              <a:t>media,</a:t>
            </a:r>
            <a:r>
              <a:rPr sz="2000" spc="-40" dirty="0">
                <a:solidFill>
                  <a:srgbClr val="404040"/>
                </a:solidFill>
                <a:latin typeface="Calibri"/>
                <a:cs typeface="Calibri"/>
              </a:rPr>
              <a:t> </a:t>
            </a:r>
            <a:r>
              <a:rPr sz="2000" spc="-10" dirty="0">
                <a:solidFill>
                  <a:srgbClr val="404040"/>
                </a:solidFill>
                <a:latin typeface="Calibri"/>
                <a:cs typeface="Calibri"/>
              </a:rPr>
              <a:t>Missing metadata</a:t>
            </a:r>
            <a:endParaRPr sz="2000">
              <a:latin typeface="Calibri"/>
              <a:cs typeface="Calibri"/>
            </a:endParaRPr>
          </a:p>
          <a:p>
            <a:pPr marL="469900" marR="208279" indent="-457834">
              <a:lnSpc>
                <a:spcPts val="2160"/>
              </a:lnSpc>
              <a:spcBef>
                <a:spcPts val="1405"/>
              </a:spcBef>
              <a:buClr>
                <a:srgbClr val="E38312"/>
              </a:buClr>
              <a:buAutoNum type="arabicPeriod"/>
              <a:tabLst>
                <a:tab pos="469900" algn="l"/>
              </a:tabLst>
            </a:pPr>
            <a:r>
              <a:rPr sz="2000" dirty="0">
                <a:solidFill>
                  <a:srgbClr val="404040"/>
                </a:solidFill>
                <a:latin typeface="Calibri"/>
                <a:cs typeface="Calibri"/>
              </a:rPr>
              <a:t>Privacy</a:t>
            </a:r>
            <a:r>
              <a:rPr sz="2000" spc="-35" dirty="0">
                <a:solidFill>
                  <a:srgbClr val="404040"/>
                </a:solidFill>
                <a:latin typeface="Calibri"/>
                <a:cs typeface="Calibri"/>
              </a:rPr>
              <a:t> </a:t>
            </a:r>
            <a:r>
              <a:rPr sz="2000" spc="-10" dirty="0">
                <a:solidFill>
                  <a:srgbClr val="404040"/>
                </a:solidFill>
                <a:latin typeface="Calibri"/>
                <a:cs typeface="Calibri"/>
              </a:rPr>
              <a:t>Issues,Medical</a:t>
            </a:r>
            <a:r>
              <a:rPr sz="2000" spc="-25" dirty="0">
                <a:solidFill>
                  <a:srgbClr val="404040"/>
                </a:solidFill>
                <a:latin typeface="Calibri"/>
                <a:cs typeface="Calibri"/>
              </a:rPr>
              <a:t> </a:t>
            </a:r>
            <a:r>
              <a:rPr sz="2000" spc="-10" dirty="0">
                <a:solidFill>
                  <a:srgbClr val="404040"/>
                </a:solidFill>
                <a:latin typeface="Calibri"/>
                <a:cs typeface="Calibri"/>
              </a:rPr>
              <a:t>images,Personal</a:t>
            </a:r>
            <a:r>
              <a:rPr sz="2000" spc="-15" dirty="0">
                <a:solidFill>
                  <a:srgbClr val="404040"/>
                </a:solidFill>
                <a:latin typeface="Calibri"/>
                <a:cs typeface="Calibri"/>
              </a:rPr>
              <a:t> </a:t>
            </a:r>
            <a:r>
              <a:rPr sz="2000" spc="-20" dirty="0">
                <a:solidFill>
                  <a:srgbClr val="404040"/>
                </a:solidFill>
                <a:latin typeface="Calibri"/>
                <a:cs typeface="Calibri"/>
              </a:rPr>
              <a:t>videos,Voice</a:t>
            </a:r>
            <a:r>
              <a:rPr sz="2000" spc="-50" dirty="0">
                <a:solidFill>
                  <a:srgbClr val="404040"/>
                </a:solidFill>
                <a:latin typeface="Calibri"/>
                <a:cs typeface="Calibri"/>
              </a:rPr>
              <a:t> </a:t>
            </a:r>
            <a:r>
              <a:rPr sz="2000" spc="-10" dirty="0">
                <a:solidFill>
                  <a:srgbClr val="404040"/>
                </a:solidFill>
                <a:latin typeface="Calibri"/>
                <a:cs typeface="Calibri"/>
              </a:rPr>
              <a:t>recordings, </a:t>
            </a:r>
            <a:r>
              <a:rPr sz="2000" dirty="0">
                <a:solidFill>
                  <a:srgbClr val="404040"/>
                </a:solidFill>
                <a:latin typeface="Calibri"/>
                <a:cs typeface="Calibri"/>
              </a:rPr>
              <a:t>Sensitive</a:t>
            </a:r>
            <a:r>
              <a:rPr sz="2000" spc="-105" dirty="0">
                <a:solidFill>
                  <a:srgbClr val="404040"/>
                </a:solidFill>
                <a:latin typeface="Calibri"/>
                <a:cs typeface="Calibri"/>
              </a:rPr>
              <a:t> </a:t>
            </a:r>
            <a:r>
              <a:rPr sz="2000" spc="-10" dirty="0">
                <a:solidFill>
                  <a:srgbClr val="404040"/>
                </a:solidFill>
                <a:latin typeface="Calibri"/>
                <a:cs typeface="Calibri"/>
              </a:rPr>
              <a:t>documents</a:t>
            </a:r>
            <a:endParaRPr sz="20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26083" y="988821"/>
            <a:ext cx="3620135" cy="391160"/>
          </a:xfrm>
          <a:prstGeom prst="rect">
            <a:avLst/>
          </a:prstGeom>
        </p:spPr>
        <p:txBody>
          <a:bodyPr vert="horz" wrap="square" lIns="0" tIns="12700" rIns="0" bIns="0" rtlCol="0">
            <a:spAutoFit/>
          </a:bodyPr>
          <a:lstStyle/>
          <a:p>
            <a:pPr marL="12700">
              <a:lnSpc>
                <a:spcPct val="100000"/>
              </a:lnSpc>
              <a:spcBef>
                <a:spcPts val="100"/>
              </a:spcBef>
            </a:pPr>
            <a:r>
              <a:rPr sz="2400" dirty="0"/>
              <a:t>Handling</a:t>
            </a:r>
            <a:r>
              <a:rPr sz="2400" spc="-85" dirty="0"/>
              <a:t> </a:t>
            </a:r>
            <a:r>
              <a:rPr sz="2400" dirty="0"/>
              <a:t>Unstructured</a:t>
            </a:r>
            <a:r>
              <a:rPr sz="2400" spc="-65" dirty="0"/>
              <a:t> </a:t>
            </a:r>
            <a:r>
              <a:rPr sz="2400" spc="-10" dirty="0"/>
              <a:t>data:</a:t>
            </a:r>
            <a:endParaRPr sz="2400"/>
          </a:p>
        </p:txBody>
      </p:sp>
      <p:sp>
        <p:nvSpPr>
          <p:cNvPr id="3" name="object 3"/>
          <p:cNvSpPr txBox="1"/>
          <p:nvPr/>
        </p:nvSpPr>
        <p:spPr>
          <a:xfrm>
            <a:off x="791972" y="2019046"/>
            <a:ext cx="6967220" cy="3043555"/>
          </a:xfrm>
          <a:prstGeom prst="rect">
            <a:avLst/>
          </a:prstGeom>
        </p:spPr>
        <p:txBody>
          <a:bodyPr vert="horz" wrap="square" lIns="0" tIns="12700" rIns="0" bIns="0" rtlCol="0">
            <a:spAutoFit/>
          </a:bodyPr>
          <a:lstStyle/>
          <a:p>
            <a:pPr marL="299085" marR="328295" indent="-287020">
              <a:lnSpc>
                <a:spcPct val="100000"/>
              </a:lnSpc>
              <a:spcBef>
                <a:spcPts val="100"/>
              </a:spcBef>
              <a:buFont typeface="Tahoma"/>
              <a:buChar char="•"/>
              <a:tabLst>
                <a:tab pos="299085" algn="l"/>
              </a:tabLst>
            </a:pPr>
            <a:r>
              <a:rPr sz="1800" spc="-10" dirty="0">
                <a:latin typeface="Calibri"/>
                <a:cs typeface="Calibri"/>
              </a:rPr>
              <a:t>Unstructured</a:t>
            </a:r>
            <a:r>
              <a:rPr sz="1800" spc="-20" dirty="0">
                <a:latin typeface="Calibri"/>
                <a:cs typeface="Calibri"/>
              </a:rPr>
              <a:t> </a:t>
            </a:r>
            <a:r>
              <a:rPr sz="1800" dirty="0">
                <a:latin typeface="Calibri"/>
                <a:cs typeface="Calibri"/>
              </a:rPr>
              <a:t>data</a:t>
            </a:r>
            <a:r>
              <a:rPr sz="1800" spc="-35" dirty="0">
                <a:latin typeface="Calibri"/>
                <a:cs typeface="Calibri"/>
              </a:rPr>
              <a:t> </a:t>
            </a:r>
            <a:r>
              <a:rPr sz="1800" dirty="0">
                <a:latin typeface="Calibri"/>
                <a:cs typeface="Calibri"/>
              </a:rPr>
              <a:t>accounts</a:t>
            </a:r>
            <a:r>
              <a:rPr sz="1800" spc="-20" dirty="0">
                <a:latin typeface="Calibri"/>
                <a:cs typeface="Calibri"/>
              </a:rPr>
              <a:t> </a:t>
            </a:r>
            <a:r>
              <a:rPr sz="1800" dirty="0">
                <a:latin typeface="Calibri"/>
                <a:cs typeface="Calibri"/>
              </a:rPr>
              <a:t>for</a:t>
            </a:r>
            <a:r>
              <a:rPr sz="1800" spc="-35" dirty="0">
                <a:latin typeface="Calibri"/>
                <a:cs typeface="Calibri"/>
              </a:rPr>
              <a:t> </a:t>
            </a:r>
            <a:r>
              <a:rPr sz="1800" dirty="0">
                <a:latin typeface="Calibri"/>
                <a:cs typeface="Calibri"/>
              </a:rPr>
              <a:t>nearly</a:t>
            </a:r>
            <a:r>
              <a:rPr sz="1800" spc="-15" dirty="0">
                <a:latin typeface="Calibri"/>
                <a:cs typeface="Calibri"/>
              </a:rPr>
              <a:t> </a:t>
            </a:r>
            <a:r>
              <a:rPr sz="1800" b="1" spc="-20" dirty="0">
                <a:latin typeface="Calibri"/>
                <a:cs typeface="Calibri"/>
              </a:rPr>
              <a:t>80–</a:t>
            </a:r>
            <a:r>
              <a:rPr sz="1800" b="1" dirty="0">
                <a:latin typeface="Calibri"/>
                <a:cs typeface="Calibri"/>
              </a:rPr>
              <a:t>90%</a:t>
            </a:r>
            <a:r>
              <a:rPr sz="1800" b="1" spc="-20" dirty="0">
                <a:latin typeface="Calibri"/>
                <a:cs typeface="Calibri"/>
              </a:rPr>
              <a:t> </a:t>
            </a:r>
            <a:r>
              <a:rPr sz="1800" b="1" dirty="0">
                <a:latin typeface="Calibri"/>
                <a:cs typeface="Calibri"/>
              </a:rPr>
              <a:t>of</a:t>
            </a:r>
            <a:r>
              <a:rPr sz="1800" b="1" spc="-35" dirty="0">
                <a:latin typeface="Calibri"/>
                <a:cs typeface="Calibri"/>
              </a:rPr>
              <a:t> </a:t>
            </a:r>
            <a:r>
              <a:rPr sz="1800" b="1" dirty="0">
                <a:latin typeface="Calibri"/>
                <a:cs typeface="Calibri"/>
              </a:rPr>
              <a:t>the</a:t>
            </a:r>
            <a:r>
              <a:rPr sz="1800" b="1" spc="-40" dirty="0">
                <a:latin typeface="Calibri"/>
                <a:cs typeface="Calibri"/>
              </a:rPr>
              <a:t> </a:t>
            </a:r>
            <a:r>
              <a:rPr sz="1800" b="1" dirty="0">
                <a:latin typeface="Calibri"/>
                <a:cs typeface="Calibri"/>
              </a:rPr>
              <a:t>world's</a:t>
            </a:r>
            <a:r>
              <a:rPr sz="1800" b="1" spc="-60" dirty="0">
                <a:latin typeface="Calibri"/>
                <a:cs typeface="Calibri"/>
              </a:rPr>
              <a:t> </a:t>
            </a:r>
            <a:r>
              <a:rPr sz="1800" b="1" spc="-10" dirty="0">
                <a:latin typeface="Calibri"/>
                <a:cs typeface="Calibri"/>
              </a:rPr>
              <a:t>digital data</a:t>
            </a:r>
            <a:r>
              <a:rPr sz="1800" spc="-10" dirty="0">
                <a:latin typeface="Calibri"/>
                <a:cs typeface="Calibri"/>
              </a:rPr>
              <a:t>.</a:t>
            </a:r>
            <a:endParaRPr sz="1800">
              <a:latin typeface="Calibri"/>
              <a:cs typeface="Calibri"/>
            </a:endParaRPr>
          </a:p>
          <a:p>
            <a:pPr marL="299085" indent="-286385">
              <a:lnSpc>
                <a:spcPct val="100000"/>
              </a:lnSpc>
              <a:spcBef>
                <a:spcPts val="2160"/>
              </a:spcBef>
              <a:buFont typeface="Tahoma"/>
              <a:buChar char="•"/>
              <a:tabLst>
                <a:tab pos="299085" algn="l"/>
              </a:tabLst>
            </a:pPr>
            <a:r>
              <a:rPr sz="1800" dirty="0">
                <a:latin typeface="Calibri"/>
                <a:cs typeface="Calibri"/>
              </a:rPr>
              <a:t>Unlike</a:t>
            </a:r>
            <a:r>
              <a:rPr sz="1800" spc="-20" dirty="0">
                <a:latin typeface="Calibri"/>
                <a:cs typeface="Calibri"/>
              </a:rPr>
              <a:t> </a:t>
            </a:r>
            <a:r>
              <a:rPr sz="1800" spc="-10" dirty="0">
                <a:latin typeface="Calibri"/>
                <a:cs typeface="Calibri"/>
              </a:rPr>
              <a:t>structured</a:t>
            </a:r>
            <a:r>
              <a:rPr sz="1800" spc="-15" dirty="0">
                <a:latin typeface="Calibri"/>
                <a:cs typeface="Calibri"/>
              </a:rPr>
              <a:t> </a:t>
            </a:r>
            <a:r>
              <a:rPr sz="1800" dirty="0">
                <a:latin typeface="Calibri"/>
                <a:cs typeface="Calibri"/>
              </a:rPr>
              <a:t>data,</a:t>
            </a:r>
            <a:r>
              <a:rPr sz="1800" spc="-30" dirty="0">
                <a:latin typeface="Calibri"/>
                <a:cs typeface="Calibri"/>
              </a:rPr>
              <a:t> </a:t>
            </a:r>
            <a:r>
              <a:rPr sz="1800" dirty="0">
                <a:latin typeface="Calibri"/>
                <a:cs typeface="Calibri"/>
              </a:rPr>
              <a:t>it</a:t>
            </a:r>
            <a:r>
              <a:rPr sz="1800" spc="-25" dirty="0">
                <a:latin typeface="Calibri"/>
                <a:cs typeface="Calibri"/>
              </a:rPr>
              <a:t> </a:t>
            </a:r>
            <a:r>
              <a:rPr sz="1800" dirty="0">
                <a:latin typeface="Calibri"/>
                <a:cs typeface="Calibri"/>
              </a:rPr>
              <a:t>has</a:t>
            </a:r>
            <a:r>
              <a:rPr sz="1800" spc="-30" dirty="0">
                <a:latin typeface="Calibri"/>
                <a:cs typeface="Calibri"/>
              </a:rPr>
              <a:t> </a:t>
            </a:r>
            <a:r>
              <a:rPr sz="1800" b="1" dirty="0">
                <a:latin typeface="Calibri"/>
                <a:cs typeface="Calibri"/>
              </a:rPr>
              <a:t>no</a:t>
            </a:r>
            <a:r>
              <a:rPr sz="1800" b="1" spc="-40" dirty="0">
                <a:latin typeface="Calibri"/>
                <a:cs typeface="Calibri"/>
              </a:rPr>
              <a:t> </a:t>
            </a:r>
            <a:r>
              <a:rPr sz="1800" b="1" dirty="0">
                <a:latin typeface="Calibri"/>
                <a:cs typeface="Calibri"/>
              </a:rPr>
              <a:t>predefined</a:t>
            </a:r>
            <a:r>
              <a:rPr sz="1800" b="1" spc="-75" dirty="0">
                <a:latin typeface="Calibri"/>
                <a:cs typeface="Calibri"/>
              </a:rPr>
              <a:t> </a:t>
            </a:r>
            <a:r>
              <a:rPr sz="1800" b="1" dirty="0">
                <a:latin typeface="Calibri"/>
                <a:cs typeface="Calibri"/>
              </a:rPr>
              <a:t>schema</a:t>
            </a:r>
            <a:r>
              <a:rPr sz="1800" b="1" spc="-65" dirty="0">
                <a:latin typeface="Calibri"/>
                <a:cs typeface="Calibri"/>
              </a:rPr>
              <a:t> </a:t>
            </a:r>
            <a:r>
              <a:rPr sz="1800" b="1" dirty="0">
                <a:latin typeface="Calibri"/>
                <a:cs typeface="Calibri"/>
              </a:rPr>
              <a:t>or</a:t>
            </a:r>
            <a:r>
              <a:rPr sz="1800" b="1" spc="-35" dirty="0">
                <a:latin typeface="Calibri"/>
                <a:cs typeface="Calibri"/>
              </a:rPr>
              <a:t> </a:t>
            </a:r>
            <a:r>
              <a:rPr sz="1800" b="1" dirty="0">
                <a:latin typeface="Calibri"/>
                <a:cs typeface="Calibri"/>
              </a:rPr>
              <a:t>table</a:t>
            </a:r>
            <a:r>
              <a:rPr sz="1800" b="1" spc="-45" dirty="0">
                <a:latin typeface="Calibri"/>
                <a:cs typeface="Calibri"/>
              </a:rPr>
              <a:t> </a:t>
            </a:r>
            <a:r>
              <a:rPr sz="1800" b="1" spc="-10" dirty="0">
                <a:latin typeface="Calibri"/>
                <a:cs typeface="Calibri"/>
              </a:rPr>
              <a:t>format</a:t>
            </a:r>
            <a:r>
              <a:rPr sz="1800" spc="-10" dirty="0">
                <a:latin typeface="Calibri"/>
                <a:cs typeface="Calibri"/>
              </a:rPr>
              <a:t>.</a:t>
            </a:r>
            <a:endParaRPr sz="1800">
              <a:latin typeface="Calibri"/>
              <a:cs typeface="Calibri"/>
            </a:endParaRPr>
          </a:p>
          <a:p>
            <a:pPr marL="299085" marR="250825" indent="-287020">
              <a:lnSpc>
                <a:spcPct val="100000"/>
              </a:lnSpc>
              <a:spcBef>
                <a:spcPts val="2160"/>
              </a:spcBef>
              <a:buFont typeface="Tahoma"/>
              <a:buChar char="•"/>
              <a:tabLst>
                <a:tab pos="299085" algn="l"/>
              </a:tabLst>
            </a:pPr>
            <a:r>
              <a:rPr sz="1800" spc="-10" dirty="0">
                <a:latin typeface="Calibri"/>
                <a:cs typeface="Calibri"/>
              </a:rPr>
              <a:t>Examples</a:t>
            </a:r>
            <a:r>
              <a:rPr sz="1800" spc="-55" dirty="0">
                <a:latin typeface="Calibri"/>
                <a:cs typeface="Calibri"/>
              </a:rPr>
              <a:t> </a:t>
            </a:r>
            <a:r>
              <a:rPr sz="1800" dirty="0">
                <a:latin typeface="Calibri"/>
                <a:cs typeface="Calibri"/>
              </a:rPr>
              <a:t>include</a:t>
            </a:r>
            <a:r>
              <a:rPr sz="1800" spc="-40" dirty="0">
                <a:latin typeface="Calibri"/>
                <a:cs typeface="Calibri"/>
              </a:rPr>
              <a:t> </a:t>
            </a:r>
            <a:r>
              <a:rPr sz="1800" dirty="0">
                <a:latin typeface="Calibri"/>
                <a:cs typeface="Calibri"/>
              </a:rPr>
              <a:t>text</a:t>
            </a:r>
            <a:r>
              <a:rPr sz="1800" spc="-65" dirty="0">
                <a:latin typeface="Calibri"/>
                <a:cs typeface="Calibri"/>
              </a:rPr>
              <a:t> </a:t>
            </a:r>
            <a:r>
              <a:rPr sz="1800" dirty="0">
                <a:latin typeface="Calibri"/>
                <a:cs typeface="Calibri"/>
              </a:rPr>
              <a:t>documents,</a:t>
            </a:r>
            <a:r>
              <a:rPr sz="1800" spc="-55" dirty="0">
                <a:latin typeface="Calibri"/>
                <a:cs typeface="Calibri"/>
              </a:rPr>
              <a:t> </a:t>
            </a:r>
            <a:r>
              <a:rPr sz="1800" dirty="0">
                <a:latin typeface="Calibri"/>
                <a:cs typeface="Calibri"/>
              </a:rPr>
              <a:t>emails,</a:t>
            </a:r>
            <a:r>
              <a:rPr sz="1800" spc="-55" dirty="0">
                <a:latin typeface="Calibri"/>
                <a:cs typeface="Calibri"/>
              </a:rPr>
              <a:t> </a:t>
            </a:r>
            <a:r>
              <a:rPr sz="1800" dirty="0">
                <a:latin typeface="Calibri"/>
                <a:cs typeface="Calibri"/>
              </a:rPr>
              <a:t>images,</a:t>
            </a:r>
            <a:r>
              <a:rPr sz="1800" spc="-55" dirty="0">
                <a:latin typeface="Calibri"/>
                <a:cs typeface="Calibri"/>
              </a:rPr>
              <a:t> </a:t>
            </a:r>
            <a:r>
              <a:rPr sz="1800" dirty="0">
                <a:latin typeface="Calibri"/>
                <a:cs typeface="Calibri"/>
              </a:rPr>
              <a:t>videos,</a:t>
            </a:r>
            <a:r>
              <a:rPr sz="1800" spc="-65" dirty="0">
                <a:latin typeface="Calibri"/>
                <a:cs typeface="Calibri"/>
              </a:rPr>
              <a:t> </a:t>
            </a:r>
            <a:r>
              <a:rPr sz="1800" spc="-10" dirty="0">
                <a:latin typeface="Calibri"/>
                <a:cs typeface="Calibri"/>
              </a:rPr>
              <a:t>audio recordings,</a:t>
            </a:r>
            <a:r>
              <a:rPr sz="1800" spc="-50" dirty="0">
                <a:latin typeface="Calibri"/>
                <a:cs typeface="Calibri"/>
              </a:rPr>
              <a:t> </a:t>
            </a:r>
            <a:r>
              <a:rPr sz="1800" dirty="0">
                <a:latin typeface="Calibri"/>
                <a:cs typeface="Calibri"/>
              </a:rPr>
              <a:t>social</a:t>
            </a:r>
            <a:r>
              <a:rPr sz="1800" spc="-50" dirty="0">
                <a:latin typeface="Calibri"/>
                <a:cs typeface="Calibri"/>
              </a:rPr>
              <a:t> </a:t>
            </a:r>
            <a:r>
              <a:rPr sz="1800" dirty="0">
                <a:latin typeface="Calibri"/>
                <a:cs typeface="Calibri"/>
              </a:rPr>
              <a:t>media</a:t>
            </a:r>
            <a:r>
              <a:rPr sz="1800" spc="-45" dirty="0">
                <a:latin typeface="Calibri"/>
                <a:cs typeface="Calibri"/>
              </a:rPr>
              <a:t> </a:t>
            </a:r>
            <a:r>
              <a:rPr sz="1800" dirty="0">
                <a:latin typeface="Calibri"/>
                <a:cs typeface="Calibri"/>
              </a:rPr>
              <a:t>posts,</a:t>
            </a:r>
            <a:r>
              <a:rPr sz="1800" spc="-50" dirty="0">
                <a:latin typeface="Calibri"/>
                <a:cs typeface="Calibri"/>
              </a:rPr>
              <a:t> </a:t>
            </a:r>
            <a:r>
              <a:rPr sz="1800" dirty="0">
                <a:latin typeface="Calibri"/>
                <a:cs typeface="Calibri"/>
              </a:rPr>
              <a:t>medical</a:t>
            </a:r>
            <a:r>
              <a:rPr sz="1800" spc="-50" dirty="0">
                <a:latin typeface="Calibri"/>
                <a:cs typeface="Calibri"/>
              </a:rPr>
              <a:t> </a:t>
            </a:r>
            <a:r>
              <a:rPr sz="1800" dirty="0">
                <a:latin typeface="Calibri"/>
                <a:cs typeface="Calibri"/>
              </a:rPr>
              <a:t>images,</a:t>
            </a:r>
            <a:r>
              <a:rPr sz="1800" spc="-50" dirty="0">
                <a:latin typeface="Calibri"/>
                <a:cs typeface="Calibri"/>
              </a:rPr>
              <a:t> </a:t>
            </a:r>
            <a:r>
              <a:rPr sz="1800" dirty="0">
                <a:latin typeface="Calibri"/>
                <a:cs typeface="Calibri"/>
              </a:rPr>
              <a:t>and</a:t>
            </a:r>
            <a:r>
              <a:rPr sz="1800" spc="-40" dirty="0">
                <a:latin typeface="Calibri"/>
                <a:cs typeface="Calibri"/>
              </a:rPr>
              <a:t> </a:t>
            </a:r>
            <a:r>
              <a:rPr sz="1800" dirty="0">
                <a:latin typeface="Calibri"/>
                <a:cs typeface="Calibri"/>
              </a:rPr>
              <a:t>satellite</a:t>
            </a:r>
            <a:r>
              <a:rPr sz="1800" spc="-40" dirty="0">
                <a:latin typeface="Calibri"/>
                <a:cs typeface="Calibri"/>
              </a:rPr>
              <a:t> </a:t>
            </a:r>
            <a:r>
              <a:rPr sz="1800" spc="-10" dirty="0">
                <a:latin typeface="Calibri"/>
                <a:cs typeface="Calibri"/>
              </a:rPr>
              <a:t>imagery.</a:t>
            </a:r>
            <a:endParaRPr sz="1800">
              <a:latin typeface="Calibri"/>
              <a:cs typeface="Calibri"/>
            </a:endParaRPr>
          </a:p>
          <a:p>
            <a:pPr marL="299085" marR="5080" indent="-287020">
              <a:lnSpc>
                <a:spcPct val="100000"/>
              </a:lnSpc>
              <a:spcBef>
                <a:spcPts val="2160"/>
              </a:spcBef>
              <a:buFont typeface="Tahoma"/>
              <a:buChar char="•"/>
              <a:tabLst>
                <a:tab pos="299085" algn="l"/>
              </a:tabLst>
            </a:pPr>
            <a:r>
              <a:rPr sz="1800" dirty="0">
                <a:latin typeface="Calibri"/>
                <a:cs typeface="Calibri"/>
              </a:rPr>
              <a:t>Processing</a:t>
            </a:r>
            <a:r>
              <a:rPr sz="1800" spc="-55" dirty="0">
                <a:latin typeface="Calibri"/>
                <a:cs typeface="Calibri"/>
              </a:rPr>
              <a:t> </a:t>
            </a:r>
            <a:r>
              <a:rPr sz="1800" dirty="0">
                <a:latin typeface="Calibri"/>
                <a:cs typeface="Calibri"/>
              </a:rPr>
              <a:t>such</a:t>
            </a:r>
            <a:r>
              <a:rPr sz="1800" spc="-55" dirty="0">
                <a:latin typeface="Calibri"/>
                <a:cs typeface="Calibri"/>
              </a:rPr>
              <a:t> </a:t>
            </a:r>
            <a:r>
              <a:rPr sz="1800" dirty="0">
                <a:latin typeface="Calibri"/>
                <a:cs typeface="Calibri"/>
              </a:rPr>
              <a:t>data</a:t>
            </a:r>
            <a:r>
              <a:rPr sz="1800" spc="-40" dirty="0">
                <a:latin typeface="Calibri"/>
                <a:cs typeface="Calibri"/>
              </a:rPr>
              <a:t> </a:t>
            </a:r>
            <a:r>
              <a:rPr sz="1800" spc="-10" dirty="0">
                <a:latin typeface="Calibri"/>
                <a:cs typeface="Calibri"/>
              </a:rPr>
              <a:t>requires</a:t>
            </a:r>
            <a:r>
              <a:rPr sz="1800" spc="-50" dirty="0">
                <a:latin typeface="Calibri"/>
                <a:cs typeface="Calibri"/>
              </a:rPr>
              <a:t> </a:t>
            </a:r>
            <a:r>
              <a:rPr sz="1800" dirty="0">
                <a:latin typeface="Calibri"/>
                <a:cs typeface="Calibri"/>
              </a:rPr>
              <a:t>a</a:t>
            </a:r>
            <a:r>
              <a:rPr sz="1800" spc="-50" dirty="0">
                <a:latin typeface="Calibri"/>
                <a:cs typeface="Calibri"/>
              </a:rPr>
              <a:t> </a:t>
            </a:r>
            <a:r>
              <a:rPr sz="1800" spc="-10" dirty="0">
                <a:latin typeface="Calibri"/>
                <a:cs typeface="Calibri"/>
              </a:rPr>
              <a:t>systematic</a:t>
            </a:r>
            <a:r>
              <a:rPr sz="1800" spc="-60" dirty="0">
                <a:latin typeface="Calibri"/>
                <a:cs typeface="Calibri"/>
              </a:rPr>
              <a:t> </a:t>
            </a:r>
            <a:r>
              <a:rPr sz="1800" dirty="0">
                <a:latin typeface="Calibri"/>
                <a:cs typeface="Calibri"/>
              </a:rPr>
              <a:t>workflow</a:t>
            </a:r>
            <a:r>
              <a:rPr sz="1800" spc="-50" dirty="0">
                <a:latin typeface="Calibri"/>
                <a:cs typeface="Calibri"/>
              </a:rPr>
              <a:t> </a:t>
            </a:r>
            <a:r>
              <a:rPr sz="1800" dirty="0">
                <a:latin typeface="Calibri"/>
                <a:cs typeface="Calibri"/>
              </a:rPr>
              <a:t>involving</a:t>
            </a:r>
            <a:r>
              <a:rPr sz="1800" spc="-40" dirty="0">
                <a:latin typeface="Calibri"/>
                <a:cs typeface="Calibri"/>
              </a:rPr>
              <a:t> </a:t>
            </a:r>
            <a:r>
              <a:rPr sz="1800" spc="-20" dirty="0">
                <a:latin typeface="Calibri"/>
                <a:cs typeface="Calibri"/>
              </a:rPr>
              <a:t>data </a:t>
            </a:r>
            <a:r>
              <a:rPr sz="1800" dirty="0">
                <a:latin typeface="Calibri"/>
                <a:cs typeface="Calibri"/>
              </a:rPr>
              <a:t>collection,</a:t>
            </a:r>
            <a:r>
              <a:rPr sz="1800" spc="-40" dirty="0">
                <a:latin typeface="Calibri"/>
                <a:cs typeface="Calibri"/>
              </a:rPr>
              <a:t> </a:t>
            </a:r>
            <a:r>
              <a:rPr sz="1800" spc="-10" dirty="0">
                <a:latin typeface="Calibri"/>
                <a:cs typeface="Calibri"/>
              </a:rPr>
              <a:t>preprocessing,</a:t>
            </a:r>
            <a:r>
              <a:rPr sz="1800" spc="-60" dirty="0">
                <a:latin typeface="Calibri"/>
                <a:cs typeface="Calibri"/>
              </a:rPr>
              <a:t> </a:t>
            </a:r>
            <a:r>
              <a:rPr sz="1800" spc="-10" dirty="0">
                <a:latin typeface="Calibri"/>
                <a:cs typeface="Calibri"/>
              </a:rPr>
              <a:t>storage,</a:t>
            </a:r>
            <a:r>
              <a:rPr sz="1800" spc="-75" dirty="0">
                <a:latin typeface="Calibri"/>
                <a:cs typeface="Calibri"/>
              </a:rPr>
              <a:t> </a:t>
            </a:r>
            <a:r>
              <a:rPr sz="1800" spc="-10" dirty="0">
                <a:latin typeface="Calibri"/>
                <a:cs typeface="Calibri"/>
              </a:rPr>
              <a:t>feature</a:t>
            </a:r>
            <a:r>
              <a:rPr sz="1800" spc="-50" dirty="0">
                <a:latin typeface="Calibri"/>
                <a:cs typeface="Calibri"/>
              </a:rPr>
              <a:t> </a:t>
            </a:r>
            <a:r>
              <a:rPr sz="1800" dirty="0">
                <a:latin typeface="Calibri"/>
                <a:cs typeface="Calibri"/>
              </a:rPr>
              <a:t>extraction,</a:t>
            </a:r>
            <a:r>
              <a:rPr sz="1800" spc="-45" dirty="0">
                <a:latin typeface="Calibri"/>
                <a:cs typeface="Calibri"/>
              </a:rPr>
              <a:t> </a:t>
            </a:r>
            <a:r>
              <a:rPr sz="1800" dirty="0">
                <a:latin typeface="Calibri"/>
                <a:cs typeface="Calibri"/>
              </a:rPr>
              <a:t>machine</a:t>
            </a:r>
            <a:r>
              <a:rPr sz="1800" spc="-55" dirty="0">
                <a:latin typeface="Calibri"/>
                <a:cs typeface="Calibri"/>
              </a:rPr>
              <a:t> </a:t>
            </a:r>
            <a:r>
              <a:rPr sz="1800" spc="-10" dirty="0">
                <a:latin typeface="Calibri"/>
                <a:cs typeface="Calibri"/>
              </a:rPr>
              <a:t>learning, </a:t>
            </a:r>
            <a:r>
              <a:rPr sz="1800" dirty="0">
                <a:latin typeface="Calibri"/>
                <a:cs typeface="Calibri"/>
              </a:rPr>
              <a:t>and</a:t>
            </a:r>
            <a:r>
              <a:rPr sz="1800" spc="-25" dirty="0">
                <a:latin typeface="Calibri"/>
                <a:cs typeface="Calibri"/>
              </a:rPr>
              <a:t> </a:t>
            </a:r>
            <a:r>
              <a:rPr sz="1800" spc="-10" dirty="0">
                <a:latin typeface="Calibri"/>
                <a:cs typeface="Calibri"/>
              </a:rPr>
              <a:t>visualization.</a:t>
            </a:r>
            <a:endParaRPr sz="18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55524" y="267411"/>
            <a:ext cx="2122805" cy="1717675"/>
          </a:xfrm>
          <a:prstGeom prst="rect">
            <a:avLst/>
          </a:prstGeom>
        </p:spPr>
        <p:txBody>
          <a:bodyPr vert="horz" wrap="square" lIns="0" tIns="58419" rIns="0" bIns="0" rtlCol="0">
            <a:spAutoFit/>
          </a:bodyPr>
          <a:lstStyle/>
          <a:p>
            <a:pPr marL="12700" marR="5080">
              <a:lnSpc>
                <a:spcPct val="90000"/>
              </a:lnSpc>
              <a:spcBef>
                <a:spcPts val="459"/>
              </a:spcBef>
            </a:pPr>
            <a:r>
              <a:rPr sz="3000" spc="-10" dirty="0"/>
              <a:t>Workflow</a:t>
            </a:r>
            <a:r>
              <a:rPr sz="3000" spc="-105" dirty="0"/>
              <a:t> </a:t>
            </a:r>
            <a:r>
              <a:rPr sz="3000" spc="-25" dirty="0"/>
              <a:t>for </a:t>
            </a:r>
            <a:r>
              <a:rPr sz="3000" spc="-10" dirty="0"/>
              <a:t>Handling Unstructured </a:t>
            </a:r>
            <a:r>
              <a:rPr sz="3000" spc="-20" dirty="0"/>
              <a:t>Data</a:t>
            </a:r>
            <a:endParaRPr sz="3000"/>
          </a:p>
        </p:txBody>
      </p:sp>
      <p:sp>
        <p:nvSpPr>
          <p:cNvPr id="3" name="object 3"/>
          <p:cNvSpPr/>
          <p:nvPr/>
        </p:nvSpPr>
        <p:spPr>
          <a:xfrm>
            <a:off x="4181855" y="143511"/>
            <a:ext cx="3877310" cy="6714490"/>
          </a:xfrm>
          <a:custGeom>
            <a:avLst/>
            <a:gdLst/>
            <a:ahLst/>
            <a:cxnLst/>
            <a:rect l="l" t="t" r="r" b="b"/>
            <a:pathLst>
              <a:path w="3877309" h="6714490">
                <a:moveTo>
                  <a:pt x="3877055" y="0"/>
                </a:moveTo>
                <a:lnTo>
                  <a:pt x="0" y="0"/>
                </a:lnTo>
                <a:lnTo>
                  <a:pt x="0" y="6714488"/>
                </a:lnTo>
                <a:lnTo>
                  <a:pt x="3877055" y="6714488"/>
                </a:lnTo>
                <a:lnTo>
                  <a:pt x="3877055" y="0"/>
                </a:lnTo>
                <a:close/>
              </a:path>
            </a:pathLst>
          </a:custGeom>
          <a:solidFill>
            <a:srgbClr val="CCDDEA"/>
          </a:solidFill>
        </p:spPr>
        <p:txBody>
          <a:bodyPr wrap="square" lIns="0" tIns="0" rIns="0" bIns="0" rtlCol="0"/>
          <a:lstStyle/>
          <a:p>
            <a:endParaRPr/>
          </a:p>
        </p:txBody>
      </p:sp>
      <p:sp>
        <p:nvSpPr>
          <p:cNvPr id="4" name="object 4"/>
          <p:cNvSpPr txBox="1"/>
          <p:nvPr/>
        </p:nvSpPr>
        <p:spPr>
          <a:xfrm>
            <a:off x="4261230" y="161290"/>
            <a:ext cx="3324860" cy="57404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a:cs typeface="Calibri"/>
              </a:rPr>
              <a:t>Unstructured</a:t>
            </a:r>
            <a:r>
              <a:rPr sz="1800" b="1" spc="-95" dirty="0">
                <a:latin typeface="Calibri"/>
                <a:cs typeface="Calibri"/>
              </a:rPr>
              <a:t> </a:t>
            </a:r>
            <a:r>
              <a:rPr sz="1800" b="1" spc="-20" dirty="0">
                <a:latin typeface="Calibri"/>
                <a:cs typeface="Calibri"/>
              </a:rPr>
              <a:t>Data</a:t>
            </a:r>
            <a:endParaRPr sz="1800">
              <a:latin typeface="Calibri"/>
              <a:cs typeface="Calibri"/>
            </a:endParaRPr>
          </a:p>
          <a:p>
            <a:pPr marL="12700">
              <a:lnSpc>
                <a:spcPct val="100000"/>
              </a:lnSpc>
            </a:pPr>
            <a:r>
              <a:rPr sz="1800" b="1" spc="-25" dirty="0">
                <a:latin typeface="Calibri"/>
                <a:cs typeface="Calibri"/>
              </a:rPr>
              <a:t>(Text,</a:t>
            </a:r>
            <a:r>
              <a:rPr sz="1800" b="1" spc="-50" dirty="0">
                <a:latin typeface="Calibri"/>
                <a:cs typeface="Calibri"/>
              </a:rPr>
              <a:t> </a:t>
            </a:r>
            <a:r>
              <a:rPr sz="1800" b="1" dirty="0">
                <a:latin typeface="Calibri"/>
                <a:cs typeface="Calibri"/>
              </a:rPr>
              <a:t>Images,</a:t>
            </a:r>
            <a:r>
              <a:rPr sz="1800" b="1" spc="-50" dirty="0">
                <a:latin typeface="Calibri"/>
                <a:cs typeface="Calibri"/>
              </a:rPr>
              <a:t> </a:t>
            </a:r>
            <a:r>
              <a:rPr sz="1800" b="1" dirty="0">
                <a:latin typeface="Calibri"/>
                <a:cs typeface="Calibri"/>
              </a:rPr>
              <a:t>Videos,</a:t>
            </a:r>
            <a:r>
              <a:rPr sz="1800" b="1" spc="-65" dirty="0">
                <a:latin typeface="Calibri"/>
                <a:cs typeface="Calibri"/>
              </a:rPr>
              <a:t> </a:t>
            </a:r>
            <a:r>
              <a:rPr sz="1800" b="1" dirty="0">
                <a:latin typeface="Calibri"/>
                <a:cs typeface="Calibri"/>
              </a:rPr>
              <a:t>Audio,</a:t>
            </a:r>
            <a:r>
              <a:rPr sz="1800" b="1" spc="-65" dirty="0">
                <a:latin typeface="Calibri"/>
                <a:cs typeface="Calibri"/>
              </a:rPr>
              <a:t> </a:t>
            </a:r>
            <a:r>
              <a:rPr sz="1800" b="1" spc="-10" dirty="0">
                <a:latin typeface="Calibri"/>
                <a:cs typeface="Calibri"/>
              </a:rPr>
              <a:t>PDFs)</a:t>
            </a:r>
            <a:endParaRPr sz="1800">
              <a:latin typeface="Calibri"/>
              <a:cs typeface="Calibri"/>
            </a:endParaRPr>
          </a:p>
        </p:txBody>
      </p:sp>
      <p:sp>
        <p:nvSpPr>
          <p:cNvPr id="5" name="object 5"/>
          <p:cNvSpPr txBox="1"/>
          <p:nvPr/>
        </p:nvSpPr>
        <p:spPr>
          <a:xfrm>
            <a:off x="4261230" y="984630"/>
            <a:ext cx="1661160" cy="848360"/>
          </a:xfrm>
          <a:prstGeom prst="rect">
            <a:avLst/>
          </a:prstGeom>
        </p:spPr>
        <p:txBody>
          <a:bodyPr vert="horz" wrap="square" lIns="0" tIns="12700" rIns="0" bIns="0" rtlCol="0">
            <a:spAutoFit/>
          </a:bodyPr>
          <a:lstStyle/>
          <a:p>
            <a:pPr marR="150495" algn="ctr">
              <a:lnSpc>
                <a:spcPct val="100000"/>
              </a:lnSpc>
              <a:spcBef>
                <a:spcPts val="100"/>
              </a:spcBef>
            </a:pPr>
            <a:r>
              <a:rPr sz="1800" spc="-50" dirty="0">
                <a:latin typeface="Calibri"/>
                <a:cs typeface="Calibri"/>
              </a:rPr>
              <a:t>│</a:t>
            </a:r>
            <a:endParaRPr sz="1800">
              <a:latin typeface="Calibri"/>
              <a:cs typeface="Calibri"/>
            </a:endParaRPr>
          </a:p>
          <a:p>
            <a:pPr marR="145415" algn="ctr">
              <a:lnSpc>
                <a:spcPts val="2150"/>
              </a:lnSpc>
              <a:spcBef>
                <a:spcPts val="20"/>
              </a:spcBef>
            </a:pPr>
            <a:r>
              <a:rPr sz="1800" spc="-50" dirty="0">
                <a:latin typeface="Tahoma"/>
                <a:cs typeface="Tahoma"/>
              </a:rPr>
              <a:t>▼</a:t>
            </a:r>
            <a:endParaRPr sz="1800">
              <a:latin typeface="Tahoma"/>
              <a:cs typeface="Tahoma"/>
            </a:endParaRPr>
          </a:p>
          <a:p>
            <a:pPr marL="12700">
              <a:lnSpc>
                <a:spcPts val="2150"/>
              </a:lnSpc>
            </a:pPr>
            <a:r>
              <a:rPr sz="1800" dirty="0">
                <a:latin typeface="Calibri"/>
                <a:cs typeface="Calibri"/>
              </a:rPr>
              <a:t>1.</a:t>
            </a:r>
            <a:r>
              <a:rPr sz="1800" spc="-45" dirty="0">
                <a:latin typeface="Calibri"/>
                <a:cs typeface="Calibri"/>
              </a:rPr>
              <a:t> </a:t>
            </a:r>
            <a:r>
              <a:rPr sz="1800" dirty="0">
                <a:latin typeface="Calibri"/>
                <a:cs typeface="Calibri"/>
              </a:rPr>
              <a:t>Data</a:t>
            </a:r>
            <a:r>
              <a:rPr sz="1800" spc="-30" dirty="0">
                <a:latin typeface="Calibri"/>
                <a:cs typeface="Calibri"/>
              </a:rPr>
              <a:t> </a:t>
            </a:r>
            <a:r>
              <a:rPr sz="1800" spc="-10" dirty="0">
                <a:latin typeface="Calibri"/>
                <a:cs typeface="Calibri"/>
              </a:rPr>
              <a:t>Collection</a:t>
            </a:r>
            <a:endParaRPr sz="1800">
              <a:latin typeface="Calibri"/>
              <a:cs typeface="Calibri"/>
            </a:endParaRPr>
          </a:p>
        </p:txBody>
      </p:sp>
      <p:sp>
        <p:nvSpPr>
          <p:cNvPr id="6" name="object 6"/>
          <p:cNvSpPr txBox="1"/>
          <p:nvPr/>
        </p:nvSpPr>
        <p:spPr>
          <a:xfrm>
            <a:off x="4261230" y="1807590"/>
            <a:ext cx="3450590" cy="4964430"/>
          </a:xfrm>
          <a:prstGeom prst="rect">
            <a:avLst/>
          </a:prstGeom>
        </p:spPr>
        <p:txBody>
          <a:bodyPr vert="horz" wrap="square" lIns="0" tIns="12700" rIns="0" bIns="0" rtlCol="0">
            <a:spAutoFit/>
          </a:bodyPr>
          <a:lstStyle/>
          <a:p>
            <a:pPr marL="693420">
              <a:lnSpc>
                <a:spcPct val="100000"/>
              </a:lnSpc>
              <a:spcBef>
                <a:spcPts val="100"/>
              </a:spcBef>
            </a:pPr>
            <a:r>
              <a:rPr sz="1800" spc="-50" dirty="0">
                <a:latin typeface="Calibri"/>
                <a:cs typeface="Calibri"/>
              </a:rPr>
              <a:t>│</a:t>
            </a:r>
            <a:endParaRPr sz="1800">
              <a:latin typeface="Calibri"/>
              <a:cs typeface="Calibri"/>
            </a:endParaRPr>
          </a:p>
          <a:p>
            <a:pPr marL="640080">
              <a:lnSpc>
                <a:spcPts val="2150"/>
              </a:lnSpc>
              <a:spcBef>
                <a:spcPts val="25"/>
              </a:spcBef>
            </a:pPr>
            <a:r>
              <a:rPr sz="1800" spc="-50" dirty="0">
                <a:latin typeface="Tahoma"/>
                <a:cs typeface="Tahoma"/>
              </a:rPr>
              <a:t>▼</a:t>
            </a:r>
            <a:endParaRPr sz="1800">
              <a:latin typeface="Tahoma"/>
              <a:cs typeface="Tahoma"/>
            </a:endParaRPr>
          </a:p>
          <a:p>
            <a:pPr marL="237490" indent="-224790">
              <a:lnSpc>
                <a:spcPts val="2150"/>
              </a:lnSpc>
              <a:buAutoNum type="arabicPeriod" startAt="2"/>
              <a:tabLst>
                <a:tab pos="237490" algn="l"/>
              </a:tabLst>
            </a:pPr>
            <a:r>
              <a:rPr sz="1800" dirty="0">
                <a:latin typeface="Calibri"/>
                <a:cs typeface="Calibri"/>
              </a:rPr>
              <a:t>Data</a:t>
            </a:r>
            <a:r>
              <a:rPr sz="1800" spc="-40" dirty="0">
                <a:latin typeface="Calibri"/>
                <a:cs typeface="Calibri"/>
              </a:rPr>
              <a:t> </a:t>
            </a:r>
            <a:r>
              <a:rPr sz="1800" dirty="0">
                <a:latin typeface="Calibri"/>
                <a:cs typeface="Calibri"/>
              </a:rPr>
              <a:t>Cleaning</a:t>
            </a:r>
            <a:r>
              <a:rPr sz="1800" spc="-30" dirty="0">
                <a:latin typeface="Calibri"/>
                <a:cs typeface="Calibri"/>
              </a:rPr>
              <a:t> </a:t>
            </a:r>
            <a:r>
              <a:rPr sz="1800" dirty="0">
                <a:latin typeface="Calibri"/>
                <a:cs typeface="Calibri"/>
              </a:rPr>
              <a:t>&amp;</a:t>
            </a:r>
            <a:r>
              <a:rPr sz="1800" spc="-45" dirty="0">
                <a:latin typeface="Calibri"/>
                <a:cs typeface="Calibri"/>
              </a:rPr>
              <a:t> </a:t>
            </a:r>
            <a:r>
              <a:rPr sz="1800" spc="-10" dirty="0">
                <a:latin typeface="Calibri"/>
                <a:cs typeface="Calibri"/>
              </a:rPr>
              <a:t>Preprocessing</a:t>
            </a:r>
            <a:endParaRPr sz="1800">
              <a:latin typeface="Calibri"/>
              <a:cs typeface="Calibri"/>
            </a:endParaRPr>
          </a:p>
          <a:p>
            <a:pPr marL="693420">
              <a:lnSpc>
                <a:spcPct val="100000"/>
              </a:lnSpc>
            </a:pPr>
            <a:r>
              <a:rPr sz="1800" spc="-50" dirty="0">
                <a:latin typeface="Calibri"/>
                <a:cs typeface="Calibri"/>
              </a:rPr>
              <a:t>│</a:t>
            </a:r>
            <a:endParaRPr sz="1800">
              <a:latin typeface="Calibri"/>
              <a:cs typeface="Calibri"/>
            </a:endParaRPr>
          </a:p>
          <a:p>
            <a:pPr marL="640080">
              <a:lnSpc>
                <a:spcPts val="2150"/>
              </a:lnSpc>
              <a:spcBef>
                <a:spcPts val="25"/>
              </a:spcBef>
            </a:pPr>
            <a:r>
              <a:rPr sz="1800" spc="-50" dirty="0">
                <a:latin typeface="Tahoma"/>
                <a:cs typeface="Tahoma"/>
              </a:rPr>
              <a:t>▼</a:t>
            </a:r>
            <a:endParaRPr sz="1800">
              <a:latin typeface="Tahoma"/>
              <a:cs typeface="Tahoma"/>
            </a:endParaRPr>
          </a:p>
          <a:p>
            <a:pPr marL="236854" indent="-224154">
              <a:lnSpc>
                <a:spcPts val="2150"/>
              </a:lnSpc>
              <a:buAutoNum type="arabicPeriod" startAt="3"/>
              <a:tabLst>
                <a:tab pos="236854" algn="l"/>
              </a:tabLst>
            </a:pPr>
            <a:r>
              <a:rPr sz="1800" dirty="0">
                <a:latin typeface="Calibri"/>
                <a:cs typeface="Calibri"/>
              </a:rPr>
              <a:t>Data</a:t>
            </a:r>
            <a:r>
              <a:rPr sz="1800" spc="-80" dirty="0">
                <a:latin typeface="Calibri"/>
                <a:cs typeface="Calibri"/>
              </a:rPr>
              <a:t> </a:t>
            </a:r>
            <a:r>
              <a:rPr sz="1800" dirty="0">
                <a:latin typeface="Calibri"/>
                <a:cs typeface="Calibri"/>
              </a:rPr>
              <a:t>Storage</a:t>
            </a:r>
            <a:r>
              <a:rPr sz="1800" spc="-95" dirty="0">
                <a:latin typeface="Calibri"/>
                <a:cs typeface="Calibri"/>
              </a:rPr>
              <a:t> </a:t>
            </a:r>
            <a:r>
              <a:rPr sz="1800" dirty="0">
                <a:latin typeface="Calibri"/>
                <a:cs typeface="Calibri"/>
              </a:rPr>
              <a:t>(Data</a:t>
            </a:r>
            <a:r>
              <a:rPr sz="1800" spc="-75" dirty="0">
                <a:latin typeface="Calibri"/>
                <a:cs typeface="Calibri"/>
              </a:rPr>
              <a:t> </a:t>
            </a:r>
            <a:r>
              <a:rPr sz="1800" spc="-20" dirty="0">
                <a:latin typeface="Calibri"/>
                <a:cs typeface="Calibri"/>
              </a:rPr>
              <a:t>Lake)</a:t>
            </a:r>
            <a:endParaRPr sz="1800">
              <a:latin typeface="Calibri"/>
              <a:cs typeface="Calibri"/>
            </a:endParaRPr>
          </a:p>
          <a:p>
            <a:pPr marL="693420">
              <a:lnSpc>
                <a:spcPct val="100000"/>
              </a:lnSpc>
            </a:pPr>
            <a:r>
              <a:rPr sz="1800" spc="-50" dirty="0">
                <a:latin typeface="Calibri"/>
                <a:cs typeface="Calibri"/>
              </a:rPr>
              <a:t>│</a:t>
            </a:r>
            <a:endParaRPr sz="1800">
              <a:latin typeface="Calibri"/>
              <a:cs typeface="Calibri"/>
            </a:endParaRPr>
          </a:p>
          <a:p>
            <a:pPr marL="640080">
              <a:lnSpc>
                <a:spcPts val="2150"/>
              </a:lnSpc>
              <a:spcBef>
                <a:spcPts val="25"/>
              </a:spcBef>
            </a:pPr>
            <a:r>
              <a:rPr sz="1800" spc="-50" dirty="0">
                <a:latin typeface="Tahoma"/>
                <a:cs typeface="Tahoma"/>
              </a:rPr>
              <a:t>▼</a:t>
            </a:r>
            <a:endParaRPr sz="1800">
              <a:latin typeface="Tahoma"/>
              <a:cs typeface="Tahoma"/>
            </a:endParaRPr>
          </a:p>
          <a:p>
            <a:pPr marL="237490" indent="-224790">
              <a:lnSpc>
                <a:spcPts val="2150"/>
              </a:lnSpc>
              <a:buAutoNum type="arabicPeriod" startAt="4"/>
              <a:tabLst>
                <a:tab pos="237490" algn="l"/>
              </a:tabLst>
            </a:pPr>
            <a:r>
              <a:rPr sz="1800" dirty="0">
                <a:latin typeface="Calibri"/>
                <a:cs typeface="Calibri"/>
              </a:rPr>
              <a:t>Feature</a:t>
            </a:r>
            <a:r>
              <a:rPr sz="1800" spc="-95" dirty="0">
                <a:latin typeface="Calibri"/>
                <a:cs typeface="Calibri"/>
              </a:rPr>
              <a:t> </a:t>
            </a:r>
            <a:r>
              <a:rPr sz="1800" spc="-10" dirty="0">
                <a:latin typeface="Calibri"/>
                <a:cs typeface="Calibri"/>
              </a:rPr>
              <a:t>Extraction</a:t>
            </a:r>
            <a:endParaRPr sz="1800">
              <a:latin typeface="Calibri"/>
              <a:cs typeface="Calibri"/>
            </a:endParaRPr>
          </a:p>
          <a:p>
            <a:pPr marL="693420">
              <a:lnSpc>
                <a:spcPct val="100000"/>
              </a:lnSpc>
            </a:pPr>
            <a:r>
              <a:rPr sz="1800" spc="-50" dirty="0">
                <a:latin typeface="Calibri"/>
                <a:cs typeface="Calibri"/>
              </a:rPr>
              <a:t>│</a:t>
            </a:r>
            <a:endParaRPr sz="1800">
              <a:latin typeface="Calibri"/>
              <a:cs typeface="Calibri"/>
            </a:endParaRPr>
          </a:p>
          <a:p>
            <a:pPr marL="640080">
              <a:lnSpc>
                <a:spcPts val="2150"/>
              </a:lnSpc>
              <a:spcBef>
                <a:spcPts val="25"/>
              </a:spcBef>
            </a:pPr>
            <a:r>
              <a:rPr sz="1800" spc="-50" dirty="0">
                <a:latin typeface="Tahoma"/>
                <a:cs typeface="Tahoma"/>
              </a:rPr>
              <a:t>▼</a:t>
            </a:r>
            <a:endParaRPr sz="1800">
              <a:latin typeface="Tahoma"/>
              <a:cs typeface="Tahoma"/>
            </a:endParaRPr>
          </a:p>
          <a:p>
            <a:pPr marL="236854" indent="-224154">
              <a:lnSpc>
                <a:spcPts val="2150"/>
              </a:lnSpc>
              <a:buAutoNum type="arabicPeriod" startAt="5"/>
              <a:tabLst>
                <a:tab pos="236854" algn="l"/>
              </a:tabLst>
            </a:pPr>
            <a:r>
              <a:rPr sz="1800" dirty="0">
                <a:latin typeface="Calibri"/>
                <a:cs typeface="Calibri"/>
              </a:rPr>
              <a:t>Machine</a:t>
            </a:r>
            <a:r>
              <a:rPr sz="1800" spc="-30" dirty="0">
                <a:latin typeface="Calibri"/>
                <a:cs typeface="Calibri"/>
              </a:rPr>
              <a:t> </a:t>
            </a:r>
            <a:r>
              <a:rPr sz="1800" dirty="0">
                <a:latin typeface="Calibri"/>
                <a:cs typeface="Calibri"/>
              </a:rPr>
              <a:t>Learning</a:t>
            </a:r>
            <a:r>
              <a:rPr sz="1800" spc="-30" dirty="0">
                <a:latin typeface="Calibri"/>
                <a:cs typeface="Calibri"/>
              </a:rPr>
              <a:t> </a:t>
            </a:r>
            <a:r>
              <a:rPr sz="1800" dirty="0">
                <a:latin typeface="Calibri"/>
                <a:cs typeface="Calibri"/>
              </a:rPr>
              <a:t>/</a:t>
            </a:r>
            <a:r>
              <a:rPr sz="1800" spc="-40" dirty="0">
                <a:latin typeface="Calibri"/>
                <a:cs typeface="Calibri"/>
              </a:rPr>
              <a:t> </a:t>
            </a:r>
            <a:r>
              <a:rPr sz="1800" dirty="0">
                <a:latin typeface="Calibri"/>
                <a:cs typeface="Calibri"/>
              </a:rPr>
              <a:t>Deep</a:t>
            </a:r>
            <a:r>
              <a:rPr sz="1800" spc="-35" dirty="0">
                <a:latin typeface="Calibri"/>
                <a:cs typeface="Calibri"/>
              </a:rPr>
              <a:t> </a:t>
            </a:r>
            <a:r>
              <a:rPr sz="1800" spc="-10" dirty="0">
                <a:latin typeface="Calibri"/>
                <a:cs typeface="Calibri"/>
              </a:rPr>
              <a:t>Learning</a:t>
            </a:r>
            <a:endParaRPr sz="1800">
              <a:latin typeface="Calibri"/>
              <a:cs typeface="Calibri"/>
            </a:endParaRPr>
          </a:p>
          <a:p>
            <a:pPr marL="693420">
              <a:lnSpc>
                <a:spcPct val="100000"/>
              </a:lnSpc>
            </a:pPr>
            <a:r>
              <a:rPr sz="1800" spc="-50" dirty="0">
                <a:latin typeface="Calibri"/>
                <a:cs typeface="Calibri"/>
              </a:rPr>
              <a:t>│</a:t>
            </a:r>
            <a:endParaRPr sz="1800">
              <a:latin typeface="Calibri"/>
              <a:cs typeface="Calibri"/>
            </a:endParaRPr>
          </a:p>
          <a:p>
            <a:pPr marL="640080">
              <a:lnSpc>
                <a:spcPts val="2150"/>
              </a:lnSpc>
              <a:spcBef>
                <a:spcPts val="25"/>
              </a:spcBef>
            </a:pPr>
            <a:r>
              <a:rPr sz="1800" spc="-50" dirty="0">
                <a:latin typeface="Tahoma"/>
                <a:cs typeface="Tahoma"/>
              </a:rPr>
              <a:t>▼</a:t>
            </a:r>
            <a:endParaRPr sz="1800">
              <a:latin typeface="Tahoma"/>
              <a:cs typeface="Tahoma"/>
            </a:endParaRPr>
          </a:p>
          <a:p>
            <a:pPr marL="236854" indent="-224154">
              <a:lnSpc>
                <a:spcPts val="2150"/>
              </a:lnSpc>
              <a:buAutoNum type="arabicPeriod" startAt="6"/>
              <a:tabLst>
                <a:tab pos="236854" algn="l"/>
              </a:tabLst>
            </a:pPr>
            <a:r>
              <a:rPr sz="1800" spc="-10" dirty="0">
                <a:latin typeface="Calibri"/>
                <a:cs typeface="Calibri"/>
              </a:rPr>
              <a:t>Visualization</a:t>
            </a:r>
            <a:r>
              <a:rPr sz="1800" spc="-20" dirty="0">
                <a:latin typeface="Calibri"/>
                <a:cs typeface="Calibri"/>
              </a:rPr>
              <a:t> </a:t>
            </a:r>
            <a:r>
              <a:rPr sz="1800" dirty="0">
                <a:latin typeface="Calibri"/>
                <a:cs typeface="Calibri"/>
              </a:rPr>
              <a:t>&amp;</a:t>
            </a:r>
            <a:r>
              <a:rPr sz="1800" spc="-25" dirty="0">
                <a:latin typeface="Calibri"/>
                <a:cs typeface="Calibri"/>
              </a:rPr>
              <a:t> </a:t>
            </a:r>
            <a:r>
              <a:rPr sz="1800" dirty="0">
                <a:latin typeface="Calibri"/>
                <a:cs typeface="Calibri"/>
              </a:rPr>
              <a:t>Insight</a:t>
            </a:r>
            <a:r>
              <a:rPr sz="1800" spc="-45" dirty="0">
                <a:latin typeface="Calibri"/>
                <a:cs typeface="Calibri"/>
              </a:rPr>
              <a:t> </a:t>
            </a:r>
            <a:r>
              <a:rPr sz="1800" spc="-10" dirty="0">
                <a:latin typeface="Calibri"/>
                <a:cs typeface="Calibri"/>
              </a:rPr>
              <a:t>Generation</a:t>
            </a:r>
            <a:endParaRPr sz="1800">
              <a:latin typeface="Calibri"/>
              <a:cs typeface="Calibri"/>
            </a:endParaRPr>
          </a:p>
          <a:p>
            <a:pPr marL="693420">
              <a:lnSpc>
                <a:spcPct val="100000"/>
              </a:lnSpc>
            </a:pPr>
            <a:r>
              <a:rPr sz="1800" spc="-50" dirty="0">
                <a:latin typeface="Calibri"/>
                <a:cs typeface="Calibri"/>
              </a:rPr>
              <a:t>│</a:t>
            </a:r>
            <a:endParaRPr sz="1800">
              <a:latin typeface="Calibri"/>
              <a:cs typeface="Calibri"/>
            </a:endParaRPr>
          </a:p>
          <a:p>
            <a:pPr marL="640080">
              <a:lnSpc>
                <a:spcPts val="2150"/>
              </a:lnSpc>
              <a:spcBef>
                <a:spcPts val="20"/>
              </a:spcBef>
            </a:pPr>
            <a:r>
              <a:rPr sz="1800" spc="-50" dirty="0">
                <a:latin typeface="Tahoma"/>
                <a:cs typeface="Tahoma"/>
              </a:rPr>
              <a:t>▼</a:t>
            </a:r>
            <a:endParaRPr sz="1800">
              <a:latin typeface="Tahoma"/>
              <a:cs typeface="Tahoma"/>
            </a:endParaRPr>
          </a:p>
          <a:p>
            <a:pPr marL="12700">
              <a:lnSpc>
                <a:spcPts val="2150"/>
              </a:lnSpc>
            </a:pPr>
            <a:r>
              <a:rPr sz="1800" dirty="0">
                <a:latin typeface="Calibri"/>
                <a:cs typeface="Calibri"/>
              </a:rPr>
              <a:t>Business</a:t>
            </a:r>
            <a:r>
              <a:rPr sz="1800" spc="-75" dirty="0">
                <a:latin typeface="Calibri"/>
                <a:cs typeface="Calibri"/>
              </a:rPr>
              <a:t> </a:t>
            </a:r>
            <a:r>
              <a:rPr sz="1800" dirty="0">
                <a:latin typeface="Calibri"/>
                <a:cs typeface="Calibri"/>
              </a:rPr>
              <a:t>Decision</a:t>
            </a:r>
            <a:r>
              <a:rPr sz="1800" spc="-40" dirty="0">
                <a:latin typeface="Calibri"/>
                <a:cs typeface="Calibri"/>
              </a:rPr>
              <a:t> </a:t>
            </a:r>
            <a:r>
              <a:rPr sz="1800" dirty="0">
                <a:latin typeface="Calibri"/>
                <a:cs typeface="Calibri"/>
              </a:rPr>
              <a:t>/</a:t>
            </a:r>
            <a:r>
              <a:rPr sz="1800" spc="-45" dirty="0">
                <a:latin typeface="Calibri"/>
                <a:cs typeface="Calibri"/>
              </a:rPr>
              <a:t> </a:t>
            </a:r>
            <a:r>
              <a:rPr sz="1800" spc="-10" dirty="0">
                <a:latin typeface="Calibri"/>
                <a:cs typeface="Calibri"/>
              </a:rPr>
              <a:t>Prediction</a:t>
            </a:r>
            <a:endParaRPr sz="1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1700" y="106107"/>
            <a:ext cx="6788150" cy="1657350"/>
          </a:xfrm>
          <a:prstGeom prst="rect">
            <a:avLst/>
          </a:prstGeom>
        </p:spPr>
        <p:txBody>
          <a:bodyPr vert="horz" wrap="square" lIns="0" tIns="160655" rIns="0" bIns="0" rtlCol="0">
            <a:spAutoFit/>
          </a:bodyPr>
          <a:lstStyle/>
          <a:p>
            <a:pPr marL="12700">
              <a:lnSpc>
                <a:spcPct val="100000"/>
              </a:lnSpc>
              <a:spcBef>
                <a:spcPts val="1265"/>
              </a:spcBef>
            </a:pPr>
            <a:r>
              <a:rPr sz="2000" b="1" dirty="0">
                <a:solidFill>
                  <a:srgbClr val="404040"/>
                </a:solidFill>
                <a:latin typeface="Calibri"/>
                <a:cs typeface="Calibri"/>
              </a:rPr>
              <a:t>Step</a:t>
            </a:r>
            <a:r>
              <a:rPr sz="2000" b="1" spc="-30" dirty="0">
                <a:solidFill>
                  <a:srgbClr val="404040"/>
                </a:solidFill>
                <a:latin typeface="Calibri"/>
                <a:cs typeface="Calibri"/>
              </a:rPr>
              <a:t> </a:t>
            </a:r>
            <a:r>
              <a:rPr sz="2000" b="1" dirty="0">
                <a:solidFill>
                  <a:srgbClr val="404040"/>
                </a:solidFill>
                <a:latin typeface="Calibri"/>
                <a:cs typeface="Calibri"/>
              </a:rPr>
              <a:t>1:</a:t>
            </a:r>
            <a:r>
              <a:rPr sz="2000" b="1" spc="-20" dirty="0">
                <a:solidFill>
                  <a:srgbClr val="404040"/>
                </a:solidFill>
                <a:latin typeface="Calibri"/>
                <a:cs typeface="Calibri"/>
              </a:rPr>
              <a:t> </a:t>
            </a:r>
            <a:r>
              <a:rPr sz="2000" b="1" dirty="0">
                <a:solidFill>
                  <a:srgbClr val="404040"/>
                </a:solidFill>
                <a:latin typeface="Calibri"/>
                <a:cs typeface="Calibri"/>
              </a:rPr>
              <a:t>Collect</a:t>
            </a:r>
            <a:r>
              <a:rPr sz="2000" b="1" spc="-40" dirty="0">
                <a:solidFill>
                  <a:srgbClr val="404040"/>
                </a:solidFill>
                <a:latin typeface="Calibri"/>
                <a:cs typeface="Calibri"/>
              </a:rPr>
              <a:t> </a:t>
            </a:r>
            <a:r>
              <a:rPr sz="2000" b="1" spc="-20" dirty="0">
                <a:solidFill>
                  <a:srgbClr val="404040"/>
                </a:solidFill>
                <a:latin typeface="Calibri"/>
                <a:cs typeface="Calibri"/>
              </a:rPr>
              <a:t>Data</a:t>
            </a:r>
            <a:endParaRPr sz="2000">
              <a:latin typeface="Calibri"/>
              <a:cs typeface="Calibri"/>
            </a:endParaRPr>
          </a:p>
          <a:p>
            <a:pPr marL="12700">
              <a:lnSpc>
                <a:spcPct val="100000"/>
              </a:lnSpc>
              <a:spcBef>
                <a:spcPts val="1170"/>
              </a:spcBef>
            </a:pPr>
            <a:r>
              <a:rPr sz="2000" b="1" spc="-10" dirty="0">
                <a:solidFill>
                  <a:srgbClr val="404040"/>
                </a:solidFill>
                <a:latin typeface="Calibri"/>
                <a:cs typeface="Calibri"/>
              </a:rPr>
              <a:t>Objective</a:t>
            </a:r>
            <a:endParaRPr sz="2000">
              <a:latin typeface="Calibri"/>
              <a:cs typeface="Calibri"/>
            </a:endParaRPr>
          </a:p>
          <a:p>
            <a:pPr marL="12700" marR="5080">
              <a:lnSpc>
                <a:spcPts val="2160"/>
              </a:lnSpc>
              <a:spcBef>
                <a:spcPts val="1420"/>
              </a:spcBef>
            </a:pPr>
            <a:r>
              <a:rPr sz="2000" dirty="0">
                <a:solidFill>
                  <a:srgbClr val="404040"/>
                </a:solidFill>
                <a:latin typeface="Calibri"/>
                <a:cs typeface="Calibri"/>
              </a:rPr>
              <a:t>Gather</a:t>
            </a:r>
            <a:r>
              <a:rPr sz="2000" spc="-45" dirty="0">
                <a:solidFill>
                  <a:srgbClr val="404040"/>
                </a:solidFill>
                <a:latin typeface="Calibri"/>
                <a:cs typeface="Calibri"/>
              </a:rPr>
              <a:t> </a:t>
            </a:r>
            <a:r>
              <a:rPr sz="2000" dirty="0">
                <a:solidFill>
                  <a:srgbClr val="404040"/>
                </a:solidFill>
                <a:latin typeface="Calibri"/>
                <a:cs typeface="Calibri"/>
              </a:rPr>
              <a:t>raw</a:t>
            </a:r>
            <a:r>
              <a:rPr sz="2000" spc="-65" dirty="0">
                <a:solidFill>
                  <a:srgbClr val="404040"/>
                </a:solidFill>
                <a:latin typeface="Calibri"/>
                <a:cs typeface="Calibri"/>
              </a:rPr>
              <a:t> </a:t>
            </a:r>
            <a:r>
              <a:rPr sz="2000" spc="-10" dirty="0">
                <a:solidFill>
                  <a:srgbClr val="404040"/>
                </a:solidFill>
                <a:latin typeface="Calibri"/>
                <a:cs typeface="Calibri"/>
              </a:rPr>
              <a:t>unstructured</a:t>
            </a:r>
            <a:r>
              <a:rPr sz="2000" spc="-55" dirty="0">
                <a:solidFill>
                  <a:srgbClr val="404040"/>
                </a:solidFill>
                <a:latin typeface="Calibri"/>
                <a:cs typeface="Calibri"/>
              </a:rPr>
              <a:t> </a:t>
            </a:r>
            <a:r>
              <a:rPr sz="2000" dirty="0">
                <a:solidFill>
                  <a:srgbClr val="404040"/>
                </a:solidFill>
                <a:latin typeface="Calibri"/>
                <a:cs typeface="Calibri"/>
              </a:rPr>
              <a:t>data</a:t>
            </a:r>
            <a:r>
              <a:rPr sz="2000" spc="-50" dirty="0">
                <a:solidFill>
                  <a:srgbClr val="404040"/>
                </a:solidFill>
                <a:latin typeface="Calibri"/>
                <a:cs typeface="Calibri"/>
              </a:rPr>
              <a:t> </a:t>
            </a:r>
            <a:r>
              <a:rPr sz="2000" dirty="0">
                <a:solidFill>
                  <a:srgbClr val="404040"/>
                </a:solidFill>
                <a:latin typeface="Calibri"/>
                <a:cs typeface="Calibri"/>
              </a:rPr>
              <a:t>from</a:t>
            </a:r>
            <a:r>
              <a:rPr sz="2000" spc="-55" dirty="0">
                <a:solidFill>
                  <a:srgbClr val="404040"/>
                </a:solidFill>
                <a:latin typeface="Calibri"/>
                <a:cs typeface="Calibri"/>
              </a:rPr>
              <a:t> </a:t>
            </a:r>
            <a:r>
              <a:rPr sz="2000" dirty="0">
                <a:solidFill>
                  <a:srgbClr val="404040"/>
                </a:solidFill>
                <a:latin typeface="Calibri"/>
                <a:cs typeface="Calibri"/>
              </a:rPr>
              <a:t>multiple</a:t>
            </a:r>
            <a:r>
              <a:rPr sz="2000" spc="-45" dirty="0">
                <a:solidFill>
                  <a:srgbClr val="404040"/>
                </a:solidFill>
                <a:latin typeface="Calibri"/>
                <a:cs typeface="Calibri"/>
              </a:rPr>
              <a:t> </a:t>
            </a:r>
            <a:r>
              <a:rPr sz="2000" dirty="0">
                <a:solidFill>
                  <a:srgbClr val="404040"/>
                </a:solidFill>
                <a:latin typeface="Calibri"/>
                <a:cs typeface="Calibri"/>
              </a:rPr>
              <a:t>internal</a:t>
            </a:r>
            <a:r>
              <a:rPr sz="2000" spc="-50" dirty="0">
                <a:solidFill>
                  <a:srgbClr val="404040"/>
                </a:solidFill>
                <a:latin typeface="Calibri"/>
                <a:cs typeface="Calibri"/>
              </a:rPr>
              <a:t> </a:t>
            </a:r>
            <a:r>
              <a:rPr sz="2000" dirty="0">
                <a:solidFill>
                  <a:srgbClr val="404040"/>
                </a:solidFill>
                <a:latin typeface="Calibri"/>
                <a:cs typeface="Calibri"/>
              </a:rPr>
              <a:t>and</a:t>
            </a:r>
            <a:r>
              <a:rPr sz="2000" spc="-55" dirty="0">
                <a:solidFill>
                  <a:srgbClr val="404040"/>
                </a:solidFill>
                <a:latin typeface="Calibri"/>
                <a:cs typeface="Calibri"/>
              </a:rPr>
              <a:t> </a:t>
            </a:r>
            <a:r>
              <a:rPr sz="2000" spc="-10" dirty="0">
                <a:solidFill>
                  <a:srgbClr val="404040"/>
                </a:solidFill>
                <a:latin typeface="Calibri"/>
                <a:cs typeface="Calibri"/>
              </a:rPr>
              <a:t>external sources.</a:t>
            </a:r>
            <a:endParaRPr sz="2000">
              <a:latin typeface="Calibri"/>
              <a:cs typeface="Calibri"/>
            </a:endParaRPr>
          </a:p>
        </p:txBody>
      </p:sp>
      <p:graphicFrame>
        <p:nvGraphicFramePr>
          <p:cNvPr id="3" name="object 3"/>
          <p:cNvGraphicFramePr>
            <a:graphicFrameLocks noGrp="1"/>
          </p:cNvGraphicFramePr>
          <p:nvPr/>
        </p:nvGraphicFramePr>
        <p:xfrm>
          <a:off x="1286002" y="1949450"/>
          <a:ext cx="7029450" cy="4226560"/>
        </p:xfrm>
        <a:graphic>
          <a:graphicData uri="http://schemas.openxmlformats.org/drawingml/2006/table">
            <a:tbl>
              <a:tblPr firstRow="1" bandRow="1">
                <a:tableStyleId>{2D5ABB26-0587-4C30-8999-92F81FD0307C}</a:tableStyleId>
              </a:tblPr>
              <a:tblGrid>
                <a:gridCol w="2343150">
                  <a:extLst>
                    <a:ext uri="{9D8B030D-6E8A-4147-A177-3AD203B41FA5}">
                      <a16:colId xmlns:a16="http://schemas.microsoft.com/office/drawing/2014/main" val="20000"/>
                    </a:ext>
                  </a:extLst>
                </a:gridCol>
                <a:gridCol w="2343150">
                  <a:extLst>
                    <a:ext uri="{9D8B030D-6E8A-4147-A177-3AD203B41FA5}">
                      <a16:colId xmlns:a16="http://schemas.microsoft.com/office/drawing/2014/main" val="20001"/>
                    </a:ext>
                  </a:extLst>
                </a:gridCol>
                <a:gridCol w="2343150">
                  <a:extLst>
                    <a:ext uri="{9D8B030D-6E8A-4147-A177-3AD203B41FA5}">
                      <a16:colId xmlns:a16="http://schemas.microsoft.com/office/drawing/2014/main" val="20002"/>
                    </a:ext>
                  </a:extLst>
                </a:gridCol>
              </a:tblGrid>
              <a:tr h="478790">
                <a:tc gridSpan="3">
                  <a:txBody>
                    <a:bodyPr/>
                    <a:lstStyle/>
                    <a:p>
                      <a:pPr marL="2540" algn="ctr">
                        <a:lnSpc>
                          <a:spcPct val="100000"/>
                        </a:lnSpc>
                        <a:spcBef>
                          <a:spcPts val="240"/>
                        </a:spcBef>
                      </a:pPr>
                      <a:r>
                        <a:rPr sz="1800" b="1" dirty="0">
                          <a:solidFill>
                            <a:srgbClr val="FFFFFF"/>
                          </a:solidFill>
                          <a:latin typeface="Calibri"/>
                          <a:cs typeface="Calibri"/>
                        </a:rPr>
                        <a:t>Common</a:t>
                      </a:r>
                      <a:r>
                        <a:rPr sz="1800" b="1" spc="-20" dirty="0">
                          <a:solidFill>
                            <a:srgbClr val="FFFFFF"/>
                          </a:solidFill>
                          <a:latin typeface="Calibri"/>
                          <a:cs typeface="Calibri"/>
                        </a:rPr>
                        <a:t> </a:t>
                      </a:r>
                      <a:r>
                        <a:rPr sz="1800" b="1" spc="-10" dirty="0">
                          <a:solidFill>
                            <a:srgbClr val="FFFFFF"/>
                          </a:solidFill>
                          <a:latin typeface="Calibri"/>
                          <a:cs typeface="Calibri"/>
                        </a:rPr>
                        <a:t>Sources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6B8AB"/>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736725">
                <a:tc>
                  <a:txBody>
                    <a:bodyPr/>
                    <a:lstStyle/>
                    <a:p>
                      <a:pPr marL="91440">
                        <a:lnSpc>
                          <a:spcPct val="100000"/>
                        </a:lnSpc>
                        <a:spcBef>
                          <a:spcPts val="240"/>
                        </a:spcBef>
                      </a:pPr>
                      <a:r>
                        <a:rPr sz="1800" b="1" dirty="0">
                          <a:latin typeface="Calibri"/>
                          <a:cs typeface="Calibri"/>
                        </a:rPr>
                        <a:t>Social</a:t>
                      </a:r>
                      <a:r>
                        <a:rPr sz="1800" b="1" spc="-35" dirty="0">
                          <a:latin typeface="Calibri"/>
                          <a:cs typeface="Calibri"/>
                        </a:rPr>
                        <a:t> </a:t>
                      </a:r>
                      <a:r>
                        <a:rPr sz="1800" b="1" spc="-10" dirty="0">
                          <a:latin typeface="Calibri"/>
                          <a:cs typeface="Calibri"/>
                        </a:rPr>
                        <a:t>Media</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Facebook</a:t>
                      </a:r>
                      <a:r>
                        <a:rPr sz="1800" spc="-105" dirty="0">
                          <a:latin typeface="Calibri"/>
                          <a:cs typeface="Calibri"/>
                        </a:rPr>
                        <a:t> </a:t>
                      </a:r>
                      <a:r>
                        <a:rPr sz="1800" spc="-10" dirty="0">
                          <a:latin typeface="Calibri"/>
                          <a:cs typeface="Calibri"/>
                        </a:rPr>
                        <a:t>posts</a:t>
                      </a:r>
                      <a:endParaRPr sz="1800">
                        <a:latin typeface="Calibri"/>
                        <a:cs typeface="Calibri"/>
                      </a:endParaRPr>
                    </a:p>
                    <a:p>
                      <a:pPr marL="170180" indent="-111125">
                        <a:lnSpc>
                          <a:spcPct val="100000"/>
                        </a:lnSpc>
                        <a:spcBef>
                          <a:spcPts val="5"/>
                        </a:spcBef>
                        <a:buSzPct val="94444"/>
                        <a:buFont typeface="Tahoma"/>
                        <a:buChar char="•"/>
                        <a:tabLst>
                          <a:tab pos="170180" algn="l"/>
                        </a:tabLst>
                      </a:pPr>
                      <a:r>
                        <a:rPr sz="1800" spc="-10" dirty="0">
                          <a:latin typeface="Calibri"/>
                          <a:cs typeface="Calibri"/>
                        </a:rPr>
                        <a:t>Instagram</a:t>
                      </a:r>
                      <a:r>
                        <a:rPr sz="1800" spc="-50" dirty="0">
                          <a:latin typeface="Calibri"/>
                          <a:cs typeface="Calibri"/>
                        </a:rPr>
                        <a:t> </a:t>
                      </a:r>
                      <a:r>
                        <a:rPr sz="1800" spc="-10" dirty="0">
                          <a:latin typeface="Calibri"/>
                          <a:cs typeface="Calibri"/>
                        </a:rPr>
                        <a:t>images</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X</a:t>
                      </a:r>
                      <a:r>
                        <a:rPr sz="1800" spc="-30" dirty="0">
                          <a:latin typeface="Calibri"/>
                          <a:cs typeface="Calibri"/>
                        </a:rPr>
                        <a:t> </a:t>
                      </a:r>
                      <a:r>
                        <a:rPr sz="1800" spc="-20" dirty="0">
                          <a:latin typeface="Calibri"/>
                          <a:cs typeface="Calibri"/>
                        </a:rPr>
                        <a:t>(Twitter)</a:t>
                      </a:r>
                      <a:r>
                        <a:rPr sz="1800" spc="5" dirty="0">
                          <a:latin typeface="Calibri"/>
                          <a:cs typeface="Calibri"/>
                        </a:rPr>
                        <a:t> </a:t>
                      </a:r>
                      <a:r>
                        <a:rPr sz="1800" spc="-10" dirty="0">
                          <a:latin typeface="Calibri"/>
                          <a:cs typeface="Calibri"/>
                        </a:rPr>
                        <a:t>tweets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LinkedIn</a:t>
                      </a:r>
                      <a:r>
                        <a:rPr sz="1800" spc="-30" dirty="0">
                          <a:latin typeface="Calibri"/>
                          <a:cs typeface="Calibri"/>
                        </a:rPr>
                        <a:t> </a:t>
                      </a:r>
                      <a:r>
                        <a:rPr sz="1800" spc="-10" dirty="0">
                          <a:latin typeface="Calibri"/>
                          <a:cs typeface="Calibri"/>
                        </a:rPr>
                        <a:t>posts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DEA"/>
                    </a:solidFill>
                  </a:tcPr>
                </a:tc>
                <a:tc>
                  <a:txBody>
                    <a:bodyPr/>
                    <a:lstStyle/>
                    <a:p>
                      <a:pPr marL="92075" marR="483870">
                        <a:lnSpc>
                          <a:spcPct val="100000"/>
                        </a:lnSpc>
                        <a:spcBef>
                          <a:spcPts val="240"/>
                        </a:spcBef>
                      </a:pPr>
                      <a:r>
                        <a:rPr sz="1800" b="1" spc="-10" dirty="0">
                          <a:latin typeface="Calibri"/>
                          <a:cs typeface="Calibri"/>
                        </a:rPr>
                        <a:t>E-commerce </a:t>
                      </a:r>
                      <a:r>
                        <a:rPr sz="1800" spc="-10" dirty="0">
                          <a:latin typeface="Calibri"/>
                          <a:cs typeface="Calibri"/>
                        </a:rPr>
                        <a:t>Customer</a:t>
                      </a:r>
                      <a:r>
                        <a:rPr sz="1800" spc="-35" dirty="0">
                          <a:latin typeface="Calibri"/>
                          <a:cs typeface="Calibri"/>
                        </a:rPr>
                        <a:t> </a:t>
                      </a:r>
                      <a:r>
                        <a:rPr sz="1800" spc="-10" dirty="0">
                          <a:latin typeface="Calibri"/>
                          <a:cs typeface="Calibri"/>
                        </a:rPr>
                        <a:t>reviews </a:t>
                      </a:r>
                      <a:r>
                        <a:rPr sz="1800" dirty="0">
                          <a:latin typeface="Calibri"/>
                          <a:cs typeface="Calibri"/>
                        </a:rPr>
                        <a:t>Product</a:t>
                      </a:r>
                      <a:r>
                        <a:rPr sz="1800" spc="-80" dirty="0">
                          <a:latin typeface="Calibri"/>
                          <a:cs typeface="Calibri"/>
                        </a:rPr>
                        <a:t> </a:t>
                      </a:r>
                      <a:r>
                        <a:rPr sz="1800" spc="-10" dirty="0">
                          <a:latin typeface="Calibri"/>
                          <a:cs typeface="Calibri"/>
                        </a:rPr>
                        <a:t>images </a:t>
                      </a:r>
                      <a:r>
                        <a:rPr sz="1800" dirty="0">
                          <a:latin typeface="Calibri"/>
                          <a:cs typeface="Calibri"/>
                        </a:rPr>
                        <a:t>Product</a:t>
                      </a:r>
                      <a:r>
                        <a:rPr sz="1800" spc="-80" dirty="0">
                          <a:latin typeface="Calibri"/>
                          <a:cs typeface="Calibri"/>
                        </a:rPr>
                        <a:t> </a:t>
                      </a:r>
                      <a:r>
                        <a:rPr sz="1800" spc="-10" dirty="0">
                          <a:latin typeface="Calibri"/>
                          <a:cs typeface="Calibri"/>
                        </a:rPr>
                        <a:t>videos </a:t>
                      </a:r>
                      <a:r>
                        <a:rPr sz="1800" dirty="0">
                          <a:latin typeface="Calibri"/>
                          <a:cs typeface="Calibri"/>
                        </a:rPr>
                        <a:t>Chat</a:t>
                      </a:r>
                      <a:r>
                        <a:rPr sz="1800" spc="-45" dirty="0">
                          <a:latin typeface="Calibri"/>
                          <a:cs typeface="Calibri"/>
                        </a:rPr>
                        <a:t> </a:t>
                      </a:r>
                      <a:r>
                        <a:rPr sz="1800" spc="-10" dirty="0">
                          <a:latin typeface="Calibri"/>
                          <a:cs typeface="Calibri"/>
                        </a:rPr>
                        <a:t>conversations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DEA"/>
                    </a:solidFill>
                  </a:tcPr>
                </a:tc>
                <a:tc>
                  <a:txBody>
                    <a:bodyPr/>
                    <a:lstStyle/>
                    <a:p>
                      <a:pPr marL="92075">
                        <a:lnSpc>
                          <a:spcPct val="100000"/>
                        </a:lnSpc>
                        <a:spcBef>
                          <a:spcPts val="240"/>
                        </a:spcBef>
                      </a:pPr>
                      <a:r>
                        <a:rPr sz="1800" b="1" dirty="0">
                          <a:latin typeface="Calibri"/>
                          <a:cs typeface="Calibri"/>
                        </a:rPr>
                        <a:t>Enterprise</a:t>
                      </a:r>
                      <a:r>
                        <a:rPr sz="1800" b="1" spc="-65" dirty="0">
                          <a:latin typeface="Calibri"/>
                          <a:cs typeface="Calibri"/>
                        </a:rPr>
                        <a:t> </a:t>
                      </a:r>
                      <a:r>
                        <a:rPr sz="1800" b="1" spc="-20" dirty="0">
                          <a:latin typeface="Calibri"/>
                          <a:cs typeface="Calibri"/>
                        </a:rPr>
                        <a:t>Data</a:t>
                      </a:r>
                      <a:endParaRPr sz="1800">
                        <a:latin typeface="Calibri"/>
                        <a:cs typeface="Calibri"/>
                      </a:endParaRPr>
                    </a:p>
                    <a:p>
                      <a:pPr marL="92075">
                        <a:lnSpc>
                          <a:spcPct val="100000"/>
                        </a:lnSpc>
                      </a:pPr>
                      <a:r>
                        <a:rPr sz="1800" spc="-10" dirty="0">
                          <a:latin typeface="Calibri"/>
                          <a:cs typeface="Calibri"/>
                        </a:rPr>
                        <a:t>Emails</a:t>
                      </a:r>
                      <a:endParaRPr sz="1800">
                        <a:latin typeface="Calibri"/>
                        <a:cs typeface="Calibri"/>
                      </a:endParaRPr>
                    </a:p>
                    <a:p>
                      <a:pPr marL="92075" marR="639445">
                        <a:lnSpc>
                          <a:spcPct val="100000"/>
                        </a:lnSpc>
                        <a:spcBef>
                          <a:spcPts val="5"/>
                        </a:spcBef>
                      </a:pPr>
                      <a:r>
                        <a:rPr sz="1800" dirty="0">
                          <a:latin typeface="Calibri"/>
                          <a:cs typeface="Calibri"/>
                        </a:rPr>
                        <a:t>PDF</a:t>
                      </a:r>
                      <a:r>
                        <a:rPr sz="1800" spc="-30" dirty="0">
                          <a:latin typeface="Calibri"/>
                          <a:cs typeface="Calibri"/>
                        </a:rPr>
                        <a:t> </a:t>
                      </a:r>
                      <a:r>
                        <a:rPr sz="1800" spc="-10" dirty="0">
                          <a:latin typeface="Calibri"/>
                          <a:cs typeface="Calibri"/>
                        </a:rPr>
                        <a:t>reports Word</a:t>
                      </a:r>
                      <a:r>
                        <a:rPr sz="1800" spc="-70" dirty="0">
                          <a:latin typeface="Calibri"/>
                          <a:cs typeface="Calibri"/>
                        </a:rPr>
                        <a:t> </a:t>
                      </a:r>
                      <a:r>
                        <a:rPr sz="1800" spc="-10" dirty="0">
                          <a:latin typeface="Calibri"/>
                          <a:cs typeface="Calibri"/>
                        </a:rPr>
                        <a:t>documents Presentations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CDDEA"/>
                    </a:solidFill>
                  </a:tcPr>
                </a:tc>
                <a:extLst>
                  <a:ext uri="{0D108BD9-81ED-4DB2-BD59-A6C34878D82A}">
                    <a16:rowId xmlns:a16="http://schemas.microsoft.com/office/drawing/2014/main" val="10001"/>
                  </a:ext>
                </a:extLst>
              </a:tr>
              <a:tr h="2011045">
                <a:tc>
                  <a:txBody>
                    <a:bodyPr/>
                    <a:lstStyle/>
                    <a:p>
                      <a:pPr marL="91440">
                        <a:lnSpc>
                          <a:spcPct val="100000"/>
                        </a:lnSpc>
                        <a:spcBef>
                          <a:spcPts val="245"/>
                        </a:spcBef>
                      </a:pPr>
                      <a:r>
                        <a:rPr sz="1800" b="1" spc="-10" dirty="0">
                          <a:latin typeface="Calibri"/>
                          <a:cs typeface="Calibri"/>
                        </a:rPr>
                        <a:t>Healthcare</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MRI</a:t>
                      </a:r>
                      <a:r>
                        <a:rPr sz="1800" spc="-10" dirty="0">
                          <a:latin typeface="Calibri"/>
                          <a:cs typeface="Calibri"/>
                        </a:rPr>
                        <a:t> scans</a:t>
                      </a:r>
                      <a:endParaRPr sz="1800">
                        <a:latin typeface="Calibri"/>
                        <a:cs typeface="Calibri"/>
                      </a:endParaRPr>
                    </a:p>
                    <a:p>
                      <a:pPr marL="170180" indent="-111125">
                        <a:lnSpc>
                          <a:spcPct val="100000"/>
                        </a:lnSpc>
                        <a:buSzPct val="94444"/>
                        <a:buFont typeface="Tahoma"/>
                        <a:buChar char="•"/>
                        <a:tabLst>
                          <a:tab pos="170180" algn="l"/>
                        </a:tabLst>
                      </a:pPr>
                      <a:r>
                        <a:rPr sz="1800" dirty="0">
                          <a:latin typeface="Calibri"/>
                          <a:cs typeface="Calibri"/>
                        </a:rPr>
                        <a:t>CT</a:t>
                      </a:r>
                      <a:r>
                        <a:rPr sz="1800" spc="-5" dirty="0">
                          <a:latin typeface="Calibri"/>
                          <a:cs typeface="Calibri"/>
                        </a:rPr>
                        <a:t> </a:t>
                      </a:r>
                      <a:r>
                        <a:rPr sz="1800" spc="-10" dirty="0">
                          <a:latin typeface="Calibri"/>
                          <a:cs typeface="Calibri"/>
                        </a:rPr>
                        <a:t>scans</a:t>
                      </a:r>
                      <a:endParaRPr sz="1800">
                        <a:latin typeface="Calibri"/>
                        <a:cs typeface="Calibri"/>
                      </a:endParaRPr>
                    </a:p>
                    <a:p>
                      <a:pPr marL="170180" indent="-111125">
                        <a:lnSpc>
                          <a:spcPct val="100000"/>
                        </a:lnSpc>
                        <a:buSzPct val="94444"/>
                        <a:buFont typeface="Tahoma"/>
                        <a:buChar char="•"/>
                        <a:tabLst>
                          <a:tab pos="170180" algn="l"/>
                        </a:tabLst>
                      </a:pPr>
                      <a:r>
                        <a:rPr sz="1800" spc="-10" dirty="0">
                          <a:latin typeface="Calibri"/>
                          <a:cs typeface="Calibri"/>
                        </a:rPr>
                        <a:t>X-</a:t>
                      </a:r>
                      <a:r>
                        <a:rPr sz="1800" spc="-20" dirty="0">
                          <a:latin typeface="Calibri"/>
                          <a:cs typeface="Calibri"/>
                        </a:rPr>
                        <a:t>rays</a:t>
                      </a:r>
                      <a:endParaRPr sz="1800">
                        <a:latin typeface="Calibri"/>
                        <a:cs typeface="Calibri"/>
                      </a:endParaRPr>
                    </a:p>
                    <a:p>
                      <a:pPr marL="91440" marR="456565" indent="-32384">
                        <a:lnSpc>
                          <a:spcPct val="100000"/>
                        </a:lnSpc>
                        <a:spcBef>
                          <a:spcPts val="5"/>
                        </a:spcBef>
                        <a:buSzPct val="94444"/>
                        <a:buFont typeface="Tahoma"/>
                        <a:buChar char="•"/>
                        <a:tabLst>
                          <a:tab pos="170180" algn="l"/>
                        </a:tabLst>
                      </a:pPr>
                      <a:r>
                        <a:rPr sz="1800" dirty="0">
                          <a:latin typeface="Calibri"/>
                          <a:cs typeface="Calibri"/>
                        </a:rPr>
                        <a:t>	Electronic</a:t>
                      </a:r>
                      <a:r>
                        <a:rPr sz="1800" spc="-95" dirty="0">
                          <a:latin typeface="Calibri"/>
                          <a:cs typeface="Calibri"/>
                        </a:rPr>
                        <a:t> </a:t>
                      </a:r>
                      <a:r>
                        <a:rPr sz="1800" spc="-10" dirty="0">
                          <a:latin typeface="Calibri"/>
                          <a:cs typeface="Calibri"/>
                        </a:rPr>
                        <a:t>Medical Records</a:t>
                      </a:r>
                      <a:r>
                        <a:rPr sz="1800" spc="-45" dirty="0">
                          <a:latin typeface="Calibri"/>
                          <a:cs typeface="Calibri"/>
                        </a:rPr>
                        <a:t> </a:t>
                      </a:r>
                      <a:r>
                        <a:rPr sz="1800" spc="-20" dirty="0">
                          <a:latin typeface="Calibri"/>
                          <a:cs typeface="Calibri"/>
                        </a:rPr>
                        <a:t>(EMR)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DEA"/>
                    </a:solidFill>
                  </a:tcPr>
                </a:tc>
                <a:tc>
                  <a:txBody>
                    <a:bodyPr/>
                    <a:lstStyle/>
                    <a:p>
                      <a:pPr marL="92075" marR="929005">
                        <a:lnSpc>
                          <a:spcPct val="100000"/>
                        </a:lnSpc>
                        <a:spcBef>
                          <a:spcPts val="245"/>
                        </a:spcBef>
                      </a:pPr>
                      <a:r>
                        <a:rPr sz="1800" b="1" dirty="0">
                          <a:latin typeface="Calibri"/>
                          <a:cs typeface="Calibri"/>
                        </a:rPr>
                        <a:t>IoT</a:t>
                      </a:r>
                      <a:r>
                        <a:rPr sz="1800" b="1" spc="-25" dirty="0">
                          <a:latin typeface="Calibri"/>
                          <a:cs typeface="Calibri"/>
                        </a:rPr>
                        <a:t> </a:t>
                      </a:r>
                      <a:r>
                        <a:rPr sz="1800" b="1" spc="-10" dirty="0">
                          <a:latin typeface="Calibri"/>
                          <a:cs typeface="Calibri"/>
                        </a:rPr>
                        <a:t>Devices </a:t>
                      </a:r>
                      <a:r>
                        <a:rPr sz="1800" dirty="0">
                          <a:latin typeface="Calibri"/>
                          <a:cs typeface="Calibri"/>
                        </a:rPr>
                        <a:t>CCTV</a:t>
                      </a:r>
                      <a:r>
                        <a:rPr sz="1800" spc="-30" dirty="0">
                          <a:latin typeface="Calibri"/>
                          <a:cs typeface="Calibri"/>
                        </a:rPr>
                        <a:t> </a:t>
                      </a:r>
                      <a:r>
                        <a:rPr sz="1800" spc="-10" dirty="0">
                          <a:latin typeface="Calibri"/>
                          <a:cs typeface="Calibri"/>
                        </a:rPr>
                        <a:t>cameras </a:t>
                      </a:r>
                      <a:r>
                        <a:rPr sz="1800" dirty="0">
                          <a:latin typeface="Calibri"/>
                          <a:cs typeface="Calibri"/>
                        </a:rPr>
                        <a:t>Smart</a:t>
                      </a:r>
                      <a:r>
                        <a:rPr sz="1800" spc="-10" dirty="0">
                          <a:latin typeface="Calibri"/>
                          <a:cs typeface="Calibri"/>
                        </a:rPr>
                        <a:t> sensors </a:t>
                      </a:r>
                      <a:r>
                        <a:rPr sz="1800" dirty="0">
                          <a:latin typeface="Calibri"/>
                          <a:cs typeface="Calibri"/>
                        </a:rPr>
                        <a:t>GPS</a:t>
                      </a:r>
                      <a:r>
                        <a:rPr sz="1800" spc="-15" dirty="0">
                          <a:latin typeface="Calibri"/>
                          <a:cs typeface="Calibri"/>
                        </a:rPr>
                        <a:t> </a:t>
                      </a:r>
                      <a:r>
                        <a:rPr sz="1800" spc="-10" dirty="0">
                          <a:latin typeface="Calibri"/>
                          <a:cs typeface="Calibri"/>
                        </a:rPr>
                        <a:t>devices</a:t>
                      </a:r>
                      <a:endParaRPr sz="1800">
                        <a:latin typeface="Calibri"/>
                        <a:cs typeface="Calibri"/>
                      </a:endParaRPr>
                    </a:p>
                    <a:p>
                      <a:pPr marL="92075">
                        <a:lnSpc>
                          <a:spcPct val="100000"/>
                        </a:lnSpc>
                        <a:spcBef>
                          <a:spcPts val="5"/>
                        </a:spcBef>
                      </a:pPr>
                      <a:r>
                        <a:rPr sz="1800" spc="-10" dirty="0">
                          <a:latin typeface="Calibri"/>
                          <a:cs typeface="Calibri"/>
                        </a:rPr>
                        <a:t>Wearable</a:t>
                      </a:r>
                      <a:r>
                        <a:rPr sz="1800" spc="-85" dirty="0">
                          <a:latin typeface="Calibri"/>
                          <a:cs typeface="Calibri"/>
                        </a:rPr>
                        <a:t> </a:t>
                      </a:r>
                      <a:r>
                        <a:rPr sz="1800" spc="-10" dirty="0">
                          <a:latin typeface="Calibri"/>
                          <a:cs typeface="Calibri"/>
                        </a:rPr>
                        <a:t>devices</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DEA"/>
                    </a:solidFill>
                  </a:tcPr>
                </a:tc>
                <a:tc>
                  <a:txBody>
                    <a:bodyPr/>
                    <a:lstStyle/>
                    <a:p>
                      <a:pPr>
                        <a:lnSpc>
                          <a:spcPct val="100000"/>
                        </a:lnSpc>
                      </a:pP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CDDE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5731" y="350875"/>
            <a:ext cx="8075295" cy="3465829"/>
          </a:xfrm>
          <a:prstGeom prst="rect">
            <a:avLst/>
          </a:prstGeom>
        </p:spPr>
        <p:txBody>
          <a:bodyPr vert="horz" wrap="square" lIns="0" tIns="160020" rIns="0" bIns="0" rtlCol="0">
            <a:spAutoFit/>
          </a:bodyPr>
          <a:lstStyle/>
          <a:p>
            <a:pPr marL="104139">
              <a:lnSpc>
                <a:spcPct val="100000"/>
              </a:lnSpc>
              <a:spcBef>
                <a:spcPts val="1260"/>
              </a:spcBef>
            </a:pPr>
            <a:r>
              <a:rPr sz="2000" b="1" dirty="0">
                <a:solidFill>
                  <a:srgbClr val="404040"/>
                </a:solidFill>
                <a:latin typeface="Calibri"/>
                <a:cs typeface="Calibri"/>
              </a:rPr>
              <a:t>Step</a:t>
            </a:r>
            <a:r>
              <a:rPr sz="2000" b="1" spc="-30" dirty="0">
                <a:solidFill>
                  <a:srgbClr val="404040"/>
                </a:solidFill>
                <a:latin typeface="Calibri"/>
                <a:cs typeface="Calibri"/>
              </a:rPr>
              <a:t> </a:t>
            </a:r>
            <a:r>
              <a:rPr sz="2000" b="1" dirty="0">
                <a:solidFill>
                  <a:srgbClr val="404040"/>
                </a:solidFill>
                <a:latin typeface="Calibri"/>
                <a:cs typeface="Calibri"/>
              </a:rPr>
              <a:t>2:</a:t>
            </a:r>
            <a:r>
              <a:rPr sz="2000" b="1" spc="-45" dirty="0">
                <a:solidFill>
                  <a:srgbClr val="404040"/>
                </a:solidFill>
                <a:latin typeface="Calibri"/>
                <a:cs typeface="Calibri"/>
              </a:rPr>
              <a:t> </a:t>
            </a:r>
            <a:r>
              <a:rPr sz="2000" b="1" dirty="0">
                <a:solidFill>
                  <a:srgbClr val="404040"/>
                </a:solidFill>
                <a:latin typeface="Calibri"/>
                <a:cs typeface="Calibri"/>
              </a:rPr>
              <a:t>Data</a:t>
            </a:r>
            <a:r>
              <a:rPr sz="2000" b="1" spc="-30" dirty="0">
                <a:solidFill>
                  <a:srgbClr val="404040"/>
                </a:solidFill>
                <a:latin typeface="Calibri"/>
                <a:cs typeface="Calibri"/>
              </a:rPr>
              <a:t> </a:t>
            </a:r>
            <a:r>
              <a:rPr sz="2000" b="1" dirty="0">
                <a:solidFill>
                  <a:srgbClr val="404040"/>
                </a:solidFill>
                <a:latin typeface="Calibri"/>
                <a:cs typeface="Calibri"/>
              </a:rPr>
              <a:t>Cleaning</a:t>
            </a:r>
            <a:r>
              <a:rPr sz="2000" b="1" spc="-35" dirty="0">
                <a:solidFill>
                  <a:srgbClr val="404040"/>
                </a:solidFill>
                <a:latin typeface="Calibri"/>
                <a:cs typeface="Calibri"/>
              </a:rPr>
              <a:t> </a:t>
            </a:r>
            <a:r>
              <a:rPr sz="2000" b="1" dirty="0">
                <a:solidFill>
                  <a:srgbClr val="404040"/>
                </a:solidFill>
                <a:latin typeface="Calibri"/>
                <a:cs typeface="Calibri"/>
              </a:rPr>
              <a:t>&amp;</a:t>
            </a:r>
            <a:r>
              <a:rPr sz="2000" b="1" spc="-25" dirty="0">
                <a:solidFill>
                  <a:srgbClr val="404040"/>
                </a:solidFill>
                <a:latin typeface="Calibri"/>
                <a:cs typeface="Calibri"/>
              </a:rPr>
              <a:t> </a:t>
            </a:r>
            <a:r>
              <a:rPr sz="2000" b="1" spc="-10" dirty="0">
                <a:solidFill>
                  <a:srgbClr val="404040"/>
                </a:solidFill>
                <a:latin typeface="Calibri"/>
                <a:cs typeface="Calibri"/>
              </a:rPr>
              <a:t>Preprocessing</a:t>
            </a:r>
            <a:endParaRPr sz="2000">
              <a:latin typeface="Calibri"/>
              <a:cs typeface="Calibri"/>
            </a:endParaRPr>
          </a:p>
          <a:p>
            <a:pPr marL="104139" marR="5080">
              <a:lnSpc>
                <a:spcPts val="2160"/>
              </a:lnSpc>
              <a:spcBef>
                <a:spcPts val="1440"/>
              </a:spcBef>
            </a:pPr>
            <a:r>
              <a:rPr sz="2000" dirty="0">
                <a:solidFill>
                  <a:srgbClr val="404040"/>
                </a:solidFill>
                <a:latin typeface="Calibri"/>
                <a:cs typeface="Calibri"/>
              </a:rPr>
              <a:t>Raw</a:t>
            </a:r>
            <a:r>
              <a:rPr sz="2000" spc="-60" dirty="0">
                <a:solidFill>
                  <a:srgbClr val="404040"/>
                </a:solidFill>
                <a:latin typeface="Calibri"/>
                <a:cs typeface="Calibri"/>
              </a:rPr>
              <a:t> </a:t>
            </a:r>
            <a:r>
              <a:rPr sz="2000" spc="-10" dirty="0">
                <a:solidFill>
                  <a:srgbClr val="404040"/>
                </a:solidFill>
                <a:latin typeface="Calibri"/>
                <a:cs typeface="Calibri"/>
              </a:rPr>
              <a:t>unstructured</a:t>
            </a:r>
            <a:r>
              <a:rPr sz="2000" spc="-50"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is</a:t>
            </a:r>
            <a:r>
              <a:rPr sz="2000" spc="-40" dirty="0">
                <a:solidFill>
                  <a:srgbClr val="404040"/>
                </a:solidFill>
                <a:latin typeface="Calibri"/>
                <a:cs typeface="Calibri"/>
              </a:rPr>
              <a:t> </a:t>
            </a:r>
            <a:r>
              <a:rPr sz="2000" dirty="0">
                <a:solidFill>
                  <a:srgbClr val="404040"/>
                </a:solidFill>
                <a:latin typeface="Calibri"/>
                <a:cs typeface="Calibri"/>
              </a:rPr>
              <a:t>often</a:t>
            </a:r>
            <a:r>
              <a:rPr sz="2000" spc="-55" dirty="0">
                <a:solidFill>
                  <a:srgbClr val="404040"/>
                </a:solidFill>
                <a:latin typeface="Calibri"/>
                <a:cs typeface="Calibri"/>
              </a:rPr>
              <a:t> </a:t>
            </a:r>
            <a:r>
              <a:rPr sz="2000" dirty="0">
                <a:solidFill>
                  <a:srgbClr val="404040"/>
                </a:solidFill>
                <a:latin typeface="Calibri"/>
                <a:cs typeface="Calibri"/>
              </a:rPr>
              <a:t>incomplete,</a:t>
            </a:r>
            <a:r>
              <a:rPr sz="2000" spc="-40" dirty="0">
                <a:solidFill>
                  <a:srgbClr val="404040"/>
                </a:solidFill>
                <a:latin typeface="Calibri"/>
                <a:cs typeface="Calibri"/>
              </a:rPr>
              <a:t> </a:t>
            </a:r>
            <a:r>
              <a:rPr sz="2000" spc="-25" dirty="0">
                <a:solidFill>
                  <a:srgbClr val="404040"/>
                </a:solidFill>
                <a:latin typeface="Calibri"/>
                <a:cs typeface="Calibri"/>
              </a:rPr>
              <a:t>noisy,</a:t>
            </a:r>
            <a:r>
              <a:rPr sz="2000" spc="-65" dirty="0">
                <a:solidFill>
                  <a:srgbClr val="404040"/>
                </a:solidFill>
                <a:latin typeface="Calibri"/>
                <a:cs typeface="Calibri"/>
              </a:rPr>
              <a:t> </a:t>
            </a:r>
            <a:r>
              <a:rPr sz="2000" dirty="0">
                <a:solidFill>
                  <a:srgbClr val="404040"/>
                </a:solidFill>
                <a:latin typeface="Calibri"/>
                <a:cs typeface="Calibri"/>
              </a:rPr>
              <a:t>duplicated,</a:t>
            </a:r>
            <a:r>
              <a:rPr sz="2000" spc="-40" dirty="0">
                <a:solidFill>
                  <a:srgbClr val="404040"/>
                </a:solidFill>
                <a:latin typeface="Calibri"/>
                <a:cs typeface="Calibri"/>
              </a:rPr>
              <a:t> </a:t>
            </a:r>
            <a:r>
              <a:rPr sz="2000" dirty="0">
                <a:solidFill>
                  <a:srgbClr val="404040"/>
                </a:solidFill>
                <a:latin typeface="Calibri"/>
                <a:cs typeface="Calibri"/>
              </a:rPr>
              <a:t>or</a:t>
            </a:r>
            <a:r>
              <a:rPr sz="2000" spc="-55" dirty="0">
                <a:solidFill>
                  <a:srgbClr val="404040"/>
                </a:solidFill>
                <a:latin typeface="Calibri"/>
                <a:cs typeface="Calibri"/>
              </a:rPr>
              <a:t> </a:t>
            </a:r>
            <a:r>
              <a:rPr sz="2000" spc="-10" dirty="0">
                <a:solidFill>
                  <a:srgbClr val="404040"/>
                </a:solidFill>
                <a:latin typeface="Calibri"/>
                <a:cs typeface="Calibri"/>
              </a:rPr>
              <a:t>inconsistent. Preprocessing</a:t>
            </a:r>
            <a:r>
              <a:rPr sz="2000" spc="-40" dirty="0">
                <a:solidFill>
                  <a:srgbClr val="404040"/>
                </a:solidFill>
                <a:latin typeface="Calibri"/>
                <a:cs typeface="Calibri"/>
              </a:rPr>
              <a:t> </a:t>
            </a:r>
            <a:r>
              <a:rPr sz="2000" spc="-10" dirty="0">
                <a:solidFill>
                  <a:srgbClr val="404040"/>
                </a:solidFill>
                <a:latin typeface="Calibri"/>
                <a:cs typeface="Calibri"/>
              </a:rPr>
              <a:t>improves</a:t>
            </a:r>
            <a:r>
              <a:rPr sz="2000" spc="-45" dirty="0">
                <a:solidFill>
                  <a:srgbClr val="404040"/>
                </a:solidFill>
                <a:latin typeface="Calibri"/>
                <a:cs typeface="Calibri"/>
              </a:rPr>
              <a:t> </a:t>
            </a:r>
            <a:r>
              <a:rPr sz="2000" dirty="0">
                <a:solidFill>
                  <a:srgbClr val="404040"/>
                </a:solidFill>
                <a:latin typeface="Calibri"/>
                <a:cs typeface="Calibri"/>
              </a:rPr>
              <a:t>its</a:t>
            </a:r>
            <a:r>
              <a:rPr sz="2000" spc="-50" dirty="0">
                <a:solidFill>
                  <a:srgbClr val="404040"/>
                </a:solidFill>
                <a:latin typeface="Calibri"/>
                <a:cs typeface="Calibri"/>
              </a:rPr>
              <a:t> </a:t>
            </a:r>
            <a:r>
              <a:rPr sz="2000" dirty="0">
                <a:solidFill>
                  <a:srgbClr val="404040"/>
                </a:solidFill>
                <a:latin typeface="Calibri"/>
                <a:cs typeface="Calibri"/>
              </a:rPr>
              <a:t>quality</a:t>
            </a:r>
            <a:r>
              <a:rPr sz="2000" spc="-55" dirty="0">
                <a:solidFill>
                  <a:srgbClr val="404040"/>
                </a:solidFill>
                <a:latin typeface="Calibri"/>
                <a:cs typeface="Calibri"/>
              </a:rPr>
              <a:t> </a:t>
            </a:r>
            <a:r>
              <a:rPr sz="2000" dirty="0">
                <a:solidFill>
                  <a:srgbClr val="404040"/>
                </a:solidFill>
                <a:latin typeface="Calibri"/>
                <a:cs typeface="Calibri"/>
              </a:rPr>
              <a:t>before</a:t>
            </a:r>
            <a:r>
              <a:rPr sz="2000" spc="-60" dirty="0">
                <a:solidFill>
                  <a:srgbClr val="404040"/>
                </a:solidFill>
                <a:latin typeface="Calibri"/>
                <a:cs typeface="Calibri"/>
              </a:rPr>
              <a:t> </a:t>
            </a:r>
            <a:r>
              <a:rPr sz="2000" spc="-10" dirty="0">
                <a:solidFill>
                  <a:srgbClr val="404040"/>
                </a:solidFill>
                <a:latin typeface="Calibri"/>
                <a:cs typeface="Calibri"/>
              </a:rPr>
              <a:t>analysis.</a:t>
            </a:r>
            <a:endParaRPr sz="2000">
              <a:latin typeface="Calibri"/>
              <a:cs typeface="Calibri"/>
            </a:endParaRPr>
          </a:p>
          <a:p>
            <a:pPr marL="104139">
              <a:lnSpc>
                <a:spcPct val="100000"/>
              </a:lnSpc>
              <a:spcBef>
                <a:spcPts val="1120"/>
              </a:spcBef>
            </a:pPr>
            <a:r>
              <a:rPr sz="2000" b="1" spc="-10" dirty="0">
                <a:solidFill>
                  <a:srgbClr val="404040"/>
                </a:solidFill>
                <a:latin typeface="Calibri"/>
                <a:cs typeface="Calibri"/>
              </a:rPr>
              <a:t>Objectives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Remove</a:t>
            </a:r>
            <a:r>
              <a:rPr sz="2000" spc="-80" dirty="0">
                <a:solidFill>
                  <a:srgbClr val="404040"/>
                </a:solidFill>
                <a:latin typeface="Calibri"/>
                <a:cs typeface="Calibri"/>
              </a:rPr>
              <a:t> </a:t>
            </a:r>
            <a:r>
              <a:rPr sz="2000" dirty="0">
                <a:solidFill>
                  <a:srgbClr val="404040"/>
                </a:solidFill>
                <a:latin typeface="Calibri"/>
                <a:cs typeface="Calibri"/>
              </a:rPr>
              <a:t>unnecessary</a:t>
            </a:r>
            <a:r>
              <a:rPr sz="2000" spc="-80" dirty="0">
                <a:solidFill>
                  <a:srgbClr val="404040"/>
                </a:solidFill>
                <a:latin typeface="Calibri"/>
                <a:cs typeface="Calibri"/>
              </a:rPr>
              <a:t> </a:t>
            </a:r>
            <a:r>
              <a:rPr sz="2000" spc="-10" dirty="0">
                <a:solidFill>
                  <a:srgbClr val="404040"/>
                </a:solidFill>
                <a:latin typeface="Calibri"/>
                <a:cs typeface="Calibri"/>
              </a:rPr>
              <a:t>information</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Improve</a:t>
            </a:r>
            <a:r>
              <a:rPr sz="2000" spc="-85" dirty="0">
                <a:solidFill>
                  <a:srgbClr val="404040"/>
                </a:solidFill>
                <a:latin typeface="Calibri"/>
                <a:cs typeface="Calibri"/>
              </a:rPr>
              <a:t> </a:t>
            </a:r>
            <a:r>
              <a:rPr sz="2000" dirty="0">
                <a:solidFill>
                  <a:srgbClr val="404040"/>
                </a:solidFill>
                <a:latin typeface="Calibri"/>
                <a:cs typeface="Calibri"/>
              </a:rPr>
              <a:t>data</a:t>
            </a:r>
            <a:r>
              <a:rPr sz="2000" spc="-85" dirty="0">
                <a:solidFill>
                  <a:srgbClr val="404040"/>
                </a:solidFill>
                <a:latin typeface="Calibri"/>
                <a:cs typeface="Calibri"/>
              </a:rPr>
              <a:t> </a:t>
            </a:r>
            <a:r>
              <a:rPr sz="2000" spc="-10" dirty="0">
                <a:solidFill>
                  <a:srgbClr val="404040"/>
                </a:solidFill>
                <a:latin typeface="Calibri"/>
                <a:cs typeface="Calibri"/>
              </a:rPr>
              <a:t>quality</a:t>
            </a:r>
            <a:endParaRPr sz="2000">
              <a:latin typeface="Calibri"/>
              <a:cs typeface="Calibri"/>
            </a:endParaRPr>
          </a:p>
          <a:p>
            <a:pPr marL="103505" indent="-101600">
              <a:lnSpc>
                <a:spcPct val="100000"/>
              </a:lnSpc>
              <a:spcBef>
                <a:spcPts val="1150"/>
              </a:spcBef>
              <a:buClr>
                <a:srgbClr val="E38312"/>
              </a:buClr>
              <a:buSzPct val="77500"/>
              <a:buFont typeface="Tahoma"/>
              <a:buChar char="•"/>
              <a:tabLst>
                <a:tab pos="103505" algn="l"/>
              </a:tabLst>
            </a:pPr>
            <a:r>
              <a:rPr sz="2000" spc="-10" dirty="0">
                <a:solidFill>
                  <a:srgbClr val="404040"/>
                </a:solidFill>
                <a:latin typeface="Calibri"/>
                <a:cs typeface="Calibri"/>
              </a:rPr>
              <a:t>Standardize</a:t>
            </a:r>
            <a:r>
              <a:rPr sz="2000" spc="-50" dirty="0">
                <a:solidFill>
                  <a:srgbClr val="404040"/>
                </a:solidFill>
                <a:latin typeface="Calibri"/>
                <a:cs typeface="Calibri"/>
              </a:rPr>
              <a:t> </a:t>
            </a:r>
            <a:r>
              <a:rPr sz="2000" spc="-10" dirty="0">
                <a:solidFill>
                  <a:srgbClr val="404040"/>
                </a:solidFill>
                <a:latin typeface="Calibri"/>
                <a:cs typeface="Calibri"/>
              </a:rPr>
              <a:t>formats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Prepare</a:t>
            </a:r>
            <a:r>
              <a:rPr sz="2000" spc="-45"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dirty="0">
                <a:solidFill>
                  <a:srgbClr val="404040"/>
                </a:solidFill>
                <a:latin typeface="Calibri"/>
                <a:cs typeface="Calibri"/>
              </a:rPr>
              <a:t>for</a:t>
            </a:r>
            <a:r>
              <a:rPr sz="2000" spc="-65" dirty="0">
                <a:solidFill>
                  <a:srgbClr val="404040"/>
                </a:solidFill>
                <a:latin typeface="Calibri"/>
                <a:cs typeface="Calibri"/>
              </a:rPr>
              <a:t> </a:t>
            </a:r>
            <a:r>
              <a:rPr sz="2000" dirty="0">
                <a:solidFill>
                  <a:srgbClr val="404040"/>
                </a:solidFill>
                <a:latin typeface="Calibri"/>
                <a:cs typeface="Calibri"/>
              </a:rPr>
              <a:t>machine</a:t>
            </a:r>
            <a:r>
              <a:rPr sz="2000" spc="-60" dirty="0">
                <a:solidFill>
                  <a:srgbClr val="404040"/>
                </a:solidFill>
                <a:latin typeface="Calibri"/>
                <a:cs typeface="Calibri"/>
              </a:rPr>
              <a:t> </a:t>
            </a:r>
            <a:r>
              <a:rPr sz="2000" spc="-10" dirty="0">
                <a:solidFill>
                  <a:srgbClr val="404040"/>
                </a:solidFill>
                <a:latin typeface="Calibri"/>
                <a:cs typeface="Calibri"/>
              </a:rPr>
              <a:t>learning</a:t>
            </a:r>
            <a:endParaRPr sz="2000">
              <a:latin typeface="Calibri"/>
              <a:cs typeface="Calibri"/>
            </a:endParaRPr>
          </a:p>
        </p:txBody>
      </p:sp>
      <p:sp>
        <p:nvSpPr>
          <p:cNvPr id="3" name="object 3"/>
          <p:cNvSpPr/>
          <p:nvPr/>
        </p:nvSpPr>
        <p:spPr>
          <a:xfrm>
            <a:off x="6404609" y="2707385"/>
            <a:ext cx="0" cy="3853179"/>
          </a:xfrm>
          <a:custGeom>
            <a:avLst/>
            <a:gdLst/>
            <a:ahLst/>
            <a:cxnLst/>
            <a:rect l="l" t="t" r="r" b="b"/>
            <a:pathLst>
              <a:path h="3853179">
                <a:moveTo>
                  <a:pt x="0" y="0"/>
                </a:moveTo>
                <a:lnTo>
                  <a:pt x="0" y="3853179"/>
                </a:lnTo>
              </a:path>
            </a:pathLst>
          </a:custGeom>
          <a:ln w="12700">
            <a:solidFill>
              <a:srgbClr val="FFFFFF"/>
            </a:solidFill>
          </a:ln>
        </p:spPr>
        <p:txBody>
          <a:bodyPr wrap="square" lIns="0" tIns="0" rIns="0" bIns="0" rtlCol="0"/>
          <a:lstStyle/>
          <a:p>
            <a:endParaRPr/>
          </a:p>
        </p:txBody>
      </p:sp>
      <p:sp>
        <p:nvSpPr>
          <p:cNvPr id="4" name="object 4"/>
          <p:cNvSpPr/>
          <p:nvPr/>
        </p:nvSpPr>
        <p:spPr>
          <a:xfrm>
            <a:off x="8985504" y="2707385"/>
            <a:ext cx="0" cy="3853179"/>
          </a:xfrm>
          <a:custGeom>
            <a:avLst/>
            <a:gdLst/>
            <a:ahLst/>
            <a:cxnLst/>
            <a:rect l="l" t="t" r="r" b="b"/>
            <a:pathLst>
              <a:path h="3853179">
                <a:moveTo>
                  <a:pt x="0" y="0"/>
                </a:moveTo>
                <a:lnTo>
                  <a:pt x="0" y="3853179"/>
                </a:lnTo>
              </a:path>
            </a:pathLst>
          </a:custGeom>
          <a:ln w="12700">
            <a:solidFill>
              <a:srgbClr val="FFFFFF"/>
            </a:solidFill>
          </a:ln>
        </p:spPr>
        <p:txBody>
          <a:bodyPr wrap="square" lIns="0" tIns="0" rIns="0" bIns="0" rtlCol="0"/>
          <a:lstStyle/>
          <a:p>
            <a:endParaRPr/>
          </a:p>
        </p:txBody>
      </p:sp>
      <p:graphicFrame>
        <p:nvGraphicFramePr>
          <p:cNvPr id="5" name="object 5"/>
          <p:cNvGraphicFramePr>
            <a:graphicFrameLocks noGrp="1"/>
          </p:cNvGraphicFramePr>
          <p:nvPr/>
        </p:nvGraphicFramePr>
        <p:xfrm>
          <a:off x="4102353" y="2707385"/>
          <a:ext cx="5035549" cy="3839845"/>
        </p:xfrm>
        <a:graphic>
          <a:graphicData uri="http://schemas.openxmlformats.org/drawingml/2006/table">
            <a:tbl>
              <a:tblPr firstRow="1" bandRow="1">
                <a:tableStyleId>{2D5ABB26-0587-4C30-8999-92F81FD0307C}</a:tableStyleId>
              </a:tblPr>
              <a:tblGrid>
                <a:gridCol w="2015489">
                  <a:extLst>
                    <a:ext uri="{9D8B030D-6E8A-4147-A177-3AD203B41FA5}">
                      <a16:colId xmlns:a16="http://schemas.microsoft.com/office/drawing/2014/main" val="20000"/>
                    </a:ext>
                  </a:extLst>
                </a:gridCol>
                <a:gridCol w="2861310">
                  <a:extLst>
                    <a:ext uri="{9D8B030D-6E8A-4147-A177-3AD203B41FA5}">
                      <a16:colId xmlns:a16="http://schemas.microsoft.com/office/drawing/2014/main" val="20001"/>
                    </a:ext>
                  </a:extLst>
                </a:gridCol>
                <a:gridCol w="158750">
                  <a:extLst>
                    <a:ext uri="{9D8B030D-6E8A-4147-A177-3AD203B41FA5}">
                      <a16:colId xmlns:a16="http://schemas.microsoft.com/office/drawing/2014/main" val="20002"/>
                    </a:ext>
                  </a:extLst>
                </a:gridCol>
              </a:tblGrid>
              <a:tr h="2103120">
                <a:tc>
                  <a:txBody>
                    <a:bodyPr/>
                    <a:lstStyle/>
                    <a:p>
                      <a:pPr marL="92075">
                        <a:lnSpc>
                          <a:spcPct val="100000"/>
                        </a:lnSpc>
                        <a:spcBef>
                          <a:spcPts val="290"/>
                        </a:spcBef>
                      </a:pPr>
                      <a:r>
                        <a:rPr sz="1200" b="1" spc="-25" dirty="0">
                          <a:latin typeface="Calibri"/>
                          <a:cs typeface="Calibri"/>
                        </a:rPr>
                        <a:t>Text</a:t>
                      </a:r>
                      <a:r>
                        <a:rPr sz="1200" b="1" spc="-40" dirty="0">
                          <a:latin typeface="Calibri"/>
                          <a:cs typeface="Calibri"/>
                        </a:rPr>
                        <a:t> </a:t>
                      </a:r>
                      <a:r>
                        <a:rPr sz="1200" b="1" dirty="0">
                          <a:latin typeface="Calibri"/>
                          <a:cs typeface="Calibri"/>
                        </a:rPr>
                        <a:t>Data</a:t>
                      </a:r>
                      <a:r>
                        <a:rPr sz="1200" b="1" spc="-45" dirty="0">
                          <a:latin typeface="Calibri"/>
                          <a:cs typeface="Calibri"/>
                        </a:rPr>
                        <a:t> </a:t>
                      </a:r>
                      <a:r>
                        <a:rPr sz="1200" b="1" spc="-10" dirty="0">
                          <a:latin typeface="Calibri"/>
                          <a:cs typeface="Calibri"/>
                        </a:rPr>
                        <a:t>Cleaning</a:t>
                      </a:r>
                      <a:endParaRPr sz="1200">
                        <a:latin typeface="Calibri"/>
                        <a:cs typeface="Calibri"/>
                      </a:endParaRPr>
                    </a:p>
                    <a:p>
                      <a:pPr marL="92075">
                        <a:lnSpc>
                          <a:spcPct val="100000"/>
                        </a:lnSpc>
                      </a:pPr>
                      <a:r>
                        <a:rPr sz="1200" spc="-10" dirty="0">
                          <a:latin typeface="Calibri"/>
                          <a:cs typeface="Calibri"/>
                        </a:rPr>
                        <a:t>Operations</a:t>
                      </a:r>
                      <a:r>
                        <a:rPr sz="1200" spc="10" dirty="0">
                          <a:latin typeface="Calibri"/>
                          <a:cs typeface="Calibri"/>
                        </a:rPr>
                        <a:t> </a:t>
                      </a:r>
                      <a:r>
                        <a:rPr sz="1200" spc="-10" dirty="0">
                          <a:latin typeface="Calibri"/>
                          <a:cs typeface="Calibri"/>
                        </a:rPr>
                        <a:t>include:</a:t>
                      </a:r>
                      <a:endParaRPr sz="1200">
                        <a:latin typeface="Calibri"/>
                        <a:cs typeface="Calibri"/>
                      </a:endParaRPr>
                    </a:p>
                    <a:p>
                      <a:pPr marL="144780" indent="-76200">
                        <a:lnSpc>
                          <a:spcPct val="100000"/>
                        </a:lnSpc>
                        <a:buSzPct val="91666"/>
                        <a:buFont typeface="Tahoma"/>
                        <a:buChar char="•"/>
                        <a:tabLst>
                          <a:tab pos="144780" algn="l"/>
                        </a:tabLst>
                      </a:pPr>
                      <a:r>
                        <a:rPr sz="1200" spc="-10" dirty="0">
                          <a:latin typeface="Calibri"/>
                          <a:cs typeface="Calibri"/>
                        </a:rPr>
                        <a:t>Remove </a:t>
                      </a:r>
                      <a:r>
                        <a:rPr sz="1200" dirty="0">
                          <a:latin typeface="Calibri"/>
                          <a:cs typeface="Calibri"/>
                        </a:rPr>
                        <a:t>HTML</a:t>
                      </a:r>
                      <a:r>
                        <a:rPr sz="1200" spc="-25" dirty="0">
                          <a:latin typeface="Calibri"/>
                          <a:cs typeface="Calibri"/>
                        </a:rPr>
                        <a:t> </a:t>
                      </a:r>
                      <a:r>
                        <a:rPr sz="1200" spc="-20" dirty="0">
                          <a:latin typeface="Calibri"/>
                          <a:cs typeface="Calibri"/>
                        </a:rPr>
                        <a:t>tags</a:t>
                      </a:r>
                      <a:endParaRPr sz="1200">
                        <a:latin typeface="Calibri"/>
                        <a:cs typeface="Calibri"/>
                      </a:endParaRPr>
                    </a:p>
                    <a:p>
                      <a:pPr marL="144780" indent="-76200">
                        <a:lnSpc>
                          <a:spcPct val="100000"/>
                        </a:lnSpc>
                        <a:spcBef>
                          <a:spcPts val="5"/>
                        </a:spcBef>
                        <a:buSzPct val="91666"/>
                        <a:buFont typeface="Tahoma"/>
                        <a:buChar char="•"/>
                        <a:tabLst>
                          <a:tab pos="144780" algn="l"/>
                        </a:tabLst>
                      </a:pPr>
                      <a:r>
                        <a:rPr sz="1200" spc="-10" dirty="0">
                          <a:latin typeface="Calibri"/>
                          <a:cs typeface="Calibri"/>
                        </a:rPr>
                        <a:t>Remove</a:t>
                      </a:r>
                      <a:r>
                        <a:rPr sz="1200" spc="-15" dirty="0">
                          <a:latin typeface="Calibri"/>
                          <a:cs typeface="Calibri"/>
                        </a:rPr>
                        <a:t> </a:t>
                      </a:r>
                      <a:r>
                        <a:rPr sz="1200" spc="-10" dirty="0">
                          <a:latin typeface="Calibri"/>
                          <a:cs typeface="Calibri"/>
                        </a:rPr>
                        <a:t>punctuation</a:t>
                      </a:r>
                      <a:endParaRPr sz="1200">
                        <a:latin typeface="Calibri"/>
                        <a:cs typeface="Calibri"/>
                      </a:endParaRPr>
                    </a:p>
                    <a:p>
                      <a:pPr marL="144780" indent="-76200">
                        <a:lnSpc>
                          <a:spcPct val="100000"/>
                        </a:lnSpc>
                        <a:buSzPct val="91666"/>
                        <a:buFont typeface="Tahoma"/>
                        <a:buChar char="•"/>
                        <a:tabLst>
                          <a:tab pos="144780" algn="l"/>
                        </a:tabLst>
                      </a:pPr>
                      <a:r>
                        <a:rPr sz="1200" dirty="0">
                          <a:latin typeface="Calibri"/>
                          <a:cs typeface="Calibri"/>
                        </a:rPr>
                        <a:t>Convert</a:t>
                      </a:r>
                      <a:r>
                        <a:rPr sz="1200" spc="-45" dirty="0">
                          <a:latin typeface="Calibri"/>
                          <a:cs typeface="Calibri"/>
                        </a:rPr>
                        <a:t> </a:t>
                      </a:r>
                      <a:r>
                        <a:rPr sz="1200" dirty="0">
                          <a:latin typeface="Calibri"/>
                          <a:cs typeface="Calibri"/>
                        </a:rPr>
                        <a:t>to</a:t>
                      </a:r>
                      <a:r>
                        <a:rPr sz="1200" spc="-25" dirty="0">
                          <a:latin typeface="Calibri"/>
                          <a:cs typeface="Calibri"/>
                        </a:rPr>
                        <a:t> </a:t>
                      </a:r>
                      <a:r>
                        <a:rPr sz="1200" spc="-10" dirty="0">
                          <a:latin typeface="Calibri"/>
                          <a:cs typeface="Calibri"/>
                        </a:rPr>
                        <a:t>lowercase</a:t>
                      </a:r>
                      <a:endParaRPr sz="1200">
                        <a:latin typeface="Calibri"/>
                        <a:cs typeface="Calibri"/>
                      </a:endParaRPr>
                    </a:p>
                    <a:p>
                      <a:pPr marL="144780" indent="-76200">
                        <a:lnSpc>
                          <a:spcPct val="100000"/>
                        </a:lnSpc>
                        <a:buSzPct val="91666"/>
                        <a:buFont typeface="Tahoma"/>
                        <a:buChar char="•"/>
                        <a:tabLst>
                          <a:tab pos="144780" algn="l"/>
                        </a:tabLst>
                      </a:pPr>
                      <a:r>
                        <a:rPr sz="1200" spc="-10" dirty="0">
                          <a:latin typeface="Calibri"/>
                          <a:cs typeface="Calibri"/>
                        </a:rPr>
                        <a:t>Remove</a:t>
                      </a:r>
                      <a:r>
                        <a:rPr sz="1200" spc="-25" dirty="0">
                          <a:latin typeface="Calibri"/>
                          <a:cs typeface="Calibri"/>
                        </a:rPr>
                        <a:t> </a:t>
                      </a:r>
                      <a:r>
                        <a:rPr sz="1200" dirty="0">
                          <a:latin typeface="Calibri"/>
                          <a:cs typeface="Calibri"/>
                        </a:rPr>
                        <a:t>stop</a:t>
                      </a:r>
                      <a:r>
                        <a:rPr sz="1200" spc="-30" dirty="0">
                          <a:latin typeface="Calibri"/>
                          <a:cs typeface="Calibri"/>
                        </a:rPr>
                        <a:t> </a:t>
                      </a:r>
                      <a:r>
                        <a:rPr sz="1200" spc="-20" dirty="0">
                          <a:latin typeface="Calibri"/>
                          <a:cs typeface="Calibri"/>
                        </a:rPr>
                        <a:t>words</a:t>
                      </a:r>
                      <a:endParaRPr sz="1200">
                        <a:latin typeface="Calibri"/>
                        <a:cs typeface="Calibri"/>
                      </a:endParaRPr>
                    </a:p>
                    <a:p>
                      <a:pPr marL="144780" indent="-76200">
                        <a:lnSpc>
                          <a:spcPct val="100000"/>
                        </a:lnSpc>
                        <a:buSzPct val="91666"/>
                        <a:buFont typeface="Tahoma"/>
                        <a:buChar char="•"/>
                        <a:tabLst>
                          <a:tab pos="144780" algn="l"/>
                        </a:tabLst>
                      </a:pPr>
                      <a:r>
                        <a:rPr sz="1200" spc="-10" dirty="0">
                          <a:latin typeface="Calibri"/>
                          <a:cs typeface="Calibri"/>
                        </a:rPr>
                        <a:t>Remove</a:t>
                      </a:r>
                      <a:r>
                        <a:rPr sz="1200" spc="-25" dirty="0">
                          <a:latin typeface="Calibri"/>
                          <a:cs typeface="Calibri"/>
                        </a:rPr>
                        <a:t> </a:t>
                      </a:r>
                      <a:r>
                        <a:rPr sz="1200" dirty="0">
                          <a:latin typeface="Calibri"/>
                          <a:cs typeface="Calibri"/>
                        </a:rPr>
                        <a:t>special</a:t>
                      </a:r>
                      <a:r>
                        <a:rPr sz="1200" spc="-30" dirty="0">
                          <a:latin typeface="Calibri"/>
                          <a:cs typeface="Calibri"/>
                        </a:rPr>
                        <a:t> </a:t>
                      </a:r>
                      <a:r>
                        <a:rPr sz="1200" spc="-10" dirty="0">
                          <a:latin typeface="Calibri"/>
                          <a:cs typeface="Calibri"/>
                        </a:rPr>
                        <a:t>symbols</a:t>
                      </a:r>
                      <a:endParaRPr sz="1200">
                        <a:latin typeface="Calibri"/>
                        <a:cs typeface="Calibri"/>
                      </a:endParaRPr>
                    </a:p>
                    <a:p>
                      <a:pPr marL="144780" indent="-76200">
                        <a:lnSpc>
                          <a:spcPct val="100000"/>
                        </a:lnSpc>
                        <a:buSzPct val="91666"/>
                        <a:buFont typeface="Tahoma"/>
                        <a:buChar char="•"/>
                        <a:tabLst>
                          <a:tab pos="144780" algn="l"/>
                        </a:tabLst>
                      </a:pPr>
                      <a:r>
                        <a:rPr sz="1200" dirty="0">
                          <a:latin typeface="Calibri"/>
                          <a:cs typeface="Calibri"/>
                        </a:rPr>
                        <a:t>Spell</a:t>
                      </a:r>
                      <a:r>
                        <a:rPr sz="1200" spc="-20" dirty="0">
                          <a:latin typeface="Calibri"/>
                          <a:cs typeface="Calibri"/>
                        </a:rPr>
                        <a:t> </a:t>
                      </a:r>
                      <a:r>
                        <a:rPr sz="1200" spc="-10" dirty="0">
                          <a:latin typeface="Calibri"/>
                          <a:cs typeface="Calibri"/>
                        </a:rPr>
                        <a:t>correction</a:t>
                      </a:r>
                      <a:endParaRPr sz="1200">
                        <a:latin typeface="Calibri"/>
                        <a:cs typeface="Calibri"/>
                      </a:endParaRPr>
                    </a:p>
                    <a:p>
                      <a:pPr marL="144780" indent="-76200">
                        <a:lnSpc>
                          <a:spcPct val="100000"/>
                        </a:lnSpc>
                        <a:buSzPct val="91666"/>
                        <a:buFont typeface="Tahoma"/>
                        <a:buChar char="•"/>
                        <a:tabLst>
                          <a:tab pos="144780" algn="l"/>
                        </a:tabLst>
                      </a:pPr>
                      <a:r>
                        <a:rPr sz="1200" spc="-10" dirty="0">
                          <a:latin typeface="Calibri"/>
                          <a:cs typeface="Calibri"/>
                        </a:rPr>
                        <a:t>Stemming</a:t>
                      </a:r>
                      <a:endParaRPr sz="1200">
                        <a:latin typeface="Calibri"/>
                        <a:cs typeface="Calibri"/>
                      </a:endParaRPr>
                    </a:p>
                    <a:p>
                      <a:pPr marL="144780" indent="-76200">
                        <a:lnSpc>
                          <a:spcPct val="100000"/>
                        </a:lnSpc>
                        <a:buSzPct val="91666"/>
                        <a:buFont typeface="Tahoma"/>
                        <a:buChar char="•"/>
                        <a:tabLst>
                          <a:tab pos="144780" algn="l"/>
                        </a:tabLst>
                      </a:pPr>
                      <a:r>
                        <a:rPr sz="1200" spc="-10" dirty="0">
                          <a:latin typeface="Calibri"/>
                          <a:cs typeface="Calibri"/>
                        </a:rPr>
                        <a:t>Lemmatization</a:t>
                      </a:r>
                      <a:endParaRPr sz="1200">
                        <a:latin typeface="Calibri"/>
                        <a:cs typeface="Calibri"/>
                      </a:endParaRPr>
                    </a:p>
                  </a:txBody>
                  <a:tcPr marL="0" marR="0" marT="36830" marB="0">
                    <a:lnL w="12700">
                      <a:solidFill>
                        <a:srgbClr val="FFFFFF"/>
                      </a:solidFill>
                      <a:prstDash val="solid"/>
                    </a:lnL>
                    <a:lnT w="12700">
                      <a:solidFill>
                        <a:srgbClr val="FFFFFF"/>
                      </a:solidFill>
                      <a:prstDash val="solid"/>
                    </a:lnT>
                    <a:lnB w="38100">
                      <a:solidFill>
                        <a:srgbClr val="FFFFFF"/>
                      </a:solidFill>
                      <a:prstDash val="solid"/>
                    </a:lnB>
                    <a:solidFill>
                      <a:srgbClr val="CCDDEA"/>
                    </a:solidFill>
                  </a:tcPr>
                </a:tc>
                <a:tc>
                  <a:txBody>
                    <a:bodyPr/>
                    <a:lstStyle/>
                    <a:p>
                      <a:pPr marL="372745" marR="1397635">
                        <a:lnSpc>
                          <a:spcPct val="100000"/>
                        </a:lnSpc>
                        <a:spcBef>
                          <a:spcPts val="290"/>
                        </a:spcBef>
                      </a:pPr>
                      <a:r>
                        <a:rPr sz="1200" b="1" dirty="0">
                          <a:latin typeface="Calibri"/>
                          <a:cs typeface="Calibri"/>
                        </a:rPr>
                        <a:t>Audio</a:t>
                      </a:r>
                      <a:r>
                        <a:rPr sz="1200" b="1" spc="-25" dirty="0">
                          <a:latin typeface="Calibri"/>
                          <a:cs typeface="Calibri"/>
                        </a:rPr>
                        <a:t> </a:t>
                      </a:r>
                      <a:r>
                        <a:rPr sz="1200" b="1" spc="-10" dirty="0">
                          <a:latin typeface="Calibri"/>
                          <a:cs typeface="Calibri"/>
                        </a:rPr>
                        <a:t>Processing </a:t>
                      </a:r>
                      <a:r>
                        <a:rPr sz="1200" dirty="0">
                          <a:latin typeface="Calibri"/>
                          <a:cs typeface="Calibri"/>
                        </a:rPr>
                        <a:t>Noise</a:t>
                      </a:r>
                      <a:r>
                        <a:rPr sz="1200" spc="-25" dirty="0">
                          <a:latin typeface="Calibri"/>
                          <a:cs typeface="Calibri"/>
                        </a:rPr>
                        <a:t> </a:t>
                      </a:r>
                      <a:r>
                        <a:rPr sz="1200" spc="-10" dirty="0">
                          <a:latin typeface="Calibri"/>
                          <a:cs typeface="Calibri"/>
                        </a:rPr>
                        <a:t>reduction </a:t>
                      </a:r>
                      <a:r>
                        <a:rPr sz="1200" dirty="0">
                          <a:latin typeface="Calibri"/>
                          <a:cs typeface="Calibri"/>
                        </a:rPr>
                        <a:t>Silence</a:t>
                      </a:r>
                      <a:r>
                        <a:rPr sz="1200" spc="-45" dirty="0">
                          <a:latin typeface="Calibri"/>
                          <a:cs typeface="Calibri"/>
                        </a:rPr>
                        <a:t> </a:t>
                      </a:r>
                      <a:r>
                        <a:rPr sz="1200" spc="-10" dirty="0">
                          <a:latin typeface="Calibri"/>
                          <a:cs typeface="Calibri"/>
                        </a:rPr>
                        <a:t>removal</a:t>
                      </a:r>
                      <a:endParaRPr sz="1200">
                        <a:latin typeface="Calibri"/>
                        <a:cs typeface="Calibri"/>
                      </a:endParaRPr>
                    </a:p>
                    <a:p>
                      <a:pPr marL="372745" marR="866775">
                        <a:lnSpc>
                          <a:spcPct val="100000"/>
                        </a:lnSpc>
                        <a:spcBef>
                          <a:spcPts val="5"/>
                        </a:spcBef>
                      </a:pPr>
                      <a:r>
                        <a:rPr sz="1200" spc="-10" dirty="0">
                          <a:latin typeface="Calibri"/>
                          <a:cs typeface="Calibri"/>
                        </a:rPr>
                        <a:t>Speech-to-text</a:t>
                      </a:r>
                      <a:r>
                        <a:rPr sz="1200" spc="25" dirty="0">
                          <a:latin typeface="Calibri"/>
                          <a:cs typeface="Calibri"/>
                        </a:rPr>
                        <a:t> </a:t>
                      </a:r>
                      <a:r>
                        <a:rPr sz="1200" spc="-10" dirty="0">
                          <a:latin typeface="Calibri"/>
                          <a:cs typeface="Calibri"/>
                        </a:rPr>
                        <a:t>conversion Feature</a:t>
                      </a:r>
                      <a:r>
                        <a:rPr sz="1200" spc="-15" dirty="0">
                          <a:latin typeface="Calibri"/>
                          <a:cs typeface="Calibri"/>
                        </a:rPr>
                        <a:t> </a:t>
                      </a:r>
                      <a:r>
                        <a:rPr sz="1200" spc="-10" dirty="0">
                          <a:latin typeface="Calibri"/>
                          <a:cs typeface="Calibri"/>
                        </a:rPr>
                        <a:t>extraction</a:t>
                      </a:r>
                      <a:endParaRPr sz="1200">
                        <a:latin typeface="Calibri"/>
                        <a:cs typeface="Calibri"/>
                      </a:endParaRPr>
                    </a:p>
                  </a:txBody>
                  <a:tcPr marL="0" marR="0" marT="36830" marB="0">
                    <a:lnT w="12700">
                      <a:solidFill>
                        <a:srgbClr val="FFFFFF"/>
                      </a:solidFill>
                      <a:prstDash val="solid"/>
                    </a:lnT>
                    <a:lnB w="38100">
                      <a:solidFill>
                        <a:srgbClr val="FFFFFF"/>
                      </a:solidFill>
                      <a:prstDash val="solid"/>
                    </a:lnB>
                    <a:solidFill>
                      <a:srgbClr val="CCDDEA"/>
                    </a:solidFill>
                  </a:tcPr>
                </a:tc>
                <a:tc>
                  <a:txBody>
                    <a:bodyPr/>
                    <a:lstStyle/>
                    <a:p>
                      <a:pPr>
                        <a:lnSpc>
                          <a:spcPct val="100000"/>
                        </a:lnSpc>
                      </a:pPr>
                      <a:endParaRPr sz="1400">
                        <a:latin typeface="Times New Roman"/>
                        <a:cs typeface="Times New Roman"/>
                      </a:endParaRPr>
                    </a:p>
                  </a:txBody>
                  <a:tcPr marL="0" marR="0" marT="0" marB="0"/>
                </a:tc>
                <a:extLst>
                  <a:ext uri="{0D108BD9-81ED-4DB2-BD59-A6C34878D82A}">
                    <a16:rowId xmlns:a16="http://schemas.microsoft.com/office/drawing/2014/main" val="10000"/>
                  </a:ext>
                </a:extLst>
              </a:tr>
              <a:tr h="1550035">
                <a:tc>
                  <a:txBody>
                    <a:bodyPr/>
                    <a:lstStyle/>
                    <a:p>
                      <a:pPr marL="92075" marR="591185" algn="just">
                        <a:lnSpc>
                          <a:spcPct val="100000"/>
                        </a:lnSpc>
                        <a:spcBef>
                          <a:spcPts val="295"/>
                        </a:spcBef>
                      </a:pPr>
                      <a:r>
                        <a:rPr sz="1200" b="1" dirty="0">
                          <a:latin typeface="Calibri"/>
                          <a:cs typeface="Calibri"/>
                        </a:rPr>
                        <a:t>Image</a:t>
                      </a:r>
                      <a:r>
                        <a:rPr sz="1200" b="1" spc="-40" dirty="0">
                          <a:latin typeface="Calibri"/>
                          <a:cs typeface="Calibri"/>
                        </a:rPr>
                        <a:t> </a:t>
                      </a:r>
                      <a:r>
                        <a:rPr sz="1200" b="1" spc="-10" dirty="0">
                          <a:latin typeface="Calibri"/>
                          <a:cs typeface="Calibri"/>
                        </a:rPr>
                        <a:t>Preprocessing </a:t>
                      </a:r>
                      <a:r>
                        <a:rPr sz="1200" dirty="0">
                          <a:latin typeface="Calibri"/>
                          <a:cs typeface="Calibri"/>
                        </a:rPr>
                        <a:t>Common</a:t>
                      </a:r>
                      <a:r>
                        <a:rPr sz="1200" spc="-40" dirty="0">
                          <a:latin typeface="Calibri"/>
                          <a:cs typeface="Calibri"/>
                        </a:rPr>
                        <a:t> </a:t>
                      </a:r>
                      <a:r>
                        <a:rPr sz="1200" spc="-10" dirty="0">
                          <a:latin typeface="Calibri"/>
                          <a:cs typeface="Calibri"/>
                        </a:rPr>
                        <a:t>techniques: Resize images</a:t>
                      </a:r>
                      <a:endParaRPr sz="1200">
                        <a:latin typeface="Calibri"/>
                        <a:cs typeface="Calibri"/>
                      </a:endParaRPr>
                    </a:p>
                    <a:p>
                      <a:pPr marL="92075" marR="497840">
                        <a:lnSpc>
                          <a:spcPct val="100000"/>
                        </a:lnSpc>
                      </a:pPr>
                      <a:r>
                        <a:rPr sz="1200" dirty="0">
                          <a:latin typeface="Calibri"/>
                          <a:cs typeface="Calibri"/>
                        </a:rPr>
                        <a:t>Noise</a:t>
                      </a:r>
                      <a:r>
                        <a:rPr sz="1200" spc="-25" dirty="0">
                          <a:latin typeface="Calibri"/>
                          <a:cs typeface="Calibri"/>
                        </a:rPr>
                        <a:t> </a:t>
                      </a:r>
                      <a:r>
                        <a:rPr sz="1200" spc="-10" dirty="0">
                          <a:latin typeface="Calibri"/>
                          <a:cs typeface="Calibri"/>
                        </a:rPr>
                        <a:t>removal</a:t>
                      </a:r>
                      <a:r>
                        <a:rPr sz="1200" spc="500" dirty="0">
                          <a:latin typeface="Calibri"/>
                          <a:cs typeface="Calibri"/>
                        </a:rPr>
                        <a:t> </a:t>
                      </a:r>
                      <a:r>
                        <a:rPr sz="1200" spc="-10" dirty="0">
                          <a:latin typeface="Calibri"/>
                          <a:cs typeface="Calibri"/>
                        </a:rPr>
                        <a:t>Contrast</a:t>
                      </a:r>
                      <a:r>
                        <a:rPr sz="1200" spc="5" dirty="0">
                          <a:latin typeface="Calibri"/>
                          <a:cs typeface="Calibri"/>
                        </a:rPr>
                        <a:t> </a:t>
                      </a:r>
                      <a:r>
                        <a:rPr sz="1200" spc="-10" dirty="0">
                          <a:latin typeface="Calibri"/>
                          <a:cs typeface="Calibri"/>
                        </a:rPr>
                        <a:t>enhancement </a:t>
                      </a:r>
                      <a:r>
                        <a:rPr sz="1200" dirty="0">
                          <a:latin typeface="Calibri"/>
                          <a:cs typeface="Calibri"/>
                        </a:rPr>
                        <a:t>Image</a:t>
                      </a:r>
                      <a:r>
                        <a:rPr sz="1200" spc="-20" dirty="0">
                          <a:latin typeface="Calibri"/>
                          <a:cs typeface="Calibri"/>
                        </a:rPr>
                        <a:t> </a:t>
                      </a:r>
                      <a:r>
                        <a:rPr sz="1200" spc="-10" dirty="0">
                          <a:latin typeface="Calibri"/>
                          <a:cs typeface="Calibri"/>
                        </a:rPr>
                        <a:t>normalization </a:t>
                      </a:r>
                      <a:r>
                        <a:rPr sz="1200" dirty="0">
                          <a:latin typeface="Calibri"/>
                          <a:cs typeface="Calibri"/>
                        </a:rPr>
                        <a:t>Background</a:t>
                      </a:r>
                      <a:r>
                        <a:rPr sz="1200" spc="-65" dirty="0">
                          <a:latin typeface="Calibri"/>
                          <a:cs typeface="Calibri"/>
                        </a:rPr>
                        <a:t> </a:t>
                      </a:r>
                      <a:r>
                        <a:rPr sz="1200" spc="-10" dirty="0">
                          <a:latin typeface="Calibri"/>
                          <a:cs typeface="Calibri"/>
                        </a:rPr>
                        <a:t>removal </a:t>
                      </a:r>
                      <a:r>
                        <a:rPr sz="1200" dirty="0">
                          <a:latin typeface="Calibri"/>
                          <a:cs typeface="Calibri"/>
                        </a:rPr>
                        <a:t>Data</a:t>
                      </a:r>
                      <a:r>
                        <a:rPr sz="1200" spc="-45" dirty="0">
                          <a:latin typeface="Calibri"/>
                          <a:cs typeface="Calibri"/>
                        </a:rPr>
                        <a:t> </a:t>
                      </a:r>
                      <a:r>
                        <a:rPr sz="1200" spc="-10" dirty="0">
                          <a:latin typeface="Calibri"/>
                          <a:cs typeface="Calibri"/>
                        </a:rPr>
                        <a:t>augmentation</a:t>
                      </a:r>
                      <a:endParaRPr sz="1200">
                        <a:latin typeface="Calibri"/>
                        <a:cs typeface="Calibri"/>
                      </a:endParaRPr>
                    </a:p>
                  </a:txBody>
                  <a:tcPr marL="0" marR="0" marT="37465" marB="0">
                    <a:lnL w="12700">
                      <a:solidFill>
                        <a:srgbClr val="FFFFFF"/>
                      </a:solidFill>
                      <a:prstDash val="solid"/>
                    </a:lnL>
                    <a:lnT w="38100">
                      <a:solidFill>
                        <a:srgbClr val="FFFFFF"/>
                      </a:solidFill>
                      <a:prstDash val="solid"/>
                    </a:lnT>
                    <a:solidFill>
                      <a:srgbClr val="CCDDEA"/>
                    </a:solidFill>
                  </a:tcPr>
                </a:tc>
                <a:tc>
                  <a:txBody>
                    <a:bodyPr/>
                    <a:lstStyle/>
                    <a:p>
                      <a:pPr marL="372745" marR="1224915">
                        <a:lnSpc>
                          <a:spcPct val="100000"/>
                        </a:lnSpc>
                        <a:spcBef>
                          <a:spcPts val="295"/>
                        </a:spcBef>
                      </a:pPr>
                      <a:r>
                        <a:rPr sz="1200" b="1" dirty="0">
                          <a:latin typeface="Calibri"/>
                          <a:cs typeface="Calibri"/>
                        </a:rPr>
                        <a:t>Video</a:t>
                      </a:r>
                      <a:r>
                        <a:rPr sz="1200" b="1" spc="-15" dirty="0">
                          <a:latin typeface="Calibri"/>
                          <a:cs typeface="Calibri"/>
                        </a:rPr>
                        <a:t> </a:t>
                      </a:r>
                      <a:r>
                        <a:rPr sz="1200" b="1" spc="-10" dirty="0">
                          <a:latin typeface="Calibri"/>
                          <a:cs typeface="Calibri"/>
                        </a:rPr>
                        <a:t>Processing </a:t>
                      </a:r>
                      <a:r>
                        <a:rPr sz="1200" dirty="0">
                          <a:latin typeface="Calibri"/>
                          <a:cs typeface="Calibri"/>
                        </a:rPr>
                        <a:t>Frame</a:t>
                      </a:r>
                      <a:r>
                        <a:rPr sz="1200" spc="-55" dirty="0">
                          <a:latin typeface="Calibri"/>
                          <a:cs typeface="Calibri"/>
                        </a:rPr>
                        <a:t> </a:t>
                      </a:r>
                      <a:r>
                        <a:rPr sz="1200" spc="-10" dirty="0">
                          <a:latin typeface="Calibri"/>
                          <a:cs typeface="Calibri"/>
                        </a:rPr>
                        <a:t>extraction </a:t>
                      </a:r>
                      <a:r>
                        <a:rPr sz="1200" dirty="0">
                          <a:latin typeface="Calibri"/>
                          <a:cs typeface="Calibri"/>
                        </a:rPr>
                        <a:t>Video</a:t>
                      </a:r>
                      <a:r>
                        <a:rPr sz="1200" spc="-40" dirty="0">
                          <a:latin typeface="Calibri"/>
                          <a:cs typeface="Calibri"/>
                        </a:rPr>
                        <a:t> </a:t>
                      </a:r>
                      <a:r>
                        <a:rPr sz="1200" spc="-10" dirty="0">
                          <a:latin typeface="Calibri"/>
                          <a:cs typeface="Calibri"/>
                        </a:rPr>
                        <a:t>compression </a:t>
                      </a:r>
                      <a:r>
                        <a:rPr sz="1200" dirty="0">
                          <a:latin typeface="Calibri"/>
                          <a:cs typeface="Calibri"/>
                        </a:rPr>
                        <a:t>Scene</a:t>
                      </a:r>
                      <a:r>
                        <a:rPr sz="1200" spc="-40" dirty="0">
                          <a:latin typeface="Calibri"/>
                          <a:cs typeface="Calibri"/>
                        </a:rPr>
                        <a:t> </a:t>
                      </a:r>
                      <a:r>
                        <a:rPr sz="1200" spc="-10" dirty="0">
                          <a:latin typeface="Calibri"/>
                          <a:cs typeface="Calibri"/>
                        </a:rPr>
                        <a:t>segmentation </a:t>
                      </a:r>
                      <a:r>
                        <a:rPr sz="1200" dirty="0">
                          <a:latin typeface="Calibri"/>
                          <a:cs typeface="Calibri"/>
                        </a:rPr>
                        <a:t>Motion</a:t>
                      </a:r>
                      <a:r>
                        <a:rPr sz="1200" spc="-35" dirty="0">
                          <a:latin typeface="Calibri"/>
                          <a:cs typeface="Calibri"/>
                        </a:rPr>
                        <a:t> </a:t>
                      </a:r>
                      <a:r>
                        <a:rPr sz="1200" spc="-10" dirty="0">
                          <a:latin typeface="Calibri"/>
                          <a:cs typeface="Calibri"/>
                        </a:rPr>
                        <a:t>detection </a:t>
                      </a:r>
                      <a:r>
                        <a:rPr sz="1200" dirty="0">
                          <a:latin typeface="Calibri"/>
                          <a:cs typeface="Calibri"/>
                        </a:rPr>
                        <a:t>Object</a:t>
                      </a:r>
                      <a:r>
                        <a:rPr sz="1200" spc="-20" dirty="0">
                          <a:latin typeface="Calibri"/>
                          <a:cs typeface="Calibri"/>
                        </a:rPr>
                        <a:t> </a:t>
                      </a:r>
                      <a:r>
                        <a:rPr sz="1200" spc="-10" dirty="0">
                          <a:latin typeface="Calibri"/>
                          <a:cs typeface="Calibri"/>
                        </a:rPr>
                        <a:t>tracking</a:t>
                      </a:r>
                      <a:endParaRPr sz="1200">
                        <a:latin typeface="Calibri"/>
                        <a:cs typeface="Calibri"/>
                      </a:endParaRPr>
                    </a:p>
                  </a:txBody>
                  <a:tcPr marL="0" marR="0" marT="37465" marB="0">
                    <a:lnT w="38100">
                      <a:solidFill>
                        <a:srgbClr val="FFFFFF"/>
                      </a:solidFill>
                      <a:prstDash val="solid"/>
                    </a:lnT>
                    <a:solidFill>
                      <a:srgbClr val="CCDDEA"/>
                    </a:solidFill>
                  </a:tcPr>
                </a:tc>
                <a:tc>
                  <a:txBody>
                    <a:bodyPr/>
                    <a:lstStyle/>
                    <a:p>
                      <a:pPr>
                        <a:lnSpc>
                          <a:spcPct val="100000"/>
                        </a:lnSpc>
                      </a:pPr>
                      <a:endParaRPr sz="1400">
                        <a:latin typeface="Times New Roman"/>
                        <a:cs typeface="Times New Roman"/>
                      </a:endParaRPr>
                    </a:p>
                  </a:txBody>
                  <a:tcPr marL="0" marR="0" marT="0" marB="0"/>
                </a:tc>
                <a:extLst>
                  <a:ext uri="{0D108BD9-81ED-4DB2-BD59-A6C34878D82A}">
                    <a16:rowId xmlns:a16="http://schemas.microsoft.com/office/drawing/2014/main" val="10001"/>
                  </a:ext>
                </a:extLst>
              </a:tr>
              <a:tr h="186690">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B w="12700">
                      <a:solidFill>
                        <a:srgbClr val="FFFFFF"/>
                      </a:solidFill>
                      <a:prstDash val="solid"/>
                    </a:lnB>
                    <a:solidFill>
                      <a:srgbClr val="CCDDEA"/>
                    </a:solidFill>
                  </a:tcPr>
                </a:tc>
                <a:tc>
                  <a:txBody>
                    <a:bodyPr/>
                    <a:lstStyle/>
                    <a:p>
                      <a:pPr>
                        <a:lnSpc>
                          <a:spcPct val="100000"/>
                        </a:lnSpc>
                      </a:pPr>
                      <a:endParaRPr sz="1100">
                        <a:latin typeface="Times New Roman"/>
                        <a:cs typeface="Times New Roman"/>
                      </a:endParaRPr>
                    </a:p>
                  </a:txBody>
                  <a:tcPr marL="0" marR="0" marT="0" marB="0">
                    <a:lnB w="12700">
                      <a:solidFill>
                        <a:srgbClr val="FFFFFF"/>
                      </a:solidFill>
                      <a:prstDash val="solid"/>
                    </a:lnB>
                    <a:solidFill>
                      <a:srgbClr val="CCDDEA"/>
                    </a:solidFill>
                  </a:tcPr>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4558" y="26644"/>
            <a:ext cx="3382010" cy="930910"/>
          </a:xfrm>
          <a:prstGeom prst="rect">
            <a:avLst/>
          </a:prstGeom>
        </p:spPr>
        <p:txBody>
          <a:bodyPr vert="horz" wrap="square" lIns="0" tIns="12700" rIns="0" bIns="0" rtlCol="0">
            <a:spAutoFit/>
          </a:bodyPr>
          <a:lstStyle/>
          <a:p>
            <a:pPr marL="12700" marR="5080">
              <a:lnSpc>
                <a:spcPct val="148500"/>
              </a:lnSpc>
              <a:spcBef>
                <a:spcPts val="100"/>
              </a:spcBef>
            </a:pPr>
            <a:r>
              <a:rPr dirty="0"/>
              <a:t>Step</a:t>
            </a:r>
            <a:r>
              <a:rPr spc="-40" dirty="0"/>
              <a:t> </a:t>
            </a:r>
            <a:r>
              <a:rPr dirty="0"/>
              <a:t>3:Store</a:t>
            </a:r>
            <a:r>
              <a:rPr spc="-50" dirty="0"/>
              <a:t> </a:t>
            </a:r>
            <a:r>
              <a:rPr dirty="0"/>
              <a:t>Data</a:t>
            </a:r>
            <a:r>
              <a:rPr spc="-40" dirty="0"/>
              <a:t> </a:t>
            </a:r>
            <a:r>
              <a:rPr dirty="0"/>
              <a:t>in</a:t>
            </a:r>
            <a:r>
              <a:rPr spc="-45" dirty="0"/>
              <a:t> </a:t>
            </a:r>
            <a:r>
              <a:rPr dirty="0"/>
              <a:t>a</a:t>
            </a:r>
            <a:r>
              <a:rPr spc="-40" dirty="0"/>
              <a:t> </a:t>
            </a:r>
            <a:r>
              <a:rPr dirty="0"/>
              <a:t>Data</a:t>
            </a:r>
            <a:r>
              <a:rPr spc="-40" dirty="0"/>
              <a:t> </a:t>
            </a:r>
            <a:r>
              <a:rPr spc="-20" dirty="0"/>
              <a:t>Lake </a:t>
            </a:r>
            <a:r>
              <a:rPr dirty="0"/>
              <a:t>What</a:t>
            </a:r>
            <a:r>
              <a:rPr spc="-30" dirty="0"/>
              <a:t> </a:t>
            </a:r>
            <a:r>
              <a:rPr dirty="0"/>
              <a:t>is</a:t>
            </a:r>
            <a:r>
              <a:rPr spc="-20" dirty="0"/>
              <a:t> </a:t>
            </a:r>
            <a:r>
              <a:rPr dirty="0"/>
              <a:t>a</a:t>
            </a:r>
            <a:r>
              <a:rPr spc="-30" dirty="0"/>
              <a:t> </a:t>
            </a:r>
            <a:r>
              <a:rPr dirty="0"/>
              <a:t>Data</a:t>
            </a:r>
            <a:r>
              <a:rPr spc="-20" dirty="0"/>
              <a:t> Lake?</a:t>
            </a:r>
          </a:p>
        </p:txBody>
      </p:sp>
      <p:sp>
        <p:nvSpPr>
          <p:cNvPr id="3" name="object 3"/>
          <p:cNvSpPr txBox="1"/>
          <p:nvPr/>
        </p:nvSpPr>
        <p:spPr>
          <a:xfrm>
            <a:off x="363118" y="1077290"/>
            <a:ext cx="7895590" cy="2511425"/>
          </a:xfrm>
          <a:prstGeom prst="rect">
            <a:avLst/>
          </a:prstGeom>
        </p:spPr>
        <p:txBody>
          <a:bodyPr vert="horz" wrap="square" lIns="0" tIns="43815" rIns="0" bIns="0" rtlCol="0">
            <a:spAutoFit/>
          </a:bodyPr>
          <a:lstStyle/>
          <a:p>
            <a:pPr marL="104139" marR="5080">
              <a:lnSpc>
                <a:spcPct val="90000"/>
              </a:lnSpc>
              <a:spcBef>
                <a:spcPts val="345"/>
              </a:spcBef>
            </a:pPr>
            <a:r>
              <a:rPr sz="2000" dirty="0">
                <a:solidFill>
                  <a:srgbClr val="404040"/>
                </a:solidFill>
                <a:latin typeface="Calibri"/>
                <a:cs typeface="Calibri"/>
              </a:rPr>
              <a:t>A</a:t>
            </a:r>
            <a:r>
              <a:rPr sz="2000" spc="-65" dirty="0">
                <a:solidFill>
                  <a:srgbClr val="404040"/>
                </a:solidFill>
                <a:latin typeface="Calibri"/>
                <a:cs typeface="Calibri"/>
              </a:rPr>
              <a:t> </a:t>
            </a:r>
            <a:r>
              <a:rPr sz="2000" b="1" dirty="0">
                <a:solidFill>
                  <a:srgbClr val="404040"/>
                </a:solidFill>
                <a:latin typeface="Calibri"/>
                <a:cs typeface="Calibri"/>
              </a:rPr>
              <a:t>Data</a:t>
            </a:r>
            <a:r>
              <a:rPr sz="2000" b="1" spc="-50" dirty="0">
                <a:solidFill>
                  <a:srgbClr val="404040"/>
                </a:solidFill>
                <a:latin typeface="Calibri"/>
                <a:cs typeface="Calibri"/>
              </a:rPr>
              <a:t> </a:t>
            </a:r>
            <a:r>
              <a:rPr sz="2000" b="1" dirty="0">
                <a:solidFill>
                  <a:srgbClr val="404040"/>
                </a:solidFill>
                <a:latin typeface="Calibri"/>
                <a:cs typeface="Calibri"/>
              </a:rPr>
              <a:t>Lake</a:t>
            </a:r>
            <a:r>
              <a:rPr sz="2000" b="1" spc="-50" dirty="0">
                <a:solidFill>
                  <a:srgbClr val="404040"/>
                </a:solidFill>
                <a:latin typeface="Calibri"/>
                <a:cs typeface="Calibri"/>
              </a:rPr>
              <a:t> </a:t>
            </a:r>
            <a:r>
              <a:rPr sz="2000" dirty="0">
                <a:solidFill>
                  <a:srgbClr val="404040"/>
                </a:solidFill>
                <a:latin typeface="Calibri"/>
                <a:cs typeface="Calibri"/>
              </a:rPr>
              <a:t>is</a:t>
            </a:r>
            <a:r>
              <a:rPr sz="2000" spc="-55" dirty="0">
                <a:solidFill>
                  <a:srgbClr val="404040"/>
                </a:solidFill>
                <a:latin typeface="Calibri"/>
                <a:cs typeface="Calibri"/>
              </a:rPr>
              <a:t> </a:t>
            </a:r>
            <a:r>
              <a:rPr sz="2000" dirty="0">
                <a:solidFill>
                  <a:srgbClr val="404040"/>
                </a:solidFill>
                <a:latin typeface="Calibri"/>
                <a:cs typeface="Calibri"/>
              </a:rPr>
              <a:t>a</a:t>
            </a:r>
            <a:r>
              <a:rPr sz="2000" spc="-55" dirty="0">
                <a:solidFill>
                  <a:srgbClr val="404040"/>
                </a:solidFill>
                <a:latin typeface="Calibri"/>
                <a:cs typeface="Calibri"/>
              </a:rPr>
              <a:t> </a:t>
            </a:r>
            <a:r>
              <a:rPr sz="2000" spc="-10" dirty="0">
                <a:solidFill>
                  <a:srgbClr val="404040"/>
                </a:solidFill>
                <a:latin typeface="Calibri"/>
                <a:cs typeface="Calibri"/>
              </a:rPr>
              <a:t>centralized</a:t>
            </a:r>
            <a:r>
              <a:rPr sz="2000" spc="-45" dirty="0">
                <a:solidFill>
                  <a:srgbClr val="404040"/>
                </a:solidFill>
                <a:latin typeface="Calibri"/>
                <a:cs typeface="Calibri"/>
              </a:rPr>
              <a:t> </a:t>
            </a:r>
            <a:r>
              <a:rPr sz="2000" dirty="0">
                <a:solidFill>
                  <a:srgbClr val="404040"/>
                </a:solidFill>
                <a:latin typeface="Calibri"/>
                <a:cs typeface="Calibri"/>
              </a:rPr>
              <a:t>repository</a:t>
            </a:r>
            <a:r>
              <a:rPr sz="2000" spc="-60" dirty="0">
                <a:solidFill>
                  <a:srgbClr val="404040"/>
                </a:solidFill>
                <a:latin typeface="Calibri"/>
                <a:cs typeface="Calibri"/>
              </a:rPr>
              <a:t> </a:t>
            </a:r>
            <a:r>
              <a:rPr sz="2000" dirty="0">
                <a:solidFill>
                  <a:srgbClr val="404040"/>
                </a:solidFill>
                <a:latin typeface="Calibri"/>
                <a:cs typeface="Calibri"/>
              </a:rPr>
              <a:t>that</a:t>
            </a:r>
            <a:r>
              <a:rPr sz="2000" spc="-55" dirty="0">
                <a:solidFill>
                  <a:srgbClr val="404040"/>
                </a:solidFill>
                <a:latin typeface="Calibri"/>
                <a:cs typeface="Calibri"/>
              </a:rPr>
              <a:t> </a:t>
            </a:r>
            <a:r>
              <a:rPr sz="2000" dirty="0">
                <a:solidFill>
                  <a:srgbClr val="404040"/>
                </a:solidFill>
                <a:latin typeface="Calibri"/>
                <a:cs typeface="Calibri"/>
              </a:rPr>
              <a:t>stores</a:t>
            </a:r>
            <a:r>
              <a:rPr sz="2000" spc="-40" dirty="0">
                <a:solidFill>
                  <a:srgbClr val="404040"/>
                </a:solidFill>
                <a:latin typeface="Calibri"/>
                <a:cs typeface="Calibri"/>
              </a:rPr>
              <a:t> </a:t>
            </a:r>
            <a:r>
              <a:rPr sz="2000" dirty="0">
                <a:solidFill>
                  <a:srgbClr val="404040"/>
                </a:solidFill>
                <a:latin typeface="Calibri"/>
                <a:cs typeface="Calibri"/>
              </a:rPr>
              <a:t>raw</a:t>
            </a:r>
            <a:r>
              <a:rPr sz="2000" spc="-70" dirty="0">
                <a:solidFill>
                  <a:srgbClr val="404040"/>
                </a:solidFill>
                <a:latin typeface="Calibri"/>
                <a:cs typeface="Calibri"/>
              </a:rPr>
              <a:t> </a:t>
            </a:r>
            <a:r>
              <a:rPr sz="2000" spc="-10" dirty="0">
                <a:solidFill>
                  <a:srgbClr val="404040"/>
                </a:solidFill>
                <a:latin typeface="Calibri"/>
                <a:cs typeface="Calibri"/>
              </a:rPr>
              <a:t>structured,</a:t>
            </a:r>
            <a:r>
              <a:rPr sz="2000" spc="-65" dirty="0">
                <a:solidFill>
                  <a:srgbClr val="404040"/>
                </a:solidFill>
                <a:latin typeface="Calibri"/>
                <a:cs typeface="Calibri"/>
              </a:rPr>
              <a:t> </a:t>
            </a:r>
            <a:r>
              <a:rPr sz="2000" spc="-10" dirty="0">
                <a:solidFill>
                  <a:srgbClr val="404040"/>
                </a:solidFill>
                <a:latin typeface="Calibri"/>
                <a:cs typeface="Calibri"/>
              </a:rPr>
              <a:t>semi-</a:t>
            </a:r>
            <a:r>
              <a:rPr sz="2000" dirty="0">
                <a:solidFill>
                  <a:srgbClr val="404040"/>
                </a:solidFill>
                <a:latin typeface="Calibri"/>
                <a:cs typeface="Calibri"/>
              </a:rPr>
              <a:t>structured,</a:t>
            </a:r>
            <a:r>
              <a:rPr sz="2000" spc="-30" dirty="0">
                <a:solidFill>
                  <a:srgbClr val="404040"/>
                </a:solidFill>
                <a:latin typeface="Calibri"/>
                <a:cs typeface="Calibri"/>
              </a:rPr>
              <a:t> </a:t>
            </a:r>
            <a:r>
              <a:rPr sz="2000" dirty="0">
                <a:solidFill>
                  <a:srgbClr val="404040"/>
                </a:solidFill>
                <a:latin typeface="Calibri"/>
                <a:cs typeface="Calibri"/>
              </a:rPr>
              <a:t>and</a:t>
            </a:r>
            <a:r>
              <a:rPr sz="2000" spc="-50" dirty="0">
                <a:solidFill>
                  <a:srgbClr val="404040"/>
                </a:solidFill>
                <a:latin typeface="Calibri"/>
                <a:cs typeface="Calibri"/>
              </a:rPr>
              <a:t> </a:t>
            </a:r>
            <a:r>
              <a:rPr sz="2000" spc="-10" dirty="0">
                <a:solidFill>
                  <a:srgbClr val="404040"/>
                </a:solidFill>
                <a:latin typeface="Calibri"/>
                <a:cs typeface="Calibri"/>
              </a:rPr>
              <a:t>unstructured</a:t>
            </a:r>
            <a:r>
              <a:rPr sz="2000" spc="-40" dirty="0">
                <a:solidFill>
                  <a:srgbClr val="404040"/>
                </a:solidFill>
                <a:latin typeface="Calibri"/>
                <a:cs typeface="Calibri"/>
              </a:rPr>
              <a:t> </a:t>
            </a:r>
            <a:r>
              <a:rPr sz="2000" dirty="0">
                <a:solidFill>
                  <a:srgbClr val="404040"/>
                </a:solidFill>
                <a:latin typeface="Calibri"/>
                <a:cs typeface="Calibri"/>
              </a:rPr>
              <a:t>data</a:t>
            </a:r>
            <a:r>
              <a:rPr sz="2000" spc="-35" dirty="0">
                <a:solidFill>
                  <a:srgbClr val="404040"/>
                </a:solidFill>
                <a:latin typeface="Calibri"/>
                <a:cs typeface="Calibri"/>
              </a:rPr>
              <a:t> </a:t>
            </a:r>
            <a:r>
              <a:rPr sz="2000" dirty="0">
                <a:solidFill>
                  <a:srgbClr val="404040"/>
                </a:solidFill>
                <a:latin typeface="Calibri"/>
                <a:cs typeface="Calibri"/>
              </a:rPr>
              <a:t>in</a:t>
            </a:r>
            <a:r>
              <a:rPr sz="2000" spc="-30" dirty="0">
                <a:solidFill>
                  <a:srgbClr val="404040"/>
                </a:solidFill>
                <a:latin typeface="Calibri"/>
                <a:cs typeface="Calibri"/>
              </a:rPr>
              <a:t> </a:t>
            </a:r>
            <a:r>
              <a:rPr sz="2000" dirty="0">
                <a:solidFill>
                  <a:srgbClr val="404040"/>
                </a:solidFill>
                <a:latin typeface="Calibri"/>
                <a:cs typeface="Calibri"/>
              </a:rPr>
              <a:t>its</a:t>
            </a:r>
            <a:r>
              <a:rPr sz="2000" spc="-25" dirty="0">
                <a:solidFill>
                  <a:srgbClr val="404040"/>
                </a:solidFill>
                <a:latin typeface="Calibri"/>
                <a:cs typeface="Calibri"/>
              </a:rPr>
              <a:t> </a:t>
            </a:r>
            <a:r>
              <a:rPr sz="2000" dirty="0">
                <a:solidFill>
                  <a:srgbClr val="404040"/>
                </a:solidFill>
                <a:latin typeface="Calibri"/>
                <a:cs typeface="Calibri"/>
              </a:rPr>
              <a:t>original</a:t>
            </a:r>
            <a:r>
              <a:rPr sz="2000" spc="-45" dirty="0">
                <a:solidFill>
                  <a:srgbClr val="404040"/>
                </a:solidFill>
                <a:latin typeface="Calibri"/>
                <a:cs typeface="Calibri"/>
              </a:rPr>
              <a:t> </a:t>
            </a:r>
            <a:r>
              <a:rPr sz="2000" dirty="0">
                <a:solidFill>
                  <a:srgbClr val="404040"/>
                </a:solidFill>
                <a:latin typeface="Calibri"/>
                <a:cs typeface="Calibri"/>
              </a:rPr>
              <a:t>format</a:t>
            </a:r>
            <a:r>
              <a:rPr sz="2000" spc="-25" dirty="0">
                <a:solidFill>
                  <a:srgbClr val="404040"/>
                </a:solidFill>
                <a:latin typeface="Calibri"/>
                <a:cs typeface="Calibri"/>
              </a:rPr>
              <a:t> </a:t>
            </a:r>
            <a:r>
              <a:rPr sz="2000" dirty="0">
                <a:solidFill>
                  <a:srgbClr val="404040"/>
                </a:solidFill>
                <a:latin typeface="Calibri"/>
                <a:cs typeface="Calibri"/>
              </a:rPr>
              <a:t>until</a:t>
            </a:r>
            <a:r>
              <a:rPr sz="2000" spc="-40" dirty="0">
                <a:solidFill>
                  <a:srgbClr val="404040"/>
                </a:solidFill>
                <a:latin typeface="Calibri"/>
                <a:cs typeface="Calibri"/>
              </a:rPr>
              <a:t> </a:t>
            </a:r>
            <a:r>
              <a:rPr sz="2000" dirty="0">
                <a:solidFill>
                  <a:srgbClr val="404040"/>
                </a:solidFill>
                <a:latin typeface="Calibri"/>
                <a:cs typeface="Calibri"/>
              </a:rPr>
              <a:t>it</a:t>
            </a:r>
            <a:r>
              <a:rPr sz="2000" spc="-35" dirty="0">
                <a:solidFill>
                  <a:srgbClr val="404040"/>
                </a:solidFill>
                <a:latin typeface="Calibri"/>
                <a:cs typeface="Calibri"/>
              </a:rPr>
              <a:t> </a:t>
            </a:r>
            <a:r>
              <a:rPr sz="2000" dirty="0">
                <a:solidFill>
                  <a:srgbClr val="404040"/>
                </a:solidFill>
                <a:latin typeface="Calibri"/>
                <a:cs typeface="Calibri"/>
              </a:rPr>
              <a:t>is</a:t>
            </a:r>
            <a:r>
              <a:rPr sz="2000" spc="-25" dirty="0">
                <a:solidFill>
                  <a:srgbClr val="404040"/>
                </a:solidFill>
                <a:latin typeface="Calibri"/>
                <a:cs typeface="Calibri"/>
              </a:rPr>
              <a:t> </a:t>
            </a:r>
            <a:r>
              <a:rPr sz="2000" dirty="0">
                <a:solidFill>
                  <a:srgbClr val="404040"/>
                </a:solidFill>
                <a:latin typeface="Calibri"/>
                <a:cs typeface="Calibri"/>
              </a:rPr>
              <a:t>needed</a:t>
            </a:r>
            <a:r>
              <a:rPr sz="2000" spc="-35" dirty="0">
                <a:solidFill>
                  <a:srgbClr val="404040"/>
                </a:solidFill>
                <a:latin typeface="Calibri"/>
                <a:cs typeface="Calibri"/>
              </a:rPr>
              <a:t> </a:t>
            </a:r>
            <a:r>
              <a:rPr sz="2000" spc="-25" dirty="0">
                <a:solidFill>
                  <a:srgbClr val="404040"/>
                </a:solidFill>
                <a:latin typeface="Calibri"/>
                <a:cs typeface="Calibri"/>
              </a:rPr>
              <a:t>for </a:t>
            </a:r>
            <a:r>
              <a:rPr sz="2000" spc="-10" dirty="0">
                <a:solidFill>
                  <a:srgbClr val="404040"/>
                </a:solidFill>
                <a:latin typeface="Calibri"/>
                <a:cs typeface="Calibri"/>
              </a:rPr>
              <a:t>analysis.</a:t>
            </a:r>
            <a:endParaRPr sz="2000">
              <a:latin typeface="Calibri"/>
              <a:cs typeface="Calibri"/>
            </a:endParaRPr>
          </a:p>
          <a:p>
            <a:pPr marL="104139" marR="495934">
              <a:lnSpc>
                <a:spcPts val="2160"/>
              </a:lnSpc>
              <a:spcBef>
                <a:spcPts val="1435"/>
              </a:spcBef>
            </a:pPr>
            <a:r>
              <a:rPr sz="2000" spc="-10" dirty="0">
                <a:solidFill>
                  <a:srgbClr val="404040"/>
                </a:solidFill>
                <a:latin typeface="Calibri"/>
                <a:cs typeface="Calibri"/>
              </a:rPr>
              <a:t>Unlike</a:t>
            </a:r>
            <a:r>
              <a:rPr sz="2000" spc="-55" dirty="0">
                <a:solidFill>
                  <a:srgbClr val="404040"/>
                </a:solidFill>
                <a:latin typeface="Calibri"/>
                <a:cs typeface="Calibri"/>
              </a:rPr>
              <a:t> </a:t>
            </a:r>
            <a:r>
              <a:rPr sz="2000" dirty="0">
                <a:solidFill>
                  <a:srgbClr val="404040"/>
                </a:solidFill>
                <a:latin typeface="Calibri"/>
                <a:cs typeface="Calibri"/>
              </a:rPr>
              <a:t>a</a:t>
            </a:r>
            <a:r>
              <a:rPr sz="2000" spc="-50"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dirty="0">
                <a:solidFill>
                  <a:srgbClr val="404040"/>
                </a:solidFill>
                <a:latin typeface="Calibri"/>
                <a:cs typeface="Calibri"/>
              </a:rPr>
              <a:t>warehouse,</a:t>
            </a:r>
            <a:r>
              <a:rPr sz="2000" spc="-50"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dirty="0">
                <a:solidFill>
                  <a:srgbClr val="404040"/>
                </a:solidFill>
                <a:latin typeface="Calibri"/>
                <a:cs typeface="Calibri"/>
              </a:rPr>
              <a:t>is</a:t>
            </a:r>
            <a:r>
              <a:rPr sz="2000" spc="-45" dirty="0">
                <a:solidFill>
                  <a:srgbClr val="404040"/>
                </a:solidFill>
                <a:latin typeface="Calibri"/>
                <a:cs typeface="Calibri"/>
              </a:rPr>
              <a:t> </a:t>
            </a:r>
            <a:r>
              <a:rPr sz="2000" dirty="0">
                <a:solidFill>
                  <a:srgbClr val="404040"/>
                </a:solidFill>
                <a:latin typeface="Calibri"/>
                <a:cs typeface="Calibri"/>
              </a:rPr>
              <a:t>stored</a:t>
            </a:r>
            <a:r>
              <a:rPr sz="2000" spc="-55" dirty="0">
                <a:solidFill>
                  <a:srgbClr val="404040"/>
                </a:solidFill>
                <a:latin typeface="Calibri"/>
                <a:cs typeface="Calibri"/>
              </a:rPr>
              <a:t> </a:t>
            </a:r>
            <a:r>
              <a:rPr sz="2000" dirty="0">
                <a:solidFill>
                  <a:srgbClr val="404040"/>
                </a:solidFill>
                <a:latin typeface="Calibri"/>
                <a:cs typeface="Calibri"/>
              </a:rPr>
              <a:t>without</a:t>
            </a:r>
            <a:r>
              <a:rPr sz="2000" spc="-50" dirty="0">
                <a:solidFill>
                  <a:srgbClr val="404040"/>
                </a:solidFill>
                <a:latin typeface="Calibri"/>
                <a:cs typeface="Calibri"/>
              </a:rPr>
              <a:t> </a:t>
            </a:r>
            <a:r>
              <a:rPr sz="2000" dirty="0">
                <a:solidFill>
                  <a:srgbClr val="404040"/>
                </a:solidFill>
                <a:latin typeface="Calibri"/>
                <a:cs typeface="Calibri"/>
              </a:rPr>
              <a:t>requiring</a:t>
            </a:r>
            <a:r>
              <a:rPr sz="2000" spc="-55" dirty="0">
                <a:solidFill>
                  <a:srgbClr val="404040"/>
                </a:solidFill>
                <a:latin typeface="Calibri"/>
                <a:cs typeface="Calibri"/>
              </a:rPr>
              <a:t> </a:t>
            </a:r>
            <a:r>
              <a:rPr sz="2000" dirty="0">
                <a:solidFill>
                  <a:srgbClr val="404040"/>
                </a:solidFill>
                <a:latin typeface="Calibri"/>
                <a:cs typeface="Calibri"/>
              </a:rPr>
              <a:t>a</a:t>
            </a:r>
            <a:r>
              <a:rPr sz="2000" spc="-55" dirty="0">
                <a:solidFill>
                  <a:srgbClr val="404040"/>
                </a:solidFill>
                <a:latin typeface="Calibri"/>
                <a:cs typeface="Calibri"/>
              </a:rPr>
              <a:t> </a:t>
            </a:r>
            <a:r>
              <a:rPr sz="2000" spc="-10" dirty="0">
                <a:solidFill>
                  <a:srgbClr val="404040"/>
                </a:solidFill>
                <a:latin typeface="Calibri"/>
                <a:cs typeface="Calibri"/>
              </a:rPr>
              <a:t>predefined </a:t>
            </a:r>
            <a:r>
              <a:rPr sz="2000" dirty="0">
                <a:solidFill>
                  <a:srgbClr val="404040"/>
                </a:solidFill>
                <a:latin typeface="Calibri"/>
                <a:cs typeface="Calibri"/>
              </a:rPr>
              <a:t>schema</a:t>
            </a:r>
            <a:r>
              <a:rPr sz="2000" spc="-40" dirty="0">
                <a:solidFill>
                  <a:srgbClr val="404040"/>
                </a:solidFill>
                <a:latin typeface="Calibri"/>
                <a:cs typeface="Calibri"/>
              </a:rPr>
              <a:t> </a:t>
            </a:r>
            <a:r>
              <a:rPr sz="2000" spc="-10" dirty="0">
                <a:solidFill>
                  <a:srgbClr val="404040"/>
                </a:solidFill>
                <a:latin typeface="Calibri"/>
                <a:cs typeface="Calibri"/>
              </a:rPr>
              <a:t>(schema-on-read).</a:t>
            </a:r>
            <a:endParaRPr sz="2000">
              <a:latin typeface="Calibri"/>
              <a:cs typeface="Calibri"/>
            </a:endParaRPr>
          </a:p>
          <a:p>
            <a:pPr marL="104139">
              <a:lnSpc>
                <a:spcPct val="100000"/>
              </a:lnSpc>
              <a:spcBef>
                <a:spcPts val="1135"/>
              </a:spcBef>
            </a:pPr>
            <a:r>
              <a:rPr sz="2000" b="1" dirty="0">
                <a:solidFill>
                  <a:srgbClr val="404040"/>
                </a:solidFill>
                <a:latin typeface="Calibri"/>
                <a:cs typeface="Calibri"/>
              </a:rPr>
              <a:t>Why</a:t>
            </a:r>
            <a:r>
              <a:rPr sz="2000" b="1" spc="-40" dirty="0">
                <a:solidFill>
                  <a:srgbClr val="404040"/>
                </a:solidFill>
                <a:latin typeface="Calibri"/>
                <a:cs typeface="Calibri"/>
              </a:rPr>
              <a:t> </a:t>
            </a:r>
            <a:r>
              <a:rPr sz="2000" b="1" dirty="0">
                <a:solidFill>
                  <a:srgbClr val="404040"/>
                </a:solidFill>
                <a:latin typeface="Calibri"/>
                <a:cs typeface="Calibri"/>
              </a:rPr>
              <a:t>Use</a:t>
            </a:r>
            <a:r>
              <a:rPr sz="2000" b="1" spc="-35" dirty="0">
                <a:solidFill>
                  <a:srgbClr val="404040"/>
                </a:solidFill>
                <a:latin typeface="Calibri"/>
                <a:cs typeface="Calibri"/>
              </a:rPr>
              <a:t> </a:t>
            </a:r>
            <a:r>
              <a:rPr sz="2000" b="1" dirty="0">
                <a:solidFill>
                  <a:srgbClr val="404040"/>
                </a:solidFill>
                <a:latin typeface="Calibri"/>
                <a:cs typeface="Calibri"/>
              </a:rPr>
              <a:t>a</a:t>
            </a:r>
            <a:r>
              <a:rPr sz="2000" b="1" spc="-35" dirty="0">
                <a:solidFill>
                  <a:srgbClr val="404040"/>
                </a:solidFill>
                <a:latin typeface="Calibri"/>
                <a:cs typeface="Calibri"/>
              </a:rPr>
              <a:t> </a:t>
            </a:r>
            <a:r>
              <a:rPr sz="2000" b="1" dirty="0">
                <a:solidFill>
                  <a:srgbClr val="404040"/>
                </a:solidFill>
                <a:latin typeface="Calibri"/>
                <a:cs typeface="Calibri"/>
              </a:rPr>
              <a:t>Data</a:t>
            </a:r>
            <a:r>
              <a:rPr sz="2000" b="1" spc="-35" dirty="0">
                <a:solidFill>
                  <a:srgbClr val="404040"/>
                </a:solidFill>
                <a:latin typeface="Calibri"/>
                <a:cs typeface="Calibri"/>
              </a:rPr>
              <a:t> </a:t>
            </a:r>
            <a:r>
              <a:rPr sz="2000" b="1" spc="-20" dirty="0">
                <a:solidFill>
                  <a:srgbClr val="404040"/>
                </a:solidFill>
                <a:latin typeface="Calibri"/>
                <a:cs typeface="Calibri"/>
              </a:rPr>
              <a:t>Lake?</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dirty="0">
                <a:solidFill>
                  <a:srgbClr val="404040"/>
                </a:solidFill>
                <a:latin typeface="Calibri"/>
                <a:cs typeface="Calibri"/>
              </a:rPr>
              <a:t>Stores</a:t>
            </a:r>
            <a:r>
              <a:rPr sz="2000" spc="-65" dirty="0">
                <a:solidFill>
                  <a:srgbClr val="404040"/>
                </a:solidFill>
                <a:latin typeface="Calibri"/>
                <a:cs typeface="Calibri"/>
              </a:rPr>
              <a:t> </a:t>
            </a:r>
            <a:r>
              <a:rPr sz="2000" dirty="0">
                <a:solidFill>
                  <a:srgbClr val="404040"/>
                </a:solidFill>
                <a:latin typeface="Calibri"/>
                <a:cs typeface="Calibri"/>
              </a:rPr>
              <a:t>massive</a:t>
            </a:r>
            <a:r>
              <a:rPr sz="2000" spc="-45" dirty="0">
                <a:solidFill>
                  <a:srgbClr val="404040"/>
                </a:solidFill>
                <a:latin typeface="Calibri"/>
                <a:cs typeface="Calibri"/>
              </a:rPr>
              <a:t> </a:t>
            </a:r>
            <a:r>
              <a:rPr sz="2000" dirty="0">
                <a:solidFill>
                  <a:srgbClr val="404040"/>
                </a:solidFill>
                <a:latin typeface="Calibri"/>
                <a:cs typeface="Calibri"/>
              </a:rPr>
              <a:t>volumes</a:t>
            </a:r>
            <a:r>
              <a:rPr sz="2000" spc="-65" dirty="0">
                <a:solidFill>
                  <a:srgbClr val="404040"/>
                </a:solidFill>
                <a:latin typeface="Calibri"/>
                <a:cs typeface="Calibri"/>
              </a:rPr>
              <a:t> </a:t>
            </a:r>
            <a:r>
              <a:rPr sz="2000" dirty="0">
                <a:solidFill>
                  <a:srgbClr val="404040"/>
                </a:solidFill>
                <a:latin typeface="Calibri"/>
                <a:cs typeface="Calibri"/>
              </a:rPr>
              <a:t>of</a:t>
            </a:r>
            <a:r>
              <a:rPr sz="2000" spc="-75" dirty="0">
                <a:solidFill>
                  <a:srgbClr val="404040"/>
                </a:solidFill>
                <a:latin typeface="Calibri"/>
                <a:cs typeface="Calibri"/>
              </a:rPr>
              <a:t> </a:t>
            </a:r>
            <a:r>
              <a:rPr sz="2000" spc="-20" dirty="0">
                <a:solidFill>
                  <a:srgbClr val="404040"/>
                </a:solidFill>
                <a:latin typeface="Calibri"/>
                <a:cs typeface="Calibri"/>
              </a:rPr>
              <a:t>data</a:t>
            </a:r>
            <a:endParaRPr sz="2000">
              <a:latin typeface="Calibri"/>
              <a:cs typeface="Calibri"/>
            </a:endParaRPr>
          </a:p>
        </p:txBody>
      </p:sp>
      <p:sp>
        <p:nvSpPr>
          <p:cNvPr id="4" name="object 4"/>
          <p:cNvSpPr txBox="1"/>
          <p:nvPr/>
        </p:nvSpPr>
        <p:spPr>
          <a:xfrm>
            <a:off x="363118" y="3563439"/>
            <a:ext cx="3888740" cy="1834514"/>
          </a:xfrm>
          <a:prstGeom prst="rect">
            <a:avLst/>
          </a:prstGeom>
        </p:spPr>
        <p:txBody>
          <a:bodyPr vert="horz" wrap="square" lIns="0" tIns="160020" rIns="0" bIns="0" rtlCol="0">
            <a:spAutoFit/>
          </a:bodyPr>
          <a:lstStyle/>
          <a:p>
            <a:pPr marL="103505" indent="-101600">
              <a:lnSpc>
                <a:spcPct val="100000"/>
              </a:lnSpc>
              <a:spcBef>
                <a:spcPts val="1260"/>
              </a:spcBef>
              <a:buClr>
                <a:srgbClr val="E38312"/>
              </a:buClr>
              <a:buSzPct val="77500"/>
              <a:buFont typeface="Tahoma"/>
              <a:buChar char="•"/>
              <a:tabLst>
                <a:tab pos="103505" algn="l"/>
              </a:tabLst>
            </a:pPr>
            <a:r>
              <a:rPr sz="2000" dirty="0">
                <a:solidFill>
                  <a:srgbClr val="404040"/>
                </a:solidFill>
                <a:latin typeface="Calibri"/>
                <a:cs typeface="Calibri"/>
              </a:rPr>
              <a:t>Supports</a:t>
            </a:r>
            <a:r>
              <a:rPr sz="2000" spc="-65" dirty="0">
                <a:solidFill>
                  <a:srgbClr val="404040"/>
                </a:solidFill>
                <a:latin typeface="Calibri"/>
                <a:cs typeface="Calibri"/>
              </a:rPr>
              <a:t> </a:t>
            </a:r>
            <a:r>
              <a:rPr sz="2000" dirty="0">
                <a:solidFill>
                  <a:srgbClr val="404040"/>
                </a:solidFill>
                <a:latin typeface="Calibri"/>
                <a:cs typeface="Calibri"/>
              </a:rPr>
              <a:t>any</a:t>
            </a:r>
            <a:r>
              <a:rPr sz="2000" spc="-60" dirty="0">
                <a:solidFill>
                  <a:srgbClr val="404040"/>
                </a:solidFill>
                <a:latin typeface="Calibri"/>
                <a:cs typeface="Calibri"/>
              </a:rPr>
              <a:t> </a:t>
            </a:r>
            <a:r>
              <a:rPr sz="2000" dirty="0">
                <a:solidFill>
                  <a:srgbClr val="404040"/>
                </a:solidFill>
                <a:latin typeface="Calibri"/>
                <a:cs typeface="Calibri"/>
              </a:rPr>
              <a:t>file</a:t>
            </a:r>
            <a:r>
              <a:rPr sz="2000" spc="-40" dirty="0">
                <a:solidFill>
                  <a:srgbClr val="404040"/>
                </a:solidFill>
                <a:latin typeface="Calibri"/>
                <a:cs typeface="Calibri"/>
              </a:rPr>
              <a:t> </a:t>
            </a:r>
            <a:r>
              <a:rPr sz="2000" spc="-10" dirty="0">
                <a:solidFill>
                  <a:srgbClr val="404040"/>
                </a:solidFill>
                <a:latin typeface="Calibri"/>
                <a:cs typeface="Calibri"/>
              </a:rPr>
              <a:t>format</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dirty="0">
                <a:solidFill>
                  <a:srgbClr val="404040"/>
                </a:solidFill>
                <a:latin typeface="Calibri"/>
                <a:cs typeface="Calibri"/>
              </a:rPr>
              <a:t>Low</a:t>
            </a:r>
            <a:r>
              <a:rPr sz="2000" spc="-60" dirty="0">
                <a:solidFill>
                  <a:srgbClr val="404040"/>
                </a:solidFill>
                <a:latin typeface="Calibri"/>
                <a:cs typeface="Calibri"/>
              </a:rPr>
              <a:t> </a:t>
            </a:r>
            <a:r>
              <a:rPr sz="2000" spc="-10" dirty="0">
                <a:solidFill>
                  <a:srgbClr val="404040"/>
                </a:solidFill>
                <a:latin typeface="Calibri"/>
                <a:cs typeface="Calibri"/>
              </a:rPr>
              <a:t>storage</a:t>
            </a:r>
            <a:r>
              <a:rPr sz="2000" spc="-55" dirty="0">
                <a:solidFill>
                  <a:srgbClr val="404040"/>
                </a:solidFill>
                <a:latin typeface="Calibri"/>
                <a:cs typeface="Calibri"/>
              </a:rPr>
              <a:t> </a:t>
            </a:r>
            <a:r>
              <a:rPr sz="2000" spc="-20" dirty="0">
                <a:solidFill>
                  <a:srgbClr val="404040"/>
                </a:solidFill>
                <a:latin typeface="Calibri"/>
                <a:cs typeface="Calibri"/>
              </a:rPr>
              <a:t>cost</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Scalable</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Suitable</a:t>
            </a:r>
            <a:r>
              <a:rPr sz="2000" spc="-40" dirty="0">
                <a:solidFill>
                  <a:srgbClr val="404040"/>
                </a:solidFill>
                <a:latin typeface="Calibri"/>
                <a:cs typeface="Calibri"/>
              </a:rPr>
              <a:t> </a:t>
            </a:r>
            <a:r>
              <a:rPr sz="2000" dirty="0">
                <a:solidFill>
                  <a:srgbClr val="404040"/>
                </a:solidFill>
                <a:latin typeface="Calibri"/>
                <a:cs typeface="Calibri"/>
              </a:rPr>
              <a:t>for</a:t>
            </a:r>
            <a:r>
              <a:rPr sz="2000" spc="-45" dirty="0">
                <a:solidFill>
                  <a:srgbClr val="404040"/>
                </a:solidFill>
                <a:latin typeface="Calibri"/>
                <a:cs typeface="Calibri"/>
              </a:rPr>
              <a:t> </a:t>
            </a:r>
            <a:r>
              <a:rPr sz="2000" dirty="0">
                <a:solidFill>
                  <a:srgbClr val="404040"/>
                </a:solidFill>
                <a:latin typeface="Calibri"/>
                <a:cs typeface="Calibri"/>
              </a:rPr>
              <a:t>AI</a:t>
            </a:r>
            <a:r>
              <a:rPr sz="2000" spc="-45" dirty="0">
                <a:solidFill>
                  <a:srgbClr val="404040"/>
                </a:solidFill>
                <a:latin typeface="Calibri"/>
                <a:cs typeface="Calibri"/>
              </a:rPr>
              <a:t> </a:t>
            </a:r>
            <a:r>
              <a:rPr sz="2000" dirty="0">
                <a:solidFill>
                  <a:srgbClr val="404040"/>
                </a:solidFill>
                <a:latin typeface="Calibri"/>
                <a:cs typeface="Calibri"/>
              </a:rPr>
              <a:t>and</a:t>
            </a:r>
            <a:r>
              <a:rPr sz="2000" spc="-40" dirty="0">
                <a:solidFill>
                  <a:srgbClr val="404040"/>
                </a:solidFill>
                <a:latin typeface="Calibri"/>
                <a:cs typeface="Calibri"/>
              </a:rPr>
              <a:t> </a:t>
            </a:r>
            <a:r>
              <a:rPr sz="2000" dirty="0">
                <a:solidFill>
                  <a:srgbClr val="404040"/>
                </a:solidFill>
                <a:latin typeface="Calibri"/>
                <a:cs typeface="Calibri"/>
              </a:rPr>
              <a:t>Big</a:t>
            </a:r>
            <a:r>
              <a:rPr sz="2000" spc="-45" dirty="0">
                <a:solidFill>
                  <a:srgbClr val="404040"/>
                </a:solidFill>
                <a:latin typeface="Calibri"/>
                <a:cs typeface="Calibri"/>
              </a:rPr>
              <a:t> </a:t>
            </a:r>
            <a:r>
              <a:rPr sz="2000" dirty="0">
                <a:solidFill>
                  <a:srgbClr val="404040"/>
                </a:solidFill>
                <a:latin typeface="Calibri"/>
                <a:cs typeface="Calibri"/>
              </a:rPr>
              <a:t>Data</a:t>
            </a:r>
            <a:r>
              <a:rPr sz="2000" spc="-35" dirty="0">
                <a:solidFill>
                  <a:srgbClr val="404040"/>
                </a:solidFill>
                <a:latin typeface="Calibri"/>
                <a:cs typeface="Calibri"/>
              </a:rPr>
              <a:t> </a:t>
            </a:r>
            <a:r>
              <a:rPr sz="2000" spc="-10" dirty="0">
                <a:solidFill>
                  <a:srgbClr val="404040"/>
                </a:solidFill>
                <a:latin typeface="Calibri"/>
                <a:cs typeface="Calibri"/>
              </a:rPr>
              <a:t>analytics</a:t>
            </a:r>
            <a:endParaRPr sz="2000">
              <a:latin typeface="Calibri"/>
              <a:cs typeface="Calibri"/>
            </a:endParaRPr>
          </a:p>
        </p:txBody>
      </p:sp>
      <p:sp>
        <p:nvSpPr>
          <p:cNvPr id="5" name="object 5"/>
          <p:cNvSpPr txBox="1"/>
          <p:nvPr/>
        </p:nvSpPr>
        <p:spPr>
          <a:xfrm>
            <a:off x="5376036" y="3636251"/>
            <a:ext cx="3597275" cy="2585720"/>
          </a:xfrm>
          <a:prstGeom prst="rect">
            <a:avLst/>
          </a:prstGeom>
          <a:solidFill>
            <a:srgbClr val="CCDDEA"/>
          </a:solidFill>
        </p:spPr>
        <p:txBody>
          <a:bodyPr vert="horz" wrap="square" lIns="0" tIns="31115" rIns="0" bIns="0" rtlCol="0">
            <a:spAutoFit/>
          </a:bodyPr>
          <a:lstStyle/>
          <a:p>
            <a:pPr marL="92075">
              <a:lnSpc>
                <a:spcPct val="100000"/>
              </a:lnSpc>
              <a:spcBef>
                <a:spcPts val="245"/>
              </a:spcBef>
            </a:pPr>
            <a:r>
              <a:rPr sz="1800" b="1" dirty="0">
                <a:latin typeface="Calibri"/>
                <a:cs typeface="Calibri"/>
              </a:rPr>
              <a:t>Popular</a:t>
            </a:r>
            <a:r>
              <a:rPr sz="1800" b="1" spc="-75" dirty="0">
                <a:latin typeface="Calibri"/>
                <a:cs typeface="Calibri"/>
              </a:rPr>
              <a:t> </a:t>
            </a:r>
            <a:r>
              <a:rPr sz="1800" b="1" dirty="0">
                <a:latin typeface="Calibri"/>
                <a:cs typeface="Calibri"/>
              </a:rPr>
              <a:t>Data</a:t>
            </a:r>
            <a:r>
              <a:rPr sz="1800" b="1" spc="-45" dirty="0">
                <a:latin typeface="Calibri"/>
                <a:cs typeface="Calibri"/>
              </a:rPr>
              <a:t> </a:t>
            </a:r>
            <a:r>
              <a:rPr sz="1800" b="1" dirty="0">
                <a:latin typeface="Calibri"/>
                <a:cs typeface="Calibri"/>
              </a:rPr>
              <a:t>Lake</a:t>
            </a:r>
            <a:r>
              <a:rPr sz="1800" b="1" spc="-45" dirty="0">
                <a:latin typeface="Calibri"/>
                <a:cs typeface="Calibri"/>
              </a:rPr>
              <a:t> </a:t>
            </a:r>
            <a:r>
              <a:rPr sz="1800" b="1" spc="-10" dirty="0">
                <a:latin typeface="Calibri"/>
                <a:cs typeface="Calibri"/>
              </a:rPr>
              <a:t>Technologies</a:t>
            </a:r>
            <a:endParaRPr sz="1800">
              <a:latin typeface="Calibri"/>
              <a:cs typeface="Calibri"/>
            </a:endParaRPr>
          </a:p>
          <a:p>
            <a:pPr marL="92075" marR="504190" indent="-31750">
              <a:lnSpc>
                <a:spcPct val="100000"/>
              </a:lnSpc>
              <a:buSzPct val="94444"/>
              <a:buFont typeface="Tahoma"/>
              <a:buChar char="•"/>
              <a:tabLst>
                <a:tab pos="171450" algn="l"/>
              </a:tabLst>
            </a:pPr>
            <a:r>
              <a:rPr sz="1800" dirty="0">
                <a:latin typeface="Calibri"/>
                <a:cs typeface="Calibri"/>
              </a:rPr>
              <a:t>	Hadoop</a:t>
            </a:r>
            <a:r>
              <a:rPr sz="1800" spc="-25" dirty="0">
                <a:latin typeface="Calibri"/>
                <a:cs typeface="Calibri"/>
              </a:rPr>
              <a:t> </a:t>
            </a:r>
            <a:r>
              <a:rPr sz="1800" spc="-10" dirty="0">
                <a:latin typeface="Calibri"/>
                <a:cs typeface="Calibri"/>
              </a:rPr>
              <a:t>Distributed</a:t>
            </a:r>
            <a:r>
              <a:rPr sz="1800" spc="-20" dirty="0">
                <a:latin typeface="Calibri"/>
                <a:cs typeface="Calibri"/>
              </a:rPr>
              <a:t> </a:t>
            </a:r>
            <a:r>
              <a:rPr sz="1800" dirty="0">
                <a:latin typeface="Calibri"/>
                <a:cs typeface="Calibri"/>
              </a:rPr>
              <a:t>File</a:t>
            </a:r>
            <a:r>
              <a:rPr sz="1800" spc="-25" dirty="0">
                <a:latin typeface="Calibri"/>
                <a:cs typeface="Calibri"/>
              </a:rPr>
              <a:t> </a:t>
            </a:r>
            <a:r>
              <a:rPr sz="1800" spc="-10" dirty="0">
                <a:latin typeface="Calibri"/>
                <a:cs typeface="Calibri"/>
              </a:rPr>
              <a:t>System (HDFS)</a:t>
            </a:r>
            <a:endParaRPr sz="1800">
              <a:latin typeface="Calibri"/>
              <a:cs typeface="Calibri"/>
            </a:endParaRPr>
          </a:p>
          <a:p>
            <a:pPr marL="171450" indent="-111125">
              <a:lnSpc>
                <a:spcPct val="100000"/>
              </a:lnSpc>
              <a:buSzPct val="94444"/>
              <a:buFont typeface="Tahoma"/>
              <a:buChar char="•"/>
              <a:tabLst>
                <a:tab pos="171450" algn="l"/>
              </a:tabLst>
            </a:pPr>
            <a:r>
              <a:rPr sz="1800" dirty="0">
                <a:latin typeface="Calibri"/>
                <a:cs typeface="Calibri"/>
              </a:rPr>
              <a:t>Amazon</a:t>
            </a:r>
            <a:r>
              <a:rPr sz="1800" spc="-65" dirty="0">
                <a:latin typeface="Calibri"/>
                <a:cs typeface="Calibri"/>
              </a:rPr>
              <a:t> </a:t>
            </a:r>
            <a:r>
              <a:rPr sz="1800" spc="-25" dirty="0">
                <a:latin typeface="Calibri"/>
                <a:cs typeface="Calibri"/>
              </a:rPr>
              <a:t>S3</a:t>
            </a:r>
            <a:endParaRPr sz="1800">
              <a:latin typeface="Calibri"/>
              <a:cs typeface="Calibri"/>
            </a:endParaRPr>
          </a:p>
          <a:p>
            <a:pPr marL="171450" indent="-111125">
              <a:lnSpc>
                <a:spcPct val="100000"/>
              </a:lnSpc>
              <a:buSzPct val="94444"/>
              <a:buFont typeface="Tahoma"/>
              <a:buChar char="•"/>
              <a:tabLst>
                <a:tab pos="171450" algn="l"/>
              </a:tabLst>
            </a:pPr>
            <a:r>
              <a:rPr sz="1800" dirty="0">
                <a:latin typeface="Calibri"/>
                <a:cs typeface="Calibri"/>
              </a:rPr>
              <a:t>Microsoft</a:t>
            </a:r>
            <a:r>
              <a:rPr sz="1800" spc="-65" dirty="0">
                <a:latin typeface="Calibri"/>
                <a:cs typeface="Calibri"/>
              </a:rPr>
              <a:t> </a:t>
            </a:r>
            <a:r>
              <a:rPr sz="1800" dirty="0">
                <a:latin typeface="Calibri"/>
                <a:cs typeface="Calibri"/>
              </a:rPr>
              <a:t>Azure</a:t>
            </a:r>
            <a:r>
              <a:rPr sz="1800" spc="-70" dirty="0">
                <a:latin typeface="Calibri"/>
                <a:cs typeface="Calibri"/>
              </a:rPr>
              <a:t> </a:t>
            </a:r>
            <a:r>
              <a:rPr sz="1800" dirty="0">
                <a:latin typeface="Calibri"/>
                <a:cs typeface="Calibri"/>
              </a:rPr>
              <a:t>Data</a:t>
            </a:r>
            <a:r>
              <a:rPr sz="1800" spc="-60" dirty="0">
                <a:latin typeface="Calibri"/>
                <a:cs typeface="Calibri"/>
              </a:rPr>
              <a:t> </a:t>
            </a:r>
            <a:r>
              <a:rPr sz="1800" spc="-20" dirty="0">
                <a:latin typeface="Calibri"/>
                <a:cs typeface="Calibri"/>
              </a:rPr>
              <a:t>Lake</a:t>
            </a:r>
            <a:endParaRPr sz="1800">
              <a:latin typeface="Calibri"/>
              <a:cs typeface="Calibri"/>
            </a:endParaRPr>
          </a:p>
          <a:p>
            <a:pPr marL="171450" indent="-111125">
              <a:lnSpc>
                <a:spcPct val="100000"/>
              </a:lnSpc>
              <a:buSzPct val="94444"/>
              <a:buFont typeface="Tahoma"/>
              <a:buChar char="•"/>
              <a:tabLst>
                <a:tab pos="171450" algn="l"/>
              </a:tabLst>
            </a:pPr>
            <a:r>
              <a:rPr sz="1800" dirty="0">
                <a:latin typeface="Calibri"/>
                <a:cs typeface="Calibri"/>
              </a:rPr>
              <a:t>Google</a:t>
            </a:r>
            <a:r>
              <a:rPr sz="1800" spc="-50" dirty="0">
                <a:latin typeface="Calibri"/>
                <a:cs typeface="Calibri"/>
              </a:rPr>
              <a:t> </a:t>
            </a:r>
            <a:r>
              <a:rPr sz="1800" dirty="0">
                <a:latin typeface="Calibri"/>
                <a:cs typeface="Calibri"/>
              </a:rPr>
              <a:t>Cloud</a:t>
            </a:r>
            <a:r>
              <a:rPr sz="1800" spc="-45" dirty="0">
                <a:latin typeface="Calibri"/>
                <a:cs typeface="Calibri"/>
              </a:rPr>
              <a:t> </a:t>
            </a:r>
            <a:r>
              <a:rPr sz="1800" spc="-10" dirty="0">
                <a:latin typeface="Calibri"/>
                <a:cs typeface="Calibri"/>
              </a:rPr>
              <a:t>Storage</a:t>
            </a:r>
            <a:endParaRPr sz="1800">
              <a:latin typeface="Calibri"/>
              <a:cs typeface="Calibri"/>
            </a:endParaRPr>
          </a:p>
          <a:p>
            <a:pPr marL="171450" indent="-111125">
              <a:lnSpc>
                <a:spcPct val="100000"/>
              </a:lnSpc>
              <a:spcBef>
                <a:spcPts val="5"/>
              </a:spcBef>
              <a:buSzPct val="94444"/>
              <a:buFont typeface="Tahoma"/>
              <a:buChar char="•"/>
              <a:tabLst>
                <a:tab pos="171450" algn="l"/>
              </a:tabLst>
            </a:pPr>
            <a:r>
              <a:rPr sz="1800" dirty="0">
                <a:latin typeface="Calibri"/>
                <a:cs typeface="Calibri"/>
              </a:rPr>
              <a:t>Apache</a:t>
            </a:r>
            <a:r>
              <a:rPr sz="1800" spc="-45" dirty="0">
                <a:latin typeface="Calibri"/>
                <a:cs typeface="Calibri"/>
              </a:rPr>
              <a:t> </a:t>
            </a:r>
            <a:r>
              <a:rPr sz="1800" spc="-20" dirty="0">
                <a:latin typeface="Calibri"/>
                <a:cs typeface="Calibri"/>
              </a:rPr>
              <a:t>Hive</a:t>
            </a:r>
            <a:endParaRPr sz="1800">
              <a:latin typeface="Calibri"/>
              <a:cs typeface="Calibri"/>
            </a:endParaRPr>
          </a:p>
          <a:p>
            <a:pPr marL="171450" indent="-111125">
              <a:lnSpc>
                <a:spcPct val="100000"/>
              </a:lnSpc>
              <a:buSzPct val="94444"/>
              <a:buFont typeface="Tahoma"/>
              <a:buChar char="•"/>
              <a:tabLst>
                <a:tab pos="171450" algn="l"/>
              </a:tabLst>
            </a:pPr>
            <a:r>
              <a:rPr sz="1800" dirty="0">
                <a:latin typeface="Calibri"/>
                <a:cs typeface="Calibri"/>
              </a:rPr>
              <a:t>Delta</a:t>
            </a:r>
            <a:r>
              <a:rPr sz="1800" spc="-60" dirty="0">
                <a:latin typeface="Calibri"/>
                <a:cs typeface="Calibri"/>
              </a:rPr>
              <a:t> </a:t>
            </a:r>
            <a:r>
              <a:rPr sz="1800" spc="-20" dirty="0">
                <a:latin typeface="Calibri"/>
                <a:cs typeface="Calibri"/>
              </a:rPr>
              <a:t>Lake</a:t>
            </a:r>
            <a:endParaRPr sz="18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8404" y="-73684"/>
            <a:ext cx="7890509" cy="5549265"/>
          </a:xfrm>
          <a:prstGeom prst="rect">
            <a:avLst/>
          </a:prstGeom>
        </p:spPr>
        <p:txBody>
          <a:bodyPr vert="horz" wrap="square" lIns="0" tIns="160020" rIns="0" bIns="0" rtlCol="0">
            <a:spAutoFit/>
          </a:bodyPr>
          <a:lstStyle/>
          <a:p>
            <a:pPr marL="103505">
              <a:lnSpc>
                <a:spcPct val="100000"/>
              </a:lnSpc>
              <a:spcBef>
                <a:spcPts val="1260"/>
              </a:spcBef>
            </a:pPr>
            <a:r>
              <a:rPr sz="2000" b="1" dirty="0">
                <a:solidFill>
                  <a:srgbClr val="404040"/>
                </a:solidFill>
                <a:latin typeface="Calibri"/>
                <a:cs typeface="Calibri"/>
              </a:rPr>
              <a:t>Step</a:t>
            </a:r>
            <a:r>
              <a:rPr sz="2000" b="1" spc="-35" dirty="0">
                <a:solidFill>
                  <a:srgbClr val="404040"/>
                </a:solidFill>
                <a:latin typeface="Calibri"/>
                <a:cs typeface="Calibri"/>
              </a:rPr>
              <a:t> </a:t>
            </a:r>
            <a:r>
              <a:rPr sz="2000" b="1" dirty="0">
                <a:solidFill>
                  <a:srgbClr val="404040"/>
                </a:solidFill>
                <a:latin typeface="Calibri"/>
                <a:cs typeface="Calibri"/>
              </a:rPr>
              <a:t>4:</a:t>
            </a:r>
            <a:r>
              <a:rPr sz="2000" b="1" spc="-45" dirty="0">
                <a:solidFill>
                  <a:srgbClr val="404040"/>
                </a:solidFill>
                <a:latin typeface="Calibri"/>
                <a:cs typeface="Calibri"/>
              </a:rPr>
              <a:t> </a:t>
            </a:r>
            <a:r>
              <a:rPr sz="2000" b="1" spc="-10" dirty="0">
                <a:solidFill>
                  <a:srgbClr val="404040"/>
                </a:solidFill>
                <a:latin typeface="Calibri"/>
                <a:cs typeface="Calibri"/>
              </a:rPr>
              <a:t>Feature</a:t>
            </a:r>
            <a:r>
              <a:rPr sz="2000" b="1" spc="-40" dirty="0">
                <a:solidFill>
                  <a:srgbClr val="404040"/>
                </a:solidFill>
                <a:latin typeface="Calibri"/>
                <a:cs typeface="Calibri"/>
              </a:rPr>
              <a:t> </a:t>
            </a:r>
            <a:r>
              <a:rPr sz="2000" b="1" spc="-10" dirty="0">
                <a:solidFill>
                  <a:srgbClr val="404040"/>
                </a:solidFill>
                <a:latin typeface="Calibri"/>
                <a:cs typeface="Calibri"/>
              </a:rPr>
              <a:t>Extraction</a:t>
            </a:r>
            <a:endParaRPr sz="2000">
              <a:latin typeface="Calibri"/>
              <a:cs typeface="Calibri"/>
            </a:endParaRPr>
          </a:p>
          <a:p>
            <a:pPr marL="103505" marR="5080" algn="just">
              <a:lnSpc>
                <a:spcPct val="90100"/>
              </a:lnSpc>
              <a:spcBef>
                <a:spcPts val="1405"/>
              </a:spcBef>
            </a:pPr>
            <a:r>
              <a:rPr sz="2000" dirty="0">
                <a:solidFill>
                  <a:srgbClr val="404040"/>
                </a:solidFill>
                <a:latin typeface="Calibri"/>
                <a:cs typeface="Calibri"/>
              </a:rPr>
              <a:t>Raw</a:t>
            </a:r>
            <a:r>
              <a:rPr sz="2000" spc="-60" dirty="0">
                <a:solidFill>
                  <a:srgbClr val="404040"/>
                </a:solidFill>
                <a:latin typeface="Calibri"/>
                <a:cs typeface="Calibri"/>
              </a:rPr>
              <a:t> </a:t>
            </a:r>
            <a:r>
              <a:rPr sz="2000" dirty="0">
                <a:solidFill>
                  <a:srgbClr val="404040"/>
                </a:solidFill>
                <a:latin typeface="Calibri"/>
                <a:cs typeface="Calibri"/>
              </a:rPr>
              <a:t>data</a:t>
            </a:r>
            <a:r>
              <a:rPr sz="2000" spc="-40" dirty="0">
                <a:solidFill>
                  <a:srgbClr val="404040"/>
                </a:solidFill>
                <a:latin typeface="Calibri"/>
                <a:cs typeface="Calibri"/>
              </a:rPr>
              <a:t> </a:t>
            </a:r>
            <a:r>
              <a:rPr sz="2000" dirty="0">
                <a:solidFill>
                  <a:srgbClr val="404040"/>
                </a:solidFill>
                <a:latin typeface="Calibri"/>
                <a:cs typeface="Calibri"/>
              </a:rPr>
              <a:t>cannot</a:t>
            </a:r>
            <a:r>
              <a:rPr sz="2000" spc="-60" dirty="0">
                <a:solidFill>
                  <a:srgbClr val="404040"/>
                </a:solidFill>
                <a:latin typeface="Calibri"/>
                <a:cs typeface="Calibri"/>
              </a:rPr>
              <a:t> </a:t>
            </a:r>
            <a:r>
              <a:rPr sz="2000" dirty="0">
                <a:solidFill>
                  <a:srgbClr val="404040"/>
                </a:solidFill>
                <a:latin typeface="Calibri"/>
                <a:cs typeface="Calibri"/>
              </a:rPr>
              <a:t>usually</a:t>
            </a:r>
            <a:r>
              <a:rPr sz="2000" spc="-50" dirty="0">
                <a:solidFill>
                  <a:srgbClr val="404040"/>
                </a:solidFill>
                <a:latin typeface="Calibri"/>
                <a:cs typeface="Calibri"/>
              </a:rPr>
              <a:t> </a:t>
            </a:r>
            <a:r>
              <a:rPr sz="2000" dirty="0">
                <a:solidFill>
                  <a:srgbClr val="404040"/>
                </a:solidFill>
                <a:latin typeface="Calibri"/>
                <a:cs typeface="Calibri"/>
              </a:rPr>
              <a:t>be</a:t>
            </a:r>
            <a:r>
              <a:rPr sz="2000" spc="-45" dirty="0">
                <a:solidFill>
                  <a:srgbClr val="404040"/>
                </a:solidFill>
                <a:latin typeface="Calibri"/>
                <a:cs typeface="Calibri"/>
              </a:rPr>
              <a:t> </a:t>
            </a:r>
            <a:r>
              <a:rPr sz="2000" dirty="0">
                <a:solidFill>
                  <a:srgbClr val="404040"/>
                </a:solidFill>
                <a:latin typeface="Calibri"/>
                <a:cs typeface="Calibri"/>
              </a:rPr>
              <a:t>fed</a:t>
            </a:r>
            <a:r>
              <a:rPr sz="2000" spc="-50" dirty="0">
                <a:solidFill>
                  <a:srgbClr val="404040"/>
                </a:solidFill>
                <a:latin typeface="Calibri"/>
                <a:cs typeface="Calibri"/>
              </a:rPr>
              <a:t> </a:t>
            </a:r>
            <a:r>
              <a:rPr sz="2000" dirty="0">
                <a:solidFill>
                  <a:srgbClr val="404040"/>
                </a:solidFill>
                <a:latin typeface="Calibri"/>
                <a:cs typeface="Calibri"/>
              </a:rPr>
              <a:t>directly</a:t>
            </a:r>
            <a:r>
              <a:rPr sz="2000" spc="-40" dirty="0">
                <a:solidFill>
                  <a:srgbClr val="404040"/>
                </a:solidFill>
                <a:latin typeface="Calibri"/>
                <a:cs typeface="Calibri"/>
              </a:rPr>
              <a:t> </a:t>
            </a:r>
            <a:r>
              <a:rPr sz="2000" dirty="0">
                <a:solidFill>
                  <a:srgbClr val="404040"/>
                </a:solidFill>
                <a:latin typeface="Calibri"/>
                <a:cs typeface="Calibri"/>
              </a:rPr>
              <a:t>into</a:t>
            </a:r>
            <a:r>
              <a:rPr sz="2000" spc="-45" dirty="0">
                <a:solidFill>
                  <a:srgbClr val="404040"/>
                </a:solidFill>
                <a:latin typeface="Calibri"/>
                <a:cs typeface="Calibri"/>
              </a:rPr>
              <a:t> </a:t>
            </a:r>
            <a:r>
              <a:rPr sz="2000" dirty="0">
                <a:solidFill>
                  <a:srgbClr val="404040"/>
                </a:solidFill>
                <a:latin typeface="Calibri"/>
                <a:cs typeface="Calibri"/>
              </a:rPr>
              <a:t>machine</a:t>
            </a:r>
            <a:r>
              <a:rPr sz="2000" spc="-55" dirty="0">
                <a:solidFill>
                  <a:srgbClr val="404040"/>
                </a:solidFill>
                <a:latin typeface="Calibri"/>
                <a:cs typeface="Calibri"/>
              </a:rPr>
              <a:t> </a:t>
            </a:r>
            <a:r>
              <a:rPr sz="2000" dirty="0">
                <a:solidFill>
                  <a:srgbClr val="404040"/>
                </a:solidFill>
                <a:latin typeface="Calibri"/>
                <a:cs typeface="Calibri"/>
              </a:rPr>
              <a:t>learning</a:t>
            </a:r>
            <a:r>
              <a:rPr sz="2000" spc="-35" dirty="0">
                <a:solidFill>
                  <a:srgbClr val="404040"/>
                </a:solidFill>
                <a:latin typeface="Calibri"/>
                <a:cs typeface="Calibri"/>
              </a:rPr>
              <a:t> </a:t>
            </a:r>
            <a:r>
              <a:rPr sz="2000" dirty="0">
                <a:solidFill>
                  <a:srgbClr val="404040"/>
                </a:solidFill>
                <a:latin typeface="Calibri"/>
                <a:cs typeface="Calibri"/>
              </a:rPr>
              <a:t>algorithms.</a:t>
            </a:r>
            <a:r>
              <a:rPr sz="2000" spc="-50" dirty="0">
                <a:solidFill>
                  <a:srgbClr val="404040"/>
                </a:solidFill>
                <a:latin typeface="Calibri"/>
                <a:cs typeface="Calibri"/>
              </a:rPr>
              <a:t> </a:t>
            </a:r>
            <a:r>
              <a:rPr sz="2000" spc="-25" dirty="0">
                <a:solidFill>
                  <a:srgbClr val="404040"/>
                </a:solidFill>
                <a:latin typeface="Calibri"/>
                <a:cs typeface="Calibri"/>
              </a:rPr>
              <a:t>It </a:t>
            </a:r>
            <a:r>
              <a:rPr sz="2000" dirty="0">
                <a:solidFill>
                  <a:srgbClr val="404040"/>
                </a:solidFill>
                <a:latin typeface="Calibri"/>
                <a:cs typeface="Calibri"/>
              </a:rPr>
              <a:t>must</a:t>
            </a:r>
            <a:r>
              <a:rPr sz="2000" spc="-60" dirty="0">
                <a:solidFill>
                  <a:srgbClr val="404040"/>
                </a:solidFill>
                <a:latin typeface="Calibri"/>
                <a:cs typeface="Calibri"/>
              </a:rPr>
              <a:t> </a:t>
            </a:r>
            <a:r>
              <a:rPr sz="2000" dirty="0">
                <a:solidFill>
                  <a:srgbClr val="404040"/>
                </a:solidFill>
                <a:latin typeface="Calibri"/>
                <a:cs typeface="Calibri"/>
              </a:rPr>
              <a:t>first</a:t>
            </a:r>
            <a:r>
              <a:rPr sz="2000" spc="-35" dirty="0">
                <a:solidFill>
                  <a:srgbClr val="404040"/>
                </a:solidFill>
                <a:latin typeface="Calibri"/>
                <a:cs typeface="Calibri"/>
              </a:rPr>
              <a:t> </a:t>
            </a:r>
            <a:r>
              <a:rPr sz="2000" dirty="0">
                <a:solidFill>
                  <a:srgbClr val="404040"/>
                </a:solidFill>
                <a:latin typeface="Calibri"/>
                <a:cs typeface="Calibri"/>
              </a:rPr>
              <a:t>be</a:t>
            </a:r>
            <a:r>
              <a:rPr sz="2000" spc="-65" dirty="0">
                <a:solidFill>
                  <a:srgbClr val="404040"/>
                </a:solidFill>
                <a:latin typeface="Calibri"/>
                <a:cs typeface="Calibri"/>
              </a:rPr>
              <a:t> </a:t>
            </a:r>
            <a:r>
              <a:rPr sz="2000" spc="-10" dirty="0">
                <a:solidFill>
                  <a:srgbClr val="404040"/>
                </a:solidFill>
                <a:latin typeface="Calibri"/>
                <a:cs typeface="Calibri"/>
              </a:rPr>
              <a:t>transformed</a:t>
            </a:r>
            <a:r>
              <a:rPr sz="2000" spc="-60" dirty="0">
                <a:solidFill>
                  <a:srgbClr val="404040"/>
                </a:solidFill>
                <a:latin typeface="Calibri"/>
                <a:cs typeface="Calibri"/>
              </a:rPr>
              <a:t> </a:t>
            </a:r>
            <a:r>
              <a:rPr sz="2000" dirty="0">
                <a:solidFill>
                  <a:srgbClr val="404040"/>
                </a:solidFill>
                <a:latin typeface="Calibri"/>
                <a:cs typeface="Calibri"/>
              </a:rPr>
              <a:t>into</a:t>
            </a:r>
            <a:r>
              <a:rPr sz="2000" spc="-55" dirty="0">
                <a:solidFill>
                  <a:srgbClr val="404040"/>
                </a:solidFill>
                <a:latin typeface="Calibri"/>
                <a:cs typeface="Calibri"/>
              </a:rPr>
              <a:t> </a:t>
            </a:r>
            <a:r>
              <a:rPr sz="2000" dirty="0">
                <a:solidFill>
                  <a:srgbClr val="404040"/>
                </a:solidFill>
                <a:latin typeface="Calibri"/>
                <a:cs typeface="Calibri"/>
              </a:rPr>
              <a:t>meaningful</a:t>
            </a:r>
            <a:r>
              <a:rPr sz="2000" spc="-60" dirty="0">
                <a:solidFill>
                  <a:srgbClr val="404040"/>
                </a:solidFill>
                <a:latin typeface="Calibri"/>
                <a:cs typeface="Calibri"/>
              </a:rPr>
              <a:t> </a:t>
            </a:r>
            <a:r>
              <a:rPr sz="2000" dirty="0">
                <a:solidFill>
                  <a:srgbClr val="404040"/>
                </a:solidFill>
                <a:latin typeface="Calibri"/>
                <a:cs typeface="Calibri"/>
              </a:rPr>
              <a:t>numerical</a:t>
            </a:r>
            <a:r>
              <a:rPr sz="2000" spc="-60" dirty="0">
                <a:solidFill>
                  <a:srgbClr val="404040"/>
                </a:solidFill>
                <a:latin typeface="Calibri"/>
                <a:cs typeface="Calibri"/>
              </a:rPr>
              <a:t> </a:t>
            </a:r>
            <a:r>
              <a:rPr sz="2000" spc="-10" dirty="0">
                <a:solidFill>
                  <a:srgbClr val="404040"/>
                </a:solidFill>
                <a:latin typeface="Calibri"/>
                <a:cs typeface="Calibri"/>
              </a:rPr>
              <a:t>representations</a:t>
            </a:r>
            <a:r>
              <a:rPr sz="2000" spc="-40" dirty="0">
                <a:solidFill>
                  <a:srgbClr val="404040"/>
                </a:solidFill>
                <a:latin typeface="Calibri"/>
                <a:cs typeface="Calibri"/>
              </a:rPr>
              <a:t> </a:t>
            </a:r>
            <a:r>
              <a:rPr sz="2000" spc="-10" dirty="0">
                <a:solidFill>
                  <a:srgbClr val="404040"/>
                </a:solidFill>
                <a:latin typeface="Calibri"/>
                <a:cs typeface="Calibri"/>
              </a:rPr>
              <a:t>called </a:t>
            </a:r>
            <a:r>
              <a:rPr sz="2000" b="1" spc="-10" dirty="0">
                <a:solidFill>
                  <a:srgbClr val="404040"/>
                </a:solidFill>
                <a:latin typeface="Calibri"/>
                <a:cs typeface="Calibri"/>
              </a:rPr>
              <a:t>features</a:t>
            </a:r>
            <a:r>
              <a:rPr sz="2000" spc="-10" dirty="0">
                <a:solidFill>
                  <a:srgbClr val="404040"/>
                </a:solidFill>
                <a:latin typeface="Calibri"/>
                <a:cs typeface="Calibri"/>
              </a:rPr>
              <a:t>.</a:t>
            </a:r>
            <a:endParaRPr sz="2000">
              <a:latin typeface="Calibri"/>
              <a:cs typeface="Calibri"/>
            </a:endParaRPr>
          </a:p>
          <a:p>
            <a:pPr marL="103505">
              <a:lnSpc>
                <a:spcPct val="100000"/>
              </a:lnSpc>
              <a:spcBef>
                <a:spcPts val="1150"/>
              </a:spcBef>
            </a:pPr>
            <a:r>
              <a:rPr sz="2000" b="1" spc="-10" dirty="0">
                <a:solidFill>
                  <a:srgbClr val="404040"/>
                </a:solidFill>
                <a:latin typeface="Calibri"/>
                <a:cs typeface="Calibri"/>
              </a:rPr>
              <a:t>Objective</a:t>
            </a:r>
            <a:endParaRPr sz="2000">
              <a:latin typeface="Calibri"/>
              <a:cs typeface="Calibri"/>
            </a:endParaRPr>
          </a:p>
          <a:p>
            <a:pPr marL="103505">
              <a:lnSpc>
                <a:spcPct val="100000"/>
              </a:lnSpc>
              <a:spcBef>
                <a:spcPts val="1165"/>
              </a:spcBef>
            </a:pPr>
            <a:r>
              <a:rPr sz="2000" dirty="0">
                <a:solidFill>
                  <a:srgbClr val="404040"/>
                </a:solidFill>
                <a:latin typeface="Calibri"/>
                <a:cs typeface="Calibri"/>
              </a:rPr>
              <a:t>Extract</a:t>
            </a:r>
            <a:r>
              <a:rPr sz="2000" spc="-50" dirty="0">
                <a:solidFill>
                  <a:srgbClr val="404040"/>
                </a:solidFill>
                <a:latin typeface="Calibri"/>
                <a:cs typeface="Calibri"/>
              </a:rPr>
              <a:t> </a:t>
            </a:r>
            <a:r>
              <a:rPr sz="2000" dirty="0">
                <a:solidFill>
                  <a:srgbClr val="404040"/>
                </a:solidFill>
                <a:latin typeface="Calibri"/>
                <a:cs typeface="Calibri"/>
              </a:rPr>
              <a:t>the</a:t>
            </a:r>
            <a:r>
              <a:rPr sz="2000" spc="-60" dirty="0">
                <a:solidFill>
                  <a:srgbClr val="404040"/>
                </a:solidFill>
                <a:latin typeface="Calibri"/>
                <a:cs typeface="Calibri"/>
              </a:rPr>
              <a:t> </a:t>
            </a:r>
            <a:r>
              <a:rPr sz="2000" dirty="0">
                <a:solidFill>
                  <a:srgbClr val="404040"/>
                </a:solidFill>
                <a:latin typeface="Calibri"/>
                <a:cs typeface="Calibri"/>
              </a:rPr>
              <a:t>most</a:t>
            </a:r>
            <a:r>
              <a:rPr sz="2000" spc="-45" dirty="0">
                <a:solidFill>
                  <a:srgbClr val="404040"/>
                </a:solidFill>
                <a:latin typeface="Calibri"/>
                <a:cs typeface="Calibri"/>
              </a:rPr>
              <a:t> </a:t>
            </a:r>
            <a:r>
              <a:rPr sz="2000" spc="-10" dirty="0">
                <a:solidFill>
                  <a:srgbClr val="404040"/>
                </a:solidFill>
                <a:latin typeface="Calibri"/>
                <a:cs typeface="Calibri"/>
              </a:rPr>
              <a:t>informative</a:t>
            </a:r>
            <a:r>
              <a:rPr sz="2000" spc="-45" dirty="0">
                <a:solidFill>
                  <a:srgbClr val="404040"/>
                </a:solidFill>
                <a:latin typeface="Calibri"/>
                <a:cs typeface="Calibri"/>
              </a:rPr>
              <a:t> </a:t>
            </a:r>
            <a:r>
              <a:rPr sz="2000" spc="-10" dirty="0">
                <a:solidFill>
                  <a:srgbClr val="404040"/>
                </a:solidFill>
                <a:latin typeface="Calibri"/>
                <a:cs typeface="Calibri"/>
              </a:rPr>
              <a:t>characteristics</a:t>
            </a:r>
            <a:r>
              <a:rPr sz="2000" spc="-30" dirty="0">
                <a:solidFill>
                  <a:srgbClr val="404040"/>
                </a:solidFill>
                <a:latin typeface="Calibri"/>
                <a:cs typeface="Calibri"/>
              </a:rPr>
              <a:t> </a:t>
            </a:r>
            <a:r>
              <a:rPr sz="2000" dirty="0">
                <a:solidFill>
                  <a:srgbClr val="404040"/>
                </a:solidFill>
                <a:latin typeface="Calibri"/>
                <a:cs typeface="Calibri"/>
              </a:rPr>
              <a:t>from</a:t>
            </a:r>
            <a:r>
              <a:rPr sz="2000" spc="-55" dirty="0">
                <a:solidFill>
                  <a:srgbClr val="404040"/>
                </a:solidFill>
                <a:latin typeface="Calibri"/>
                <a:cs typeface="Calibri"/>
              </a:rPr>
              <a:t> </a:t>
            </a:r>
            <a:r>
              <a:rPr sz="2000" spc="-10" dirty="0">
                <a:solidFill>
                  <a:srgbClr val="404040"/>
                </a:solidFill>
                <a:latin typeface="Calibri"/>
                <a:cs typeface="Calibri"/>
              </a:rPr>
              <a:t>data.</a:t>
            </a:r>
            <a:endParaRPr sz="2000">
              <a:latin typeface="Calibri"/>
              <a:cs typeface="Calibri"/>
            </a:endParaRPr>
          </a:p>
          <a:p>
            <a:pPr marL="103505">
              <a:lnSpc>
                <a:spcPct val="100000"/>
              </a:lnSpc>
              <a:spcBef>
                <a:spcPts val="1165"/>
              </a:spcBef>
            </a:pPr>
            <a:r>
              <a:rPr sz="2000" b="1" spc="-10" dirty="0">
                <a:solidFill>
                  <a:srgbClr val="404040"/>
                </a:solidFill>
                <a:latin typeface="Calibri"/>
                <a:cs typeface="Calibri"/>
              </a:rPr>
              <a:t>Feature</a:t>
            </a:r>
            <a:r>
              <a:rPr sz="2000" b="1" spc="-70" dirty="0">
                <a:solidFill>
                  <a:srgbClr val="404040"/>
                </a:solidFill>
                <a:latin typeface="Calibri"/>
                <a:cs typeface="Calibri"/>
              </a:rPr>
              <a:t> </a:t>
            </a:r>
            <a:r>
              <a:rPr sz="2000" b="1" dirty="0">
                <a:solidFill>
                  <a:srgbClr val="404040"/>
                </a:solidFill>
                <a:latin typeface="Calibri"/>
                <a:cs typeface="Calibri"/>
              </a:rPr>
              <a:t>Extraction</a:t>
            </a:r>
            <a:r>
              <a:rPr sz="2000" b="1" spc="-70" dirty="0">
                <a:solidFill>
                  <a:srgbClr val="404040"/>
                </a:solidFill>
                <a:latin typeface="Calibri"/>
                <a:cs typeface="Calibri"/>
              </a:rPr>
              <a:t> </a:t>
            </a:r>
            <a:r>
              <a:rPr sz="2000" b="1" dirty="0">
                <a:solidFill>
                  <a:srgbClr val="404040"/>
                </a:solidFill>
                <a:latin typeface="Calibri"/>
                <a:cs typeface="Calibri"/>
              </a:rPr>
              <a:t>for</a:t>
            </a:r>
            <a:r>
              <a:rPr sz="2000" b="1" spc="-60" dirty="0">
                <a:solidFill>
                  <a:srgbClr val="404040"/>
                </a:solidFill>
                <a:latin typeface="Calibri"/>
                <a:cs typeface="Calibri"/>
              </a:rPr>
              <a:t> </a:t>
            </a:r>
            <a:r>
              <a:rPr sz="2000" b="1" spc="-20" dirty="0">
                <a:solidFill>
                  <a:srgbClr val="404040"/>
                </a:solidFill>
                <a:latin typeface="Calibri"/>
                <a:cs typeface="Calibri"/>
              </a:rPr>
              <a:t>Text</a:t>
            </a:r>
            <a:endParaRPr sz="2000">
              <a:latin typeface="Calibri"/>
              <a:cs typeface="Calibri"/>
            </a:endParaRPr>
          </a:p>
          <a:p>
            <a:pPr marL="103505">
              <a:lnSpc>
                <a:spcPct val="100000"/>
              </a:lnSpc>
              <a:spcBef>
                <a:spcPts val="1150"/>
              </a:spcBef>
            </a:pPr>
            <a:r>
              <a:rPr sz="2000" spc="-20" dirty="0">
                <a:solidFill>
                  <a:srgbClr val="404040"/>
                </a:solidFill>
                <a:latin typeface="Calibri"/>
                <a:cs typeface="Calibri"/>
              </a:rPr>
              <a:t>Techniques</a:t>
            </a:r>
            <a:r>
              <a:rPr sz="2000" spc="-45" dirty="0">
                <a:solidFill>
                  <a:srgbClr val="404040"/>
                </a:solidFill>
                <a:latin typeface="Calibri"/>
                <a:cs typeface="Calibri"/>
              </a:rPr>
              <a:t> </a:t>
            </a:r>
            <a:r>
              <a:rPr sz="2000" spc="-10" dirty="0">
                <a:solidFill>
                  <a:srgbClr val="404040"/>
                </a:solidFill>
                <a:latin typeface="Calibri"/>
                <a:cs typeface="Calibri"/>
              </a:rPr>
              <a:t>include:</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Bag</a:t>
            </a:r>
            <a:r>
              <a:rPr sz="2000" spc="-45" dirty="0">
                <a:solidFill>
                  <a:srgbClr val="404040"/>
                </a:solidFill>
                <a:latin typeface="Calibri"/>
                <a:cs typeface="Calibri"/>
              </a:rPr>
              <a:t> </a:t>
            </a:r>
            <a:r>
              <a:rPr sz="2000" dirty="0">
                <a:solidFill>
                  <a:srgbClr val="404040"/>
                </a:solidFill>
                <a:latin typeface="Calibri"/>
                <a:cs typeface="Calibri"/>
              </a:rPr>
              <a:t>of</a:t>
            </a:r>
            <a:r>
              <a:rPr sz="2000" spc="-40" dirty="0">
                <a:solidFill>
                  <a:srgbClr val="404040"/>
                </a:solidFill>
                <a:latin typeface="Calibri"/>
                <a:cs typeface="Calibri"/>
              </a:rPr>
              <a:t> </a:t>
            </a:r>
            <a:r>
              <a:rPr sz="2000" spc="-10" dirty="0">
                <a:solidFill>
                  <a:srgbClr val="404040"/>
                </a:solidFill>
                <a:latin typeface="Calibri"/>
                <a:cs typeface="Calibri"/>
              </a:rPr>
              <a:t>Words</a:t>
            </a:r>
            <a:r>
              <a:rPr sz="2000" spc="-40" dirty="0">
                <a:solidFill>
                  <a:srgbClr val="404040"/>
                </a:solidFill>
                <a:latin typeface="Calibri"/>
                <a:cs typeface="Calibri"/>
              </a:rPr>
              <a:t> </a:t>
            </a:r>
            <a:r>
              <a:rPr sz="2000" spc="-10" dirty="0">
                <a:solidFill>
                  <a:srgbClr val="404040"/>
                </a:solidFill>
                <a:latin typeface="Calibri"/>
                <a:cs typeface="Calibri"/>
              </a:rPr>
              <a:t>(BoW)</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TF-</a:t>
            </a:r>
            <a:r>
              <a:rPr sz="2000" spc="-25" dirty="0">
                <a:solidFill>
                  <a:srgbClr val="404040"/>
                </a:solidFill>
                <a:latin typeface="Calibri"/>
                <a:cs typeface="Calibri"/>
              </a:rPr>
              <a:t>IDF</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Word2Vec</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GloVe</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dirty="0">
                <a:solidFill>
                  <a:srgbClr val="404040"/>
                </a:solidFill>
                <a:latin typeface="Calibri"/>
                <a:cs typeface="Calibri"/>
              </a:rPr>
              <a:t>BERT</a:t>
            </a:r>
            <a:r>
              <a:rPr sz="2000" spc="-35" dirty="0">
                <a:solidFill>
                  <a:srgbClr val="404040"/>
                </a:solidFill>
                <a:latin typeface="Calibri"/>
                <a:cs typeface="Calibri"/>
              </a:rPr>
              <a:t> </a:t>
            </a:r>
            <a:r>
              <a:rPr sz="2000" spc="-10" dirty="0">
                <a:solidFill>
                  <a:srgbClr val="404040"/>
                </a:solidFill>
                <a:latin typeface="Calibri"/>
                <a:cs typeface="Calibri"/>
              </a:rPr>
              <a:t>embeddings</a:t>
            </a:r>
            <a:endParaRPr sz="20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8404" y="-67590"/>
            <a:ext cx="7842250" cy="5752465"/>
          </a:xfrm>
          <a:prstGeom prst="rect">
            <a:avLst/>
          </a:prstGeom>
        </p:spPr>
        <p:txBody>
          <a:bodyPr vert="horz" wrap="square" lIns="0" tIns="129539" rIns="0" bIns="0" rtlCol="0">
            <a:spAutoFit/>
          </a:bodyPr>
          <a:lstStyle/>
          <a:p>
            <a:pPr marL="103505">
              <a:lnSpc>
                <a:spcPct val="100000"/>
              </a:lnSpc>
              <a:spcBef>
                <a:spcPts val="1019"/>
              </a:spcBef>
            </a:pPr>
            <a:r>
              <a:rPr sz="2000" b="1" dirty="0">
                <a:solidFill>
                  <a:srgbClr val="404040"/>
                </a:solidFill>
                <a:latin typeface="Calibri"/>
                <a:cs typeface="Calibri"/>
              </a:rPr>
              <a:t>Step</a:t>
            </a:r>
            <a:r>
              <a:rPr sz="2000" b="1" spc="-30" dirty="0">
                <a:solidFill>
                  <a:srgbClr val="404040"/>
                </a:solidFill>
                <a:latin typeface="Calibri"/>
                <a:cs typeface="Calibri"/>
              </a:rPr>
              <a:t> </a:t>
            </a:r>
            <a:r>
              <a:rPr sz="2000" b="1" dirty="0">
                <a:solidFill>
                  <a:srgbClr val="404040"/>
                </a:solidFill>
                <a:latin typeface="Calibri"/>
                <a:cs typeface="Calibri"/>
              </a:rPr>
              <a:t>5:</a:t>
            </a:r>
            <a:r>
              <a:rPr sz="2000" b="1" spc="-45" dirty="0">
                <a:solidFill>
                  <a:srgbClr val="404040"/>
                </a:solidFill>
                <a:latin typeface="Calibri"/>
                <a:cs typeface="Calibri"/>
              </a:rPr>
              <a:t> </a:t>
            </a:r>
            <a:r>
              <a:rPr sz="2000" b="1" dirty="0">
                <a:solidFill>
                  <a:srgbClr val="404040"/>
                </a:solidFill>
                <a:latin typeface="Calibri"/>
                <a:cs typeface="Calibri"/>
              </a:rPr>
              <a:t>Machine</a:t>
            </a:r>
            <a:r>
              <a:rPr sz="2000" b="1" spc="-45" dirty="0">
                <a:solidFill>
                  <a:srgbClr val="404040"/>
                </a:solidFill>
                <a:latin typeface="Calibri"/>
                <a:cs typeface="Calibri"/>
              </a:rPr>
              <a:t> </a:t>
            </a:r>
            <a:r>
              <a:rPr sz="2000" b="1" dirty="0">
                <a:solidFill>
                  <a:srgbClr val="404040"/>
                </a:solidFill>
                <a:latin typeface="Calibri"/>
                <a:cs typeface="Calibri"/>
              </a:rPr>
              <a:t>Learning</a:t>
            </a:r>
            <a:r>
              <a:rPr sz="2000" b="1" spc="-30" dirty="0">
                <a:solidFill>
                  <a:srgbClr val="404040"/>
                </a:solidFill>
                <a:latin typeface="Calibri"/>
                <a:cs typeface="Calibri"/>
              </a:rPr>
              <a:t> </a:t>
            </a:r>
            <a:r>
              <a:rPr sz="2000" b="1" dirty="0">
                <a:solidFill>
                  <a:srgbClr val="404040"/>
                </a:solidFill>
                <a:latin typeface="Calibri"/>
                <a:cs typeface="Calibri"/>
              </a:rPr>
              <a:t>&amp;</a:t>
            </a:r>
            <a:r>
              <a:rPr sz="2000" b="1" spc="-30" dirty="0">
                <a:solidFill>
                  <a:srgbClr val="404040"/>
                </a:solidFill>
                <a:latin typeface="Calibri"/>
                <a:cs typeface="Calibri"/>
              </a:rPr>
              <a:t> </a:t>
            </a:r>
            <a:r>
              <a:rPr sz="2000" b="1" dirty="0">
                <a:solidFill>
                  <a:srgbClr val="404040"/>
                </a:solidFill>
                <a:latin typeface="Calibri"/>
                <a:cs typeface="Calibri"/>
              </a:rPr>
              <a:t>Deep</a:t>
            </a:r>
            <a:r>
              <a:rPr sz="2000" b="1" spc="-25" dirty="0">
                <a:solidFill>
                  <a:srgbClr val="404040"/>
                </a:solidFill>
                <a:latin typeface="Calibri"/>
                <a:cs typeface="Calibri"/>
              </a:rPr>
              <a:t> </a:t>
            </a:r>
            <a:r>
              <a:rPr sz="2000" b="1" spc="-10" dirty="0">
                <a:solidFill>
                  <a:srgbClr val="404040"/>
                </a:solidFill>
                <a:latin typeface="Calibri"/>
                <a:cs typeface="Calibri"/>
              </a:rPr>
              <a:t>Learning</a:t>
            </a:r>
            <a:endParaRPr sz="2000">
              <a:latin typeface="Calibri"/>
              <a:cs typeface="Calibri"/>
            </a:endParaRPr>
          </a:p>
          <a:p>
            <a:pPr marL="103505">
              <a:lnSpc>
                <a:spcPts val="2160"/>
              </a:lnSpc>
              <a:spcBef>
                <a:spcPts val="925"/>
              </a:spcBef>
            </a:pPr>
            <a:r>
              <a:rPr sz="2000" dirty="0">
                <a:solidFill>
                  <a:srgbClr val="404040"/>
                </a:solidFill>
                <a:latin typeface="Calibri"/>
                <a:cs typeface="Calibri"/>
              </a:rPr>
              <a:t>After</a:t>
            </a:r>
            <a:r>
              <a:rPr sz="2000" spc="-50" dirty="0">
                <a:solidFill>
                  <a:srgbClr val="404040"/>
                </a:solidFill>
                <a:latin typeface="Calibri"/>
                <a:cs typeface="Calibri"/>
              </a:rPr>
              <a:t> </a:t>
            </a:r>
            <a:r>
              <a:rPr sz="2000" spc="-10" dirty="0">
                <a:solidFill>
                  <a:srgbClr val="404040"/>
                </a:solidFill>
                <a:latin typeface="Calibri"/>
                <a:cs typeface="Calibri"/>
              </a:rPr>
              <a:t>feature</a:t>
            </a:r>
            <a:r>
              <a:rPr sz="2000" spc="-45" dirty="0">
                <a:solidFill>
                  <a:srgbClr val="404040"/>
                </a:solidFill>
                <a:latin typeface="Calibri"/>
                <a:cs typeface="Calibri"/>
              </a:rPr>
              <a:t> </a:t>
            </a:r>
            <a:r>
              <a:rPr sz="2000" spc="-10" dirty="0">
                <a:solidFill>
                  <a:srgbClr val="404040"/>
                </a:solidFill>
                <a:latin typeface="Calibri"/>
                <a:cs typeface="Calibri"/>
              </a:rPr>
              <a:t>extraction,</a:t>
            </a:r>
            <a:r>
              <a:rPr sz="2000" spc="-50" dirty="0">
                <a:solidFill>
                  <a:srgbClr val="404040"/>
                </a:solidFill>
                <a:latin typeface="Calibri"/>
                <a:cs typeface="Calibri"/>
              </a:rPr>
              <a:t> </a:t>
            </a:r>
            <a:r>
              <a:rPr sz="2000" dirty="0">
                <a:solidFill>
                  <a:srgbClr val="404040"/>
                </a:solidFill>
                <a:latin typeface="Calibri"/>
                <a:cs typeface="Calibri"/>
              </a:rPr>
              <a:t>machine</a:t>
            </a:r>
            <a:r>
              <a:rPr sz="2000" spc="-45" dirty="0">
                <a:solidFill>
                  <a:srgbClr val="404040"/>
                </a:solidFill>
                <a:latin typeface="Calibri"/>
                <a:cs typeface="Calibri"/>
              </a:rPr>
              <a:t> </a:t>
            </a:r>
            <a:r>
              <a:rPr sz="2000" dirty="0">
                <a:solidFill>
                  <a:srgbClr val="404040"/>
                </a:solidFill>
                <a:latin typeface="Calibri"/>
                <a:cs typeface="Calibri"/>
              </a:rPr>
              <a:t>learning</a:t>
            </a:r>
            <a:r>
              <a:rPr sz="2000" spc="-50" dirty="0">
                <a:solidFill>
                  <a:srgbClr val="404040"/>
                </a:solidFill>
                <a:latin typeface="Calibri"/>
                <a:cs typeface="Calibri"/>
              </a:rPr>
              <a:t> </a:t>
            </a:r>
            <a:r>
              <a:rPr sz="2000" dirty="0">
                <a:solidFill>
                  <a:srgbClr val="404040"/>
                </a:solidFill>
                <a:latin typeface="Calibri"/>
                <a:cs typeface="Calibri"/>
              </a:rPr>
              <a:t>models</a:t>
            </a:r>
            <a:r>
              <a:rPr sz="2000" spc="-45" dirty="0">
                <a:solidFill>
                  <a:srgbClr val="404040"/>
                </a:solidFill>
                <a:latin typeface="Calibri"/>
                <a:cs typeface="Calibri"/>
              </a:rPr>
              <a:t> </a:t>
            </a:r>
            <a:r>
              <a:rPr sz="2000" dirty="0">
                <a:solidFill>
                  <a:srgbClr val="404040"/>
                </a:solidFill>
                <a:latin typeface="Calibri"/>
                <a:cs typeface="Calibri"/>
              </a:rPr>
              <a:t>learn</a:t>
            </a:r>
            <a:r>
              <a:rPr sz="2000" spc="-45" dirty="0">
                <a:solidFill>
                  <a:srgbClr val="404040"/>
                </a:solidFill>
                <a:latin typeface="Calibri"/>
                <a:cs typeface="Calibri"/>
              </a:rPr>
              <a:t> </a:t>
            </a:r>
            <a:r>
              <a:rPr sz="2000" spc="-10" dirty="0">
                <a:solidFill>
                  <a:srgbClr val="404040"/>
                </a:solidFill>
                <a:latin typeface="Calibri"/>
                <a:cs typeface="Calibri"/>
              </a:rPr>
              <a:t>patterns</a:t>
            </a:r>
            <a:r>
              <a:rPr sz="2000" spc="-50"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spc="-20" dirty="0">
                <a:solidFill>
                  <a:srgbClr val="404040"/>
                </a:solidFill>
                <a:latin typeface="Calibri"/>
                <a:cs typeface="Calibri"/>
              </a:rPr>
              <a:t>make</a:t>
            </a:r>
            <a:endParaRPr sz="2000">
              <a:latin typeface="Calibri"/>
              <a:cs typeface="Calibri"/>
            </a:endParaRPr>
          </a:p>
          <a:p>
            <a:pPr marL="103505">
              <a:lnSpc>
                <a:spcPts val="2160"/>
              </a:lnSpc>
            </a:pPr>
            <a:r>
              <a:rPr sz="2000" spc="-10" dirty="0">
                <a:solidFill>
                  <a:srgbClr val="404040"/>
                </a:solidFill>
                <a:latin typeface="Calibri"/>
                <a:cs typeface="Calibri"/>
              </a:rPr>
              <a:t>predictions.</a:t>
            </a:r>
            <a:endParaRPr sz="2000">
              <a:latin typeface="Calibri"/>
              <a:cs typeface="Calibri"/>
            </a:endParaRPr>
          </a:p>
          <a:p>
            <a:pPr marL="103505" marR="5235575">
              <a:lnSpc>
                <a:spcPts val="3320"/>
              </a:lnSpc>
              <a:spcBef>
                <a:spcPts val="260"/>
              </a:spcBef>
            </a:pPr>
            <a:r>
              <a:rPr sz="2000" b="1" dirty="0">
                <a:solidFill>
                  <a:srgbClr val="404040"/>
                </a:solidFill>
                <a:latin typeface="Calibri"/>
                <a:cs typeface="Calibri"/>
              </a:rPr>
              <a:t>Machine</a:t>
            </a:r>
            <a:r>
              <a:rPr sz="2000" b="1" spc="-50" dirty="0">
                <a:solidFill>
                  <a:srgbClr val="404040"/>
                </a:solidFill>
                <a:latin typeface="Calibri"/>
                <a:cs typeface="Calibri"/>
              </a:rPr>
              <a:t> </a:t>
            </a:r>
            <a:r>
              <a:rPr sz="2000" b="1" dirty="0">
                <a:solidFill>
                  <a:srgbClr val="404040"/>
                </a:solidFill>
                <a:latin typeface="Calibri"/>
                <a:cs typeface="Calibri"/>
              </a:rPr>
              <a:t>Learning</a:t>
            </a:r>
            <a:r>
              <a:rPr sz="2000" b="1" spc="-55" dirty="0">
                <a:solidFill>
                  <a:srgbClr val="404040"/>
                </a:solidFill>
                <a:latin typeface="Calibri"/>
                <a:cs typeface="Calibri"/>
              </a:rPr>
              <a:t> </a:t>
            </a:r>
            <a:r>
              <a:rPr sz="2000" b="1" spc="-25" dirty="0">
                <a:solidFill>
                  <a:srgbClr val="404040"/>
                </a:solidFill>
                <a:latin typeface="Calibri"/>
                <a:cs typeface="Calibri"/>
              </a:rPr>
              <a:t>Tasks </a:t>
            </a:r>
            <a:r>
              <a:rPr sz="2000" b="1" spc="-10" dirty="0">
                <a:solidFill>
                  <a:srgbClr val="404040"/>
                </a:solidFill>
                <a:latin typeface="Calibri"/>
                <a:cs typeface="Calibri"/>
              </a:rPr>
              <a:t>Classification</a:t>
            </a:r>
            <a:endParaRPr sz="2000">
              <a:latin typeface="Calibri"/>
              <a:cs typeface="Calibri"/>
            </a:endParaRPr>
          </a:p>
          <a:p>
            <a:pPr marL="103505">
              <a:lnSpc>
                <a:spcPct val="100000"/>
              </a:lnSpc>
              <a:spcBef>
                <a:spcPts val="665"/>
              </a:spcBef>
            </a:pPr>
            <a:r>
              <a:rPr sz="2000" spc="-10" dirty="0">
                <a:solidFill>
                  <a:srgbClr val="404040"/>
                </a:solidFill>
                <a:latin typeface="Calibri"/>
                <a:cs typeface="Calibri"/>
              </a:rPr>
              <a:t>Examples:</a:t>
            </a:r>
            <a:endParaRPr sz="2000">
              <a:latin typeface="Calibri"/>
              <a:cs typeface="Calibri"/>
            </a:endParaRPr>
          </a:p>
          <a:p>
            <a:pPr marL="103505" indent="-101600">
              <a:lnSpc>
                <a:spcPct val="100000"/>
              </a:lnSpc>
              <a:spcBef>
                <a:spcPts val="910"/>
              </a:spcBef>
              <a:buClr>
                <a:srgbClr val="E38312"/>
              </a:buClr>
              <a:buSzPct val="77500"/>
              <a:buFont typeface="Tahoma"/>
              <a:buChar char="•"/>
              <a:tabLst>
                <a:tab pos="103505" algn="l"/>
              </a:tabLst>
            </a:pPr>
            <a:r>
              <a:rPr sz="2000" dirty="0">
                <a:solidFill>
                  <a:srgbClr val="404040"/>
                </a:solidFill>
                <a:latin typeface="Calibri"/>
                <a:cs typeface="Calibri"/>
              </a:rPr>
              <a:t>Spam </a:t>
            </a:r>
            <a:r>
              <a:rPr sz="2000" spc="-10" dirty="0">
                <a:solidFill>
                  <a:srgbClr val="404040"/>
                </a:solidFill>
                <a:latin typeface="Calibri"/>
                <a:cs typeface="Calibri"/>
              </a:rPr>
              <a:t>detection</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Disease</a:t>
            </a:r>
            <a:r>
              <a:rPr sz="2000" spc="-70" dirty="0">
                <a:solidFill>
                  <a:srgbClr val="404040"/>
                </a:solidFill>
                <a:latin typeface="Calibri"/>
                <a:cs typeface="Calibri"/>
              </a:rPr>
              <a:t> </a:t>
            </a:r>
            <a:r>
              <a:rPr sz="2000" spc="-10" dirty="0">
                <a:solidFill>
                  <a:srgbClr val="404040"/>
                </a:solidFill>
                <a:latin typeface="Calibri"/>
                <a:cs typeface="Calibri"/>
              </a:rPr>
              <a:t>classification</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Face</a:t>
            </a:r>
            <a:r>
              <a:rPr sz="2000" spc="-90" dirty="0">
                <a:solidFill>
                  <a:srgbClr val="404040"/>
                </a:solidFill>
                <a:latin typeface="Calibri"/>
                <a:cs typeface="Calibri"/>
              </a:rPr>
              <a:t> </a:t>
            </a:r>
            <a:r>
              <a:rPr sz="2000" spc="-10" dirty="0">
                <a:solidFill>
                  <a:srgbClr val="404040"/>
                </a:solidFill>
                <a:latin typeface="Calibri"/>
                <a:cs typeface="Calibri"/>
              </a:rPr>
              <a:t>recognition</a:t>
            </a:r>
            <a:endParaRPr sz="2000">
              <a:latin typeface="Calibri"/>
              <a:cs typeface="Calibri"/>
            </a:endParaRPr>
          </a:p>
          <a:p>
            <a:pPr marL="103505">
              <a:lnSpc>
                <a:spcPct val="100000"/>
              </a:lnSpc>
              <a:spcBef>
                <a:spcPts val="915"/>
              </a:spcBef>
            </a:pPr>
            <a:r>
              <a:rPr sz="2000" b="1" spc="-10" dirty="0">
                <a:solidFill>
                  <a:srgbClr val="404040"/>
                </a:solidFill>
                <a:latin typeface="Calibri"/>
                <a:cs typeface="Calibri"/>
              </a:rPr>
              <a:t>Algorithms: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Decision</a:t>
            </a:r>
            <a:r>
              <a:rPr sz="2000" spc="-65" dirty="0">
                <a:solidFill>
                  <a:srgbClr val="404040"/>
                </a:solidFill>
                <a:latin typeface="Calibri"/>
                <a:cs typeface="Calibri"/>
              </a:rPr>
              <a:t> </a:t>
            </a:r>
            <a:r>
              <a:rPr sz="2000" spc="-20" dirty="0">
                <a:solidFill>
                  <a:srgbClr val="404040"/>
                </a:solidFill>
                <a:latin typeface="Calibri"/>
                <a:cs typeface="Calibri"/>
              </a:rPr>
              <a:t>Tree</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Random</a:t>
            </a:r>
            <a:r>
              <a:rPr sz="2000" spc="-30" dirty="0">
                <a:solidFill>
                  <a:srgbClr val="404040"/>
                </a:solidFill>
                <a:latin typeface="Calibri"/>
                <a:cs typeface="Calibri"/>
              </a:rPr>
              <a:t> </a:t>
            </a:r>
            <a:r>
              <a:rPr sz="2000" spc="-10" dirty="0">
                <a:solidFill>
                  <a:srgbClr val="404040"/>
                </a:solidFill>
                <a:latin typeface="Calibri"/>
                <a:cs typeface="Calibri"/>
              </a:rPr>
              <a:t>Forest</a:t>
            </a:r>
            <a:endParaRPr sz="2000">
              <a:latin typeface="Calibri"/>
              <a:cs typeface="Calibri"/>
            </a:endParaRPr>
          </a:p>
          <a:p>
            <a:pPr marL="103505" indent="-101600">
              <a:lnSpc>
                <a:spcPct val="100000"/>
              </a:lnSpc>
              <a:spcBef>
                <a:spcPts val="910"/>
              </a:spcBef>
              <a:buClr>
                <a:srgbClr val="E38312"/>
              </a:buClr>
              <a:buSzPct val="77500"/>
              <a:buFont typeface="Tahoma"/>
              <a:buChar char="•"/>
              <a:tabLst>
                <a:tab pos="103505" algn="l"/>
              </a:tabLst>
            </a:pPr>
            <a:r>
              <a:rPr sz="2000" spc="-25" dirty="0">
                <a:solidFill>
                  <a:srgbClr val="404040"/>
                </a:solidFill>
                <a:latin typeface="Calibri"/>
                <a:cs typeface="Calibri"/>
              </a:rPr>
              <a:t>SVM</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Logistic</a:t>
            </a:r>
            <a:r>
              <a:rPr sz="2000" spc="-65" dirty="0">
                <a:solidFill>
                  <a:srgbClr val="404040"/>
                </a:solidFill>
                <a:latin typeface="Calibri"/>
                <a:cs typeface="Calibri"/>
              </a:rPr>
              <a:t> </a:t>
            </a:r>
            <a:r>
              <a:rPr sz="2000" spc="-10" dirty="0">
                <a:solidFill>
                  <a:srgbClr val="404040"/>
                </a:solidFill>
                <a:latin typeface="Calibri"/>
                <a:cs typeface="Calibri"/>
              </a:rPr>
              <a:t>Regression</a:t>
            </a:r>
            <a:endParaRPr sz="20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8404" y="-73684"/>
            <a:ext cx="7161530" cy="4370070"/>
          </a:xfrm>
          <a:prstGeom prst="rect">
            <a:avLst/>
          </a:prstGeom>
        </p:spPr>
        <p:txBody>
          <a:bodyPr vert="horz" wrap="square" lIns="0" tIns="160020" rIns="0" bIns="0" rtlCol="0">
            <a:spAutoFit/>
          </a:bodyPr>
          <a:lstStyle/>
          <a:p>
            <a:pPr marL="103505">
              <a:lnSpc>
                <a:spcPct val="100000"/>
              </a:lnSpc>
              <a:spcBef>
                <a:spcPts val="1260"/>
              </a:spcBef>
            </a:pPr>
            <a:r>
              <a:rPr sz="2000" b="1" dirty="0">
                <a:solidFill>
                  <a:srgbClr val="404040"/>
                </a:solidFill>
                <a:latin typeface="Calibri"/>
                <a:cs typeface="Calibri"/>
              </a:rPr>
              <a:t>Step</a:t>
            </a:r>
            <a:r>
              <a:rPr sz="2000" b="1" spc="-35" dirty="0">
                <a:solidFill>
                  <a:srgbClr val="404040"/>
                </a:solidFill>
                <a:latin typeface="Calibri"/>
                <a:cs typeface="Calibri"/>
              </a:rPr>
              <a:t> </a:t>
            </a:r>
            <a:r>
              <a:rPr sz="2000" b="1" dirty="0">
                <a:solidFill>
                  <a:srgbClr val="404040"/>
                </a:solidFill>
                <a:latin typeface="Calibri"/>
                <a:cs typeface="Calibri"/>
              </a:rPr>
              <a:t>6:</a:t>
            </a:r>
            <a:r>
              <a:rPr sz="2000" b="1" spc="-45" dirty="0">
                <a:solidFill>
                  <a:srgbClr val="404040"/>
                </a:solidFill>
                <a:latin typeface="Calibri"/>
                <a:cs typeface="Calibri"/>
              </a:rPr>
              <a:t> </a:t>
            </a:r>
            <a:r>
              <a:rPr sz="2000" b="1" spc="-10" dirty="0">
                <a:solidFill>
                  <a:srgbClr val="404040"/>
                </a:solidFill>
                <a:latin typeface="Calibri"/>
                <a:cs typeface="Calibri"/>
              </a:rPr>
              <a:t>Generate</a:t>
            </a:r>
            <a:r>
              <a:rPr sz="2000" b="1" spc="-20" dirty="0">
                <a:solidFill>
                  <a:srgbClr val="404040"/>
                </a:solidFill>
                <a:latin typeface="Calibri"/>
                <a:cs typeface="Calibri"/>
              </a:rPr>
              <a:t> </a:t>
            </a:r>
            <a:r>
              <a:rPr sz="2000" b="1" dirty="0">
                <a:solidFill>
                  <a:srgbClr val="404040"/>
                </a:solidFill>
                <a:latin typeface="Calibri"/>
                <a:cs typeface="Calibri"/>
              </a:rPr>
              <a:t>Insights</a:t>
            </a:r>
            <a:r>
              <a:rPr sz="2000" b="1" spc="-60" dirty="0">
                <a:solidFill>
                  <a:srgbClr val="404040"/>
                </a:solidFill>
                <a:latin typeface="Calibri"/>
                <a:cs typeface="Calibri"/>
              </a:rPr>
              <a:t> </a:t>
            </a:r>
            <a:r>
              <a:rPr sz="2000" b="1" dirty="0">
                <a:solidFill>
                  <a:srgbClr val="404040"/>
                </a:solidFill>
                <a:latin typeface="Calibri"/>
                <a:cs typeface="Calibri"/>
              </a:rPr>
              <a:t>and</a:t>
            </a:r>
            <a:r>
              <a:rPr sz="2000" b="1" spc="-40" dirty="0">
                <a:solidFill>
                  <a:srgbClr val="404040"/>
                </a:solidFill>
                <a:latin typeface="Calibri"/>
                <a:cs typeface="Calibri"/>
              </a:rPr>
              <a:t> </a:t>
            </a:r>
            <a:r>
              <a:rPr sz="2000" b="1" dirty="0">
                <a:solidFill>
                  <a:srgbClr val="404040"/>
                </a:solidFill>
                <a:latin typeface="Calibri"/>
                <a:cs typeface="Calibri"/>
              </a:rPr>
              <a:t>Decision</a:t>
            </a:r>
            <a:r>
              <a:rPr sz="2000" b="1" spc="-45" dirty="0">
                <a:solidFill>
                  <a:srgbClr val="404040"/>
                </a:solidFill>
                <a:latin typeface="Calibri"/>
                <a:cs typeface="Calibri"/>
              </a:rPr>
              <a:t> </a:t>
            </a:r>
            <a:r>
              <a:rPr sz="2000" b="1" spc="-10" dirty="0">
                <a:solidFill>
                  <a:srgbClr val="404040"/>
                </a:solidFill>
                <a:latin typeface="Calibri"/>
                <a:cs typeface="Calibri"/>
              </a:rPr>
              <a:t>Making</a:t>
            </a:r>
            <a:endParaRPr sz="2000">
              <a:latin typeface="Calibri"/>
              <a:cs typeface="Calibri"/>
            </a:endParaRPr>
          </a:p>
          <a:p>
            <a:pPr marL="103505">
              <a:lnSpc>
                <a:spcPts val="2280"/>
              </a:lnSpc>
              <a:spcBef>
                <a:spcPts val="1165"/>
              </a:spcBef>
            </a:pPr>
            <a:r>
              <a:rPr sz="2000" dirty="0">
                <a:solidFill>
                  <a:srgbClr val="404040"/>
                </a:solidFill>
                <a:latin typeface="Calibri"/>
                <a:cs typeface="Calibri"/>
              </a:rPr>
              <a:t>The</a:t>
            </a:r>
            <a:r>
              <a:rPr sz="2000" spc="-45" dirty="0">
                <a:solidFill>
                  <a:srgbClr val="404040"/>
                </a:solidFill>
                <a:latin typeface="Calibri"/>
                <a:cs typeface="Calibri"/>
              </a:rPr>
              <a:t> </a:t>
            </a:r>
            <a:r>
              <a:rPr sz="2000" dirty="0">
                <a:solidFill>
                  <a:srgbClr val="404040"/>
                </a:solidFill>
                <a:latin typeface="Calibri"/>
                <a:cs typeface="Calibri"/>
              </a:rPr>
              <a:t>final</a:t>
            </a:r>
            <a:r>
              <a:rPr sz="2000" spc="-40" dirty="0">
                <a:solidFill>
                  <a:srgbClr val="404040"/>
                </a:solidFill>
                <a:latin typeface="Calibri"/>
                <a:cs typeface="Calibri"/>
              </a:rPr>
              <a:t> </a:t>
            </a:r>
            <a:r>
              <a:rPr sz="2000" dirty="0">
                <a:solidFill>
                  <a:srgbClr val="404040"/>
                </a:solidFill>
                <a:latin typeface="Calibri"/>
                <a:cs typeface="Calibri"/>
              </a:rPr>
              <a:t>step</a:t>
            </a:r>
            <a:r>
              <a:rPr sz="2000" spc="-40" dirty="0">
                <a:solidFill>
                  <a:srgbClr val="404040"/>
                </a:solidFill>
                <a:latin typeface="Calibri"/>
                <a:cs typeface="Calibri"/>
              </a:rPr>
              <a:t> </a:t>
            </a:r>
            <a:r>
              <a:rPr sz="2000" spc="-10" dirty="0">
                <a:solidFill>
                  <a:srgbClr val="404040"/>
                </a:solidFill>
                <a:latin typeface="Calibri"/>
                <a:cs typeface="Calibri"/>
              </a:rPr>
              <a:t>converts</a:t>
            </a:r>
            <a:r>
              <a:rPr sz="2000" spc="-40" dirty="0">
                <a:solidFill>
                  <a:srgbClr val="404040"/>
                </a:solidFill>
                <a:latin typeface="Calibri"/>
                <a:cs typeface="Calibri"/>
              </a:rPr>
              <a:t> </a:t>
            </a:r>
            <a:r>
              <a:rPr sz="2000" dirty="0">
                <a:solidFill>
                  <a:srgbClr val="404040"/>
                </a:solidFill>
                <a:latin typeface="Calibri"/>
                <a:cs typeface="Calibri"/>
              </a:rPr>
              <a:t>model</a:t>
            </a:r>
            <a:r>
              <a:rPr sz="2000" spc="-55" dirty="0">
                <a:solidFill>
                  <a:srgbClr val="404040"/>
                </a:solidFill>
                <a:latin typeface="Calibri"/>
                <a:cs typeface="Calibri"/>
              </a:rPr>
              <a:t> </a:t>
            </a:r>
            <a:r>
              <a:rPr sz="2000" dirty="0">
                <a:solidFill>
                  <a:srgbClr val="404040"/>
                </a:solidFill>
                <a:latin typeface="Calibri"/>
                <a:cs typeface="Calibri"/>
              </a:rPr>
              <a:t>outputs</a:t>
            </a:r>
            <a:r>
              <a:rPr sz="2000" spc="-50" dirty="0">
                <a:solidFill>
                  <a:srgbClr val="404040"/>
                </a:solidFill>
                <a:latin typeface="Calibri"/>
                <a:cs typeface="Calibri"/>
              </a:rPr>
              <a:t> </a:t>
            </a:r>
            <a:r>
              <a:rPr sz="2000" dirty="0">
                <a:solidFill>
                  <a:srgbClr val="404040"/>
                </a:solidFill>
                <a:latin typeface="Calibri"/>
                <a:cs typeface="Calibri"/>
              </a:rPr>
              <a:t>into</a:t>
            </a:r>
            <a:r>
              <a:rPr sz="2000" spc="-40" dirty="0">
                <a:solidFill>
                  <a:srgbClr val="404040"/>
                </a:solidFill>
                <a:latin typeface="Calibri"/>
                <a:cs typeface="Calibri"/>
              </a:rPr>
              <a:t> </a:t>
            </a:r>
            <a:r>
              <a:rPr sz="2000" dirty="0">
                <a:solidFill>
                  <a:srgbClr val="404040"/>
                </a:solidFill>
                <a:latin typeface="Calibri"/>
                <a:cs typeface="Calibri"/>
              </a:rPr>
              <a:t>actionable</a:t>
            </a:r>
            <a:r>
              <a:rPr sz="2000" spc="-45" dirty="0">
                <a:solidFill>
                  <a:srgbClr val="404040"/>
                </a:solidFill>
                <a:latin typeface="Calibri"/>
                <a:cs typeface="Calibri"/>
              </a:rPr>
              <a:t> </a:t>
            </a:r>
            <a:r>
              <a:rPr sz="2000" dirty="0">
                <a:solidFill>
                  <a:srgbClr val="404040"/>
                </a:solidFill>
                <a:latin typeface="Calibri"/>
                <a:cs typeface="Calibri"/>
              </a:rPr>
              <a:t>knowledge</a:t>
            </a:r>
            <a:r>
              <a:rPr sz="2000" spc="-65" dirty="0">
                <a:solidFill>
                  <a:srgbClr val="404040"/>
                </a:solidFill>
                <a:latin typeface="Calibri"/>
                <a:cs typeface="Calibri"/>
              </a:rPr>
              <a:t> </a:t>
            </a:r>
            <a:r>
              <a:rPr sz="2000" spc="-25" dirty="0">
                <a:solidFill>
                  <a:srgbClr val="404040"/>
                </a:solidFill>
                <a:latin typeface="Calibri"/>
                <a:cs typeface="Calibri"/>
              </a:rPr>
              <a:t>for</a:t>
            </a:r>
            <a:endParaRPr sz="2000">
              <a:latin typeface="Calibri"/>
              <a:cs typeface="Calibri"/>
            </a:endParaRPr>
          </a:p>
          <a:p>
            <a:pPr marL="103505">
              <a:lnSpc>
                <a:spcPts val="2280"/>
              </a:lnSpc>
            </a:pPr>
            <a:r>
              <a:rPr sz="2000" spc="-10" dirty="0">
                <a:solidFill>
                  <a:srgbClr val="404040"/>
                </a:solidFill>
                <a:latin typeface="Calibri"/>
                <a:cs typeface="Calibri"/>
              </a:rPr>
              <a:t>decision-makers.</a:t>
            </a:r>
            <a:endParaRPr sz="2000">
              <a:latin typeface="Calibri"/>
              <a:cs typeface="Calibri"/>
            </a:endParaRPr>
          </a:p>
          <a:p>
            <a:pPr marL="103505">
              <a:lnSpc>
                <a:spcPct val="100000"/>
              </a:lnSpc>
              <a:spcBef>
                <a:spcPts val="1155"/>
              </a:spcBef>
            </a:pPr>
            <a:r>
              <a:rPr sz="2000" b="1" dirty="0">
                <a:solidFill>
                  <a:srgbClr val="404040"/>
                </a:solidFill>
                <a:latin typeface="Calibri"/>
                <a:cs typeface="Calibri"/>
              </a:rPr>
              <a:t>Visualization</a:t>
            </a:r>
            <a:r>
              <a:rPr sz="2000" b="1" spc="-120" dirty="0">
                <a:solidFill>
                  <a:srgbClr val="404040"/>
                </a:solidFill>
                <a:latin typeface="Calibri"/>
                <a:cs typeface="Calibri"/>
              </a:rPr>
              <a:t> </a:t>
            </a:r>
            <a:r>
              <a:rPr sz="2000" b="1" spc="-10" dirty="0">
                <a:solidFill>
                  <a:srgbClr val="404040"/>
                </a:solidFill>
                <a:latin typeface="Calibri"/>
                <a:cs typeface="Calibri"/>
              </a:rPr>
              <a:t>Techniques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Dashboards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Charts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Heatmaps</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dirty="0">
                <a:solidFill>
                  <a:srgbClr val="404040"/>
                </a:solidFill>
                <a:latin typeface="Calibri"/>
                <a:cs typeface="Calibri"/>
              </a:rPr>
              <a:t>Confusion</a:t>
            </a:r>
            <a:r>
              <a:rPr sz="2000" spc="-70" dirty="0">
                <a:solidFill>
                  <a:srgbClr val="404040"/>
                </a:solidFill>
                <a:latin typeface="Calibri"/>
                <a:cs typeface="Calibri"/>
              </a:rPr>
              <a:t> </a:t>
            </a:r>
            <a:r>
              <a:rPr sz="2000" spc="-10" dirty="0">
                <a:solidFill>
                  <a:srgbClr val="404040"/>
                </a:solidFill>
                <a:latin typeface="Calibri"/>
                <a:cs typeface="Calibri"/>
              </a:rPr>
              <a:t>Matrix</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ROC</a:t>
            </a:r>
            <a:r>
              <a:rPr sz="2000" spc="-45" dirty="0">
                <a:solidFill>
                  <a:srgbClr val="404040"/>
                </a:solidFill>
                <a:latin typeface="Calibri"/>
                <a:cs typeface="Calibri"/>
              </a:rPr>
              <a:t> </a:t>
            </a:r>
            <a:r>
              <a:rPr sz="2000" spc="-20" dirty="0">
                <a:solidFill>
                  <a:srgbClr val="404040"/>
                </a:solidFill>
                <a:latin typeface="Calibri"/>
                <a:cs typeface="Calibri"/>
              </a:rPr>
              <a:t>Curve</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Interactive</a:t>
            </a:r>
            <a:r>
              <a:rPr sz="2000" spc="-90" dirty="0">
                <a:solidFill>
                  <a:srgbClr val="404040"/>
                </a:solidFill>
                <a:latin typeface="Calibri"/>
                <a:cs typeface="Calibri"/>
              </a:rPr>
              <a:t> </a:t>
            </a:r>
            <a:r>
              <a:rPr sz="2000" spc="-10" dirty="0">
                <a:solidFill>
                  <a:srgbClr val="404040"/>
                </a:solidFill>
                <a:latin typeface="Calibri"/>
                <a:cs typeface="Calibri"/>
              </a:rPr>
              <a:t>Reports</a:t>
            </a:r>
            <a:endParaRPr sz="200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387807"/>
            <a:ext cx="1494155" cy="331470"/>
          </a:xfrm>
          <a:prstGeom prst="rect">
            <a:avLst/>
          </a:prstGeom>
        </p:spPr>
        <p:txBody>
          <a:bodyPr vert="horz" wrap="square" lIns="0" tIns="13335" rIns="0" bIns="0" rtlCol="0">
            <a:spAutoFit/>
          </a:bodyPr>
          <a:lstStyle/>
          <a:p>
            <a:pPr marL="12700">
              <a:lnSpc>
                <a:spcPct val="100000"/>
              </a:lnSpc>
              <a:spcBef>
                <a:spcPts val="105"/>
              </a:spcBef>
            </a:pPr>
            <a:r>
              <a:rPr dirty="0"/>
              <a:t>What</a:t>
            </a:r>
            <a:r>
              <a:rPr spc="-25" dirty="0"/>
              <a:t> </a:t>
            </a:r>
            <a:r>
              <a:rPr dirty="0"/>
              <a:t>is</a:t>
            </a:r>
            <a:r>
              <a:rPr spc="-10" dirty="0"/>
              <a:t> </a:t>
            </a:r>
            <a:r>
              <a:rPr spc="-20" dirty="0"/>
              <a:t>Data?</a:t>
            </a:r>
          </a:p>
        </p:txBody>
      </p:sp>
      <p:sp>
        <p:nvSpPr>
          <p:cNvPr id="3" name="object 3"/>
          <p:cNvSpPr txBox="1"/>
          <p:nvPr/>
        </p:nvSpPr>
        <p:spPr>
          <a:xfrm>
            <a:off x="901700" y="695299"/>
            <a:ext cx="7441565" cy="1202055"/>
          </a:xfrm>
          <a:prstGeom prst="rect">
            <a:avLst/>
          </a:prstGeom>
        </p:spPr>
        <p:txBody>
          <a:bodyPr vert="horz" wrap="square" lIns="0" tIns="158750" rIns="0" bIns="0" rtlCol="0">
            <a:spAutoFit/>
          </a:bodyPr>
          <a:lstStyle/>
          <a:p>
            <a:pPr marL="12700">
              <a:lnSpc>
                <a:spcPct val="100000"/>
              </a:lnSpc>
              <a:spcBef>
                <a:spcPts val="1250"/>
              </a:spcBef>
            </a:pPr>
            <a:r>
              <a:rPr sz="2000" b="1" spc="-10" dirty="0">
                <a:solidFill>
                  <a:srgbClr val="404040"/>
                </a:solidFill>
                <a:latin typeface="Calibri"/>
                <a:cs typeface="Calibri"/>
              </a:rPr>
              <a:t>Definition</a:t>
            </a:r>
            <a:endParaRPr sz="2000">
              <a:latin typeface="Calibri"/>
              <a:cs typeface="Calibri"/>
            </a:endParaRPr>
          </a:p>
          <a:p>
            <a:pPr marL="12700" marR="5080">
              <a:lnSpc>
                <a:spcPts val="2160"/>
              </a:lnSpc>
              <a:spcBef>
                <a:spcPts val="1425"/>
              </a:spcBef>
            </a:pPr>
            <a:r>
              <a:rPr sz="2000" b="1" dirty="0">
                <a:solidFill>
                  <a:srgbClr val="404040"/>
                </a:solidFill>
                <a:latin typeface="Calibri"/>
                <a:cs typeface="Calibri"/>
              </a:rPr>
              <a:t>Data</a:t>
            </a:r>
            <a:r>
              <a:rPr sz="2000" b="1" spc="-50" dirty="0">
                <a:solidFill>
                  <a:srgbClr val="404040"/>
                </a:solidFill>
                <a:latin typeface="Calibri"/>
                <a:cs typeface="Calibri"/>
              </a:rPr>
              <a:t> </a:t>
            </a:r>
            <a:r>
              <a:rPr sz="2000" dirty="0">
                <a:solidFill>
                  <a:srgbClr val="404040"/>
                </a:solidFill>
                <a:latin typeface="Calibri"/>
                <a:cs typeface="Calibri"/>
              </a:rPr>
              <a:t>is</a:t>
            </a:r>
            <a:r>
              <a:rPr sz="2000" spc="-35" dirty="0">
                <a:solidFill>
                  <a:srgbClr val="404040"/>
                </a:solidFill>
                <a:latin typeface="Calibri"/>
                <a:cs typeface="Calibri"/>
              </a:rPr>
              <a:t> </a:t>
            </a:r>
            <a:r>
              <a:rPr sz="2000" dirty="0">
                <a:solidFill>
                  <a:srgbClr val="404040"/>
                </a:solidFill>
                <a:latin typeface="Calibri"/>
                <a:cs typeface="Calibri"/>
              </a:rPr>
              <a:t>a</a:t>
            </a:r>
            <a:r>
              <a:rPr sz="2000" spc="-35" dirty="0">
                <a:solidFill>
                  <a:srgbClr val="404040"/>
                </a:solidFill>
                <a:latin typeface="Calibri"/>
                <a:cs typeface="Calibri"/>
              </a:rPr>
              <a:t> </a:t>
            </a:r>
            <a:r>
              <a:rPr sz="2000" dirty="0">
                <a:solidFill>
                  <a:srgbClr val="404040"/>
                </a:solidFill>
                <a:latin typeface="Calibri"/>
                <a:cs typeface="Calibri"/>
              </a:rPr>
              <a:t>collection</a:t>
            </a:r>
            <a:r>
              <a:rPr sz="2000" spc="-40" dirty="0">
                <a:solidFill>
                  <a:srgbClr val="404040"/>
                </a:solidFill>
                <a:latin typeface="Calibri"/>
                <a:cs typeface="Calibri"/>
              </a:rPr>
              <a:t> </a:t>
            </a:r>
            <a:r>
              <a:rPr sz="2000" dirty="0">
                <a:solidFill>
                  <a:srgbClr val="404040"/>
                </a:solidFill>
                <a:latin typeface="Calibri"/>
                <a:cs typeface="Calibri"/>
              </a:rPr>
              <a:t>of</a:t>
            </a:r>
            <a:r>
              <a:rPr sz="2000" spc="-50" dirty="0">
                <a:solidFill>
                  <a:srgbClr val="404040"/>
                </a:solidFill>
                <a:latin typeface="Calibri"/>
                <a:cs typeface="Calibri"/>
              </a:rPr>
              <a:t> </a:t>
            </a:r>
            <a:r>
              <a:rPr sz="2000" dirty="0">
                <a:solidFill>
                  <a:srgbClr val="404040"/>
                </a:solidFill>
                <a:latin typeface="Calibri"/>
                <a:cs typeface="Calibri"/>
              </a:rPr>
              <a:t>raw</a:t>
            </a:r>
            <a:r>
              <a:rPr sz="2000" spc="-40" dirty="0">
                <a:solidFill>
                  <a:srgbClr val="404040"/>
                </a:solidFill>
                <a:latin typeface="Calibri"/>
                <a:cs typeface="Calibri"/>
              </a:rPr>
              <a:t> </a:t>
            </a:r>
            <a:r>
              <a:rPr sz="2000" dirty="0">
                <a:solidFill>
                  <a:srgbClr val="404040"/>
                </a:solidFill>
                <a:latin typeface="Calibri"/>
                <a:cs typeface="Calibri"/>
              </a:rPr>
              <a:t>facts,</a:t>
            </a:r>
            <a:r>
              <a:rPr sz="2000" spc="-35" dirty="0">
                <a:solidFill>
                  <a:srgbClr val="404040"/>
                </a:solidFill>
                <a:latin typeface="Calibri"/>
                <a:cs typeface="Calibri"/>
              </a:rPr>
              <a:t> </a:t>
            </a:r>
            <a:r>
              <a:rPr sz="2000" dirty="0">
                <a:solidFill>
                  <a:srgbClr val="404040"/>
                </a:solidFill>
                <a:latin typeface="Calibri"/>
                <a:cs typeface="Calibri"/>
              </a:rPr>
              <a:t>figures,</a:t>
            </a:r>
            <a:r>
              <a:rPr sz="2000" spc="-40" dirty="0">
                <a:solidFill>
                  <a:srgbClr val="404040"/>
                </a:solidFill>
                <a:latin typeface="Calibri"/>
                <a:cs typeface="Calibri"/>
              </a:rPr>
              <a:t> </a:t>
            </a:r>
            <a:r>
              <a:rPr sz="2000" spc="-10" dirty="0">
                <a:solidFill>
                  <a:srgbClr val="404040"/>
                </a:solidFill>
                <a:latin typeface="Calibri"/>
                <a:cs typeface="Calibri"/>
              </a:rPr>
              <a:t>observations,</a:t>
            </a:r>
            <a:r>
              <a:rPr sz="2000" spc="-40" dirty="0">
                <a:solidFill>
                  <a:srgbClr val="404040"/>
                </a:solidFill>
                <a:latin typeface="Calibri"/>
                <a:cs typeface="Calibri"/>
              </a:rPr>
              <a:t> </a:t>
            </a:r>
            <a:r>
              <a:rPr sz="2000" dirty="0">
                <a:solidFill>
                  <a:srgbClr val="404040"/>
                </a:solidFill>
                <a:latin typeface="Calibri"/>
                <a:cs typeface="Calibri"/>
              </a:rPr>
              <a:t>or</a:t>
            </a:r>
            <a:r>
              <a:rPr sz="2000" spc="-50" dirty="0">
                <a:solidFill>
                  <a:srgbClr val="404040"/>
                </a:solidFill>
                <a:latin typeface="Calibri"/>
                <a:cs typeface="Calibri"/>
              </a:rPr>
              <a:t> </a:t>
            </a:r>
            <a:r>
              <a:rPr sz="2000" spc="-10" dirty="0">
                <a:solidFill>
                  <a:srgbClr val="404040"/>
                </a:solidFill>
                <a:latin typeface="Calibri"/>
                <a:cs typeface="Calibri"/>
              </a:rPr>
              <a:t>measurements </a:t>
            </a:r>
            <a:r>
              <a:rPr sz="2000" dirty="0">
                <a:solidFill>
                  <a:srgbClr val="404040"/>
                </a:solidFill>
                <a:latin typeface="Calibri"/>
                <a:cs typeface="Calibri"/>
              </a:rPr>
              <a:t>that</a:t>
            </a:r>
            <a:r>
              <a:rPr sz="2000" spc="-60" dirty="0">
                <a:solidFill>
                  <a:srgbClr val="404040"/>
                </a:solidFill>
                <a:latin typeface="Calibri"/>
                <a:cs typeface="Calibri"/>
              </a:rPr>
              <a:t> </a:t>
            </a:r>
            <a:r>
              <a:rPr sz="2000" dirty="0">
                <a:solidFill>
                  <a:srgbClr val="404040"/>
                </a:solidFill>
                <a:latin typeface="Calibri"/>
                <a:cs typeface="Calibri"/>
              </a:rPr>
              <a:t>can</a:t>
            </a:r>
            <a:r>
              <a:rPr sz="2000" spc="-55" dirty="0">
                <a:solidFill>
                  <a:srgbClr val="404040"/>
                </a:solidFill>
                <a:latin typeface="Calibri"/>
                <a:cs typeface="Calibri"/>
              </a:rPr>
              <a:t> </a:t>
            </a:r>
            <a:r>
              <a:rPr sz="2000" dirty="0">
                <a:solidFill>
                  <a:srgbClr val="404040"/>
                </a:solidFill>
                <a:latin typeface="Calibri"/>
                <a:cs typeface="Calibri"/>
              </a:rPr>
              <a:t>be</a:t>
            </a:r>
            <a:r>
              <a:rPr sz="2000" spc="-70" dirty="0">
                <a:solidFill>
                  <a:srgbClr val="404040"/>
                </a:solidFill>
                <a:latin typeface="Calibri"/>
                <a:cs typeface="Calibri"/>
              </a:rPr>
              <a:t> </a:t>
            </a:r>
            <a:r>
              <a:rPr sz="2000" dirty="0">
                <a:solidFill>
                  <a:srgbClr val="404040"/>
                </a:solidFill>
                <a:latin typeface="Calibri"/>
                <a:cs typeface="Calibri"/>
              </a:rPr>
              <a:t>processed</a:t>
            </a:r>
            <a:r>
              <a:rPr sz="2000" spc="-45" dirty="0">
                <a:solidFill>
                  <a:srgbClr val="404040"/>
                </a:solidFill>
                <a:latin typeface="Calibri"/>
                <a:cs typeface="Calibri"/>
              </a:rPr>
              <a:t> </a:t>
            </a:r>
            <a:r>
              <a:rPr sz="2000" dirty="0">
                <a:solidFill>
                  <a:srgbClr val="404040"/>
                </a:solidFill>
                <a:latin typeface="Calibri"/>
                <a:cs typeface="Calibri"/>
              </a:rPr>
              <a:t>to</a:t>
            </a:r>
            <a:r>
              <a:rPr sz="2000" spc="-65" dirty="0">
                <a:solidFill>
                  <a:srgbClr val="404040"/>
                </a:solidFill>
                <a:latin typeface="Calibri"/>
                <a:cs typeface="Calibri"/>
              </a:rPr>
              <a:t> </a:t>
            </a:r>
            <a:r>
              <a:rPr sz="2000" dirty="0">
                <a:solidFill>
                  <a:srgbClr val="404040"/>
                </a:solidFill>
                <a:latin typeface="Calibri"/>
                <a:cs typeface="Calibri"/>
              </a:rPr>
              <a:t>generate</a:t>
            </a:r>
            <a:r>
              <a:rPr sz="2000" spc="-55" dirty="0">
                <a:solidFill>
                  <a:srgbClr val="404040"/>
                </a:solidFill>
                <a:latin typeface="Calibri"/>
                <a:cs typeface="Calibri"/>
              </a:rPr>
              <a:t> </a:t>
            </a:r>
            <a:r>
              <a:rPr sz="2000" dirty="0">
                <a:solidFill>
                  <a:srgbClr val="404040"/>
                </a:solidFill>
                <a:latin typeface="Calibri"/>
                <a:cs typeface="Calibri"/>
              </a:rPr>
              <a:t>meaningful</a:t>
            </a:r>
            <a:r>
              <a:rPr sz="2000" spc="-70" dirty="0">
                <a:solidFill>
                  <a:srgbClr val="404040"/>
                </a:solidFill>
                <a:latin typeface="Calibri"/>
                <a:cs typeface="Calibri"/>
              </a:rPr>
              <a:t> </a:t>
            </a:r>
            <a:r>
              <a:rPr sz="2000" spc="-10" dirty="0">
                <a:solidFill>
                  <a:srgbClr val="404040"/>
                </a:solidFill>
                <a:latin typeface="Calibri"/>
                <a:cs typeface="Calibri"/>
              </a:rPr>
              <a:t>information.</a:t>
            </a:r>
            <a:endParaRPr sz="2000">
              <a:latin typeface="Calibri"/>
              <a:cs typeface="Calibri"/>
            </a:endParaRPr>
          </a:p>
        </p:txBody>
      </p:sp>
      <p:sp>
        <p:nvSpPr>
          <p:cNvPr id="4" name="object 4"/>
          <p:cNvSpPr txBox="1"/>
          <p:nvPr/>
        </p:nvSpPr>
        <p:spPr>
          <a:xfrm>
            <a:off x="810259" y="1872208"/>
            <a:ext cx="2568575" cy="3191510"/>
          </a:xfrm>
          <a:prstGeom prst="rect">
            <a:avLst/>
          </a:prstGeom>
        </p:spPr>
        <p:txBody>
          <a:bodyPr vert="horz" wrap="square" lIns="0" tIns="160020" rIns="0" bIns="0" rtlCol="0">
            <a:spAutoFit/>
          </a:bodyPr>
          <a:lstStyle/>
          <a:p>
            <a:pPr marL="104139">
              <a:lnSpc>
                <a:spcPct val="100000"/>
              </a:lnSpc>
              <a:spcBef>
                <a:spcPts val="1260"/>
              </a:spcBef>
            </a:pPr>
            <a:r>
              <a:rPr sz="2000" b="1" spc="-10" dirty="0">
                <a:solidFill>
                  <a:srgbClr val="404040"/>
                </a:solidFill>
                <a:latin typeface="Calibri"/>
                <a:cs typeface="Calibri"/>
              </a:rPr>
              <a:t>Examples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Student</a:t>
            </a:r>
            <a:r>
              <a:rPr sz="2000" spc="-60" dirty="0">
                <a:solidFill>
                  <a:srgbClr val="404040"/>
                </a:solidFill>
                <a:latin typeface="Calibri"/>
                <a:cs typeface="Calibri"/>
              </a:rPr>
              <a:t> </a:t>
            </a:r>
            <a:r>
              <a:rPr sz="2000" spc="-20" dirty="0">
                <a:solidFill>
                  <a:srgbClr val="404040"/>
                </a:solidFill>
                <a:latin typeface="Calibri"/>
                <a:cs typeface="Calibri"/>
              </a:rPr>
              <a:t>marks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dirty="0">
                <a:solidFill>
                  <a:srgbClr val="404040"/>
                </a:solidFill>
                <a:latin typeface="Calibri"/>
                <a:cs typeface="Calibri"/>
              </a:rPr>
              <a:t>Bank</a:t>
            </a:r>
            <a:r>
              <a:rPr sz="2000" spc="-15" dirty="0">
                <a:solidFill>
                  <a:srgbClr val="404040"/>
                </a:solidFill>
                <a:latin typeface="Calibri"/>
                <a:cs typeface="Calibri"/>
              </a:rPr>
              <a:t> </a:t>
            </a:r>
            <a:r>
              <a:rPr sz="2000" spc="-10" dirty="0">
                <a:solidFill>
                  <a:srgbClr val="404040"/>
                </a:solidFill>
                <a:latin typeface="Calibri"/>
                <a:cs typeface="Calibri"/>
              </a:rPr>
              <a:t>transactions</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spc="-10" dirty="0">
                <a:solidFill>
                  <a:srgbClr val="404040"/>
                </a:solidFill>
                <a:latin typeface="Calibri"/>
                <a:cs typeface="Calibri"/>
              </a:rPr>
              <a:t>Weather</a:t>
            </a:r>
            <a:r>
              <a:rPr sz="2000" spc="-65" dirty="0">
                <a:solidFill>
                  <a:srgbClr val="404040"/>
                </a:solidFill>
                <a:latin typeface="Calibri"/>
                <a:cs typeface="Calibri"/>
              </a:rPr>
              <a:t> </a:t>
            </a:r>
            <a:r>
              <a:rPr sz="2000" spc="-10" dirty="0">
                <a:solidFill>
                  <a:srgbClr val="404040"/>
                </a:solidFill>
                <a:latin typeface="Calibri"/>
                <a:cs typeface="Calibri"/>
              </a:rPr>
              <a:t>records</a:t>
            </a:r>
            <a:endParaRPr sz="2000">
              <a:latin typeface="Calibri"/>
              <a:cs typeface="Calibri"/>
            </a:endParaRPr>
          </a:p>
          <a:p>
            <a:pPr marL="103505" indent="-101600">
              <a:lnSpc>
                <a:spcPct val="100000"/>
              </a:lnSpc>
              <a:spcBef>
                <a:spcPts val="1170"/>
              </a:spcBef>
              <a:buClr>
                <a:srgbClr val="E38312"/>
              </a:buClr>
              <a:buSzPct val="77500"/>
              <a:buFont typeface="Tahoma"/>
              <a:buChar char="•"/>
              <a:tabLst>
                <a:tab pos="103505" algn="l"/>
              </a:tabLst>
            </a:pPr>
            <a:r>
              <a:rPr sz="2000" dirty="0">
                <a:solidFill>
                  <a:srgbClr val="404040"/>
                </a:solidFill>
                <a:latin typeface="Calibri"/>
                <a:cs typeface="Calibri"/>
              </a:rPr>
              <a:t>Medical</a:t>
            </a:r>
            <a:r>
              <a:rPr sz="2000" spc="-45" dirty="0">
                <a:solidFill>
                  <a:srgbClr val="404040"/>
                </a:solidFill>
                <a:latin typeface="Calibri"/>
                <a:cs typeface="Calibri"/>
              </a:rPr>
              <a:t> </a:t>
            </a:r>
            <a:r>
              <a:rPr sz="2000" spc="-10" dirty="0">
                <a:solidFill>
                  <a:srgbClr val="404040"/>
                </a:solidFill>
                <a:latin typeface="Calibri"/>
                <a:cs typeface="Calibri"/>
              </a:rPr>
              <a:t>reports</a:t>
            </a:r>
            <a:endParaRPr sz="2000">
              <a:latin typeface="Calibri"/>
              <a:cs typeface="Calibri"/>
            </a:endParaRPr>
          </a:p>
          <a:p>
            <a:pPr marL="103505" indent="-101600">
              <a:lnSpc>
                <a:spcPct val="100000"/>
              </a:lnSpc>
              <a:spcBef>
                <a:spcPts val="1150"/>
              </a:spcBef>
              <a:buClr>
                <a:srgbClr val="E38312"/>
              </a:buClr>
              <a:buSzPct val="77500"/>
              <a:buFont typeface="Tahoma"/>
              <a:buChar char="•"/>
              <a:tabLst>
                <a:tab pos="103505" algn="l"/>
              </a:tabLst>
            </a:pPr>
            <a:r>
              <a:rPr sz="2000" dirty="0">
                <a:solidFill>
                  <a:srgbClr val="404040"/>
                </a:solidFill>
                <a:latin typeface="Calibri"/>
                <a:cs typeface="Calibri"/>
              </a:rPr>
              <a:t>Online</a:t>
            </a:r>
            <a:r>
              <a:rPr sz="2000" spc="-25" dirty="0">
                <a:solidFill>
                  <a:srgbClr val="404040"/>
                </a:solidFill>
                <a:latin typeface="Calibri"/>
                <a:cs typeface="Calibri"/>
              </a:rPr>
              <a:t> </a:t>
            </a:r>
            <a:r>
              <a:rPr sz="2000" dirty="0">
                <a:solidFill>
                  <a:srgbClr val="404040"/>
                </a:solidFill>
                <a:latin typeface="Calibri"/>
                <a:cs typeface="Calibri"/>
              </a:rPr>
              <a:t>shopping</a:t>
            </a:r>
            <a:r>
              <a:rPr sz="2000" spc="-30" dirty="0">
                <a:solidFill>
                  <a:srgbClr val="404040"/>
                </a:solidFill>
                <a:latin typeface="Calibri"/>
                <a:cs typeface="Calibri"/>
              </a:rPr>
              <a:t> </a:t>
            </a:r>
            <a:r>
              <a:rPr sz="2000" spc="-10" dirty="0">
                <a:solidFill>
                  <a:srgbClr val="404040"/>
                </a:solidFill>
                <a:latin typeface="Calibri"/>
                <a:cs typeface="Calibri"/>
              </a:rPr>
              <a:t>history</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Social</a:t>
            </a:r>
            <a:r>
              <a:rPr sz="2000" spc="-35" dirty="0">
                <a:solidFill>
                  <a:srgbClr val="404040"/>
                </a:solidFill>
                <a:latin typeface="Calibri"/>
                <a:cs typeface="Calibri"/>
              </a:rPr>
              <a:t> </a:t>
            </a:r>
            <a:r>
              <a:rPr sz="2000" dirty="0">
                <a:solidFill>
                  <a:srgbClr val="404040"/>
                </a:solidFill>
                <a:latin typeface="Calibri"/>
                <a:cs typeface="Calibri"/>
              </a:rPr>
              <a:t>media</a:t>
            </a:r>
            <a:r>
              <a:rPr sz="2000" spc="-15" dirty="0">
                <a:solidFill>
                  <a:srgbClr val="404040"/>
                </a:solidFill>
                <a:latin typeface="Calibri"/>
                <a:cs typeface="Calibri"/>
              </a:rPr>
              <a:t> </a:t>
            </a:r>
            <a:r>
              <a:rPr sz="2000" spc="-20" dirty="0">
                <a:solidFill>
                  <a:srgbClr val="404040"/>
                </a:solidFill>
                <a:latin typeface="Calibri"/>
                <a:cs typeface="Calibri"/>
              </a:rPr>
              <a:t>posts</a:t>
            </a:r>
            <a:endParaRPr sz="2000">
              <a:latin typeface="Calibri"/>
              <a:cs typeface="Calibri"/>
            </a:endParaRPr>
          </a:p>
        </p:txBody>
      </p:sp>
      <p:sp>
        <p:nvSpPr>
          <p:cNvPr id="5" name="object 5"/>
          <p:cNvSpPr txBox="1"/>
          <p:nvPr/>
        </p:nvSpPr>
        <p:spPr>
          <a:xfrm>
            <a:off x="4721352" y="2649207"/>
            <a:ext cx="3535679" cy="369570"/>
          </a:xfrm>
          <a:prstGeom prst="rect">
            <a:avLst/>
          </a:prstGeom>
          <a:solidFill>
            <a:srgbClr val="FFFFCC"/>
          </a:solidFill>
        </p:spPr>
        <p:txBody>
          <a:bodyPr vert="horz" wrap="square" lIns="0" tIns="31115" rIns="0" bIns="0" rtlCol="0">
            <a:spAutoFit/>
          </a:bodyPr>
          <a:lstStyle/>
          <a:p>
            <a:pPr marL="143510">
              <a:lnSpc>
                <a:spcPct val="100000"/>
              </a:lnSpc>
              <a:spcBef>
                <a:spcPts val="245"/>
              </a:spcBef>
            </a:pPr>
            <a:r>
              <a:rPr sz="1800" b="1" dirty="0">
                <a:latin typeface="Calibri"/>
                <a:cs typeface="Calibri"/>
              </a:rPr>
              <a:t>Data</a:t>
            </a:r>
            <a:r>
              <a:rPr sz="1800" b="1" spc="-30" dirty="0">
                <a:latin typeface="Calibri"/>
                <a:cs typeface="Calibri"/>
              </a:rPr>
              <a:t> </a:t>
            </a:r>
            <a:r>
              <a:rPr sz="1800" b="1" dirty="0">
                <a:latin typeface="Calibri"/>
                <a:cs typeface="Calibri"/>
              </a:rPr>
              <a:t>→</a:t>
            </a:r>
            <a:r>
              <a:rPr sz="1800" b="1" spc="-35" dirty="0">
                <a:latin typeface="Calibri"/>
                <a:cs typeface="Calibri"/>
              </a:rPr>
              <a:t> </a:t>
            </a:r>
            <a:r>
              <a:rPr sz="1800" b="1" dirty="0">
                <a:latin typeface="Calibri"/>
                <a:cs typeface="Calibri"/>
              </a:rPr>
              <a:t>Information</a:t>
            </a:r>
            <a:r>
              <a:rPr sz="1800" b="1" spc="-60" dirty="0">
                <a:latin typeface="Calibri"/>
                <a:cs typeface="Calibri"/>
              </a:rPr>
              <a:t> </a:t>
            </a:r>
            <a:r>
              <a:rPr sz="1800" b="1" dirty="0">
                <a:latin typeface="Calibri"/>
                <a:cs typeface="Calibri"/>
              </a:rPr>
              <a:t>→</a:t>
            </a:r>
            <a:r>
              <a:rPr sz="1800" b="1" spc="-30" dirty="0">
                <a:latin typeface="Calibri"/>
                <a:cs typeface="Calibri"/>
              </a:rPr>
              <a:t> </a:t>
            </a:r>
            <a:r>
              <a:rPr sz="1800" b="1" spc="-10" dirty="0">
                <a:latin typeface="Calibri"/>
                <a:cs typeface="Calibri"/>
              </a:rPr>
              <a:t>Knowledge</a:t>
            </a:r>
            <a:endParaRPr sz="1800">
              <a:latin typeface="Calibri"/>
              <a:cs typeface="Calibri"/>
            </a:endParaRPr>
          </a:p>
        </p:txBody>
      </p:sp>
      <p:pic>
        <p:nvPicPr>
          <p:cNvPr id="6" name="object 6"/>
          <p:cNvPicPr/>
          <p:nvPr/>
        </p:nvPicPr>
        <p:blipFill>
          <a:blip r:embed="rId2" cstate="print"/>
          <a:stretch>
            <a:fillRect/>
          </a:stretch>
        </p:blipFill>
        <p:spPr>
          <a:xfrm>
            <a:off x="5285104" y="3429000"/>
            <a:ext cx="2408047" cy="2962910"/>
          </a:xfrm>
          <a:prstGeom prst="rect">
            <a:avLst/>
          </a:prstGeom>
        </p:spPr>
      </p:pic>
      <p:grpSp>
        <p:nvGrpSpPr>
          <p:cNvPr id="7" name="object 7"/>
          <p:cNvGrpSpPr/>
          <p:nvPr/>
        </p:nvGrpSpPr>
        <p:grpSpPr>
          <a:xfrm>
            <a:off x="127330" y="5785599"/>
            <a:ext cx="4594225" cy="1005840"/>
            <a:chOff x="127330" y="5785599"/>
            <a:chExt cx="4594225" cy="1005840"/>
          </a:xfrm>
        </p:grpSpPr>
        <p:sp>
          <p:nvSpPr>
            <p:cNvPr id="8" name="object 8"/>
            <p:cNvSpPr/>
            <p:nvPr/>
          </p:nvSpPr>
          <p:spPr>
            <a:xfrm>
              <a:off x="127330" y="5785599"/>
              <a:ext cx="4594225" cy="365760"/>
            </a:xfrm>
            <a:custGeom>
              <a:avLst/>
              <a:gdLst/>
              <a:ahLst/>
              <a:cxnLst/>
              <a:rect l="l" t="t" r="r" b="b"/>
              <a:pathLst>
                <a:path w="4594225" h="365760">
                  <a:moveTo>
                    <a:pt x="4594022" y="0"/>
                  </a:moveTo>
                  <a:lnTo>
                    <a:pt x="2297049" y="0"/>
                  </a:lnTo>
                  <a:lnTo>
                    <a:pt x="0" y="0"/>
                  </a:lnTo>
                  <a:lnTo>
                    <a:pt x="0" y="365760"/>
                  </a:lnTo>
                  <a:lnTo>
                    <a:pt x="2296972" y="365760"/>
                  </a:lnTo>
                  <a:lnTo>
                    <a:pt x="4594022" y="365760"/>
                  </a:lnTo>
                  <a:lnTo>
                    <a:pt x="4594022" y="0"/>
                  </a:lnTo>
                  <a:close/>
                </a:path>
              </a:pathLst>
            </a:custGeom>
            <a:solidFill>
              <a:srgbClr val="DFE3DB"/>
            </a:solidFill>
          </p:spPr>
          <p:txBody>
            <a:bodyPr wrap="square" lIns="0" tIns="0" rIns="0" bIns="0" rtlCol="0"/>
            <a:lstStyle/>
            <a:p>
              <a:endParaRPr/>
            </a:p>
          </p:txBody>
        </p:sp>
        <p:sp>
          <p:nvSpPr>
            <p:cNvPr id="9" name="object 9"/>
            <p:cNvSpPr/>
            <p:nvPr/>
          </p:nvSpPr>
          <p:spPr>
            <a:xfrm>
              <a:off x="127330" y="6151359"/>
              <a:ext cx="4594225" cy="640080"/>
            </a:xfrm>
            <a:custGeom>
              <a:avLst/>
              <a:gdLst/>
              <a:ahLst/>
              <a:cxnLst/>
              <a:rect l="l" t="t" r="r" b="b"/>
              <a:pathLst>
                <a:path w="4594225" h="640079">
                  <a:moveTo>
                    <a:pt x="4594022" y="0"/>
                  </a:moveTo>
                  <a:lnTo>
                    <a:pt x="2297049" y="0"/>
                  </a:lnTo>
                  <a:lnTo>
                    <a:pt x="0" y="0"/>
                  </a:lnTo>
                  <a:lnTo>
                    <a:pt x="0" y="640080"/>
                  </a:lnTo>
                  <a:lnTo>
                    <a:pt x="2296972" y="640080"/>
                  </a:lnTo>
                  <a:lnTo>
                    <a:pt x="4594022" y="640080"/>
                  </a:lnTo>
                  <a:lnTo>
                    <a:pt x="4594022" y="0"/>
                  </a:lnTo>
                  <a:close/>
                </a:path>
              </a:pathLst>
            </a:custGeom>
            <a:solidFill>
              <a:srgbClr val="ACC7DD"/>
            </a:solidFill>
          </p:spPr>
          <p:txBody>
            <a:bodyPr wrap="square" lIns="0" tIns="0" rIns="0" bIns="0" rtlCol="0"/>
            <a:lstStyle/>
            <a:p>
              <a:endParaRPr/>
            </a:p>
          </p:txBody>
        </p:sp>
      </p:grpSp>
      <p:sp>
        <p:nvSpPr>
          <p:cNvPr id="10" name="object 10"/>
          <p:cNvSpPr txBox="1"/>
          <p:nvPr/>
        </p:nvSpPr>
        <p:spPr>
          <a:xfrm>
            <a:off x="206146" y="5804712"/>
            <a:ext cx="175133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Example:Raw</a:t>
            </a:r>
            <a:r>
              <a:rPr sz="1800" spc="-30" dirty="0">
                <a:latin typeface="Calibri"/>
                <a:cs typeface="Calibri"/>
              </a:rPr>
              <a:t> </a:t>
            </a:r>
            <a:r>
              <a:rPr sz="1800" spc="-20" dirty="0">
                <a:latin typeface="Calibri"/>
                <a:cs typeface="Calibri"/>
              </a:rPr>
              <a:t>Data</a:t>
            </a:r>
            <a:endParaRPr sz="1800">
              <a:latin typeface="Calibri"/>
              <a:cs typeface="Calibri"/>
            </a:endParaRPr>
          </a:p>
        </p:txBody>
      </p:sp>
      <p:sp>
        <p:nvSpPr>
          <p:cNvPr id="11" name="object 11"/>
          <p:cNvSpPr txBox="1"/>
          <p:nvPr/>
        </p:nvSpPr>
        <p:spPr>
          <a:xfrm>
            <a:off x="2503423" y="5804712"/>
            <a:ext cx="112712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Information</a:t>
            </a:r>
            <a:endParaRPr sz="1800">
              <a:latin typeface="Calibri"/>
              <a:cs typeface="Calibri"/>
            </a:endParaRPr>
          </a:p>
        </p:txBody>
      </p:sp>
      <p:sp>
        <p:nvSpPr>
          <p:cNvPr id="12" name="object 12"/>
          <p:cNvSpPr txBox="1"/>
          <p:nvPr/>
        </p:nvSpPr>
        <p:spPr>
          <a:xfrm>
            <a:off x="206146" y="6307632"/>
            <a:ext cx="9398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95,</a:t>
            </a:r>
            <a:r>
              <a:rPr sz="1800" spc="-25" dirty="0">
                <a:latin typeface="Calibri"/>
                <a:cs typeface="Calibri"/>
              </a:rPr>
              <a:t> </a:t>
            </a:r>
            <a:r>
              <a:rPr sz="1800" dirty="0">
                <a:latin typeface="Calibri"/>
                <a:cs typeface="Calibri"/>
              </a:rPr>
              <a:t>88,</a:t>
            </a:r>
            <a:r>
              <a:rPr sz="1800" spc="-25" dirty="0">
                <a:latin typeface="Calibri"/>
                <a:cs typeface="Calibri"/>
              </a:rPr>
              <a:t> 91</a:t>
            </a:r>
            <a:endParaRPr sz="1800">
              <a:latin typeface="Calibri"/>
              <a:cs typeface="Calibri"/>
            </a:endParaRPr>
          </a:p>
        </p:txBody>
      </p:sp>
      <p:sp>
        <p:nvSpPr>
          <p:cNvPr id="13" name="object 13"/>
          <p:cNvSpPr txBox="1"/>
          <p:nvPr/>
        </p:nvSpPr>
        <p:spPr>
          <a:xfrm>
            <a:off x="2503423" y="6170472"/>
            <a:ext cx="1707514"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Student</a:t>
            </a:r>
            <a:r>
              <a:rPr sz="1800" spc="-70" dirty="0">
                <a:latin typeface="Calibri"/>
                <a:cs typeface="Calibri"/>
              </a:rPr>
              <a:t> </a:t>
            </a:r>
            <a:r>
              <a:rPr sz="1800" dirty="0">
                <a:latin typeface="Calibri"/>
                <a:cs typeface="Calibri"/>
              </a:rPr>
              <a:t>scored</a:t>
            </a:r>
            <a:r>
              <a:rPr sz="1800" spc="-50" dirty="0">
                <a:latin typeface="Calibri"/>
                <a:cs typeface="Calibri"/>
              </a:rPr>
              <a:t> </a:t>
            </a:r>
            <a:r>
              <a:rPr sz="1800" spc="-25" dirty="0">
                <a:latin typeface="Calibri"/>
                <a:cs typeface="Calibri"/>
              </a:rPr>
              <a:t>an</a:t>
            </a:r>
            <a:endParaRPr sz="1800">
              <a:latin typeface="Calibri"/>
              <a:cs typeface="Calibri"/>
            </a:endParaRPr>
          </a:p>
        </p:txBody>
      </p:sp>
      <p:sp>
        <p:nvSpPr>
          <p:cNvPr id="14" name="object 14"/>
          <p:cNvSpPr txBox="1"/>
          <p:nvPr/>
        </p:nvSpPr>
        <p:spPr>
          <a:xfrm>
            <a:off x="2503423" y="6444792"/>
            <a:ext cx="1616075"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average</a:t>
            </a:r>
            <a:r>
              <a:rPr sz="1800" spc="-60" dirty="0">
                <a:latin typeface="Calibri"/>
                <a:cs typeface="Calibri"/>
              </a:rPr>
              <a:t> </a:t>
            </a:r>
            <a:r>
              <a:rPr sz="1800" dirty="0">
                <a:latin typeface="Calibri"/>
                <a:cs typeface="Calibri"/>
              </a:rPr>
              <a:t>of</a:t>
            </a:r>
            <a:r>
              <a:rPr sz="1800" spc="-30" dirty="0">
                <a:latin typeface="Calibri"/>
                <a:cs typeface="Calibri"/>
              </a:rPr>
              <a:t> </a:t>
            </a:r>
            <a:r>
              <a:rPr sz="1800" spc="-20" dirty="0">
                <a:latin typeface="Calibri"/>
                <a:cs typeface="Calibri"/>
              </a:rPr>
              <a:t>91.3%</a:t>
            </a:r>
            <a:endParaRPr sz="1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715" y="27279"/>
            <a:ext cx="7973695" cy="6174740"/>
          </a:xfrm>
          <a:prstGeom prst="rect">
            <a:avLst/>
          </a:prstGeom>
        </p:spPr>
        <p:txBody>
          <a:bodyPr vert="horz" wrap="square" lIns="0" tIns="130175" rIns="0" bIns="0" rtlCol="0">
            <a:spAutoFit/>
          </a:bodyPr>
          <a:lstStyle/>
          <a:p>
            <a:pPr marL="104139">
              <a:lnSpc>
                <a:spcPct val="100000"/>
              </a:lnSpc>
              <a:spcBef>
                <a:spcPts val="1025"/>
              </a:spcBef>
            </a:pPr>
            <a:r>
              <a:rPr sz="2000" b="1" spc="-10" dirty="0">
                <a:solidFill>
                  <a:srgbClr val="404040"/>
                </a:solidFill>
                <a:latin typeface="Calibri"/>
                <a:cs typeface="Calibri"/>
              </a:rPr>
              <a:t>Characteristics</a:t>
            </a:r>
            <a:r>
              <a:rPr sz="2000" b="1" spc="-5" dirty="0">
                <a:solidFill>
                  <a:srgbClr val="404040"/>
                </a:solidFill>
                <a:latin typeface="Calibri"/>
                <a:cs typeface="Calibri"/>
              </a:rPr>
              <a:t> </a:t>
            </a:r>
            <a:r>
              <a:rPr sz="2000" b="1" dirty="0">
                <a:solidFill>
                  <a:srgbClr val="404040"/>
                </a:solidFill>
                <a:latin typeface="Calibri"/>
                <a:cs typeface="Calibri"/>
              </a:rPr>
              <a:t>of</a:t>
            </a:r>
            <a:r>
              <a:rPr sz="2000" b="1" spc="-5" dirty="0">
                <a:solidFill>
                  <a:srgbClr val="404040"/>
                </a:solidFill>
                <a:latin typeface="Calibri"/>
                <a:cs typeface="Calibri"/>
              </a:rPr>
              <a:t> </a:t>
            </a:r>
            <a:r>
              <a:rPr sz="2000" b="1" spc="-20" dirty="0">
                <a:solidFill>
                  <a:srgbClr val="404040"/>
                </a:solidFill>
                <a:latin typeface="Calibri"/>
                <a:cs typeface="Calibri"/>
              </a:rPr>
              <a:t>Data</a:t>
            </a:r>
            <a:endParaRPr sz="2000">
              <a:latin typeface="Calibri"/>
              <a:cs typeface="Calibri"/>
            </a:endParaRPr>
          </a:p>
          <a:p>
            <a:pPr marL="104139">
              <a:lnSpc>
                <a:spcPct val="100000"/>
              </a:lnSpc>
              <a:spcBef>
                <a:spcPts val="925"/>
              </a:spcBef>
            </a:pPr>
            <a:r>
              <a:rPr sz="2000" spc="-10" dirty="0">
                <a:solidFill>
                  <a:srgbClr val="404040"/>
                </a:solidFill>
                <a:latin typeface="Calibri"/>
                <a:cs typeface="Calibri"/>
              </a:rPr>
              <a:t>Good-</a:t>
            </a:r>
            <a:r>
              <a:rPr sz="2000" dirty="0">
                <a:solidFill>
                  <a:srgbClr val="404040"/>
                </a:solidFill>
                <a:latin typeface="Calibri"/>
                <a:cs typeface="Calibri"/>
              </a:rPr>
              <a:t>quality</a:t>
            </a:r>
            <a:r>
              <a:rPr sz="2000" spc="-65"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should</a:t>
            </a:r>
            <a:r>
              <a:rPr sz="2000" spc="-55" dirty="0">
                <a:solidFill>
                  <a:srgbClr val="404040"/>
                </a:solidFill>
                <a:latin typeface="Calibri"/>
                <a:cs typeface="Calibri"/>
              </a:rPr>
              <a:t> </a:t>
            </a:r>
            <a:r>
              <a:rPr sz="2000" dirty="0">
                <a:solidFill>
                  <a:srgbClr val="404040"/>
                </a:solidFill>
                <a:latin typeface="Calibri"/>
                <a:cs typeface="Calibri"/>
              </a:rPr>
              <a:t>possess</a:t>
            </a:r>
            <a:r>
              <a:rPr sz="2000" spc="-40" dirty="0">
                <a:solidFill>
                  <a:srgbClr val="404040"/>
                </a:solidFill>
                <a:latin typeface="Calibri"/>
                <a:cs typeface="Calibri"/>
              </a:rPr>
              <a:t> </a:t>
            </a:r>
            <a:r>
              <a:rPr sz="2000" dirty="0">
                <a:solidFill>
                  <a:srgbClr val="404040"/>
                </a:solidFill>
                <a:latin typeface="Calibri"/>
                <a:cs typeface="Calibri"/>
              </a:rPr>
              <a:t>the</a:t>
            </a:r>
            <a:r>
              <a:rPr sz="2000" spc="-50" dirty="0">
                <a:solidFill>
                  <a:srgbClr val="404040"/>
                </a:solidFill>
                <a:latin typeface="Calibri"/>
                <a:cs typeface="Calibri"/>
              </a:rPr>
              <a:t> </a:t>
            </a:r>
            <a:r>
              <a:rPr sz="2000" dirty="0">
                <a:solidFill>
                  <a:srgbClr val="404040"/>
                </a:solidFill>
                <a:latin typeface="Calibri"/>
                <a:cs typeface="Calibri"/>
              </a:rPr>
              <a:t>following</a:t>
            </a:r>
            <a:r>
              <a:rPr sz="2000" spc="-55" dirty="0">
                <a:solidFill>
                  <a:srgbClr val="404040"/>
                </a:solidFill>
                <a:latin typeface="Calibri"/>
                <a:cs typeface="Calibri"/>
              </a:rPr>
              <a:t> </a:t>
            </a:r>
            <a:r>
              <a:rPr sz="2000" spc="-10" dirty="0">
                <a:solidFill>
                  <a:srgbClr val="404040"/>
                </a:solidFill>
                <a:latin typeface="Calibri"/>
                <a:cs typeface="Calibri"/>
              </a:rPr>
              <a:t>characteristics:</a:t>
            </a:r>
            <a:endParaRPr sz="2000">
              <a:latin typeface="Calibri"/>
              <a:cs typeface="Calibri"/>
            </a:endParaRPr>
          </a:p>
          <a:p>
            <a:pPr marL="104139">
              <a:lnSpc>
                <a:spcPct val="100000"/>
              </a:lnSpc>
              <a:spcBef>
                <a:spcPts val="910"/>
              </a:spcBef>
            </a:pPr>
            <a:r>
              <a:rPr sz="2000" b="1" dirty="0">
                <a:solidFill>
                  <a:srgbClr val="404040"/>
                </a:solidFill>
                <a:latin typeface="Calibri"/>
                <a:cs typeface="Calibri"/>
              </a:rPr>
              <a:t>1.</a:t>
            </a:r>
            <a:r>
              <a:rPr sz="2000" b="1" spc="-10" dirty="0">
                <a:solidFill>
                  <a:srgbClr val="404040"/>
                </a:solidFill>
                <a:latin typeface="Calibri"/>
                <a:cs typeface="Calibri"/>
              </a:rPr>
              <a:t> Accuracy</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Data</a:t>
            </a:r>
            <a:r>
              <a:rPr sz="2000" spc="-25" dirty="0">
                <a:solidFill>
                  <a:srgbClr val="404040"/>
                </a:solidFill>
                <a:latin typeface="Calibri"/>
                <a:cs typeface="Calibri"/>
              </a:rPr>
              <a:t> </a:t>
            </a:r>
            <a:r>
              <a:rPr sz="2000" dirty="0">
                <a:solidFill>
                  <a:srgbClr val="404040"/>
                </a:solidFill>
                <a:latin typeface="Calibri"/>
                <a:cs typeface="Calibri"/>
              </a:rPr>
              <a:t>should</a:t>
            </a:r>
            <a:r>
              <a:rPr sz="2000" spc="-45" dirty="0">
                <a:solidFill>
                  <a:srgbClr val="404040"/>
                </a:solidFill>
                <a:latin typeface="Calibri"/>
                <a:cs typeface="Calibri"/>
              </a:rPr>
              <a:t> </a:t>
            </a:r>
            <a:r>
              <a:rPr sz="2000" dirty="0">
                <a:solidFill>
                  <a:srgbClr val="404040"/>
                </a:solidFill>
                <a:latin typeface="Calibri"/>
                <a:cs typeface="Calibri"/>
              </a:rPr>
              <a:t>be</a:t>
            </a:r>
            <a:r>
              <a:rPr sz="2000" spc="-25" dirty="0">
                <a:solidFill>
                  <a:srgbClr val="404040"/>
                </a:solidFill>
                <a:latin typeface="Calibri"/>
                <a:cs typeface="Calibri"/>
              </a:rPr>
              <a:t> </a:t>
            </a:r>
            <a:r>
              <a:rPr sz="2000" dirty="0">
                <a:solidFill>
                  <a:srgbClr val="404040"/>
                </a:solidFill>
                <a:latin typeface="Calibri"/>
                <a:cs typeface="Calibri"/>
              </a:rPr>
              <a:t>correct</a:t>
            </a:r>
            <a:r>
              <a:rPr sz="2000" spc="-25" dirty="0">
                <a:solidFill>
                  <a:srgbClr val="404040"/>
                </a:solidFill>
                <a:latin typeface="Calibri"/>
                <a:cs typeface="Calibri"/>
              </a:rPr>
              <a:t> </a:t>
            </a:r>
            <a:r>
              <a:rPr sz="2000" dirty="0">
                <a:solidFill>
                  <a:srgbClr val="404040"/>
                </a:solidFill>
                <a:latin typeface="Calibri"/>
                <a:cs typeface="Calibri"/>
              </a:rPr>
              <a:t>and</a:t>
            </a:r>
            <a:r>
              <a:rPr sz="2000" spc="-30" dirty="0">
                <a:solidFill>
                  <a:srgbClr val="404040"/>
                </a:solidFill>
                <a:latin typeface="Calibri"/>
                <a:cs typeface="Calibri"/>
              </a:rPr>
              <a:t> </a:t>
            </a:r>
            <a:r>
              <a:rPr sz="2000" spc="-20" dirty="0">
                <a:solidFill>
                  <a:srgbClr val="404040"/>
                </a:solidFill>
                <a:latin typeface="Calibri"/>
                <a:cs typeface="Calibri"/>
              </a:rPr>
              <a:t>error-</a:t>
            </a:r>
            <a:r>
              <a:rPr sz="2000" spc="-10" dirty="0">
                <a:solidFill>
                  <a:srgbClr val="404040"/>
                </a:solidFill>
                <a:latin typeface="Calibri"/>
                <a:cs typeface="Calibri"/>
              </a:rPr>
              <a:t>free.</a:t>
            </a:r>
            <a:endParaRPr sz="2000">
              <a:latin typeface="Calibri"/>
              <a:cs typeface="Calibri"/>
            </a:endParaRPr>
          </a:p>
          <a:p>
            <a:pPr marL="104139">
              <a:lnSpc>
                <a:spcPct val="100000"/>
              </a:lnSpc>
              <a:spcBef>
                <a:spcPts val="925"/>
              </a:spcBef>
            </a:pPr>
            <a:r>
              <a:rPr sz="2000" b="1" dirty="0">
                <a:solidFill>
                  <a:srgbClr val="404040"/>
                </a:solidFill>
                <a:latin typeface="Calibri"/>
                <a:cs typeface="Calibri"/>
              </a:rPr>
              <a:t>Example:</a:t>
            </a:r>
            <a:r>
              <a:rPr sz="2000" b="1" spc="-30" dirty="0">
                <a:solidFill>
                  <a:srgbClr val="404040"/>
                </a:solidFill>
                <a:latin typeface="Calibri"/>
                <a:cs typeface="Calibri"/>
              </a:rPr>
              <a:t> </a:t>
            </a:r>
            <a:r>
              <a:rPr sz="2000" dirty="0">
                <a:solidFill>
                  <a:srgbClr val="404040"/>
                </a:solidFill>
                <a:latin typeface="Calibri"/>
                <a:cs typeface="Calibri"/>
              </a:rPr>
              <a:t>Student</a:t>
            </a:r>
            <a:r>
              <a:rPr sz="2000" spc="-20" dirty="0">
                <a:solidFill>
                  <a:srgbClr val="404040"/>
                </a:solidFill>
                <a:latin typeface="Calibri"/>
                <a:cs typeface="Calibri"/>
              </a:rPr>
              <a:t> </a:t>
            </a:r>
            <a:r>
              <a:rPr sz="2000" dirty="0">
                <a:solidFill>
                  <a:srgbClr val="404040"/>
                </a:solidFill>
                <a:latin typeface="Calibri"/>
                <a:cs typeface="Calibri"/>
              </a:rPr>
              <a:t>age</a:t>
            </a:r>
            <a:r>
              <a:rPr sz="2000" spc="-30" dirty="0">
                <a:solidFill>
                  <a:srgbClr val="404040"/>
                </a:solidFill>
                <a:latin typeface="Calibri"/>
                <a:cs typeface="Calibri"/>
              </a:rPr>
              <a:t> </a:t>
            </a:r>
            <a:r>
              <a:rPr sz="2000" dirty="0">
                <a:solidFill>
                  <a:srgbClr val="404040"/>
                </a:solidFill>
                <a:latin typeface="Calibri"/>
                <a:cs typeface="Calibri"/>
              </a:rPr>
              <a:t>should</a:t>
            </a:r>
            <a:r>
              <a:rPr sz="2000" spc="-40" dirty="0">
                <a:solidFill>
                  <a:srgbClr val="404040"/>
                </a:solidFill>
                <a:latin typeface="Calibri"/>
                <a:cs typeface="Calibri"/>
              </a:rPr>
              <a:t> </a:t>
            </a:r>
            <a:r>
              <a:rPr sz="2000" dirty="0">
                <a:solidFill>
                  <a:srgbClr val="404040"/>
                </a:solidFill>
                <a:latin typeface="Calibri"/>
                <a:cs typeface="Calibri"/>
              </a:rPr>
              <a:t>be</a:t>
            </a:r>
            <a:r>
              <a:rPr sz="2000" spc="-20" dirty="0">
                <a:solidFill>
                  <a:srgbClr val="404040"/>
                </a:solidFill>
                <a:latin typeface="Calibri"/>
                <a:cs typeface="Calibri"/>
              </a:rPr>
              <a:t> </a:t>
            </a:r>
            <a:r>
              <a:rPr sz="2000" b="1" dirty="0">
                <a:solidFill>
                  <a:srgbClr val="404040"/>
                </a:solidFill>
                <a:latin typeface="Calibri"/>
                <a:cs typeface="Calibri"/>
              </a:rPr>
              <a:t>21</a:t>
            </a:r>
            <a:r>
              <a:rPr sz="2000" dirty="0">
                <a:solidFill>
                  <a:srgbClr val="404040"/>
                </a:solidFill>
                <a:latin typeface="Calibri"/>
                <a:cs typeface="Calibri"/>
              </a:rPr>
              <a:t>,</a:t>
            </a:r>
            <a:r>
              <a:rPr sz="2000" spc="-50" dirty="0">
                <a:solidFill>
                  <a:srgbClr val="404040"/>
                </a:solidFill>
                <a:latin typeface="Calibri"/>
                <a:cs typeface="Calibri"/>
              </a:rPr>
              <a:t> </a:t>
            </a:r>
            <a:r>
              <a:rPr sz="2000" dirty="0">
                <a:solidFill>
                  <a:srgbClr val="404040"/>
                </a:solidFill>
                <a:latin typeface="Calibri"/>
                <a:cs typeface="Calibri"/>
              </a:rPr>
              <a:t>not</a:t>
            </a:r>
            <a:r>
              <a:rPr sz="2000" spc="-30" dirty="0">
                <a:solidFill>
                  <a:srgbClr val="404040"/>
                </a:solidFill>
                <a:latin typeface="Calibri"/>
                <a:cs typeface="Calibri"/>
              </a:rPr>
              <a:t> </a:t>
            </a:r>
            <a:r>
              <a:rPr sz="2000" b="1" spc="-20" dirty="0">
                <a:solidFill>
                  <a:srgbClr val="404040"/>
                </a:solidFill>
                <a:latin typeface="Calibri"/>
                <a:cs typeface="Calibri"/>
              </a:rPr>
              <a:t>210</a:t>
            </a:r>
            <a:r>
              <a:rPr sz="2000" spc="-20" dirty="0">
                <a:solidFill>
                  <a:srgbClr val="404040"/>
                </a:solidFill>
                <a:latin typeface="Calibri"/>
                <a:cs typeface="Calibri"/>
              </a:rPr>
              <a:t>.</a:t>
            </a:r>
            <a:endParaRPr sz="2000">
              <a:latin typeface="Calibri"/>
              <a:cs typeface="Calibri"/>
            </a:endParaRPr>
          </a:p>
          <a:p>
            <a:pPr marL="104139">
              <a:lnSpc>
                <a:spcPct val="100000"/>
              </a:lnSpc>
              <a:spcBef>
                <a:spcPts val="915"/>
              </a:spcBef>
            </a:pPr>
            <a:r>
              <a:rPr sz="2000" b="1" dirty="0">
                <a:solidFill>
                  <a:srgbClr val="404040"/>
                </a:solidFill>
                <a:latin typeface="Calibri"/>
                <a:cs typeface="Calibri"/>
              </a:rPr>
              <a:t>2.</a:t>
            </a:r>
            <a:r>
              <a:rPr sz="2000" b="1" spc="-10" dirty="0">
                <a:solidFill>
                  <a:srgbClr val="404040"/>
                </a:solidFill>
                <a:latin typeface="Calibri"/>
                <a:cs typeface="Calibri"/>
              </a:rPr>
              <a:t> Completeness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All</a:t>
            </a:r>
            <a:r>
              <a:rPr sz="2000" spc="-40" dirty="0">
                <a:solidFill>
                  <a:srgbClr val="404040"/>
                </a:solidFill>
                <a:latin typeface="Calibri"/>
                <a:cs typeface="Calibri"/>
              </a:rPr>
              <a:t> </a:t>
            </a:r>
            <a:r>
              <a:rPr sz="2000" dirty="0">
                <a:solidFill>
                  <a:srgbClr val="404040"/>
                </a:solidFill>
                <a:latin typeface="Calibri"/>
                <a:cs typeface="Calibri"/>
              </a:rPr>
              <a:t>required</a:t>
            </a:r>
            <a:r>
              <a:rPr sz="2000" spc="-30" dirty="0">
                <a:solidFill>
                  <a:srgbClr val="404040"/>
                </a:solidFill>
                <a:latin typeface="Calibri"/>
                <a:cs typeface="Calibri"/>
              </a:rPr>
              <a:t> </a:t>
            </a:r>
            <a:r>
              <a:rPr sz="2000" spc="-10" dirty="0">
                <a:solidFill>
                  <a:srgbClr val="404040"/>
                </a:solidFill>
                <a:latin typeface="Calibri"/>
                <a:cs typeface="Calibri"/>
              </a:rPr>
              <a:t>information</a:t>
            </a:r>
            <a:r>
              <a:rPr sz="2000" spc="-35" dirty="0">
                <a:solidFill>
                  <a:srgbClr val="404040"/>
                </a:solidFill>
                <a:latin typeface="Calibri"/>
                <a:cs typeface="Calibri"/>
              </a:rPr>
              <a:t> </a:t>
            </a:r>
            <a:r>
              <a:rPr sz="2000" dirty="0">
                <a:solidFill>
                  <a:srgbClr val="404040"/>
                </a:solidFill>
                <a:latin typeface="Calibri"/>
                <a:cs typeface="Calibri"/>
              </a:rPr>
              <a:t>should</a:t>
            </a:r>
            <a:r>
              <a:rPr sz="2000" spc="-55" dirty="0">
                <a:solidFill>
                  <a:srgbClr val="404040"/>
                </a:solidFill>
                <a:latin typeface="Calibri"/>
                <a:cs typeface="Calibri"/>
              </a:rPr>
              <a:t> </a:t>
            </a:r>
            <a:r>
              <a:rPr sz="2000" dirty="0">
                <a:solidFill>
                  <a:srgbClr val="404040"/>
                </a:solidFill>
                <a:latin typeface="Calibri"/>
                <a:cs typeface="Calibri"/>
              </a:rPr>
              <a:t>be</a:t>
            </a:r>
            <a:r>
              <a:rPr sz="2000" spc="-35" dirty="0">
                <a:solidFill>
                  <a:srgbClr val="404040"/>
                </a:solidFill>
                <a:latin typeface="Calibri"/>
                <a:cs typeface="Calibri"/>
              </a:rPr>
              <a:t> </a:t>
            </a:r>
            <a:r>
              <a:rPr sz="2000" spc="-10" dirty="0">
                <a:solidFill>
                  <a:srgbClr val="404040"/>
                </a:solidFill>
                <a:latin typeface="Calibri"/>
                <a:cs typeface="Calibri"/>
              </a:rPr>
              <a:t>present.</a:t>
            </a:r>
            <a:endParaRPr sz="2000">
              <a:latin typeface="Calibri"/>
              <a:cs typeface="Calibri"/>
            </a:endParaRPr>
          </a:p>
          <a:p>
            <a:pPr marL="104139">
              <a:lnSpc>
                <a:spcPts val="2160"/>
              </a:lnSpc>
              <a:spcBef>
                <a:spcPts val="925"/>
              </a:spcBef>
            </a:pPr>
            <a:r>
              <a:rPr sz="2000" b="1" dirty="0">
                <a:solidFill>
                  <a:srgbClr val="404040"/>
                </a:solidFill>
                <a:latin typeface="Calibri"/>
                <a:cs typeface="Calibri"/>
              </a:rPr>
              <a:t>Example:</a:t>
            </a:r>
            <a:r>
              <a:rPr sz="2000" b="1" spc="-50" dirty="0">
                <a:solidFill>
                  <a:srgbClr val="404040"/>
                </a:solidFill>
                <a:latin typeface="Calibri"/>
                <a:cs typeface="Calibri"/>
              </a:rPr>
              <a:t> </a:t>
            </a:r>
            <a:r>
              <a:rPr sz="2000" dirty="0">
                <a:solidFill>
                  <a:srgbClr val="404040"/>
                </a:solidFill>
                <a:latin typeface="Calibri"/>
                <a:cs typeface="Calibri"/>
              </a:rPr>
              <a:t>A</a:t>
            </a:r>
            <a:r>
              <a:rPr sz="2000" spc="-30" dirty="0">
                <a:solidFill>
                  <a:srgbClr val="404040"/>
                </a:solidFill>
                <a:latin typeface="Calibri"/>
                <a:cs typeface="Calibri"/>
              </a:rPr>
              <a:t> </a:t>
            </a:r>
            <a:r>
              <a:rPr sz="2000" dirty="0">
                <a:solidFill>
                  <a:srgbClr val="404040"/>
                </a:solidFill>
                <a:latin typeface="Calibri"/>
                <a:cs typeface="Calibri"/>
              </a:rPr>
              <a:t>hospital</a:t>
            </a:r>
            <a:r>
              <a:rPr sz="2000" spc="-40" dirty="0">
                <a:solidFill>
                  <a:srgbClr val="404040"/>
                </a:solidFill>
                <a:latin typeface="Calibri"/>
                <a:cs typeface="Calibri"/>
              </a:rPr>
              <a:t> </a:t>
            </a:r>
            <a:r>
              <a:rPr sz="2000" spc="-10" dirty="0">
                <a:solidFill>
                  <a:srgbClr val="404040"/>
                </a:solidFill>
                <a:latin typeface="Calibri"/>
                <a:cs typeface="Calibri"/>
              </a:rPr>
              <a:t>record</a:t>
            </a:r>
            <a:r>
              <a:rPr sz="2000" spc="-55" dirty="0">
                <a:solidFill>
                  <a:srgbClr val="404040"/>
                </a:solidFill>
                <a:latin typeface="Calibri"/>
                <a:cs typeface="Calibri"/>
              </a:rPr>
              <a:t> </a:t>
            </a:r>
            <a:r>
              <a:rPr sz="2000" dirty="0">
                <a:solidFill>
                  <a:srgbClr val="404040"/>
                </a:solidFill>
                <a:latin typeface="Calibri"/>
                <a:cs typeface="Calibri"/>
              </a:rPr>
              <a:t>should</a:t>
            </a:r>
            <a:r>
              <a:rPr sz="2000" spc="-35" dirty="0">
                <a:solidFill>
                  <a:srgbClr val="404040"/>
                </a:solidFill>
                <a:latin typeface="Calibri"/>
                <a:cs typeface="Calibri"/>
              </a:rPr>
              <a:t> </a:t>
            </a:r>
            <a:r>
              <a:rPr sz="2000" dirty="0">
                <a:solidFill>
                  <a:srgbClr val="404040"/>
                </a:solidFill>
                <a:latin typeface="Calibri"/>
                <a:cs typeface="Calibri"/>
              </a:rPr>
              <a:t>include</a:t>
            </a:r>
            <a:r>
              <a:rPr sz="2000" spc="-45" dirty="0">
                <a:solidFill>
                  <a:srgbClr val="404040"/>
                </a:solidFill>
                <a:latin typeface="Calibri"/>
                <a:cs typeface="Calibri"/>
              </a:rPr>
              <a:t> </a:t>
            </a:r>
            <a:r>
              <a:rPr sz="2000" dirty="0">
                <a:solidFill>
                  <a:srgbClr val="404040"/>
                </a:solidFill>
                <a:latin typeface="Calibri"/>
                <a:cs typeface="Calibri"/>
              </a:rPr>
              <a:t>patient</a:t>
            </a:r>
            <a:r>
              <a:rPr sz="2000" spc="-30" dirty="0">
                <a:solidFill>
                  <a:srgbClr val="404040"/>
                </a:solidFill>
                <a:latin typeface="Calibri"/>
                <a:cs typeface="Calibri"/>
              </a:rPr>
              <a:t> </a:t>
            </a:r>
            <a:r>
              <a:rPr sz="2000" dirty="0">
                <a:solidFill>
                  <a:srgbClr val="404040"/>
                </a:solidFill>
                <a:latin typeface="Calibri"/>
                <a:cs typeface="Calibri"/>
              </a:rPr>
              <a:t>name,</a:t>
            </a:r>
            <a:r>
              <a:rPr sz="2000" spc="-35" dirty="0">
                <a:solidFill>
                  <a:srgbClr val="404040"/>
                </a:solidFill>
                <a:latin typeface="Calibri"/>
                <a:cs typeface="Calibri"/>
              </a:rPr>
              <a:t> </a:t>
            </a:r>
            <a:r>
              <a:rPr sz="2000" dirty="0">
                <a:solidFill>
                  <a:srgbClr val="404040"/>
                </a:solidFill>
                <a:latin typeface="Calibri"/>
                <a:cs typeface="Calibri"/>
              </a:rPr>
              <a:t>age,</a:t>
            </a:r>
            <a:r>
              <a:rPr sz="2000" spc="-55" dirty="0">
                <a:solidFill>
                  <a:srgbClr val="404040"/>
                </a:solidFill>
                <a:latin typeface="Calibri"/>
                <a:cs typeface="Calibri"/>
              </a:rPr>
              <a:t> </a:t>
            </a:r>
            <a:r>
              <a:rPr sz="2000" dirty="0">
                <a:solidFill>
                  <a:srgbClr val="404040"/>
                </a:solidFill>
                <a:latin typeface="Calibri"/>
                <a:cs typeface="Calibri"/>
              </a:rPr>
              <a:t>diagnosis,</a:t>
            </a:r>
            <a:r>
              <a:rPr sz="2000" spc="-40" dirty="0">
                <a:solidFill>
                  <a:srgbClr val="404040"/>
                </a:solidFill>
                <a:latin typeface="Calibri"/>
                <a:cs typeface="Calibri"/>
              </a:rPr>
              <a:t> </a:t>
            </a:r>
            <a:r>
              <a:rPr sz="2000" spc="-25" dirty="0">
                <a:solidFill>
                  <a:srgbClr val="404040"/>
                </a:solidFill>
                <a:latin typeface="Calibri"/>
                <a:cs typeface="Calibri"/>
              </a:rPr>
              <a:t>and</a:t>
            </a:r>
            <a:endParaRPr sz="2000">
              <a:latin typeface="Calibri"/>
              <a:cs typeface="Calibri"/>
            </a:endParaRPr>
          </a:p>
          <a:p>
            <a:pPr marL="104139">
              <a:lnSpc>
                <a:spcPts val="2160"/>
              </a:lnSpc>
            </a:pPr>
            <a:r>
              <a:rPr sz="2000" spc="-10" dirty="0">
                <a:solidFill>
                  <a:srgbClr val="404040"/>
                </a:solidFill>
                <a:latin typeface="Calibri"/>
                <a:cs typeface="Calibri"/>
              </a:rPr>
              <a:t>treatment.</a:t>
            </a:r>
            <a:endParaRPr sz="2000">
              <a:latin typeface="Calibri"/>
              <a:cs typeface="Calibri"/>
            </a:endParaRPr>
          </a:p>
          <a:p>
            <a:pPr marL="104139">
              <a:lnSpc>
                <a:spcPct val="100000"/>
              </a:lnSpc>
              <a:spcBef>
                <a:spcPts val="910"/>
              </a:spcBef>
            </a:pPr>
            <a:r>
              <a:rPr sz="2000" b="1" dirty="0">
                <a:solidFill>
                  <a:srgbClr val="404040"/>
                </a:solidFill>
                <a:latin typeface="Calibri"/>
                <a:cs typeface="Calibri"/>
              </a:rPr>
              <a:t>3.</a:t>
            </a:r>
            <a:r>
              <a:rPr sz="2000" b="1" spc="-10" dirty="0">
                <a:solidFill>
                  <a:srgbClr val="404040"/>
                </a:solidFill>
                <a:latin typeface="Calibri"/>
                <a:cs typeface="Calibri"/>
              </a:rPr>
              <a:t> Consistency</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The</a:t>
            </a:r>
            <a:r>
              <a:rPr sz="2000" spc="-55" dirty="0">
                <a:solidFill>
                  <a:srgbClr val="404040"/>
                </a:solidFill>
                <a:latin typeface="Calibri"/>
                <a:cs typeface="Calibri"/>
              </a:rPr>
              <a:t> </a:t>
            </a:r>
            <a:r>
              <a:rPr sz="2000" dirty="0">
                <a:solidFill>
                  <a:srgbClr val="404040"/>
                </a:solidFill>
                <a:latin typeface="Calibri"/>
                <a:cs typeface="Calibri"/>
              </a:rPr>
              <a:t>same</a:t>
            </a:r>
            <a:r>
              <a:rPr sz="2000" spc="-45" dirty="0">
                <a:solidFill>
                  <a:srgbClr val="404040"/>
                </a:solidFill>
                <a:latin typeface="Calibri"/>
                <a:cs typeface="Calibri"/>
              </a:rPr>
              <a:t> </a:t>
            </a:r>
            <a:r>
              <a:rPr sz="2000" dirty="0">
                <a:solidFill>
                  <a:srgbClr val="404040"/>
                </a:solidFill>
                <a:latin typeface="Calibri"/>
                <a:cs typeface="Calibri"/>
              </a:rPr>
              <a:t>data</a:t>
            </a:r>
            <a:r>
              <a:rPr sz="2000" spc="-50" dirty="0">
                <a:solidFill>
                  <a:srgbClr val="404040"/>
                </a:solidFill>
                <a:latin typeface="Calibri"/>
                <a:cs typeface="Calibri"/>
              </a:rPr>
              <a:t> </a:t>
            </a:r>
            <a:r>
              <a:rPr sz="2000" dirty="0">
                <a:solidFill>
                  <a:srgbClr val="404040"/>
                </a:solidFill>
                <a:latin typeface="Calibri"/>
                <a:cs typeface="Calibri"/>
              </a:rPr>
              <a:t>should</a:t>
            </a:r>
            <a:r>
              <a:rPr sz="2000" spc="-75" dirty="0">
                <a:solidFill>
                  <a:srgbClr val="404040"/>
                </a:solidFill>
                <a:latin typeface="Calibri"/>
                <a:cs typeface="Calibri"/>
              </a:rPr>
              <a:t> </a:t>
            </a:r>
            <a:r>
              <a:rPr sz="2000" dirty="0">
                <a:solidFill>
                  <a:srgbClr val="404040"/>
                </a:solidFill>
                <a:latin typeface="Calibri"/>
                <a:cs typeface="Calibri"/>
              </a:rPr>
              <a:t>have</a:t>
            </a:r>
            <a:r>
              <a:rPr sz="2000" spc="-45" dirty="0">
                <a:solidFill>
                  <a:srgbClr val="404040"/>
                </a:solidFill>
                <a:latin typeface="Calibri"/>
                <a:cs typeface="Calibri"/>
              </a:rPr>
              <a:t> </a:t>
            </a:r>
            <a:r>
              <a:rPr sz="2000" dirty="0">
                <a:solidFill>
                  <a:srgbClr val="404040"/>
                </a:solidFill>
                <a:latin typeface="Calibri"/>
                <a:cs typeface="Calibri"/>
              </a:rPr>
              <a:t>the</a:t>
            </a:r>
            <a:r>
              <a:rPr sz="2000" spc="-55" dirty="0">
                <a:solidFill>
                  <a:srgbClr val="404040"/>
                </a:solidFill>
                <a:latin typeface="Calibri"/>
                <a:cs typeface="Calibri"/>
              </a:rPr>
              <a:t> </a:t>
            </a:r>
            <a:r>
              <a:rPr sz="2000" dirty="0">
                <a:solidFill>
                  <a:srgbClr val="404040"/>
                </a:solidFill>
                <a:latin typeface="Calibri"/>
                <a:cs typeface="Calibri"/>
              </a:rPr>
              <a:t>same</a:t>
            </a:r>
            <a:r>
              <a:rPr sz="2000" spc="-45" dirty="0">
                <a:solidFill>
                  <a:srgbClr val="404040"/>
                </a:solidFill>
                <a:latin typeface="Calibri"/>
                <a:cs typeface="Calibri"/>
              </a:rPr>
              <a:t> </a:t>
            </a:r>
            <a:r>
              <a:rPr sz="2000" dirty="0">
                <a:solidFill>
                  <a:srgbClr val="404040"/>
                </a:solidFill>
                <a:latin typeface="Calibri"/>
                <a:cs typeface="Calibri"/>
              </a:rPr>
              <a:t>meaning</a:t>
            </a:r>
            <a:r>
              <a:rPr sz="2000" spc="-55" dirty="0">
                <a:solidFill>
                  <a:srgbClr val="404040"/>
                </a:solidFill>
                <a:latin typeface="Calibri"/>
                <a:cs typeface="Calibri"/>
              </a:rPr>
              <a:t> </a:t>
            </a:r>
            <a:r>
              <a:rPr sz="2000" dirty="0">
                <a:solidFill>
                  <a:srgbClr val="404040"/>
                </a:solidFill>
                <a:latin typeface="Calibri"/>
                <a:cs typeface="Calibri"/>
              </a:rPr>
              <a:t>across</a:t>
            </a:r>
            <a:r>
              <a:rPr sz="2000" spc="-50" dirty="0">
                <a:solidFill>
                  <a:srgbClr val="404040"/>
                </a:solidFill>
                <a:latin typeface="Calibri"/>
                <a:cs typeface="Calibri"/>
              </a:rPr>
              <a:t> </a:t>
            </a:r>
            <a:r>
              <a:rPr sz="2000" spc="-10" dirty="0">
                <a:solidFill>
                  <a:srgbClr val="404040"/>
                </a:solidFill>
                <a:latin typeface="Calibri"/>
                <a:cs typeface="Calibri"/>
              </a:rPr>
              <a:t>different</a:t>
            </a:r>
            <a:r>
              <a:rPr sz="2000" spc="-40" dirty="0">
                <a:solidFill>
                  <a:srgbClr val="404040"/>
                </a:solidFill>
                <a:latin typeface="Calibri"/>
                <a:cs typeface="Calibri"/>
              </a:rPr>
              <a:t> </a:t>
            </a:r>
            <a:r>
              <a:rPr sz="2000" spc="-10" dirty="0">
                <a:solidFill>
                  <a:srgbClr val="404040"/>
                </a:solidFill>
                <a:latin typeface="Calibri"/>
                <a:cs typeface="Calibri"/>
              </a:rPr>
              <a:t>systems.</a:t>
            </a:r>
            <a:endParaRPr sz="2000">
              <a:latin typeface="Calibri"/>
              <a:cs typeface="Calibri"/>
            </a:endParaRPr>
          </a:p>
          <a:p>
            <a:pPr marL="104139">
              <a:lnSpc>
                <a:spcPct val="100000"/>
              </a:lnSpc>
              <a:spcBef>
                <a:spcPts val="925"/>
              </a:spcBef>
            </a:pPr>
            <a:r>
              <a:rPr sz="2000" b="1" dirty="0">
                <a:solidFill>
                  <a:srgbClr val="404040"/>
                </a:solidFill>
                <a:latin typeface="Calibri"/>
                <a:cs typeface="Calibri"/>
              </a:rPr>
              <a:t>Example:</a:t>
            </a:r>
            <a:r>
              <a:rPr sz="2000" b="1" spc="-50" dirty="0">
                <a:solidFill>
                  <a:srgbClr val="404040"/>
                </a:solidFill>
                <a:latin typeface="Calibri"/>
                <a:cs typeface="Calibri"/>
              </a:rPr>
              <a:t> </a:t>
            </a:r>
            <a:r>
              <a:rPr sz="2000" dirty="0">
                <a:solidFill>
                  <a:srgbClr val="404040"/>
                </a:solidFill>
                <a:latin typeface="Calibri"/>
                <a:cs typeface="Calibri"/>
              </a:rPr>
              <a:t>Customer</a:t>
            </a:r>
            <a:r>
              <a:rPr sz="2000" spc="-25" dirty="0">
                <a:solidFill>
                  <a:srgbClr val="404040"/>
                </a:solidFill>
                <a:latin typeface="Calibri"/>
                <a:cs typeface="Calibri"/>
              </a:rPr>
              <a:t> </a:t>
            </a:r>
            <a:r>
              <a:rPr sz="2000" dirty="0">
                <a:solidFill>
                  <a:srgbClr val="404040"/>
                </a:solidFill>
                <a:latin typeface="Calibri"/>
                <a:cs typeface="Calibri"/>
              </a:rPr>
              <a:t>ID</a:t>
            </a:r>
            <a:r>
              <a:rPr sz="2000" spc="-55" dirty="0">
                <a:solidFill>
                  <a:srgbClr val="404040"/>
                </a:solidFill>
                <a:latin typeface="Calibri"/>
                <a:cs typeface="Calibri"/>
              </a:rPr>
              <a:t> </a:t>
            </a:r>
            <a:r>
              <a:rPr sz="2000" dirty="0">
                <a:solidFill>
                  <a:srgbClr val="404040"/>
                </a:solidFill>
                <a:latin typeface="Calibri"/>
                <a:cs typeface="Calibri"/>
              </a:rPr>
              <a:t>should</a:t>
            </a:r>
            <a:r>
              <a:rPr sz="2000" spc="-40" dirty="0">
                <a:solidFill>
                  <a:srgbClr val="404040"/>
                </a:solidFill>
                <a:latin typeface="Calibri"/>
                <a:cs typeface="Calibri"/>
              </a:rPr>
              <a:t> </a:t>
            </a:r>
            <a:r>
              <a:rPr sz="2000" spc="-10" dirty="0">
                <a:solidFill>
                  <a:srgbClr val="404040"/>
                </a:solidFill>
                <a:latin typeface="Calibri"/>
                <a:cs typeface="Calibri"/>
              </a:rPr>
              <a:t>remain</a:t>
            </a:r>
            <a:r>
              <a:rPr sz="2000" spc="-35" dirty="0">
                <a:solidFill>
                  <a:srgbClr val="404040"/>
                </a:solidFill>
                <a:latin typeface="Calibri"/>
                <a:cs typeface="Calibri"/>
              </a:rPr>
              <a:t> </a:t>
            </a:r>
            <a:r>
              <a:rPr sz="2000" dirty="0">
                <a:solidFill>
                  <a:srgbClr val="404040"/>
                </a:solidFill>
                <a:latin typeface="Calibri"/>
                <a:cs typeface="Calibri"/>
              </a:rPr>
              <a:t>identical</a:t>
            </a:r>
            <a:r>
              <a:rPr sz="2000" spc="-35" dirty="0">
                <a:solidFill>
                  <a:srgbClr val="404040"/>
                </a:solidFill>
                <a:latin typeface="Calibri"/>
                <a:cs typeface="Calibri"/>
              </a:rPr>
              <a:t> </a:t>
            </a:r>
            <a:r>
              <a:rPr sz="2000" dirty="0">
                <a:solidFill>
                  <a:srgbClr val="404040"/>
                </a:solidFill>
                <a:latin typeface="Calibri"/>
                <a:cs typeface="Calibri"/>
              </a:rPr>
              <a:t>in</a:t>
            </a:r>
            <a:r>
              <a:rPr sz="2000" spc="-35" dirty="0">
                <a:solidFill>
                  <a:srgbClr val="404040"/>
                </a:solidFill>
                <a:latin typeface="Calibri"/>
                <a:cs typeface="Calibri"/>
              </a:rPr>
              <a:t> </a:t>
            </a:r>
            <a:r>
              <a:rPr sz="2000" dirty="0">
                <a:solidFill>
                  <a:srgbClr val="404040"/>
                </a:solidFill>
                <a:latin typeface="Calibri"/>
                <a:cs typeface="Calibri"/>
              </a:rPr>
              <a:t>CRM</a:t>
            </a:r>
            <a:r>
              <a:rPr sz="2000" spc="-50"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dirty="0">
                <a:solidFill>
                  <a:srgbClr val="404040"/>
                </a:solidFill>
                <a:latin typeface="Calibri"/>
                <a:cs typeface="Calibri"/>
              </a:rPr>
              <a:t>billing</a:t>
            </a:r>
            <a:r>
              <a:rPr sz="2000" spc="-35" dirty="0">
                <a:solidFill>
                  <a:srgbClr val="404040"/>
                </a:solidFill>
                <a:latin typeface="Calibri"/>
                <a:cs typeface="Calibri"/>
              </a:rPr>
              <a:t> </a:t>
            </a:r>
            <a:r>
              <a:rPr sz="2000" spc="-10" dirty="0">
                <a:solidFill>
                  <a:srgbClr val="404040"/>
                </a:solidFill>
                <a:latin typeface="Calibri"/>
                <a:cs typeface="Calibri"/>
              </a:rPr>
              <a:t>systems.</a:t>
            </a:r>
            <a:endParaRPr sz="2000">
              <a:latin typeface="Calibri"/>
              <a:cs typeface="Calibri"/>
            </a:endParaRPr>
          </a:p>
          <a:p>
            <a:pPr marL="104139">
              <a:lnSpc>
                <a:spcPct val="100000"/>
              </a:lnSpc>
              <a:spcBef>
                <a:spcPts val="910"/>
              </a:spcBef>
            </a:pPr>
            <a:r>
              <a:rPr sz="2000" b="1" spc="-10" dirty="0">
                <a:solidFill>
                  <a:srgbClr val="404040"/>
                </a:solidFill>
                <a:latin typeface="Calibri"/>
                <a:cs typeface="Calibri"/>
              </a:rPr>
              <a:t>4.Timeliness</a:t>
            </a:r>
            <a:endParaRPr sz="2000">
              <a:latin typeface="Calibri"/>
              <a:cs typeface="Calibri"/>
            </a:endParaRPr>
          </a:p>
          <a:p>
            <a:pPr marL="103505" indent="-101600">
              <a:lnSpc>
                <a:spcPct val="100000"/>
              </a:lnSpc>
              <a:spcBef>
                <a:spcPts val="930"/>
              </a:spcBef>
              <a:buClr>
                <a:srgbClr val="E38312"/>
              </a:buClr>
              <a:buSzPct val="77500"/>
              <a:buFont typeface="Tahoma"/>
              <a:buChar char="•"/>
              <a:tabLst>
                <a:tab pos="103505" algn="l"/>
              </a:tabLst>
            </a:pPr>
            <a:r>
              <a:rPr sz="2000" dirty="0">
                <a:solidFill>
                  <a:srgbClr val="404040"/>
                </a:solidFill>
                <a:latin typeface="Calibri"/>
                <a:cs typeface="Calibri"/>
              </a:rPr>
              <a:t>Data</a:t>
            </a:r>
            <a:r>
              <a:rPr sz="2000" spc="-30" dirty="0">
                <a:solidFill>
                  <a:srgbClr val="404040"/>
                </a:solidFill>
                <a:latin typeface="Calibri"/>
                <a:cs typeface="Calibri"/>
              </a:rPr>
              <a:t> </a:t>
            </a:r>
            <a:r>
              <a:rPr sz="2000" dirty="0">
                <a:solidFill>
                  <a:srgbClr val="404040"/>
                </a:solidFill>
                <a:latin typeface="Calibri"/>
                <a:cs typeface="Calibri"/>
              </a:rPr>
              <a:t>should</a:t>
            </a:r>
            <a:r>
              <a:rPr sz="2000" spc="-50" dirty="0">
                <a:solidFill>
                  <a:srgbClr val="404040"/>
                </a:solidFill>
                <a:latin typeface="Calibri"/>
                <a:cs typeface="Calibri"/>
              </a:rPr>
              <a:t> </a:t>
            </a:r>
            <a:r>
              <a:rPr sz="2000" dirty="0">
                <a:solidFill>
                  <a:srgbClr val="404040"/>
                </a:solidFill>
                <a:latin typeface="Calibri"/>
                <a:cs typeface="Calibri"/>
              </a:rPr>
              <a:t>be</a:t>
            </a:r>
            <a:r>
              <a:rPr sz="2000" spc="-30" dirty="0">
                <a:solidFill>
                  <a:srgbClr val="404040"/>
                </a:solidFill>
                <a:latin typeface="Calibri"/>
                <a:cs typeface="Calibri"/>
              </a:rPr>
              <a:t> </a:t>
            </a:r>
            <a:r>
              <a:rPr sz="2000" spc="-10" dirty="0">
                <a:solidFill>
                  <a:srgbClr val="404040"/>
                </a:solidFill>
                <a:latin typeface="Calibri"/>
                <a:cs typeface="Calibri"/>
              </a:rPr>
              <a:t>available</a:t>
            </a:r>
            <a:r>
              <a:rPr sz="2000" spc="-20" dirty="0">
                <a:solidFill>
                  <a:srgbClr val="404040"/>
                </a:solidFill>
                <a:latin typeface="Calibri"/>
                <a:cs typeface="Calibri"/>
              </a:rPr>
              <a:t> </a:t>
            </a:r>
            <a:r>
              <a:rPr sz="2000" dirty="0">
                <a:solidFill>
                  <a:srgbClr val="404040"/>
                </a:solidFill>
                <a:latin typeface="Calibri"/>
                <a:cs typeface="Calibri"/>
              </a:rPr>
              <a:t>when</a:t>
            </a:r>
            <a:r>
              <a:rPr sz="2000" spc="-35" dirty="0">
                <a:solidFill>
                  <a:srgbClr val="404040"/>
                </a:solidFill>
                <a:latin typeface="Calibri"/>
                <a:cs typeface="Calibri"/>
              </a:rPr>
              <a:t> </a:t>
            </a:r>
            <a:r>
              <a:rPr sz="2000" spc="-10" dirty="0">
                <a:solidFill>
                  <a:srgbClr val="404040"/>
                </a:solidFill>
                <a:latin typeface="Calibri"/>
                <a:cs typeface="Calibri"/>
              </a:rPr>
              <a:t>needed.</a:t>
            </a:r>
            <a:endParaRPr sz="2000">
              <a:latin typeface="Calibri"/>
              <a:cs typeface="Calibri"/>
            </a:endParaRPr>
          </a:p>
          <a:p>
            <a:pPr marL="104139">
              <a:lnSpc>
                <a:spcPct val="100000"/>
              </a:lnSpc>
              <a:spcBef>
                <a:spcPts val="919"/>
              </a:spcBef>
            </a:pPr>
            <a:r>
              <a:rPr sz="2000" b="1" dirty="0">
                <a:solidFill>
                  <a:srgbClr val="404040"/>
                </a:solidFill>
                <a:latin typeface="Calibri"/>
                <a:cs typeface="Calibri"/>
              </a:rPr>
              <a:t>Example:</a:t>
            </a:r>
            <a:r>
              <a:rPr sz="2000" b="1" spc="-55" dirty="0">
                <a:solidFill>
                  <a:srgbClr val="404040"/>
                </a:solidFill>
                <a:latin typeface="Calibri"/>
                <a:cs typeface="Calibri"/>
              </a:rPr>
              <a:t> </a:t>
            </a:r>
            <a:r>
              <a:rPr sz="2000" dirty="0">
                <a:solidFill>
                  <a:srgbClr val="404040"/>
                </a:solidFill>
                <a:latin typeface="Calibri"/>
                <a:cs typeface="Calibri"/>
              </a:rPr>
              <a:t>Live</a:t>
            </a:r>
            <a:r>
              <a:rPr sz="2000" spc="-35" dirty="0">
                <a:solidFill>
                  <a:srgbClr val="404040"/>
                </a:solidFill>
                <a:latin typeface="Calibri"/>
                <a:cs typeface="Calibri"/>
              </a:rPr>
              <a:t> </a:t>
            </a:r>
            <a:r>
              <a:rPr sz="2000" spc="-10" dirty="0">
                <a:solidFill>
                  <a:srgbClr val="404040"/>
                </a:solidFill>
                <a:latin typeface="Calibri"/>
                <a:cs typeface="Calibri"/>
              </a:rPr>
              <a:t>traffic</a:t>
            </a:r>
            <a:r>
              <a:rPr sz="2000" spc="-25"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is</a:t>
            </a:r>
            <a:r>
              <a:rPr sz="2000" spc="-40" dirty="0">
                <a:solidFill>
                  <a:srgbClr val="404040"/>
                </a:solidFill>
                <a:latin typeface="Calibri"/>
                <a:cs typeface="Calibri"/>
              </a:rPr>
              <a:t> </a:t>
            </a:r>
            <a:r>
              <a:rPr sz="2000" dirty="0">
                <a:solidFill>
                  <a:srgbClr val="404040"/>
                </a:solidFill>
                <a:latin typeface="Calibri"/>
                <a:cs typeface="Calibri"/>
              </a:rPr>
              <a:t>more</a:t>
            </a:r>
            <a:r>
              <a:rPr sz="2000" spc="-45" dirty="0">
                <a:solidFill>
                  <a:srgbClr val="404040"/>
                </a:solidFill>
                <a:latin typeface="Calibri"/>
                <a:cs typeface="Calibri"/>
              </a:rPr>
              <a:t> </a:t>
            </a:r>
            <a:r>
              <a:rPr sz="2000" dirty="0">
                <a:solidFill>
                  <a:srgbClr val="404040"/>
                </a:solidFill>
                <a:latin typeface="Calibri"/>
                <a:cs typeface="Calibri"/>
              </a:rPr>
              <a:t>useful</a:t>
            </a:r>
            <a:r>
              <a:rPr sz="2000" spc="-45" dirty="0">
                <a:solidFill>
                  <a:srgbClr val="404040"/>
                </a:solidFill>
                <a:latin typeface="Calibri"/>
                <a:cs typeface="Calibri"/>
              </a:rPr>
              <a:t> </a:t>
            </a:r>
            <a:r>
              <a:rPr sz="2000" dirty="0">
                <a:solidFill>
                  <a:srgbClr val="404040"/>
                </a:solidFill>
                <a:latin typeface="Calibri"/>
                <a:cs typeface="Calibri"/>
              </a:rPr>
              <a:t>than</a:t>
            </a:r>
            <a:r>
              <a:rPr sz="2000" spc="-40" dirty="0">
                <a:solidFill>
                  <a:srgbClr val="404040"/>
                </a:solidFill>
                <a:latin typeface="Calibri"/>
                <a:cs typeface="Calibri"/>
              </a:rPr>
              <a:t> </a:t>
            </a:r>
            <a:r>
              <a:rPr sz="2000" spc="-20" dirty="0">
                <a:solidFill>
                  <a:srgbClr val="404040"/>
                </a:solidFill>
                <a:latin typeface="Calibri"/>
                <a:cs typeface="Calibri"/>
              </a:rPr>
              <a:t>yesterday's</a:t>
            </a:r>
            <a:r>
              <a:rPr sz="2000" spc="-50" dirty="0">
                <a:solidFill>
                  <a:srgbClr val="404040"/>
                </a:solidFill>
                <a:latin typeface="Calibri"/>
                <a:cs typeface="Calibri"/>
              </a:rPr>
              <a:t> </a:t>
            </a:r>
            <a:r>
              <a:rPr sz="2000" spc="-10" dirty="0">
                <a:solidFill>
                  <a:srgbClr val="404040"/>
                </a:solidFill>
                <a:latin typeface="Calibri"/>
                <a:cs typeface="Calibri"/>
              </a:rPr>
              <a:t>traffic</a:t>
            </a:r>
            <a:r>
              <a:rPr sz="2000" spc="-30" dirty="0">
                <a:solidFill>
                  <a:srgbClr val="404040"/>
                </a:solidFill>
                <a:latin typeface="Calibri"/>
                <a:cs typeface="Calibri"/>
              </a:rPr>
              <a:t> </a:t>
            </a:r>
            <a:r>
              <a:rPr sz="2000" spc="-10" dirty="0">
                <a:solidFill>
                  <a:srgbClr val="404040"/>
                </a:solidFill>
                <a:latin typeface="Calibri"/>
                <a:cs typeface="Calibri"/>
              </a:rPr>
              <a:t>report.</a:t>
            </a:r>
            <a:endParaRPr sz="20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7715" y="27279"/>
            <a:ext cx="7608570" cy="6240780"/>
          </a:xfrm>
          <a:prstGeom prst="rect">
            <a:avLst/>
          </a:prstGeom>
        </p:spPr>
        <p:txBody>
          <a:bodyPr vert="horz" wrap="square" lIns="0" tIns="130175" rIns="0" bIns="0" rtlCol="0">
            <a:spAutoFit/>
          </a:bodyPr>
          <a:lstStyle/>
          <a:p>
            <a:pPr marL="104139">
              <a:lnSpc>
                <a:spcPct val="100000"/>
              </a:lnSpc>
              <a:spcBef>
                <a:spcPts val="1025"/>
              </a:spcBef>
            </a:pPr>
            <a:r>
              <a:rPr sz="2000" b="1" spc="-10" dirty="0">
                <a:solidFill>
                  <a:srgbClr val="404040"/>
                </a:solidFill>
                <a:latin typeface="Calibri"/>
                <a:cs typeface="Calibri"/>
              </a:rPr>
              <a:t>Characteristics</a:t>
            </a:r>
            <a:r>
              <a:rPr sz="2000" b="1" spc="-5" dirty="0">
                <a:solidFill>
                  <a:srgbClr val="404040"/>
                </a:solidFill>
                <a:latin typeface="Calibri"/>
                <a:cs typeface="Calibri"/>
              </a:rPr>
              <a:t> </a:t>
            </a:r>
            <a:r>
              <a:rPr sz="2000" b="1" dirty="0">
                <a:solidFill>
                  <a:srgbClr val="404040"/>
                </a:solidFill>
                <a:latin typeface="Calibri"/>
                <a:cs typeface="Calibri"/>
              </a:rPr>
              <a:t>of</a:t>
            </a:r>
            <a:r>
              <a:rPr sz="2000" b="1" spc="-5" dirty="0">
                <a:solidFill>
                  <a:srgbClr val="404040"/>
                </a:solidFill>
                <a:latin typeface="Calibri"/>
                <a:cs typeface="Calibri"/>
              </a:rPr>
              <a:t> </a:t>
            </a:r>
            <a:r>
              <a:rPr sz="2000" b="1" spc="-20" dirty="0">
                <a:solidFill>
                  <a:srgbClr val="404040"/>
                </a:solidFill>
                <a:latin typeface="Calibri"/>
                <a:cs typeface="Calibri"/>
              </a:rPr>
              <a:t>Data</a:t>
            </a:r>
            <a:endParaRPr sz="2000">
              <a:latin typeface="Calibri"/>
              <a:cs typeface="Calibri"/>
            </a:endParaRPr>
          </a:p>
          <a:p>
            <a:pPr marL="104139">
              <a:lnSpc>
                <a:spcPct val="100000"/>
              </a:lnSpc>
              <a:spcBef>
                <a:spcPts val="925"/>
              </a:spcBef>
            </a:pPr>
            <a:r>
              <a:rPr sz="2000" spc="-10" dirty="0">
                <a:solidFill>
                  <a:srgbClr val="404040"/>
                </a:solidFill>
                <a:latin typeface="Calibri"/>
                <a:cs typeface="Calibri"/>
              </a:rPr>
              <a:t>Good-</a:t>
            </a:r>
            <a:r>
              <a:rPr sz="2000" dirty="0">
                <a:solidFill>
                  <a:srgbClr val="404040"/>
                </a:solidFill>
                <a:latin typeface="Calibri"/>
                <a:cs typeface="Calibri"/>
              </a:rPr>
              <a:t>quality</a:t>
            </a:r>
            <a:r>
              <a:rPr sz="2000" spc="-65"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should</a:t>
            </a:r>
            <a:r>
              <a:rPr sz="2000" spc="-55" dirty="0">
                <a:solidFill>
                  <a:srgbClr val="404040"/>
                </a:solidFill>
                <a:latin typeface="Calibri"/>
                <a:cs typeface="Calibri"/>
              </a:rPr>
              <a:t> </a:t>
            </a:r>
            <a:r>
              <a:rPr sz="2000" dirty="0">
                <a:solidFill>
                  <a:srgbClr val="404040"/>
                </a:solidFill>
                <a:latin typeface="Calibri"/>
                <a:cs typeface="Calibri"/>
              </a:rPr>
              <a:t>possess</a:t>
            </a:r>
            <a:r>
              <a:rPr sz="2000" spc="-40" dirty="0">
                <a:solidFill>
                  <a:srgbClr val="404040"/>
                </a:solidFill>
                <a:latin typeface="Calibri"/>
                <a:cs typeface="Calibri"/>
              </a:rPr>
              <a:t> </a:t>
            </a:r>
            <a:r>
              <a:rPr sz="2000" dirty="0">
                <a:solidFill>
                  <a:srgbClr val="404040"/>
                </a:solidFill>
                <a:latin typeface="Calibri"/>
                <a:cs typeface="Calibri"/>
              </a:rPr>
              <a:t>the</a:t>
            </a:r>
            <a:r>
              <a:rPr sz="2000" spc="-50" dirty="0">
                <a:solidFill>
                  <a:srgbClr val="404040"/>
                </a:solidFill>
                <a:latin typeface="Calibri"/>
                <a:cs typeface="Calibri"/>
              </a:rPr>
              <a:t> </a:t>
            </a:r>
            <a:r>
              <a:rPr sz="2000" dirty="0">
                <a:solidFill>
                  <a:srgbClr val="404040"/>
                </a:solidFill>
                <a:latin typeface="Calibri"/>
                <a:cs typeface="Calibri"/>
              </a:rPr>
              <a:t>following</a:t>
            </a:r>
            <a:r>
              <a:rPr sz="2000" spc="-55" dirty="0">
                <a:solidFill>
                  <a:srgbClr val="404040"/>
                </a:solidFill>
                <a:latin typeface="Calibri"/>
                <a:cs typeface="Calibri"/>
              </a:rPr>
              <a:t> </a:t>
            </a:r>
            <a:r>
              <a:rPr sz="2000" spc="-10" dirty="0">
                <a:solidFill>
                  <a:srgbClr val="404040"/>
                </a:solidFill>
                <a:latin typeface="Calibri"/>
                <a:cs typeface="Calibri"/>
              </a:rPr>
              <a:t>characteristics:</a:t>
            </a:r>
            <a:endParaRPr sz="2000">
              <a:latin typeface="Calibri"/>
              <a:cs typeface="Calibri"/>
            </a:endParaRPr>
          </a:p>
          <a:p>
            <a:pPr marL="104139">
              <a:lnSpc>
                <a:spcPct val="100000"/>
              </a:lnSpc>
              <a:spcBef>
                <a:spcPts val="910"/>
              </a:spcBef>
            </a:pPr>
            <a:r>
              <a:rPr sz="2000" b="1" dirty="0">
                <a:solidFill>
                  <a:srgbClr val="404040"/>
                </a:solidFill>
                <a:latin typeface="Calibri"/>
                <a:cs typeface="Calibri"/>
              </a:rPr>
              <a:t>5.</a:t>
            </a:r>
            <a:r>
              <a:rPr sz="2000" b="1" spc="-10" dirty="0">
                <a:solidFill>
                  <a:srgbClr val="404040"/>
                </a:solidFill>
                <a:latin typeface="Calibri"/>
                <a:cs typeface="Calibri"/>
              </a:rPr>
              <a:t> Validity</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Data</a:t>
            </a:r>
            <a:r>
              <a:rPr sz="2000" spc="-50" dirty="0">
                <a:solidFill>
                  <a:srgbClr val="404040"/>
                </a:solidFill>
                <a:latin typeface="Calibri"/>
                <a:cs typeface="Calibri"/>
              </a:rPr>
              <a:t> </a:t>
            </a:r>
            <a:r>
              <a:rPr sz="2000" dirty="0">
                <a:solidFill>
                  <a:srgbClr val="404040"/>
                </a:solidFill>
                <a:latin typeface="Calibri"/>
                <a:cs typeface="Calibri"/>
              </a:rPr>
              <a:t>should</a:t>
            </a:r>
            <a:r>
              <a:rPr sz="2000" spc="-70" dirty="0">
                <a:solidFill>
                  <a:srgbClr val="404040"/>
                </a:solidFill>
                <a:latin typeface="Calibri"/>
                <a:cs typeface="Calibri"/>
              </a:rPr>
              <a:t> </a:t>
            </a:r>
            <a:r>
              <a:rPr sz="2000" dirty="0">
                <a:solidFill>
                  <a:srgbClr val="404040"/>
                </a:solidFill>
                <a:latin typeface="Calibri"/>
                <a:cs typeface="Calibri"/>
              </a:rPr>
              <a:t>conform</a:t>
            </a:r>
            <a:r>
              <a:rPr sz="2000" spc="-75" dirty="0">
                <a:solidFill>
                  <a:srgbClr val="404040"/>
                </a:solidFill>
                <a:latin typeface="Calibri"/>
                <a:cs typeface="Calibri"/>
              </a:rPr>
              <a:t> </a:t>
            </a:r>
            <a:r>
              <a:rPr sz="2000" dirty="0">
                <a:solidFill>
                  <a:srgbClr val="404040"/>
                </a:solidFill>
                <a:latin typeface="Calibri"/>
                <a:cs typeface="Calibri"/>
              </a:rPr>
              <a:t>to</a:t>
            </a:r>
            <a:r>
              <a:rPr sz="2000" spc="-50" dirty="0">
                <a:solidFill>
                  <a:srgbClr val="404040"/>
                </a:solidFill>
                <a:latin typeface="Calibri"/>
                <a:cs typeface="Calibri"/>
              </a:rPr>
              <a:t> </a:t>
            </a:r>
            <a:r>
              <a:rPr sz="2000" spc="-10" dirty="0">
                <a:solidFill>
                  <a:srgbClr val="404040"/>
                </a:solidFill>
                <a:latin typeface="Calibri"/>
                <a:cs typeface="Calibri"/>
              </a:rPr>
              <a:t>predefined</a:t>
            </a:r>
            <a:r>
              <a:rPr sz="2000" spc="-70" dirty="0">
                <a:solidFill>
                  <a:srgbClr val="404040"/>
                </a:solidFill>
                <a:latin typeface="Calibri"/>
                <a:cs typeface="Calibri"/>
              </a:rPr>
              <a:t> </a:t>
            </a:r>
            <a:r>
              <a:rPr sz="2000" spc="-10" dirty="0">
                <a:solidFill>
                  <a:srgbClr val="404040"/>
                </a:solidFill>
                <a:latin typeface="Calibri"/>
                <a:cs typeface="Calibri"/>
              </a:rPr>
              <a:t>rules.</a:t>
            </a:r>
            <a:endParaRPr sz="2000">
              <a:latin typeface="Calibri"/>
              <a:cs typeface="Calibri"/>
            </a:endParaRPr>
          </a:p>
          <a:p>
            <a:pPr marL="104139">
              <a:lnSpc>
                <a:spcPct val="100000"/>
              </a:lnSpc>
              <a:spcBef>
                <a:spcPts val="925"/>
              </a:spcBef>
            </a:pPr>
            <a:r>
              <a:rPr sz="2000" b="1" dirty="0">
                <a:solidFill>
                  <a:srgbClr val="404040"/>
                </a:solidFill>
                <a:latin typeface="Calibri"/>
                <a:cs typeface="Calibri"/>
              </a:rPr>
              <a:t>Example:</a:t>
            </a:r>
            <a:r>
              <a:rPr sz="2000" b="1" spc="-50" dirty="0">
                <a:solidFill>
                  <a:srgbClr val="404040"/>
                </a:solidFill>
                <a:latin typeface="Calibri"/>
                <a:cs typeface="Calibri"/>
              </a:rPr>
              <a:t> </a:t>
            </a:r>
            <a:r>
              <a:rPr sz="2000" dirty="0">
                <a:solidFill>
                  <a:srgbClr val="404040"/>
                </a:solidFill>
                <a:latin typeface="Calibri"/>
                <a:cs typeface="Calibri"/>
              </a:rPr>
              <a:t>Marks</a:t>
            </a:r>
            <a:r>
              <a:rPr sz="2000" spc="-30" dirty="0">
                <a:solidFill>
                  <a:srgbClr val="404040"/>
                </a:solidFill>
                <a:latin typeface="Calibri"/>
                <a:cs typeface="Calibri"/>
              </a:rPr>
              <a:t> </a:t>
            </a:r>
            <a:r>
              <a:rPr sz="2000" dirty="0">
                <a:solidFill>
                  <a:srgbClr val="404040"/>
                </a:solidFill>
                <a:latin typeface="Calibri"/>
                <a:cs typeface="Calibri"/>
              </a:rPr>
              <a:t>must</a:t>
            </a:r>
            <a:r>
              <a:rPr sz="2000" spc="-30" dirty="0">
                <a:solidFill>
                  <a:srgbClr val="404040"/>
                </a:solidFill>
                <a:latin typeface="Calibri"/>
                <a:cs typeface="Calibri"/>
              </a:rPr>
              <a:t> </a:t>
            </a:r>
            <a:r>
              <a:rPr sz="2000" dirty="0">
                <a:solidFill>
                  <a:srgbClr val="404040"/>
                </a:solidFill>
                <a:latin typeface="Calibri"/>
                <a:cs typeface="Calibri"/>
              </a:rPr>
              <a:t>lie</a:t>
            </a:r>
            <a:r>
              <a:rPr sz="2000" spc="-35" dirty="0">
                <a:solidFill>
                  <a:srgbClr val="404040"/>
                </a:solidFill>
                <a:latin typeface="Calibri"/>
                <a:cs typeface="Calibri"/>
              </a:rPr>
              <a:t> </a:t>
            </a:r>
            <a:r>
              <a:rPr sz="2000" dirty="0">
                <a:solidFill>
                  <a:srgbClr val="404040"/>
                </a:solidFill>
                <a:latin typeface="Calibri"/>
                <a:cs typeface="Calibri"/>
              </a:rPr>
              <a:t>between</a:t>
            </a:r>
            <a:r>
              <a:rPr sz="2000" spc="-35" dirty="0">
                <a:solidFill>
                  <a:srgbClr val="404040"/>
                </a:solidFill>
                <a:latin typeface="Calibri"/>
                <a:cs typeface="Calibri"/>
              </a:rPr>
              <a:t> </a:t>
            </a:r>
            <a:r>
              <a:rPr sz="2000" b="1" dirty="0">
                <a:solidFill>
                  <a:srgbClr val="404040"/>
                </a:solidFill>
                <a:latin typeface="Calibri"/>
                <a:cs typeface="Calibri"/>
              </a:rPr>
              <a:t>0</a:t>
            </a:r>
            <a:r>
              <a:rPr sz="2000" b="1" spc="-40" dirty="0">
                <a:solidFill>
                  <a:srgbClr val="404040"/>
                </a:solidFill>
                <a:latin typeface="Calibri"/>
                <a:cs typeface="Calibri"/>
              </a:rPr>
              <a:t> </a:t>
            </a:r>
            <a:r>
              <a:rPr sz="2000" b="1" dirty="0">
                <a:solidFill>
                  <a:srgbClr val="404040"/>
                </a:solidFill>
                <a:latin typeface="Calibri"/>
                <a:cs typeface="Calibri"/>
              </a:rPr>
              <a:t>and</a:t>
            </a:r>
            <a:r>
              <a:rPr sz="2000" b="1" spc="-50" dirty="0">
                <a:solidFill>
                  <a:srgbClr val="404040"/>
                </a:solidFill>
                <a:latin typeface="Calibri"/>
                <a:cs typeface="Calibri"/>
              </a:rPr>
              <a:t> </a:t>
            </a:r>
            <a:r>
              <a:rPr sz="2000" b="1" spc="-20" dirty="0">
                <a:solidFill>
                  <a:srgbClr val="404040"/>
                </a:solidFill>
                <a:latin typeface="Calibri"/>
                <a:cs typeface="Calibri"/>
              </a:rPr>
              <a:t>100</a:t>
            </a:r>
            <a:r>
              <a:rPr sz="2000" spc="-20" dirty="0">
                <a:solidFill>
                  <a:srgbClr val="404040"/>
                </a:solidFill>
                <a:latin typeface="Calibri"/>
                <a:cs typeface="Calibri"/>
              </a:rPr>
              <a:t>.</a:t>
            </a:r>
            <a:endParaRPr sz="2000">
              <a:latin typeface="Calibri"/>
              <a:cs typeface="Calibri"/>
            </a:endParaRPr>
          </a:p>
          <a:p>
            <a:pPr marL="104139">
              <a:lnSpc>
                <a:spcPct val="100000"/>
              </a:lnSpc>
              <a:spcBef>
                <a:spcPts val="915"/>
              </a:spcBef>
            </a:pPr>
            <a:r>
              <a:rPr sz="2000" b="1" dirty="0">
                <a:solidFill>
                  <a:srgbClr val="404040"/>
                </a:solidFill>
                <a:latin typeface="Calibri"/>
                <a:cs typeface="Calibri"/>
              </a:rPr>
              <a:t>6.</a:t>
            </a:r>
            <a:r>
              <a:rPr sz="2000" b="1" spc="-10" dirty="0">
                <a:solidFill>
                  <a:srgbClr val="404040"/>
                </a:solidFill>
                <a:latin typeface="Calibri"/>
                <a:cs typeface="Calibri"/>
              </a:rPr>
              <a:t> Reliability</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Data</a:t>
            </a:r>
            <a:r>
              <a:rPr sz="2000" spc="-40" dirty="0">
                <a:solidFill>
                  <a:srgbClr val="404040"/>
                </a:solidFill>
                <a:latin typeface="Calibri"/>
                <a:cs typeface="Calibri"/>
              </a:rPr>
              <a:t> </a:t>
            </a:r>
            <a:r>
              <a:rPr sz="2000" dirty="0">
                <a:solidFill>
                  <a:srgbClr val="404040"/>
                </a:solidFill>
                <a:latin typeface="Calibri"/>
                <a:cs typeface="Calibri"/>
              </a:rPr>
              <a:t>should</a:t>
            </a:r>
            <a:r>
              <a:rPr sz="2000" spc="-60" dirty="0">
                <a:solidFill>
                  <a:srgbClr val="404040"/>
                </a:solidFill>
                <a:latin typeface="Calibri"/>
                <a:cs typeface="Calibri"/>
              </a:rPr>
              <a:t> </a:t>
            </a:r>
            <a:r>
              <a:rPr sz="2000" dirty="0">
                <a:solidFill>
                  <a:srgbClr val="404040"/>
                </a:solidFill>
                <a:latin typeface="Calibri"/>
                <a:cs typeface="Calibri"/>
              </a:rPr>
              <a:t>come</a:t>
            </a:r>
            <a:r>
              <a:rPr sz="2000" spc="-50" dirty="0">
                <a:solidFill>
                  <a:srgbClr val="404040"/>
                </a:solidFill>
                <a:latin typeface="Calibri"/>
                <a:cs typeface="Calibri"/>
              </a:rPr>
              <a:t> </a:t>
            </a:r>
            <a:r>
              <a:rPr sz="2000" dirty="0">
                <a:solidFill>
                  <a:srgbClr val="404040"/>
                </a:solidFill>
                <a:latin typeface="Calibri"/>
                <a:cs typeface="Calibri"/>
              </a:rPr>
              <a:t>from</a:t>
            </a:r>
            <a:r>
              <a:rPr sz="2000" spc="-35" dirty="0">
                <a:solidFill>
                  <a:srgbClr val="404040"/>
                </a:solidFill>
                <a:latin typeface="Calibri"/>
                <a:cs typeface="Calibri"/>
              </a:rPr>
              <a:t> </a:t>
            </a:r>
            <a:r>
              <a:rPr sz="2000" spc="-10" dirty="0">
                <a:solidFill>
                  <a:srgbClr val="404040"/>
                </a:solidFill>
                <a:latin typeface="Calibri"/>
                <a:cs typeface="Calibri"/>
              </a:rPr>
              <a:t>trusted</a:t>
            </a:r>
            <a:r>
              <a:rPr sz="2000" spc="-35" dirty="0">
                <a:solidFill>
                  <a:srgbClr val="404040"/>
                </a:solidFill>
                <a:latin typeface="Calibri"/>
                <a:cs typeface="Calibri"/>
              </a:rPr>
              <a:t> </a:t>
            </a:r>
            <a:r>
              <a:rPr sz="2000" dirty="0">
                <a:solidFill>
                  <a:srgbClr val="404040"/>
                </a:solidFill>
                <a:latin typeface="Calibri"/>
                <a:cs typeface="Calibri"/>
              </a:rPr>
              <a:t>and</a:t>
            </a:r>
            <a:r>
              <a:rPr sz="2000" spc="-35" dirty="0">
                <a:solidFill>
                  <a:srgbClr val="404040"/>
                </a:solidFill>
                <a:latin typeface="Calibri"/>
                <a:cs typeface="Calibri"/>
              </a:rPr>
              <a:t> </a:t>
            </a:r>
            <a:r>
              <a:rPr sz="2000" dirty="0">
                <a:solidFill>
                  <a:srgbClr val="404040"/>
                </a:solidFill>
                <a:latin typeface="Calibri"/>
                <a:cs typeface="Calibri"/>
              </a:rPr>
              <a:t>authentic</a:t>
            </a:r>
            <a:r>
              <a:rPr sz="2000" spc="-40" dirty="0">
                <a:solidFill>
                  <a:srgbClr val="404040"/>
                </a:solidFill>
                <a:latin typeface="Calibri"/>
                <a:cs typeface="Calibri"/>
              </a:rPr>
              <a:t> </a:t>
            </a:r>
            <a:r>
              <a:rPr sz="2000" spc="-10" dirty="0">
                <a:solidFill>
                  <a:srgbClr val="404040"/>
                </a:solidFill>
                <a:latin typeface="Calibri"/>
                <a:cs typeface="Calibri"/>
              </a:rPr>
              <a:t>sources.</a:t>
            </a:r>
            <a:endParaRPr sz="2000">
              <a:latin typeface="Calibri"/>
              <a:cs typeface="Calibri"/>
            </a:endParaRPr>
          </a:p>
          <a:p>
            <a:pPr marL="104139">
              <a:lnSpc>
                <a:spcPts val="2160"/>
              </a:lnSpc>
              <a:spcBef>
                <a:spcPts val="925"/>
              </a:spcBef>
            </a:pPr>
            <a:r>
              <a:rPr sz="2000" b="1" dirty="0">
                <a:solidFill>
                  <a:srgbClr val="404040"/>
                </a:solidFill>
                <a:latin typeface="Calibri"/>
                <a:cs typeface="Calibri"/>
              </a:rPr>
              <a:t>Example:</a:t>
            </a:r>
            <a:r>
              <a:rPr sz="2000" b="1" spc="-65" dirty="0">
                <a:solidFill>
                  <a:srgbClr val="404040"/>
                </a:solidFill>
                <a:latin typeface="Calibri"/>
                <a:cs typeface="Calibri"/>
              </a:rPr>
              <a:t> </a:t>
            </a:r>
            <a:r>
              <a:rPr sz="2000" spc="-10" dirty="0">
                <a:solidFill>
                  <a:srgbClr val="404040"/>
                </a:solidFill>
                <a:latin typeface="Calibri"/>
                <a:cs typeface="Calibri"/>
              </a:rPr>
              <a:t>Government</a:t>
            </a:r>
            <a:r>
              <a:rPr sz="2000" spc="-45" dirty="0">
                <a:solidFill>
                  <a:srgbClr val="404040"/>
                </a:solidFill>
                <a:latin typeface="Calibri"/>
                <a:cs typeface="Calibri"/>
              </a:rPr>
              <a:t> </a:t>
            </a:r>
            <a:r>
              <a:rPr sz="2000" dirty="0">
                <a:solidFill>
                  <a:srgbClr val="404040"/>
                </a:solidFill>
                <a:latin typeface="Calibri"/>
                <a:cs typeface="Calibri"/>
              </a:rPr>
              <a:t>census</a:t>
            </a:r>
            <a:r>
              <a:rPr sz="2000" spc="-55"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dirty="0">
                <a:solidFill>
                  <a:srgbClr val="404040"/>
                </a:solidFill>
                <a:latin typeface="Calibri"/>
                <a:cs typeface="Calibri"/>
              </a:rPr>
              <a:t>is</a:t>
            </a:r>
            <a:r>
              <a:rPr sz="2000" spc="-50" dirty="0">
                <a:solidFill>
                  <a:srgbClr val="404040"/>
                </a:solidFill>
                <a:latin typeface="Calibri"/>
                <a:cs typeface="Calibri"/>
              </a:rPr>
              <a:t> </a:t>
            </a:r>
            <a:r>
              <a:rPr sz="2000" spc="-10" dirty="0">
                <a:solidFill>
                  <a:srgbClr val="404040"/>
                </a:solidFill>
                <a:latin typeface="Calibri"/>
                <a:cs typeface="Calibri"/>
              </a:rPr>
              <a:t>generally</a:t>
            </a:r>
            <a:r>
              <a:rPr sz="2000" spc="-55" dirty="0">
                <a:solidFill>
                  <a:srgbClr val="404040"/>
                </a:solidFill>
                <a:latin typeface="Calibri"/>
                <a:cs typeface="Calibri"/>
              </a:rPr>
              <a:t> </a:t>
            </a:r>
            <a:r>
              <a:rPr sz="2000" dirty="0">
                <a:solidFill>
                  <a:srgbClr val="404040"/>
                </a:solidFill>
                <a:latin typeface="Calibri"/>
                <a:cs typeface="Calibri"/>
              </a:rPr>
              <a:t>more</a:t>
            </a:r>
            <a:r>
              <a:rPr sz="2000" spc="-60" dirty="0">
                <a:solidFill>
                  <a:srgbClr val="404040"/>
                </a:solidFill>
                <a:latin typeface="Calibri"/>
                <a:cs typeface="Calibri"/>
              </a:rPr>
              <a:t> </a:t>
            </a:r>
            <a:r>
              <a:rPr sz="2000" dirty="0">
                <a:solidFill>
                  <a:srgbClr val="404040"/>
                </a:solidFill>
                <a:latin typeface="Calibri"/>
                <a:cs typeface="Calibri"/>
              </a:rPr>
              <a:t>reliable</a:t>
            </a:r>
            <a:r>
              <a:rPr sz="2000" spc="-45" dirty="0">
                <a:solidFill>
                  <a:srgbClr val="404040"/>
                </a:solidFill>
                <a:latin typeface="Calibri"/>
                <a:cs typeface="Calibri"/>
              </a:rPr>
              <a:t> </a:t>
            </a:r>
            <a:r>
              <a:rPr sz="2000" spc="-20" dirty="0">
                <a:solidFill>
                  <a:srgbClr val="404040"/>
                </a:solidFill>
                <a:latin typeface="Calibri"/>
                <a:cs typeface="Calibri"/>
              </a:rPr>
              <a:t>than</a:t>
            </a:r>
            <a:endParaRPr sz="2000">
              <a:latin typeface="Calibri"/>
              <a:cs typeface="Calibri"/>
            </a:endParaRPr>
          </a:p>
          <a:p>
            <a:pPr marL="104139">
              <a:lnSpc>
                <a:spcPts val="2160"/>
              </a:lnSpc>
            </a:pPr>
            <a:r>
              <a:rPr sz="2000" spc="-10" dirty="0">
                <a:solidFill>
                  <a:srgbClr val="404040"/>
                </a:solidFill>
                <a:latin typeface="Calibri"/>
                <a:cs typeface="Calibri"/>
              </a:rPr>
              <a:t>anonymous</a:t>
            </a:r>
            <a:r>
              <a:rPr sz="2000" spc="-45" dirty="0">
                <a:solidFill>
                  <a:srgbClr val="404040"/>
                </a:solidFill>
                <a:latin typeface="Calibri"/>
                <a:cs typeface="Calibri"/>
              </a:rPr>
              <a:t> </a:t>
            </a:r>
            <a:r>
              <a:rPr sz="2000" dirty="0">
                <a:solidFill>
                  <a:srgbClr val="404040"/>
                </a:solidFill>
                <a:latin typeface="Calibri"/>
                <a:cs typeface="Calibri"/>
              </a:rPr>
              <a:t>online</a:t>
            </a:r>
            <a:r>
              <a:rPr sz="2000" spc="10" dirty="0">
                <a:solidFill>
                  <a:srgbClr val="404040"/>
                </a:solidFill>
                <a:latin typeface="Calibri"/>
                <a:cs typeface="Calibri"/>
              </a:rPr>
              <a:t> </a:t>
            </a:r>
            <a:r>
              <a:rPr sz="2000" spc="-10" dirty="0">
                <a:solidFill>
                  <a:srgbClr val="404040"/>
                </a:solidFill>
                <a:latin typeface="Calibri"/>
                <a:cs typeface="Calibri"/>
              </a:rPr>
              <a:t>posts.</a:t>
            </a:r>
            <a:endParaRPr sz="2000">
              <a:latin typeface="Calibri"/>
              <a:cs typeface="Calibri"/>
            </a:endParaRPr>
          </a:p>
          <a:p>
            <a:pPr marL="104139">
              <a:lnSpc>
                <a:spcPct val="100000"/>
              </a:lnSpc>
              <a:spcBef>
                <a:spcPts val="910"/>
              </a:spcBef>
            </a:pPr>
            <a:r>
              <a:rPr sz="2000" b="1" dirty="0">
                <a:solidFill>
                  <a:srgbClr val="404040"/>
                </a:solidFill>
                <a:latin typeface="Calibri"/>
                <a:cs typeface="Calibri"/>
              </a:rPr>
              <a:t>7.</a:t>
            </a:r>
            <a:r>
              <a:rPr sz="2000" b="1" spc="-10" dirty="0">
                <a:solidFill>
                  <a:srgbClr val="404040"/>
                </a:solidFill>
                <a:latin typeface="Calibri"/>
                <a:cs typeface="Calibri"/>
              </a:rPr>
              <a:t> Relevance</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Data</a:t>
            </a:r>
            <a:r>
              <a:rPr sz="2000" spc="-40" dirty="0">
                <a:solidFill>
                  <a:srgbClr val="404040"/>
                </a:solidFill>
                <a:latin typeface="Calibri"/>
                <a:cs typeface="Calibri"/>
              </a:rPr>
              <a:t> </a:t>
            </a:r>
            <a:r>
              <a:rPr sz="2000" dirty="0">
                <a:solidFill>
                  <a:srgbClr val="404040"/>
                </a:solidFill>
                <a:latin typeface="Calibri"/>
                <a:cs typeface="Calibri"/>
              </a:rPr>
              <a:t>should</a:t>
            </a:r>
            <a:r>
              <a:rPr sz="2000" spc="-65" dirty="0">
                <a:solidFill>
                  <a:srgbClr val="404040"/>
                </a:solidFill>
                <a:latin typeface="Calibri"/>
                <a:cs typeface="Calibri"/>
              </a:rPr>
              <a:t> </a:t>
            </a:r>
            <a:r>
              <a:rPr sz="2000" dirty="0">
                <a:solidFill>
                  <a:srgbClr val="404040"/>
                </a:solidFill>
                <a:latin typeface="Calibri"/>
                <a:cs typeface="Calibri"/>
              </a:rPr>
              <a:t>support</a:t>
            </a:r>
            <a:r>
              <a:rPr sz="2000" spc="-55" dirty="0">
                <a:solidFill>
                  <a:srgbClr val="404040"/>
                </a:solidFill>
                <a:latin typeface="Calibri"/>
                <a:cs typeface="Calibri"/>
              </a:rPr>
              <a:t> </a:t>
            </a:r>
            <a:r>
              <a:rPr sz="2000" dirty="0">
                <a:solidFill>
                  <a:srgbClr val="404040"/>
                </a:solidFill>
                <a:latin typeface="Calibri"/>
                <a:cs typeface="Calibri"/>
              </a:rPr>
              <a:t>the</a:t>
            </a:r>
            <a:r>
              <a:rPr sz="2000" spc="-40" dirty="0">
                <a:solidFill>
                  <a:srgbClr val="404040"/>
                </a:solidFill>
                <a:latin typeface="Calibri"/>
                <a:cs typeface="Calibri"/>
              </a:rPr>
              <a:t> </a:t>
            </a:r>
            <a:r>
              <a:rPr sz="2000" dirty="0">
                <a:solidFill>
                  <a:srgbClr val="404040"/>
                </a:solidFill>
                <a:latin typeface="Calibri"/>
                <a:cs typeface="Calibri"/>
              </a:rPr>
              <a:t>intended</a:t>
            </a:r>
            <a:r>
              <a:rPr sz="2000" spc="-45" dirty="0">
                <a:solidFill>
                  <a:srgbClr val="404040"/>
                </a:solidFill>
                <a:latin typeface="Calibri"/>
                <a:cs typeface="Calibri"/>
              </a:rPr>
              <a:t> </a:t>
            </a:r>
            <a:r>
              <a:rPr sz="2000" spc="-10" dirty="0">
                <a:solidFill>
                  <a:srgbClr val="404040"/>
                </a:solidFill>
                <a:latin typeface="Calibri"/>
                <a:cs typeface="Calibri"/>
              </a:rPr>
              <a:t>objective.</a:t>
            </a:r>
            <a:endParaRPr sz="2000">
              <a:latin typeface="Calibri"/>
              <a:cs typeface="Calibri"/>
            </a:endParaRPr>
          </a:p>
          <a:p>
            <a:pPr marL="104139">
              <a:lnSpc>
                <a:spcPts val="2160"/>
              </a:lnSpc>
              <a:spcBef>
                <a:spcPts val="925"/>
              </a:spcBef>
            </a:pPr>
            <a:r>
              <a:rPr sz="2000" b="1" dirty="0">
                <a:solidFill>
                  <a:srgbClr val="404040"/>
                </a:solidFill>
                <a:latin typeface="Calibri"/>
                <a:cs typeface="Calibri"/>
              </a:rPr>
              <a:t>Example:</a:t>
            </a:r>
            <a:r>
              <a:rPr sz="2000" b="1" spc="-75" dirty="0">
                <a:solidFill>
                  <a:srgbClr val="404040"/>
                </a:solidFill>
                <a:latin typeface="Calibri"/>
                <a:cs typeface="Calibri"/>
              </a:rPr>
              <a:t> </a:t>
            </a:r>
            <a:r>
              <a:rPr sz="2000" dirty="0">
                <a:solidFill>
                  <a:srgbClr val="404040"/>
                </a:solidFill>
                <a:latin typeface="Calibri"/>
                <a:cs typeface="Calibri"/>
              </a:rPr>
              <a:t>Customer</a:t>
            </a:r>
            <a:r>
              <a:rPr sz="2000" spc="-55" dirty="0">
                <a:solidFill>
                  <a:srgbClr val="404040"/>
                </a:solidFill>
                <a:latin typeface="Calibri"/>
                <a:cs typeface="Calibri"/>
              </a:rPr>
              <a:t> </a:t>
            </a:r>
            <a:r>
              <a:rPr sz="2000" dirty="0">
                <a:solidFill>
                  <a:srgbClr val="404040"/>
                </a:solidFill>
                <a:latin typeface="Calibri"/>
                <a:cs typeface="Calibri"/>
              </a:rPr>
              <a:t>purchase</a:t>
            </a:r>
            <a:r>
              <a:rPr sz="2000" spc="-75" dirty="0">
                <a:solidFill>
                  <a:srgbClr val="404040"/>
                </a:solidFill>
                <a:latin typeface="Calibri"/>
                <a:cs typeface="Calibri"/>
              </a:rPr>
              <a:t> </a:t>
            </a:r>
            <a:r>
              <a:rPr sz="2000" dirty="0">
                <a:solidFill>
                  <a:srgbClr val="404040"/>
                </a:solidFill>
                <a:latin typeface="Calibri"/>
                <a:cs typeface="Calibri"/>
              </a:rPr>
              <a:t>history</a:t>
            </a:r>
            <a:r>
              <a:rPr sz="2000" spc="-60" dirty="0">
                <a:solidFill>
                  <a:srgbClr val="404040"/>
                </a:solidFill>
                <a:latin typeface="Calibri"/>
                <a:cs typeface="Calibri"/>
              </a:rPr>
              <a:t> </a:t>
            </a:r>
            <a:r>
              <a:rPr sz="2000" dirty="0">
                <a:solidFill>
                  <a:srgbClr val="404040"/>
                </a:solidFill>
                <a:latin typeface="Calibri"/>
                <a:cs typeface="Calibri"/>
              </a:rPr>
              <a:t>is</a:t>
            </a:r>
            <a:r>
              <a:rPr sz="2000" spc="-55" dirty="0">
                <a:solidFill>
                  <a:srgbClr val="404040"/>
                </a:solidFill>
                <a:latin typeface="Calibri"/>
                <a:cs typeface="Calibri"/>
              </a:rPr>
              <a:t> </a:t>
            </a:r>
            <a:r>
              <a:rPr sz="2000" spc="-10" dirty="0">
                <a:solidFill>
                  <a:srgbClr val="404040"/>
                </a:solidFill>
                <a:latin typeface="Calibri"/>
                <a:cs typeface="Calibri"/>
              </a:rPr>
              <a:t>relevant</a:t>
            </a:r>
            <a:r>
              <a:rPr sz="2000" spc="-55" dirty="0">
                <a:solidFill>
                  <a:srgbClr val="404040"/>
                </a:solidFill>
                <a:latin typeface="Calibri"/>
                <a:cs typeface="Calibri"/>
              </a:rPr>
              <a:t> </a:t>
            </a:r>
            <a:r>
              <a:rPr sz="2000" dirty="0">
                <a:solidFill>
                  <a:srgbClr val="404040"/>
                </a:solidFill>
                <a:latin typeface="Calibri"/>
                <a:cs typeface="Calibri"/>
              </a:rPr>
              <a:t>for</a:t>
            </a:r>
            <a:r>
              <a:rPr sz="2000" spc="-75" dirty="0">
                <a:solidFill>
                  <a:srgbClr val="404040"/>
                </a:solidFill>
                <a:latin typeface="Calibri"/>
                <a:cs typeface="Calibri"/>
              </a:rPr>
              <a:t> </a:t>
            </a:r>
            <a:r>
              <a:rPr sz="2000" spc="-10" dirty="0">
                <a:solidFill>
                  <a:srgbClr val="404040"/>
                </a:solidFill>
                <a:latin typeface="Calibri"/>
                <a:cs typeface="Calibri"/>
              </a:rPr>
              <a:t>product</a:t>
            </a:r>
            <a:endParaRPr sz="2000">
              <a:latin typeface="Calibri"/>
              <a:cs typeface="Calibri"/>
            </a:endParaRPr>
          </a:p>
          <a:p>
            <a:pPr marL="104139">
              <a:lnSpc>
                <a:spcPts val="2160"/>
              </a:lnSpc>
            </a:pPr>
            <a:r>
              <a:rPr sz="2000" spc="-10" dirty="0">
                <a:solidFill>
                  <a:srgbClr val="404040"/>
                </a:solidFill>
                <a:latin typeface="Calibri"/>
                <a:cs typeface="Calibri"/>
              </a:rPr>
              <a:t>recommendations.</a:t>
            </a:r>
            <a:endParaRPr sz="2000">
              <a:latin typeface="Calibri"/>
              <a:cs typeface="Calibri"/>
            </a:endParaRPr>
          </a:p>
          <a:p>
            <a:pPr marL="104139">
              <a:lnSpc>
                <a:spcPct val="100000"/>
              </a:lnSpc>
              <a:spcBef>
                <a:spcPts val="915"/>
              </a:spcBef>
            </a:pPr>
            <a:r>
              <a:rPr sz="2000" b="1" dirty="0">
                <a:solidFill>
                  <a:srgbClr val="404040"/>
                </a:solidFill>
                <a:latin typeface="Calibri"/>
                <a:cs typeface="Calibri"/>
              </a:rPr>
              <a:t>8.</a:t>
            </a:r>
            <a:r>
              <a:rPr sz="2000" b="1" spc="-10" dirty="0">
                <a:solidFill>
                  <a:srgbClr val="404040"/>
                </a:solidFill>
                <a:latin typeface="Calibri"/>
                <a:cs typeface="Calibri"/>
              </a:rPr>
              <a:t> Accessibility</a:t>
            </a:r>
            <a:endParaRPr sz="2000">
              <a:latin typeface="Calibri"/>
              <a:cs typeface="Calibri"/>
            </a:endParaRPr>
          </a:p>
          <a:p>
            <a:pPr marL="104139" marR="5080" indent="-102235">
              <a:lnSpc>
                <a:spcPts val="1920"/>
              </a:lnSpc>
              <a:spcBef>
                <a:spcPts val="1385"/>
              </a:spcBef>
              <a:buClr>
                <a:srgbClr val="E38312"/>
              </a:buClr>
              <a:buSzPct val="77500"/>
              <a:buFont typeface="Tahoma"/>
              <a:buChar char="•"/>
              <a:tabLst>
                <a:tab pos="104139" algn="l"/>
              </a:tabLst>
            </a:pPr>
            <a:r>
              <a:rPr sz="2000" dirty="0">
                <a:solidFill>
                  <a:srgbClr val="404040"/>
                </a:solidFill>
                <a:latin typeface="Calibri"/>
                <a:cs typeface="Calibri"/>
              </a:rPr>
              <a:t>Authorized</a:t>
            </a:r>
            <a:r>
              <a:rPr sz="2000" spc="-55" dirty="0">
                <a:solidFill>
                  <a:srgbClr val="404040"/>
                </a:solidFill>
                <a:latin typeface="Calibri"/>
                <a:cs typeface="Calibri"/>
              </a:rPr>
              <a:t> </a:t>
            </a:r>
            <a:r>
              <a:rPr sz="2000" dirty="0">
                <a:solidFill>
                  <a:srgbClr val="404040"/>
                </a:solidFill>
                <a:latin typeface="Calibri"/>
                <a:cs typeface="Calibri"/>
              </a:rPr>
              <a:t>users</a:t>
            </a:r>
            <a:r>
              <a:rPr sz="2000" spc="-30" dirty="0">
                <a:solidFill>
                  <a:srgbClr val="404040"/>
                </a:solidFill>
                <a:latin typeface="Calibri"/>
                <a:cs typeface="Calibri"/>
              </a:rPr>
              <a:t> </a:t>
            </a:r>
            <a:r>
              <a:rPr sz="2000" dirty="0">
                <a:solidFill>
                  <a:srgbClr val="404040"/>
                </a:solidFill>
                <a:latin typeface="Calibri"/>
                <a:cs typeface="Calibri"/>
              </a:rPr>
              <a:t>should</a:t>
            </a:r>
            <a:r>
              <a:rPr sz="2000" spc="-65" dirty="0">
                <a:solidFill>
                  <a:srgbClr val="404040"/>
                </a:solidFill>
                <a:latin typeface="Calibri"/>
                <a:cs typeface="Calibri"/>
              </a:rPr>
              <a:t> </a:t>
            </a:r>
            <a:r>
              <a:rPr sz="2000" dirty="0">
                <a:solidFill>
                  <a:srgbClr val="404040"/>
                </a:solidFill>
                <a:latin typeface="Calibri"/>
                <a:cs typeface="Calibri"/>
              </a:rPr>
              <a:t>be</a:t>
            </a:r>
            <a:r>
              <a:rPr sz="2000" spc="-40" dirty="0">
                <a:solidFill>
                  <a:srgbClr val="404040"/>
                </a:solidFill>
                <a:latin typeface="Calibri"/>
                <a:cs typeface="Calibri"/>
              </a:rPr>
              <a:t> </a:t>
            </a:r>
            <a:r>
              <a:rPr sz="2000" dirty="0">
                <a:solidFill>
                  <a:srgbClr val="404040"/>
                </a:solidFill>
                <a:latin typeface="Calibri"/>
                <a:cs typeface="Calibri"/>
              </a:rPr>
              <a:t>able</a:t>
            </a:r>
            <a:r>
              <a:rPr sz="2000" spc="-45" dirty="0">
                <a:solidFill>
                  <a:srgbClr val="404040"/>
                </a:solidFill>
                <a:latin typeface="Calibri"/>
                <a:cs typeface="Calibri"/>
              </a:rPr>
              <a:t> </a:t>
            </a:r>
            <a:r>
              <a:rPr sz="2000" dirty="0">
                <a:solidFill>
                  <a:srgbClr val="404040"/>
                </a:solidFill>
                <a:latin typeface="Calibri"/>
                <a:cs typeface="Calibri"/>
              </a:rPr>
              <a:t>to</a:t>
            </a:r>
            <a:r>
              <a:rPr sz="2000" spc="-45" dirty="0">
                <a:solidFill>
                  <a:srgbClr val="404040"/>
                </a:solidFill>
                <a:latin typeface="Calibri"/>
                <a:cs typeface="Calibri"/>
              </a:rPr>
              <a:t> </a:t>
            </a:r>
            <a:r>
              <a:rPr sz="2000" spc="-10" dirty="0">
                <a:solidFill>
                  <a:srgbClr val="404040"/>
                </a:solidFill>
                <a:latin typeface="Calibri"/>
                <a:cs typeface="Calibri"/>
              </a:rPr>
              <a:t>retrieve</a:t>
            </a:r>
            <a:r>
              <a:rPr sz="2000" spc="-20" dirty="0">
                <a:solidFill>
                  <a:srgbClr val="404040"/>
                </a:solidFill>
                <a:latin typeface="Calibri"/>
                <a:cs typeface="Calibri"/>
              </a:rPr>
              <a:t> </a:t>
            </a:r>
            <a:r>
              <a:rPr sz="2000" dirty="0">
                <a:solidFill>
                  <a:srgbClr val="404040"/>
                </a:solidFill>
                <a:latin typeface="Calibri"/>
                <a:cs typeface="Calibri"/>
              </a:rPr>
              <a:t>data</a:t>
            </a:r>
            <a:r>
              <a:rPr sz="2000" spc="-40" dirty="0">
                <a:solidFill>
                  <a:srgbClr val="404040"/>
                </a:solidFill>
                <a:latin typeface="Calibri"/>
                <a:cs typeface="Calibri"/>
              </a:rPr>
              <a:t> </a:t>
            </a:r>
            <a:r>
              <a:rPr sz="2000" dirty="0">
                <a:solidFill>
                  <a:srgbClr val="404040"/>
                </a:solidFill>
                <a:latin typeface="Calibri"/>
                <a:cs typeface="Calibri"/>
              </a:rPr>
              <a:t>easily</a:t>
            </a:r>
            <a:r>
              <a:rPr sz="2000" spc="-35" dirty="0">
                <a:solidFill>
                  <a:srgbClr val="404040"/>
                </a:solidFill>
                <a:latin typeface="Calibri"/>
                <a:cs typeface="Calibri"/>
              </a:rPr>
              <a:t> </a:t>
            </a:r>
            <a:r>
              <a:rPr sz="2000" dirty="0">
                <a:solidFill>
                  <a:srgbClr val="404040"/>
                </a:solidFill>
                <a:latin typeface="Calibri"/>
                <a:cs typeface="Calibri"/>
              </a:rPr>
              <a:t>while</a:t>
            </a:r>
            <a:r>
              <a:rPr sz="2000" spc="-45" dirty="0">
                <a:solidFill>
                  <a:srgbClr val="404040"/>
                </a:solidFill>
                <a:latin typeface="Calibri"/>
                <a:cs typeface="Calibri"/>
              </a:rPr>
              <a:t> </a:t>
            </a:r>
            <a:r>
              <a:rPr sz="2000" spc="-10" dirty="0">
                <a:solidFill>
                  <a:srgbClr val="404040"/>
                </a:solidFill>
                <a:latin typeface="Calibri"/>
                <a:cs typeface="Calibri"/>
              </a:rPr>
              <a:t>maintaining security.</a:t>
            </a:r>
            <a:endParaRPr sz="200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4772" y="-14224"/>
            <a:ext cx="2225040" cy="330835"/>
          </a:xfrm>
          <a:prstGeom prst="rect">
            <a:avLst/>
          </a:prstGeom>
        </p:spPr>
        <p:txBody>
          <a:bodyPr vert="horz" wrap="square" lIns="0" tIns="12700" rIns="0" bIns="0" rtlCol="0">
            <a:spAutoFit/>
          </a:bodyPr>
          <a:lstStyle/>
          <a:p>
            <a:pPr marL="12700">
              <a:lnSpc>
                <a:spcPct val="100000"/>
              </a:lnSpc>
              <a:spcBef>
                <a:spcPts val="100"/>
              </a:spcBef>
            </a:pPr>
            <a:r>
              <a:rPr spc="-10" dirty="0"/>
              <a:t>Evolution</a:t>
            </a:r>
            <a:r>
              <a:rPr spc="-45" dirty="0"/>
              <a:t> </a:t>
            </a:r>
            <a:r>
              <a:rPr dirty="0"/>
              <a:t>of</a:t>
            </a:r>
            <a:r>
              <a:rPr spc="-15" dirty="0"/>
              <a:t> </a:t>
            </a:r>
            <a:r>
              <a:rPr dirty="0"/>
              <a:t>Big</a:t>
            </a:r>
            <a:r>
              <a:rPr spc="-25" dirty="0"/>
              <a:t> </a:t>
            </a:r>
            <a:r>
              <a:rPr spc="-20" dirty="0"/>
              <a:t>Data</a:t>
            </a:r>
          </a:p>
        </p:txBody>
      </p:sp>
      <p:sp>
        <p:nvSpPr>
          <p:cNvPr id="3" name="object 3"/>
          <p:cNvSpPr txBox="1"/>
          <p:nvPr/>
        </p:nvSpPr>
        <p:spPr>
          <a:xfrm>
            <a:off x="334772" y="292036"/>
            <a:ext cx="4358005" cy="1656080"/>
          </a:xfrm>
          <a:prstGeom prst="rect">
            <a:avLst/>
          </a:prstGeom>
        </p:spPr>
        <p:txBody>
          <a:bodyPr vert="horz" wrap="square" lIns="0" tIns="159385" rIns="0" bIns="0" rtlCol="0">
            <a:spAutoFit/>
          </a:bodyPr>
          <a:lstStyle/>
          <a:p>
            <a:pPr marL="12700">
              <a:lnSpc>
                <a:spcPct val="100000"/>
              </a:lnSpc>
              <a:spcBef>
                <a:spcPts val="1255"/>
              </a:spcBef>
            </a:pPr>
            <a:r>
              <a:rPr sz="2000" b="1" dirty="0">
                <a:solidFill>
                  <a:srgbClr val="404040"/>
                </a:solidFill>
                <a:latin typeface="Calibri"/>
                <a:cs typeface="Calibri"/>
              </a:rPr>
              <a:t>Why</a:t>
            </a:r>
            <a:r>
              <a:rPr sz="2000" b="1" spc="-40" dirty="0">
                <a:solidFill>
                  <a:srgbClr val="404040"/>
                </a:solidFill>
                <a:latin typeface="Calibri"/>
                <a:cs typeface="Calibri"/>
              </a:rPr>
              <a:t> </a:t>
            </a:r>
            <a:r>
              <a:rPr sz="2000" b="1" dirty="0">
                <a:solidFill>
                  <a:srgbClr val="404040"/>
                </a:solidFill>
                <a:latin typeface="Calibri"/>
                <a:cs typeface="Calibri"/>
              </a:rPr>
              <a:t>Did</a:t>
            </a:r>
            <a:r>
              <a:rPr sz="2000" b="1" spc="-35" dirty="0">
                <a:solidFill>
                  <a:srgbClr val="404040"/>
                </a:solidFill>
                <a:latin typeface="Calibri"/>
                <a:cs typeface="Calibri"/>
              </a:rPr>
              <a:t> </a:t>
            </a:r>
            <a:r>
              <a:rPr sz="2000" b="1" dirty="0">
                <a:solidFill>
                  <a:srgbClr val="404040"/>
                </a:solidFill>
                <a:latin typeface="Calibri"/>
                <a:cs typeface="Calibri"/>
              </a:rPr>
              <a:t>Big</a:t>
            </a:r>
            <a:r>
              <a:rPr sz="2000" b="1" spc="-45" dirty="0">
                <a:solidFill>
                  <a:srgbClr val="404040"/>
                </a:solidFill>
                <a:latin typeface="Calibri"/>
                <a:cs typeface="Calibri"/>
              </a:rPr>
              <a:t> </a:t>
            </a:r>
            <a:r>
              <a:rPr sz="2000" b="1" dirty="0">
                <a:solidFill>
                  <a:srgbClr val="404040"/>
                </a:solidFill>
                <a:latin typeface="Calibri"/>
                <a:cs typeface="Calibri"/>
              </a:rPr>
              <a:t>Data</a:t>
            </a:r>
            <a:r>
              <a:rPr sz="2000" b="1" spc="-20" dirty="0">
                <a:solidFill>
                  <a:srgbClr val="404040"/>
                </a:solidFill>
                <a:latin typeface="Calibri"/>
                <a:cs typeface="Calibri"/>
              </a:rPr>
              <a:t> </a:t>
            </a:r>
            <a:r>
              <a:rPr sz="2000" b="1" spc="-10" dirty="0">
                <a:solidFill>
                  <a:srgbClr val="404040"/>
                </a:solidFill>
                <a:latin typeface="Calibri"/>
                <a:cs typeface="Calibri"/>
              </a:rPr>
              <a:t>Emerge?</a:t>
            </a:r>
            <a:endParaRPr sz="2000">
              <a:latin typeface="Calibri"/>
              <a:cs typeface="Calibri"/>
            </a:endParaRPr>
          </a:p>
          <a:p>
            <a:pPr marL="12700" marR="5080">
              <a:lnSpc>
                <a:spcPts val="2160"/>
              </a:lnSpc>
              <a:spcBef>
                <a:spcPts val="1425"/>
              </a:spcBef>
            </a:pPr>
            <a:r>
              <a:rPr sz="2000" dirty="0">
                <a:solidFill>
                  <a:srgbClr val="404040"/>
                </a:solidFill>
                <a:latin typeface="Calibri"/>
                <a:cs typeface="Calibri"/>
              </a:rPr>
              <a:t>As</a:t>
            </a:r>
            <a:r>
              <a:rPr sz="2000" spc="-55" dirty="0">
                <a:solidFill>
                  <a:srgbClr val="404040"/>
                </a:solidFill>
                <a:latin typeface="Calibri"/>
                <a:cs typeface="Calibri"/>
              </a:rPr>
              <a:t> </a:t>
            </a:r>
            <a:r>
              <a:rPr sz="2000" dirty="0">
                <a:solidFill>
                  <a:srgbClr val="404040"/>
                </a:solidFill>
                <a:latin typeface="Calibri"/>
                <a:cs typeface="Calibri"/>
              </a:rPr>
              <a:t>technology</a:t>
            </a:r>
            <a:r>
              <a:rPr sz="2000" spc="-70" dirty="0">
                <a:solidFill>
                  <a:srgbClr val="404040"/>
                </a:solidFill>
                <a:latin typeface="Calibri"/>
                <a:cs typeface="Calibri"/>
              </a:rPr>
              <a:t> </a:t>
            </a:r>
            <a:r>
              <a:rPr sz="2000" dirty="0">
                <a:solidFill>
                  <a:srgbClr val="404040"/>
                </a:solidFill>
                <a:latin typeface="Calibri"/>
                <a:cs typeface="Calibri"/>
              </a:rPr>
              <a:t>evolved,</a:t>
            </a:r>
            <a:r>
              <a:rPr sz="2000" spc="-50" dirty="0">
                <a:solidFill>
                  <a:srgbClr val="404040"/>
                </a:solidFill>
                <a:latin typeface="Calibri"/>
                <a:cs typeface="Calibri"/>
              </a:rPr>
              <a:t> </a:t>
            </a:r>
            <a:r>
              <a:rPr sz="2000" dirty="0">
                <a:solidFill>
                  <a:srgbClr val="404040"/>
                </a:solidFill>
                <a:latin typeface="Calibri"/>
                <a:cs typeface="Calibri"/>
              </a:rPr>
              <a:t>the</a:t>
            </a:r>
            <a:r>
              <a:rPr sz="2000" spc="-50" dirty="0">
                <a:solidFill>
                  <a:srgbClr val="404040"/>
                </a:solidFill>
                <a:latin typeface="Calibri"/>
                <a:cs typeface="Calibri"/>
              </a:rPr>
              <a:t> </a:t>
            </a:r>
            <a:r>
              <a:rPr sz="2000" dirty="0">
                <a:solidFill>
                  <a:srgbClr val="404040"/>
                </a:solidFill>
                <a:latin typeface="Calibri"/>
                <a:cs typeface="Calibri"/>
              </a:rPr>
              <a:t>volume</a:t>
            </a:r>
            <a:r>
              <a:rPr sz="2000" spc="-50" dirty="0">
                <a:solidFill>
                  <a:srgbClr val="404040"/>
                </a:solidFill>
                <a:latin typeface="Calibri"/>
                <a:cs typeface="Calibri"/>
              </a:rPr>
              <a:t> </a:t>
            </a:r>
            <a:r>
              <a:rPr sz="2000" spc="-25" dirty="0">
                <a:solidFill>
                  <a:srgbClr val="404040"/>
                </a:solidFill>
                <a:latin typeface="Calibri"/>
                <a:cs typeface="Calibri"/>
              </a:rPr>
              <a:t>and </a:t>
            </a:r>
            <a:r>
              <a:rPr sz="2000" dirty="0">
                <a:solidFill>
                  <a:srgbClr val="404040"/>
                </a:solidFill>
                <a:latin typeface="Calibri"/>
                <a:cs typeface="Calibri"/>
              </a:rPr>
              <a:t>complexity</a:t>
            </a:r>
            <a:r>
              <a:rPr sz="2000" spc="-65" dirty="0">
                <a:solidFill>
                  <a:srgbClr val="404040"/>
                </a:solidFill>
                <a:latin typeface="Calibri"/>
                <a:cs typeface="Calibri"/>
              </a:rPr>
              <a:t> </a:t>
            </a:r>
            <a:r>
              <a:rPr sz="2000" dirty="0">
                <a:solidFill>
                  <a:srgbClr val="404040"/>
                </a:solidFill>
                <a:latin typeface="Calibri"/>
                <a:cs typeface="Calibri"/>
              </a:rPr>
              <a:t>of</a:t>
            </a:r>
            <a:r>
              <a:rPr sz="2000" spc="-80" dirty="0">
                <a:solidFill>
                  <a:srgbClr val="404040"/>
                </a:solidFill>
                <a:latin typeface="Calibri"/>
                <a:cs typeface="Calibri"/>
              </a:rPr>
              <a:t> </a:t>
            </a:r>
            <a:r>
              <a:rPr sz="2000" dirty="0">
                <a:solidFill>
                  <a:srgbClr val="404040"/>
                </a:solidFill>
                <a:latin typeface="Calibri"/>
                <a:cs typeface="Calibri"/>
              </a:rPr>
              <a:t>data</a:t>
            </a:r>
            <a:r>
              <a:rPr sz="2000" spc="-65" dirty="0">
                <a:solidFill>
                  <a:srgbClr val="404040"/>
                </a:solidFill>
                <a:latin typeface="Calibri"/>
                <a:cs typeface="Calibri"/>
              </a:rPr>
              <a:t> </a:t>
            </a:r>
            <a:r>
              <a:rPr sz="2000" dirty="0">
                <a:solidFill>
                  <a:srgbClr val="404040"/>
                </a:solidFill>
                <a:latin typeface="Calibri"/>
                <a:cs typeface="Calibri"/>
              </a:rPr>
              <a:t>increased</a:t>
            </a:r>
            <a:r>
              <a:rPr sz="2000" spc="-50" dirty="0">
                <a:solidFill>
                  <a:srgbClr val="404040"/>
                </a:solidFill>
                <a:latin typeface="Calibri"/>
                <a:cs typeface="Calibri"/>
              </a:rPr>
              <a:t> </a:t>
            </a:r>
            <a:r>
              <a:rPr sz="2000" spc="-10" dirty="0">
                <a:solidFill>
                  <a:srgbClr val="404040"/>
                </a:solidFill>
                <a:latin typeface="Calibri"/>
                <a:cs typeface="Calibri"/>
              </a:rPr>
              <a:t>dramatically.</a:t>
            </a:r>
            <a:endParaRPr sz="2000">
              <a:latin typeface="Calibri"/>
              <a:cs typeface="Calibri"/>
            </a:endParaRPr>
          </a:p>
          <a:p>
            <a:pPr marL="2070100">
              <a:lnSpc>
                <a:spcPct val="100000"/>
              </a:lnSpc>
              <a:spcBef>
                <a:spcPts val="1135"/>
              </a:spcBef>
            </a:pPr>
            <a:r>
              <a:rPr sz="2000" b="1" spc="-10" dirty="0">
                <a:solidFill>
                  <a:srgbClr val="404040"/>
                </a:solidFill>
                <a:latin typeface="Calibri"/>
                <a:cs typeface="Calibri"/>
              </a:rPr>
              <a:t>Evolution</a:t>
            </a:r>
            <a:r>
              <a:rPr sz="2000" b="1" spc="-30" dirty="0">
                <a:solidFill>
                  <a:srgbClr val="404040"/>
                </a:solidFill>
                <a:latin typeface="Calibri"/>
                <a:cs typeface="Calibri"/>
              </a:rPr>
              <a:t> </a:t>
            </a:r>
            <a:r>
              <a:rPr sz="2000" b="1" spc="-10" dirty="0">
                <a:solidFill>
                  <a:srgbClr val="404040"/>
                </a:solidFill>
                <a:latin typeface="Calibri"/>
                <a:cs typeface="Calibri"/>
              </a:rPr>
              <a:t>Timeline</a:t>
            </a:r>
            <a:endParaRPr sz="2000">
              <a:latin typeface="Calibri"/>
              <a:cs typeface="Calibri"/>
            </a:endParaRPr>
          </a:p>
        </p:txBody>
      </p:sp>
      <p:sp>
        <p:nvSpPr>
          <p:cNvPr id="4" name="object 4"/>
          <p:cNvSpPr/>
          <p:nvPr/>
        </p:nvSpPr>
        <p:spPr>
          <a:xfrm>
            <a:off x="4937759" y="0"/>
            <a:ext cx="3169920" cy="6732905"/>
          </a:xfrm>
          <a:custGeom>
            <a:avLst/>
            <a:gdLst/>
            <a:ahLst/>
            <a:cxnLst/>
            <a:rect l="l" t="t" r="r" b="b"/>
            <a:pathLst>
              <a:path w="3169920" h="6732905">
                <a:moveTo>
                  <a:pt x="3169919" y="0"/>
                </a:moveTo>
                <a:lnTo>
                  <a:pt x="0" y="0"/>
                </a:lnTo>
                <a:lnTo>
                  <a:pt x="0" y="6732466"/>
                </a:lnTo>
                <a:lnTo>
                  <a:pt x="3169919" y="6732466"/>
                </a:lnTo>
                <a:lnTo>
                  <a:pt x="3169919" y="0"/>
                </a:lnTo>
                <a:close/>
              </a:path>
            </a:pathLst>
          </a:custGeom>
          <a:solidFill>
            <a:srgbClr val="DFE3DB"/>
          </a:solidFill>
        </p:spPr>
        <p:txBody>
          <a:bodyPr wrap="square" lIns="0" tIns="0" rIns="0" bIns="0" rtlCol="0"/>
          <a:lstStyle/>
          <a:p>
            <a:endParaRPr/>
          </a:p>
        </p:txBody>
      </p:sp>
      <p:sp>
        <p:nvSpPr>
          <p:cNvPr id="5" name="object 5"/>
          <p:cNvSpPr txBox="1"/>
          <p:nvPr/>
        </p:nvSpPr>
        <p:spPr>
          <a:xfrm>
            <a:off x="5017134" y="12648"/>
            <a:ext cx="1950085" cy="1732914"/>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1960s</a:t>
            </a:r>
            <a:endParaRPr sz="1600">
              <a:latin typeface="Calibri"/>
              <a:cs typeface="Calibri"/>
            </a:endParaRPr>
          </a:p>
          <a:p>
            <a:pPr marL="12700">
              <a:lnSpc>
                <a:spcPct val="100000"/>
              </a:lnSpc>
              <a:spcBef>
                <a:spcPts val="5"/>
              </a:spcBef>
            </a:pPr>
            <a:r>
              <a:rPr sz="1600" dirty="0">
                <a:latin typeface="Calibri"/>
                <a:cs typeface="Calibri"/>
              </a:rPr>
              <a:t>Manual</a:t>
            </a:r>
            <a:r>
              <a:rPr sz="1600" spc="-25" dirty="0">
                <a:latin typeface="Calibri"/>
                <a:cs typeface="Calibri"/>
              </a:rPr>
              <a:t> </a:t>
            </a:r>
            <a:r>
              <a:rPr sz="1600" spc="-10" dirty="0">
                <a:latin typeface="Calibri"/>
                <a:cs typeface="Calibri"/>
              </a:rPr>
              <a:t>Records</a:t>
            </a:r>
            <a:endParaRPr sz="1600">
              <a:latin typeface="Calibri"/>
              <a:cs typeface="Calibri"/>
            </a:endParaRPr>
          </a:p>
          <a:p>
            <a:pPr marL="334010">
              <a:lnSpc>
                <a:spcPct val="100000"/>
              </a:lnSpc>
            </a:pPr>
            <a:r>
              <a:rPr sz="1600" spc="-50" dirty="0">
                <a:latin typeface="Calibri"/>
                <a:cs typeface="Calibri"/>
              </a:rPr>
              <a:t>│</a:t>
            </a:r>
            <a:endParaRPr sz="1600">
              <a:latin typeface="Calibri"/>
              <a:cs typeface="Calibri"/>
            </a:endParaRPr>
          </a:p>
          <a:p>
            <a:pPr marL="288290">
              <a:lnSpc>
                <a:spcPts val="1914"/>
              </a:lnSpc>
              <a:spcBef>
                <a:spcPts val="10"/>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1970s</a:t>
            </a:r>
            <a:endParaRPr sz="1600">
              <a:latin typeface="Calibri"/>
              <a:cs typeface="Calibri"/>
            </a:endParaRPr>
          </a:p>
          <a:p>
            <a:pPr marL="12700">
              <a:lnSpc>
                <a:spcPct val="100000"/>
              </a:lnSpc>
            </a:pPr>
            <a:r>
              <a:rPr sz="1600" dirty="0">
                <a:latin typeface="Calibri"/>
                <a:cs typeface="Calibri"/>
              </a:rPr>
              <a:t>File</a:t>
            </a:r>
            <a:r>
              <a:rPr sz="1600" spc="-55" dirty="0">
                <a:latin typeface="Calibri"/>
                <a:cs typeface="Calibri"/>
              </a:rPr>
              <a:t> </a:t>
            </a:r>
            <a:r>
              <a:rPr sz="1600" dirty="0">
                <a:latin typeface="Calibri"/>
                <a:cs typeface="Calibri"/>
              </a:rPr>
              <a:t>Processing</a:t>
            </a:r>
            <a:r>
              <a:rPr sz="1600" spc="-40" dirty="0">
                <a:latin typeface="Calibri"/>
                <a:cs typeface="Calibri"/>
              </a:rPr>
              <a:t> </a:t>
            </a:r>
            <a:r>
              <a:rPr sz="1600" spc="-10" dirty="0">
                <a:latin typeface="Calibri"/>
                <a:cs typeface="Calibri"/>
              </a:rPr>
              <a:t>Systems</a:t>
            </a:r>
            <a:endParaRPr sz="1600">
              <a:latin typeface="Calibri"/>
              <a:cs typeface="Calibri"/>
            </a:endParaRPr>
          </a:p>
          <a:p>
            <a:pPr marL="334010">
              <a:lnSpc>
                <a:spcPct val="100000"/>
              </a:lnSpc>
            </a:pPr>
            <a:r>
              <a:rPr sz="1600" spc="-50" dirty="0">
                <a:latin typeface="Calibri"/>
                <a:cs typeface="Calibri"/>
              </a:rPr>
              <a:t>│</a:t>
            </a:r>
            <a:endParaRPr sz="1600">
              <a:latin typeface="Calibri"/>
              <a:cs typeface="Calibri"/>
            </a:endParaRPr>
          </a:p>
        </p:txBody>
      </p:sp>
      <p:sp>
        <p:nvSpPr>
          <p:cNvPr id="6" name="object 6"/>
          <p:cNvSpPr txBox="1"/>
          <p:nvPr/>
        </p:nvSpPr>
        <p:spPr>
          <a:xfrm>
            <a:off x="5017134" y="1721866"/>
            <a:ext cx="2597785" cy="4657090"/>
          </a:xfrm>
          <a:prstGeom prst="rect">
            <a:avLst/>
          </a:prstGeom>
        </p:spPr>
        <p:txBody>
          <a:bodyPr vert="horz" wrap="square" lIns="0" tIns="12065" rIns="0" bIns="0" rtlCol="0">
            <a:spAutoFit/>
          </a:bodyPr>
          <a:lstStyle/>
          <a:p>
            <a:pPr marL="288290">
              <a:lnSpc>
                <a:spcPts val="1914"/>
              </a:lnSpc>
              <a:spcBef>
                <a:spcPts val="95"/>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1980s</a:t>
            </a:r>
            <a:endParaRPr sz="1600">
              <a:latin typeface="Calibri"/>
              <a:cs typeface="Calibri"/>
            </a:endParaRPr>
          </a:p>
          <a:p>
            <a:pPr marL="12700">
              <a:lnSpc>
                <a:spcPct val="100000"/>
              </a:lnSpc>
            </a:pPr>
            <a:r>
              <a:rPr sz="1600" spc="-10" dirty="0">
                <a:latin typeface="Calibri"/>
                <a:cs typeface="Calibri"/>
              </a:rPr>
              <a:t>Relational</a:t>
            </a:r>
            <a:r>
              <a:rPr sz="1600" spc="-50" dirty="0">
                <a:latin typeface="Calibri"/>
                <a:cs typeface="Calibri"/>
              </a:rPr>
              <a:t> </a:t>
            </a:r>
            <a:r>
              <a:rPr sz="1600" dirty="0">
                <a:latin typeface="Calibri"/>
                <a:cs typeface="Calibri"/>
              </a:rPr>
              <a:t>Databases</a:t>
            </a:r>
            <a:r>
              <a:rPr sz="1600" spc="-25" dirty="0">
                <a:latin typeface="Calibri"/>
                <a:cs typeface="Calibri"/>
              </a:rPr>
              <a:t> </a:t>
            </a:r>
            <a:r>
              <a:rPr sz="1600" spc="-10" dirty="0">
                <a:latin typeface="Calibri"/>
                <a:cs typeface="Calibri"/>
              </a:rPr>
              <a:t>(RDBMS)</a:t>
            </a:r>
            <a:endParaRPr sz="1600">
              <a:latin typeface="Calibri"/>
              <a:cs typeface="Calibri"/>
            </a:endParaRPr>
          </a:p>
          <a:p>
            <a:pPr marL="334010">
              <a:lnSpc>
                <a:spcPct val="100000"/>
              </a:lnSpc>
            </a:pPr>
            <a:r>
              <a:rPr sz="1600" spc="-50" dirty="0">
                <a:latin typeface="Calibri"/>
                <a:cs typeface="Calibri"/>
              </a:rPr>
              <a:t>│</a:t>
            </a:r>
            <a:endParaRPr sz="1600">
              <a:latin typeface="Calibri"/>
              <a:cs typeface="Calibri"/>
            </a:endParaRPr>
          </a:p>
          <a:p>
            <a:pPr marL="288290">
              <a:lnSpc>
                <a:spcPts val="1914"/>
              </a:lnSpc>
              <a:spcBef>
                <a:spcPts val="10"/>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1990s</a:t>
            </a:r>
            <a:endParaRPr sz="1600">
              <a:latin typeface="Calibri"/>
              <a:cs typeface="Calibri"/>
            </a:endParaRPr>
          </a:p>
          <a:p>
            <a:pPr marL="12700">
              <a:lnSpc>
                <a:spcPct val="100000"/>
              </a:lnSpc>
            </a:pPr>
            <a:r>
              <a:rPr sz="1600" dirty="0">
                <a:latin typeface="Calibri"/>
                <a:cs typeface="Calibri"/>
              </a:rPr>
              <a:t>Data</a:t>
            </a:r>
            <a:r>
              <a:rPr sz="1600" spc="-60" dirty="0">
                <a:latin typeface="Calibri"/>
                <a:cs typeface="Calibri"/>
              </a:rPr>
              <a:t> </a:t>
            </a:r>
            <a:r>
              <a:rPr sz="1600" spc="-10" dirty="0">
                <a:latin typeface="Calibri"/>
                <a:cs typeface="Calibri"/>
              </a:rPr>
              <a:t>Warehouses</a:t>
            </a:r>
            <a:endParaRPr sz="1600">
              <a:latin typeface="Calibri"/>
              <a:cs typeface="Calibri"/>
            </a:endParaRPr>
          </a:p>
          <a:p>
            <a:pPr marL="334010">
              <a:lnSpc>
                <a:spcPct val="100000"/>
              </a:lnSpc>
              <a:spcBef>
                <a:spcPts val="5"/>
              </a:spcBef>
            </a:pPr>
            <a:r>
              <a:rPr sz="1600" spc="-50" dirty="0">
                <a:latin typeface="Calibri"/>
                <a:cs typeface="Calibri"/>
              </a:rPr>
              <a:t>│</a:t>
            </a:r>
            <a:endParaRPr sz="1600">
              <a:latin typeface="Calibri"/>
              <a:cs typeface="Calibri"/>
            </a:endParaRPr>
          </a:p>
          <a:p>
            <a:pPr marL="288290">
              <a:lnSpc>
                <a:spcPts val="1914"/>
              </a:lnSpc>
              <a:spcBef>
                <a:spcPts val="10"/>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2000s</a:t>
            </a:r>
            <a:endParaRPr sz="1600">
              <a:latin typeface="Calibri"/>
              <a:cs typeface="Calibri"/>
            </a:endParaRPr>
          </a:p>
          <a:p>
            <a:pPr marL="12700">
              <a:lnSpc>
                <a:spcPct val="100000"/>
              </a:lnSpc>
            </a:pPr>
            <a:r>
              <a:rPr sz="1600" dirty="0">
                <a:latin typeface="Calibri"/>
                <a:cs typeface="Calibri"/>
              </a:rPr>
              <a:t>Big</a:t>
            </a:r>
            <a:r>
              <a:rPr sz="1600" spc="-30" dirty="0">
                <a:latin typeface="Calibri"/>
                <a:cs typeface="Calibri"/>
              </a:rPr>
              <a:t> </a:t>
            </a:r>
            <a:r>
              <a:rPr sz="1600" dirty="0">
                <a:latin typeface="Calibri"/>
                <a:cs typeface="Calibri"/>
              </a:rPr>
              <a:t>Data</a:t>
            </a:r>
            <a:r>
              <a:rPr sz="1600" spc="-40" dirty="0">
                <a:latin typeface="Calibri"/>
                <a:cs typeface="Calibri"/>
              </a:rPr>
              <a:t> </a:t>
            </a:r>
            <a:r>
              <a:rPr sz="1600" spc="-10" dirty="0">
                <a:latin typeface="Calibri"/>
                <a:cs typeface="Calibri"/>
              </a:rPr>
              <a:t>(Hadoop)</a:t>
            </a:r>
            <a:endParaRPr sz="1600">
              <a:latin typeface="Calibri"/>
              <a:cs typeface="Calibri"/>
            </a:endParaRPr>
          </a:p>
          <a:p>
            <a:pPr marL="334010">
              <a:lnSpc>
                <a:spcPct val="100000"/>
              </a:lnSpc>
            </a:pPr>
            <a:r>
              <a:rPr sz="1600" spc="-50" dirty="0">
                <a:latin typeface="Calibri"/>
                <a:cs typeface="Calibri"/>
              </a:rPr>
              <a:t>│</a:t>
            </a:r>
            <a:endParaRPr sz="1600">
              <a:latin typeface="Calibri"/>
              <a:cs typeface="Calibri"/>
            </a:endParaRPr>
          </a:p>
          <a:p>
            <a:pPr marL="288290">
              <a:lnSpc>
                <a:spcPts val="1914"/>
              </a:lnSpc>
              <a:spcBef>
                <a:spcPts val="15"/>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2010s</a:t>
            </a:r>
            <a:endParaRPr sz="1600">
              <a:latin typeface="Calibri"/>
              <a:cs typeface="Calibri"/>
            </a:endParaRPr>
          </a:p>
          <a:p>
            <a:pPr marL="12700">
              <a:lnSpc>
                <a:spcPct val="100000"/>
              </a:lnSpc>
            </a:pPr>
            <a:r>
              <a:rPr sz="1600" dirty="0">
                <a:latin typeface="Calibri"/>
                <a:cs typeface="Calibri"/>
              </a:rPr>
              <a:t>Cloud</a:t>
            </a:r>
            <a:r>
              <a:rPr sz="1600" spc="-25" dirty="0">
                <a:latin typeface="Calibri"/>
                <a:cs typeface="Calibri"/>
              </a:rPr>
              <a:t> </a:t>
            </a:r>
            <a:r>
              <a:rPr sz="1600" dirty="0">
                <a:latin typeface="Calibri"/>
                <a:cs typeface="Calibri"/>
              </a:rPr>
              <a:t>Computing</a:t>
            </a:r>
            <a:r>
              <a:rPr sz="1600" spc="-20" dirty="0">
                <a:latin typeface="Calibri"/>
                <a:cs typeface="Calibri"/>
              </a:rPr>
              <a:t> </a:t>
            </a:r>
            <a:r>
              <a:rPr sz="1600" dirty="0">
                <a:latin typeface="Calibri"/>
                <a:cs typeface="Calibri"/>
              </a:rPr>
              <a:t>&amp;</a:t>
            </a:r>
            <a:r>
              <a:rPr sz="1600" spc="-20" dirty="0">
                <a:latin typeface="Calibri"/>
                <a:cs typeface="Calibri"/>
              </a:rPr>
              <a:t> NoSQL</a:t>
            </a:r>
            <a:endParaRPr sz="1600">
              <a:latin typeface="Calibri"/>
              <a:cs typeface="Calibri"/>
            </a:endParaRPr>
          </a:p>
          <a:p>
            <a:pPr marL="334010">
              <a:lnSpc>
                <a:spcPct val="100000"/>
              </a:lnSpc>
            </a:pPr>
            <a:r>
              <a:rPr sz="1600" spc="-50" dirty="0">
                <a:latin typeface="Calibri"/>
                <a:cs typeface="Calibri"/>
              </a:rPr>
              <a:t>│</a:t>
            </a:r>
            <a:endParaRPr sz="1600">
              <a:latin typeface="Calibri"/>
              <a:cs typeface="Calibri"/>
            </a:endParaRPr>
          </a:p>
          <a:p>
            <a:pPr marL="288290">
              <a:lnSpc>
                <a:spcPts val="1914"/>
              </a:lnSpc>
              <a:spcBef>
                <a:spcPts val="10"/>
              </a:spcBef>
            </a:pPr>
            <a:r>
              <a:rPr sz="1600" spc="-50" dirty="0">
                <a:latin typeface="Tahoma"/>
                <a:cs typeface="Tahoma"/>
              </a:rPr>
              <a:t>▼</a:t>
            </a:r>
            <a:endParaRPr sz="1600">
              <a:latin typeface="Tahoma"/>
              <a:cs typeface="Tahoma"/>
            </a:endParaRPr>
          </a:p>
          <a:p>
            <a:pPr marL="12700">
              <a:lnSpc>
                <a:spcPts val="1914"/>
              </a:lnSpc>
            </a:pPr>
            <a:r>
              <a:rPr sz="1600" spc="-10" dirty="0">
                <a:latin typeface="Calibri"/>
                <a:cs typeface="Calibri"/>
              </a:rPr>
              <a:t>Today</a:t>
            </a:r>
            <a:endParaRPr sz="1600">
              <a:latin typeface="Calibri"/>
              <a:cs typeface="Calibri"/>
            </a:endParaRPr>
          </a:p>
          <a:p>
            <a:pPr marL="12700">
              <a:lnSpc>
                <a:spcPct val="100000"/>
              </a:lnSpc>
            </a:pPr>
            <a:r>
              <a:rPr sz="1600" dirty="0">
                <a:latin typeface="Calibri"/>
                <a:cs typeface="Calibri"/>
              </a:rPr>
              <a:t>AI,</a:t>
            </a:r>
            <a:r>
              <a:rPr sz="1600" spc="-20" dirty="0">
                <a:latin typeface="Calibri"/>
                <a:cs typeface="Calibri"/>
              </a:rPr>
              <a:t> </a:t>
            </a:r>
            <a:r>
              <a:rPr sz="1600" dirty="0">
                <a:latin typeface="Calibri"/>
                <a:cs typeface="Calibri"/>
              </a:rPr>
              <a:t>Machine</a:t>
            </a:r>
            <a:r>
              <a:rPr sz="1600" spc="-20" dirty="0">
                <a:latin typeface="Calibri"/>
                <a:cs typeface="Calibri"/>
              </a:rPr>
              <a:t> </a:t>
            </a:r>
            <a:r>
              <a:rPr sz="1600" dirty="0">
                <a:latin typeface="Calibri"/>
                <a:cs typeface="Calibri"/>
              </a:rPr>
              <a:t>Learning,</a:t>
            </a:r>
            <a:r>
              <a:rPr sz="1600" spc="-5" dirty="0">
                <a:latin typeface="Calibri"/>
                <a:cs typeface="Calibri"/>
              </a:rPr>
              <a:t> </a:t>
            </a:r>
            <a:r>
              <a:rPr sz="1600" spc="-40" dirty="0">
                <a:latin typeface="Calibri"/>
                <a:cs typeface="Calibri"/>
              </a:rPr>
              <a:t>IoT,</a:t>
            </a:r>
            <a:r>
              <a:rPr sz="1600" spc="-15" dirty="0">
                <a:latin typeface="Calibri"/>
                <a:cs typeface="Calibri"/>
              </a:rPr>
              <a:t> </a:t>
            </a:r>
            <a:r>
              <a:rPr sz="1600" spc="-20" dirty="0">
                <a:latin typeface="Calibri"/>
                <a:cs typeface="Calibri"/>
              </a:rPr>
              <a:t>Edge</a:t>
            </a:r>
            <a:endParaRPr sz="1600">
              <a:latin typeface="Calibri"/>
              <a:cs typeface="Calibri"/>
            </a:endParaRPr>
          </a:p>
        </p:txBody>
      </p:sp>
      <p:sp>
        <p:nvSpPr>
          <p:cNvPr id="7" name="object 7"/>
          <p:cNvSpPr txBox="1"/>
          <p:nvPr/>
        </p:nvSpPr>
        <p:spPr>
          <a:xfrm>
            <a:off x="5017134" y="6354267"/>
            <a:ext cx="934085" cy="269240"/>
          </a:xfrm>
          <a:prstGeom prst="rect">
            <a:avLst/>
          </a:prstGeom>
        </p:spPr>
        <p:txBody>
          <a:bodyPr vert="horz" wrap="square" lIns="0" tIns="12065" rIns="0" bIns="0" rtlCol="0">
            <a:spAutoFit/>
          </a:bodyPr>
          <a:lstStyle/>
          <a:p>
            <a:pPr marL="12700">
              <a:lnSpc>
                <a:spcPct val="100000"/>
              </a:lnSpc>
              <a:spcBef>
                <a:spcPts val="95"/>
              </a:spcBef>
            </a:pPr>
            <a:r>
              <a:rPr sz="1600" spc="-10" dirty="0">
                <a:latin typeface="Calibri"/>
                <a:cs typeface="Calibri"/>
              </a:rPr>
              <a:t>Computing</a:t>
            </a:r>
            <a:endParaRPr sz="160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76351"/>
            <a:ext cx="2287270" cy="931544"/>
          </a:xfrm>
          <a:prstGeom prst="rect">
            <a:avLst/>
          </a:prstGeom>
        </p:spPr>
        <p:txBody>
          <a:bodyPr vert="horz" wrap="square" lIns="0" tIns="12065" rIns="0" bIns="0" rtlCol="0">
            <a:spAutoFit/>
          </a:bodyPr>
          <a:lstStyle/>
          <a:p>
            <a:pPr marL="12700" marR="5080">
              <a:lnSpc>
                <a:spcPct val="148600"/>
              </a:lnSpc>
              <a:spcBef>
                <a:spcPts val="95"/>
              </a:spcBef>
            </a:pPr>
            <a:r>
              <a:rPr dirty="0"/>
              <a:t>Definition</a:t>
            </a:r>
            <a:r>
              <a:rPr spc="-50" dirty="0"/>
              <a:t> </a:t>
            </a:r>
            <a:r>
              <a:rPr dirty="0"/>
              <a:t>of</a:t>
            </a:r>
            <a:r>
              <a:rPr spc="-35" dirty="0"/>
              <a:t> </a:t>
            </a:r>
            <a:r>
              <a:rPr dirty="0"/>
              <a:t>Big</a:t>
            </a:r>
            <a:r>
              <a:rPr spc="-35" dirty="0"/>
              <a:t> </a:t>
            </a:r>
            <a:r>
              <a:rPr spc="-20" dirty="0"/>
              <a:t>Data </a:t>
            </a:r>
            <a:r>
              <a:rPr spc="-10" dirty="0"/>
              <a:t>Definition</a:t>
            </a:r>
          </a:p>
        </p:txBody>
      </p:sp>
      <p:sp>
        <p:nvSpPr>
          <p:cNvPr id="3" name="object 3"/>
          <p:cNvSpPr txBox="1"/>
          <p:nvPr/>
        </p:nvSpPr>
        <p:spPr>
          <a:xfrm>
            <a:off x="901700" y="975106"/>
            <a:ext cx="7419340" cy="879475"/>
          </a:xfrm>
          <a:prstGeom prst="rect">
            <a:avLst/>
          </a:prstGeom>
        </p:spPr>
        <p:txBody>
          <a:bodyPr vert="horz" wrap="square" lIns="0" tIns="47625" rIns="0" bIns="0" rtlCol="0">
            <a:spAutoFit/>
          </a:bodyPr>
          <a:lstStyle/>
          <a:p>
            <a:pPr marL="12700" marR="5080" algn="just">
              <a:lnSpc>
                <a:spcPts val="2160"/>
              </a:lnSpc>
              <a:spcBef>
                <a:spcPts val="375"/>
              </a:spcBef>
            </a:pPr>
            <a:r>
              <a:rPr sz="2000" b="1" dirty="0">
                <a:solidFill>
                  <a:srgbClr val="404040"/>
                </a:solidFill>
                <a:latin typeface="Calibri"/>
                <a:cs typeface="Calibri"/>
              </a:rPr>
              <a:t>Big</a:t>
            </a:r>
            <a:r>
              <a:rPr sz="2000" b="1" spc="-55" dirty="0">
                <a:solidFill>
                  <a:srgbClr val="404040"/>
                </a:solidFill>
                <a:latin typeface="Calibri"/>
                <a:cs typeface="Calibri"/>
              </a:rPr>
              <a:t> </a:t>
            </a:r>
            <a:r>
              <a:rPr sz="2000" b="1" dirty="0">
                <a:solidFill>
                  <a:srgbClr val="404040"/>
                </a:solidFill>
                <a:latin typeface="Calibri"/>
                <a:cs typeface="Calibri"/>
              </a:rPr>
              <a:t>Data</a:t>
            </a:r>
            <a:r>
              <a:rPr sz="2000" b="1" spc="-55" dirty="0">
                <a:solidFill>
                  <a:srgbClr val="404040"/>
                </a:solidFill>
                <a:latin typeface="Calibri"/>
                <a:cs typeface="Calibri"/>
              </a:rPr>
              <a:t> </a:t>
            </a:r>
            <a:r>
              <a:rPr sz="2000" spc="-20" dirty="0">
                <a:solidFill>
                  <a:srgbClr val="404040"/>
                </a:solidFill>
                <a:latin typeface="Calibri"/>
                <a:cs typeface="Calibri"/>
              </a:rPr>
              <a:t>refers</a:t>
            </a:r>
            <a:r>
              <a:rPr sz="2000" spc="-40" dirty="0">
                <a:solidFill>
                  <a:srgbClr val="404040"/>
                </a:solidFill>
                <a:latin typeface="Calibri"/>
                <a:cs typeface="Calibri"/>
              </a:rPr>
              <a:t> </a:t>
            </a:r>
            <a:r>
              <a:rPr sz="2000" dirty="0">
                <a:solidFill>
                  <a:srgbClr val="404040"/>
                </a:solidFill>
                <a:latin typeface="Calibri"/>
                <a:cs typeface="Calibri"/>
              </a:rPr>
              <a:t>to</a:t>
            </a:r>
            <a:r>
              <a:rPr sz="2000" spc="-45" dirty="0">
                <a:solidFill>
                  <a:srgbClr val="404040"/>
                </a:solidFill>
                <a:latin typeface="Calibri"/>
                <a:cs typeface="Calibri"/>
              </a:rPr>
              <a:t> </a:t>
            </a:r>
            <a:r>
              <a:rPr sz="2000" spc="-10" dirty="0">
                <a:solidFill>
                  <a:srgbClr val="404040"/>
                </a:solidFill>
                <a:latin typeface="Calibri"/>
                <a:cs typeface="Calibri"/>
              </a:rPr>
              <a:t>datasets</a:t>
            </a:r>
            <a:r>
              <a:rPr sz="2000" spc="-25" dirty="0">
                <a:solidFill>
                  <a:srgbClr val="404040"/>
                </a:solidFill>
                <a:latin typeface="Calibri"/>
                <a:cs typeface="Calibri"/>
              </a:rPr>
              <a:t> </a:t>
            </a:r>
            <a:r>
              <a:rPr sz="2000" dirty="0">
                <a:solidFill>
                  <a:srgbClr val="404040"/>
                </a:solidFill>
                <a:latin typeface="Calibri"/>
                <a:cs typeface="Calibri"/>
              </a:rPr>
              <a:t>that</a:t>
            </a:r>
            <a:r>
              <a:rPr sz="2000" spc="-50" dirty="0">
                <a:solidFill>
                  <a:srgbClr val="404040"/>
                </a:solidFill>
                <a:latin typeface="Calibri"/>
                <a:cs typeface="Calibri"/>
              </a:rPr>
              <a:t> </a:t>
            </a:r>
            <a:r>
              <a:rPr sz="2000" dirty="0">
                <a:solidFill>
                  <a:srgbClr val="404040"/>
                </a:solidFill>
                <a:latin typeface="Calibri"/>
                <a:cs typeface="Calibri"/>
              </a:rPr>
              <a:t>are</a:t>
            </a:r>
            <a:r>
              <a:rPr sz="2000" spc="-35" dirty="0">
                <a:solidFill>
                  <a:srgbClr val="404040"/>
                </a:solidFill>
                <a:latin typeface="Calibri"/>
                <a:cs typeface="Calibri"/>
              </a:rPr>
              <a:t> </a:t>
            </a:r>
            <a:r>
              <a:rPr sz="2000" b="1" dirty="0">
                <a:solidFill>
                  <a:srgbClr val="404040"/>
                </a:solidFill>
                <a:latin typeface="Calibri"/>
                <a:cs typeface="Calibri"/>
              </a:rPr>
              <a:t>too</a:t>
            </a:r>
            <a:r>
              <a:rPr sz="2000" b="1" spc="-45" dirty="0">
                <a:solidFill>
                  <a:srgbClr val="404040"/>
                </a:solidFill>
                <a:latin typeface="Calibri"/>
                <a:cs typeface="Calibri"/>
              </a:rPr>
              <a:t> </a:t>
            </a:r>
            <a:r>
              <a:rPr sz="2000" b="1" dirty="0">
                <a:solidFill>
                  <a:srgbClr val="404040"/>
                </a:solidFill>
                <a:latin typeface="Calibri"/>
                <a:cs typeface="Calibri"/>
              </a:rPr>
              <a:t>large,</a:t>
            </a:r>
            <a:r>
              <a:rPr sz="2000" b="1" spc="-45" dirty="0">
                <a:solidFill>
                  <a:srgbClr val="404040"/>
                </a:solidFill>
                <a:latin typeface="Calibri"/>
                <a:cs typeface="Calibri"/>
              </a:rPr>
              <a:t> </a:t>
            </a:r>
            <a:r>
              <a:rPr sz="2000" b="1" dirty="0">
                <a:solidFill>
                  <a:srgbClr val="404040"/>
                </a:solidFill>
                <a:latin typeface="Calibri"/>
                <a:cs typeface="Calibri"/>
              </a:rPr>
              <a:t>too</a:t>
            </a:r>
            <a:r>
              <a:rPr sz="2000" b="1" spc="-65" dirty="0">
                <a:solidFill>
                  <a:srgbClr val="404040"/>
                </a:solidFill>
                <a:latin typeface="Calibri"/>
                <a:cs typeface="Calibri"/>
              </a:rPr>
              <a:t> </a:t>
            </a:r>
            <a:r>
              <a:rPr sz="2000" b="1" dirty="0">
                <a:solidFill>
                  <a:srgbClr val="404040"/>
                </a:solidFill>
                <a:latin typeface="Calibri"/>
                <a:cs typeface="Calibri"/>
              </a:rPr>
              <a:t>fast,</a:t>
            </a:r>
            <a:r>
              <a:rPr sz="2000" b="1" spc="-55" dirty="0">
                <a:solidFill>
                  <a:srgbClr val="404040"/>
                </a:solidFill>
                <a:latin typeface="Calibri"/>
                <a:cs typeface="Calibri"/>
              </a:rPr>
              <a:t> </a:t>
            </a:r>
            <a:r>
              <a:rPr sz="2000" b="1" dirty="0">
                <a:solidFill>
                  <a:srgbClr val="404040"/>
                </a:solidFill>
                <a:latin typeface="Calibri"/>
                <a:cs typeface="Calibri"/>
              </a:rPr>
              <a:t>or</a:t>
            </a:r>
            <a:r>
              <a:rPr sz="2000" b="1" spc="-50" dirty="0">
                <a:solidFill>
                  <a:srgbClr val="404040"/>
                </a:solidFill>
                <a:latin typeface="Calibri"/>
                <a:cs typeface="Calibri"/>
              </a:rPr>
              <a:t> </a:t>
            </a:r>
            <a:r>
              <a:rPr sz="2000" b="1" dirty="0">
                <a:solidFill>
                  <a:srgbClr val="404040"/>
                </a:solidFill>
                <a:latin typeface="Calibri"/>
                <a:cs typeface="Calibri"/>
              </a:rPr>
              <a:t>too</a:t>
            </a:r>
            <a:r>
              <a:rPr sz="2000" b="1" spc="-65" dirty="0">
                <a:solidFill>
                  <a:srgbClr val="404040"/>
                </a:solidFill>
                <a:latin typeface="Calibri"/>
                <a:cs typeface="Calibri"/>
              </a:rPr>
              <a:t> </a:t>
            </a:r>
            <a:r>
              <a:rPr sz="2000" b="1" dirty="0">
                <a:solidFill>
                  <a:srgbClr val="404040"/>
                </a:solidFill>
                <a:latin typeface="Calibri"/>
                <a:cs typeface="Calibri"/>
              </a:rPr>
              <a:t>diverse</a:t>
            </a:r>
            <a:r>
              <a:rPr sz="2000" b="1" spc="-25" dirty="0">
                <a:solidFill>
                  <a:srgbClr val="404040"/>
                </a:solidFill>
                <a:latin typeface="Calibri"/>
                <a:cs typeface="Calibri"/>
              </a:rPr>
              <a:t> </a:t>
            </a:r>
            <a:r>
              <a:rPr sz="2000" spc="-25" dirty="0">
                <a:solidFill>
                  <a:srgbClr val="404040"/>
                </a:solidFill>
                <a:latin typeface="Calibri"/>
                <a:cs typeface="Calibri"/>
              </a:rPr>
              <a:t>to </a:t>
            </a:r>
            <a:r>
              <a:rPr sz="2000" dirty="0">
                <a:solidFill>
                  <a:srgbClr val="404040"/>
                </a:solidFill>
                <a:latin typeface="Calibri"/>
                <a:cs typeface="Calibri"/>
              </a:rPr>
              <a:t>be</a:t>
            </a:r>
            <a:r>
              <a:rPr sz="2000" spc="-45" dirty="0">
                <a:solidFill>
                  <a:srgbClr val="404040"/>
                </a:solidFill>
                <a:latin typeface="Calibri"/>
                <a:cs typeface="Calibri"/>
              </a:rPr>
              <a:t> </a:t>
            </a:r>
            <a:r>
              <a:rPr sz="2000" spc="-10" dirty="0">
                <a:solidFill>
                  <a:srgbClr val="404040"/>
                </a:solidFill>
                <a:latin typeface="Calibri"/>
                <a:cs typeface="Calibri"/>
              </a:rPr>
              <a:t>efficiently</a:t>
            </a:r>
            <a:r>
              <a:rPr sz="2000" spc="-25" dirty="0">
                <a:solidFill>
                  <a:srgbClr val="404040"/>
                </a:solidFill>
                <a:latin typeface="Calibri"/>
                <a:cs typeface="Calibri"/>
              </a:rPr>
              <a:t> </a:t>
            </a:r>
            <a:r>
              <a:rPr sz="2000" spc="-10" dirty="0">
                <a:solidFill>
                  <a:srgbClr val="404040"/>
                </a:solidFill>
                <a:latin typeface="Calibri"/>
                <a:cs typeface="Calibri"/>
              </a:rPr>
              <a:t>captured,</a:t>
            </a:r>
            <a:r>
              <a:rPr sz="2000" spc="-50" dirty="0">
                <a:solidFill>
                  <a:srgbClr val="404040"/>
                </a:solidFill>
                <a:latin typeface="Calibri"/>
                <a:cs typeface="Calibri"/>
              </a:rPr>
              <a:t> </a:t>
            </a:r>
            <a:r>
              <a:rPr sz="2000" dirty="0">
                <a:solidFill>
                  <a:srgbClr val="404040"/>
                </a:solidFill>
                <a:latin typeface="Calibri"/>
                <a:cs typeface="Calibri"/>
              </a:rPr>
              <a:t>stored,</a:t>
            </a:r>
            <a:r>
              <a:rPr sz="2000" spc="-30" dirty="0">
                <a:solidFill>
                  <a:srgbClr val="404040"/>
                </a:solidFill>
                <a:latin typeface="Calibri"/>
                <a:cs typeface="Calibri"/>
              </a:rPr>
              <a:t> </a:t>
            </a:r>
            <a:r>
              <a:rPr sz="2000" dirty="0">
                <a:solidFill>
                  <a:srgbClr val="404040"/>
                </a:solidFill>
                <a:latin typeface="Calibri"/>
                <a:cs typeface="Calibri"/>
              </a:rPr>
              <a:t>managed,</a:t>
            </a:r>
            <a:r>
              <a:rPr sz="2000" spc="-50" dirty="0">
                <a:solidFill>
                  <a:srgbClr val="404040"/>
                </a:solidFill>
                <a:latin typeface="Calibri"/>
                <a:cs typeface="Calibri"/>
              </a:rPr>
              <a:t> </a:t>
            </a:r>
            <a:r>
              <a:rPr sz="2000" dirty="0">
                <a:solidFill>
                  <a:srgbClr val="404040"/>
                </a:solidFill>
                <a:latin typeface="Calibri"/>
                <a:cs typeface="Calibri"/>
              </a:rPr>
              <a:t>and</a:t>
            </a:r>
            <a:r>
              <a:rPr sz="2000" spc="-40" dirty="0">
                <a:solidFill>
                  <a:srgbClr val="404040"/>
                </a:solidFill>
                <a:latin typeface="Calibri"/>
                <a:cs typeface="Calibri"/>
              </a:rPr>
              <a:t> </a:t>
            </a:r>
            <a:r>
              <a:rPr sz="2000" dirty="0">
                <a:solidFill>
                  <a:srgbClr val="404040"/>
                </a:solidFill>
                <a:latin typeface="Calibri"/>
                <a:cs typeface="Calibri"/>
              </a:rPr>
              <a:t>analyzed</a:t>
            </a:r>
            <a:r>
              <a:rPr sz="2000" spc="-55" dirty="0">
                <a:solidFill>
                  <a:srgbClr val="404040"/>
                </a:solidFill>
                <a:latin typeface="Calibri"/>
                <a:cs typeface="Calibri"/>
              </a:rPr>
              <a:t> </a:t>
            </a:r>
            <a:r>
              <a:rPr sz="2000" dirty="0">
                <a:solidFill>
                  <a:srgbClr val="404040"/>
                </a:solidFill>
                <a:latin typeface="Calibri"/>
                <a:cs typeface="Calibri"/>
              </a:rPr>
              <a:t>using</a:t>
            </a:r>
            <a:r>
              <a:rPr sz="2000" spc="-40" dirty="0">
                <a:solidFill>
                  <a:srgbClr val="404040"/>
                </a:solidFill>
                <a:latin typeface="Calibri"/>
                <a:cs typeface="Calibri"/>
              </a:rPr>
              <a:t> </a:t>
            </a:r>
            <a:r>
              <a:rPr sz="2000" spc="-10" dirty="0">
                <a:solidFill>
                  <a:srgbClr val="404040"/>
                </a:solidFill>
                <a:latin typeface="Calibri"/>
                <a:cs typeface="Calibri"/>
              </a:rPr>
              <a:t>traditional </a:t>
            </a:r>
            <a:r>
              <a:rPr sz="2000" dirty="0">
                <a:solidFill>
                  <a:srgbClr val="404040"/>
                </a:solidFill>
                <a:latin typeface="Calibri"/>
                <a:cs typeface="Calibri"/>
              </a:rPr>
              <a:t>database</a:t>
            </a:r>
            <a:r>
              <a:rPr sz="2000" spc="-75" dirty="0">
                <a:solidFill>
                  <a:srgbClr val="404040"/>
                </a:solidFill>
                <a:latin typeface="Calibri"/>
                <a:cs typeface="Calibri"/>
              </a:rPr>
              <a:t> </a:t>
            </a:r>
            <a:r>
              <a:rPr sz="2000" dirty="0">
                <a:solidFill>
                  <a:srgbClr val="404040"/>
                </a:solidFill>
                <a:latin typeface="Calibri"/>
                <a:cs typeface="Calibri"/>
              </a:rPr>
              <a:t>management</a:t>
            </a:r>
            <a:r>
              <a:rPr sz="2000" spc="-85" dirty="0">
                <a:solidFill>
                  <a:srgbClr val="404040"/>
                </a:solidFill>
                <a:latin typeface="Calibri"/>
                <a:cs typeface="Calibri"/>
              </a:rPr>
              <a:t> </a:t>
            </a:r>
            <a:r>
              <a:rPr sz="2000" spc="-10" dirty="0">
                <a:solidFill>
                  <a:srgbClr val="404040"/>
                </a:solidFill>
                <a:latin typeface="Calibri"/>
                <a:cs typeface="Calibri"/>
              </a:rPr>
              <a:t>systems.</a:t>
            </a:r>
            <a:endParaRPr sz="2000">
              <a:latin typeface="Calibri"/>
              <a:cs typeface="Calibri"/>
            </a:endParaRPr>
          </a:p>
        </p:txBody>
      </p:sp>
      <p:sp>
        <p:nvSpPr>
          <p:cNvPr id="4" name="object 4"/>
          <p:cNvSpPr txBox="1"/>
          <p:nvPr/>
        </p:nvSpPr>
        <p:spPr>
          <a:xfrm>
            <a:off x="810259" y="1828354"/>
            <a:ext cx="5455285" cy="2288540"/>
          </a:xfrm>
          <a:prstGeom prst="rect">
            <a:avLst/>
          </a:prstGeom>
        </p:spPr>
        <p:txBody>
          <a:bodyPr vert="horz" wrap="square" lIns="0" tIns="161290" rIns="0" bIns="0" rtlCol="0">
            <a:spAutoFit/>
          </a:bodyPr>
          <a:lstStyle/>
          <a:p>
            <a:pPr marL="104139">
              <a:lnSpc>
                <a:spcPct val="100000"/>
              </a:lnSpc>
              <a:spcBef>
                <a:spcPts val="1270"/>
              </a:spcBef>
            </a:pPr>
            <a:r>
              <a:rPr sz="2000" b="1" dirty="0">
                <a:solidFill>
                  <a:srgbClr val="404040"/>
                </a:solidFill>
                <a:latin typeface="Calibri"/>
                <a:cs typeface="Calibri"/>
              </a:rPr>
              <a:t>Key</a:t>
            </a:r>
            <a:r>
              <a:rPr sz="2000" b="1" spc="-80" dirty="0">
                <a:solidFill>
                  <a:srgbClr val="404040"/>
                </a:solidFill>
                <a:latin typeface="Calibri"/>
                <a:cs typeface="Calibri"/>
              </a:rPr>
              <a:t> </a:t>
            </a:r>
            <a:r>
              <a:rPr sz="2000" b="1" spc="-10" dirty="0">
                <a:solidFill>
                  <a:srgbClr val="404040"/>
                </a:solidFill>
                <a:latin typeface="Calibri"/>
                <a:cs typeface="Calibri"/>
              </a:rPr>
              <a:t>Features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Massive</a:t>
            </a:r>
            <a:r>
              <a:rPr sz="2000" spc="-70" dirty="0">
                <a:solidFill>
                  <a:srgbClr val="404040"/>
                </a:solidFill>
                <a:latin typeface="Calibri"/>
                <a:cs typeface="Calibri"/>
              </a:rPr>
              <a:t> </a:t>
            </a:r>
            <a:r>
              <a:rPr sz="2000" spc="-20" dirty="0">
                <a:solidFill>
                  <a:srgbClr val="404040"/>
                </a:solidFill>
                <a:latin typeface="Calibri"/>
                <a:cs typeface="Calibri"/>
              </a:rPr>
              <a:t>size</a:t>
            </a:r>
            <a:endParaRPr sz="2000">
              <a:latin typeface="Calibri"/>
              <a:cs typeface="Calibri"/>
            </a:endParaRPr>
          </a:p>
          <a:p>
            <a:pPr marL="103505" indent="-101600">
              <a:lnSpc>
                <a:spcPct val="100000"/>
              </a:lnSpc>
              <a:spcBef>
                <a:spcPts val="1150"/>
              </a:spcBef>
              <a:buClr>
                <a:srgbClr val="E38312"/>
              </a:buClr>
              <a:buSzPct val="77500"/>
              <a:buFont typeface="Tahoma"/>
              <a:buChar char="•"/>
              <a:tabLst>
                <a:tab pos="103505" algn="l"/>
              </a:tabLst>
            </a:pPr>
            <a:r>
              <a:rPr sz="2000" dirty="0">
                <a:solidFill>
                  <a:srgbClr val="404040"/>
                </a:solidFill>
                <a:latin typeface="Calibri"/>
                <a:cs typeface="Calibri"/>
              </a:rPr>
              <a:t>High</a:t>
            </a:r>
            <a:r>
              <a:rPr sz="2000" spc="-55" dirty="0">
                <a:solidFill>
                  <a:srgbClr val="404040"/>
                </a:solidFill>
                <a:latin typeface="Calibri"/>
                <a:cs typeface="Calibri"/>
              </a:rPr>
              <a:t> </a:t>
            </a:r>
            <a:r>
              <a:rPr sz="2000" dirty="0">
                <a:solidFill>
                  <a:srgbClr val="404040"/>
                </a:solidFill>
                <a:latin typeface="Calibri"/>
                <a:cs typeface="Calibri"/>
              </a:rPr>
              <a:t>generation</a:t>
            </a:r>
            <a:r>
              <a:rPr sz="2000" spc="-55" dirty="0">
                <a:solidFill>
                  <a:srgbClr val="404040"/>
                </a:solidFill>
                <a:latin typeface="Calibri"/>
                <a:cs typeface="Calibri"/>
              </a:rPr>
              <a:t> </a:t>
            </a:r>
            <a:r>
              <a:rPr sz="2000" spc="-10" dirty="0">
                <a:solidFill>
                  <a:srgbClr val="404040"/>
                </a:solidFill>
                <a:latin typeface="Calibri"/>
                <a:cs typeface="Calibri"/>
              </a:rPr>
              <a:t>speed</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Multiple</a:t>
            </a:r>
            <a:r>
              <a:rPr sz="2000" spc="-30" dirty="0">
                <a:solidFill>
                  <a:srgbClr val="404040"/>
                </a:solidFill>
                <a:latin typeface="Calibri"/>
                <a:cs typeface="Calibri"/>
              </a:rPr>
              <a:t> </a:t>
            </a:r>
            <a:r>
              <a:rPr sz="2000" spc="-10" dirty="0">
                <a:solidFill>
                  <a:srgbClr val="404040"/>
                </a:solidFill>
                <a:latin typeface="Calibri"/>
                <a:cs typeface="Calibri"/>
              </a:rPr>
              <a:t>formats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Requires</a:t>
            </a:r>
            <a:r>
              <a:rPr sz="2000" spc="-50" dirty="0">
                <a:solidFill>
                  <a:srgbClr val="404040"/>
                </a:solidFill>
                <a:latin typeface="Calibri"/>
                <a:cs typeface="Calibri"/>
              </a:rPr>
              <a:t> </a:t>
            </a:r>
            <a:r>
              <a:rPr sz="2000" spc="-10" dirty="0">
                <a:solidFill>
                  <a:srgbClr val="404040"/>
                </a:solidFill>
                <a:latin typeface="Calibri"/>
                <a:cs typeface="Calibri"/>
              </a:rPr>
              <a:t>distributed</a:t>
            </a:r>
            <a:r>
              <a:rPr sz="2000" spc="-40" dirty="0">
                <a:solidFill>
                  <a:srgbClr val="404040"/>
                </a:solidFill>
                <a:latin typeface="Calibri"/>
                <a:cs typeface="Calibri"/>
              </a:rPr>
              <a:t> </a:t>
            </a:r>
            <a:r>
              <a:rPr sz="2000" spc="-10" dirty="0">
                <a:solidFill>
                  <a:srgbClr val="404040"/>
                </a:solidFill>
                <a:latin typeface="Calibri"/>
                <a:cs typeface="Calibri"/>
              </a:rPr>
              <a:t>storage</a:t>
            </a:r>
            <a:r>
              <a:rPr sz="2000" spc="-60" dirty="0">
                <a:solidFill>
                  <a:srgbClr val="404040"/>
                </a:solidFill>
                <a:latin typeface="Calibri"/>
                <a:cs typeface="Calibri"/>
              </a:rPr>
              <a:t> </a:t>
            </a:r>
            <a:r>
              <a:rPr sz="2000" dirty="0">
                <a:solidFill>
                  <a:srgbClr val="404040"/>
                </a:solidFill>
                <a:latin typeface="Calibri"/>
                <a:cs typeface="Calibri"/>
              </a:rPr>
              <a:t>and</a:t>
            </a:r>
            <a:r>
              <a:rPr sz="2000" spc="-55" dirty="0">
                <a:solidFill>
                  <a:srgbClr val="404040"/>
                </a:solidFill>
                <a:latin typeface="Calibri"/>
                <a:cs typeface="Calibri"/>
              </a:rPr>
              <a:t> </a:t>
            </a:r>
            <a:r>
              <a:rPr sz="2000" dirty="0">
                <a:solidFill>
                  <a:srgbClr val="404040"/>
                </a:solidFill>
                <a:latin typeface="Calibri"/>
                <a:cs typeface="Calibri"/>
              </a:rPr>
              <a:t>parallel</a:t>
            </a:r>
            <a:r>
              <a:rPr sz="2000" spc="-45" dirty="0">
                <a:solidFill>
                  <a:srgbClr val="404040"/>
                </a:solidFill>
                <a:latin typeface="Calibri"/>
                <a:cs typeface="Calibri"/>
              </a:rPr>
              <a:t> </a:t>
            </a:r>
            <a:r>
              <a:rPr sz="2000" spc="-10" dirty="0">
                <a:solidFill>
                  <a:srgbClr val="404040"/>
                </a:solidFill>
                <a:latin typeface="Calibri"/>
                <a:cs typeface="Calibri"/>
              </a:rPr>
              <a:t>processing</a:t>
            </a:r>
            <a:endParaRPr sz="2000">
              <a:latin typeface="Calibri"/>
              <a:cs typeface="Calibri"/>
            </a:endParaRPr>
          </a:p>
        </p:txBody>
      </p:sp>
      <p:sp>
        <p:nvSpPr>
          <p:cNvPr id="5" name="object 5"/>
          <p:cNvSpPr txBox="1"/>
          <p:nvPr/>
        </p:nvSpPr>
        <p:spPr>
          <a:xfrm>
            <a:off x="6498335" y="3645395"/>
            <a:ext cx="2402205" cy="2585720"/>
          </a:xfrm>
          <a:prstGeom prst="rect">
            <a:avLst/>
          </a:prstGeom>
          <a:solidFill>
            <a:srgbClr val="DFE3DB"/>
          </a:solidFill>
        </p:spPr>
        <p:txBody>
          <a:bodyPr vert="horz" wrap="square" lIns="0" tIns="31115" rIns="0" bIns="0" rtlCol="0">
            <a:spAutoFit/>
          </a:bodyPr>
          <a:lstStyle/>
          <a:p>
            <a:pPr marL="92075">
              <a:lnSpc>
                <a:spcPct val="100000"/>
              </a:lnSpc>
              <a:spcBef>
                <a:spcPts val="245"/>
              </a:spcBef>
            </a:pPr>
            <a:r>
              <a:rPr sz="1800" b="1" spc="-10" dirty="0">
                <a:latin typeface="Calibri"/>
                <a:cs typeface="Calibri"/>
              </a:rPr>
              <a:t>Examples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Facebook</a:t>
            </a:r>
            <a:r>
              <a:rPr sz="1800" spc="-105" dirty="0">
                <a:latin typeface="Calibri"/>
                <a:cs typeface="Calibri"/>
              </a:rPr>
              <a:t> </a:t>
            </a:r>
            <a:r>
              <a:rPr sz="1800" spc="-10" dirty="0">
                <a:latin typeface="Calibri"/>
                <a:cs typeface="Calibri"/>
              </a:rPr>
              <a:t>posts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Google</a:t>
            </a:r>
            <a:r>
              <a:rPr sz="1800" spc="-45" dirty="0">
                <a:latin typeface="Calibri"/>
                <a:cs typeface="Calibri"/>
              </a:rPr>
              <a:t> </a:t>
            </a:r>
            <a:r>
              <a:rPr sz="1800" dirty="0">
                <a:latin typeface="Calibri"/>
                <a:cs typeface="Calibri"/>
              </a:rPr>
              <a:t>search</a:t>
            </a:r>
            <a:r>
              <a:rPr sz="1800" spc="-65" dirty="0">
                <a:latin typeface="Calibri"/>
                <a:cs typeface="Calibri"/>
              </a:rPr>
              <a:t> </a:t>
            </a:r>
            <a:r>
              <a:rPr sz="1800" spc="-20" dirty="0">
                <a:latin typeface="Calibri"/>
                <a:cs typeface="Calibri"/>
              </a:rPr>
              <a:t>logs</a:t>
            </a:r>
            <a:endParaRPr sz="1800">
              <a:latin typeface="Calibri"/>
              <a:cs typeface="Calibri"/>
            </a:endParaRPr>
          </a:p>
          <a:p>
            <a:pPr marL="170815" indent="-111125">
              <a:lnSpc>
                <a:spcPct val="100000"/>
              </a:lnSpc>
              <a:buSzPct val="94444"/>
              <a:buFont typeface="Tahoma"/>
              <a:buChar char="•"/>
              <a:tabLst>
                <a:tab pos="170815" algn="l"/>
              </a:tabLst>
            </a:pPr>
            <a:r>
              <a:rPr sz="1800" spc="-35" dirty="0">
                <a:latin typeface="Calibri"/>
                <a:cs typeface="Calibri"/>
              </a:rPr>
              <a:t>YouTube</a:t>
            </a:r>
            <a:r>
              <a:rPr sz="1800" spc="-65" dirty="0">
                <a:latin typeface="Calibri"/>
                <a:cs typeface="Calibri"/>
              </a:rPr>
              <a:t> </a:t>
            </a:r>
            <a:r>
              <a:rPr sz="1800" spc="-10" dirty="0">
                <a:latin typeface="Calibri"/>
                <a:cs typeface="Calibri"/>
              </a:rPr>
              <a:t>videos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Banking</a:t>
            </a:r>
            <a:r>
              <a:rPr sz="1800" spc="-15" dirty="0">
                <a:latin typeface="Calibri"/>
                <a:cs typeface="Calibri"/>
              </a:rPr>
              <a:t> </a:t>
            </a:r>
            <a:r>
              <a:rPr sz="1800" spc="-10" dirty="0">
                <a:latin typeface="Calibri"/>
                <a:cs typeface="Calibri"/>
              </a:rPr>
              <a:t>transactions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Healthcare</a:t>
            </a:r>
            <a:r>
              <a:rPr sz="1800" spc="-85" dirty="0">
                <a:latin typeface="Calibri"/>
                <a:cs typeface="Calibri"/>
              </a:rPr>
              <a:t> </a:t>
            </a:r>
            <a:r>
              <a:rPr sz="1800" spc="-10" dirty="0">
                <a:latin typeface="Calibri"/>
                <a:cs typeface="Calibri"/>
              </a:rPr>
              <a:t>records</a:t>
            </a:r>
            <a:endParaRPr sz="1800">
              <a:latin typeface="Calibri"/>
              <a:cs typeface="Calibri"/>
            </a:endParaRPr>
          </a:p>
          <a:p>
            <a:pPr marL="170815" indent="-111125">
              <a:lnSpc>
                <a:spcPct val="100000"/>
              </a:lnSpc>
              <a:spcBef>
                <a:spcPts val="5"/>
              </a:spcBef>
              <a:buSzPct val="94444"/>
              <a:buFont typeface="Tahoma"/>
              <a:buChar char="•"/>
              <a:tabLst>
                <a:tab pos="170815" algn="l"/>
              </a:tabLst>
            </a:pPr>
            <a:r>
              <a:rPr sz="1800" dirty="0">
                <a:latin typeface="Calibri"/>
                <a:cs typeface="Calibri"/>
              </a:rPr>
              <a:t>Satellite</a:t>
            </a:r>
            <a:r>
              <a:rPr sz="1800" spc="-100" dirty="0">
                <a:latin typeface="Calibri"/>
                <a:cs typeface="Calibri"/>
              </a:rPr>
              <a:t> </a:t>
            </a:r>
            <a:r>
              <a:rPr sz="1800" spc="-10" dirty="0">
                <a:latin typeface="Calibri"/>
                <a:cs typeface="Calibri"/>
              </a:rPr>
              <a:t>imagery</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Smart</a:t>
            </a:r>
            <a:r>
              <a:rPr sz="1800" spc="-30" dirty="0">
                <a:latin typeface="Calibri"/>
                <a:cs typeface="Calibri"/>
              </a:rPr>
              <a:t> </a:t>
            </a:r>
            <a:r>
              <a:rPr sz="1800" dirty="0">
                <a:latin typeface="Calibri"/>
                <a:cs typeface="Calibri"/>
              </a:rPr>
              <a:t>city</a:t>
            </a:r>
            <a:r>
              <a:rPr sz="1800" spc="-10" dirty="0">
                <a:latin typeface="Calibri"/>
                <a:cs typeface="Calibri"/>
              </a:rPr>
              <a:t> </a:t>
            </a:r>
            <a:r>
              <a:rPr sz="1800" dirty="0">
                <a:latin typeface="Calibri"/>
                <a:cs typeface="Calibri"/>
              </a:rPr>
              <a:t>sensor</a:t>
            </a:r>
            <a:r>
              <a:rPr sz="1800" spc="-35" dirty="0">
                <a:latin typeface="Calibri"/>
                <a:cs typeface="Calibri"/>
              </a:rPr>
              <a:t> </a:t>
            </a:r>
            <a:r>
              <a:rPr sz="1800" spc="-20" dirty="0">
                <a:latin typeface="Calibri"/>
                <a:cs typeface="Calibri"/>
              </a:rPr>
              <a:t>data</a:t>
            </a:r>
            <a:endParaRPr sz="18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7796" y="204927"/>
            <a:ext cx="4209415" cy="331470"/>
          </a:xfrm>
          <a:prstGeom prst="rect">
            <a:avLst/>
          </a:prstGeom>
        </p:spPr>
        <p:txBody>
          <a:bodyPr vert="horz" wrap="square" lIns="0" tIns="13335" rIns="0" bIns="0" rtlCol="0">
            <a:spAutoFit/>
          </a:bodyPr>
          <a:lstStyle/>
          <a:p>
            <a:pPr marL="12700">
              <a:lnSpc>
                <a:spcPct val="100000"/>
              </a:lnSpc>
              <a:spcBef>
                <a:spcPts val="105"/>
              </a:spcBef>
            </a:pPr>
            <a:r>
              <a:rPr dirty="0"/>
              <a:t>The</a:t>
            </a:r>
            <a:r>
              <a:rPr spc="-25" dirty="0"/>
              <a:t> </a:t>
            </a:r>
            <a:r>
              <a:rPr dirty="0"/>
              <a:t>Three</a:t>
            </a:r>
            <a:r>
              <a:rPr spc="-20" dirty="0"/>
              <a:t> </a:t>
            </a:r>
            <a:r>
              <a:rPr dirty="0"/>
              <a:t>Defining</a:t>
            </a:r>
            <a:r>
              <a:rPr spc="-15" dirty="0"/>
              <a:t> </a:t>
            </a:r>
            <a:r>
              <a:rPr spc="-10" dirty="0"/>
              <a:t>Characteristics</a:t>
            </a:r>
            <a:r>
              <a:rPr spc="-30" dirty="0"/>
              <a:t> </a:t>
            </a:r>
            <a:r>
              <a:rPr spc="-10" dirty="0"/>
              <a:t>(3Vs)</a:t>
            </a:r>
          </a:p>
        </p:txBody>
      </p:sp>
      <p:sp>
        <p:nvSpPr>
          <p:cNvPr id="3" name="object 3"/>
          <p:cNvSpPr txBox="1"/>
          <p:nvPr/>
        </p:nvSpPr>
        <p:spPr>
          <a:xfrm>
            <a:off x="907796" y="658113"/>
            <a:ext cx="3905250" cy="330835"/>
          </a:xfrm>
          <a:prstGeom prst="rect">
            <a:avLst/>
          </a:prstGeom>
        </p:spPr>
        <p:txBody>
          <a:bodyPr vert="horz" wrap="square" lIns="0" tIns="13335" rIns="0" bIns="0" rtlCol="0">
            <a:spAutoFit/>
          </a:bodyPr>
          <a:lstStyle/>
          <a:p>
            <a:pPr marL="12700">
              <a:lnSpc>
                <a:spcPct val="100000"/>
              </a:lnSpc>
              <a:spcBef>
                <a:spcPts val="105"/>
              </a:spcBef>
            </a:pPr>
            <a:r>
              <a:rPr sz="2000" dirty="0">
                <a:solidFill>
                  <a:srgbClr val="404040"/>
                </a:solidFill>
                <a:latin typeface="Calibri"/>
                <a:cs typeface="Calibri"/>
              </a:rPr>
              <a:t>Big</a:t>
            </a:r>
            <a:r>
              <a:rPr sz="2000" spc="-45" dirty="0">
                <a:solidFill>
                  <a:srgbClr val="404040"/>
                </a:solidFill>
                <a:latin typeface="Calibri"/>
                <a:cs typeface="Calibri"/>
              </a:rPr>
              <a:t> </a:t>
            </a:r>
            <a:r>
              <a:rPr sz="2000" dirty="0">
                <a:solidFill>
                  <a:srgbClr val="404040"/>
                </a:solidFill>
                <a:latin typeface="Calibri"/>
                <a:cs typeface="Calibri"/>
              </a:rPr>
              <a:t>Data</a:t>
            </a:r>
            <a:r>
              <a:rPr sz="2000" spc="-50" dirty="0">
                <a:solidFill>
                  <a:srgbClr val="404040"/>
                </a:solidFill>
                <a:latin typeface="Calibri"/>
                <a:cs typeface="Calibri"/>
              </a:rPr>
              <a:t> </a:t>
            </a:r>
            <a:r>
              <a:rPr sz="2000" dirty="0">
                <a:solidFill>
                  <a:srgbClr val="404040"/>
                </a:solidFill>
                <a:latin typeface="Calibri"/>
                <a:cs typeface="Calibri"/>
              </a:rPr>
              <a:t>is</a:t>
            </a:r>
            <a:r>
              <a:rPr sz="2000" spc="-35" dirty="0">
                <a:solidFill>
                  <a:srgbClr val="404040"/>
                </a:solidFill>
                <a:latin typeface="Calibri"/>
                <a:cs typeface="Calibri"/>
              </a:rPr>
              <a:t> </a:t>
            </a:r>
            <a:r>
              <a:rPr sz="2000" dirty="0">
                <a:solidFill>
                  <a:srgbClr val="404040"/>
                </a:solidFill>
                <a:latin typeface="Calibri"/>
                <a:cs typeface="Calibri"/>
              </a:rPr>
              <a:t>primarily</a:t>
            </a:r>
            <a:r>
              <a:rPr sz="2000" spc="-30" dirty="0">
                <a:solidFill>
                  <a:srgbClr val="404040"/>
                </a:solidFill>
                <a:latin typeface="Calibri"/>
                <a:cs typeface="Calibri"/>
              </a:rPr>
              <a:t> </a:t>
            </a:r>
            <a:r>
              <a:rPr sz="2000" spc="-10" dirty="0">
                <a:solidFill>
                  <a:srgbClr val="404040"/>
                </a:solidFill>
                <a:latin typeface="Calibri"/>
                <a:cs typeface="Calibri"/>
              </a:rPr>
              <a:t>characterized</a:t>
            </a:r>
            <a:r>
              <a:rPr sz="2000" spc="-40" dirty="0">
                <a:solidFill>
                  <a:srgbClr val="404040"/>
                </a:solidFill>
                <a:latin typeface="Calibri"/>
                <a:cs typeface="Calibri"/>
              </a:rPr>
              <a:t> </a:t>
            </a:r>
            <a:r>
              <a:rPr sz="2000" spc="-25" dirty="0">
                <a:solidFill>
                  <a:srgbClr val="404040"/>
                </a:solidFill>
                <a:latin typeface="Calibri"/>
                <a:cs typeface="Calibri"/>
              </a:rPr>
              <a:t>by:</a:t>
            </a:r>
            <a:endParaRPr sz="2000">
              <a:latin typeface="Calibri"/>
              <a:cs typeface="Calibri"/>
            </a:endParaRPr>
          </a:p>
        </p:txBody>
      </p:sp>
      <p:sp>
        <p:nvSpPr>
          <p:cNvPr id="4" name="object 4"/>
          <p:cNvSpPr/>
          <p:nvPr/>
        </p:nvSpPr>
        <p:spPr>
          <a:xfrm>
            <a:off x="2286000" y="2693289"/>
            <a:ext cx="3493135" cy="1477645"/>
          </a:xfrm>
          <a:custGeom>
            <a:avLst/>
            <a:gdLst/>
            <a:ahLst/>
            <a:cxnLst/>
            <a:rect l="l" t="t" r="r" b="b"/>
            <a:pathLst>
              <a:path w="3493135" h="1477645">
                <a:moveTo>
                  <a:pt x="3493008" y="0"/>
                </a:moveTo>
                <a:lnTo>
                  <a:pt x="0" y="0"/>
                </a:lnTo>
                <a:lnTo>
                  <a:pt x="0" y="1477391"/>
                </a:lnTo>
                <a:lnTo>
                  <a:pt x="3493008" y="1477391"/>
                </a:lnTo>
                <a:lnTo>
                  <a:pt x="3493008" y="0"/>
                </a:lnTo>
                <a:close/>
              </a:path>
            </a:pathLst>
          </a:custGeom>
          <a:solidFill>
            <a:srgbClr val="CCDDEA"/>
          </a:solidFill>
        </p:spPr>
        <p:txBody>
          <a:bodyPr wrap="square" lIns="0" tIns="0" rIns="0" bIns="0" rtlCol="0"/>
          <a:lstStyle/>
          <a:p>
            <a:endParaRPr/>
          </a:p>
        </p:txBody>
      </p:sp>
      <p:sp>
        <p:nvSpPr>
          <p:cNvPr id="5" name="object 5"/>
          <p:cNvSpPr txBox="1"/>
          <p:nvPr/>
        </p:nvSpPr>
        <p:spPr>
          <a:xfrm>
            <a:off x="2286000" y="2711272"/>
            <a:ext cx="3493135" cy="1398270"/>
          </a:xfrm>
          <a:prstGeom prst="rect">
            <a:avLst/>
          </a:prstGeom>
        </p:spPr>
        <p:txBody>
          <a:bodyPr vert="horz" wrap="square" lIns="0" tIns="12700" rIns="0" bIns="0" rtlCol="0">
            <a:spAutoFit/>
          </a:bodyPr>
          <a:lstStyle/>
          <a:p>
            <a:pPr marR="542290" algn="ctr">
              <a:lnSpc>
                <a:spcPct val="100000"/>
              </a:lnSpc>
              <a:spcBef>
                <a:spcPts val="100"/>
              </a:spcBef>
            </a:pPr>
            <a:r>
              <a:rPr sz="1800" dirty="0">
                <a:latin typeface="Calibri"/>
                <a:cs typeface="Calibri"/>
              </a:rPr>
              <a:t>Big</a:t>
            </a:r>
            <a:r>
              <a:rPr sz="1800" spc="-10" dirty="0">
                <a:latin typeface="Calibri"/>
                <a:cs typeface="Calibri"/>
              </a:rPr>
              <a:t> </a:t>
            </a:r>
            <a:r>
              <a:rPr sz="1800" spc="-20" dirty="0">
                <a:latin typeface="Calibri"/>
                <a:cs typeface="Calibri"/>
              </a:rPr>
              <a:t>Data</a:t>
            </a:r>
            <a:endParaRPr sz="1800">
              <a:latin typeface="Calibri"/>
              <a:cs typeface="Calibri"/>
            </a:endParaRPr>
          </a:p>
          <a:p>
            <a:pPr marR="671830" algn="ctr">
              <a:lnSpc>
                <a:spcPct val="100000"/>
              </a:lnSpc>
              <a:spcBef>
                <a:spcPts val="5"/>
              </a:spcBef>
            </a:pPr>
            <a:r>
              <a:rPr sz="1800" spc="-50" dirty="0">
                <a:latin typeface="Calibri"/>
                <a:cs typeface="Calibri"/>
              </a:rPr>
              <a:t>│</a:t>
            </a:r>
            <a:endParaRPr sz="1800">
              <a:latin typeface="Calibri"/>
              <a:cs typeface="Calibri"/>
            </a:endParaRPr>
          </a:p>
          <a:p>
            <a:pPr marR="428625" algn="ctr">
              <a:lnSpc>
                <a:spcPts val="2150"/>
              </a:lnSpc>
              <a:spcBef>
                <a:spcPts val="25"/>
              </a:spcBef>
            </a:pPr>
            <a:r>
              <a:rPr sz="1800" spc="-10" dirty="0">
                <a:latin typeface="Calibri"/>
                <a:cs typeface="Calibri"/>
              </a:rPr>
              <a:t>┌───────</a:t>
            </a:r>
            <a:r>
              <a:rPr sz="1800" spc="-10" dirty="0">
                <a:latin typeface="Tahoma"/>
                <a:cs typeface="Tahoma"/>
              </a:rPr>
              <a:t>┼</a:t>
            </a:r>
            <a:r>
              <a:rPr sz="1800" spc="-10" dirty="0">
                <a:latin typeface="Calibri"/>
                <a:cs typeface="Calibri"/>
              </a:rPr>
              <a:t>───────-</a:t>
            </a:r>
            <a:r>
              <a:rPr sz="1800" dirty="0">
                <a:latin typeface="Calibri"/>
                <a:cs typeface="Calibri"/>
              </a:rPr>
              <a:t>-</a:t>
            </a:r>
            <a:r>
              <a:rPr sz="1800" spc="-25" dirty="0">
                <a:latin typeface="Calibri"/>
                <a:cs typeface="Calibri"/>
              </a:rPr>
              <a:t>─┐</a:t>
            </a:r>
            <a:endParaRPr sz="1800">
              <a:latin typeface="Calibri"/>
              <a:cs typeface="Calibri"/>
            </a:endParaRPr>
          </a:p>
          <a:p>
            <a:pPr marR="447040" algn="ctr">
              <a:lnSpc>
                <a:spcPts val="2150"/>
              </a:lnSpc>
              <a:tabLst>
                <a:tab pos="950594" algn="l"/>
                <a:tab pos="2112645" algn="l"/>
              </a:tabLst>
            </a:pPr>
            <a:r>
              <a:rPr sz="1800" spc="-50" dirty="0">
                <a:latin typeface="Calibri"/>
                <a:cs typeface="Calibri"/>
              </a:rPr>
              <a:t>│</a:t>
            </a:r>
            <a:r>
              <a:rPr sz="1800" dirty="0">
                <a:latin typeface="Calibri"/>
                <a:cs typeface="Calibri"/>
              </a:rPr>
              <a:t>	</a:t>
            </a:r>
            <a:r>
              <a:rPr sz="1800" spc="-50" dirty="0">
                <a:latin typeface="Calibri"/>
                <a:cs typeface="Calibri"/>
              </a:rPr>
              <a:t>│</a:t>
            </a:r>
            <a:r>
              <a:rPr sz="1800" dirty="0">
                <a:latin typeface="Calibri"/>
                <a:cs typeface="Calibri"/>
              </a:rPr>
              <a:t>	</a:t>
            </a:r>
            <a:r>
              <a:rPr sz="1800" spc="-50" dirty="0">
                <a:latin typeface="Calibri"/>
                <a:cs typeface="Calibri"/>
              </a:rPr>
              <a:t>│</a:t>
            </a:r>
            <a:endParaRPr sz="1800">
              <a:latin typeface="Calibri"/>
              <a:cs typeface="Calibri"/>
            </a:endParaRPr>
          </a:p>
          <a:p>
            <a:pPr marR="471805" algn="ctr">
              <a:lnSpc>
                <a:spcPct val="100000"/>
              </a:lnSpc>
              <a:tabLst>
                <a:tab pos="920115" algn="l"/>
                <a:tab pos="1967230" algn="l"/>
              </a:tabLst>
            </a:pPr>
            <a:r>
              <a:rPr sz="1800" spc="-10" dirty="0">
                <a:latin typeface="Calibri"/>
                <a:cs typeface="Calibri"/>
              </a:rPr>
              <a:t>Volume</a:t>
            </a:r>
            <a:r>
              <a:rPr sz="1800" dirty="0">
                <a:latin typeface="Calibri"/>
                <a:cs typeface="Calibri"/>
              </a:rPr>
              <a:t>	</a:t>
            </a:r>
            <a:r>
              <a:rPr sz="1800" spc="-10" dirty="0">
                <a:latin typeface="Calibri"/>
                <a:cs typeface="Calibri"/>
              </a:rPr>
              <a:t>Velocity</a:t>
            </a:r>
            <a:r>
              <a:rPr sz="1800" dirty="0">
                <a:latin typeface="Calibri"/>
                <a:cs typeface="Calibri"/>
              </a:rPr>
              <a:t>	</a:t>
            </a:r>
            <a:r>
              <a:rPr sz="1800" spc="-10" dirty="0">
                <a:latin typeface="Calibri"/>
                <a:cs typeface="Calibri"/>
              </a:rPr>
              <a:t>Variety</a:t>
            </a:r>
            <a:endParaRPr sz="1800">
              <a:latin typeface="Calibri"/>
              <a:cs typeface="Calibri"/>
            </a:endParaRPr>
          </a:p>
        </p:txBody>
      </p:sp>
      <p:sp>
        <p:nvSpPr>
          <p:cNvPr id="6" name="object 6"/>
          <p:cNvSpPr/>
          <p:nvPr/>
        </p:nvSpPr>
        <p:spPr>
          <a:xfrm>
            <a:off x="1305178" y="4945760"/>
            <a:ext cx="5882005" cy="923925"/>
          </a:xfrm>
          <a:custGeom>
            <a:avLst/>
            <a:gdLst/>
            <a:ahLst/>
            <a:cxnLst/>
            <a:rect l="l" t="t" r="r" b="b"/>
            <a:pathLst>
              <a:path w="5882005" h="923925">
                <a:moveTo>
                  <a:pt x="5881751" y="0"/>
                </a:moveTo>
                <a:lnTo>
                  <a:pt x="0" y="0"/>
                </a:lnTo>
                <a:lnTo>
                  <a:pt x="0" y="923328"/>
                </a:lnTo>
                <a:lnTo>
                  <a:pt x="5881751" y="923328"/>
                </a:lnTo>
                <a:lnTo>
                  <a:pt x="5881751" y="0"/>
                </a:lnTo>
                <a:close/>
              </a:path>
            </a:pathLst>
          </a:custGeom>
          <a:solidFill>
            <a:srgbClr val="FFFFCC"/>
          </a:solidFill>
        </p:spPr>
        <p:txBody>
          <a:bodyPr wrap="square" lIns="0" tIns="0" rIns="0" bIns="0" rtlCol="0"/>
          <a:lstStyle/>
          <a:p>
            <a:endParaRPr/>
          </a:p>
        </p:txBody>
      </p:sp>
      <p:sp>
        <p:nvSpPr>
          <p:cNvPr id="7" name="object 7"/>
          <p:cNvSpPr txBox="1"/>
          <p:nvPr/>
        </p:nvSpPr>
        <p:spPr>
          <a:xfrm>
            <a:off x="1396872" y="4978145"/>
            <a:ext cx="1030605" cy="848994"/>
          </a:xfrm>
          <a:prstGeom prst="rect">
            <a:avLst/>
          </a:prstGeom>
        </p:spPr>
        <p:txBody>
          <a:bodyPr vert="horz" wrap="square" lIns="0" tIns="12700" rIns="0" bIns="0" rtlCol="0">
            <a:spAutoFit/>
          </a:bodyPr>
          <a:lstStyle/>
          <a:p>
            <a:pPr marL="78740" indent="-78740">
              <a:lnSpc>
                <a:spcPct val="100000"/>
              </a:lnSpc>
              <a:spcBef>
                <a:spcPts val="100"/>
              </a:spcBef>
              <a:buSzPct val="61111"/>
              <a:buFont typeface="Tahoma"/>
              <a:buChar char="•"/>
              <a:tabLst>
                <a:tab pos="78740" algn="l"/>
              </a:tabLst>
            </a:pPr>
            <a:r>
              <a:rPr sz="1800" b="1" spc="-10" dirty="0">
                <a:latin typeface="Arial"/>
                <a:cs typeface="Arial"/>
              </a:rPr>
              <a:t>Velocity:</a:t>
            </a:r>
            <a:endParaRPr sz="1800">
              <a:latin typeface="Arial"/>
              <a:cs typeface="Arial"/>
            </a:endParaRPr>
          </a:p>
          <a:p>
            <a:pPr marL="78740" indent="-78740">
              <a:lnSpc>
                <a:spcPct val="100000"/>
              </a:lnSpc>
              <a:buSzPct val="61111"/>
              <a:buFont typeface="Tahoma"/>
              <a:buChar char="•"/>
              <a:tabLst>
                <a:tab pos="78740" algn="l"/>
              </a:tabLst>
            </a:pPr>
            <a:r>
              <a:rPr sz="1800" b="1" spc="-10" dirty="0">
                <a:latin typeface="Arial"/>
                <a:cs typeface="Arial"/>
              </a:rPr>
              <a:t>Volume:</a:t>
            </a:r>
            <a:endParaRPr sz="1800">
              <a:latin typeface="Arial"/>
              <a:cs typeface="Arial"/>
            </a:endParaRPr>
          </a:p>
          <a:p>
            <a:pPr marL="78740" indent="-78740">
              <a:lnSpc>
                <a:spcPct val="100000"/>
              </a:lnSpc>
              <a:buSzPct val="61111"/>
              <a:buFont typeface="Tahoma"/>
              <a:buChar char="•"/>
              <a:tabLst>
                <a:tab pos="78740" algn="l"/>
              </a:tabLst>
            </a:pPr>
            <a:r>
              <a:rPr sz="1800" b="1" spc="-10" dirty="0">
                <a:latin typeface="Arial"/>
                <a:cs typeface="Arial"/>
              </a:rPr>
              <a:t>Variety:</a:t>
            </a:r>
            <a:endParaRPr sz="1800">
              <a:latin typeface="Arial"/>
              <a:cs typeface="Arial"/>
            </a:endParaRPr>
          </a:p>
        </p:txBody>
      </p:sp>
      <p:sp>
        <p:nvSpPr>
          <p:cNvPr id="8" name="object 8"/>
          <p:cNvSpPr txBox="1"/>
          <p:nvPr/>
        </p:nvSpPr>
        <p:spPr>
          <a:xfrm>
            <a:off x="2733420" y="4978145"/>
            <a:ext cx="4260850" cy="848994"/>
          </a:xfrm>
          <a:prstGeom prst="rect">
            <a:avLst/>
          </a:prstGeom>
        </p:spPr>
        <p:txBody>
          <a:bodyPr vert="horz" wrap="square" lIns="0" tIns="12700" rIns="0" bIns="0" rtlCol="0">
            <a:spAutoFit/>
          </a:bodyPr>
          <a:lstStyle/>
          <a:p>
            <a:pPr>
              <a:lnSpc>
                <a:spcPct val="100000"/>
              </a:lnSpc>
              <a:spcBef>
                <a:spcPts val="100"/>
              </a:spcBef>
            </a:pPr>
            <a:r>
              <a:rPr sz="1800" dirty="0">
                <a:latin typeface="Arial MT"/>
                <a:cs typeface="Arial MT"/>
              </a:rPr>
              <a:t>Speed</a:t>
            </a:r>
            <a:r>
              <a:rPr sz="1800" spc="-2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data</a:t>
            </a:r>
            <a:r>
              <a:rPr sz="1800" spc="-20" dirty="0">
                <a:latin typeface="Arial MT"/>
                <a:cs typeface="Arial MT"/>
              </a:rPr>
              <a:t> </a:t>
            </a:r>
            <a:r>
              <a:rPr sz="1800" dirty="0">
                <a:latin typeface="Arial MT"/>
                <a:cs typeface="Arial MT"/>
              </a:rPr>
              <a:t>generation and</a:t>
            </a:r>
            <a:r>
              <a:rPr sz="1800" spc="-10" dirty="0">
                <a:latin typeface="Arial MT"/>
                <a:cs typeface="Arial MT"/>
              </a:rPr>
              <a:t> processing.</a:t>
            </a:r>
            <a:endParaRPr sz="1800">
              <a:latin typeface="Arial MT"/>
              <a:cs typeface="Arial MT"/>
            </a:endParaRPr>
          </a:p>
          <a:p>
            <a:pPr marL="59055">
              <a:lnSpc>
                <a:spcPct val="100000"/>
              </a:lnSpc>
            </a:pPr>
            <a:r>
              <a:rPr sz="1800" dirty="0">
                <a:latin typeface="Arial MT"/>
                <a:cs typeface="Arial MT"/>
              </a:rPr>
              <a:t>Amount</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data</a:t>
            </a:r>
            <a:r>
              <a:rPr sz="1800" spc="-10" dirty="0">
                <a:latin typeface="Arial MT"/>
                <a:cs typeface="Arial MT"/>
              </a:rPr>
              <a:t> generated.</a:t>
            </a:r>
            <a:endParaRPr sz="1800">
              <a:latin typeface="Arial MT"/>
              <a:cs typeface="Arial MT"/>
            </a:endParaRPr>
          </a:p>
          <a:p>
            <a:pPr marL="12065">
              <a:lnSpc>
                <a:spcPct val="100000"/>
              </a:lnSpc>
            </a:pPr>
            <a:r>
              <a:rPr sz="1800" dirty="0">
                <a:latin typeface="Arial MT"/>
                <a:cs typeface="Arial MT"/>
              </a:rPr>
              <a:t>Different</a:t>
            </a:r>
            <a:r>
              <a:rPr sz="1800" spc="5" dirty="0">
                <a:latin typeface="Arial MT"/>
                <a:cs typeface="Arial MT"/>
              </a:rPr>
              <a:t> </a:t>
            </a:r>
            <a:r>
              <a:rPr sz="1800" dirty="0">
                <a:latin typeface="Arial MT"/>
                <a:cs typeface="Arial MT"/>
              </a:rPr>
              <a:t>forms</a:t>
            </a:r>
            <a:r>
              <a:rPr sz="1800" spc="-15" dirty="0">
                <a:latin typeface="Arial MT"/>
                <a:cs typeface="Arial MT"/>
              </a:rPr>
              <a:t> </a:t>
            </a:r>
            <a:r>
              <a:rPr sz="1800" dirty="0">
                <a:latin typeface="Arial MT"/>
                <a:cs typeface="Arial MT"/>
              </a:rPr>
              <a:t>and</a:t>
            </a:r>
            <a:r>
              <a:rPr sz="1800" spc="-20" dirty="0">
                <a:latin typeface="Arial MT"/>
                <a:cs typeface="Arial MT"/>
              </a:rPr>
              <a:t> </a:t>
            </a:r>
            <a:r>
              <a:rPr sz="1800" dirty="0">
                <a:latin typeface="Arial MT"/>
                <a:cs typeface="Arial MT"/>
              </a:rPr>
              <a:t>formats</a:t>
            </a:r>
            <a:r>
              <a:rPr sz="1800" spc="-5" dirty="0">
                <a:latin typeface="Arial MT"/>
                <a:cs typeface="Arial MT"/>
              </a:rPr>
              <a:t> </a:t>
            </a:r>
            <a:r>
              <a:rPr sz="1800" dirty="0">
                <a:latin typeface="Arial MT"/>
                <a:cs typeface="Arial MT"/>
              </a:rPr>
              <a:t>of</a:t>
            </a:r>
            <a:r>
              <a:rPr sz="1800" spc="-10" dirty="0">
                <a:latin typeface="Arial MT"/>
                <a:cs typeface="Arial MT"/>
              </a:rPr>
              <a:t> data.</a:t>
            </a:r>
            <a:endParaRPr sz="1800">
              <a:latin typeface="Arial MT"/>
              <a:cs typeface="Arial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86004" y="84836"/>
            <a:ext cx="2949575" cy="406400"/>
          </a:xfrm>
          <a:prstGeom prst="rect">
            <a:avLst/>
          </a:prstGeom>
        </p:spPr>
        <p:txBody>
          <a:bodyPr vert="horz" wrap="square" lIns="0" tIns="12065" rIns="0" bIns="0" rtlCol="0">
            <a:spAutoFit/>
          </a:bodyPr>
          <a:lstStyle/>
          <a:p>
            <a:pPr marL="12700">
              <a:lnSpc>
                <a:spcPct val="100000"/>
              </a:lnSpc>
              <a:spcBef>
                <a:spcPts val="95"/>
              </a:spcBef>
            </a:pPr>
            <a:r>
              <a:rPr sz="2500" u="sng" dirty="0">
                <a:uFill>
                  <a:solidFill>
                    <a:srgbClr val="404040"/>
                  </a:solidFill>
                </a:uFill>
              </a:rPr>
              <a:t>Challenges</a:t>
            </a:r>
            <a:r>
              <a:rPr sz="2500" u="sng" spc="-70" dirty="0">
                <a:uFill>
                  <a:solidFill>
                    <a:srgbClr val="404040"/>
                  </a:solidFill>
                </a:uFill>
              </a:rPr>
              <a:t> </a:t>
            </a:r>
            <a:r>
              <a:rPr sz="2500" u="sng" dirty="0">
                <a:uFill>
                  <a:solidFill>
                    <a:srgbClr val="404040"/>
                  </a:solidFill>
                </a:uFill>
              </a:rPr>
              <a:t>of</a:t>
            </a:r>
            <a:r>
              <a:rPr sz="2500" u="sng" spc="-60" dirty="0">
                <a:uFill>
                  <a:solidFill>
                    <a:srgbClr val="404040"/>
                  </a:solidFill>
                </a:uFill>
              </a:rPr>
              <a:t> </a:t>
            </a:r>
            <a:r>
              <a:rPr sz="2500" u="sng" dirty="0">
                <a:uFill>
                  <a:solidFill>
                    <a:srgbClr val="404040"/>
                  </a:solidFill>
                </a:uFill>
              </a:rPr>
              <a:t>Big</a:t>
            </a:r>
            <a:r>
              <a:rPr sz="2500" u="sng" spc="-70" dirty="0">
                <a:uFill>
                  <a:solidFill>
                    <a:srgbClr val="404040"/>
                  </a:solidFill>
                </a:uFill>
              </a:rPr>
              <a:t> </a:t>
            </a:r>
            <a:r>
              <a:rPr sz="2500" u="sng" spc="-20" dirty="0">
                <a:uFill>
                  <a:solidFill>
                    <a:srgbClr val="404040"/>
                  </a:solidFill>
                </a:uFill>
              </a:rPr>
              <a:t>Data</a:t>
            </a:r>
            <a:endParaRPr sz="2500"/>
          </a:p>
        </p:txBody>
      </p:sp>
      <p:sp>
        <p:nvSpPr>
          <p:cNvPr id="3" name="object 3"/>
          <p:cNvSpPr txBox="1"/>
          <p:nvPr/>
        </p:nvSpPr>
        <p:spPr>
          <a:xfrm>
            <a:off x="286004" y="471271"/>
            <a:ext cx="8640445" cy="3425825"/>
          </a:xfrm>
          <a:prstGeom prst="rect">
            <a:avLst/>
          </a:prstGeom>
        </p:spPr>
        <p:txBody>
          <a:bodyPr vert="horz" wrap="square" lIns="0" tIns="158750" rIns="0" bIns="0" rtlCol="0">
            <a:spAutoFit/>
          </a:bodyPr>
          <a:lstStyle/>
          <a:p>
            <a:pPr marL="12700">
              <a:lnSpc>
                <a:spcPct val="100000"/>
              </a:lnSpc>
              <a:spcBef>
                <a:spcPts val="1250"/>
              </a:spcBef>
            </a:pPr>
            <a:r>
              <a:rPr sz="2000" b="1" dirty="0">
                <a:solidFill>
                  <a:srgbClr val="404040"/>
                </a:solidFill>
                <a:latin typeface="Calibri"/>
                <a:cs typeface="Calibri"/>
              </a:rPr>
              <a:t>What</a:t>
            </a:r>
            <a:r>
              <a:rPr sz="2000" b="1" spc="-45" dirty="0">
                <a:solidFill>
                  <a:srgbClr val="404040"/>
                </a:solidFill>
                <a:latin typeface="Calibri"/>
                <a:cs typeface="Calibri"/>
              </a:rPr>
              <a:t> </a:t>
            </a:r>
            <a:r>
              <a:rPr sz="2000" b="1" dirty="0">
                <a:solidFill>
                  <a:srgbClr val="404040"/>
                </a:solidFill>
                <a:latin typeface="Calibri"/>
                <a:cs typeface="Calibri"/>
              </a:rPr>
              <a:t>are</a:t>
            </a:r>
            <a:r>
              <a:rPr sz="2000" b="1" spc="-25" dirty="0">
                <a:solidFill>
                  <a:srgbClr val="404040"/>
                </a:solidFill>
                <a:latin typeface="Calibri"/>
                <a:cs typeface="Calibri"/>
              </a:rPr>
              <a:t> </a:t>
            </a:r>
            <a:r>
              <a:rPr sz="2000" b="1" dirty="0">
                <a:solidFill>
                  <a:srgbClr val="404040"/>
                </a:solidFill>
                <a:latin typeface="Calibri"/>
                <a:cs typeface="Calibri"/>
              </a:rPr>
              <a:t>Big</a:t>
            </a:r>
            <a:r>
              <a:rPr sz="2000" b="1" spc="-45" dirty="0">
                <a:solidFill>
                  <a:srgbClr val="404040"/>
                </a:solidFill>
                <a:latin typeface="Calibri"/>
                <a:cs typeface="Calibri"/>
              </a:rPr>
              <a:t> </a:t>
            </a:r>
            <a:r>
              <a:rPr sz="2000" b="1" dirty="0">
                <a:solidFill>
                  <a:srgbClr val="404040"/>
                </a:solidFill>
                <a:latin typeface="Calibri"/>
                <a:cs typeface="Calibri"/>
              </a:rPr>
              <a:t>Data</a:t>
            </a:r>
            <a:r>
              <a:rPr sz="2000" b="1" spc="-35" dirty="0">
                <a:solidFill>
                  <a:srgbClr val="404040"/>
                </a:solidFill>
                <a:latin typeface="Calibri"/>
                <a:cs typeface="Calibri"/>
              </a:rPr>
              <a:t> </a:t>
            </a:r>
            <a:r>
              <a:rPr sz="2000" b="1" spc="-10" dirty="0">
                <a:solidFill>
                  <a:srgbClr val="404040"/>
                </a:solidFill>
                <a:latin typeface="Calibri"/>
                <a:cs typeface="Calibri"/>
              </a:rPr>
              <a:t>Challenges?</a:t>
            </a:r>
            <a:endParaRPr sz="2000">
              <a:latin typeface="Calibri"/>
              <a:cs typeface="Calibri"/>
            </a:endParaRPr>
          </a:p>
          <a:p>
            <a:pPr marL="12700" marR="5080" algn="just">
              <a:lnSpc>
                <a:spcPct val="90000"/>
              </a:lnSpc>
              <a:spcBef>
                <a:spcPts val="1390"/>
              </a:spcBef>
            </a:pPr>
            <a:r>
              <a:rPr sz="2000" dirty="0">
                <a:solidFill>
                  <a:srgbClr val="404040"/>
                </a:solidFill>
                <a:latin typeface="Calibri"/>
                <a:cs typeface="Calibri"/>
              </a:rPr>
              <a:t>Big</a:t>
            </a:r>
            <a:r>
              <a:rPr sz="2000" spc="395" dirty="0">
                <a:solidFill>
                  <a:srgbClr val="404040"/>
                </a:solidFill>
                <a:latin typeface="Calibri"/>
                <a:cs typeface="Calibri"/>
              </a:rPr>
              <a:t> </a:t>
            </a:r>
            <a:r>
              <a:rPr sz="2000" dirty="0">
                <a:solidFill>
                  <a:srgbClr val="404040"/>
                </a:solidFill>
                <a:latin typeface="Calibri"/>
                <a:cs typeface="Calibri"/>
              </a:rPr>
              <a:t>Data</a:t>
            </a:r>
            <a:r>
              <a:rPr sz="2000" spc="409" dirty="0">
                <a:solidFill>
                  <a:srgbClr val="404040"/>
                </a:solidFill>
                <a:latin typeface="Calibri"/>
                <a:cs typeface="Calibri"/>
              </a:rPr>
              <a:t> </a:t>
            </a:r>
            <a:r>
              <a:rPr sz="2000" dirty="0">
                <a:solidFill>
                  <a:srgbClr val="404040"/>
                </a:solidFill>
                <a:latin typeface="Calibri"/>
                <a:cs typeface="Calibri"/>
              </a:rPr>
              <a:t>challenges</a:t>
            </a:r>
            <a:r>
              <a:rPr sz="2000" spc="405" dirty="0">
                <a:solidFill>
                  <a:srgbClr val="404040"/>
                </a:solidFill>
                <a:latin typeface="Calibri"/>
                <a:cs typeface="Calibri"/>
              </a:rPr>
              <a:t> </a:t>
            </a:r>
            <a:r>
              <a:rPr sz="2000" dirty="0">
                <a:solidFill>
                  <a:srgbClr val="404040"/>
                </a:solidFill>
                <a:latin typeface="Calibri"/>
                <a:cs typeface="Calibri"/>
              </a:rPr>
              <a:t>are</a:t>
            </a:r>
            <a:r>
              <a:rPr sz="2000" spc="405" dirty="0">
                <a:solidFill>
                  <a:srgbClr val="404040"/>
                </a:solidFill>
                <a:latin typeface="Calibri"/>
                <a:cs typeface="Calibri"/>
              </a:rPr>
              <a:t> </a:t>
            </a:r>
            <a:r>
              <a:rPr sz="2000" dirty="0">
                <a:solidFill>
                  <a:srgbClr val="404040"/>
                </a:solidFill>
                <a:latin typeface="Calibri"/>
                <a:cs typeface="Calibri"/>
              </a:rPr>
              <a:t>the</a:t>
            </a:r>
            <a:r>
              <a:rPr sz="2000" spc="409" dirty="0">
                <a:solidFill>
                  <a:srgbClr val="404040"/>
                </a:solidFill>
                <a:latin typeface="Calibri"/>
                <a:cs typeface="Calibri"/>
              </a:rPr>
              <a:t> </a:t>
            </a:r>
            <a:r>
              <a:rPr sz="2000" dirty="0">
                <a:solidFill>
                  <a:srgbClr val="404040"/>
                </a:solidFill>
                <a:latin typeface="Calibri"/>
                <a:cs typeface="Calibri"/>
              </a:rPr>
              <a:t>difficulties</a:t>
            </a:r>
            <a:r>
              <a:rPr sz="2000" spc="415" dirty="0">
                <a:solidFill>
                  <a:srgbClr val="404040"/>
                </a:solidFill>
                <a:latin typeface="Calibri"/>
                <a:cs typeface="Calibri"/>
              </a:rPr>
              <a:t> </a:t>
            </a:r>
            <a:r>
              <a:rPr sz="2000" dirty="0">
                <a:solidFill>
                  <a:srgbClr val="404040"/>
                </a:solidFill>
                <a:latin typeface="Calibri"/>
                <a:cs typeface="Calibri"/>
              </a:rPr>
              <a:t>faced</a:t>
            </a:r>
            <a:r>
              <a:rPr sz="2000" spc="415" dirty="0">
                <a:solidFill>
                  <a:srgbClr val="404040"/>
                </a:solidFill>
                <a:latin typeface="Calibri"/>
                <a:cs typeface="Calibri"/>
              </a:rPr>
              <a:t> </a:t>
            </a:r>
            <a:r>
              <a:rPr sz="2000" dirty="0">
                <a:solidFill>
                  <a:srgbClr val="404040"/>
                </a:solidFill>
                <a:latin typeface="Calibri"/>
                <a:cs typeface="Calibri"/>
              </a:rPr>
              <a:t>by</a:t>
            </a:r>
            <a:r>
              <a:rPr sz="2000" spc="390" dirty="0">
                <a:solidFill>
                  <a:srgbClr val="404040"/>
                </a:solidFill>
                <a:latin typeface="Calibri"/>
                <a:cs typeface="Calibri"/>
              </a:rPr>
              <a:t> </a:t>
            </a:r>
            <a:r>
              <a:rPr sz="2000" dirty="0">
                <a:solidFill>
                  <a:srgbClr val="404040"/>
                </a:solidFill>
                <a:latin typeface="Calibri"/>
                <a:cs typeface="Calibri"/>
              </a:rPr>
              <a:t>organizations</a:t>
            </a:r>
            <a:r>
              <a:rPr sz="2000" spc="400" dirty="0">
                <a:solidFill>
                  <a:srgbClr val="404040"/>
                </a:solidFill>
                <a:latin typeface="Calibri"/>
                <a:cs typeface="Calibri"/>
              </a:rPr>
              <a:t> </a:t>
            </a:r>
            <a:r>
              <a:rPr sz="2000" dirty="0">
                <a:solidFill>
                  <a:srgbClr val="404040"/>
                </a:solidFill>
                <a:latin typeface="Calibri"/>
                <a:cs typeface="Calibri"/>
              </a:rPr>
              <a:t>while</a:t>
            </a:r>
            <a:r>
              <a:rPr sz="2000" spc="405" dirty="0">
                <a:solidFill>
                  <a:srgbClr val="404040"/>
                </a:solidFill>
                <a:latin typeface="Calibri"/>
                <a:cs typeface="Calibri"/>
              </a:rPr>
              <a:t> </a:t>
            </a:r>
            <a:r>
              <a:rPr sz="2000" spc="-10" dirty="0">
                <a:solidFill>
                  <a:srgbClr val="404040"/>
                </a:solidFill>
                <a:latin typeface="Calibri"/>
                <a:cs typeface="Calibri"/>
              </a:rPr>
              <a:t>collecting, </a:t>
            </a:r>
            <a:r>
              <a:rPr sz="2000" dirty="0">
                <a:solidFill>
                  <a:srgbClr val="404040"/>
                </a:solidFill>
                <a:latin typeface="Calibri"/>
                <a:cs typeface="Calibri"/>
              </a:rPr>
              <a:t>storing,</a:t>
            </a:r>
            <a:r>
              <a:rPr sz="2000" spc="190" dirty="0">
                <a:solidFill>
                  <a:srgbClr val="404040"/>
                </a:solidFill>
                <a:latin typeface="Calibri"/>
                <a:cs typeface="Calibri"/>
              </a:rPr>
              <a:t>  </a:t>
            </a:r>
            <a:r>
              <a:rPr sz="2000" dirty="0">
                <a:solidFill>
                  <a:srgbClr val="404040"/>
                </a:solidFill>
                <a:latin typeface="Calibri"/>
                <a:cs typeface="Calibri"/>
              </a:rPr>
              <a:t>processing,</a:t>
            </a:r>
            <a:r>
              <a:rPr sz="2000" spc="195" dirty="0">
                <a:solidFill>
                  <a:srgbClr val="404040"/>
                </a:solidFill>
                <a:latin typeface="Calibri"/>
                <a:cs typeface="Calibri"/>
              </a:rPr>
              <a:t>  </a:t>
            </a:r>
            <a:r>
              <a:rPr sz="2000" dirty="0">
                <a:solidFill>
                  <a:srgbClr val="404040"/>
                </a:solidFill>
                <a:latin typeface="Calibri"/>
                <a:cs typeface="Calibri"/>
              </a:rPr>
              <a:t>analyzing,</a:t>
            </a:r>
            <a:r>
              <a:rPr sz="2000" spc="200" dirty="0">
                <a:solidFill>
                  <a:srgbClr val="404040"/>
                </a:solidFill>
                <a:latin typeface="Calibri"/>
                <a:cs typeface="Calibri"/>
              </a:rPr>
              <a:t>  </a:t>
            </a:r>
            <a:r>
              <a:rPr sz="2000" dirty="0">
                <a:solidFill>
                  <a:srgbClr val="404040"/>
                </a:solidFill>
                <a:latin typeface="Calibri"/>
                <a:cs typeface="Calibri"/>
              </a:rPr>
              <a:t>securing,</a:t>
            </a:r>
            <a:r>
              <a:rPr sz="2000" spc="195" dirty="0">
                <a:solidFill>
                  <a:srgbClr val="404040"/>
                </a:solidFill>
                <a:latin typeface="Calibri"/>
                <a:cs typeface="Calibri"/>
              </a:rPr>
              <a:t>  </a:t>
            </a:r>
            <a:r>
              <a:rPr sz="2000" dirty="0">
                <a:solidFill>
                  <a:srgbClr val="404040"/>
                </a:solidFill>
                <a:latin typeface="Calibri"/>
                <a:cs typeface="Calibri"/>
              </a:rPr>
              <a:t>and</a:t>
            </a:r>
            <a:r>
              <a:rPr sz="2000" spc="195" dirty="0">
                <a:solidFill>
                  <a:srgbClr val="404040"/>
                </a:solidFill>
                <a:latin typeface="Calibri"/>
                <a:cs typeface="Calibri"/>
              </a:rPr>
              <a:t>  </a:t>
            </a:r>
            <a:r>
              <a:rPr sz="2000" dirty="0">
                <a:solidFill>
                  <a:srgbClr val="404040"/>
                </a:solidFill>
                <a:latin typeface="Calibri"/>
                <a:cs typeface="Calibri"/>
              </a:rPr>
              <a:t>managing</a:t>
            </a:r>
            <a:r>
              <a:rPr sz="2000" spc="190" dirty="0">
                <a:solidFill>
                  <a:srgbClr val="404040"/>
                </a:solidFill>
                <a:latin typeface="Calibri"/>
                <a:cs typeface="Calibri"/>
              </a:rPr>
              <a:t>  </a:t>
            </a:r>
            <a:r>
              <a:rPr sz="2000" dirty="0">
                <a:solidFill>
                  <a:srgbClr val="404040"/>
                </a:solidFill>
                <a:latin typeface="Calibri"/>
                <a:cs typeface="Calibri"/>
              </a:rPr>
              <a:t>extremely</a:t>
            </a:r>
            <a:r>
              <a:rPr sz="2000" spc="190" dirty="0">
                <a:solidFill>
                  <a:srgbClr val="404040"/>
                </a:solidFill>
                <a:latin typeface="Calibri"/>
                <a:cs typeface="Calibri"/>
              </a:rPr>
              <a:t>  </a:t>
            </a:r>
            <a:r>
              <a:rPr sz="2000" dirty="0">
                <a:solidFill>
                  <a:srgbClr val="404040"/>
                </a:solidFill>
                <a:latin typeface="Calibri"/>
                <a:cs typeface="Calibri"/>
              </a:rPr>
              <a:t>large</a:t>
            </a:r>
            <a:r>
              <a:rPr sz="2000" spc="195" dirty="0">
                <a:solidFill>
                  <a:srgbClr val="404040"/>
                </a:solidFill>
                <a:latin typeface="Calibri"/>
                <a:cs typeface="Calibri"/>
              </a:rPr>
              <a:t>  </a:t>
            </a:r>
            <a:r>
              <a:rPr sz="2000" spc="-25" dirty="0">
                <a:solidFill>
                  <a:srgbClr val="404040"/>
                </a:solidFill>
                <a:latin typeface="Calibri"/>
                <a:cs typeface="Calibri"/>
              </a:rPr>
              <a:t>and </a:t>
            </a:r>
            <a:r>
              <a:rPr sz="2000" dirty="0">
                <a:solidFill>
                  <a:srgbClr val="404040"/>
                </a:solidFill>
                <a:latin typeface="Calibri"/>
                <a:cs typeface="Calibri"/>
              </a:rPr>
              <a:t>complex</a:t>
            </a:r>
            <a:r>
              <a:rPr sz="2000" spc="370" dirty="0">
                <a:solidFill>
                  <a:srgbClr val="404040"/>
                </a:solidFill>
                <a:latin typeface="Calibri"/>
                <a:cs typeface="Calibri"/>
              </a:rPr>
              <a:t> </a:t>
            </a:r>
            <a:r>
              <a:rPr sz="2000" dirty="0">
                <a:solidFill>
                  <a:srgbClr val="404040"/>
                </a:solidFill>
                <a:latin typeface="Calibri"/>
                <a:cs typeface="Calibri"/>
              </a:rPr>
              <a:t>datasets.</a:t>
            </a:r>
            <a:r>
              <a:rPr sz="2000" spc="370" dirty="0">
                <a:solidFill>
                  <a:srgbClr val="404040"/>
                </a:solidFill>
                <a:latin typeface="Calibri"/>
                <a:cs typeface="Calibri"/>
              </a:rPr>
              <a:t> </a:t>
            </a:r>
            <a:r>
              <a:rPr sz="2000" dirty="0">
                <a:solidFill>
                  <a:srgbClr val="404040"/>
                </a:solidFill>
                <a:latin typeface="Calibri"/>
                <a:cs typeface="Calibri"/>
              </a:rPr>
              <a:t>Traditional</a:t>
            </a:r>
            <a:r>
              <a:rPr sz="2000" spc="365" dirty="0">
                <a:solidFill>
                  <a:srgbClr val="404040"/>
                </a:solidFill>
                <a:latin typeface="Calibri"/>
                <a:cs typeface="Calibri"/>
              </a:rPr>
              <a:t> </a:t>
            </a:r>
            <a:r>
              <a:rPr sz="2000" dirty="0">
                <a:solidFill>
                  <a:srgbClr val="404040"/>
                </a:solidFill>
                <a:latin typeface="Calibri"/>
                <a:cs typeface="Calibri"/>
              </a:rPr>
              <a:t>database</a:t>
            </a:r>
            <a:r>
              <a:rPr sz="2000" spc="370" dirty="0">
                <a:solidFill>
                  <a:srgbClr val="404040"/>
                </a:solidFill>
                <a:latin typeface="Calibri"/>
                <a:cs typeface="Calibri"/>
              </a:rPr>
              <a:t> </a:t>
            </a:r>
            <a:r>
              <a:rPr sz="2000" dirty="0">
                <a:solidFill>
                  <a:srgbClr val="404040"/>
                </a:solidFill>
                <a:latin typeface="Calibri"/>
                <a:cs typeface="Calibri"/>
              </a:rPr>
              <a:t>systems</a:t>
            </a:r>
            <a:r>
              <a:rPr sz="2000" spc="380" dirty="0">
                <a:solidFill>
                  <a:srgbClr val="404040"/>
                </a:solidFill>
                <a:latin typeface="Calibri"/>
                <a:cs typeface="Calibri"/>
              </a:rPr>
              <a:t> </a:t>
            </a:r>
            <a:r>
              <a:rPr sz="2000" dirty="0">
                <a:solidFill>
                  <a:srgbClr val="404040"/>
                </a:solidFill>
                <a:latin typeface="Calibri"/>
                <a:cs typeface="Calibri"/>
              </a:rPr>
              <a:t>cannot</a:t>
            </a:r>
            <a:r>
              <a:rPr sz="2000" spc="345" dirty="0">
                <a:solidFill>
                  <a:srgbClr val="404040"/>
                </a:solidFill>
                <a:latin typeface="Calibri"/>
                <a:cs typeface="Calibri"/>
              </a:rPr>
              <a:t> </a:t>
            </a:r>
            <a:r>
              <a:rPr sz="2000" dirty="0">
                <a:solidFill>
                  <a:srgbClr val="404040"/>
                </a:solidFill>
                <a:latin typeface="Calibri"/>
                <a:cs typeface="Calibri"/>
              </a:rPr>
              <a:t>efficiently</a:t>
            </a:r>
            <a:r>
              <a:rPr sz="2000" spc="380" dirty="0">
                <a:solidFill>
                  <a:srgbClr val="404040"/>
                </a:solidFill>
                <a:latin typeface="Calibri"/>
                <a:cs typeface="Calibri"/>
              </a:rPr>
              <a:t> </a:t>
            </a:r>
            <a:r>
              <a:rPr sz="2000" dirty="0">
                <a:solidFill>
                  <a:srgbClr val="404040"/>
                </a:solidFill>
                <a:latin typeface="Calibri"/>
                <a:cs typeface="Calibri"/>
              </a:rPr>
              <a:t>handle</a:t>
            </a:r>
            <a:r>
              <a:rPr sz="2000" spc="365" dirty="0">
                <a:solidFill>
                  <a:srgbClr val="404040"/>
                </a:solidFill>
                <a:latin typeface="Calibri"/>
                <a:cs typeface="Calibri"/>
              </a:rPr>
              <a:t> </a:t>
            </a:r>
            <a:r>
              <a:rPr sz="2000" spc="-10" dirty="0">
                <a:solidFill>
                  <a:srgbClr val="404040"/>
                </a:solidFill>
                <a:latin typeface="Calibri"/>
                <a:cs typeface="Calibri"/>
              </a:rPr>
              <a:t>these </a:t>
            </a:r>
            <a:r>
              <a:rPr sz="2000" dirty="0">
                <a:solidFill>
                  <a:srgbClr val="404040"/>
                </a:solidFill>
                <a:latin typeface="Calibri"/>
                <a:cs typeface="Calibri"/>
              </a:rPr>
              <a:t>challenges,</a:t>
            </a:r>
            <a:r>
              <a:rPr sz="2000" spc="225" dirty="0">
                <a:solidFill>
                  <a:srgbClr val="404040"/>
                </a:solidFill>
                <a:latin typeface="Calibri"/>
                <a:cs typeface="Calibri"/>
              </a:rPr>
              <a:t> </a:t>
            </a:r>
            <a:r>
              <a:rPr sz="2000" dirty="0">
                <a:solidFill>
                  <a:srgbClr val="404040"/>
                </a:solidFill>
                <a:latin typeface="Calibri"/>
                <a:cs typeface="Calibri"/>
              </a:rPr>
              <a:t>requiring</a:t>
            </a:r>
            <a:r>
              <a:rPr sz="2000" spc="229" dirty="0">
                <a:solidFill>
                  <a:srgbClr val="404040"/>
                </a:solidFill>
                <a:latin typeface="Calibri"/>
                <a:cs typeface="Calibri"/>
              </a:rPr>
              <a:t> </a:t>
            </a:r>
            <a:r>
              <a:rPr sz="2000" dirty="0">
                <a:solidFill>
                  <a:srgbClr val="404040"/>
                </a:solidFill>
                <a:latin typeface="Calibri"/>
                <a:cs typeface="Calibri"/>
              </a:rPr>
              <a:t>distributed</a:t>
            </a:r>
            <a:r>
              <a:rPr sz="2000" spc="225" dirty="0">
                <a:solidFill>
                  <a:srgbClr val="404040"/>
                </a:solidFill>
                <a:latin typeface="Calibri"/>
                <a:cs typeface="Calibri"/>
              </a:rPr>
              <a:t> </a:t>
            </a:r>
            <a:r>
              <a:rPr sz="2000" dirty="0">
                <a:solidFill>
                  <a:srgbClr val="404040"/>
                </a:solidFill>
                <a:latin typeface="Calibri"/>
                <a:cs typeface="Calibri"/>
              </a:rPr>
              <a:t>computing</a:t>
            </a:r>
            <a:r>
              <a:rPr sz="2000" spc="229" dirty="0">
                <a:solidFill>
                  <a:srgbClr val="404040"/>
                </a:solidFill>
                <a:latin typeface="Calibri"/>
                <a:cs typeface="Calibri"/>
              </a:rPr>
              <a:t> </a:t>
            </a:r>
            <a:r>
              <a:rPr sz="2000" dirty="0">
                <a:solidFill>
                  <a:srgbClr val="404040"/>
                </a:solidFill>
                <a:latin typeface="Calibri"/>
                <a:cs typeface="Calibri"/>
              </a:rPr>
              <a:t>technologies</a:t>
            </a:r>
            <a:r>
              <a:rPr sz="2000" spc="235" dirty="0">
                <a:solidFill>
                  <a:srgbClr val="404040"/>
                </a:solidFill>
                <a:latin typeface="Calibri"/>
                <a:cs typeface="Calibri"/>
              </a:rPr>
              <a:t> </a:t>
            </a:r>
            <a:r>
              <a:rPr sz="2000" dirty="0">
                <a:solidFill>
                  <a:srgbClr val="404040"/>
                </a:solidFill>
                <a:latin typeface="Calibri"/>
                <a:cs typeface="Calibri"/>
              </a:rPr>
              <a:t>such</a:t>
            </a:r>
            <a:r>
              <a:rPr sz="2000" spc="240" dirty="0">
                <a:solidFill>
                  <a:srgbClr val="404040"/>
                </a:solidFill>
                <a:latin typeface="Calibri"/>
                <a:cs typeface="Calibri"/>
              </a:rPr>
              <a:t> </a:t>
            </a:r>
            <a:r>
              <a:rPr sz="2000" dirty="0">
                <a:solidFill>
                  <a:srgbClr val="404040"/>
                </a:solidFill>
                <a:latin typeface="Calibri"/>
                <a:cs typeface="Calibri"/>
              </a:rPr>
              <a:t>as</a:t>
            </a:r>
            <a:r>
              <a:rPr sz="2000" spc="225" dirty="0">
                <a:solidFill>
                  <a:srgbClr val="404040"/>
                </a:solidFill>
                <a:latin typeface="Calibri"/>
                <a:cs typeface="Calibri"/>
              </a:rPr>
              <a:t> </a:t>
            </a:r>
            <a:r>
              <a:rPr sz="2000" dirty="0">
                <a:solidFill>
                  <a:srgbClr val="404040"/>
                </a:solidFill>
                <a:latin typeface="Calibri"/>
                <a:cs typeface="Calibri"/>
              </a:rPr>
              <a:t>Hadoop,</a:t>
            </a:r>
            <a:r>
              <a:rPr sz="2000" spc="229" dirty="0">
                <a:solidFill>
                  <a:srgbClr val="404040"/>
                </a:solidFill>
                <a:latin typeface="Calibri"/>
                <a:cs typeface="Calibri"/>
              </a:rPr>
              <a:t> </a:t>
            </a:r>
            <a:r>
              <a:rPr sz="2000" spc="-10" dirty="0">
                <a:solidFill>
                  <a:srgbClr val="404040"/>
                </a:solidFill>
                <a:latin typeface="Calibri"/>
                <a:cs typeface="Calibri"/>
              </a:rPr>
              <a:t>Spark, </a:t>
            </a:r>
            <a:r>
              <a:rPr sz="2000" dirty="0">
                <a:solidFill>
                  <a:srgbClr val="404040"/>
                </a:solidFill>
                <a:latin typeface="Calibri"/>
                <a:cs typeface="Calibri"/>
              </a:rPr>
              <a:t>and</a:t>
            </a:r>
            <a:r>
              <a:rPr sz="2000" spc="-25" dirty="0">
                <a:solidFill>
                  <a:srgbClr val="404040"/>
                </a:solidFill>
                <a:latin typeface="Calibri"/>
                <a:cs typeface="Calibri"/>
              </a:rPr>
              <a:t> </a:t>
            </a:r>
            <a:r>
              <a:rPr sz="2000" dirty="0">
                <a:solidFill>
                  <a:srgbClr val="404040"/>
                </a:solidFill>
                <a:latin typeface="Calibri"/>
                <a:cs typeface="Calibri"/>
              </a:rPr>
              <a:t>cloud</a:t>
            </a:r>
            <a:r>
              <a:rPr sz="2000" spc="-20" dirty="0">
                <a:solidFill>
                  <a:srgbClr val="404040"/>
                </a:solidFill>
                <a:latin typeface="Calibri"/>
                <a:cs typeface="Calibri"/>
              </a:rPr>
              <a:t> </a:t>
            </a:r>
            <a:r>
              <a:rPr sz="2000" spc="-10" dirty="0">
                <a:solidFill>
                  <a:srgbClr val="404040"/>
                </a:solidFill>
                <a:latin typeface="Calibri"/>
                <a:cs typeface="Calibri"/>
              </a:rPr>
              <a:t>computing.</a:t>
            </a:r>
            <a:endParaRPr sz="2000">
              <a:latin typeface="Calibri"/>
              <a:cs typeface="Calibri"/>
            </a:endParaRPr>
          </a:p>
          <a:p>
            <a:pPr marL="104139" marR="6108065">
              <a:lnSpc>
                <a:spcPct val="100000"/>
              </a:lnSpc>
              <a:spcBef>
                <a:spcPts val="225"/>
              </a:spcBef>
            </a:pPr>
            <a:r>
              <a:rPr sz="1800" b="1" dirty="0">
                <a:latin typeface="Calibri"/>
                <a:cs typeface="Calibri"/>
              </a:rPr>
              <a:t>1.</a:t>
            </a:r>
            <a:r>
              <a:rPr sz="1800" b="1" spc="-40" dirty="0">
                <a:latin typeface="Calibri"/>
                <a:cs typeface="Calibri"/>
              </a:rPr>
              <a:t> </a:t>
            </a:r>
            <a:r>
              <a:rPr sz="1800" b="1" dirty="0">
                <a:latin typeface="Calibri"/>
                <a:cs typeface="Calibri"/>
              </a:rPr>
              <a:t>Data</a:t>
            </a:r>
            <a:r>
              <a:rPr sz="1800" b="1" spc="-45" dirty="0">
                <a:latin typeface="Calibri"/>
                <a:cs typeface="Calibri"/>
              </a:rPr>
              <a:t> </a:t>
            </a:r>
            <a:r>
              <a:rPr sz="1800" b="1" spc="-10" dirty="0">
                <a:latin typeface="Calibri"/>
                <a:cs typeface="Calibri"/>
              </a:rPr>
              <a:t>Storage</a:t>
            </a:r>
            <a:r>
              <a:rPr sz="1800" b="1" spc="-50" dirty="0">
                <a:latin typeface="Calibri"/>
                <a:cs typeface="Calibri"/>
              </a:rPr>
              <a:t> </a:t>
            </a:r>
            <a:r>
              <a:rPr sz="1800" b="1" spc="-10" dirty="0">
                <a:latin typeface="Calibri"/>
                <a:cs typeface="Calibri"/>
              </a:rPr>
              <a:t>Challenge Explanation</a:t>
            </a:r>
            <a:endParaRPr sz="1800">
              <a:latin typeface="Calibri"/>
              <a:cs typeface="Calibri"/>
            </a:endParaRPr>
          </a:p>
          <a:p>
            <a:pPr marL="104139" marR="560705">
              <a:lnSpc>
                <a:spcPct val="100000"/>
              </a:lnSpc>
            </a:pPr>
            <a:r>
              <a:rPr sz="1800" dirty="0">
                <a:latin typeface="Calibri"/>
                <a:cs typeface="Calibri"/>
              </a:rPr>
              <a:t>One</a:t>
            </a:r>
            <a:r>
              <a:rPr sz="1800" spc="-30" dirty="0">
                <a:latin typeface="Calibri"/>
                <a:cs typeface="Calibri"/>
              </a:rPr>
              <a:t> </a:t>
            </a:r>
            <a:r>
              <a:rPr sz="1800" dirty="0">
                <a:latin typeface="Calibri"/>
                <a:cs typeface="Calibri"/>
              </a:rPr>
              <a:t>of</a:t>
            </a:r>
            <a:r>
              <a:rPr sz="1800" spc="-1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primary</a:t>
            </a:r>
            <a:r>
              <a:rPr sz="1800" spc="-20" dirty="0">
                <a:latin typeface="Calibri"/>
                <a:cs typeface="Calibri"/>
              </a:rPr>
              <a:t> </a:t>
            </a:r>
            <a:r>
              <a:rPr sz="1800" spc="-10" dirty="0">
                <a:latin typeface="Calibri"/>
                <a:cs typeface="Calibri"/>
              </a:rPr>
              <a:t>challenges</a:t>
            </a:r>
            <a:r>
              <a:rPr sz="1800" spc="-20" dirty="0">
                <a:latin typeface="Calibri"/>
                <a:cs typeface="Calibri"/>
              </a:rPr>
              <a:t> </a:t>
            </a:r>
            <a:r>
              <a:rPr sz="1800" dirty="0">
                <a:latin typeface="Calibri"/>
                <a:cs typeface="Calibri"/>
              </a:rPr>
              <a:t>of</a:t>
            </a:r>
            <a:r>
              <a:rPr sz="1800" spc="-20" dirty="0">
                <a:latin typeface="Calibri"/>
                <a:cs typeface="Calibri"/>
              </a:rPr>
              <a:t> </a:t>
            </a:r>
            <a:r>
              <a:rPr sz="1800" dirty="0">
                <a:latin typeface="Calibri"/>
                <a:cs typeface="Calibri"/>
              </a:rPr>
              <a:t>Big</a:t>
            </a:r>
            <a:r>
              <a:rPr sz="1800" spc="-30" dirty="0">
                <a:latin typeface="Calibri"/>
                <a:cs typeface="Calibri"/>
              </a:rPr>
              <a:t> </a:t>
            </a:r>
            <a:r>
              <a:rPr sz="1800" dirty="0">
                <a:latin typeface="Calibri"/>
                <a:cs typeface="Calibri"/>
              </a:rPr>
              <a:t>Data</a:t>
            </a:r>
            <a:r>
              <a:rPr sz="1800" spc="-35" dirty="0">
                <a:latin typeface="Calibri"/>
                <a:cs typeface="Calibri"/>
              </a:rPr>
              <a:t> </a:t>
            </a:r>
            <a:r>
              <a:rPr sz="1800" dirty="0">
                <a:latin typeface="Calibri"/>
                <a:cs typeface="Calibri"/>
              </a:rPr>
              <a:t>is</a:t>
            </a:r>
            <a:r>
              <a:rPr sz="1800" spc="-30" dirty="0">
                <a:latin typeface="Calibri"/>
                <a:cs typeface="Calibri"/>
              </a:rPr>
              <a:t> </a:t>
            </a:r>
            <a:r>
              <a:rPr sz="1800" dirty="0">
                <a:latin typeface="Calibri"/>
                <a:cs typeface="Calibri"/>
              </a:rPr>
              <a:t>storing</a:t>
            </a:r>
            <a:r>
              <a:rPr sz="1800" spc="-15" dirty="0">
                <a:latin typeface="Calibri"/>
                <a:cs typeface="Calibri"/>
              </a:rPr>
              <a:t> </a:t>
            </a:r>
            <a:r>
              <a:rPr sz="1800" dirty="0">
                <a:latin typeface="Calibri"/>
                <a:cs typeface="Calibri"/>
              </a:rPr>
              <a:t>massive</a:t>
            </a:r>
            <a:r>
              <a:rPr sz="1800" spc="-50" dirty="0">
                <a:latin typeface="Calibri"/>
                <a:cs typeface="Calibri"/>
              </a:rPr>
              <a:t> </a:t>
            </a:r>
            <a:r>
              <a:rPr sz="1800" dirty="0">
                <a:latin typeface="Calibri"/>
                <a:cs typeface="Calibri"/>
              </a:rPr>
              <a:t>volumes</a:t>
            </a:r>
            <a:r>
              <a:rPr sz="1800" spc="-35" dirty="0">
                <a:latin typeface="Calibri"/>
                <a:cs typeface="Calibri"/>
              </a:rPr>
              <a:t> </a:t>
            </a:r>
            <a:r>
              <a:rPr sz="1800" dirty="0">
                <a:latin typeface="Calibri"/>
                <a:cs typeface="Calibri"/>
              </a:rPr>
              <a:t>of</a:t>
            </a:r>
            <a:r>
              <a:rPr sz="1800" spc="-20" dirty="0">
                <a:latin typeface="Calibri"/>
                <a:cs typeface="Calibri"/>
              </a:rPr>
              <a:t> </a:t>
            </a:r>
            <a:r>
              <a:rPr sz="1800" spc="-10" dirty="0">
                <a:latin typeface="Calibri"/>
                <a:cs typeface="Calibri"/>
              </a:rPr>
              <a:t>information. </a:t>
            </a:r>
            <a:r>
              <a:rPr sz="1800" dirty="0">
                <a:latin typeface="Calibri"/>
                <a:cs typeface="Calibri"/>
              </a:rPr>
              <a:t>Modern</a:t>
            </a:r>
            <a:r>
              <a:rPr sz="1800" spc="-50" dirty="0">
                <a:latin typeface="Calibri"/>
                <a:cs typeface="Calibri"/>
              </a:rPr>
              <a:t> </a:t>
            </a:r>
            <a:r>
              <a:rPr sz="1800" spc="-10" dirty="0">
                <a:latin typeface="Calibri"/>
                <a:cs typeface="Calibri"/>
              </a:rPr>
              <a:t>organizations</a:t>
            </a:r>
            <a:r>
              <a:rPr sz="1800" spc="-45" dirty="0">
                <a:latin typeface="Calibri"/>
                <a:cs typeface="Calibri"/>
              </a:rPr>
              <a:t> </a:t>
            </a:r>
            <a:r>
              <a:rPr sz="1800" spc="-10" dirty="0">
                <a:latin typeface="Calibri"/>
                <a:cs typeface="Calibri"/>
              </a:rPr>
              <a:t>generate</a:t>
            </a:r>
            <a:r>
              <a:rPr sz="1800" spc="-55" dirty="0">
                <a:latin typeface="Calibri"/>
                <a:cs typeface="Calibri"/>
              </a:rPr>
              <a:t> </a:t>
            </a:r>
            <a:r>
              <a:rPr sz="1800" spc="-10" dirty="0">
                <a:latin typeface="Calibri"/>
                <a:cs typeface="Calibri"/>
              </a:rPr>
              <a:t>terabytes,</a:t>
            </a:r>
            <a:r>
              <a:rPr sz="1800" spc="-60" dirty="0">
                <a:latin typeface="Calibri"/>
                <a:cs typeface="Calibri"/>
              </a:rPr>
              <a:t> </a:t>
            </a:r>
            <a:r>
              <a:rPr sz="1800" spc="-10" dirty="0">
                <a:latin typeface="Calibri"/>
                <a:cs typeface="Calibri"/>
              </a:rPr>
              <a:t>petabytes,</a:t>
            </a:r>
            <a:r>
              <a:rPr sz="1800" spc="-5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even</a:t>
            </a:r>
            <a:r>
              <a:rPr sz="1800" spc="-55" dirty="0">
                <a:latin typeface="Calibri"/>
                <a:cs typeface="Calibri"/>
              </a:rPr>
              <a:t> </a:t>
            </a:r>
            <a:r>
              <a:rPr sz="1800" spc="-10" dirty="0">
                <a:latin typeface="Calibri"/>
                <a:cs typeface="Calibri"/>
              </a:rPr>
              <a:t>exabytes</a:t>
            </a:r>
            <a:r>
              <a:rPr sz="1800" spc="-65" dirty="0">
                <a:latin typeface="Calibri"/>
                <a:cs typeface="Calibri"/>
              </a:rPr>
              <a:t> </a:t>
            </a:r>
            <a:r>
              <a:rPr sz="1800" dirty="0">
                <a:latin typeface="Calibri"/>
                <a:cs typeface="Calibri"/>
              </a:rPr>
              <a:t>of</a:t>
            </a:r>
            <a:r>
              <a:rPr sz="1800" spc="-45" dirty="0">
                <a:latin typeface="Calibri"/>
                <a:cs typeface="Calibri"/>
              </a:rPr>
              <a:t> </a:t>
            </a:r>
            <a:r>
              <a:rPr sz="1800" dirty="0">
                <a:latin typeface="Calibri"/>
                <a:cs typeface="Calibri"/>
              </a:rPr>
              <a:t>data</a:t>
            </a:r>
            <a:r>
              <a:rPr sz="1800" spc="-60" dirty="0">
                <a:latin typeface="Calibri"/>
                <a:cs typeface="Calibri"/>
              </a:rPr>
              <a:t> </a:t>
            </a:r>
            <a:r>
              <a:rPr sz="1800" spc="-10" dirty="0">
                <a:latin typeface="Calibri"/>
                <a:cs typeface="Calibri"/>
              </a:rPr>
              <a:t>every </a:t>
            </a:r>
            <a:r>
              <a:rPr sz="1800" spc="-35" dirty="0">
                <a:latin typeface="Calibri"/>
                <a:cs typeface="Calibri"/>
              </a:rPr>
              <a:t>day.</a:t>
            </a:r>
            <a:r>
              <a:rPr sz="1800" spc="-60" dirty="0">
                <a:latin typeface="Calibri"/>
                <a:cs typeface="Calibri"/>
              </a:rPr>
              <a:t> </a:t>
            </a:r>
            <a:r>
              <a:rPr sz="1800" spc="-10" dirty="0">
                <a:latin typeface="Calibri"/>
                <a:cs typeface="Calibri"/>
              </a:rPr>
              <a:t>Traditional</a:t>
            </a:r>
            <a:r>
              <a:rPr sz="1800" spc="-50" dirty="0">
                <a:latin typeface="Calibri"/>
                <a:cs typeface="Calibri"/>
              </a:rPr>
              <a:t> </a:t>
            </a:r>
            <a:r>
              <a:rPr sz="1800" spc="-10" dirty="0">
                <a:latin typeface="Calibri"/>
                <a:cs typeface="Calibri"/>
              </a:rPr>
              <a:t>storage</a:t>
            </a:r>
            <a:r>
              <a:rPr sz="1800" spc="-50" dirty="0">
                <a:latin typeface="Calibri"/>
                <a:cs typeface="Calibri"/>
              </a:rPr>
              <a:t> </a:t>
            </a:r>
            <a:r>
              <a:rPr sz="1800" spc="-10" dirty="0">
                <a:latin typeface="Calibri"/>
                <a:cs typeface="Calibri"/>
              </a:rPr>
              <a:t>systems</a:t>
            </a:r>
            <a:r>
              <a:rPr sz="1800" spc="-70" dirty="0">
                <a:latin typeface="Calibri"/>
                <a:cs typeface="Calibri"/>
              </a:rPr>
              <a:t> </a:t>
            </a:r>
            <a:r>
              <a:rPr sz="1800" dirty="0">
                <a:latin typeface="Calibri"/>
                <a:cs typeface="Calibri"/>
              </a:rPr>
              <a:t>are</a:t>
            </a:r>
            <a:r>
              <a:rPr sz="1800" spc="-55" dirty="0">
                <a:latin typeface="Calibri"/>
                <a:cs typeface="Calibri"/>
              </a:rPr>
              <a:t> </a:t>
            </a:r>
            <a:r>
              <a:rPr sz="1800" spc="-10" dirty="0">
                <a:latin typeface="Calibri"/>
                <a:cs typeface="Calibri"/>
              </a:rPr>
              <a:t>expensive,</a:t>
            </a:r>
            <a:r>
              <a:rPr sz="1800" spc="-55" dirty="0">
                <a:latin typeface="Calibri"/>
                <a:cs typeface="Calibri"/>
              </a:rPr>
              <a:t> </a:t>
            </a:r>
            <a:r>
              <a:rPr sz="1800" dirty="0">
                <a:latin typeface="Calibri"/>
                <a:cs typeface="Calibri"/>
              </a:rPr>
              <a:t>have</a:t>
            </a:r>
            <a:r>
              <a:rPr sz="1800" spc="-60" dirty="0">
                <a:latin typeface="Calibri"/>
                <a:cs typeface="Calibri"/>
              </a:rPr>
              <a:t> </a:t>
            </a:r>
            <a:r>
              <a:rPr sz="1800" dirty="0">
                <a:latin typeface="Calibri"/>
                <a:cs typeface="Calibri"/>
              </a:rPr>
              <a:t>limited</a:t>
            </a:r>
            <a:r>
              <a:rPr sz="1800" spc="-30" dirty="0">
                <a:latin typeface="Calibri"/>
                <a:cs typeface="Calibri"/>
              </a:rPr>
              <a:t> </a:t>
            </a:r>
            <a:r>
              <a:rPr sz="1800" spc="-10" dirty="0">
                <a:latin typeface="Calibri"/>
                <a:cs typeface="Calibri"/>
              </a:rPr>
              <a:t>scalability,</a:t>
            </a:r>
            <a:r>
              <a:rPr sz="1800" spc="-40" dirty="0">
                <a:latin typeface="Calibri"/>
                <a:cs typeface="Calibri"/>
              </a:rPr>
              <a:t> </a:t>
            </a:r>
            <a:r>
              <a:rPr sz="1800" dirty="0">
                <a:latin typeface="Calibri"/>
                <a:cs typeface="Calibri"/>
              </a:rPr>
              <a:t>and</a:t>
            </a:r>
            <a:r>
              <a:rPr sz="1800" spc="-60" dirty="0">
                <a:latin typeface="Calibri"/>
                <a:cs typeface="Calibri"/>
              </a:rPr>
              <a:t> </a:t>
            </a:r>
            <a:r>
              <a:rPr sz="1800" spc="-10" dirty="0">
                <a:latin typeface="Calibri"/>
                <a:cs typeface="Calibri"/>
              </a:rPr>
              <a:t>cannot</a:t>
            </a:r>
            <a:endParaRPr sz="1800">
              <a:latin typeface="Calibri"/>
              <a:cs typeface="Calibri"/>
            </a:endParaRPr>
          </a:p>
        </p:txBody>
      </p:sp>
      <p:sp>
        <p:nvSpPr>
          <p:cNvPr id="4" name="object 4"/>
          <p:cNvSpPr txBox="1"/>
          <p:nvPr/>
        </p:nvSpPr>
        <p:spPr>
          <a:xfrm>
            <a:off x="377443" y="3871341"/>
            <a:ext cx="4429760" cy="16719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efficiently</a:t>
            </a:r>
            <a:r>
              <a:rPr sz="1800" spc="-35" dirty="0">
                <a:latin typeface="Calibri"/>
                <a:cs typeface="Calibri"/>
              </a:rPr>
              <a:t> </a:t>
            </a:r>
            <a:r>
              <a:rPr sz="1800" dirty="0">
                <a:latin typeface="Calibri"/>
                <a:cs typeface="Calibri"/>
              </a:rPr>
              <a:t>manage</a:t>
            </a:r>
            <a:r>
              <a:rPr sz="1800" spc="-30" dirty="0">
                <a:latin typeface="Calibri"/>
                <a:cs typeface="Calibri"/>
              </a:rPr>
              <a:t> </a:t>
            </a:r>
            <a:r>
              <a:rPr sz="1800" dirty="0">
                <a:latin typeface="Calibri"/>
                <a:cs typeface="Calibri"/>
              </a:rPr>
              <a:t>such</a:t>
            </a:r>
            <a:r>
              <a:rPr sz="1800" spc="-20" dirty="0">
                <a:latin typeface="Calibri"/>
                <a:cs typeface="Calibri"/>
              </a:rPr>
              <a:t> </a:t>
            </a:r>
            <a:r>
              <a:rPr sz="1800" dirty="0">
                <a:latin typeface="Calibri"/>
                <a:cs typeface="Calibri"/>
              </a:rPr>
              <a:t>enormous</a:t>
            </a:r>
            <a:r>
              <a:rPr sz="1800" spc="-35" dirty="0">
                <a:latin typeface="Calibri"/>
                <a:cs typeface="Calibri"/>
              </a:rPr>
              <a:t> </a:t>
            </a:r>
            <a:r>
              <a:rPr sz="1800" spc="-10" dirty="0">
                <a:latin typeface="Calibri"/>
                <a:cs typeface="Calibri"/>
              </a:rPr>
              <a:t>datasets.</a:t>
            </a:r>
            <a:endParaRPr sz="1800">
              <a:latin typeface="Calibri"/>
              <a:cs typeface="Calibri"/>
            </a:endParaRPr>
          </a:p>
          <a:p>
            <a:pPr marL="12700">
              <a:lnSpc>
                <a:spcPct val="100000"/>
              </a:lnSpc>
            </a:pPr>
            <a:r>
              <a:rPr sz="1800" b="1" dirty="0">
                <a:latin typeface="Calibri"/>
                <a:cs typeface="Calibri"/>
              </a:rPr>
              <a:t>Why</a:t>
            </a:r>
            <a:r>
              <a:rPr sz="1800" b="1" spc="-15" dirty="0">
                <a:latin typeface="Calibri"/>
                <a:cs typeface="Calibri"/>
              </a:rPr>
              <a:t> </a:t>
            </a:r>
            <a:r>
              <a:rPr sz="1800" b="1" dirty="0">
                <a:latin typeface="Calibri"/>
                <a:cs typeface="Calibri"/>
              </a:rPr>
              <a:t>is</a:t>
            </a:r>
            <a:r>
              <a:rPr sz="1800" b="1" spc="-25" dirty="0">
                <a:latin typeface="Calibri"/>
                <a:cs typeface="Calibri"/>
              </a:rPr>
              <a:t> </a:t>
            </a:r>
            <a:r>
              <a:rPr sz="1800" b="1" dirty="0">
                <a:latin typeface="Calibri"/>
                <a:cs typeface="Calibri"/>
              </a:rPr>
              <a:t>it</a:t>
            </a:r>
            <a:r>
              <a:rPr sz="1800" b="1" spc="-15" dirty="0">
                <a:latin typeface="Calibri"/>
                <a:cs typeface="Calibri"/>
              </a:rPr>
              <a:t> </a:t>
            </a:r>
            <a:r>
              <a:rPr sz="1800" b="1" dirty="0">
                <a:latin typeface="Calibri"/>
                <a:cs typeface="Calibri"/>
              </a:rPr>
              <a:t>a</a:t>
            </a:r>
            <a:r>
              <a:rPr sz="1800" b="1" spc="-5" dirty="0">
                <a:latin typeface="Calibri"/>
                <a:cs typeface="Calibri"/>
              </a:rPr>
              <a:t> </a:t>
            </a:r>
            <a:r>
              <a:rPr sz="1800" b="1" spc="-10" dirty="0">
                <a:latin typeface="Calibri"/>
                <a:cs typeface="Calibri"/>
              </a:rPr>
              <a:t>challenge?</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Huge</a:t>
            </a:r>
            <a:r>
              <a:rPr sz="1800" spc="-35" dirty="0">
                <a:latin typeface="Calibri"/>
                <a:cs typeface="Calibri"/>
              </a:rPr>
              <a:t> </a:t>
            </a:r>
            <a:r>
              <a:rPr sz="1800" spc="-10" dirty="0">
                <a:latin typeface="Calibri"/>
                <a:cs typeface="Calibri"/>
              </a:rPr>
              <a:t>storage</a:t>
            </a:r>
            <a:r>
              <a:rPr sz="1800" spc="-50" dirty="0">
                <a:latin typeface="Calibri"/>
                <a:cs typeface="Calibri"/>
              </a:rPr>
              <a:t> </a:t>
            </a:r>
            <a:r>
              <a:rPr sz="1800" dirty="0">
                <a:latin typeface="Calibri"/>
                <a:cs typeface="Calibri"/>
              </a:rPr>
              <a:t>capacity</a:t>
            </a:r>
            <a:r>
              <a:rPr sz="1800" spc="-35" dirty="0">
                <a:latin typeface="Calibri"/>
                <a:cs typeface="Calibri"/>
              </a:rPr>
              <a:t> </a:t>
            </a:r>
            <a:r>
              <a:rPr sz="1800" dirty="0">
                <a:latin typeface="Calibri"/>
                <a:cs typeface="Calibri"/>
              </a:rPr>
              <a:t>is</a:t>
            </a:r>
            <a:r>
              <a:rPr sz="1800" spc="-45" dirty="0">
                <a:latin typeface="Calibri"/>
                <a:cs typeface="Calibri"/>
              </a:rPr>
              <a:t> </a:t>
            </a:r>
            <a:r>
              <a:rPr sz="1800" spc="-10" dirty="0">
                <a:latin typeface="Calibri"/>
                <a:cs typeface="Calibri"/>
              </a:rPr>
              <a:t>required.</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Data</a:t>
            </a:r>
            <a:r>
              <a:rPr sz="1800" spc="-75" dirty="0">
                <a:latin typeface="Calibri"/>
                <a:cs typeface="Calibri"/>
              </a:rPr>
              <a:t> </a:t>
            </a:r>
            <a:r>
              <a:rPr sz="1800" dirty="0">
                <a:latin typeface="Calibri"/>
                <a:cs typeface="Calibri"/>
              </a:rPr>
              <a:t>grows</a:t>
            </a:r>
            <a:r>
              <a:rPr sz="1800" spc="-95" dirty="0">
                <a:latin typeface="Calibri"/>
                <a:cs typeface="Calibri"/>
              </a:rPr>
              <a:t> </a:t>
            </a:r>
            <a:r>
              <a:rPr sz="1800" spc="-10" dirty="0">
                <a:latin typeface="Calibri"/>
                <a:cs typeface="Calibri"/>
              </a:rPr>
              <a:t>continuously.</a:t>
            </a:r>
            <a:endParaRPr sz="1800">
              <a:latin typeface="Calibri"/>
              <a:cs typeface="Calibri"/>
            </a:endParaRPr>
          </a:p>
          <a:p>
            <a:pPr marL="91440" indent="-90805">
              <a:lnSpc>
                <a:spcPct val="100000"/>
              </a:lnSpc>
              <a:buSzPct val="75000"/>
              <a:buFont typeface="Tahoma"/>
              <a:buChar char="•"/>
              <a:tabLst>
                <a:tab pos="91440" algn="l"/>
              </a:tabLst>
            </a:pPr>
            <a:r>
              <a:rPr sz="1800" spc="-10" dirty="0">
                <a:latin typeface="Calibri"/>
                <a:cs typeface="Calibri"/>
              </a:rPr>
              <a:t>Different</a:t>
            </a:r>
            <a:r>
              <a:rPr sz="1800" spc="-50" dirty="0">
                <a:latin typeface="Calibri"/>
                <a:cs typeface="Calibri"/>
              </a:rPr>
              <a:t> </a:t>
            </a:r>
            <a:r>
              <a:rPr sz="1800" dirty="0">
                <a:latin typeface="Calibri"/>
                <a:cs typeface="Calibri"/>
              </a:rPr>
              <a:t>file</a:t>
            </a:r>
            <a:r>
              <a:rPr sz="1800" spc="-45" dirty="0">
                <a:latin typeface="Calibri"/>
                <a:cs typeface="Calibri"/>
              </a:rPr>
              <a:t> </a:t>
            </a:r>
            <a:r>
              <a:rPr sz="1800" dirty="0">
                <a:latin typeface="Calibri"/>
                <a:cs typeface="Calibri"/>
              </a:rPr>
              <a:t>formats</a:t>
            </a:r>
            <a:r>
              <a:rPr sz="1800" spc="-65" dirty="0">
                <a:latin typeface="Calibri"/>
                <a:cs typeface="Calibri"/>
              </a:rPr>
              <a:t> </a:t>
            </a:r>
            <a:r>
              <a:rPr sz="1800" spc="-10" dirty="0">
                <a:latin typeface="Calibri"/>
                <a:cs typeface="Calibri"/>
              </a:rPr>
              <a:t>require</a:t>
            </a:r>
            <a:r>
              <a:rPr sz="1800" spc="-45" dirty="0">
                <a:latin typeface="Calibri"/>
                <a:cs typeface="Calibri"/>
              </a:rPr>
              <a:t> </a:t>
            </a:r>
            <a:r>
              <a:rPr sz="1800" dirty="0">
                <a:latin typeface="Calibri"/>
                <a:cs typeface="Calibri"/>
              </a:rPr>
              <a:t>flexible</a:t>
            </a:r>
            <a:r>
              <a:rPr sz="1800" spc="-45" dirty="0">
                <a:latin typeface="Calibri"/>
                <a:cs typeface="Calibri"/>
              </a:rPr>
              <a:t> </a:t>
            </a:r>
            <a:r>
              <a:rPr sz="1800" spc="-10" dirty="0">
                <a:latin typeface="Calibri"/>
                <a:cs typeface="Calibri"/>
              </a:rPr>
              <a:t>storage.</a:t>
            </a:r>
            <a:endParaRPr sz="1800">
              <a:latin typeface="Calibri"/>
              <a:cs typeface="Calibri"/>
            </a:endParaRPr>
          </a:p>
          <a:p>
            <a:pPr marL="91440" indent="-90805">
              <a:lnSpc>
                <a:spcPct val="100000"/>
              </a:lnSpc>
              <a:buSzPct val="75000"/>
              <a:buFont typeface="Tahoma"/>
              <a:buChar char="•"/>
              <a:tabLst>
                <a:tab pos="91440" algn="l"/>
              </a:tabLst>
            </a:pPr>
            <a:r>
              <a:rPr sz="1800" dirty="0">
                <a:latin typeface="Calibri"/>
                <a:cs typeface="Calibri"/>
              </a:rPr>
              <a:t>Backup</a:t>
            </a:r>
            <a:r>
              <a:rPr sz="1800" spc="-6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disaster</a:t>
            </a:r>
            <a:r>
              <a:rPr sz="1800" spc="-60" dirty="0">
                <a:latin typeface="Calibri"/>
                <a:cs typeface="Calibri"/>
              </a:rPr>
              <a:t> </a:t>
            </a:r>
            <a:r>
              <a:rPr sz="1800" spc="-10" dirty="0">
                <a:latin typeface="Calibri"/>
                <a:cs typeface="Calibri"/>
              </a:rPr>
              <a:t>recovery</a:t>
            </a:r>
            <a:r>
              <a:rPr sz="1800" spc="-55" dirty="0">
                <a:latin typeface="Calibri"/>
                <a:cs typeface="Calibri"/>
              </a:rPr>
              <a:t> </a:t>
            </a:r>
            <a:r>
              <a:rPr sz="1800" dirty="0">
                <a:latin typeface="Calibri"/>
                <a:cs typeface="Calibri"/>
              </a:rPr>
              <a:t>become</a:t>
            </a:r>
            <a:r>
              <a:rPr sz="1800" spc="-40" dirty="0">
                <a:latin typeface="Calibri"/>
                <a:cs typeface="Calibri"/>
              </a:rPr>
              <a:t> </a:t>
            </a:r>
            <a:r>
              <a:rPr sz="1800" spc="-10" dirty="0">
                <a:latin typeface="Calibri"/>
                <a:cs typeface="Calibri"/>
              </a:rPr>
              <a:t>difficult.</a:t>
            </a:r>
            <a:endParaRPr sz="1800">
              <a:latin typeface="Calibri"/>
              <a:cs typeface="Calibri"/>
            </a:endParaRPr>
          </a:p>
        </p:txBody>
      </p:sp>
      <p:sp>
        <p:nvSpPr>
          <p:cNvPr id="5" name="object 5"/>
          <p:cNvSpPr txBox="1"/>
          <p:nvPr/>
        </p:nvSpPr>
        <p:spPr>
          <a:xfrm>
            <a:off x="377443" y="5791911"/>
            <a:ext cx="1623695" cy="57404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Example</a:t>
            </a:r>
            <a:endParaRPr sz="1800">
              <a:latin typeface="Calibri"/>
              <a:cs typeface="Calibri"/>
            </a:endParaRPr>
          </a:p>
          <a:p>
            <a:pPr marL="12700">
              <a:lnSpc>
                <a:spcPct val="100000"/>
              </a:lnSpc>
            </a:pPr>
            <a:r>
              <a:rPr sz="1800" dirty="0">
                <a:latin typeface="Calibri"/>
                <a:cs typeface="Calibri"/>
              </a:rPr>
              <a:t>A</a:t>
            </a:r>
            <a:r>
              <a:rPr sz="1800" spc="-40" dirty="0">
                <a:latin typeface="Calibri"/>
                <a:cs typeface="Calibri"/>
              </a:rPr>
              <a:t> </a:t>
            </a:r>
            <a:r>
              <a:rPr sz="1800" dirty="0">
                <a:latin typeface="Calibri"/>
                <a:cs typeface="Calibri"/>
              </a:rPr>
              <a:t>hospital</a:t>
            </a:r>
            <a:r>
              <a:rPr sz="1800" spc="-40" dirty="0">
                <a:latin typeface="Calibri"/>
                <a:cs typeface="Calibri"/>
              </a:rPr>
              <a:t> </a:t>
            </a:r>
            <a:r>
              <a:rPr sz="1800" spc="-10" dirty="0">
                <a:latin typeface="Calibri"/>
                <a:cs typeface="Calibri"/>
              </a:rPr>
              <a:t>stores:</a:t>
            </a:r>
            <a:endParaRPr sz="1800">
              <a:latin typeface="Calibri"/>
              <a:cs typeface="Calibri"/>
            </a:endParaRPr>
          </a:p>
        </p:txBody>
      </p:sp>
      <p:sp>
        <p:nvSpPr>
          <p:cNvPr id="6" name="object 6"/>
          <p:cNvSpPr txBox="1"/>
          <p:nvPr/>
        </p:nvSpPr>
        <p:spPr>
          <a:xfrm>
            <a:off x="377443" y="6340551"/>
            <a:ext cx="6640830" cy="574675"/>
          </a:xfrm>
          <a:prstGeom prst="rect">
            <a:avLst/>
          </a:prstGeom>
        </p:spPr>
        <p:txBody>
          <a:bodyPr vert="horz" wrap="square" lIns="0" tIns="12700" rIns="0" bIns="0" rtlCol="0">
            <a:spAutoFit/>
          </a:bodyPr>
          <a:lstStyle/>
          <a:p>
            <a:pPr marL="91440" indent="-90805">
              <a:lnSpc>
                <a:spcPct val="100000"/>
              </a:lnSpc>
              <a:spcBef>
                <a:spcPts val="100"/>
              </a:spcBef>
              <a:buSzPct val="75000"/>
              <a:buFont typeface="Tahoma"/>
              <a:buChar char="•"/>
              <a:tabLst>
                <a:tab pos="91440" algn="l"/>
              </a:tabLst>
            </a:pPr>
            <a:r>
              <a:rPr sz="1800" dirty="0">
                <a:latin typeface="Calibri"/>
                <a:cs typeface="Calibri"/>
              </a:rPr>
              <a:t>MRI</a:t>
            </a:r>
            <a:r>
              <a:rPr sz="1800" spc="-50" dirty="0">
                <a:latin typeface="Calibri"/>
                <a:cs typeface="Calibri"/>
              </a:rPr>
              <a:t> </a:t>
            </a:r>
            <a:r>
              <a:rPr sz="1800" dirty="0">
                <a:latin typeface="Calibri"/>
                <a:cs typeface="Calibri"/>
              </a:rPr>
              <a:t>images</a:t>
            </a:r>
            <a:r>
              <a:rPr sz="1800" spc="-40" dirty="0">
                <a:latin typeface="Calibri"/>
                <a:cs typeface="Calibri"/>
              </a:rPr>
              <a:t> </a:t>
            </a:r>
            <a:r>
              <a:rPr sz="1800" dirty="0">
                <a:latin typeface="Calibri"/>
                <a:cs typeface="Calibri"/>
              </a:rPr>
              <a:t>,CT</a:t>
            </a:r>
            <a:r>
              <a:rPr sz="1800" spc="-50" dirty="0">
                <a:latin typeface="Calibri"/>
                <a:cs typeface="Calibri"/>
              </a:rPr>
              <a:t> </a:t>
            </a:r>
            <a:r>
              <a:rPr sz="1800" dirty="0">
                <a:latin typeface="Calibri"/>
                <a:cs typeface="Calibri"/>
              </a:rPr>
              <a:t>scans</a:t>
            </a:r>
            <a:r>
              <a:rPr sz="1800" spc="-40" dirty="0">
                <a:latin typeface="Calibri"/>
                <a:cs typeface="Calibri"/>
              </a:rPr>
              <a:t> </a:t>
            </a:r>
            <a:r>
              <a:rPr sz="1800" dirty="0">
                <a:latin typeface="Calibri"/>
                <a:cs typeface="Calibri"/>
              </a:rPr>
              <a:t>,X-ray</a:t>
            </a:r>
            <a:r>
              <a:rPr sz="1800" spc="-45" dirty="0">
                <a:latin typeface="Calibri"/>
                <a:cs typeface="Calibri"/>
              </a:rPr>
              <a:t> </a:t>
            </a:r>
            <a:r>
              <a:rPr sz="1800" dirty="0">
                <a:latin typeface="Calibri"/>
                <a:cs typeface="Calibri"/>
              </a:rPr>
              <a:t>images</a:t>
            </a:r>
            <a:r>
              <a:rPr sz="1800" spc="-55" dirty="0">
                <a:latin typeface="Calibri"/>
                <a:cs typeface="Calibri"/>
              </a:rPr>
              <a:t> </a:t>
            </a:r>
            <a:r>
              <a:rPr sz="1800" spc="-10" dirty="0">
                <a:latin typeface="Calibri"/>
                <a:cs typeface="Calibri"/>
              </a:rPr>
              <a:t>,Laboratory</a:t>
            </a:r>
            <a:r>
              <a:rPr sz="1800" spc="-35" dirty="0">
                <a:latin typeface="Calibri"/>
                <a:cs typeface="Calibri"/>
              </a:rPr>
              <a:t> </a:t>
            </a:r>
            <a:r>
              <a:rPr sz="1800" dirty="0">
                <a:latin typeface="Calibri"/>
                <a:cs typeface="Calibri"/>
              </a:rPr>
              <a:t>reports</a:t>
            </a:r>
            <a:r>
              <a:rPr sz="1800" spc="-45" dirty="0">
                <a:latin typeface="Calibri"/>
                <a:cs typeface="Calibri"/>
              </a:rPr>
              <a:t> </a:t>
            </a:r>
            <a:r>
              <a:rPr sz="1800" spc="-10" dirty="0">
                <a:latin typeface="Calibri"/>
                <a:cs typeface="Calibri"/>
              </a:rPr>
              <a:t>,Patient</a:t>
            </a:r>
            <a:r>
              <a:rPr sz="1800" spc="-50" dirty="0">
                <a:latin typeface="Calibri"/>
                <a:cs typeface="Calibri"/>
              </a:rPr>
              <a:t> </a:t>
            </a:r>
            <a:r>
              <a:rPr sz="1800" spc="-10" dirty="0">
                <a:latin typeface="Calibri"/>
                <a:cs typeface="Calibri"/>
              </a:rPr>
              <a:t>videos</a:t>
            </a:r>
            <a:endParaRPr sz="1800">
              <a:latin typeface="Calibri"/>
              <a:cs typeface="Calibri"/>
            </a:endParaRPr>
          </a:p>
          <a:p>
            <a:pPr marL="12700">
              <a:lnSpc>
                <a:spcPct val="100000"/>
              </a:lnSpc>
            </a:pPr>
            <a:r>
              <a:rPr sz="1800" dirty="0">
                <a:latin typeface="Calibri"/>
                <a:cs typeface="Calibri"/>
              </a:rPr>
              <a:t>This</a:t>
            </a:r>
            <a:r>
              <a:rPr sz="1800" spc="-35" dirty="0">
                <a:latin typeface="Calibri"/>
                <a:cs typeface="Calibri"/>
              </a:rPr>
              <a:t> </a:t>
            </a:r>
            <a:r>
              <a:rPr sz="1800" dirty="0">
                <a:latin typeface="Calibri"/>
                <a:cs typeface="Calibri"/>
              </a:rPr>
              <a:t>can</a:t>
            </a:r>
            <a:r>
              <a:rPr sz="1800" spc="-25" dirty="0">
                <a:latin typeface="Calibri"/>
                <a:cs typeface="Calibri"/>
              </a:rPr>
              <a:t> </a:t>
            </a:r>
            <a:r>
              <a:rPr sz="1800" dirty="0">
                <a:latin typeface="Calibri"/>
                <a:cs typeface="Calibri"/>
              </a:rPr>
              <a:t>easily</a:t>
            </a:r>
            <a:r>
              <a:rPr sz="1800" spc="-30" dirty="0">
                <a:latin typeface="Calibri"/>
                <a:cs typeface="Calibri"/>
              </a:rPr>
              <a:t> </a:t>
            </a:r>
            <a:r>
              <a:rPr sz="1800" spc="-10" dirty="0">
                <a:latin typeface="Calibri"/>
                <a:cs typeface="Calibri"/>
              </a:rPr>
              <a:t>require</a:t>
            </a:r>
            <a:r>
              <a:rPr sz="1800" spc="-25" dirty="0">
                <a:latin typeface="Calibri"/>
                <a:cs typeface="Calibri"/>
              </a:rPr>
              <a:t> </a:t>
            </a:r>
            <a:r>
              <a:rPr sz="1800" dirty="0">
                <a:latin typeface="Calibri"/>
                <a:cs typeface="Calibri"/>
              </a:rPr>
              <a:t>several</a:t>
            </a:r>
            <a:r>
              <a:rPr sz="1800" spc="-35" dirty="0">
                <a:latin typeface="Calibri"/>
                <a:cs typeface="Calibri"/>
              </a:rPr>
              <a:t> </a:t>
            </a:r>
            <a:r>
              <a:rPr sz="1800" spc="-10" dirty="0">
                <a:latin typeface="Calibri"/>
                <a:cs typeface="Calibri"/>
              </a:rPr>
              <a:t>petabytes</a:t>
            </a:r>
            <a:r>
              <a:rPr sz="1800" spc="-35" dirty="0">
                <a:latin typeface="Calibri"/>
                <a:cs typeface="Calibri"/>
              </a:rPr>
              <a:t> </a:t>
            </a:r>
            <a:r>
              <a:rPr sz="1800" dirty="0">
                <a:latin typeface="Calibri"/>
                <a:cs typeface="Calibri"/>
              </a:rPr>
              <a:t>of</a:t>
            </a:r>
            <a:r>
              <a:rPr sz="1800" spc="-30" dirty="0">
                <a:latin typeface="Calibri"/>
                <a:cs typeface="Calibri"/>
              </a:rPr>
              <a:t> </a:t>
            </a:r>
            <a:r>
              <a:rPr sz="1800" spc="-10" dirty="0">
                <a:latin typeface="Calibri"/>
                <a:cs typeface="Calibri"/>
              </a:rPr>
              <a:t>storage.</a:t>
            </a:r>
            <a:endParaRPr sz="1800">
              <a:latin typeface="Calibri"/>
              <a:cs typeface="Calibri"/>
            </a:endParaRPr>
          </a:p>
        </p:txBody>
      </p:sp>
      <p:sp>
        <p:nvSpPr>
          <p:cNvPr id="7" name="object 7"/>
          <p:cNvSpPr txBox="1"/>
          <p:nvPr/>
        </p:nvSpPr>
        <p:spPr>
          <a:xfrm>
            <a:off x="5449823" y="4084281"/>
            <a:ext cx="3487420" cy="2031364"/>
          </a:xfrm>
          <a:prstGeom prst="rect">
            <a:avLst/>
          </a:prstGeom>
          <a:solidFill>
            <a:srgbClr val="DFE3DB"/>
          </a:solidFill>
        </p:spPr>
        <p:txBody>
          <a:bodyPr vert="horz" wrap="square" lIns="0" tIns="31115" rIns="0" bIns="0" rtlCol="0">
            <a:spAutoFit/>
          </a:bodyPr>
          <a:lstStyle/>
          <a:p>
            <a:pPr marL="92075">
              <a:lnSpc>
                <a:spcPct val="100000"/>
              </a:lnSpc>
              <a:spcBef>
                <a:spcPts val="245"/>
              </a:spcBef>
            </a:pPr>
            <a:r>
              <a:rPr sz="1800" b="1" spc="-10" dirty="0">
                <a:latin typeface="Calibri"/>
                <a:cs typeface="Calibri"/>
              </a:rPr>
              <a:t>Solution</a:t>
            </a:r>
            <a:endParaRPr sz="1800">
              <a:latin typeface="Calibri"/>
              <a:cs typeface="Calibri"/>
            </a:endParaRPr>
          </a:p>
          <a:p>
            <a:pPr marL="92075" marR="393700" indent="-32384">
              <a:lnSpc>
                <a:spcPct val="100000"/>
              </a:lnSpc>
              <a:buSzPct val="94444"/>
              <a:buFont typeface="Tahoma"/>
              <a:buChar char="•"/>
              <a:tabLst>
                <a:tab pos="170815" algn="l"/>
              </a:tabLst>
            </a:pPr>
            <a:r>
              <a:rPr sz="1800" dirty="0">
                <a:latin typeface="Calibri"/>
                <a:cs typeface="Calibri"/>
              </a:rPr>
              <a:t>	Hadoop</a:t>
            </a:r>
            <a:r>
              <a:rPr sz="1800" spc="-25" dirty="0">
                <a:latin typeface="Calibri"/>
                <a:cs typeface="Calibri"/>
              </a:rPr>
              <a:t> </a:t>
            </a:r>
            <a:r>
              <a:rPr sz="1800" spc="-10" dirty="0">
                <a:latin typeface="Calibri"/>
                <a:cs typeface="Calibri"/>
              </a:rPr>
              <a:t>Distributed</a:t>
            </a:r>
            <a:r>
              <a:rPr sz="1800" spc="-20" dirty="0">
                <a:latin typeface="Calibri"/>
                <a:cs typeface="Calibri"/>
              </a:rPr>
              <a:t> </a:t>
            </a:r>
            <a:r>
              <a:rPr sz="1800" dirty="0">
                <a:latin typeface="Calibri"/>
                <a:cs typeface="Calibri"/>
              </a:rPr>
              <a:t>File</a:t>
            </a:r>
            <a:r>
              <a:rPr sz="1800" spc="-25" dirty="0">
                <a:latin typeface="Calibri"/>
                <a:cs typeface="Calibri"/>
              </a:rPr>
              <a:t> </a:t>
            </a:r>
            <a:r>
              <a:rPr sz="1800" spc="-10" dirty="0">
                <a:latin typeface="Calibri"/>
                <a:cs typeface="Calibri"/>
              </a:rPr>
              <a:t>System (HDFS)</a:t>
            </a:r>
            <a:endParaRPr sz="1800">
              <a:latin typeface="Calibri"/>
              <a:cs typeface="Calibri"/>
            </a:endParaRPr>
          </a:p>
          <a:p>
            <a:pPr marL="92075" marR="227329" indent="-32384">
              <a:lnSpc>
                <a:spcPct val="100000"/>
              </a:lnSpc>
              <a:buSzPct val="94444"/>
              <a:buFont typeface="Tahoma"/>
              <a:buChar char="•"/>
              <a:tabLst>
                <a:tab pos="170815" algn="l"/>
              </a:tabLst>
            </a:pPr>
            <a:r>
              <a:rPr sz="1800" dirty="0">
                <a:latin typeface="Calibri"/>
                <a:cs typeface="Calibri"/>
              </a:rPr>
              <a:t>	Cloud</a:t>
            </a:r>
            <a:r>
              <a:rPr sz="1800" spc="-50" dirty="0">
                <a:latin typeface="Calibri"/>
                <a:cs typeface="Calibri"/>
              </a:rPr>
              <a:t> </a:t>
            </a:r>
            <a:r>
              <a:rPr sz="1800" dirty="0">
                <a:latin typeface="Calibri"/>
                <a:cs typeface="Calibri"/>
              </a:rPr>
              <a:t>Storage</a:t>
            </a:r>
            <a:r>
              <a:rPr sz="1800" spc="-65" dirty="0">
                <a:latin typeface="Calibri"/>
                <a:cs typeface="Calibri"/>
              </a:rPr>
              <a:t> </a:t>
            </a:r>
            <a:r>
              <a:rPr sz="1800" dirty="0">
                <a:latin typeface="Calibri"/>
                <a:cs typeface="Calibri"/>
              </a:rPr>
              <a:t>(Amazon</a:t>
            </a:r>
            <a:r>
              <a:rPr sz="1800" spc="-55" dirty="0">
                <a:latin typeface="Calibri"/>
                <a:cs typeface="Calibri"/>
              </a:rPr>
              <a:t> </a:t>
            </a:r>
            <a:r>
              <a:rPr sz="1800" dirty="0">
                <a:latin typeface="Calibri"/>
                <a:cs typeface="Calibri"/>
              </a:rPr>
              <a:t>S3,</a:t>
            </a:r>
            <a:r>
              <a:rPr sz="1800" spc="-60" dirty="0">
                <a:latin typeface="Calibri"/>
                <a:cs typeface="Calibri"/>
              </a:rPr>
              <a:t> </a:t>
            </a:r>
            <a:r>
              <a:rPr sz="1800" spc="-20" dirty="0">
                <a:latin typeface="Calibri"/>
                <a:cs typeface="Calibri"/>
              </a:rPr>
              <a:t>Azure </a:t>
            </a:r>
            <a:r>
              <a:rPr sz="1800" dirty="0">
                <a:latin typeface="Calibri"/>
                <a:cs typeface="Calibri"/>
              </a:rPr>
              <a:t>Data</a:t>
            </a:r>
            <a:r>
              <a:rPr sz="1800" spc="-65" dirty="0">
                <a:latin typeface="Calibri"/>
                <a:cs typeface="Calibri"/>
              </a:rPr>
              <a:t> </a:t>
            </a:r>
            <a:r>
              <a:rPr sz="1800" dirty="0">
                <a:latin typeface="Calibri"/>
                <a:cs typeface="Calibri"/>
              </a:rPr>
              <a:t>Lake,</a:t>
            </a:r>
            <a:r>
              <a:rPr sz="1800" spc="-60" dirty="0">
                <a:latin typeface="Calibri"/>
                <a:cs typeface="Calibri"/>
              </a:rPr>
              <a:t> </a:t>
            </a:r>
            <a:r>
              <a:rPr sz="1800" dirty="0">
                <a:latin typeface="Calibri"/>
                <a:cs typeface="Calibri"/>
              </a:rPr>
              <a:t>Google</a:t>
            </a:r>
            <a:r>
              <a:rPr sz="1800" spc="-60" dirty="0">
                <a:latin typeface="Calibri"/>
                <a:cs typeface="Calibri"/>
              </a:rPr>
              <a:t> </a:t>
            </a:r>
            <a:r>
              <a:rPr sz="1800" dirty="0">
                <a:latin typeface="Calibri"/>
                <a:cs typeface="Calibri"/>
              </a:rPr>
              <a:t>Cloud</a:t>
            </a:r>
            <a:r>
              <a:rPr sz="1800" spc="-55" dirty="0">
                <a:latin typeface="Calibri"/>
                <a:cs typeface="Calibri"/>
              </a:rPr>
              <a:t> </a:t>
            </a:r>
            <a:r>
              <a:rPr sz="1800" spc="-10" dirty="0">
                <a:latin typeface="Calibri"/>
                <a:cs typeface="Calibri"/>
              </a:rPr>
              <a:t>Storage)</a:t>
            </a:r>
            <a:endParaRPr sz="1800">
              <a:latin typeface="Calibri"/>
              <a:cs typeface="Calibri"/>
            </a:endParaRPr>
          </a:p>
          <a:p>
            <a:pPr marL="170815" indent="-111125">
              <a:lnSpc>
                <a:spcPct val="100000"/>
              </a:lnSpc>
              <a:spcBef>
                <a:spcPts val="5"/>
              </a:spcBef>
              <a:buSzPct val="94444"/>
              <a:buFont typeface="Tahoma"/>
              <a:buChar char="•"/>
              <a:tabLst>
                <a:tab pos="170815" algn="l"/>
              </a:tabLst>
            </a:pPr>
            <a:r>
              <a:rPr sz="1800" spc="-10" dirty="0">
                <a:latin typeface="Calibri"/>
                <a:cs typeface="Calibri"/>
              </a:rPr>
              <a:t>Distributed</a:t>
            </a:r>
            <a:r>
              <a:rPr sz="1800" dirty="0">
                <a:latin typeface="Calibri"/>
                <a:cs typeface="Calibri"/>
              </a:rPr>
              <a:t> File</a:t>
            </a:r>
            <a:r>
              <a:rPr sz="1800" spc="-10" dirty="0">
                <a:latin typeface="Calibri"/>
                <a:cs typeface="Calibri"/>
              </a:rPr>
              <a:t> Systems</a:t>
            </a:r>
            <a:endParaRPr sz="18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marR="5080">
              <a:lnSpc>
                <a:spcPct val="148600"/>
              </a:lnSpc>
              <a:spcBef>
                <a:spcPts val="95"/>
              </a:spcBef>
            </a:pPr>
            <a:r>
              <a:rPr dirty="0"/>
              <a:t>2.</a:t>
            </a:r>
            <a:r>
              <a:rPr spc="-50" dirty="0"/>
              <a:t> </a:t>
            </a:r>
            <a:r>
              <a:rPr dirty="0"/>
              <a:t>Data</a:t>
            </a:r>
            <a:r>
              <a:rPr spc="-40" dirty="0"/>
              <a:t> </a:t>
            </a:r>
            <a:r>
              <a:rPr dirty="0"/>
              <a:t>Processing</a:t>
            </a:r>
            <a:r>
              <a:rPr spc="-65" dirty="0"/>
              <a:t> </a:t>
            </a:r>
            <a:r>
              <a:rPr spc="-10" dirty="0"/>
              <a:t>Challenge Explanation</a:t>
            </a:r>
          </a:p>
        </p:txBody>
      </p:sp>
      <p:sp>
        <p:nvSpPr>
          <p:cNvPr id="3" name="object 3"/>
          <p:cNvSpPr txBox="1"/>
          <p:nvPr/>
        </p:nvSpPr>
        <p:spPr>
          <a:xfrm>
            <a:off x="310388" y="1048257"/>
            <a:ext cx="6019165" cy="879475"/>
          </a:xfrm>
          <a:prstGeom prst="rect">
            <a:avLst/>
          </a:prstGeom>
        </p:spPr>
        <p:txBody>
          <a:bodyPr vert="horz" wrap="square" lIns="0" tIns="47625" rIns="0" bIns="0" rtlCol="0">
            <a:spAutoFit/>
          </a:bodyPr>
          <a:lstStyle/>
          <a:p>
            <a:pPr marL="12700" marR="5080" algn="just">
              <a:lnSpc>
                <a:spcPts val="2160"/>
              </a:lnSpc>
              <a:spcBef>
                <a:spcPts val="375"/>
              </a:spcBef>
            </a:pPr>
            <a:r>
              <a:rPr sz="2000" dirty="0">
                <a:solidFill>
                  <a:srgbClr val="404040"/>
                </a:solidFill>
                <a:latin typeface="Calibri"/>
                <a:cs typeface="Calibri"/>
              </a:rPr>
              <a:t>After</a:t>
            </a:r>
            <a:r>
              <a:rPr sz="2000" spc="-60" dirty="0">
                <a:solidFill>
                  <a:srgbClr val="404040"/>
                </a:solidFill>
                <a:latin typeface="Calibri"/>
                <a:cs typeface="Calibri"/>
              </a:rPr>
              <a:t> </a:t>
            </a:r>
            <a:r>
              <a:rPr sz="2000" dirty="0">
                <a:solidFill>
                  <a:srgbClr val="404040"/>
                </a:solidFill>
                <a:latin typeface="Calibri"/>
                <a:cs typeface="Calibri"/>
              </a:rPr>
              <a:t>storing</a:t>
            </a:r>
            <a:r>
              <a:rPr sz="2000" spc="-70" dirty="0">
                <a:solidFill>
                  <a:srgbClr val="404040"/>
                </a:solidFill>
                <a:latin typeface="Calibri"/>
                <a:cs typeface="Calibri"/>
              </a:rPr>
              <a:t> </a:t>
            </a:r>
            <a:r>
              <a:rPr sz="2000" dirty="0">
                <a:solidFill>
                  <a:srgbClr val="404040"/>
                </a:solidFill>
                <a:latin typeface="Calibri"/>
                <a:cs typeface="Calibri"/>
              </a:rPr>
              <a:t>data,</a:t>
            </a:r>
            <a:r>
              <a:rPr sz="2000" spc="-60" dirty="0">
                <a:solidFill>
                  <a:srgbClr val="404040"/>
                </a:solidFill>
                <a:latin typeface="Calibri"/>
                <a:cs typeface="Calibri"/>
              </a:rPr>
              <a:t> </a:t>
            </a:r>
            <a:r>
              <a:rPr sz="2000" spc="-10" dirty="0">
                <a:solidFill>
                  <a:srgbClr val="404040"/>
                </a:solidFill>
                <a:latin typeface="Calibri"/>
                <a:cs typeface="Calibri"/>
              </a:rPr>
              <a:t>organizations</a:t>
            </a:r>
            <a:r>
              <a:rPr sz="2000" spc="-80" dirty="0">
                <a:solidFill>
                  <a:srgbClr val="404040"/>
                </a:solidFill>
                <a:latin typeface="Calibri"/>
                <a:cs typeface="Calibri"/>
              </a:rPr>
              <a:t> </a:t>
            </a:r>
            <a:r>
              <a:rPr sz="2000" dirty="0">
                <a:solidFill>
                  <a:srgbClr val="404040"/>
                </a:solidFill>
                <a:latin typeface="Calibri"/>
                <a:cs typeface="Calibri"/>
              </a:rPr>
              <a:t>must</a:t>
            </a:r>
            <a:r>
              <a:rPr sz="2000" spc="-55" dirty="0">
                <a:solidFill>
                  <a:srgbClr val="404040"/>
                </a:solidFill>
                <a:latin typeface="Calibri"/>
                <a:cs typeface="Calibri"/>
              </a:rPr>
              <a:t> </a:t>
            </a:r>
            <a:r>
              <a:rPr sz="2000" dirty="0">
                <a:solidFill>
                  <a:srgbClr val="404040"/>
                </a:solidFill>
                <a:latin typeface="Calibri"/>
                <a:cs typeface="Calibri"/>
              </a:rPr>
              <a:t>process</a:t>
            </a:r>
            <a:r>
              <a:rPr sz="2000" spc="-65" dirty="0">
                <a:solidFill>
                  <a:srgbClr val="404040"/>
                </a:solidFill>
                <a:latin typeface="Calibri"/>
                <a:cs typeface="Calibri"/>
              </a:rPr>
              <a:t> </a:t>
            </a:r>
            <a:r>
              <a:rPr sz="2000" dirty="0">
                <a:solidFill>
                  <a:srgbClr val="404040"/>
                </a:solidFill>
                <a:latin typeface="Calibri"/>
                <a:cs typeface="Calibri"/>
              </a:rPr>
              <a:t>it</a:t>
            </a:r>
            <a:r>
              <a:rPr sz="2000" spc="-55" dirty="0">
                <a:solidFill>
                  <a:srgbClr val="404040"/>
                </a:solidFill>
                <a:latin typeface="Calibri"/>
                <a:cs typeface="Calibri"/>
              </a:rPr>
              <a:t> </a:t>
            </a:r>
            <a:r>
              <a:rPr sz="2000" dirty="0">
                <a:solidFill>
                  <a:srgbClr val="404040"/>
                </a:solidFill>
                <a:latin typeface="Calibri"/>
                <a:cs typeface="Calibri"/>
              </a:rPr>
              <a:t>to</a:t>
            </a:r>
            <a:r>
              <a:rPr sz="2000" spc="-75" dirty="0">
                <a:solidFill>
                  <a:srgbClr val="404040"/>
                </a:solidFill>
                <a:latin typeface="Calibri"/>
                <a:cs typeface="Calibri"/>
              </a:rPr>
              <a:t> </a:t>
            </a:r>
            <a:r>
              <a:rPr sz="2000" spc="-10" dirty="0">
                <a:solidFill>
                  <a:srgbClr val="404040"/>
                </a:solidFill>
                <a:latin typeface="Calibri"/>
                <a:cs typeface="Calibri"/>
              </a:rPr>
              <a:t>extract </a:t>
            </a:r>
            <a:r>
              <a:rPr sz="2000" dirty="0">
                <a:solidFill>
                  <a:srgbClr val="404040"/>
                </a:solidFill>
                <a:latin typeface="Calibri"/>
                <a:cs typeface="Calibri"/>
              </a:rPr>
              <a:t>useful</a:t>
            </a:r>
            <a:r>
              <a:rPr sz="2000" spc="-40" dirty="0">
                <a:solidFill>
                  <a:srgbClr val="404040"/>
                </a:solidFill>
                <a:latin typeface="Calibri"/>
                <a:cs typeface="Calibri"/>
              </a:rPr>
              <a:t> </a:t>
            </a:r>
            <a:r>
              <a:rPr sz="2000" spc="-10" dirty="0">
                <a:solidFill>
                  <a:srgbClr val="404040"/>
                </a:solidFill>
                <a:latin typeface="Calibri"/>
                <a:cs typeface="Calibri"/>
              </a:rPr>
              <a:t>information.</a:t>
            </a:r>
            <a:r>
              <a:rPr sz="2000" spc="-50" dirty="0">
                <a:solidFill>
                  <a:srgbClr val="404040"/>
                </a:solidFill>
                <a:latin typeface="Calibri"/>
                <a:cs typeface="Calibri"/>
              </a:rPr>
              <a:t> </a:t>
            </a:r>
            <a:r>
              <a:rPr sz="2000" spc="-20" dirty="0">
                <a:solidFill>
                  <a:srgbClr val="404040"/>
                </a:solidFill>
                <a:latin typeface="Calibri"/>
                <a:cs typeface="Calibri"/>
              </a:rPr>
              <a:t>Traditional</a:t>
            </a:r>
            <a:r>
              <a:rPr sz="2000" spc="-40" dirty="0">
                <a:solidFill>
                  <a:srgbClr val="404040"/>
                </a:solidFill>
                <a:latin typeface="Calibri"/>
                <a:cs typeface="Calibri"/>
              </a:rPr>
              <a:t> </a:t>
            </a:r>
            <a:r>
              <a:rPr sz="2000" spc="-10" dirty="0">
                <a:solidFill>
                  <a:srgbClr val="404040"/>
                </a:solidFill>
                <a:latin typeface="Calibri"/>
                <a:cs typeface="Calibri"/>
              </a:rPr>
              <a:t>processors</a:t>
            </a:r>
            <a:r>
              <a:rPr sz="2000" spc="-25" dirty="0">
                <a:solidFill>
                  <a:srgbClr val="404040"/>
                </a:solidFill>
                <a:latin typeface="Calibri"/>
                <a:cs typeface="Calibri"/>
              </a:rPr>
              <a:t> </a:t>
            </a:r>
            <a:r>
              <a:rPr sz="2000" spc="-10" dirty="0">
                <a:solidFill>
                  <a:srgbClr val="404040"/>
                </a:solidFill>
                <a:latin typeface="Calibri"/>
                <a:cs typeface="Calibri"/>
              </a:rPr>
              <a:t>take</a:t>
            </a:r>
            <a:r>
              <a:rPr sz="2000" spc="-35" dirty="0">
                <a:solidFill>
                  <a:srgbClr val="404040"/>
                </a:solidFill>
                <a:latin typeface="Calibri"/>
                <a:cs typeface="Calibri"/>
              </a:rPr>
              <a:t> </a:t>
            </a:r>
            <a:r>
              <a:rPr sz="2000" dirty="0">
                <a:solidFill>
                  <a:srgbClr val="404040"/>
                </a:solidFill>
                <a:latin typeface="Calibri"/>
                <a:cs typeface="Calibri"/>
              </a:rPr>
              <a:t>a</a:t>
            </a:r>
            <a:r>
              <a:rPr sz="2000" spc="-40" dirty="0">
                <a:solidFill>
                  <a:srgbClr val="404040"/>
                </a:solidFill>
                <a:latin typeface="Calibri"/>
                <a:cs typeface="Calibri"/>
              </a:rPr>
              <a:t> </a:t>
            </a:r>
            <a:r>
              <a:rPr sz="2000" dirty="0">
                <a:solidFill>
                  <a:srgbClr val="404040"/>
                </a:solidFill>
                <a:latin typeface="Calibri"/>
                <a:cs typeface="Calibri"/>
              </a:rPr>
              <a:t>long</a:t>
            </a:r>
            <a:r>
              <a:rPr sz="2000" spc="-50" dirty="0">
                <a:solidFill>
                  <a:srgbClr val="404040"/>
                </a:solidFill>
                <a:latin typeface="Calibri"/>
                <a:cs typeface="Calibri"/>
              </a:rPr>
              <a:t> </a:t>
            </a:r>
            <a:r>
              <a:rPr sz="2000" spc="-20" dirty="0">
                <a:solidFill>
                  <a:srgbClr val="404040"/>
                </a:solidFill>
                <a:latin typeface="Calibri"/>
                <a:cs typeface="Calibri"/>
              </a:rPr>
              <a:t>time </a:t>
            </a:r>
            <a:r>
              <a:rPr sz="2000" dirty="0">
                <a:solidFill>
                  <a:srgbClr val="404040"/>
                </a:solidFill>
                <a:latin typeface="Calibri"/>
                <a:cs typeface="Calibri"/>
              </a:rPr>
              <a:t>to</a:t>
            </a:r>
            <a:r>
              <a:rPr sz="2000" spc="-60" dirty="0">
                <a:solidFill>
                  <a:srgbClr val="404040"/>
                </a:solidFill>
                <a:latin typeface="Calibri"/>
                <a:cs typeface="Calibri"/>
              </a:rPr>
              <a:t> </a:t>
            </a:r>
            <a:r>
              <a:rPr sz="2000" dirty="0">
                <a:solidFill>
                  <a:srgbClr val="404040"/>
                </a:solidFill>
                <a:latin typeface="Calibri"/>
                <a:cs typeface="Calibri"/>
              </a:rPr>
              <a:t>analyze</a:t>
            </a:r>
            <a:r>
              <a:rPr sz="2000" spc="-85" dirty="0">
                <a:solidFill>
                  <a:srgbClr val="404040"/>
                </a:solidFill>
                <a:latin typeface="Calibri"/>
                <a:cs typeface="Calibri"/>
              </a:rPr>
              <a:t> </a:t>
            </a:r>
            <a:r>
              <a:rPr sz="2000" dirty="0">
                <a:solidFill>
                  <a:srgbClr val="404040"/>
                </a:solidFill>
                <a:latin typeface="Calibri"/>
                <a:cs typeface="Calibri"/>
              </a:rPr>
              <a:t>very</a:t>
            </a:r>
            <a:r>
              <a:rPr sz="2000" spc="-55" dirty="0">
                <a:solidFill>
                  <a:srgbClr val="404040"/>
                </a:solidFill>
                <a:latin typeface="Calibri"/>
                <a:cs typeface="Calibri"/>
              </a:rPr>
              <a:t> </a:t>
            </a:r>
            <a:r>
              <a:rPr sz="2000" dirty="0">
                <a:solidFill>
                  <a:srgbClr val="404040"/>
                </a:solidFill>
                <a:latin typeface="Calibri"/>
                <a:cs typeface="Calibri"/>
              </a:rPr>
              <a:t>large</a:t>
            </a:r>
            <a:r>
              <a:rPr sz="2000" spc="-65" dirty="0">
                <a:solidFill>
                  <a:srgbClr val="404040"/>
                </a:solidFill>
                <a:latin typeface="Calibri"/>
                <a:cs typeface="Calibri"/>
              </a:rPr>
              <a:t> </a:t>
            </a:r>
            <a:r>
              <a:rPr sz="2000" spc="-10" dirty="0">
                <a:solidFill>
                  <a:srgbClr val="404040"/>
                </a:solidFill>
                <a:latin typeface="Calibri"/>
                <a:cs typeface="Calibri"/>
              </a:rPr>
              <a:t>datasets.</a:t>
            </a:r>
            <a:endParaRPr sz="2000">
              <a:latin typeface="Calibri"/>
              <a:cs typeface="Calibri"/>
            </a:endParaRPr>
          </a:p>
        </p:txBody>
      </p:sp>
      <p:sp>
        <p:nvSpPr>
          <p:cNvPr id="4" name="object 4"/>
          <p:cNvSpPr txBox="1"/>
          <p:nvPr/>
        </p:nvSpPr>
        <p:spPr>
          <a:xfrm>
            <a:off x="218947" y="1902688"/>
            <a:ext cx="2585085" cy="2738755"/>
          </a:xfrm>
          <a:prstGeom prst="rect">
            <a:avLst/>
          </a:prstGeom>
        </p:spPr>
        <p:txBody>
          <a:bodyPr vert="horz" wrap="square" lIns="0" tIns="160020" rIns="0" bIns="0" rtlCol="0">
            <a:spAutoFit/>
          </a:bodyPr>
          <a:lstStyle/>
          <a:p>
            <a:pPr marL="104139">
              <a:lnSpc>
                <a:spcPct val="100000"/>
              </a:lnSpc>
              <a:spcBef>
                <a:spcPts val="1260"/>
              </a:spcBef>
            </a:pPr>
            <a:r>
              <a:rPr sz="2000" b="1" spc="-10" dirty="0">
                <a:solidFill>
                  <a:srgbClr val="404040"/>
                </a:solidFill>
                <a:latin typeface="Calibri"/>
                <a:cs typeface="Calibri"/>
              </a:rPr>
              <a:t>Problems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Large</a:t>
            </a:r>
            <a:r>
              <a:rPr sz="2000" spc="-25" dirty="0">
                <a:solidFill>
                  <a:srgbClr val="404040"/>
                </a:solidFill>
                <a:latin typeface="Calibri"/>
                <a:cs typeface="Calibri"/>
              </a:rPr>
              <a:t> </a:t>
            </a:r>
            <a:r>
              <a:rPr sz="2000" spc="-10" dirty="0">
                <a:solidFill>
                  <a:srgbClr val="404040"/>
                </a:solidFill>
                <a:latin typeface="Calibri"/>
                <a:cs typeface="Calibri"/>
              </a:rPr>
              <a:t>computation</a:t>
            </a:r>
            <a:r>
              <a:rPr sz="2000" spc="-40" dirty="0">
                <a:solidFill>
                  <a:srgbClr val="404040"/>
                </a:solidFill>
                <a:latin typeface="Calibri"/>
                <a:cs typeface="Calibri"/>
              </a:rPr>
              <a:t> </a:t>
            </a:r>
            <a:r>
              <a:rPr sz="2000" spc="-20" dirty="0">
                <a:solidFill>
                  <a:srgbClr val="404040"/>
                </a:solidFill>
                <a:latin typeface="Calibri"/>
                <a:cs typeface="Calibri"/>
              </a:rPr>
              <a:t>time</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dirty="0">
                <a:solidFill>
                  <a:srgbClr val="404040"/>
                </a:solidFill>
                <a:latin typeface="Calibri"/>
                <a:cs typeface="Calibri"/>
              </a:rPr>
              <a:t>High</a:t>
            </a:r>
            <a:r>
              <a:rPr sz="2000" spc="-20" dirty="0">
                <a:solidFill>
                  <a:srgbClr val="404040"/>
                </a:solidFill>
                <a:latin typeface="Calibri"/>
                <a:cs typeface="Calibri"/>
              </a:rPr>
              <a:t> </a:t>
            </a:r>
            <a:r>
              <a:rPr sz="2000" dirty="0">
                <a:solidFill>
                  <a:srgbClr val="404040"/>
                </a:solidFill>
                <a:latin typeface="Calibri"/>
                <a:cs typeface="Calibri"/>
              </a:rPr>
              <a:t>CPU</a:t>
            </a:r>
            <a:r>
              <a:rPr sz="2000" spc="-10" dirty="0">
                <a:solidFill>
                  <a:srgbClr val="404040"/>
                </a:solidFill>
                <a:latin typeface="Calibri"/>
                <a:cs typeface="Calibri"/>
              </a:rPr>
              <a:t> utilization</a:t>
            </a:r>
            <a:endParaRPr sz="2000">
              <a:latin typeface="Calibri"/>
              <a:cs typeface="Calibri"/>
            </a:endParaRPr>
          </a:p>
          <a:p>
            <a:pPr marL="103505" indent="-101600">
              <a:lnSpc>
                <a:spcPct val="100000"/>
              </a:lnSpc>
              <a:spcBef>
                <a:spcPts val="1160"/>
              </a:spcBef>
              <a:buClr>
                <a:srgbClr val="E38312"/>
              </a:buClr>
              <a:buSzPct val="77500"/>
              <a:buFont typeface="Tahoma"/>
              <a:buChar char="•"/>
              <a:tabLst>
                <a:tab pos="103505" algn="l"/>
              </a:tabLst>
            </a:pPr>
            <a:r>
              <a:rPr sz="2000" dirty="0">
                <a:solidFill>
                  <a:srgbClr val="404040"/>
                </a:solidFill>
                <a:latin typeface="Calibri"/>
                <a:cs typeface="Calibri"/>
              </a:rPr>
              <a:t>Memory</a:t>
            </a:r>
            <a:r>
              <a:rPr sz="2000" spc="-15" dirty="0">
                <a:solidFill>
                  <a:srgbClr val="404040"/>
                </a:solidFill>
                <a:latin typeface="Calibri"/>
                <a:cs typeface="Calibri"/>
              </a:rPr>
              <a:t> </a:t>
            </a:r>
            <a:r>
              <a:rPr sz="2000" spc="-10" dirty="0">
                <a:solidFill>
                  <a:srgbClr val="404040"/>
                </a:solidFill>
                <a:latin typeface="Calibri"/>
                <a:cs typeface="Calibri"/>
              </a:rPr>
              <a:t>limitations</a:t>
            </a:r>
            <a:endParaRPr sz="2000">
              <a:latin typeface="Calibri"/>
              <a:cs typeface="Calibri"/>
            </a:endParaRPr>
          </a:p>
          <a:p>
            <a:pPr marL="103505" indent="-101600">
              <a:lnSpc>
                <a:spcPct val="100000"/>
              </a:lnSpc>
              <a:spcBef>
                <a:spcPts val="1170"/>
              </a:spcBef>
              <a:buClr>
                <a:srgbClr val="E38312"/>
              </a:buClr>
              <a:buSzPct val="77500"/>
              <a:buFont typeface="Tahoma"/>
              <a:buChar char="•"/>
              <a:tabLst>
                <a:tab pos="103505" algn="l"/>
              </a:tabLst>
            </a:pPr>
            <a:r>
              <a:rPr sz="2000" dirty="0">
                <a:solidFill>
                  <a:srgbClr val="404040"/>
                </a:solidFill>
                <a:latin typeface="Calibri"/>
                <a:cs typeface="Calibri"/>
              </a:rPr>
              <a:t>Slow</a:t>
            </a:r>
            <a:r>
              <a:rPr sz="2000" spc="-40" dirty="0">
                <a:solidFill>
                  <a:srgbClr val="404040"/>
                </a:solidFill>
                <a:latin typeface="Calibri"/>
                <a:cs typeface="Calibri"/>
              </a:rPr>
              <a:t> </a:t>
            </a:r>
            <a:r>
              <a:rPr sz="2000" dirty="0">
                <a:solidFill>
                  <a:srgbClr val="404040"/>
                </a:solidFill>
                <a:latin typeface="Calibri"/>
                <a:cs typeface="Calibri"/>
              </a:rPr>
              <a:t>query</a:t>
            </a:r>
            <a:r>
              <a:rPr sz="2000" spc="-50" dirty="0">
                <a:solidFill>
                  <a:srgbClr val="404040"/>
                </a:solidFill>
                <a:latin typeface="Calibri"/>
                <a:cs typeface="Calibri"/>
              </a:rPr>
              <a:t> </a:t>
            </a:r>
            <a:r>
              <a:rPr sz="2000" spc="-10" dirty="0">
                <a:solidFill>
                  <a:srgbClr val="404040"/>
                </a:solidFill>
                <a:latin typeface="Calibri"/>
                <a:cs typeface="Calibri"/>
              </a:rPr>
              <a:t>execution</a:t>
            </a:r>
            <a:endParaRPr sz="2000">
              <a:latin typeface="Calibri"/>
              <a:cs typeface="Calibri"/>
            </a:endParaRPr>
          </a:p>
          <a:p>
            <a:pPr marL="104139">
              <a:lnSpc>
                <a:spcPct val="100000"/>
              </a:lnSpc>
              <a:spcBef>
                <a:spcPts val="1150"/>
              </a:spcBef>
            </a:pPr>
            <a:r>
              <a:rPr sz="2000" b="1" spc="-10" dirty="0">
                <a:solidFill>
                  <a:srgbClr val="404040"/>
                </a:solidFill>
                <a:latin typeface="Calibri"/>
                <a:cs typeface="Calibri"/>
              </a:rPr>
              <a:t>Example</a:t>
            </a:r>
            <a:endParaRPr sz="2000">
              <a:latin typeface="Calibri"/>
              <a:cs typeface="Calibri"/>
            </a:endParaRPr>
          </a:p>
        </p:txBody>
      </p:sp>
      <p:sp>
        <p:nvSpPr>
          <p:cNvPr id="5" name="object 5"/>
          <p:cNvSpPr txBox="1"/>
          <p:nvPr/>
        </p:nvSpPr>
        <p:spPr>
          <a:xfrm>
            <a:off x="310388" y="4762880"/>
            <a:ext cx="6246495" cy="880110"/>
          </a:xfrm>
          <a:prstGeom prst="rect">
            <a:avLst/>
          </a:prstGeom>
        </p:spPr>
        <p:txBody>
          <a:bodyPr vert="horz" wrap="square" lIns="0" tIns="43180" rIns="0" bIns="0" rtlCol="0">
            <a:spAutoFit/>
          </a:bodyPr>
          <a:lstStyle/>
          <a:p>
            <a:pPr marL="12700" marR="5080">
              <a:lnSpc>
                <a:spcPct val="90100"/>
              </a:lnSpc>
              <a:spcBef>
                <a:spcPts val="340"/>
              </a:spcBef>
            </a:pPr>
            <a:r>
              <a:rPr sz="2000" dirty="0">
                <a:solidFill>
                  <a:srgbClr val="404040"/>
                </a:solidFill>
                <a:latin typeface="Calibri"/>
                <a:cs typeface="Calibri"/>
              </a:rPr>
              <a:t>Netflix</a:t>
            </a:r>
            <a:r>
              <a:rPr sz="2000" spc="-60" dirty="0">
                <a:solidFill>
                  <a:srgbClr val="404040"/>
                </a:solidFill>
                <a:latin typeface="Calibri"/>
                <a:cs typeface="Calibri"/>
              </a:rPr>
              <a:t> </a:t>
            </a:r>
            <a:r>
              <a:rPr sz="2000" dirty="0">
                <a:solidFill>
                  <a:srgbClr val="404040"/>
                </a:solidFill>
                <a:latin typeface="Calibri"/>
                <a:cs typeface="Calibri"/>
              </a:rPr>
              <a:t>analyzes</a:t>
            </a:r>
            <a:r>
              <a:rPr sz="2000" spc="-60" dirty="0">
                <a:solidFill>
                  <a:srgbClr val="404040"/>
                </a:solidFill>
                <a:latin typeface="Calibri"/>
                <a:cs typeface="Calibri"/>
              </a:rPr>
              <a:t> </a:t>
            </a:r>
            <a:r>
              <a:rPr sz="2000" dirty="0">
                <a:solidFill>
                  <a:srgbClr val="404040"/>
                </a:solidFill>
                <a:latin typeface="Calibri"/>
                <a:cs typeface="Calibri"/>
              </a:rPr>
              <a:t>millions</a:t>
            </a:r>
            <a:r>
              <a:rPr sz="2000" spc="-35" dirty="0">
                <a:solidFill>
                  <a:srgbClr val="404040"/>
                </a:solidFill>
                <a:latin typeface="Calibri"/>
                <a:cs typeface="Calibri"/>
              </a:rPr>
              <a:t> </a:t>
            </a:r>
            <a:r>
              <a:rPr sz="2000" dirty="0">
                <a:solidFill>
                  <a:srgbClr val="404040"/>
                </a:solidFill>
                <a:latin typeface="Calibri"/>
                <a:cs typeface="Calibri"/>
              </a:rPr>
              <a:t>of</a:t>
            </a:r>
            <a:r>
              <a:rPr sz="2000" spc="-65" dirty="0">
                <a:solidFill>
                  <a:srgbClr val="404040"/>
                </a:solidFill>
                <a:latin typeface="Calibri"/>
                <a:cs typeface="Calibri"/>
              </a:rPr>
              <a:t> </a:t>
            </a:r>
            <a:r>
              <a:rPr sz="2000" dirty="0">
                <a:solidFill>
                  <a:srgbClr val="404040"/>
                </a:solidFill>
                <a:latin typeface="Calibri"/>
                <a:cs typeface="Calibri"/>
              </a:rPr>
              <a:t>user</a:t>
            </a:r>
            <a:r>
              <a:rPr sz="2000" spc="-60" dirty="0">
                <a:solidFill>
                  <a:srgbClr val="404040"/>
                </a:solidFill>
                <a:latin typeface="Calibri"/>
                <a:cs typeface="Calibri"/>
              </a:rPr>
              <a:t> </a:t>
            </a:r>
            <a:r>
              <a:rPr sz="2000" spc="-10" dirty="0">
                <a:solidFill>
                  <a:srgbClr val="404040"/>
                </a:solidFill>
                <a:latin typeface="Calibri"/>
                <a:cs typeface="Calibri"/>
              </a:rPr>
              <a:t>interactions</a:t>
            </a:r>
            <a:r>
              <a:rPr sz="2000" spc="-50" dirty="0">
                <a:solidFill>
                  <a:srgbClr val="404040"/>
                </a:solidFill>
                <a:latin typeface="Calibri"/>
                <a:cs typeface="Calibri"/>
              </a:rPr>
              <a:t> </a:t>
            </a:r>
            <a:r>
              <a:rPr sz="2000" dirty="0">
                <a:solidFill>
                  <a:srgbClr val="404040"/>
                </a:solidFill>
                <a:latin typeface="Calibri"/>
                <a:cs typeface="Calibri"/>
              </a:rPr>
              <a:t>every</a:t>
            </a:r>
            <a:r>
              <a:rPr sz="2000" spc="-55" dirty="0">
                <a:solidFill>
                  <a:srgbClr val="404040"/>
                </a:solidFill>
                <a:latin typeface="Calibri"/>
                <a:cs typeface="Calibri"/>
              </a:rPr>
              <a:t> </a:t>
            </a:r>
            <a:r>
              <a:rPr sz="2000" dirty="0">
                <a:solidFill>
                  <a:srgbClr val="404040"/>
                </a:solidFill>
                <a:latin typeface="Calibri"/>
                <a:cs typeface="Calibri"/>
              </a:rPr>
              <a:t>minute</a:t>
            </a:r>
            <a:r>
              <a:rPr sz="2000" spc="-55" dirty="0">
                <a:solidFill>
                  <a:srgbClr val="404040"/>
                </a:solidFill>
                <a:latin typeface="Calibri"/>
                <a:cs typeface="Calibri"/>
              </a:rPr>
              <a:t> </a:t>
            </a:r>
            <a:r>
              <a:rPr sz="2000" spc="-25" dirty="0">
                <a:solidFill>
                  <a:srgbClr val="404040"/>
                </a:solidFill>
                <a:latin typeface="Calibri"/>
                <a:cs typeface="Calibri"/>
              </a:rPr>
              <a:t>to </a:t>
            </a:r>
            <a:r>
              <a:rPr sz="2000" dirty="0">
                <a:solidFill>
                  <a:srgbClr val="404040"/>
                </a:solidFill>
                <a:latin typeface="Calibri"/>
                <a:cs typeface="Calibri"/>
              </a:rPr>
              <a:t>recommend</a:t>
            </a:r>
            <a:r>
              <a:rPr sz="2000" spc="-55" dirty="0">
                <a:solidFill>
                  <a:srgbClr val="404040"/>
                </a:solidFill>
                <a:latin typeface="Calibri"/>
                <a:cs typeface="Calibri"/>
              </a:rPr>
              <a:t> </a:t>
            </a:r>
            <a:r>
              <a:rPr sz="2000" dirty="0">
                <a:solidFill>
                  <a:srgbClr val="404040"/>
                </a:solidFill>
                <a:latin typeface="Calibri"/>
                <a:cs typeface="Calibri"/>
              </a:rPr>
              <a:t>movies.</a:t>
            </a:r>
            <a:r>
              <a:rPr sz="2000" spc="-40" dirty="0">
                <a:solidFill>
                  <a:srgbClr val="404040"/>
                </a:solidFill>
                <a:latin typeface="Calibri"/>
                <a:cs typeface="Calibri"/>
              </a:rPr>
              <a:t> </a:t>
            </a:r>
            <a:r>
              <a:rPr sz="2000" spc="-10" dirty="0">
                <a:solidFill>
                  <a:srgbClr val="404040"/>
                </a:solidFill>
                <a:latin typeface="Calibri"/>
                <a:cs typeface="Calibri"/>
              </a:rPr>
              <a:t>Processing</a:t>
            </a:r>
            <a:r>
              <a:rPr sz="2000" spc="-45" dirty="0">
                <a:solidFill>
                  <a:srgbClr val="404040"/>
                </a:solidFill>
                <a:latin typeface="Calibri"/>
                <a:cs typeface="Calibri"/>
              </a:rPr>
              <a:t> </a:t>
            </a:r>
            <a:r>
              <a:rPr sz="2000" dirty="0">
                <a:solidFill>
                  <a:srgbClr val="404040"/>
                </a:solidFill>
                <a:latin typeface="Calibri"/>
                <a:cs typeface="Calibri"/>
              </a:rPr>
              <a:t>such</a:t>
            </a:r>
            <a:r>
              <a:rPr sz="2000" spc="-55"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on</a:t>
            </a:r>
            <a:r>
              <a:rPr sz="2000" spc="-50" dirty="0">
                <a:solidFill>
                  <a:srgbClr val="404040"/>
                </a:solidFill>
                <a:latin typeface="Calibri"/>
                <a:cs typeface="Calibri"/>
              </a:rPr>
              <a:t> </a:t>
            </a:r>
            <a:r>
              <a:rPr sz="2000" dirty="0">
                <a:solidFill>
                  <a:srgbClr val="404040"/>
                </a:solidFill>
                <a:latin typeface="Calibri"/>
                <a:cs typeface="Calibri"/>
              </a:rPr>
              <a:t>a</a:t>
            </a:r>
            <a:r>
              <a:rPr sz="2000" spc="-45" dirty="0">
                <a:solidFill>
                  <a:srgbClr val="404040"/>
                </a:solidFill>
                <a:latin typeface="Calibri"/>
                <a:cs typeface="Calibri"/>
              </a:rPr>
              <a:t> </a:t>
            </a:r>
            <a:r>
              <a:rPr sz="2000" spc="-10" dirty="0">
                <a:solidFill>
                  <a:srgbClr val="404040"/>
                </a:solidFill>
                <a:latin typeface="Calibri"/>
                <a:cs typeface="Calibri"/>
              </a:rPr>
              <a:t>single </a:t>
            </a:r>
            <a:r>
              <a:rPr sz="2000" dirty="0">
                <a:solidFill>
                  <a:srgbClr val="404040"/>
                </a:solidFill>
                <a:latin typeface="Calibri"/>
                <a:cs typeface="Calibri"/>
              </a:rPr>
              <a:t>computer</a:t>
            </a:r>
            <a:r>
              <a:rPr sz="2000" spc="-70" dirty="0">
                <a:solidFill>
                  <a:srgbClr val="404040"/>
                </a:solidFill>
                <a:latin typeface="Calibri"/>
                <a:cs typeface="Calibri"/>
              </a:rPr>
              <a:t> </a:t>
            </a:r>
            <a:r>
              <a:rPr sz="2000" dirty="0">
                <a:solidFill>
                  <a:srgbClr val="404040"/>
                </a:solidFill>
                <a:latin typeface="Calibri"/>
                <a:cs typeface="Calibri"/>
              </a:rPr>
              <a:t>would</a:t>
            </a:r>
            <a:r>
              <a:rPr sz="2000" spc="-65" dirty="0">
                <a:solidFill>
                  <a:srgbClr val="404040"/>
                </a:solidFill>
                <a:latin typeface="Calibri"/>
                <a:cs typeface="Calibri"/>
              </a:rPr>
              <a:t> </a:t>
            </a:r>
            <a:r>
              <a:rPr sz="2000" spc="-10" dirty="0">
                <a:solidFill>
                  <a:srgbClr val="404040"/>
                </a:solidFill>
                <a:latin typeface="Calibri"/>
                <a:cs typeface="Calibri"/>
              </a:rPr>
              <a:t>take</a:t>
            </a:r>
            <a:r>
              <a:rPr sz="2000" spc="-55" dirty="0">
                <a:solidFill>
                  <a:srgbClr val="404040"/>
                </a:solidFill>
                <a:latin typeface="Calibri"/>
                <a:cs typeface="Calibri"/>
              </a:rPr>
              <a:t> </a:t>
            </a:r>
            <a:r>
              <a:rPr sz="2000" dirty="0">
                <a:solidFill>
                  <a:srgbClr val="404040"/>
                </a:solidFill>
                <a:latin typeface="Calibri"/>
                <a:cs typeface="Calibri"/>
              </a:rPr>
              <a:t>too</a:t>
            </a:r>
            <a:r>
              <a:rPr sz="2000" spc="-65" dirty="0">
                <a:solidFill>
                  <a:srgbClr val="404040"/>
                </a:solidFill>
                <a:latin typeface="Calibri"/>
                <a:cs typeface="Calibri"/>
              </a:rPr>
              <a:t> </a:t>
            </a:r>
            <a:r>
              <a:rPr sz="2000" spc="-10" dirty="0">
                <a:solidFill>
                  <a:srgbClr val="404040"/>
                </a:solidFill>
                <a:latin typeface="Calibri"/>
                <a:cs typeface="Calibri"/>
              </a:rPr>
              <a:t>long.</a:t>
            </a:r>
            <a:endParaRPr sz="2000">
              <a:latin typeface="Calibri"/>
              <a:cs typeface="Calibri"/>
            </a:endParaRPr>
          </a:p>
        </p:txBody>
      </p:sp>
      <p:sp>
        <p:nvSpPr>
          <p:cNvPr id="6" name="object 6"/>
          <p:cNvSpPr txBox="1"/>
          <p:nvPr/>
        </p:nvSpPr>
        <p:spPr>
          <a:xfrm>
            <a:off x="5315711" y="2036064"/>
            <a:ext cx="3596640" cy="2585720"/>
          </a:xfrm>
          <a:prstGeom prst="rect">
            <a:avLst/>
          </a:prstGeom>
          <a:solidFill>
            <a:srgbClr val="DFE3DB"/>
          </a:solidFill>
        </p:spPr>
        <p:txBody>
          <a:bodyPr vert="horz" wrap="square" lIns="0" tIns="31114" rIns="0" bIns="0" rtlCol="0">
            <a:spAutoFit/>
          </a:bodyPr>
          <a:lstStyle/>
          <a:p>
            <a:pPr marL="92075">
              <a:lnSpc>
                <a:spcPct val="100000"/>
              </a:lnSpc>
              <a:spcBef>
                <a:spcPts val="244"/>
              </a:spcBef>
            </a:pPr>
            <a:r>
              <a:rPr sz="1800" b="1" spc="-10" dirty="0">
                <a:latin typeface="Calibri"/>
                <a:cs typeface="Calibri"/>
              </a:rPr>
              <a:t>Solution</a:t>
            </a:r>
            <a:endParaRPr sz="1800">
              <a:latin typeface="Calibri"/>
              <a:cs typeface="Calibri"/>
            </a:endParaRPr>
          </a:p>
          <a:p>
            <a:pPr marL="92075">
              <a:lnSpc>
                <a:spcPct val="100000"/>
              </a:lnSpc>
            </a:pPr>
            <a:r>
              <a:rPr sz="1800" spc="-10" dirty="0">
                <a:latin typeface="Calibri"/>
                <a:cs typeface="Calibri"/>
              </a:rPr>
              <a:t>Distributed</a:t>
            </a:r>
            <a:r>
              <a:rPr sz="1800" spc="-50" dirty="0">
                <a:latin typeface="Calibri"/>
                <a:cs typeface="Calibri"/>
              </a:rPr>
              <a:t> </a:t>
            </a:r>
            <a:r>
              <a:rPr sz="1800" dirty="0">
                <a:latin typeface="Calibri"/>
                <a:cs typeface="Calibri"/>
              </a:rPr>
              <a:t>computing</a:t>
            </a:r>
            <a:r>
              <a:rPr sz="1800" spc="-45" dirty="0">
                <a:latin typeface="Calibri"/>
                <a:cs typeface="Calibri"/>
              </a:rPr>
              <a:t> </a:t>
            </a:r>
            <a:r>
              <a:rPr sz="1800" spc="-10" dirty="0">
                <a:latin typeface="Calibri"/>
                <a:cs typeface="Calibri"/>
              </a:rPr>
              <a:t>frameworks:</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Apache</a:t>
            </a:r>
            <a:r>
              <a:rPr sz="1800" spc="-45" dirty="0">
                <a:latin typeface="Calibri"/>
                <a:cs typeface="Calibri"/>
              </a:rPr>
              <a:t> </a:t>
            </a:r>
            <a:r>
              <a:rPr sz="1800" spc="-10" dirty="0">
                <a:latin typeface="Calibri"/>
                <a:cs typeface="Calibri"/>
              </a:rPr>
              <a:t>Spark</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Hadoop</a:t>
            </a:r>
            <a:r>
              <a:rPr sz="1800" spc="-65" dirty="0">
                <a:latin typeface="Calibri"/>
                <a:cs typeface="Calibri"/>
              </a:rPr>
              <a:t> </a:t>
            </a:r>
            <a:r>
              <a:rPr sz="1800" spc="-10" dirty="0">
                <a:latin typeface="Calibri"/>
                <a:cs typeface="Calibri"/>
              </a:rPr>
              <a:t>MapReduce</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Apache</a:t>
            </a:r>
            <a:r>
              <a:rPr sz="1800" spc="-40" dirty="0">
                <a:latin typeface="Calibri"/>
                <a:cs typeface="Calibri"/>
              </a:rPr>
              <a:t> </a:t>
            </a:r>
            <a:r>
              <a:rPr sz="1800" spc="-10" dirty="0">
                <a:latin typeface="Calibri"/>
                <a:cs typeface="Calibri"/>
              </a:rPr>
              <a:t>Flink</a:t>
            </a:r>
            <a:endParaRPr sz="1800">
              <a:latin typeface="Calibri"/>
              <a:cs typeface="Calibri"/>
            </a:endParaRPr>
          </a:p>
          <a:p>
            <a:pPr marL="92075" marR="339090">
              <a:lnSpc>
                <a:spcPct val="100000"/>
              </a:lnSpc>
            </a:pPr>
            <a:r>
              <a:rPr sz="1800" dirty="0">
                <a:latin typeface="Calibri"/>
                <a:cs typeface="Calibri"/>
              </a:rPr>
              <a:t>These</a:t>
            </a:r>
            <a:r>
              <a:rPr sz="1800" spc="-35" dirty="0">
                <a:latin typeface="Calibri"/>
                <a:cs typeface="Calibri"/>
              </a:rPr>
              <a:t> </a:t>
            </a:r>
            <a:r>
              <a:rPr sz="1800" spc="-10" dirty="0">
                <a:latin typeface="Calibri"/>
                <a:cs typeface="Calibri"/>
              </a:rPr>
              <a:t>systems</a:t>
            </a:r>
            <a:r>
              <a:rPr sz="1800" spc="-55" dirty="0">
                <a:latin typeface="Calibri"/>
                <a:cs typeface="Calibri"/>
              </a:rPr>
              <a:t> </a:t>
            </a:r>
            <a:r>
              <a:rPr sz="1800" dirty="0">
                <a:latin typeface="Calibri"/>
                <a:cs typeface="Calibri"/>
              </a:rPr>
              <a:t>divide</a:t>
            </a:r>
            <a:r>
              <a:rPr sz="1800" spc="-20" dirty="0">
                <a:latin typeface="Calibri"/>
                <a:cs typeface="Calibri"/>
              </a:rPr>
              <a:t> </a:t>
            </a:r>
            <a:r>
              <a:rPr sz="1800" dirty="0">
                <a:latin typeface="Calibri"/>
                <a:cs typeface="Calibri"/>
              </a:rPr>
              <a:t>tasks</a:t>
            </a:r>
            <a:r>
              <a:rPr sz="1800" spc="-45" dirty="0">
                <a:latin typeface="Calibri"/>
                <a:cs typeface="Calibri"/>
              </a:rPr>
              <a:t> </a:t>
            </a:r>
            <a:r>
              <a:rPr sz="1800" spc="-10" dirty="0">
                <a:latin typeface="Calibri"/>
                <a:cs typeface="Calibri"/>
              </a:rPr>
              <a:t>among </a:t>
            </a:r>
            <a:r>
              <a:rPr sz="1800" dirty="0">
                <a:latin typeface="Calibri"/>
                <a:cs typeface="Calibri"/>
              </a:rPr>
              <a:t>multiple</a:t>
            </a:r>
            <a:r>
              <a:rPr sz="1800" spc="-35" dirty="0">
                <a:latin typeface="Calibri"/>
                <a:cs typeface="Calibri"/>
              </a:rPr>
              <a:t> </a:t>
            </a:r>
            <a:r>
              <a:rPr sz="1800" spc="-10" dirty="0">
                <a:latin typeface="Calibri"/>
                <a:cs typeface="Calibri"/>
              </a:rPr>
              <a:t>computers</a:t>
            </a:r>
            <a:r>
              <a:rPr sz="1800" spc="-35" dirty="0">
                <a:latin typeface="Calibri"/>
                <a:cs typeface="Calibri"/>
              </a:rPr>
              <a:t> </a:t>
            </a:r>
            <a:r>
              <a:rPr sz="1800" dirty="0">
                <a:latin typeface="Calibri"/>
                <a:cs typeface="Calibri"/>
              </a:rPr>
              <a:t>and</a:t>
            </a:r>
            <a:r>
              <a:rPr sz="1800" spc="-50" dirty="0">
                <a:latin typeface="Calibri"/>
                <a:cs typeface="Calibri"/>
              </a:rPr>
              <a:t> </a:t>
            </a:r>
            <a:r>
              <a:rPr sz="1800" spc="-10" dirty="0">
                <a:latin typeface="Calibri"/>
                <a:cs typeface="Calibri"/>
              </a:rPr>
              <a:t>process </a:t>
            </a:r>
            <a:r>
              <a:rPr sz="1800" dirty="0">
                <a:latin typeface="Calibri"/>
                <a:cs typeface="Calibri"/>
              </a:rPr>
              <a:t>data</a:t>
            </a:r>
            <a:r>
              <a:rPr sz="1800" spc="-50" dirty="0">
                <a:latin typeface="Calibri"/>
                <a:cs typeface="Calibri"/>
              </a:rPr>
              <a:t> </a:t>
            </a:r>
            <a:r>
              <a:rPr sz="1800" dirty="0">
                <a:latin typeface="Calibri"/>
                <a:cs typeface="Calibri"/>
              </a:rPr>
              <a:t>in</a:t>
            </a:r>
            <a:r>
              <a:rPr sz="1800" spc="-35" dirty="0">
                <a:latin typeface="Calibri"/>
                <a:cs typeface="Calibri"/>
              </a:rPr>
              <a:t> </a:t>
            </a:r>
            <a:r>
              <a:rPr sz="1800" spc="-10" dirty="0">
                <a:latin typeface="Calibri"/>
                <a:cs typeface="Calibri"/>
              </a:rPr>
              <a:t>parallel.</a:t>
            </a:r>
            <a:endParaRPr sz="18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marR="5080">
              <a:lnSpc>
                <a:spcPct val="148600"/>
              </a:lnSpc>
              <a:spcBef>
                <a:spcPts val="95"/>
              </a:spcBef>
            </a:pPr>
            <a:r>
              <a:rPr dirty="0"/>
              <a:t>3.</a:t>
            </a:r>
            <a:r>
              <a:rPr spc="-50" dirty="0"/>
              <a:t> </a:t>
            </a:r>
            <a:r>
              <a:rPr dirty="0"/>
              <a:t>Data</a:t>
            </a:r>
            <a:r>
              <a:rPr spc="-40" dirty="0"/>
              <a:t> </a:t>
            </a:r>
            <a:r>
              <a:rPr spc="-10" dirty="0"/>
              <a:t>Integration</a:t>
            </a:r>
            <a:r>
              <a:rPr spc="-40" dirty="0"/>
              <a:t> </a:t>
            </a:r>
            <a:r>
              <a:rPr spc="-10" dirty="0"/>
              <a:t>Challenge Explanation</a:t>
            </a:r>
          </a:p>
        </p:txBody>
      </p:sp>
      <p:sp>
        <p:nvSpPr>
          <p:cNvPr id="3" name="object 3"/>
          <p:cNvSpPr txBox="1"/>
          <p:nvPr/>
        </p:nvSpPr>
        <p:spPr>
          <a:xfrm>
            <a:off x="310388" y="1048257"/>
            <a:ext cx="5793740" cy="605155"/>
          </a:xfrm>
          <a:prstGeom prst="rect">
            <a:avLst/>
          </a:prstGeom>
        </p:spPr>
        <p:txBody>
          <a:bodyPr vert="horz" wrap="square" lIns="0" tIns="47625" rIns="0" bIns="0" rtlCol="0">
            <a:spAutoFit/>
          </a:bodyPr>
          <a:lstStyle/>
          <a:p>
            <a:pPr marL="12700" marR="5080">
              <a:lnSpc>
                <a:spcPts val="2160"/>
              </a:lnSpc>
              <a:spcBef>
                <a:spcPts val="375"/>
              </a:spcBef>
            </a:pPr>
            <a:r>
              <a:rPr sz="2000" spc="-10" dirty="0">
                <a:solidFill>
                  <a:srgbClr val="404040"/>
                </a:solidFill>
                <a:latin typeface="Calibri"/>
                <a:cs typeface="Calibri"/>
              </a:rPr>
              <a:t>Organizations</a:t>
            </a:r>
            <a:r>
              <a:rPr sz="2000" spc="-95" dirty="0">
                <a:solidFill>
                  <a:srgbClr val="404040"/>
                </a:solidFill>
                <a:latin typeface="Calibri"/>
                <a:cs typeface="Calibri"/>
              </a:rPr>
              <a:t> </a:t>
            </a:r>
            <a:r>
              <a:rPr sz="2000" dirty="0">
                <a:solidFill>
                  <a:srgbClr val="404040"/>
                </a:solidFill>
                <a:latin typeface="Calibri"/>
                <a:cs typeface="Calibri"/>
              </a:rPr>
              <a:t>receive</a:t>
            </a:r>
            <a:r>
              <a:rPr sz="2000" spc="-55" dirty="0">
                <a:solidFill>
                  <a:srgbClr val="404040"/>
                </a:solidFill>
                <a:latin typeface="Calibri"/>
                <a:cs typeface="Calibri"/>
              </a:rPr>
              <a:t> </a:t>
            </a:r>
            <a:r>
              <a:rPr sz="2000" dirty="0">
                <a:solidFill>
                  <a:srgbClr val="404040"/>
                </a:solidFill>
                <a:latin typeface="Calibri"/>
                <a:cs typeface="Calibri"/>
              </a:rPr>
              <a:t>data</a:t>
            </a:r>
            <a:r>
              <a:rPr sz="2000" spc="-80" dirty="0">
                <a:solidFill>
                  <a:srgbClr val="404040"/>
                </a:solidFill>
                <a:latin typeface="Calibri"/>
                <a:cs typeface="Calibri"/>
              </a:rPr>
              <a:t> </a:t>
            </a:r>
            <a:r>
              <a:rPr sz="2000" dirty="0">
                <a:solidFill>
                  <a:srgbClr val="404040"/>
                </a:solidFill>
                <a:latin typeface="Calibri"/>
                <a:cs typeface="Calibri"/>
              </a:rPr>
              <a:t>from</a:t>
            </a:r>
            <a:r>
              <a:rPr sz="2000" spc="-75" dirty="0">
                <a:solidFill>
                  <a:srgbClr val="404040"/>
                </a:solidFill>
                <a:latin typeface="Calibri"/>
                <a:cs typeface="Calibri"/>
              </a:rPr>
              <a:t> </a:t>
            </a:r>
            <a:r>
              <a:rPr sz="2000" dirty="0">
                <a:solidFill>
                  <a:srgbClr val="404040"/>
                </a:solidFill>
                <a:latin typeface="Calibri"/>
                <a:cs typeface="Calibri"/>
              </a:rPr>
              <a:t>many</a:t>
            </a:r>
            <a:r>
              <a:rPr sz="2000" spc="-90" dirty="0">
                <a:solidFill>
                  <a:srgbClr val="404040"/>
                </a:solidFill>
                <a:latin typeface="Calibri"/>
                <a:cs typeface="Calibri"/>
              </a:rPr>
              <a:t> </a:t>
            </a:r>
            <a:r>
              <a:rPr sz="2000" spc="-10" dirty="0">
                <a:solidFill>
                  <a:srgbClr val="404040"/>
                </a:solidFill>
                <a:latin typeface="Calibri"/>
                <a:cs typeface="Calibri"/>
              </a:rPr>
              <a:t>different</a:t>
            </a:r>
            <a:r>
              <a:rPr sz="2000" spc="-65" dirty="0">
                <a:solidFill>
                  <a:srgbClr val="404040"/>
                </a:solidFill>
                <a:latin typeface="Calibri"/>
                <a:cs typeface="Calibri"/>
              </a:rPr>
              <a:t> </a:t>
            </a:r>
            <a:r>
              <a:rPr sz="2000" spc="-10" dirty="0">
                <a:solidFill>
                  <a:srgbClr val="404040"/>
                </a:solidFill>
                <a:latin typeface="Calibri"/>
                <a:cs typeface="Calibri"/>
              </a:rPr>
              <a:t>sources, </a:t>
            </a:r>
            <a:r>
              <a:rPr sz="2000" dirty="0">
                <a:solidFill>
                  <a:srgbClr val="404040"/>
                </a:solidFill>
                <a:latin typeface="Calibri"/>
                <a:cs typeface="Calibri"/>
              </a:rPr>
              <a:t>each</a:t>
            </a:r>
            <a:r>
              <a:rPr sz="2000" spc="-70" dirty="0">
                <a:solidFill>
                  <a:srgbClr val="404040"/>
                </a:solidFill>
                <a:latin typeface="Calibri"/>
                <a:cs typeface="Calibri"/>
              </a:rPr>
              <a:t> </a:t>
            </a:r>
            <a:r>
              <a:rPr sz="2000" dirty="0">
                <a:solidFill>
                  <a:srgbClr val="404040"/>
                </a:solidFill>
                <a:latin typeface="Calibri"/>
                <a:cs typeface="Calibri"/>
              </a:rPr>
              <a:t>with</a:t>
            </a:r>
            <a:r>
              <a:rPr sz="2000" spc="-55" dirty="0">
                <a:solidFill>
                  <a:srgbClr val="404040"/>
                </a:solidFill>
                <a:latin typeface="Calibri"/>
                <a:cs typeface="Calibri"/>
              </a:rPr>
              <a:t> </a:t>
            </a:r>
            <a:r>
              <a:rPr sz="2000" spc="-10" dirty="0">
                <a:solidFill>
                  <a:srgbClr val="404040"/>
                </a:solidFill>
                <a:latin typeface="Calibri"/>
                <a:cs typeface="Calibri"/>
              </a:rPr>
              <a:t>different</a:t>
            </a:r>
            <a:r>
              <a:rPr sz="2000" spc="-55" dirty="0">
                <a:solidFill>
                  <a:srgbClr val="404040"/>
                </a:solidFill>
                <a:latin typeface="Calibri"/>
                <a:cs typeface="Calibri"/>
              </a:rPr>
              <a:t> </a:t>
            </a:r>
            <a:r>
              <a:rPr sz="2000" dirty="0">
                <a:solidFill>
                  <a:srgbClr val="404040"/>
                </a:solidFill>
                <a:latin typeface="Calibri"/>
                <a:cs typeface="Calibri"/>
              </a:rPr>
              <a:t>formats</a:t>
            </a:r>
            <a:r>
              <a:rPr sz="2000" spc="-55" dirty="0">
                <a:solidFill>
                  <a:srgbClr val="404040"/>
                </a:solidFill>
                <a:latin typeface="Calibri"/>
                <a:cs typeface="Calibri"/>
              </a:rPr>
              <a:t> </a:t>
            </a:r>
            <a:r>
              <a:rPr sz="2000" dirty="0">
                <a:solidFill>
                  <a:srgbClr val="404040"/>
                </a:solidFill>
                <a:latin typeface="Calibri"/>
                <a:cs typeface="Calibri"/>
              </a:rPr>
              <a:t>and</a:t>
            </a:r>
            <a:r>
              <a:rPr sz="2000" spc="-75" dirty="0">
                <a:solidFill>
                  <a:srgbClr val="404040"/>
                </a:solidFill>
                <a:latin typeface="Calibri"/>
                <a:cs typeface="Calibri"/>
              </a:rPr>
              <a:t> </a:t>
            </a:r>
            <a:r>
              <a:rPr sz="2000" spc="-10" dirty="0">
                <a:solidFill>
                  <a:srgbClr val="404040"/>
                </a:solidFill>
                <a:latin typeface="Calibri"/>
                <a:cs typeface="Calibri"/>
              </a:rPr>
              <a:t>structures.</a:t>
            </a:r>
            <a:endParaRPr sz="2000">
              <a:latin typeface="Calibri"/>
              <a:cs typeface="Calibri"/>
            </a:endParaRPr>
          </a:p>
        </p:txBody>
      </p:sp>
      <p:sp>
        <p:nvSpPr>
          <p:cNvPr id="4" name="object 4"/>
          <p:cNvSpPr txBox="1"/>
          <p:nvPr/>
        </p:nvSpPr>
        <p:spPr>
          <a:xfrm>
            <a:off x="218947" y="1627186"/>
            <a:ext cx="6056630" cy="4468495"/>
          </a:xfrm>
          <a:prstGeom prst="rect">
            <a:avLst/>
          </a:prstGeom>
        </p:spPr>
        <p:txBody>
          <a:bodyPr vert="horz" wrap="square" lIns="0" tIns="161290" rIns="0" bIns="0" rtlCol="0">
            <a:spAutoFit/>
          </a:bodyPr>
          <a:lstStyle/>
          <a:p>
            <a:pPr marL="104139">
              <a:lnSpc>
                <a:spcPct val="100000"/>
              </a:lnSpc>
              <a:spcBef>
                <a:spcPts val="1270"/>
              </a:spcBef>
            </a:pPr>
            <a:r>
              <a:rPr sz="2000" b="1" dirty="0">
                <a:solidFill>
                  <a:srgbClr val="404040"/>
                </a:solidFill>
                <a:latin typeface="Calibri"/>
                <a:cs typeface="Calibri"/>
              </a:rPr>
              <a:t>Data</a:t>
            </a:r>
            <a:r>
              <a:rPr sz="2000" b="1" spc="-70" dirty="0">
                <a:solidFill>
                  <a:srgbClr val="404040"/>
                </a:solidFill>
                <a:latin typeface="Calibri"/>
                <a:cs typeface="Calibri"/>
              </a:rPr>
              <a:t> </a:t>
            </a:r>
            <a:r>
              <a:rPr sz="2000" b="1" spc="-10" dirty="0">
                <a:solidFill>
                  <a:srgbClr val="404040"/>
                </a:solidFill>
                <a:latin typeface="Calibri"/>
                <a:cs typeface="Calibri"/>
              </a:rPr>
              <a:t>Sources</a:t>
            </a:r>
            <a:endParaRPr sz="2000">
              <a:latin typeface="Calibri"/>
              <a:cs typeface="Calibri"/>
            </a:endParaRPr>
          </a:p>
          <a:p>
            <a:pPr marL="104139" marR="5080" indent="-102235">
              <a:lnSpc>
                <a:spcPts val="2160"/>
              </a:lnSpc>
              <a:spcBef>
                <a:spcPts val="1435"/>
              </a:spcBef>
              <a:buClr>
                <a:srgbClr val="E38312"/>
              </a:buClr>
              <a:buSzPct val="77500"/>
              <a:buFont typeface="Tahoma"/>
              <a:buChar char="•"/>
              <a:tabLst>
                <a:tab pos="104139" algn="l"/>
              </a:tabLst>
            </a:pPr>
            <a:r>
              <a:rPr sz="2000" dirty="0">
                <a:solidFill>
                  <a:srgbClr val="404040"/>
                </a:solidFill>
                <a:latin typeface="Calibri"/>
                <a:cs typeface="Calibri"/>
              </a:rPr>
              <a:t>ERP</a:t>
            </a:r>
            <a:r>
              <a:rPr sz="2000" spc="-70" dirty="0">
                <a:solidFill>
                  <a:srgbClr val="404040"/>
                </a:solidFill>
                <a:latin typeface="Calibri"/>
                <a:cs typeface="Calibri"/>
              </a:rPr>
              <a:t> </a:t>
            </a:r>
            <a:r>
              <a:rPr sz="2000" spc="-10" dirty="0">
                <a:solidFill>
                  <a:srgbClr val="404040"/>
                </a:solidFill>
                <a:latin typeface="Calibri"/>
                <a:cs typeface="Calibri"/>
              </a:rPr>
              <a:t>systems</a:t>
            </a:r>
            <a:r>
              <a:rPr sz="2000" spc="-40" dirty="0">
                <a:solidFill>
                  <a:srgbClr val="404040"/>
                </a:solidFill>
                <a:latin typeface="Calibri"/>
                <a:cs typeface="Calibri"/>
              </a:rPr>
              <a:t> </a:t>
            </a:r>
            <a:r>
              <a:rPr sz="2000" dirty="0">
                <a:solidFill>
                  <a:srgbClr val="404040"/>
                </a:solidFill>
                <a:latin typeface="Calibri"/>
                <a:cs typeface="Calibri"/>
              </a:rPr>
              <a:t>,CRM</a:t>
            </a:r>
            <a:r>
              <a:rPr sz="2000" spc="-80" dirty="0">
                <a:solidFill>
                  <a:srgbClr val="404040"/>
                </a:solidFill>
                <a:latin typeface="Calibri"/>
                <a:cs typeface="Calibri"/>
              </a:rPr>
              <a:t> </a:t>
            </a:r>
            <a:r>
              <a:rPr sz="2000" spc="-10" dirty="0">
                <a:solidFill>
                  <a:srgbClr val="404040"/>
                </a:solidFill>
                <a:latin typeface="Calibri"/>
                <a:cs typeface="Calibri"/>
              </a:rPr>
              <a:t>systems</a:t>
            </a:r>
            <a:r>
              <a:rPr sz="2000" spc="-40" dirty="0">
                <a:solidFill>
                  <a:srgbClr val="404040"/>
                </a:solidFill>
                <a:latin typeface="Calibri"/>
                <a:cs typeface="Calibri"/>
              </a:rPr>
              <a:t> </a:t>
            </a:r>
            <a:r>
              <a:rPr sz="2000" dirty="0">
                <a:solidFill>
                  <a:srgbClr val="404040"/>
                </a:solidFill>
                <a:latin typeface="Calibri"/>
                <a:cs typeface="Calibri"/>
              </a:rPr>
              <a:t>,Social</a:t>
            </a:r>
            <a:r>
              <a:rPr sz="2000" spc="-60" dirty="0">
                <a:solidFill>
                  <a:srgbClr val="404040"/>
                </a:solidFill>
                <a:latin typeface="Calibri"/>
                <a:cs typeface="Calibri"/>
              </a:rPr>
              <a:t> </a:t>
            </a:r>
            <a:r>
              <a:rPr sz="2000" dirty="0">
                <a:solidFill>
                  <a:srgbClr val="404040"/>
                </a:solidFill>
                <a:latin typeface="Calibri"/>
                <a:cs typeface="Calibri"/>
              </a:rPr>
              <a:t>media</a:t>
            </a:r>
            <a:r>
              <a:rPr sz="2000" spc="-60" dirty="0">
                <a:solidFill>
                  <a:srgbClr val="404040"/>
                </a:solidFill>
                <a:latin typeface="Calibri"/>
                <a:cs typeface="Calibri"/>
              </a:rPr>
              <a:t> </a:t>
            </a:r>
            <a:r>
              <a:rPr sz="2000" dirty="0">
                <a:solidFill>
                  <a:srgbClr val="404040"/>
                </a:solidFill>
                <a:latin typeface="Calibri"/>
                <a:cs typeface="Calibri"/>
              </a:rPr>
              <a:t>,Sensors</a:t>
            </a:r>
            <a:r>
              <a:rPr sz="2000" spc="-50" dirty="0">
                <a:solidFill>
                  <a:srgbClr val="404040"/>
                </a:solidFill>
                <a:latin typeface="Calibri"/>
                <a:cs typeface="Calibri"/>
              </a:rPr>
              <a:t> </a:t>
            </a:r>
            <a:r>
              <a:rPr sz="2000" spc="-10" dirty="0">
                <a:solidFill>
                  <a:srgbClr val="404040"/>
                </a:solidFill>
                <a:latin typeface="Calibri"/>
                <a:cs typeface="Calibri"/>
              </a:rPr>
              <a:t>,Mobile applications</a:t>
            </a:r>
            <a:r>
              <a:rPr sz="2000" spc="-45" dirty="0">
                <a:solidFill>
                  <a:srgbClr val="404040"/>
                </a:solidFill>
                <a:latin typeface="Calibri"/>
                <a:cs typeface="Calibri"/>
              </a:rPr>
              <a:t> </a:t>
            </a:r>
            <a:r>
              <a:rPr sz="2000" spc="-10" dirty="0">
                <a:solidFill>
                  <a:srgbClr val="404040"/>
                </a:solidFill>
                <a:latin typeface="Calibri"/>
                <a:cs typeface="Calibri"/>
              </a:rPr>
              <a:t>,Databases</a:t>
            </a:r>
            <a:r>
              <a:rPr sz="2000" spc="-30" dirty="0">
                <a:solidFill>
                  <a:srgbClr val="404040"/>
                </a:solidFill>
                <a:latin typeface="Calibri"/>
                <a:cs typeface="Calibri"/>
              </a:rPr>
              <a:t> </a:t>
            </a:r>
            <a:r>
              <a:rPr sz="2000" dirty="0">
                <a:solidFill>
                  <a:srgbClr val="404040"/>
                </a:solidFill>
                <a:latin typeface="Calibri"/>
                <a:cs typeface="Calibri"/>
              </a:rPr>
              <a:t>,Emails</a:t>
            </a:r>
            <a:r>
              <a:rPr sz="2000" spc="-30" dirty="0">
                <a:solidFill>
                  <a:srgbClr val="404040"/>
                </a:solidFill>
                <a:latin typeface="Calibri"/>
                <a:cs typeface="Calibri"/>
              </a:rPr>
              <a:t> </a:t>
            </a:r>
            <a:r>
              <a:rPr sz="2000" spc="-10" dirty="0">
                <a:solidFill>
                  <a:srgbClr val="404040"/>
                </a:solidFill>
                <a:latin typeface="Calibri"/>
                <a:cs typeface="Calibri"/>
              </a:rPr>
              <a:t>,Websites</a:t>
            </a:r>
            <a:endParaRPr sz="2000">
              <a:latin typeface="Calibri"/>
              <a:cs typeface="Calibri"/>
            </a:endParaRPr>
          </a:p>
          <a:p>
            <a:pPr marL="104139">
              <a:lnSpc>
                <a:spcPct val="100000"/>
              </a:lnSpc>
              <a:spcBef>
                <a:spcPts val="1120"/>
              </a:spcBef>
            </a:pPr>
            <a:r>
              <a:rPr sz="2000" b="1" spc="-10" dirty="0">
                <a:solidFill>
                  <a:srgbClr val="404040"/>
                </a:solidFill>
                <a:latin typeface="Calibri"/>
                <a:cs typeface="Calibri"/>
              </a:rPr>
              <a:t>Problem</a:t>
            </a:r>
            <a:endParaRPr sz="2000">
              <a:latin typeface="Calibri"/>
              <a:cs typeface="Calibri"/>
            </a:endParaRPr>
          </a:p>
          <a:p>
            <a:pPr marL="104139">
              <a:lnSpc>
                <a:spcPts val="2280"/>
              </a:lnSpc>
              <a:spcBef>
                <a:spcPts val="1165"/>
              </a:spcBef>
            </a:pPr>
            <a:r>
              <a:rPr sz="2000" dirty="0">
                <a:solidFill>
                  <a:srgbClr val="404040"/>
                </a:solidFill>
                <a:latin typeface="Calibri"/>
                <a:cs typeface="Calibri"/>
              </a:rPr>
              <a:t>Combining</a:t>
            </a:r>
            <a:r>
              <a:rPr sz="2000" spc="-55" dirty="0">
                <a:solidFill>
                  <a:srgbClr val="404040"/>
                </a:solidFill>
                <a:latin typeface="Calibri"/>
                <a:cs typeface="Calibri"/>
              </a:rPr>
              <a:t> </a:t>
            </a:r>
            <a:r>
              <a:rPr sz="2000" spc="-10" dirty="0">
                <a:solidFill>
                  <a:srgbClr val="404040"/>
                </a:solidFill>
                <a:latin typeface="Calibri"/>
                <a:cs typeface="Calibri"/>
              </a:rPr>
              <a:t>structured,</a:t>
            </a:r>
            <a:r>
              <a:rPr sz="2000" spc="-35" dirty="0">
                <a:solidFill>
                  <a:srgbClr val="404040"/>
                </a:solidFill>
                <a:latin typeface="Calibri"/>
                <a:cs typeface="Calibri"/>
              </a:rPr>
              <a:t> </a:t>
            </a:r>
            <a:r>
              <a:rPr sz="2000" spc="-20" dirty="0">
                <a:solidFill>
                  <a:srgbClr val="404040"/>
                </a:solidFill>
                <a:latin typeface="Calibri"/>
                <a:cs typeface="Calibri"/>
              </a:rPr>
              <a:t>semi-</a:t>
            </a:r>
            <a:r>
              <a:rPr sz="2000" dirty="0">
                <a:solidFill>
                  <a:srgbClr val="404040"/>
                </a:solidFill>
                <a:latin typeface="Calibri"/>
                <a:cs typeface="Calibri"/>
              </a:rPr>
              <a:t>structured,</a:t>
            </a:r>
            <a:r>
              <a:rPr sz="2000" spc="-5" dirty="0">
                <a:solidFill>
                  <a:srgbClr val="404040"/>
                </a:solidFill>
                <a:latin typeface="Calibri"/>
                <a:cs typeface="Calibri"/>
              </a:rPr>
              <a:t> </a:t>
            </a:r>
            <a:r>
              <a:rPr sz="2000" dirty="0">
                <a:solidFill>
                  <a:srgbClr val="404040"/>
                </a:solidFill>
                <a:latin typeface="Calibri"/>
                <a:cs typeface="Calibri"/>
              </a:rPr>
              <a:t>and</a:t>
            </a:r>
            <a:r>
              <a:rPr sz="2000" spc="-50" dirty="0">
                <a:solidFill>
                  <a:srgbClr val="404040"/>
                </a:solidFill>
                <a:latin typeface="Calibri"/>
                <a:cs typeface="Calibri"/>
              </a:rPr>
              <a:t> </a:t>
            </a:r>
            <a:r>
              <a:rPr sz="2000" spc="-10" dirty="0">
                <a:solidFill>
                  <a:srgbClr val="404040"/>
                </a:solidFill>
                <a:latin typeface="Calibri"/>
                <a:cs typeface="Calibri"/>
              </a:rPr>
              <a:t>unstructured</a:t>
            </a:r>
            <a:endParaRPr sz="2000">
              <a:latin typeface="Calibri"/>
              <a:cs typeface="Calibri"/>
            </a:endParaRPr>
          </a:p>
          <a:p>
            <a:pPr marL="104139">
              <a:lnSpc>
                <a:spcPts val="2280"/>
              </a:lnSpc>
            </a:pP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into</a:t>
            </a:r>
            <a:r>
              <a:rPr sz="2000" spc="-40" dirty="0">
                <a:solidFill>
                  <a:srgbClr val="404040"/>
                </a:solidFill>
                <a:latin typeface="Calibri"/>
                <a:cs typeface="Calibri"/>
              </a:rPr>
              <a:t> </a:t>
            </a:r>
            <a:r>
              <a:rPr sz="2000" dirty="0">
                <a:solidFill>
                  <a:srgbClr val="404040"/>
                </a:solidFill>
                <a:latin typeface="Calibri"/>
                <a:cs typeface="Calibri"/>
              </a:rPr>
              <a:t>a</a:t>
            </a:r>
            <a:r>
              <a:rPr sz="2000" spc="-40" dirty="0">
                <a:solidFill>
                  <a:srgbClr val="404040"/>
                </a:solidFill>
                <a:latin typeface="Calibri"/>
                <a:cs typeface="Calibri"/>
              </a:rPr>
              <a:t> </a:t>
            </a:r>
            <a:r>
              <a:rPr sz="2000" dirty="0">
                <a:solidFill>
                  <a:srgbClr val="404040"/>
                </a:solidFill>
                <a:latin typeface="Calibri"/>
                <a:cs typeface="Calibri"/>
              </a:rPr>
              <a:t>single</a:t>
            </a:r>
            <a:r>
              <a:rPr sz="2000" spc="-45" dirty="0">
                <a:solidFill>
                  <a:srgbClr val="404040"/>
                </a:solidFill>
                <a:latin typeface="Calibri"/>
                <a:cs typeface="Calibri"/>
              </a:rPr>
              <a:t> </a:t>
            </a:r>
            <a:r>
              <a:rPr sz="2000" dirty="0">
                <a:solidFill>
                  <a:srgbClr val="404040"/>
                </a:solidFill>
                <a:latin typeface="Calibri"/>
                <a:cs typeface="Calibri"/>
              </a:rPr>
              <a:t>analytical</a:t>
            </a:r>
            <a:r>
              <a:rPr sz="2000" spc="-40" dirty="0">
                <a:solidFill>
                  <a:srgbClr val="404040"/>
                </a:solidFill>
                <a:latin typeface="Calibri"/>
                <a:cs typeface="Calibri"/>
              </a:rPr>
              <a:t> </a:t>
            </a:r>
            <a:r>
              <a:rPr sz="2000" spc="-10" dirty="0">
                <a:solidFill>
                  <a:srgbClr val="404040"/>
                </a:solidFill>
                <a:latin typeface="Calibri"/>
                <a:cs typeface="Calibri"/>
              </a:rPr>
              <a:t>platform.</a:t>
            </a:r>
            <a:endParaRPr sz="2000">
              <a:latin typeface="Calibri"/>
              <a:cs typeface="Calibri"/>
            </a:endParaRPr>
          </a:p>
          <a:p>
            <a:pPr marL="104139">
              <a:lnSpc>
                <a:spcPct val="100000"/>
              </a:lnSpc>
              <a:spcBef>
                <a:spcPts val="1165"/>
              </a:spcBef>
            </a:pPr>
            <a:r>
              <a:rPr sz="2000" b="1" spc="-10" dirty="0">
                <a:solidFill>
                  <a:srgbClr val="404040"/>
                </a:solidFill>
                <a:latin typeface="Calibri"/>
                <a:cs typeface="Calibri"/>
              </a:rPr>
              <a:t>Example</a:t>
            </a:r>
            <a:endParaRPr sz="2000">
              <a:latin typeface="Calibri"/>
              <a:cs typeface="Calibri"/>
            </a:endParaRPr>
          </a:p>
          <a:p>
            <a:pPr marL="104139">
              <a:lnSpc>
                <a:spcPct val="100000"/>
              </a:lnSpc>
              <a:spcBef>
                <a:spcPts val="1150"/>
              </a:spcBef>
            </a:pPr>
            <a:r>
              <a:rPr sz="2000" dirty="0">
                <a:solidFill>
                  <a:srgbClr val="404040"/>
                </a:solidFill>
                <a:latin typeface="Calibri"/>
                <a:cs typeface="Calibri"/>
              </a:rPr>
              <a:t>An</a:t>
            </a:r>
            <a:r>
              <a:rPr sz="2000" spc="-55" dirty="0">
                <a:solidFill>
                  <a:srgbClr val="404040"/>
                </a:solidFill>
                <a:latin typeface="Calibri"/>
                <a:cs typeface="Calibri"/>
              </a:rPr>
              <a:t> </a:t>
            </a:r>
            <a:r>
              <a:rPr sz="2000" spc="-10" dirty="0">
                <a:solidFill>
                  <a:srgbClr val="404040"/>
                </a:solidFill>
                <a:latin typeface="Calibri"/>
                <a:cs typeface="Calibri"/>
              </a:rPr>
              <a:t>e-</a:t>
            </a:r>
            <a:r>
              <a:rPr sz="2000" dirty="0">
                <a:solidFill>
                  <a:srgbClr val="404040"/>
                </a:solidFill>
                <a:latin typeface="Calibri"/>
                <a:cs typeface="Calibri"/>
              </a:rPr>
              <a:t>commerce</a:t>
            </a:r>
            <a:r>
              <a:rPr sz="2000" spc="-45" dirty="0">
                <a:solidFill>
                  <a:srgbClr val="404040"/>
                </a:solidFill>
                <a:latin typeface="Calibri"/>
                <a:cs typeface="Calibri"/>
              </a:rPr>
              <a:t> </a:t>
            </a:r>
            <a:r>
              <a:rPr sz="2000" dirty="0">
                <a:solidFill>
                  <a:srgbClr val="404040"/>
                </a:solidFill>
                <a:latin typeface="Calibri"/>
                <a:cs typeface="Calibri"/>
              </a:rPr>
              <a:t>company</a:t>
            </a:r>
            <a:r>
              <a:rPr sz="2000" spc="-70" dirty="0">
                <a:solidFill>
                  <a:srgbClr val="404040"/>
                </a:solidFill>
                <a:latin typeface="Calibri"/>
                <a:cs typeface="Calibri"/>
              </a:rPr>
              <a:t> </a:t>
            </a:r>
            <a:r>
              <a:rPr sz="2000" spc="-10" dirty="0">
                <a:solidFill>
                  <a:srgbClr val="404040"/>
                </a:solidFill>
                <a:latin typeface="Calibri"/>
                <a:cs typeface="Calibri"/>
              </a:rPr>
              <a:t>collects:</a:t>
            </a:r>
            <a:endParaRPr sz="2000">
              <a:latin typeface="Calibri"/>
              <a:cs typeface="Calibri"/>
            </a:endParaRPr>
          </a:p>
          <a:p>
            <a:pPr marL="103505" indent="-101600">
              <a:lnSpc>
                <a:spcPts val="228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Customer</a:t>
            </a:r>
            <a:r>
              <a:rPr sz="2000" spc="-90" dirty="0">
                <a:solidFill>
                  <a:srgbClr val="404040"/>
                </a:solidFill>
                <a:latin typeface="Calibri"/>
                <a:cs typeface="Calibri"/>
              </a:rPr>
              <a:t> </a:t>
            </a:r>
            <a:r>
              <a:rPr sz="2000" dirty="0">
                <a:solidFill>
                  <a:srgbClr val="404040"/>
                </a:solidFill>
                <a:latin typeface="Calibri"/>
                <a:cs typeface="Calibri"/>
              </a:rPr>
              <a:t>profiles</a:t>
            </a:r>
            <a:r>
              <a:rPr sz="2000" spc="-50" dirty="0">
                <a:solidFill>
                  <a:srgbClr val="404040"/>
                </a:solidFill>
                <a:latin typeface="Calibri"/>
                <a:cs typeface="Calibri"/>
              </a:rPr>
              <a:t> </a:t>
            </a:r>
            <a:r>
              <a:rPr sz="2000" spc="-10" dirty="0">
                <a:solidFill>
                  <a:srgbClr val="404040"/>
                </a:solidFill>
                <a:latin typeface="Calibri"/>
                <a:cs typeface="Calibri"/>
              </a:rPr>
              <a:t>(database)</a:t>
            </a:r>
            <a:r>
              <a:rPr sz="2000" spc="-60" dirty="0">
                <a:solidFill>
                  <a:srgbClr val="404040"/>
                </a:solidFill>
                <a:latin typeface="Calibri"/>
                <a:cs typeface="Calibri"/>
              </a:rPr>
              <a:t> </a:t>
            </a:r>
            <a:r>
              <a:rPr sz="2000" dirty="0">
                <a:solidFill>
                  <a:srgbClr val="404040"/>
                </a:solidFill>
                <a:latin typeface="Calibri"/>
                <a:cs typeface="Calibri"/>
              </a:rPr>
              <a:t>,Product</a:t>
            </a:r>
            <a:r>
              <a:rPr sz="2000" spc="-90" dirty="0">
                <a:solidFill>
                  <a:srgbClr val="404040"/>
                </a:solidFill>
                <a:latin typeface="Calibri"/>
                <a:cs typeface="Calibri"/>
              </a:rPr>
              <a:t> </a:t>
            </a:r>
            <a:r>
              <a:rPr sz="2000" spc="-10" dirty="0">
                <a:solidFill>
                  <a:srgbClr val="404040"/>
                </a:solidFill>
                <a:latin typeface="Calibri"/>
                <a:cs typeface="Calibri"/>
              </a:rPr>
              <a:t>reviews</a:t>
            </a:r>
            <a:r>
              <a:rPr sz="2000" spc="-60" dirty="0">
                <a:solidFill>
                  <a:srgbClr val="404040"/>
                </a:solidFill>
                <a:latin typeface="Calibri"/>
                <a:cs typeface="Calibri"/>
              </a:rPr>
              <a:t> </a:t>
            </a:r>
            <a:r>
              <a:rPr sz="2000" spc="-10" dirty="0">
                <a:solidFill>
                  <a:srgbClr val="404040"/>
                </a:solidFill>
                <a:latin typeface="Calibri"/>
                <a:cs typeface="Calibri"/>
              </a:rPr>
              <a:t>(text)</a:t>
            </a:r>
            <a:endParaRPr sz="2000">
              <a:latin typeface="Calibri"/>
              <a:cs typeface="Calibri"/>
            </a:endParaRPr>
          </a:p>
          <a:p>
            <a:pPr marL="104139">
              <a:lnSpc>
                <a:spcPts val="2280"/>
              </a:lnSpc>
            </a:pPr>
            <a:r>
              <a:rPr sz="2000" dirty="0">
                <a:solidFill>
                  <a:srgbClr val="404040"/>
                </a:solidFill>
                <a:latin typeface="Calibri"/>
                <a:cs typeface="Calibri"/>
              </a:rPr>
              <a:t>,Product</a:t>
            </a:r>
            <a:r>
              <a:rPr sz="2000" spc="-45" dirty="0">
                <a:solidFill>
                  <a:srgbClr val="404040"/>
                </a:solidFill>
                <a:latin typeface="Calibri"/>
                <a:cs typeface="Calibri"/>
              </a:rPr>
              <a:t> </a:t>
            </a:r>
            <a:r>
              <a:rPr sz="2000" dirty="0">
                <a:solidFill>
                  <a:srgbClr val="404040"/>
                </a:solidFill>
                <a:latin typeface="Calibri"/>
                <a:cs typeface="Calibri"/>
              </a:rPr>
              <a:t>images</a:t>
            </a:r>
            <a:r>
              <a:rPr sz="2000" spc="-40" dirty="0">
                <a:solidFill>
                  <a:srgbClr val="404040"/>
                </a:solidFill>
                <a:latin typeface="Calibri"/>
                <a:cs typeface="Calibri"/>
              </a:rPr>
              <a:t> </a:t>
            </a:r>
            <a:r>
              <a:rPr sz="2000" spc="-20" dirty="0">
                <a:solidFill>
                  <a:srgbClr val="404040"/>
                </a:solidFill>
                <a:latin typeface="Calibri"/>
                <a:cs typeface="Calibri"/>
              </a:rPr>
              <a:t>,Videos</a:t>
            </a:r>
            <a:r>
              <a:rPr sz="2000" spc="-55" dirty="0">
                <a:solidFill>
                  <a:srgbClr val="404040"/>
                </a:solidFill>
                <a:latin typeface="Calibri"/>
                <a:cs typeface="Calibri"/>
              </a:rPr>
              <a:t> </a:t>
            </a:r>
            <a:r>
              <a:rPr sz="2000" spc="-35" dirty="0">
                <a:solidFill>
                  <a:srgbClr val="404040"/>
                </a:solidFill>
                <a:latin typeface="Calibri"/>
                <a:cs typeface="Calibri"/>
              </a:rPr>
              <a:t>,Transaction</a:t>
            </a:r>
            <a:r>
              <a:rPr sz="2000" spc="-40" dirty="0">
                <a:solidFill>
                  <a:srgbClr val="404040"/>
                </a:solidFill>
                <a:latin typeface="Calibri"/>
                <a:cs typeface="Calibri"/>
              </a:rPr>
              <a:t> </a:t>
            </a:r>
            <a:r>
              <a:rPr sz="2000" spc="-10" dirty="0">
                <a:solidFill>
                  <a:srgbClr val="404040"/>
                </a:solidFill>
                <a:latin typeface="Calibri"/>
                <a:cs typeface="Calibri"/>
              </a:rPr>
              <a:t>history</a:t>
            </a:r>
            <a:endParaRPr sz="2000">
              <a:latin typeface="Calibri"/>
              <a:cs typeface="Calibri"/>
            </a:endParaRPr>
          </a:p>
          <a:p>
            <a:pPr marL="104139">
              <a:lnSpc>
                <a:spcPct val="100000"/>
              </a:lnSpc>
              <a:spcBef>
                <a:spcPts val="1165"/>
              </a:spcBef>
            </a:pPr>
            <a:r>
              <a:rPr sz="2000" spc="-10" dirty="0">
                <a:solidFill>
                  <a:srgbClr val="404040"/>
                </a:solidFill>
                <a:latin typeface="Calibri"/>
                <a:cs typeface="Calibri"/>
              </a:rPr>
              <a:t>Integrating</a:t>
            </a:r>
            <a:r>
              <a:rPr sz="2000" spc="-40" dirty="0">
                <a:solidFill>
                  <a:srgbClr val="404040"/>
                </a:solidFill>
                <a:latin typeface="Calibri"/>
                <a:cs typeface="Calibri"/>
              </a:rPr>
              <a:t> </a:t>
            </a:r>
            <a:r>
              <a:rPr sz="2000" dirty="0">
                <a:solidFill>
                  <a:srgbClr val="404040"/>
                </a:solidFill>
                <a:latin typeface="Calibri"/>
                <a:cs typeface="Calibri"/>
              </a:rPr>
              <a:t>these</a:t>
            </a:r>
            <a:r>
              <a:rPr sz="2000" spc="-30" dirty="0">
                <a:solidFill>
                  <a:srgbClr val="404040"/>
                </a:solidFill>
                <a:latin typeface="Calibri"/>
                <a:cs typeface="Calibri"/>
              </a:rPr>
              <a:t> </a:t>
            </a:r>
            <a:r>
              <a:rPr sz="2000" spc="-20" dirty="0">
                <a:solidFill>
                  <a:srgbClr val="404040"/>
                </a:solidFill>
                <a:latin typeface="Calibri"/>
                <a:cs typeface="Calibri"/>
              </a:rPr>
              <a:t>different</a:t>
            </a:r>
            <a:r>
              <a:rPr sz="2000" spc="-40" dirty="0">
                <a:solidFill>
                  <a:srgbClr val="404040"/>
                </a:solidFill>
                <a:latin typeface="Calibri"/>
                <a:cs typeface="Calibri"/>
              </a:rPr>
              <a:t> </a:t>
            </a:r>
            <a:r>
              <a:rPr sz="2000" dirty="0">
                <a:solidFill>
                  <a:srgbClr val="404040"/>
                </a:solidFill>
                <a:latin typeface="Calibri"/>
                <a:cs typeface="Calibri"/>
              </a:rPr>
              <a:t>data</a:t>
            </a:r>
            <a:r>
              <a:rPr sz="2000" spc="-25" dirty="0">
                <a:solidFill>
                  <a:srgbClr val="404040"/>
                </a:solidFill>
                <a:latin typeface="Calibri"/>
                <a:cs typeface="Calibri"/>
              </a:rPr>
              <a:t> </a:t>
            </a:r>
            <a:r>
              <a:rPr sz="2000" dirty="0">
                <a:solidFill>
                  <a:srgbClr val="404040"/>
                </a:solidFill>
                <a:latin typeface="Calibri"/>
                <a:cs typeface="Calibri"/>
              </a:rPr>
              <a:t>types</a:t>
            </a:r>
            <a:r>
              <a:rPr sz="2000" spc="-55" dirty="0">
                <a:solidFill>
                  <a:srgbClr val="404040"/>
                </a:solidFill>
                <a:latin typeface="Calibri"/>
                <a:cs typeface="Calibri"/>
              </a:rPr>
              <a:t> </a:t>
            </a:r>
            <a:r>
              <a:rPr sz="2000" dirty="0">
                <a:solidFill>
                  <a:srgbClr val="404040"/>
                </a:solidFill>
                <a:latin typeface="Calibri"/>
                <a:cs typeface="Calibri"/>
              </a:rPr>
              <a:t>is</a:t>
            </a:r>
            <a:r>
              <a:rPr sz="2000" spc="-45" dirty="0">
                <a:solidFill>
                  <a:srgbClr val="404040"/>
                </a:solidFill>
                <a:latin typeface="Calibri"/>
                <a:cs typeface="Calibri"/>
              </a:rPr>
              <a:t> </a:t>
            </a:r>
            <a:r>
              <a:rPr sz="2000" spc="-10" dirty="0">
                <a:solidFill>
                  <a:srgbClr val="404040"/>
                </a:solidFill>
                <a:latin typeface="Calibri"/>
                <a:cs typeface="Calibri"/>
              </a:rPr>
              <a:t>challenging.</a:t>
            </a:r>
            <a:endParaRPr sz="2000">
              <a:latin typeface="Calibri"/>
              <a:cs typeface="Calibri"/>
            </a:endParaRPr>
          </a:p>
        </p:txBody>
      </p:sp>
      <p:sp>
        <p:nvSpPr>
          <p:cNvPr id="5" name="object 5"/>
          <p:cNvSpPr txBox="1"/>
          <p:nvPr/>
        </p:nvSpPr>
        <p:spPr>
          <a:xfrm>
            <a:off x="6583680" y="2036064"/>
            <a:ext cx="2329180" cy="2031364"/>
          </a:xfrm>
          <a:prstGeom prst="rect">
            <a:avLst/>
          </a:prstGeom>
          <a:solidFill>
            <a:srgbClr val="DFE3DB"/>
          </a:solidFill>
        </p:spPr>
        <p:txBody>
          <a:bodyPr vert="horz" wrap="square" lIns="0" tIns="31114" rIns="0" bIns="0" rtlCol="0">
            <a:spAutoFit/>
          </a:bodyPr>
          <a:lstStyle/>
          <a:p>
            <a:pPr marL="92075">
              <a:lnSpc>
                <a:spcPct val="100000"/>
              </a:lnSpc>
              <a:spcBef>
                <a:spcPts val="244"/>
              </a:spcBef>
            </a:pPr>
            <a:r>
              <a:rPr sz="1800" b="1" spc="-10" dirty="0">
                <a:latin typeface="Calibri"/>
                <a:cs typeface="Calibri"/>
              </a:rPr>
              <a:t>Solution</a:t>
            </a:r>
            <a:endParaRPr sz="1800">
              <a:latin typeface="Calibri"/>
              <a:cs typeface="Calibri"/>
            </a:endParaRPr>
          </a:p>
          <a:p>
            <a:pPr marL="92075" marR="667385" indent="-32384">
              <a:lnSpc>
                <a:spcPct val="100000"/>
              </a:lnSpc>
              <a:buSzPct val="94444"/>
              <a:buFont typeface="Tahoma"/>
              <a:buChar char="•"/>
              <a:tabLst>
                <a:tab pos="170815" algn="l"/>
              </a:tabLst>
            </a:pPr>
            <a:r>
              <a:rPr sz="1800" dirty="0">
                <a:latin typeface="Calibri"/>
                <a:cs typeface="Calibri"/>
              </a:rPr>
              <a:t>	ETL</a:t>
            </a:r>
            <a:r>
              <a:rPr sz="1800" spc="-5" dirty="0">
                <a:latin typeface="Calibri"/>
                <a:cs typeface="Calibri"/>
              </a:rPr>
              <a:t> </a:t>
            </a:r>
            <a:r>
              <a:rPr sz="1800" spc="-10" dirty="0">
                <a:latin typeface="Calibri"/>
                <a:cs typeface="Calibri"/>
              </a:rPr>
              <a:t>(Extract, </a:t>
            </a:r>
            <a:r>
              <a:rPr sz="1800" spc="-25" dirty="0">
                <a:latin typeface="Calibri"/>
                <a:cs typeface="Calibri"/>
              </a:rPr>
              <a:t>Transform,</a:t>
            </a:r>
            <a:r>
              <a:rPr sz="1800" spc="-10" dirty="0">
                <a:latin typeface="Calibri"/>
                <a:cs typeface="Calibri"/>
              </a:rPr>
              <a:t> Load)</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Apache</a:t>
            </a:r>
            <a:r>
              <a:rPr sz="1800" spc="-45" dirty="0">
                <a:latin typeface="Calibri"/>
                <a:cs typeface="Calibri"/>
              </a:rPr>
              <a:t> </a:t>
            </a:r>
            <a:r>
              <a:rPr sz="1800" spc="-20" dirty="0">
                <a:latin typeface="Calibri"/>
                <a:cs typeface="Calibri"/>
              </a:rPr>
              <a:t>Kafka</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Apache</a:t>
            </a:r>
            <a:r>
              <a:rPr sz="1800" spc="-40" dirty="0">
                <a:latin typeface="Calibri"/>
                <a:cs typeface="Calibri"/>
              </a:rPr>
              <a:t> </a:t>
            </a:r>
            <a:r>
              <a:rPr sz="1800" spc="-20" dirty="0">
                <a:latin typeface="Calibri"/>
                <a:cs typeface="Calibri"/>
              </a:rPr>
              <a:t>NiFi</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Data</a:t>
            </a:r>
            <a:r>
              <a:rPr sz="1800" spc="-60" dirty="0">
                <a:latin typeface="Calibri"/>
                <a:cs typeface="Calibri"/>
              </a:rPr>
              <a:t> </a:t>
            </a:r>
            <a:r>
              <a:rPr sz="1800" spc="-10" dirty="0">
                <a:latin typeface="Calibri"/>
                <a:cs typeface="Calibri"/>
              </a:rPr>
              <a:t>Lakes</a:t>
            </a:r>
            <a:endParaRPr sz="18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2995" y="265887"/>
            <a:ext cx="2687955" cy="331470"/>
          </a:xfrm>
          <a:prstGeom prst="rect">
            <a:avLst/>
          </a:prstGeom>
        </p:spPr>
        <p:txBody>
          <a:bodyPr vert="horz" wrap="square" lIns="0" tIns="13335" rIns="0" bIns="0" rtlCol="0">
            <a:spAutoFit/>
          </a:bodyPr>
          <a:lstStyle/>
          <a:p>
            <a:pPr marL="12700">
              <a:lnSpc>
                <a:spcPct val="100000"/>
              </a:lnSpc>
              <a:spcBef>
                <a:spcPts val="105"/>
              </a:spcBef>
            </a:pPr>
            <a:r>
              <a:rPr dirty="0"/>
              <a:t>4.</a:t>
            </a:r>
            <a:r>
              <a:rPr spc="-30" dirty="0"/>
              <a:t> </a:t>
            </a:r>
            <a:r>
              <a:rPr dirty="0"/>
              <a:t>Data</a:t>
            </a:r>
            <a:r>
              <a:rPr spc="-35" dirty="0"/>
              <a:t> </a:t>
            </a:r>
            <a:r>
              <a:rPr dirty="0"/>
              <a:t>Quality</a:t>
            </a:r>
            <a:r>
              <a:rPr spc="-50" dirty="0"/>
              <a:t> </a:t>
            </a:r>
            <a:r>
              <a:rPr spc="-10" dirty="0"/>
              <a:t>Challenge</a:t>
            </a:r>
          </a:p>
        </p:txBody>
      </p:sp>
      <p:sp>
        <p:nvSpPr>
          <p:cNvPr id="3" name="object 3"/>
          <p:cNvSpPr txBox="1"/>
          <p:nvPr/>
        </p:nvSpPr>
        <p:spPr>
          <a:xfrm>
            <a:off x="602995" y="573379"/>
            <a:ext cx="7535545" cy="1380490"/>
          </a:xfrm>
          <a:prstGeom prst="rect">
            <a:avLst/>
          </a:prstGeom>
        </p:spPr>
        <p:txBody>
          <a:bodyPr vert="horz" wrap="square" lIns="0" tIns="158750" rIns="0" bIns="0" rtlCol="0">
            <a:spAutoFit/>
          </a:bodyPr>
          <a:lstStyle/>
          <a:p>
            <a:pPr marL="12700">
              <a:lnSpc>
                <a:spcPct val="100000"/>
              </a:lnSpc>
              <a:spcBef>
                <a:spcPts val="1250"/>
              </a:spcBef>
            </a:pPr>
            <a:r>
              <a:rPr sz="2000" b="1" spc="-10" dirty="0">
                <a:solidFill>
                  <a:srgbClr val="404040"/>
                </a:solidFill>
                <a:latin typeface="Calibri"/>
                <a:cs typeface="Calibri"/>
              </a:rPr>
              <a:t>Explanation</a:t>
            </a:r>
            <a:endParaRPr sz="2000">
              <a:latin typeface="Calibri"/>
              <a:cs typeface="Calibri"/>
            </a:endParaRPr>
          </a:p>
          <a:p>
            <a:pPr marL="12700">
              <a:lnSpc>
                <a:spcPct val="100000"/>
              </a:lnSpc>
              <a:spcBef>
                <a:spcPts val="1150"/>
              </a:spcBef>
            </a:pPr>
            <a:r>
              <a:rPr sz="2000" spc="-20" dirty="0">
                <a:solidFill>
                  <a:srgbClr val="404040"/>
                </a:solidFill>
                <a:latin typeface="Calibri"/>
                <a:cs typeface="Calibri"/>
              </a:rPr>
              <a:t>Poor-</a:t>
            </a:r>
            <a:r>
              <a:rPr sz="2000" dirty="0">
                <a:solidFill>
                  <a:srgbClr val="404040"/>
                </a:solidFill>
                <a:latin typeface="Calibri"/>
                <a:cs typeface="Calibri"/>
              </a:rPr>
              <a:t>quality</a:t>
            </a:r>
            <a:r>
              <a:rPr sz="2000" spc="-45" dirty="0">
                <a:solidFill>
                  <a:srgbClr val="404040"/>
                </a:solidFill>
                <a:latin typeface="Calibri"/>
                <a:cs typeface="Calibri"/>
              </a:rPr>
              <a:t> </a:t>
            </a:r>
            <a:r>
              <a:rPr sz="2000" dirty="0">
                <a:solidFill>
                  <a:srgbClr val="404040"/>
                </a:solidFill>
                <a:latin typeface="Calibri"/>
                <a:cs typeface="Calibri"/>
              </a:rPr>
              <a:t>data</a:t>
            </a:r>
            <a:r>
              <a:rPr sz="2000" spc="-45" dirty="0">
                <a:solidFill>
                  <a:srgbClr val="404040"/>
                </a:solidFill>
                <a:latin typeface="Calibri"/>
                <a:cs typeface="Calibri"/>
              </a:rPr>
              <a:t> </a:t>
            </a:r>
            <a:r>
              <a:rPr sz="2000" dirty="0">
                <a:solidFill>
                  <a:srgbClr val="404040"/>
                </a:solidFill>
                <a:latin typeface="Calibri"/>
                <a:cs typeface="Calibri"/>
              </a:rPr>
              <a:t>leads</a:t>
            </a:r>
            <a:r>
              <a:rPr sz="2000" spc="-45" dirty="0">
                <a:solidFill>
                  <a:srgbClr val="404040"/>
                </a:solidFill>
                <a:latin typeface="Calibri"/>
                <a:cs typeface="Calibri"/>
              </a:rPr>
              <a:t> </a:t>
            </a:r>
            <a:r>
              <a:rPr sz="2000" dirty="0">
                <a:solidFill>
                  <a:srgbClr val="404040"/>
                </a:solidFill>
                <a:latin typeface="Calibri"/>
                <a:cs typeface="Calibri"/>
              </a:rPr>
              <a:t>to</a:t>
            </a:r>
            <a:r>
              <a:rPr sz="2000" spc="-45" dirty="0">
                <a:solidFill>
                  <a:srgbClr val="404040"/>
                </a:solidFill>
                <a:latin typeface="Calibri"/>
                <a:cs typeface="Calibri"/>
              </a:rPr>
              <a:t> </a:t>
            </a:r>
            <a:r>
              <a:rPr sz="2000" dirty="0">
                <a:solidFill>
                  <a:srgbClr val="404040"/>
                </a:solidFill>
                <a:latin typeface="Calibri"/>
                <a:cs typeface="Calibri"/>
              </a:rPr>
              <a:t>incorrect</a:t>
            </a:r>
            <a:r>
              <a:rPr sz="2000" spc="-45" dirty="0">
                <a:solidFill>
                  <a:srgbClr val="404040"/>
                </a:solidFill>
                <a:latin typeface="Calibri"/>
                <a:cs typeface="Calibri"/>
              </a:rPr>
              <a:t> </a:t>
            </a:r>
            <a:r>
              <a:rPr sz="2000" dirty="0">
                <a:solidFill>
                  <a:srgbClr val="404040"/>
                </a:solidFill>
                <a:latin typeface="Calibri"/>
                <a:cs typeface="Calibri"/>
              </a:rPr>
              <a:t>analysis</a:t>
            </a:r>
            <a:r>
              <a:rPr sz="2000" spc="-25" dirty="0">
                <a:solidFill>
                  <a:srgbClr val="404040"/>
                </a:solidFill>
                <a:latin typeface="Calibri"/>
                <a:cs typeface="Calibri"/>
              </a:rPr>
              <a:t> </a:t>
            </a:r>
            <a:r>
              <a:rPr sz="2000" dirty="0">
                <a:solidFill>
                  <a:srgbClr val="404040"/>
                </a:solidFill>
                <a:latin typeface="Calibri"/>
                <a:cs typeface="Calibri"/>
              </a:rPr>
              <a:t>and</a:t>
            </a:r>
            <a:r>
              <a:rPr sz="2000" spc="-55" dirty="0">
                <a:solidFill>
                  <a:srgbClr val="404040"/>
                </a:solidFill>
                <a:latin typeface="Calibri"/>
                <a:cs typeface="Calibri"/>
              </a:rPr>
              <a:t> </a:t>
            </a:r>
            <a:r>
              <a:rPr sz="2000" dirty="0">
                <a:solidFill>
                  <a:srgbClr val="404040"/>
                </a:solidFill>
                <a:latin typeface="Calibri"/>
                <a:cs typeface="Calibri"/>
              </a:rPr>
              <a:t>poor</a:t>
            </a:r>
            <a:r>
              <a:rPr sz="2000" spc="-55" dirty="0">
                <a:solidFill>
                  <a:srgbClr val="404040"/>
                </a:solidFill>
                <a:latin typeface="Calibri"/>
                <a:cs typeface="Calibri"/>
              </a:rPr>
              <a:t> </a:t>
            </a:r>
            <a:r>
              <a:rPr sz="2000" dirty="0">
                <a:solidFill>
                  <a:srgbClr val="404040"/>
                </a:solidFill>
                <a:latin typeface="Calibri"/>
                <a:cs typeface="Calibri"/>
              </a:rPr>
              <a:t>business</a:t>
            </a:r>
            <a:r>
              <a:rPr sz="2000" spc="-45" dirty="0">
                <a:solidFill>
                  <a:srgbClr val="404040"/>
                </a:solidFill>
                <a:latin typeface="Calibri"/>
                <a:cs typeface="Calibri"/>
              </a:rPr>
              <a:t> </a:t>
            </a:r>
            <a:r>
              <a:rPr sz="2000" spc="-10" dirty="0">
                <a:solidFill>
                  <a:srgbClr val="404040"/>
                </a:solidFill>
                <a:latin typeface="Calibri"/>
                <a:cs typeface="Calibri"/>
              </a:rPr>
              <a:t>decisions.</a:t>
            </a:r>
            <a:endParaRPr sz="2000">
              <a:latin typeface="Calibri"/>
              <a:cs typeface="Calibri"/>
            </a:endParaRPr>
          </a:p>
          <a:p>
            <a:pPr marL="12700">
              <a:lnSpc>
                <a:spcPct val="100000"/>
              </a:lnSpc>
              <a:spcBef>
                <a:spcPts val="1165"/>
              </a:spcBef>
            </a:pPr>
            <a:r>
              <a:rPr sz="2000" b="1" dirty="0">
                <a:solidFill>
                  <a:srgbClr val="404040"/>
                </a:solidFill>
                <a:latin typeface="Calibri"/>
                <a:cs typeface="Calibri"/>
              </a:rPr>
              <a:t>Common</a:t>
            </a:r>
            <a:r>
              <a:rPr sz="2000" b="1" spc="-15" dirty="0">
                <a:solidFill>
                  <a:srgbClr val="404040"/>
                </a:solidFill>
                <a:latin typeface="Calibri"/>
                <a:cs typeface="Calibri"/>
              </a:rPr>
              <a:t> </a:t>
            </a:r>
            <a:r>
              <a:rPr sz="2000" b="1" spc="-10" dirty="0">
                <a:solidFill>
                  <a:srgbClr val="404040"/>
                </a:solidFill>
                <a:latin typeface="Calibri"/>
                <a:cs typeface="Calibri"/>
              </a:rPr>
              <a:t>Problems</a:t>
            </a:r>
            <a:endParaRPr sz="2000">
              <a:latin typeface="Calibri"/>
              <a:cs typeface="Calibri"/>
            </a:endParaRPr>
          </a:p>
        </p:txBody>
      </p:sp>
      <p:sp>
        <p:nvSpPr>
          <p:cNvPr id="4" name="object 4"/>
          <p:cNvSpPr txBox="1"/>
          <p:nvPr/>
        </p:nvSpPr>
        <p:spPr>
          <a:xfrm>
            <a:off x="511555" y="1930120"/>
            <a:ext cx="2324100" cy="2284730"/>
          </a:xfrm>
          <a:prstGeom prst="rect">
            <a:avLst/>
          </a:prstGeom>
        </p:spPr>
        <p:txBody>
          <a:bodyPr vert="horz" wrap="square" lIns="0" tIns="158750" rIns="0" bIns="0" rtlCol="0">
            <a:spAutoFit/>
          </a:bodyPr>
          <a:lstStyle/>
          <a:p>
            <a:pPr marL="103505" indent="-101600">
              <a:lnSpc>
                <a:spcPct val="100000"/>
              </a:lnSpc>
              <a:spcBef>
                <a:spcPts val="1250"/>
              </a:spcBef>
              <a:buClr>
                <a:srgbClr val="E38312"/>
              </a:buClr>
              <a:buSzPct val="77500"/>
              <a:buFont typeface="Tahoma"/>
              <a:buChar char="•"/>
              <a:tabLst>
                <a:tab pos="103505" algn="l"/>
              </a:tabLst>
            </a:pPr>
            <a:r>
              <a:rPr sz="2000" spc="-10" dirty="0">
                <a:solidFill>
                  <a:srgbClr val="404040"/>
                </a:solidFill>
                <a:latin typeface="Calibri"/>
                <a:cs typeface="Calibri"/>
              </a:rPr>
              <a:t>Duplicate</a:t>
            </a:r>
            <a:r>
              <a:rPr sz="2000" spc="-30" dirty="0">
                <a:solidFill>
                  <a:srgbClr val="404040"/>
                </a:solidFill>
                <a:latin typeface="Calibri"/>
                <a:cs typeface="Calibri"/>
              </a:rPr>
              <a:t> </a:t>
            </a:r>
            <a:r>
              <a:rPr sz="2000" spc="-10" dirty="0">
                <a:solidFill>
                  <a:srgbClr val="404040"/>
                </a:solidFill>
                <a:latin typeface="Calibri"/>
                <a:cs typeface="Calibri"/>
              </a:rPr>
              <a:t>records</a:t>
            </a:r>
            <a:endParaRPr sz="2000">
              <a:latin typeface="Calibri"/>
              <a:cs typeface="Calibri"/>
            </a:endParaRPr>
          </a:p>
          <a:p>
            <a:pPr marL="103505" indent="-101600">
              <a:lnSpc>
                <a:spcPct val="100000"/>
              </a:lnSpc>
              <a:spcBef>
                <a:spcPts val="1150"/>
              </a:spcBef>
              <a:buClr>
                <a:srgbClr val="E38312"/>
              </a:buClr>
              <a:buSzPct val="77500"/>
              <a:buFont typeface="Tahoma"/>
              <a:buChar char="•"/>
              <a:tabLst>
                <a:tab pos="103505" algn="l"/>
              </a:tabLst>
            </a:pPr>
            <a:r>
              <a:rPr sz="2000" dirty="0">
                <a:solidFill>
                  <a:srgbClr val="404040"/>
                </a:solidFill>
                <a:latin typeface="Calibri"/>
                <a:cs typeface="Calibri"/>
              </a:rPr>
              <a:t>Missing</a:t>
            </a:r>
            <a:r>
              <a:rPr sz="2000" spc="-65" dirty="0">
                <a:solidFill>
                  <a:srgbClr val="404040"/>
                </a:solidFill>
                <a:latin typeface="Calibri"/>
                <a:cs typeface="Calibri"/>
              </a:rPr>
              <a:t> </a:t>
            </a:r>
            <a:r>
              <a:rPr sz="2000" spc="-10" dirty="0">
                <a:solidFill>
                  <a:srgbClr val="404040"/>
                </a:solidFill>
                <a:latin typeface="Calibri"/>
                <a:cs typeface="Calibri"/>
              </a:rPr>
              <a:t>values</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dirty="0">
                <a:solidFill>
                  <a:srgbClr val="404040"/>
                </a:solidFill>
                <a:latin typeface="Calibri"/>
                <a:cs typeface="Calibri"/>
              </a:rPr>
              <a:t>Incorrect</a:t>
            </a:r>
            <a:r>
              <a:rPr sz="2000" spc="-95" dirty="0">
                <a:solidFill>
                  <a:srgbClr val="404040"/>
                </a:solidFill>
                <a:latin typeface="Calibri"/>
                <a:cs typeface="Calibri"/>
              </a:rPr>
              <a:t> </a:t>
            </a:r>
            <a:r>
              <a:rPr sz="2000" spc="-10" dirty="0">
                <a:solidFill>
                  <a:srgbClr val="404040"/>
                </a:solidFill>
                <a:latin typeface="Calibri"/>
                <a:cs typeface="Calibri"/>
              </a:rPr>
              <a:t>information</a:t>
            </a:r>
            <a:endParaRPr sz="2000">
              <a:latin typeface="Calibri"/>
              <a:cs typeface="Calibri"/>
            </a:endParaRPr>
          </a:p>
          <a:p>
            <a:pPr marL="103505" indent="-101600">
              <a:lnSpc>
                <a:spcPct val="100000"/>
              </a:lnSpc>
              <a:spcBef>
                <a:spcPts val="1165"/>
              </a:spcBef>
              <a:buClr>
                <a:srgbClr val="E38312"/>
              </a:buClr>
              <a:buSzPct val="77500"/>
              <a:buFont typeface="Tahoma"/>
              <a:buChar char="•"/>
              <a:tabLst>
                <a:tab pos="103505" algn="l"/>
              </a:tabLst>
            </a:pPr>
            <a:r>
              <a:rPr sz="2000" spc="-10" dirty="0">
                <a:solidFill>
                  <a:srgbClr val="404040"/>
                </a:solidFill>
                <a:latin typeface="Calibri"/>
                <a:cs typeface="Calibri"/>
              </a:rPr>
              <a:t>Inconsistent formats</a:t>
            </a:r>
            <a:endParaRPr sz="2000">
              <a:latin typeface="Calibri"/>
              <a:cs typeface="Calibri"/>
            </a:endParaRPr>
          </a:p>
          <a:p>
            <a:pPr marL="103505" indent="-101600">
              <a:lnSpc>
                <a:spcPct val="100000"/>
              </a:lnSpc>
              <a:spcBef>
                <a:spcPts val="1155"/>
              </a:spcBef>
              <a:buClr>
                <a:srgbClr val="E38312"/>
              </a:buClr>
              <a:buSzPct val="77500"/>
              <a:buFont typeface="Tahoma"/>
              <a:buChar char="•"/>
              <a:tabLst>
                <a:tab pos="103505" algn="l"/>
              </a:tabLst>
            </a:pPr>
            <a:r>
              <a:rPr sz="2000" spc="-10" dirty="0">
                <a:solidFill>
                  <a:srgbClr val="404040"/>
                </a:solidFill>
                <a:latin typeface="Calibri"/>
                <a:cs typeface="Calibri"/>
              </a:rPr>
              <a:t>Noise</a:t>
            </a:r>
            <a:endParaRPr sz="2000">
              <a:latin typeface="Calibri"/>
              <a:cs typeface="Calibri"/>
            </a:endParaRPr>
          </a:p>
        </p:txBody>
      </p:sp>
      <p:sp>
        <p:nvSpPr>
          <p:cNvPr id="5" name="object 5"/>
          <p:cNvSpPr/>
          <p:nvPr/>
        </p:nvSpPr>
        <p:spPr>
          <a:xfrm>
            <a:off x="390143" y="4669538"/>
            <a:ext cx="5840095" cy="2062480"/>
          </a:xfrm>
          <a:custGeom>
            <a:avLst/>
            <a:gdLst/>
            <a:ahLst/>
            <a:cxnLst/>
            <a:rect l="l" t="t" r="r" b="b"/>
            <a:pathLst>
              <a:path w="5840095" h="2062479">
                <a:moveTo>
                  <a:pt x="5839967" y="0"/>
                </a:moveTo>
                <a:lnTo>
                  <a:pt x="0" y="0"/>
                </a:lnTo>
                <a:lnTo>
                  <a:pt x="0" y="2062098"/>
                </a:lnTo>
                <a:lnTo>
                  <a:pt x="5839967" y="2062098"/>
                </a:lnTo>
                <a:lnTo>
                  <a:pt x="5839967" y="0"/>
                </a:lnTo>
                <a:close/>
              </a:path>
            </a:pathLst>
          </a:custGeom>
          <a:solidFill>
            <a:srgbClr val="DFE3DB"/>
          </a:solidFill>
        </p:spPr>
        <p:txBody>
          <a:bodyPr wrap="square" lIns="0" tIns="0" rIns="0" bIns="0" rtlCol="0"/>
          <a:lstStyle/>
          <a:p>
            <a:endParaRPr/>
          </a:p>
        </p:txBody>
      </p:sp>
      <p:sp>
        <p:nvSpPr>
          <p:cNvPr id="6" name="object 6"/>
          <p:cNvSpPr txBox="1"/>
          <p:nvPr/>
        </p:nvSpPr>
        <p:spPr>
          <a:xfrm>
            <a:off x="481583" y="4691253"/>
            <a:ext cx="5304790" cy="1488440"/>
          </a:xfrm>
          <a:prstGeom prst="rect">
            <a:avLst/>
          </a:prstGeom>
        </p:spPr>
        <p:txBody>
          <a:bodyPr vert="horz" wrap="square" lIns="0" tIns="12065" rIns="0" bIns="0" rtlCol="0">
            <a:spAutoFit/>
          </a:bodyPr>
          <a:lstStyle/>
          <a:p>
            <a:pPr marR="5080">
              <a:lnSpc>
                <a:spcPct val="100000"/>
              </a:lnSpc>
              <a:spcBef>
                <a:spcPts val="95"/>
              </a:spcBef>
            </a:pPr>
            <a:r>
              <a:rPr sz="1600" dirty="0">
                <a:latin typeface="Calibri"/>
                <a:cs typeface="Calibri"/>
              </a:rPr>
              <a:t>Example</a:t>
            </a:r>
            <a:r>
              <a:rPr sz="1600" spc="-6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These</a:t>
            </a:r>
            <a:r>
              <a:rPr sz="1600" spc="-40" dirty="0">
                <a:latin typeface="Calibri"/>
                <a:cs typeface="Calibri"/>
              </a:rPr>
              <a:t> </a:t>
            </a:r>
            <a:r>
              <a:rPr sz="1600" spc="-10" dirty="0">
                <a:latin typeface="Calibri"/>
                <a:cs typeface="Calibri"/>
              </a:rPr>
              <a:t>records</a:t>
            </a:r>
            <a:r>
              <a:rPr sz="1600" dirty="0">
                <a:latin typeface="Calibri"/>
                <a:cs typeface="Calibri"/>
              </a:rPr>
              <a:t> </a:t>
            </a:r>
            <a:r>
              <a:rPr sz="1600" spc="-10" dirty="0">
                <a:latin typeface="Calibri"/>
                <a:cs typeface="Calibri"/>
              </a:rPr>
              <a:t>refer</a:t>
            </a:r>
            <a:r>
              <a:rPr sz="1600" spc="-30" dirty="0">
                <a:latin typeface="Calibri"/>
                <a:cs typeface="Calibri"/>
              </a:rPr>
              <a:t> </a:t>
            </a:r>
            <a:r>
              <a:rPr sz="1600" dirty="0">
                <a:latin typeface="Calibri"/>
                <a:cs typeface="Calibri"/>
              </a:rPr>
              <a:t>to</a:t>
            </a:r>
            <a:r>
              <a:rPr sz="1600" spc="-35" dirty="0">
                <a:latin typeface="Calibri"/>
                <a:cs typeface="Calibri"/>
              </a:rPr>
              <a:t> </a:t>
            </a:r>
            <a:r>
              <a:rPr sz="1600" dirty="0">
                <a:latin typeface="Calibri"/>
                <a:cs typeface="Calibri"/>
              </a:rPr>
              <a:t>the</a:t>
            </a:r>
            <a:r>
              <a:rPr sz="1600" spc="-40" dirty="0">
                <a:latin typeface="Calibri"/>
                <a:cs typeface="Calibri"/>
              </a:rPr>
              <a:t> </a:t>
            </a:r>
            <a:r>
              <a:rPr sz="1600" dirty="0">
                <a:latin typeface="Calibri"/>
                <a:cs typeface="Calibri"/>
              </a:rPr>
              <a:t>same</a:t>
            </a:r>
            <a:r>
              <a:rPr sz="1600" spc="-35" dirty="0">
                <a:latin typeface="Calibri"/>
                <a:cs typeface="Calibri"/>
              </a:rPr>
              <a:t> </a:t>
            </a:r>
            <a:r>
              <a:rPr sz="1600" dirty="0">
                <a:latin typeface="Calibri"/>
                <a:cs typeface="Calibri"/>
              </a:rPr>
              <a:t>person</a:t>
            </a:r>
            <a:r>
              <a:rPr sz="1600" spc="-25" dirty="0">
                <a:latin typeface="Calibri"/>
                <a:cs typeface="Calibri"/>
              </a:rPr>
              <a:t> </a:t>
            </a:r>
            <a:r>
              <a:rPr sz="1600" dirty="0">
                <a:latin typeface="Calibri"/>
                <a:cs typeface="Calibri"/>
              </a:rPr>
              <a:t>but</a:t>
            </a:r>
            <a:r>
              <a:rPr sz="1600" spc="-35" dirty="0">
                <a:latin typeface="Calibri"/>
                <a:cs typeface="Calibri"/>
              </a:rPr>
              <a:t> </a:t>
            </a:r>
            <a:r>
              <a:rPr sz="1600" dirty="0">
                <a:latin typeface="Calibri"/>
                <a:cs typeface="Calibri"/>
              </a:rPr>
              <a:t>are</a:t>
            </a:r>
            <a:r>
              <a:rPr sz="1600" spc="-35" dirty="0">
                <a:latin typeface="Calibri"/>
                <a:cs typeface="Calibri"/>
              </a:rPr>
              <a:t> </a:t>
            </a:r>
            <a:r>
              <a:rPr sz="1600" spc="-10" dirty="0">
                <a:latin typeface="Calibri"/>
                <a:cs typeface="Calibri"/>
              </a:rPr>
              <a:t>stored differently.</a:t>
            </a:r>
            <a:endParaRPr sz="1600">
              <a:latin typeface="Calibri"/>
              <a:cs typeface="Calibri"/>
            </a:endParaRPr>
          </a:p>
          <a:p>
            <a:pPr marR="4246880">
              <a:lnSpc>
                <a:spcPct val="200000"/>
              </a:lnSpc>
            </a:pPr>
            <a:r>
              <a:rPr sz="1600" dirty="0">
                <a:latin typeface="Calibri"/>
                <a:cs typeface="Calibri"/>
              </a:rPr>
              <a:t>Rahul</a:t>
            </a:r>
            <a:r>
              <a:rPr sz="1600" spc="-55" dirty="0">
                <a:latin typeface="Calibri"/>
                <a:cs typeface="Calibri"/>
              </a:rPr>
              <a:t> </a:t>
            </a:r>
            <a:r>
              <a:rPr sz="1600" spc="-10" dirty="0">
                <a:latin typeface="Calibri"/>
                <a:cs typeface="Calibri"/>
              </a:rPr>
              <a:t>Kumar </a:t>
            </a:r>
            <a:r>
              <a:rPr sz="1600" dirty="0">
                <a:latin typeface="Calibri"/>
                <a:cs typeface="Calibri"/>
              </a:rPr>
              <a:t>Rahul</a:t>
            </a:r>
            <a:r>
              <a:rPr sz="1600" spc="-55" dirty="0">
                <a:latin typeface="Calibri"/>
                <a:cs typeface="Calibri"/>
              </a:rPr>
              <a:t> </a:t>
            </a:r>
            <a:r>
              <a:rPr sz="1600" spc="-25" dirty="0">
                <a:latin typeface="Calibri"/>
                <a:cs typeface="Calibri"/>
              </a:rPr>
              <a:t>K.</a:t>
            </a:r>
            <a:endParaRPr sz="1600">
              <a:latin typeface="Calibri"/>
              <a:cs typeface="Calibri"/>
            </a:endParaRPr>
          </a:p>
        </p:txBody>
      </p:sp>
      <p:sp>
        <p:nvSpPr>
          <p:cNvPr id="7" name="object 7"/>
          <p:cNvSpPr txBox="1"/>
          <p:nvPr/>
        </p:nvSpPr>
        <p:spPr>
          <a:xfrm>
            <a:off x="390143" y="6400317"/>
            <a:ext cx="5840095" cy="331470"/>
          </a:xfrm>
          <a:prstGeom prst="rect">
            <a:avLst/>
          </a:prstGeom>
          <a:solidFill>
            <a:srgbClr val="DFE3DB"/>
          </a:solidFill>
        </p:spPr>
        <p:txBody>
          <a:bodyPr vert="horz" wrap="square" lIns="0" tIns="10160" rIns="0" bIns="0" rtlCol="0">
            <a:spAutoFit/>
          </a:bodyPr>
          <a:lstStyle/>
          <a:p>
            <a:pPr marL="91440">
              <a:lnSpc>
                <a:spcPct val="100000"/>
              </a:lnSpc>
              <a:spcBef>
                <a:spcPts val="80"/>
              </a:spcBef>
            </a:pPr>
            <a:r>
              <a:rPr sz="1600" dirty="0">
                <a:latin typeface="Calibri"/>
                <a:cs typeface="Calibri"/>
              </a:rPr>
              <a:t>R.</a:t>
            </a:r>
            <a:r>
              <a:rPr sz="1600" spc="-5" dirty="0">
                <a:latin typeface="Calibri"/>
                <a:cs typeface="Calibri"/>
              </a:rPr>
              <a:t> </a:t>
            </a:r>
            <a:r>
              <a:rPr sz="1600" spc="-10" dirty="0">
                <a:latin typeface="Calibri"/>
                <a:cs typeface="Calibri"/>
              </a:rPr>
              <a:t>Kumar</a:t>
            </a:r>
            <a:endParaRPr sz="1600">
              <a:latin typeface="Calibri"/>
              <a:cs typeface="Calibri"/>
            </a:endParaRPr>
          </a:p>
        </p:txBody>
      </p:sp>
      <p:sp>
        <p:nvSpPr>
          <p:cNvPr id="8" name="object 8"/>
          <p:cNvSpPr txBox="1"/>
          <p:nvPr/>
        </p:nvSpPr>
        <p:spPr>
          <a:xfrm>
            <a:off x="6376415" y="2188464"/>
            <a:ext cx="2377440" cy="1754505"/>
          </a:xfrm>
          <a:prstGeom prst="rect">
            <a:avLst/>
          </a:prstGeom>
          <a:solidFill>
            <a:srgbClr val="DFE3DB"/>
          </a:solidFill>
        </p:spPr>
        <p:txBody>
          <a:bodyPr vert="horz" wrap="square" lIns="0" tIns="31114" rIns="0" bIns="0" rtlCol="0">
            <a:spAutoFit/>
          </a:bodyPr>
          <a:lstStyle/>
          <a:p>
            <a:pPr marL="92075">
              <a:lnSpc>
                <a:spcPct val="100000"/>
              </a:lnSpc>
              <a:spcBef>
                <a:spcPts val="244"/>
              </a:spcBef>
            </a:pPr>
            <a:r>
              <a:rPr sz="1800" b="1" spc="-10" dirty="0">
                <a:latin typeface="Calibri"/>
                <a:cs typeface="Calibri"/>
              </a:rPr>
              <a:t>Solution</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Data</a:t>
            </a:r>
            <a:r>
              <a:rPr sz="1800" spc="-65" dirty="0">
                <a:latin typeface="Calibri"/>
                <a:cs typeface="Calibri"/>
              </a:rPr>
              <a:t> </a:t>
            </a:r>
            <a:r>
              <a:rPr sz="1800" spc="-10" dirty="0">
                <a:latin typeface="Calibri"/>
                <a:cs typeface="Calibri"/>
              </a:rPr>
              <a:t>cleaning</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Data</a:t>
            </a:r>
            <a:r>
              <a:rPr sz="1800" spc="-65" dirty="0">
                <a:latin typeface="Calibri"/>
                <a:cs typeface="Calibri"/>
              </a:rPr>
              <a:t> </a:t>
            </a:r>
            <a:r>
              <a:rPr sz="1800" spc="-10" dirty="0">
                <a:latin typeface="Calibri"/>
                <a:cs typeface="Calibri"/>
              </a:rPr>
              <a:t>normalization</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Validation</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Deduplication</a:t>
            </a:r>
            <a:endParaRPr sz="1800">
              <a:latin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42036" y="24536"/>
            <a:ext cx="3315335" cy="784860"/>
          </a:xfrm>
          <a:prstGeom prst="rect">
            <a:avLst/>
          </a:prstGeom>
        </p:spPr>
        <p:txBody>
          <a:bodyPr vert="horz" wrap="square" lIns="0" tIns="12700" rIns="0" bIns="0" rtlCol="0">
            <a:spAutoFit/>
          </a:bodyPr>
          <a:lstStyle/>
          <a:p>
            <a:pPr marL="12700" marR="5080">
              <a:lnSpc>
                <a:spcPct val="131100"/>
              </a:lnSpc>
              <a:spcBef>
                <a:spcPts val="100"/>
              </a:spcBef>
            </a:pPr>
            <a:r>
              <a:rPr sz="1900" dirty="0"/>
              <a:t>5.</a:t>
            </a:r>
            <a:r>
              <a:rPr sz="1900" spc="-60" dirty="0"/>
              <a:t> </a:t>
            </a:r>
            <a:r>
              <a:rPr sz="1900" dirty="0"/>
              <a:t>Security</a:t>
            </a:r>
            <a:r>
              <a:rPr sz="1900" spc="-40" dirty="0"/>
              <a:t> </a:t>
            </a:r>
            <a:r>
              <a:rPr sz="1900" dirty="0"/>
              <a:t>and</a:t>
            </a:r>
            <a:r>
              <a:rPr sz="1900" spc="-50" dirty="0"/>
              <a:t> </a:t>
            </a:r>
            <a:r>
              <a:rPr sz="1900" dirty="0"/>
              <a:t>Privacy</a:t>
            </a:r>
            <a:r>
              <a:rPr sz="1900" spc="-60" dirty="0"/>
              <a:t> </a:t>
            </a:r>
            <a:r>
              <a:rPr sz="1900" spc="-10" dirty="0"/>
              <a:t>Challenge Explanation</a:t>
            </a:r>
            <a:endParaRPr sz="1900"/>
          </a:p>
        </p:txBody>
      </p:sp>
      <p:sp>
        <p:nvSpPr>
          <p:cNvPr id="3" name="object 3"/>
          <p:cNvSpPr txBox="1"/>
          <p:nvPr/>
        </p:nvSpPr>
        <p:spPr>
          <a:xfrm>
            <a:off x="542036" y="876046"/>
            <a:ext cx="8192770" cy="898525"/>
          </a:xfrm>
          <a:prstGeom prst="rect">
            <a:avLst/>
          </a:prstGeom>
        </p:spPr>
        <p:txBody>
          <a:bodyPr vert="horz" wrap="square" lIns="0" tIns="99060" rIns="0" bIns="0" rtlCol="0">
            <a:spAutoFit/>
          </a:bodyPr>
          <a:lstStyle/>
          <a:p>
            <a:pPr marL="12700" marR="5080">
              <a:lnSpc>
                <a:spcPct val="70000"/>
              </a:lnSpc>
              <a:spcBef>
                <a:spcPts val="780"/>
              </a:spcBef>
            </a:pPr>
            <a:r>
              <a:rPr sz="1900" dirty="0">
                <a:solidFill>
                  <a:srgbClr val="404040"/>
                </a:solidFill>
                <a:latin typeface="Calibri"/>
                <a:cs typeface="Calibri"/>
              </a:rPr>
              <a:t>Big</a:t>
            </a:r>
            <a:r>
              <a:rPr sz="1900" spc="-35" dirty="0">
                <a:solidFill>
                  <a:srgbClr val="404040"/>
                </a:solidFill>
                <a:latin typeface="Calibri"/>
                <a:cs typeface="Calibri"/>
              </a:rPr>
              <a:t> </a:t>
            </a:r>
            <a:r>
              <a:rPr sz="1900" dirty="0">
                <a:solidFill>
                  <a:srgbClr val="404040"/>
                </a:solidFill>
                <a:latin typeface="Calibri"/>
                <a:cs typeface="Calibri"/>
              </a:rPr>
              <a:t>Data</a:t>
            </a:r>
            <a:r>
              <a:rPr sz="1900" spc="-40" dirty="0">
                <a:solidFill>
                  <a:srgbClr val="404040"/>
                </a:solidFill>
                <a:latin typeface="Calibri"/>
                <a:cs typeface="Calibri"/>
              </a:rPr>
              <a:t> </a:t>
            </a:r>
            <a:r>
              <a:rPr sz="1900" dirty="0">
                <a:solidFill>
                  <a:srgbClr val="404040"/>
                </a:solidFill>
                <a:latin typeface="Calibri"/>
                <a:cs typeface="Calibri"/>
              </a:rPr>
              <a:t>often</a:t>
            </a:r>
            <a:r>
              <a:rPr sz="1900" spc="-25" dirty="0">
                <a:solidFill>
                  <a:srgbClr val="404040"/>
                </a:solidFill>
                <a:latin typeface="Calibri"/>
                <a:cs typeface="Calibri"/>
              </a:rPr>
              <a:t> </a:t>
            </a:r>
            <a:r>
              <a:rPr sz="1900" spc="-10" dirty="0">
                <a:solidFill>
                  <a:srgbClr val="404040"/>
                </a:solidFill>
                <a:latin typeface="Calibri"/>
                <a:cs typeface="Calibri"/>
              </a:rPr>
              <a:t>contains</a:t>
            </a:r>
            <a:r>
              <a:rPr sz="1900" spc="-40" dirty="0">
                <a:solidFill>
                  <a:srgbClr val="404040"/>
                </a:solidFill>
                <a:latin typeface="Calibri"/>
                <a:cs typeface="Calibri"/>
              </a:rPr>
              <a:t> </a:t>
            </a:r>
            <a:r>
              <a:rPr sz="1900" spc="-10" dirty="0">
                <a:solidFill>
                  <a:srgbClr val="404040"/>
                </a:solidFill>
                <a:latin typeface="Calibri"/>
                <a:cs typeface="Calibri"/>
              </a:rPr>
              <a:t>confidential</a:t>
            </a:r>
            <a:r>
              <a:rPr sz="1900" spc="-35" dirty="0">
                <a:solidFill>
                  <a:srgbClr val="404040"/>
                </a:solidFill>
                <a:latin typeface="Calibri"/>
                <a:cs typeface="Calibri"/>
              </a:rPr>
              <a:t> </a:t>
            </a:r>
            <a:r>
              <a:rPr sz="1900" spc="-10" dirty="0">
                <a:solidFill>
                  <a:srgbClr val="404040"/>
                </a:solidFill>
                <a:latin typeface="Calibri"/>
                <a:cs typeface="Calibri"/>
              </a:rPr>
              <a:t>information,</a:t>
            </a:r>
            <a:r>
              <a:rPr sz="1900" spc="-25" dirty="0">
                <a:solidFill>
                  <a:srgbClr val="404040"/>
                </a:solidFill>
                <a:latin typeface="Calibri"/>
                <a:cs typeface="Calibri"/>
              </a:rPr>
              <a:t> </a:t>
            </a:r>
            <a:r>
              <a:rPr sz="1900" dirty="0">
                <a:solidFill>
                  <a:srgbClr val="404040"/>
                </a:solidFill>
                <a:latin typeface="Calibri"/>
                <a:cs typeface="Calibri"/>
              </a:rPr>
              <a:t>making</a:t>
            </a:r>
            <a:r>
              <a:rPr sz="1900" spc="-35" dirty="0">
                <a:solidFill>
                  <a:srgbClr val="404040"/>
                </a:solidFill>
                <a:latin typeface="Calibri"/>
                <a:cs typeface="Calibri"/>
              </a:rPr>
              <a:t> </a:t>
            </a:r>
            <a:r>
              <a:rPr sz="1900" dirty="0">
                <a:solidFill>
                  <a:srgbClr val="404040"/>
                </a:solidFill>
                <a:latin typeface="Calibri"/>
                <a:cs typeface="Calibri"/>
              </a:rPr>
              <a:t>security</a:t>
            </a:r>
            <a:r>
              <a:rPr sz="1900" spc="-35" dirty="0">
                <a:solidFill>
                  <a:srgbClr val="404040"/>
                </a:solidFill>
                <a:latin typeface="Calibri"/>
                <a:cs typeface="Calibri"/>
              </a:rPr>
              <a:t> </a:t>
            </a:r>
            <a:r>
              <a:rPr sz="1900" dirty="0">
                <a:solidFill>
                  <a:srgbClr val="404040"/>
                </a:solidFill>
                <a:latin typeface="Calibri"/>
                <a:cs typeface="Calibri"/>
              </a:rPr>
              <a:t>one</a:t>
            </a:r>
            <a:r>
              <a:rPr sz="1900" spc="-45" dirty="0">
                <a:solidFill>
                  <a:srgbClr val="404040"/>
                </a:solidFill>
                <a:latin typeface="Calibri"/>
                <a:cs typeface="Calibri"/>
              </a:rPr>
              <a:t> </a:t>
            </a:r>
            <a:r>
              <a:rPr sz="1900" dirty="0">
                <a:solidFill>
                  <a:srgbClr val="404040"/>
                </a:solidFill>
                <a:latin typeface="Calibri"/>
                <a:cs typeface="Calibri"/>
              </a:rPr>
              <a:t>of</a:t>
            </a:r>
            <a:r>
              <a:rPr sz="1900" spc="-45" dirty="0">
                <a:solidFill>
                  <a:srgbClr val="404040"/>
                </a:solidFill>
                <a:latin typeface="Calibri"/>
                <a:cs typeface="Calibri"/>
              </a:rPr>
              <a:t> </a:t>
            </a:r>
            <a:r>
              <a:rPr sz="1900" dirty="0">
                <a:solidFill>
                  <a:srgbClr val="404040"/>
                </a:solidFill>
                <a:latin typeface="Calibri"/>
                <a:cs typeface="Calibri"/>
              </a:rPr>
              <a:t>the</a:t>
            </a:r>
            <a:r>
              <a:rPr sz="1900" spc="-35" dirty="0">
                <a:solidFill>
                  <a:srgbClr val="404040"/>
                </a:solidFill>
                <a:latin typeface="Calibri"/>
                <a:cs typeface="Calibri"/>
              </a:rPr>
              <a:t> </a:t>
            </a:r>
            <a:r>
              <a:rPr sz="1900" spc="-10" dirty="0">
                <a:solidFill>
                  <a:srgbClr val="404040"/>
                </a:solidFill>
                <a:latin typeface="Calibri"/>
                <a:cs typeface="Calibri"/>
              </a:rPr>
              <a:t>biggest challenges.</a:t>
            </a:r>
            <a:endParaRPr sz="1900">
              <a:latin typeface="Calibri"/>
              <a:cs typeface="Calibri"/>
            </a:endParaRPr>
          </a:p>
          <a:p>
            <a:pPr marL="12700">
              <a:lnSpc>
                <a:spcPct val="100000"/>
              </a:lnSpc>
              <a:spcBef>
                <a:spcPts val="720"/>
              </a:spcBef>
            </a:pPr>
            <a:r>
              <a:rPr sz="1900" b="1" dirty="0">
                <a:solidFill>
                  <a:srgbClr val="404040"/>
                </a:solidFill>
                <a:latin typeface="Calibri"/>
                <a:cs typeface="Calibri"/>
              </a:rPr>
              <a:t>Sensitive</a:t>
            </a:r>
            <a:r>
              <a:rPr sz="1900" b="1" spc="-85" dirty="0">
                <a:solidFill>
                  <a:srgbClr val="404040"/>
                </a:solidFill>
                <a:latin typeface="Calibri"/>
                <a:cs typeface="Calibri"/>
              </a:rPr>
              <a:t> </a:t>
            </a:r>
            <a:r>
              <a:rPr sz="1900" b="1" spc="-20" dirty="0">
                <a:solidFill>
                  <a:srgbClr val="404040"/>
                </a:solidFill>
                <a:latin typeface="Calibri"/>
                <a:cs typeface="Calibri"/>
              </a:rPr>
              <a:t>Data</a:t>
            </a:r>
            <a:endParaRPr sz="1900">
              <a:latin typeface="Calibri"/>
              <a:cs typeface="Calibri"/>
            </a:endParaRPr>
          </a:p>
        </p:txBody>
      </p:sp>
      <p:sp>
        <p:nvSpPr>
          <p:cNvPr id="4" name="object 4"/>
          <p:cNvSpPr txBox="1"/>
          <p:nvPr/>
        </p:nvSpPr>
        <p:spPr>
          <a:xfrm>
            <a:off x="450595" y="1746422"/>
            <a:ext cx="2137410" cy="3832860"/>
          </a:xfrm>
          <a:prstGeom prst="rect">
            <a:avLst/>
          </a:prstGeom>
        </p:spPr>
        <p:txBody>
          <a:bodyPr vert="horz" wrap="square" lIns="0" tIns="104775" rIns="0" bIns="0" rtlCol="0">
            <a:spAutoFit/>
          </a:bodyPr>
          <a:lstStyle/>
          <a:p>
            <a:pPr marL="103505" indent="-101600">
              <a:lnSpc>
                <a:spcPct val="100000"/>
              </a:lnSpc>
              <a:spcBef>
                <a:spcPts val="825"/>
              </a:spcBef>
              <a:buClr>
                <a:srgbClr val="E38312"/>
              </a:buClr>
              <a:buSzPct val="81578"/>
              <a:buFont typeface="Tahoma"/>
              <a:buChar char="•"/>
              <a:tabLst>
                <a:tab pos="103505" algn="l"/>
              </a:tabLst>
            </a:pPr>
            <a:r>
              <a:rPr sz="1900" dirty="0">
                <a:solidFill>
                  <a:srgbClr val="404040"/>
                </a:solidFill>
                <a:latin typeface="Calibri"/>
                <a:cs typeface="Calibri"/>
              </a:rPr>
              <a:t>Banking</a:t>
            </a:r>
            <a:r>
              <a:rPr sz="1900" spc="-50" dirty="0">
                <a:solidFill>
                  <a:srgbClr val="404040"/>
                </a:solidFill>
                <a:latin typeface="Calibri"/>
                <a:cs typeface="Calibri"/>
              </a:rPr>
              <a:t> </a:t>
            </a:r>
            <a:r>
              <a:rPr sz="1900" spc="-10" dirty="0">
                <a:solidFill>
                  <a:srgbClr val="404040"/>
                </a:solidFill>
                <a:latin typeface="Calibri"/>
                <a:cs typeface="Calibri"/>
              </a:rPr>
              <a:t>information</a:t>
            </a:r>
            <a:endParaRPr sz="1900">
              <a:latin typeface="Calibri"/>
              <a:cs typeface="Calibri"/>
            </a:endParaRPr>
          </a:p>
          <a:p>
            <a:pPr marL="103505" indent="-101600">
              <a:lnSpc>
                <a:spcPct val="100000"/>
              </a:lnSpc>
              <a:spcBef>
                <a:spcPts val="725"/>
              </a:spcBef>
              <a:buClr>
                <a:srgbClr val="E38312"/>
              </a:buClr>
              <a:buSzPct val="81578"/>
              <a:buFont typeface="Tahoma"/>
              <a:buChar char="•"/>
              <a:tabLst>
                <a:tab pos="103505" algn="l"/>
              </a:tabLst>
            </a:pPr>
            <a:r>
              <a:rPr sz="1900" dirty="0">
                <a:solidFill>
                  <a:srgbClr val="404040"/>
                </a:solidFill>
                <a:latin typeface="Calibri"/>
                <a:cs typeface="Calibri"/>
              </a:rPr>
              <a:t>Medical</a:t>
            </a:r>
            <a:r>
              <a:rPr sz="1900" spc="-70" dirty="0">
                <a:solidFill>
                  <a:srgbClr val="404040"/>
                </a:solidFill>
                <a:latin typeface="Calibri"/>
                <a:cs typeface="Calibri"/>
              </a:rPr>
              <a:t> </a:t>
            </a:r>
            <a:r>
              <a:rPr sz="1900" spc="-10" dirty="0">
                <a:solidFill>
                  <a:srgbClr val="404040"/>
                </a:solidFill>
                <a:latin typeface="Calibri"/>
                <a:cs typeface="Calibri"/>
              </a:rPr>
              <a:t>records</a:t>
            </a:r>
            <a:endParaRPr sz="1900">
              <a:latin typeface="Calibri"/>
              <a:cs typeface="Calibri"/>
            </a:endParaRPr>
          </a:p>
          <a:p>
            <a:pPr marL="103505" indent="-101600">
              <a:lnSpc>
                <a:spcPct val="100000"/>
              </a:lnSpc>
              <a:spcBef>
                <a:spcPts val="720"/>
              </a:spcBef>
              <a:buClr>
                <a:srgbClr val="E38312"/>
              </a:buClr>
              <a:buSzPct val="81578"/>
              <a:buFont typeface="Tahoma"/>
              <a:buChar char="•"/>
              <a:tabLst>
                <a:tab pos="103505" algn="l"/>
              </a:tabLst>
            </a:pPr>
            <a:r>
              <a:rPr sz="1900" spc="-10" dirty="0">
                <a:solidFill>
                  <a:srgbClr val="404040"/>
                </a:solidFill>
                <a:latin typeface="Calibri"/>
                <a:cs typeface="Calibri"/>
              </a:rPr>
              <a:t>Government</a:t>
            </a:r>
            <a:r>
              <a:rPr sz="1900" spc="-60" dirty="0">
                <a:solidFill>
                  <a:srgbClr val="404040"/>
                </a:solidFill>
                <a:latin typeface="Calibri"/>
                <a:cs typeface="Calibri"/>
              </a:rPr>
              <a:t> </a:t>
            </a:r>
            <a:r>
              <a:rPr sz="1900" spc="-10" dirty="0">
                <a:solidFill>
                  <a:srgbClr val="404040"/>
                </a:solidFill>
                <a:latin typeface="Calibri"/>
                <a:cs typeface="Calibri"/>
              </a:rPr>
              <a:t>records</a:t>
            </a:r>
            <a:endParaRPr sz="1900">
              <a:latin typeface="Calibri"/>
              <a:cs typeface="Calibri"/>
            </a:endParaRPr>
          </a:p>
          <a:p>
            <a:pPr marL="103505" indent="-101600">
              <a:lnSpc>
                <a:spcPct val="100000"/>
              </a:lnSpc>
              <a:spcBef>
                <a:spcPts val="705"/>
              </a:spcBef>
              <a:buClr>
                <a:srgbClr val="E38312"/>
              </a:buClr>
              <a:buSzPct val="81578"/>
              <a:buFont typeface="Tahoma"/>
              <a:buChar char="•"/>
              <a:tabLst>
                <a:tab pos="103505" algn="l"/>
              </a:tabLst>
            </a:pPr>
            <a:r>
              <a:rPr sz="1900" dirty="0">
                <a:solidFill>
                  <a:srgbClr val="404040"/>
                </a:solidFill>
                <a:latin typeface="Calibri"/>
                <a:cs typeface="Calibri"/>
              </a:rPr>
              <a:t>Biometric</a:t>
            </a:r>
            <a:r>
              <a:rPr sz="1900" spc="-100" dirty="0">
                <a:solidFill>
                  <a:srgbClr val="404040"/>
                </a:solidFill>
                <a:latin typeface="Calibri"/>
                <a:cs typeface="Calibri"/>
              </a:rPr>
              <a:t> </a:t>
            </a:r>
            <a:r>
              <a:rPr sz="1900" spc="-20" dirty="0">
                <a:solidFill>
                  <a:srgbClr val="404040"/>
                </a:solidFill>
                <a:latin typeface="Calibri"/>
                <a:cs typeface="Calibri"/>
              </a:rPr>
              <a:t>data</a:t>
            </a:r>
            <a:endParaRPr sz="1900">
              <a:latin typeface="Calibri"/>
              <a:cs typeface="Calibri"/>
            </a:endParaRPr>
          </a:p>
          <a:p>
            <a:pPr marL="104139">
              <a:lnSpc>
                <a:spcPct val="100000"/>
              </a:lnSpc>
              <a:spcBef>
                <a:spcPts val="720"/>
              </a:spcBef>
            </a:pPr>
            <a:r>
              <a:rPr sz="1900" b="1" spc="-10" dirty="0">
                <a:solidFill>
                  <a:srgbClr val="404040"/>
                </a:solidFill>
                <a:latin typeface="Calibri"/>
                <a:cs typeface="Calibri"/>
              </a:rPr>
              <a:t>Risks</a:t>
            </a:r>
            <a:endParaRPr sz="1900">
              <a:latin typeface="Calibri"/>
              <a:cs typeface="Calibri"/>
            </a:endParaRPr>
          </a:p>
          <a:p>
            <a:pPr marL="103505" indent="-101600">
              <a:lnSpc>
                <a:spcPct val="100000"/>
              </a:lnSpc>
              <a:spcBef>
                <a:spcPts val="725"/>
              </a:spcBef>
              <a:buClr>
                <a:srgbClr val="E38312"/>
              </a:buClr>
              <a:buSzPct val="81578"/>
              <a:buFont typeface="Tahoma"/>
              <a:buChar char="•"/>
              <a:tabLst>
                <a:tab pos="103505" algn="l"/>
              </a:tabLst>
            </a:pPr>
            <a:r>
              <a:rPr sz="1900" dirty="0">
                <a:solidFill>
                  <a:srgbClr val="404040"/>
                </a:solidFill>
                <a:latin typeface="Calibri"/>
                <a:cs typeface="Calibri"/>
              </a:rPr>
              <a:t>Cyber</a:t>
            </a:r>
            <a:r>
              <a:rPr sz="1900" spc="-45" dirty="0">
                <a:solidFill>
                  <a:srgbClr val="404040"/>
                </a:solidFill>
                <a:latin typeface="Calibri"/>
                <a:cs typeface="Calibri"/>
              </a:rPr>
              <a:t> </a:t>
            </a:r>
            <a:r>
              <a:rPr sz="1900" spc="-10" dirty="0">
                <a:solidFill>
                  <a:srgbClr val="404040"/>
                </a:solidFill>
                <a:latin typeface="Calibri"/>
                <a:cs typeface="Calibri"/>
              </a:rPr>
              <a:t>attacks</a:t>
            </a:r>
            <a:endParaRPr sz="1900">
              <a:latin typeface="Calibri"/>
              <a:cs typeface="Calibri"/>
            </a:endParaRPr>
          </a:p>
          <a:p>
            <a:pPr marL="103505" indent="-101600">
              <a:lnSpc>
                <a:spcPct val="100000"/>
              </a:lnSpc>
              <a:spcBef>
                <a:spcPts val="705"/>
              </a:spcBef>
              <a:buClr>
                <a:srgbClr val="E38312"/>
              </a:buClr>
              <a:buSzPct val="81578"/>
              <a:buFont typeface="Tahoma"/>
              <a:buChar char="•"/>
              <a:tabLst>
                <a:tab pos="103505" algn="l"/>
              </a:tabLst>
            </a:pPr>
            <a:r>
              <a:rPr sz="1900" dirty="0">
                <a:solidFill>
                  <a:srgbClr val="404040"/>
                </a:solidFill>
                <a:latin typeface="Calibri"/>
                <a:cs typeface="Calibri"/>
              </a:rPr>
              <a:t>Data</a:t>
            </a:r>
            <a:r>
              <a:rPr sz="1900" spc="-75" dirty="0">
                <a:solidFill>
                  <a:srgbClr val="404040"/>
                </a:solidFill>
                <a:latin typeface="Calibri"/>
                <a:cs typeface="Calibri"/>
              </a:rPr>
              <a:t> </a:t>
            </a:r>
            <a:r>
              <a:rPr sz="1900" spc="-10" dirty="0">
                <a:solidFill>
                  <a:srgbClr val="404040"/>
                </a:solidFill>
                <a:latin typeface="Calibri"/>
                <a:cs typeface="Calibri"/>
              </a:rPr>
              <a:t>theft</a:t>
            </a:r>
            <a:endParaRPr sz="1900">
              <a:latin typeface="Calibri"/>
              <a:cs typeface="Calibri"/>
            </a:endParaRPr>
          </a:p>
          <a:p>
            <a:pPr marL="103505" indent="-101600">
              <a:lnSpc>
                <a:spcPct val="100000"/>
              </a:lnSpc>
              <a:spcBef>
                <a:spcPts val="720"/>
              </a:spcBef>
              <a:buClr>
                <a:srgbClr val="E38312"/>
              </a:buClr>
              <a:buSzPct val="81578"/>
              <a:buFont typeface="Tahoma"/>
              <a:buChar char="•"/>
              <a:tabLst>
                <a:tab pos="103505" algn="l"/>
              </a:tabLst>
            </a:pPr>
            <a:r>
              <a:rPr sz="1900" dirty="0">
                <a:solidFill>
                  <a:srgbClr val="404040"/>
                </a:solidFill>
                <a:latin typeface="Calibri"/>
                <a:cs typeface="Calibri"/>
              </a:rPr>
              <a:t>Identity</a:t>
            </a:r>
            <a:r>
              <a:rPr sz="1900" spc="-75" dirty="0">
                <a:solidFill>
                  <a:srgbClr val="404040"/>
                </a:solidFill>
                <a:latin typeface="Calibri"/>
                <a:cs typeface="Calibri"/>
              </a:rPr>
              <a:t> </a:t>
            </a:r>
            <a:r>
              <a:rPr sz="1900" spc="-10" dirty="0">
                <a:solidFill>
                  <a:srgbClr val="404040"/>
                </a:solidFill>
                <a:latin typeface="Calibri"/>
                <a:cs typeface="Calibri"/>
              </a:rPr>
              <a:t>theft</a:t>
            </a:r>
            <a:endParaRPr sz="1900">
              <a:latin typeface="Calibri"/>
              <a:cs typeface="Calibri"/>
            </a:endParaRPr>
          </a:p>
          <a:p>
            <a:pPr marL="103505" indent="-101600">
              <a:lnSpc>
                <a:spcPct val="100000"/>
              </a:lnSpc>
              <a:spcBef>
                <a:spcPts val="720"/>
              </a:spcBef>
              <a:buClr>
                <a:srgbClr val="E38312"/>
              </a:buClr>
              <a:buSzPct val="81578"/>
              <a:buFont typeface="Tahoma"/>
              <a:buChar char="•"/>
              <a:tabLst>
                <a:tab pos="103505" algn="l"/>
              </a:tabLst>
            </a:pPr>
            <a:r>
              <a:rPr sz="1900" spc="-10" dirty="0">
                <a:solidFill>
                  <a:srgbClr val="404040"/>
                </a:solidFill>
                <a:latin typeface="Calibri"/>
                <a:cs typeface="Calibri"/>
              </a:rPr>
              <a:t>Unauthorized access</a:t>
            </a:r>
            <a:endParaRPr sz="1900">
              <a:latin typeface="Calibri"/>
              <a:cs typeface="Calibri"/>
            </a:endParaRPr>
          </a:p>
          <a:p>
            <a:pPr marL="104139">
              <a:lnSpc>
                <a:spcPct val="100000"/>
              </a:lnSpc>
              <a:spcBef>
                <a:spcPts val="710"/>
              </a:spcBef>
            </a:pPr>
            <a:r>
              <a:rPr sz="1900" b="1" spc="-10" dirty="0">
                <a:solidFill>
                  <a:srgbClr val="404040"/>
                </a:solidFill>
                <a:latin typeface="Calibri"/>
                <a:cs typeface="Calibri"/>
              </a:rPr>
              <a:t>Example</a:t>
            </a:r>
            <a:endParaRPr sz="1900">
              <a:latin typeface="Calibri"/>
              <a:cs typeface="Calibri"/>
            </a:endParaRPr>
          </a:p>
        </p:txBody>
      </p:sp>
      <p:sp>
        <p:nvSpPr>
          <p:cNvPr id="5" name="object 5"/>
          <p:cNvSpPr txBox="1"/>
          <p:nvPr/>
        </p:nvSpPr>
        <p:spPr>
          <a:xfrm>
            <a:off x="542036" y="5645607"/>
            <a:ext cx="7380605" cy="517525"/>
          </a:xfrm>
          <a:prstGeom prst="rect">
            <a:avLst/>
          </a:prstGeom>
        </p:spPr>
        <p:txBody>
          <a:bodyPr vert="horz" wrap="square" lIns="0" tIns="99060" rIns="0" bIns="0" rtlCol="0">
            <a:spAutoFit/>
          </a:bodyPr>
          <a:lstStyle/>
          <a:p>
            <a:pPr marL="12700" marR="5080">
              <a:lnSpc>
                <a:spcPct val="70000"/>
              </a:lnSpc>
              <a:spcBef>
                <a:spcPts val="780"/>
              </a:spcBef>
            </a:pPr>
            <a:r>
              <a:rPr sz="1900" dirty="0">
                <a:solidFill>
                  <a:srgbClr val="404040"/>
                </a:solidFill>
                <a:latin typeface="Calibri"/>
                <a:cs typeface="Calibri"/>
              </a:rPr>
              <a:t>A</a:t>
            </a:r>
            <a:r>
              <a:rPr sz="1900" spc="-70" dirty="0">
                <a:solidFill>
                  <a:srgbClr val="404040"/>
                </a:solidFill>
                <a:latin typeface="Calibri"/>
                <a:cs typeface="Calibri"/>
              </a:rPr>
              <a:t> </a:t>
            </a:r>
            <a:r>
              <a:rPr sz="1900" dirty="0">
                <a:solidFill>
                  <a:srgbClr val="404040"/>
                </a:solidFill>
                <a:latin typeface="Calibri"/>
                <a:cs typeface="Calibri"/>
              </a:rPr>
              <a:t>healthcare</a:t>
            </a:r>
            <a:r>
              <a:rPr sz="1900" spc="-50" dirty="0">
                <a:solidFill>
                  <a:srgbClr val="404040"/>
                </a:solidFill>
                <a:latin typeface="Calibri"/>
                <a:cs typeface="Calibri"/>
              </a:rPr>
              <a:t> </a:t>
            </a:r>
            <a:r>
              <a:rPr sz="1900" dirty="0">
                <a:solidFill>
                  <a:srgbClr val="404040"/>
                </a:solidFill>
                <a:latin typeface="Calibri"/>
                <a:cs typeface="Calibri"/>
              </a:rPr>
              <a:t>database</a:t>
            </a:r>
            <a:r>
              <a:rPr sz="1900" spc="-65" dirty="0">
                <a:solidFill>
                  <a:srgbClr val="404040"/>
                </a:solidFill>
                <a:latin typeface="Calibri"/>
                <a:cs typeface="Calibri"/>
              </a:rPr>
              <a:t> </a:t>
            </a:r>
            <a:r>
              <a:rPr sz="1900" spc="-10" dirty="0">
                <a:solidFill>
                  <a:srgbClr val="404040"/>
                </a:solidFill>
                <a:latin typeface="Calibri"/>
                <a:cs typeface="Calibri"/>
              </a:rPr>
              <a:t>containing</a:t>
            </a:r>
            <a:r>
              <a:rPr sz="1900" spc="-50" dirty="0">
                <a:solidFill>
                  <a:srgbClr val="404040"/>
                </a:solidFill>
                <a:latin typeface="Calibri"/>
                <a:cs typeface="Calibri"/>
              </a:rPr>
              <a:t> </a:t>
            </a:r>
            <a:r>
              <a:rPr sz="1900" dirty="0">
                <a:solidFill>
                  <a:srgbClr val="404040"/>
                </a:solidFill>
                <a:latin typeface="Calibri"/>
                <a:cs typeface="Calibri"/>
              </a:rPr>
              <a:t>patient</a:t>
            </a:r>
            <a:r>
              <a:rPr sz="1900" spc="-65" dirty="0">
                <a:solidFill>
                  <a:srgbClr val="404040"/>
                </a:solidFill>
                <a:latin typeface="Calibri"/>
                <a:cs typeface="Calibri"/>
              </a:rPr>
              <a:t> </a:t>
            </a:r>
            <a:r>
              <a:rPr sz="1900" spc="-10" dirty="0">
                <a:solidFill>
                  <a:srgbClr val="404040"/>
                </a:solidFill>
                <a:latin typeface="Calibri"/>
                <a:cs typeface="Calibri"/>
              </a:rPr>
              <a:t>records</a:t>
            </a:r>
            <a:r>
              <a:rPr sz="1900" spc="-65" dirty="0">
                <a:solidFill>
                  <a:srgbClr val="404040"/>
                </a:solidFill>
                <a:latin typeface="Calibri"/>
                <a:cs typeface="Calibri"/>
              </a:rPr>
              <a:t> </a:t>
            </a:r>
            <a:r>
              <a:rPr sz="1900" dirty="0">
                <a:solidFill>
                  <a:srgbClr val="404040"/>
                </a:solidFill>
                <a:latin typeface="Calibri"/>
                <a:cs typeface="Calibri"/>
              </a:rPr>
              <a:t>must</a:t>
            </a:r>
            <a:r>
              <a:rPr sz="1900" spc="-65" dirty="0">
                <a:solidFill>
                  <a:srgbClr val="404040"/>
                </a:solidFill>
                <a:latin typeface="Calibri"/>
                <a:cs typeface="Calibri"/>
              </a:rPr>
              <a:t> </a:t>
            </a:r>
            <a:r>
              <a:rPr sz="1900" dirty="0">
                <a:solidFill>
                  <a:srgbClr val="404040"/>
                </a:solidFill>
                <a:latin typeface="Calibri"/>
                <a:cs typeface="Calibri"/>
              </a:rPr>
              <a:t>comply</a:t>
            </a:r>
            <a:r>
              <a:rPr sz="1900" spc="-60" dirty="0">
                <a:solidFill>
                  <a:srgbClr val="404040"/>
                </a:solidFill>
                <a:latin typeface="Calibri"/>
                <a:cs typeface="Calibri"/>
              </a:rPr>
              <a:t> </a:t>
            </a:r>
            <a:r>
              <a:rPr sz="1900" dirty="0">
                <a:solidFill>
                  <a:srgbClr val="404040"/>
                </a:solidFill>
                <a:latin typeface="Calibri"/>
                <a:cs typeface="Calibri"/>
              </a:rPr>
              <a:t>with</a:t>
            </a:r>
            <a:r>
              <a:rPr sz="1900" spc="-55" dirty="0">
                <a:solidFill>
                  <a:srgbClr val="404040"/>
                </a:solidFill>
                <a:latin typeface="Calibri"/>
                <a:cs typeface="Calibri"/>
              </a:rPr>
              <a:t> </a:t>
            </a:r>
            <a:r>
              <a:rPr sz="1900" spc="-10" dirty="0">
                <a:solidFill>
                  <a:srgbClr val="404040"/>
                </a:solidFill>
                <a:latin typeface="Calibri"/>
                <a:cs typeface="Calibri"/>
              </a:rPr>
              <a:t>privacy regulations</a:t>
            </a:r>
            <a:r>
              <a:rPr sz="1900" spc="-40" dirty="0">
                <a:solidFill>
                  <a:srgbClr val="404040"/>
                </a:solidFill>
                <a:latin typeface="Calibri"/>
                <a:cs typeface="Calibri"/>
              </a:rPr>
              <a:t> </a:t>
            </a:r>
            <a:r>
              <a:rPr sz="1900" dirty="0">
                <a:solidFill>
                  <a:srgbClr val="404040"/>
                </a:solidFill>
                <a:latin typeface="Calibri"/>
                <a:cs typeface="Calibri"/>
              </a:rPr>
              <a:t>and</a:t>
            </a:r>
            <a:r>
              <a:rPr sz="1900" spc="-60" dirty="0">
                <a:solidFill>
                  <a:srgbClr val="404040"/>
                </a:solidFill>
                <a:latin typeface="Calibri"/>
                <a:cs typeface="Calibri"/>
              </a:rPr>
              <a:t> </a:t>
            </a:r>
            <a:r>
              <a:rPr sz="1900" spc="-10" dirty="0">
                <a:solidFill>
                  <a:srgbClr val="404040"/>
                </a:solidFill>
                <a:latin typeface="Calibri"/>
                <a:cs typeface="Calibri"/>
              </a:rPr>
              <a:t>protect</a:t>
            </a:r>
            <a:r>
              <a:rPr sz="1900" spc="-50" dirty="0">
                <a:solidFill>
                  <a:srgbClr val="404040"/>
                </a:solidFill>
                <a:latin typeface="Calibri"/>
                <a:cs typeface="Calibri"/>
              </a:rPr>
              <a:t> </a:t>
            </a:r>
            <a:r>
              <a:rPr sz="1900" dirty="0">
                <a:solidFill>
                  <a:srgbClr val="404040"/>
                </a:solidFill>
                <a:latin typeface="Calibri"/>
                <a:cs typeface="Calibri"/>
              </a:rPr>
              <a:t>sensitive</a:t>
            </a:r>
            <a:r>
              <a:rPr sz="1900" spc="-45" dirty="0">
                <a:solidFill>
                  <a:srgbClr val="404040"/>
                </a:solidFill>
                <a:latin typeface="Calibri"/>
                <a:cs typeface="Calibri"/>
              </a:rPr>
              <a:t> </a:t>
            </a:r>
            <a:r>
              <a:rPr sz="1900" dirty="0">
                <a:solidFill>
                  <a:srgbClr val="404040"/>
                </a:solidFill>
                <a:latin typeface="Calibri"/>
                <a:cs typeface="Calibri"/>
              </a:rPr>
              <a:t>medical</a:t>
            </a:r>
            <a:r>
              <a:rPr sz="1900" spc="-50" dirty="0">
                <a:solidFill>
                  <a:srgbClr val="404040"/>
                </a:solidFill>
                <a:latin typeface="Calibri"/>
                <a:cs typeface="Calibri"/>
              </a:rPr>
              <a:t> </a:t>
            </a:r>
            <a:r>
              <a:rPr sz="1900" spc="-10" dirty="0">
                <a:solidFill>
                  <a:srgbClr val="404040"/>
                </a:solidFill>
                <a:latin typeface="Calibri"/>
                <a:cs typeface="Calibri"/>
              </a:rPr>
              <a:t>information.</a:t>
            </a:r>
            <a:endParaRPr sz="1900">
              <a:latin typeface="Calibri"/>
              <a:cs typeface="Calibri"/>
            </a:endParaRPr>
          </a:p>
        </p:txBody>
      </p:sp>
      <p:sp>
        <p:nvSpPr>
          <p:cNvPr id="6" name="object 6"/>
          <p:cNvSpPr txBox="1"/>
          <p:nvPr/>
        </p:nvSpPr>
        <p:spPr>
          <a:xfrm>
            <a:off x="5266944" y="2243327"/>
            <a:ext cx="3413760" cy="2365375"/>
          </a:xfrm>
          <a:prstGeom prst="rect">
            <a:avLst/>
          </a:prstGeom>
          <a:solidFill>
            <a:srgbClr val="DFE3DB"/>
          </a:solidFill>
        </p:spPr>
        <p:txBody>
          <a:bodyPr vert="horz" wrap="square" lIns="0" tIns="31114" rIns="0" bIns="0" rtlCol="0">
            <a:spAutoFit/>
          </a:bodyPr>
          <a:lstStyle/>
          <a:p>
            <a:pPr marL="92075">
              <a:lnSpc>
                <a:spcPct val="100000"/>
              </a:lnSpc>
              <a:spcBef>
                <a:spcPts val="244"/>
              </a:spcBef>
            </a:pPr>
            <a:r>
              <a:rPr sz="1800" b="1" spc="-10" dirty="0">
                <a:latin typeface="Calibri"/>
                <a:cs typeface="Calibri"/>
              </a:rPr>
              <a:t>Solutions</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Encryption</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Authentication</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Authorization</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Firewalls</a:t>
            </a:r>
            <a:endParaRPr sz="1800">
              <a:latin typeface="Calibri"/>
              <a:cs typeface="Calibri"/>
            </a:endParaRPr>
          </a:p>
          <a:p>
            <a:pPr marL="92075" marR="654050" indent="-32384">
              <a:lnSpc>
                <a:spcPct val="100000"/>
              </a:lnSpc>
              <a:buSzPct val="94444"/>
              <a:buFont typeface="Tahoma"/>
              <a:buChar char="•"/>
              <a:tabLst>
                <a:tab pos="170815" algn="l"/>
              </a:tabLst>
            </a:pPr>
            <a:r>
              <a:rPr sz="1800" spc="-10" dirty="0">
                <a:latin typeface="Calibri"/>
                <a:cs typeface="Calibri"/>
              </a:rPr>
              <a:t>	Multi-</a:t>
            </a:r>
            <a:r>
              <a:rPr sz="1800" dirty="0">
                <a:latin typeface="Calibri"/>
                <a:cs typeface="Calibri"/>
              </a:rPr>
              <a:t>Factor</a:t>
            </a:r>
            <a:r>
              <a:rPr sz="1800" spc="-55" dirty="0">
                <a:latin typeface="Calibri"/>
                <a:cs typeface="Calibri"/>
              </a:rPr>
              <a:t> </a:t>
            </a:r>
            <a:r>
              <a:rPr sz="1800" spc="-10" dirty="0">
                <a:latin typeface="Calibri"/>
                <a:cs typeface="Calibri"/>
              </a:rPr>
              <a:t>Authentication (MFA)</a:t>
            </a:r>
            <a:endParaRPr sz="180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43840" marR="5080">
              <a:lnSpc>
                <a:spcPct val="148600"/>
              </a:lnSpc>
              <a:spcBef>
                <a:spcPts val="95"/>
              </a:spcBef>
            </a:pPr>
            <a:r>
              <a:rPr dirty="0"/>
              <a:t>6.</a:t>
            </a:r>
            <a:r>
              <a:rPr spc="-35" dirty="0"/>
              <a:t> </a:t>
            </a:r>
            <a:r>
              <a:rPr dirty="0"/>
              <a:t>Scalability</a:t>
            </a:r>
            <a:r>
              <a:rPr spc="-65" dirty="0"/>
              <a:t> </a:t>
            </a:r>
            <a:r>
              <a:rPr spc="-10" dirty="0"/>
              <a:t>Challenge Explanation</a:t>
            </a:r>
          </a:p>
        </p:txBody>
      </p:sp>
      <p:sp>
        <p:nvSpPr>
          <p:cNvPr id="3" name="object 3"/>
          <p:cNvSpPr txBox="1"/>
          <p:nvPr/>
        </p:nvSpPr>
        <p:spPr>
          <a:xfrm>
            <a:off x="542036" y="1060450"/>
            <a:ext cx="8165465" cy="3318510"/>
          </a:xfrm>
          <a:prstGeom prst="rect">
            <a:avLst/>
          </a:prstGeom>
        </p:spPr>
        <p:txBody>
          <a:bodyPr vert="horz" wrap="square" lIns="0" tIns="47625" rIns="0" bIns="0" rtlCol="0">
            <a:spAutoFit/>
          </a:bodyPr>
          <a:lstStyle/>
          <a:p>
            <a:pPr marL="12700" marR="898525">
              <a:lnSpc>
                <a:spcPts val="2160"/>
              </a:lnSpc>
              <a:spcBef>
                <a:spcPts val="375"/>
              </a:spcBef>
            </a:pPr>
            <a:r>
              <a:rPr sz="2000" dirty="0">
                <a:solidFill>
                  <a:srgbClr val="404040"/>
                </a:solidFill>
                <a:latin typeface="Calibri"/>
                <a:cs typeface="Calibri"/>
              </a:rPr>
              <a:t>As</a:t>
            </a:r>
            <a:r>
              <a:rPr sz="2000" spc="-55"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dirty="0">
                <a:solidFill>
                  <a:srgbClr val="404040"/>
                </a:solidFill>
                <a:latin typeface="Calibri"/>
                <a:cs typeface="Calibri"/>
              </a:rPr>
              <a:t>volume</a:t>
            </a:r>
            <a:r>
              <a:rPr sz="2000" spc="-55" dirty="0">
                <a:solidFill>
                  <a:srgbClr val="404040"/>
                </a:solidFill>
                <a:latin typeface="Calibri"/>
                <a:cs typeface="Calibri"/>
              </a:rPr>
              <a:t> </a:t>
            </a:r>
            <a:r>
              <a:rPr sz="2000" dirty="0">
                <a:solidFill>
                  <a:srgbClr val="404040"/>
                </a:solidFill>
                <a:latin typeface="Calibri"/>
                <a:cs typeface="Calibri"/>
              </a:rPr>
              <a:t>grows,</a:t>
            </a:r>
            <a:r>
              <a:rPr sz="2000" spc="-60" dirty="0">
                <a:solidFill>
                  <a:srgbClr val="404040"/>
                </a:solidFill>
                <a:latin typeface="Calibri"/>
                <a:cs typeface="Calibri"/>
              </a:rPr>
              <a:t> </a:t>
            </a:r>
            <a:r>
              <a:rPr sz="2000" spc="-10" dirty="0">
                <a:solidFill>
                  <a:srgbClr val="404040"/>
                </a:solidFill>
                <a:latin typeface="Calibri"/>
                <a:cs typeface="Calibri"/>
              </a:rPr>
              <a:t>systems</a:t>
            </a:r>
            <a:r>
              <a:rPr sz="2000" spc="-35" dirty="0">
                <a:solidFill>
                  <a:srgbClr val="404040"/>
                </a:solidFill>
                <a:latin typeface="Calibri"/>
                <a:cs typeface="Calibri"/>
              </a:rPr>
              <a:t> </a:t>
            </a:r>
            <a:r>
              <a:rPr sz="2000" dirty="0">
                <a:solidFill>
                  <a:srgbClr val="404040"/>
                </a:solidFill>
                <a:latin typeface="Calibri"/>
                <a:cs typeface="Calibri"/>
              </a:rPr>
              <a:t>must</a:t>
            </a:r>
            <a:r>
              <a:rPr sz="2000" spc="-55" dirty="0">
                <a:solidFill>
                  <a:srgbClr val="404040"/>
                </a:solidFill>
                <a:latin typeface="Calibri"/>
                <a:cs typeface="Calibri"/>
              </a:rPr>
              <a:t> </a:t>
            </a:r>
            <a:r>
              <a:rPr sz="2000" dirty="0">
                <a:solidFill>
                  <a:srgbClr val="404040"/>
                </a:solidFill>
                <a:latin typeface="Calibri"/>
                <a:cs typeface="Calibri"/>
              </a:rPr>
              <a:t>scale</a:t>
            </a:r>
            <a:r>
              <a:rPr sz="2000" spc="-50" dirty="0">
                <a:solidFill>
                  <a:srgbClr val="404040"/>
                </a:solidFill>
                <a:latin typeface="Calibri"/>
                <a:cs typeface="Calibri"/>
              </a:rPr>
              <a:t> </a:t>
            </a:r>
            <a:r>
              <a:rPr sz="2000" spc="-10" dirty="0">
                <a:solidFill>
                  <a:srgbClr val="404040"/>
                </a:solidFill>
                <a:latin typeface="Calibri"/>
                <a:cs typeface="Calibri"/>
              </a:rPr>
              <a:t>efficiently</a:t>
            </a:r>
            <a:r>
              <a:rPr sz="2000" spc="-45" dirty="0">
                <a:solidFill>
                  <a:srgbClr val="404040"/>
                </a:solidFill>
                <a:latin typeface="Calibri"/>
                <a:cs typeface="Calibri"/>
              </a:rPr>
              <a:t> </a:t>
            </a:r>
            <a:r>
              <a:rPr sz="2000" dirty="0">
                <a:solidFill>
                  <a:srgbClr val="404040"/>
                </a:solidFill>
                <a:latin typeface="Calibri"/>
                <a:cs typeface="Calibri"/>
              </a:rPr>
              <a:t>without</a:t>
            </a:r>
            <a:r>
              <a:rPr sz="2000" spc="-60" dirty="0">
                <a:solidFill>
                  <a:srgbClr val="404040"/>
                </a:solidFill>
                <a:latin typeface="Calibri"/>
                <a:cs typeface="Calibri"/>
              </a:rPr>
              <a:t> </a:t>
            </a:r>
            <a:r>
              <a:rPr sz="2000" spc="-10" dirty="0">
                <a:solidFill>
                  <a:srgbClr val="404040"/>
                </a:solidFill>
                <a:latin typeface="Calibri"/>
                <a:cs typeface="Calibri"/>
              </a:rPr>
              <a:t>affecting performance.</a:t>
            </a:r>
            <a:endParaRPr sz="2000">
              <a:latin typeface="Calibri"/>
              <a:cs typeface="Calibri"/>
            </a:endParaRPr>
          </a:p>
          <a:p>
            <a:pPr marL="12700">
              <a:lnSpc>
                <a:spcPct val="100000"/>
              </a:lnSpc>
              <a:spcBef>
                <a:spcPts val="1130"/>
              </a:spcBef>
            </a:pPr>
            <a:r>
              <a:rPr sz="2000" b="1" spc="-10" dirty="0">
                <a:solidFill>
                  <a:srgbClr val="404040"/>
                </a:solidFill>
                <a:latin typeface="Calibri"/>
                <a:cs typeface="Calibri"/>
              </a:rPr>
              <a:t>Vertical</a:t>
            </a:r>
            <a:r>
              <a:rPr sz="2000" b="1" spc="-95" dirty="0">
                <a:solidFill>
                  <a:srgbClr val="404040"/>
                </a:solidFill>
                <a:latin typeface="Calibri"/>
                <a:cs typeface="Calibri"/>
              </a:rPr>
              <a:t> </a:t>
            </a:r>
            <a:r>
              <a:rPr sz="2000" b="1" spc="-10" dirty="0">
                <a:solidFill>
                  <a:srgbClr val="404040"/>
                </a:solidFill>
                <a:latin typeface="Calibri"/>
                <a:cs typeface="Calibri"/>
              </a:rPr>
              <a:t>Scaling</a:t>
            </a:r>
            <a:endParaRPr sz="2000">
              <a:latin typeface="Calibri"/>
              <a:cs typeface="Calibri"/>
            </a:endParaRPr>
          </a:p>
          <a:p>
            <a:pPr marL="12700">
              <a:lnSpc>
                <a:spcPct val="100000"/>
              </a:lnSpc>
              <a:spcBef>
                <a:spcPts val="1170"/>
              </a:spcBef>
            </a:pPr>
            <a:r>
              <a:rPr sz="2000" dirty="0">
                <a:solidFill>
                  <a:srgbClr val="404040"/>
                </a:solidFill>
                <a:latin typeface="Calibri"/>
                <a:cs typeface="Calibri"/>
              </a:rPr>
              <a:t>Increasing</a:t>
            </a:r>
            <a:r>
              <a:rPr sz="2000" spc="-50" dirty="0">
                <a:solidFill>
                  <a:srgbClr val="404040"/>
                </a:solidFill>
                <a:latin typeface="Calibri"/>
                <a:cs typeface="Calibri"/>
              </a:rPr>
              <a:t> </a:t>
            </a:r>
            <a:r>
              <a:rPr sz="2000" dirty="0">
                <a:solidFill>
                  <a:srgbClr val="404040"/>
                </a:solidFill>
                <a:latin typeface="Calibri"/>
                <a:cs typeface="Calibri"/>
              </a:rPr>
              <a:t>CPU,</a:t>
            </a:r>
            <a:r>
              <a:rPr sz="2000" spc="-40" dirty="0">
                <a:solidFill>
                  <a:srgbClr val="404040"/>
                </a:solidFill>
                <a:latin typeface="Calibri"/>
                <a:cs typeface="Calibri"/>
              </a:rPr>
              <a:t> </a:t>
            </a:r>
            <a:r>
              <a:rPr sz="2000" dirty="0">
                <a:solidFill>
                  <a:srgbClr val="404040"/>
                </a:solidFill>
                <a:latin typeface="Calibri"/>
                <a:cs typeface="Calibri"/>
              </a:rPr>
              <a:t>RAM,</a:t>
            </a:r>
            <a:r>
              <a:rPr sz="2000" spc="-40" dirty="0">
                <a:solidFill>
                  <a:srgbClr val="404040"/>
                </a:solidFill>
                <a:latin typeface="Calibri"/>
                <a:cs typeface="Calibri"/>
              </a:rPr>
              <a:t> </a:t>
            </a:r>
            <a:r>
              <a:rPr sz="2000" dirty="0">
                <a:solidFill>
                  <a:srgbClr val="404040"/>
                </a:solidFill>
                <a:latin typeface="Calibri"/>
                <a:cs typeface="Calibri"/>
              </a:rPr>
              <a:t>and</a:t>
            </a:r>
            <a:r>
              <a:rPr sz="2000" spc="-45" dirty="0">
                <a:solidFill>
                  <a:srgbClr val="404040"/>
                </a:solidFill>
                <a:latin typeface="Calibri"/>
                <a:cs typeface="Calibri"/>
              </a:rPr>
              <a:t> </a:t>
            </a:r>
            <a:r>
              <a:rPr sz="2000" spc="-10" dirty="0">
                <a:solidFill>
                  <a:srgbClr val="404040"/>
                </a:solidFill>
                <a:latin typeface="Calibri"/>
                <a:cs typeface="Calibri"/>
              </a:rPr>
              <a:t>storage</a:t>
            </a:r>
            <a:r>
              <a:rPr sz="2000" spc="-35" dirty="0">
                <a:solidFill>
                  <a:srgbClr val="404040"/>
                </a:solidFill>
                <a:latin typeface="Calibri"/>
                <a:cs typeface="Calibri"/>
              </a:rPr>
              <a:t> </a:t>
            </a:r>
            <a:r>
              <a:rPr sz="2000" dirty="0">
                <a:solidFill>
                  <a:srgbClr val="404040"/>
                </a:solidFill>
                <a:latin typeface="Calibri"/>
                <a:cs typeface="Calibri"/>
              </a:rPr>
              <a:t>of</a:t>
            </a:r>
            <a:r>
              <a:rPr sz="2000" spc="-45" dirty="0">
                <a:solidFill>
                  <a:srgbClr val="404040"/>
                </a:solidFill>
                <a:latin typeface="Calibri"/>
                <a:cs typeface="Calibri"/>
              </a:rPr>
              <a:t> </a:t>
            </a:r>
            <a:r>
              <a:rPr sz="2000" dirty="0">
                <a:solidFill>
                  <a:srgbClr val="404040"/>
                </a:solidFill>
                <a:latin typeface="Calibri"/>
                <a:cs typeface="Calibri"/>
              </a:rPr>
              <a:t>a</a:t>
            </a:r>
            <a:r>
              <a:rPr sz="2000" spc="-35" dirty="0">
                <a:solidFill>
                  <a:srgbClr val="404040"/>
                </a:solidFill>
                <a:latin typeface="Calibri"/>
                <a:cs typeface="Calibri"/>
              </a:rPr>
              <a:t> </a:t>
            </a:r>
            <a:r>
              <a:rPr sz="2000" dirty="0">
                <a:solidFill>
                  <a:srgbClr val="404040"/>
                </a:solidFill>
                <a:latin typeface="Calibri"/>
                <a:cs typeface="Calibri"/>
              </a:rPr>
              <a:t>single</a:t>
            </a:r>
            <a:r>
              <a:rPr sz="2000" spc="-35" dirty="0">
                <a:solidFill>
                  <a:srgbClr val="404040"/>
                </a:solidFill>
                <a:latin typeface="Calibri"/>
                <a:cs typeface="Calibri"/>
              </a:rPr>
              <a:t> </a:t>
            </a:r>
            <a:r>
              <a:rPr sz="2000" spc="-10" dirty="0">
                <a:solidFill>
                  <a:srgbClr val="404040"/>
                </a:solidFill>
                <a:latin typeface="Calibri"/>
                <a:cs typeface="Calibri"/>
              </a:rPr>
              <a:t>server.</a:t>
            </a:r>
            <a:endParaRPr sz="2000">
              <a:latin typeface="Calibri"/>
              <a:cs typeface="Calibri"/>
            </a:endParaRPr>
          </a:p>
          <a:p>
            <a:pPr marL="12700">
              <a:lnSpc>
                <a:spcPct val="100000"/>
              </a:lnSpc>
              <a:spcBef>
                <a:spcPts val="1150"/>
              </a:spcBef>
            </a:pPr>
            <a:r>
              <a:rPr sz="2000" b="1" spc="-10" dirty="0">
                <a:solidFill>
                  <a:srgbClr val="404040"/>
                </a:solidFill>
                <a:latin typeface="Calibri"/>
                <a:cs typeface="Calibri"/>
              </a:rPr>
              <a:t>Horizontal</a:t>
            </a:r>
            <a:r>
              <a:rPr sz="2000" b="1" spc="-25" dirty="0">
                <a:solidFill>
                  <a:srgbClr val="404040"/>
                </a:solidFill>
                <a:latin typeface="Calibri"/>
                <a:cs typeface="Calibri"/>
              </a:rPr>
              <a:t> </a:t>
            </a:r>
            <a:r>
              <a:rPr sz="2000" b="1" spc="-10" dirty="0">
                <a:solidFill>
                  <a:srgbClr val="404040"/>
                </a:solidFill>
                <a:latin typeface="Calibri"/>
                <a:cs typeface="Calibri"/>
              </a:rPr>
              <a:t>Scaling</a:t>
            </a:r>
            <a:endParaRPr sz="2000">
              <a:latin typeface="Calibri"/>
              <a:cs typeface="Calibri"/>
            </a:endParaRPr>
          </a:p>
          <a:p>
            <a:pPr marL="12700">
              <a:lnSpc>
                <a:spcPct val="100000"/>
              </a:lnSpc>
              <a:spcBef>
                <a:spcPts val="1165"/>
              </a:spcBef>
            </a:pPr>
            <a:r>
              <a:rPr sz="2000" dirty="0">
                <a:solidFill>
                  <a:srgbClr val="404040"/>
                </a:solidFill>
                <a:latin typeface="Calibri"/>
                <a:cs typeface="Calibri"/>
              </a:rPr>
              <a:t>Adding</a:t>
            </a:r>
            <a:r>
              <a:rPr sz="2000" spc="-65" dirty="0">
                <a:solidFill>
                  <a:srgbClr val="404040"/>
                </a:solidFill>
                <a:latin typeface="Calibri"/>
                <a:cs typeface="Calibri"/>
              </a:rPr>
              <a:t> </a:t>
            </a:r>
            <a:r>
              <a:rPr sz="2000" dirty="0">
                <a:solidFill>
                  <a:srgbClr val="404040"/>
                </a:solidFill>
                <a:latin typeface="Calibri"/>
                <a:cs typeface="Calibri"/>
              </a:rPr>
              <a:t>more</a:t>
            </a:r>
            <a:r>
              <a:rPr sz="2000" spc="-55" dirty="0">
                <a:solidFill>
                  <a:srgbClr val="404040"/>
                </a:solidFill>
                <a:latin typeface="Calibri"/>
                <a:cs typeface="Calibri"/>
              </a:rPr>
              <a:t> </a:t>
            </a:r>
            <a:r>
              <a:rPr sz="2000" dirty="0">
                <a:solidFill>
                  <a:srgbClr val="404040"/>
                </a:solidFill>
                <a:latin typeface="Calibri"/>
                <a:cs typeface="Calibri"/>
              </a:rPr>
              <a:t>servers</a:t>
            </a:r>
            <a:r>
              <a:rPr sz="2000" spc="-25" dirty="0">
                <a:solidFill>
                  <a:srgbClr val="404040"/>
                </a:solidFill>
                <a:latin typeface="Calibri"/>
                <a:cs typeface="Calibri"/>
              </a:rPr>
              <a:t> </a:t>
            </a:r>
            <a:r>
              <a:rPr sz="2000" dirty="0">
                <a:solidFill>
                  <a:srgbClr val="404040"/>
                </a:solidFill>
                <a:latin typeface="Calibri"/>
                <a:cs typeface="Calibri"/>
              </a:rPr>
              <a:t>to</a:t>
            </a:r>
            <a:r>
              <a:rPr sz="2000" spc="-55" dirty="0">
                <a:solidFill>
                  <a:srgbClr val="404040"/>
                </a:solidFill>
                <a:latin typeface="Calibri"/>
                <a:cs typeface="Calibri"/>
              </a:rPr>
              <a:t> </a:t>
            </a:r>
            <a:r>
              <a:rPr sz="2000" dirty="0">
                <a:solidFill>
                  <a:srgbClr val="404040"/>
                </a:solidFill>
                <a:latin typeface="Calibri"/>
                <a:cs typeface="Calibri"/>
              </a:rPr>
              <a:t>the</a:t>
            </a:r>
            <a:r>
              <a:rPr sz="2000" spc="-50" dirty="0">
                <a:solidFill>
                  <a:srgbClr val="404040"/>
                </a:solidFill>
                <a:latin typeface="Calibri"/>
                <a:cs typeface="Calibri"/>
              </a:rPr>
              <a:t> </a:t>
            </a:r>
            <a:r>
              <a:rPr sz="2000" spc="-10" dirty="0">
                <a:solidFill>
                  <a:srgbClr val="404040"/>
                </a:solidFill>
                <a:latin typeface="Calibri"/>
                <a:cs typeface="Calibri"/>
              </a:rPr>
              <a:t>cluster.</a:t>
            </a:r>
            <a:endParaRPr sz="2000">
              <a:latin typeface="Calibri"/>
              <a:cs typeface="Calibri"/>
            </a:endParaRPr>
          </a:p>
          <a:p>
            <a:pPr marL="12700">
              <a:lnSpc>
                <a:spcPct val="100000"/>
              </a:lnSpc>
              <a:spcBef>
                <a:spcPts val="1165"/>
              </a:spcBef>
            </a:pPr>
            <a:r>
              <a:rPr sz="2000" b="1" spc="-10" dirty="0">
                <a:solidFill>
                  <a:srgbClr val="404040"/>
                </a:solidFill>
                <a:latin typeface="Calibri"/>
                <a:cs typeface="Calibri"/>
              </a:rPr>
              <a:t>Example</a:t>
            </a:r>
            <a:endParaRPr sz="2000">
              <a:latin typeface="Calibri"/>
              <a:cs typeface="Calibri"/>
            </a:endParaRPr>
          </a:p>
          <a:p>
            <a:pPr marL="12700">
              <a:lnSpc>
                <a:spcPct val="100000"/>
              </a:lnSpc>
              <a:spcBef>
                <a:spcPts val="1150"/>
              </a:spcBef>
            </a:pPr>
            <a:r>
              <a:rPr sz="2000" dirty="0">
                <a:solidFill>
                  <a:srgbClr val="404040"/>
                </a:solidFill>
                <a:latin typeface="Calibri"/>
                <a:cs typeface="Calibri"/>
              </a:rPr>
              <a:t>Google</a:t>
            </a:r>
            <a:r>
              <a:rPr sz="2000" spc="-75" dirty="0">
                <a:solidFill>
                  <a:srgbClr val="404040"/>
                </a:solidFill>
                <a:latin typeface="Calibri"/>
                <a:cs typeface="Calibri"/>
              </a:rPr>
              <a:t> </a:t>
            </a:r>
            <a:r>
              <a:rPr sz="2000" spc="-10" dirty="0">
                <a:solidFill>
                  <a:srgbClr val="404040"/>
                </a:solidFill>
                <a:latin typeface="Calibri"/>
                <a:cs typeface="Calibri"/>
              </a:rPr>
              <a:t>stores</a:t>
            </a:r>
            <a:r>
              <a:rPr sz="2000" spc="-60" dirty="0">
                <a:solidFill>
                  <a:srgbClr val="404040"/>
                </a:solidFill>
                <a:latin typeface="Calibri"/>
                <a:cs typeface="Calibri"/>
              </a:rPr>
              <a:t> </a:t>
            </a:r>
            <a:r>
              <a:rPr sz="2000" dirty="0">
                <a:solidFill>
                  <a:srgbClr val="404040"/>
                </a:solidFill>
                <a:latin typeface="Calibri"/>
                <a:cs typeface="Calibri"/>
              </a:rPr>
              <a:t>petabytes</a:t>
            </a:r>
            <a:r>
              <a:rPr sz="2000" spc="-60" dirty="0">
                <a:solidFill>
                  <a:srgbClr val="404040"/>
                </a:solidFill>
                <a:latin typeface="Calibri"/>
                <a:cs typeface="Calibri"/>
              </a:rPr>
              <a:t> </a:t>
            </a:r>
            <a:r>
              <a:rPr sz="2000" dirty="0">
                <a:solidFill>
                  <a:srgbClr val="404040"/>
                </a:solidFill>
                <a:latin typeface="Calibri"/>
                <a:cs typeface="Calibri"/>
              </a:rPr>
              <a:t>of</a:t>
            </a:r>
            <a:r>
              <a:rPr sz="2000" spc="-70" dirty="0">
                <a:solidFill>
                  <a:srgbClr val="404040"/>
                </a:solidFill>
                <a:latin typeface="Calibri"/>
                <a:cs typeface="Calibri"/>
              </a:rPr>
              <a:t> </a:t>
            </a:r>
            <a:r>
              <a:rPr sz="2000" dirty="0">
                <a:solidFill>
                  <a:srgbClr val="404040"/>
                </a:solidFill>
                <a:latin typeface="Calibri"/>
                <a:cs typeface="Calibri"/>
              </a:rPr>
              <a:t>search</a:t>
            </a:r>
            <a:r>
              <a:rPr sz="2000" spc="-55" dirty="0">
                <a:solidFill>
                  <a:srgbClr val="404040"/>
                </a:solidFill>
                <a:latin typeface="Calibri"/>
                <a:cs typeface="Calibri"/>
              </a:rPr>
              <a:t> </a:t>
            </a:r>
            <a:r>
              <a:rPr sz="2000" dirty="0">
                <a:solidFill>
                  <a:srgbClr val="404040"/>
                </a:solidFill>
                <a:latin typeface="Calibri"/>
                <a:cs typeface="Calibri"/>
              </a:rPr>
              <a:t>data</a:t>
            </a:r>
            <a:r>
              <a:rPr sz="2000" spc="-60" dirty="0">
                <a:solidFill>
                  <a:srgbClr val="404040"/>
                </a:solidFill>
                <a:latin typeface="Calibri"/>
                <a:cs typeface="Calibri"/>
              </a:rPr>
              <a:t> </a:t>
            </a:r>
            <a:r>
              <a:rPr sz="2000" dirty="0">
                <a:solidFill>
                  <a:srgbClr val="404040"/>
                </a:solidFill>
                <a:latin typeface="Calibri"/>
                <a:cs typeface="Calibri"/>
              </a:rPr>
              <a:t>across</a:t>
            </a:r>
            <a:r>
              <a:rPr sz="2000" spc="-55" dirty="0">
                <a:solidFill>
                  <a:srgbClr val="404040"/>
                </a:solidFill>
                <a:latin typeface="Calibri"/>
                <a:cs typeface="Calibri"/>
              </a:rPr>
              <a:t> </a:t>
            </a:r>
            <a:r>
              <a:rPr sz="2000" dirty="0">
                <a:solidFill>
                  <a:srgbClr val="404040"/>
                </a:solidFill>
                <a:latin typeface="Calibri"/>
                <a:cs typeface="Calibri"/>
              </a:rPr>
              <a:t>thousands</a:t>
            </a:r>
            <a:r>
              <a:rPr sz="2000" spc="-70" dirty="0">
                <a:solidFill>
                  <a:srgbClr val="404040"/>
                </a:solidFill>
                <a:latin typeface="Calibri"/>
                <a:cs typeface="Calibri"/>
              </a:rPr>
              <a:t> </a:t>
            </a:r>
            <a:r>
              <a:rPr sz="2000" dirty="0">
                <a:solidFill>
                  <a:srgbClr val="404040"/>
                </a:solidFill>
                <a:latin typeface="Calibri"/>
                <a:cs typeface="Calibri"/>
              </a:rPr>
              <a:t>of</a:t>
            </a:r>
            <a:r>
              <a:rPr sz="2000" spc="-70" dirty="0">
                <a:solidFill>
                  <a:srgbClr val="404040"/>
                </a:solidFill>
                <a:latin typeface="Calibri"/>
                <a:cs typeface="Calibri"/>
              </a:rPr>
              <a:t> </a:t>
            </a:r>
            <a:r>
              <a:rPr sz="2000" dirty="0">
                <a:solidFill>
                  <a:srgbClr val="404040"/>
                </a:solidFill>
                <a:latin typeface="Calibri"/>
                <a:cs typeface="Calibri"/>
              </a:rPr>
              <a:t>servers</a:t>
            </a:r>
            <a:r>
              <a:rPr sz="2000" spc="-45" dirty="0">
                <a:solidFill>
                  <a:srgbClr val="404040"/>
                </a:solidFill>
                <a:latin typeface="Calibri"/>
                <a:cs typeface="Calibri"/>
              </a:rPr>
              <a:t> </a:t>
            </a:r>
            <a:r>
              <a:rPr sz="2000" spc="-10" dirty="0">
                <a:solidFill>
                  <a:srgbClr val="404040"/>
                </a:solidFill>
                <a:latin typeface="Calibri"/>
                <a:cs typeface="Calibri"/>
              </a:rPr>
              <a:t>rather</a:t>
            </a:r>
            <a:r>
              <a:rPr sz="2000" spc="-60" dirty="0">
                <a:solidFill>
                  <a:srgbClr val="404040"/>
                </a:solidFill>
                <a:latin typeface="Calibri"/>
                <a:cs typeface="Calibri"/>
              </a:rPr>
              <a:t> </a:t>
            </a:r>
            <a:r>
              <a:rPr sz="2000" spc="-20" dirty="0">
                <a:solidFill>
                  <a:srgbClr val="404040"/>
                </a:solidFill>
                <a:latin typeface="Calibri"/>
                <a:cs typeface="Calibri"/>
              </a:rPr>
              <a:t>than</a:t>
            </a:r>
            <a:endParaRPr sz="2000">
              <a:latin typeface="Calibri"/>
              <a:cs typeface="Calibri"/>
            </a:endParaRPr>
          </a:p>
        </p:txBody>
      </p:sp>
      <p:sp>
        <p:nvSpPr>
          <p:cNvPr id="4" name="object 4"/>
          <p:cNvSpPr txBox="1"/>
          <p:nvPr/>
        </p:nvSpPr>
        <p:spPr>
          <a:xfrm>
            <a:off x="542036" y="4322445"/>
            <a:ext cx="3491229" cy="330835"/>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404040"/>
                </a:solidFill>
                <a:latin typeface="Calibri"/>
                <a:cs typeface="Calibri"/>
              </a:rPr>
              <a:t>relying</a:t>
            </a:r>
            <a:r>
              <a:rPr sz="2000" spc="-40" dirty="0">
                <a:solidFill>
                  <a:srgbClr val="404040"/>
                </a:solidFill>
                <a:latin typeface="Calibri"/>
                <a:cs typeface="Calibri"/>
              </a:rPr>
              <a:t> </a:t>
            </a:r>
            <a:r>
              <a:rPr sz="2000" dirty="0">
                <a:solidFill>
                  <a:srgbClr val="404040"/>
                </a:solidFill>
                <a:latin typeface="Calibri"/>
                <a:cs typeface="Calibri"/>
              </a:rPr>
              <a:t>on</a:t>
            </a:r>
            <a:r>
              <a:rPr sz="2000" spc="-55" dirty="0">
                <a:solidFill>
                  <a:srgbClr val="404040"/>
                </a:solidFill>
                <a:latin typeface="Calibri"/>
                <a:cs typeface="Calibri"/>
              </a:rPr>
              <a:t> </a:t>
            </a:r>
            <a:r>
              <a:rPr sz="2000" dirty="0">
                <a:solidFill>
                  <a:srgbClr val="404040"/>
                </a:solidFill>
                <a:latin typeface="Calibri"/>
                <a:cs typeface="Calibri"/>
              </a:rPr>
              <a:t>one</a:t>
            </a:r>
            <a:r>
              <a:rPr sz="2000" spc="-45" dirty="0">
                <a:solidFill>
                  <a:srgbClr val="404040"/>
                </a:solidFill>
                <a:latin typeface="Calibri"/>
                <a:cs typeface="Calibri"/>
              </a:rPr>
              <a:t> </a:t>
            </a:r>
            <a:r>
              <a:rPr sz="2000" dirty="0">
                <a:solidFill>
                  <a:srgbClr val="404040"/>
                </a:solidFill>
                <a:latin typeface="Calibri"/>
                <a:cs typeface="Calibri"/>
              </a:rPr>
              <a:t>powerful</a:t>
            </a:r>
            <a:r>
              <a:rPr sz="2000" spc="-45" dirty="0">
                <a:solidFill>
                  <a:srgbClr val="404040"/>
                </a:solidFill>
                <a:latin typeface="Calibri"/>
                <a:cs typeface="Calibri"/>
              </a:rPr>
              <a:t> </a:t>
            </a:r>
            <a:r>
              <a:rPr sz="2000" spc="-10" dirty="0">
                <a:solidFill>
                  <a:srgbClr val="404040"/>
                </a:solidFill>
                <a:latin typeface="Calibri"/>
                <a:cs typeface="Calibri"/>
              </a:rPr>
              <a:t>machine.</a:t>
            </a:r>
            <a:endParaRPr sz="2000">
              <a:latin typeface="Calibri"/>
              <a:cs typeface="Calibri"/>
            </a:endParaRPr>
          </a:p>
        </p:txBody>
      </p:sp>
      <p:sp>
        <p:nvSpPr>
          <p:cNvPr id="5" name="object 5"/>
          <p:cNvSpPr txBox="1"/>
          <p:nvPr/>
        </p:nvSpPr>
        <p:spPr>
          <a:xfrm>
            <a:off x="4711700" y="4491177"/>
            <a:ext cx="4058285" cy="1754505"/>
          </a:xfrm>
          <a:prstGeom prst="rect">
            <a:avLst/>
          </a:prstGeom>
          <a:solidFill>
            <a:srgbClr val="DFE3DB"/>
          </a:solidFill>
        </p:spPr>
        <p:txBody>
          <a:bodyPr vert="horz" wrap="square" lIns="0" tIns="31115" rIns="0" bIns="0" rtlCol="0">
            <a:spAutoFit/>
          </a:bodyPr>
          <a:lstStyle/>
          <a:p>
            <a:pPr marL="92075">
              <a:lnSpc>
                <a:spcPct val="100000"/>
              </a:lnSpc>
              <a:spcBef>
                <a:spcPts val="245"/>
              </a:spcBef>
            </a:pPr>
            <a:r>
              <a:rPr sz="1800" b="1" spc="-10" dirty="0">
                <a:latin typeface="Calibri"/>
                <a:cs typeface="Calibri"/>
              </a:rPr>
              <a:t>Solution</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Hadoop</a:t>
            </a:r>
            <a:r>
              <a:rPr sz="1800" spc="-65" dirty="0">
                <a:latin typeface="Calibri"/>
                <a:cs typeface="Calibri"/>
              </a:rPr>
              <a:t> </a:t>
            </a:r>
            <a:r>
              <a:rPr sz="1800" spc="-10" dirty="0">
                <a:latin typeface="Calibri"/>
                <a:cs typeface="Calibri"/>
              </a:rPr>
              <a:t>Cluster</a:t>
            </a:r>
            <a:endParaRPr sz="1800">
              <a:latin typeface="Calibri"/>
              <a:cs typeface="Calibri"/>
            </a:endParaRPr>
          </a:p>
          <a:p>
            <a:pPr marL="170815" indent="-111125">
              <a:lnSpc>
                <a:spcPct val="100000"/>
              </a:lnSpc>
              <a:buSzPct val="94444"/>
              <a:buFont typeface="Tahoma"/>
              <a:buChar char="•"/>
              <a:tabLst>
                <a:tab pos="170815" algn="l"/>
              </a:tabLst>
            </a:pPr>
            <a:r>
              <a:rPr sz="1800" dirty="0">
                <a:latin typeface="Calibri"/>
                <a:cs typeface="Calibri"/>
              </a:rPr>
              <a:t>Cloud</a:t>
            </a:r>
            <a:r>
              <a:rPr sz="1800" spc="-55" dirty="0">
                <a:latin typeface="Calibri"/>
                <a:cs typeface="Calibri"/>
              </a:rPr>
              <a:t> </a:t>
            </a:r>
            <a:r>
              <a:rPr sz="1800" spc="-10" dirty="0">
                <a:latin typeface="Calibri"/>
                <a:cs typeface="Calibri"/>
              </a:rPr>
              <a:t>Computing</a:t>
            </a:r>
            <a:endParaRPr sz="1800">
              <a:latin typeface="Calibri"/>
              <a:cs typeface="Calibri"/>
            </a:endParaRPr>
          </a:p>
          <a:p>
            <a:pPr marL="170815" indent="-111125">
              <a:lnSpc>
                <a:spcPct val="100000"/>
              </a:lnSpc>
              <a:spcBef>
                <a:spcPts val="5"/>
              </a:spcBef>
              <a:buSzPct val="94444"/>
              <a:buFont typeface="Tahoma"/>
              <a:buChar char="•"/>
              <a:tabLst>
                <a:tab pos="170815" algn="l"/>
              </a:tabLst>
            </a:pPr>
            <a:r>
              <a:rPr sz="1800" spc="-10" dirty="0">
                <a:latin typeface="Calibri"/>
                <a:cs typeface="Calibri"/>
              </a:rPr>
              <a:t>Kubernetes</a:t>
            </a:r>
            <a:endParaRPr sz="1800">
              <a:latin typeface="Calibri"/>
              <a:cs typeface="Calibri"/>
            </a:endParaRPr>
          </a:p>
          <a:p>
            <a:pPr marL="170815" indent="-111125">
              <a:lnSpc>
                <a:spcPct val="100000"/>
              </a:lnSpc>
              <a:buSzPct val="94444"/>
              <a:buFont typeface="Tahoma"/>
              <a:buChar char="•"/>
              <a:tabLst>
                <a:tab pos="170815" algn="l"/>
              </a:tabLst>
            </a:pPr>
            <a:r>
              <a:rPr sz="1800" spc="-10" dirty="0">
                <a:latin typeface="Calibri"/>
                <a:cs typeface="Calibri"/>
              </a:rPr>
              <a:t>Distributed</a:t>
            </a:r>
            <a:r>
              <a:rPr sz="1800" spc="-5" dirty="0">
                <a:latin typeface="Calibri"/>
                <a:cs typeface="Calibri"/>
              </a:rPr>
              <a:t> </a:t>
            </a:r>
            <a:r>
              <a:rPr sz="1800" spc="-10" dirty="0">
                <a:latin typeface="Calibri"/>
                <a:cs typeface="Calibri"/>
              </a:rPr>
              <a:t>Storage</a:t>
            </a:r>
            <a:endParaRPr sz="180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0595" y="15392"/>
            <a:ext cx="7870190" cy="6578600"/>
          </a:xfrm>
          <a:prstGeom prst="rect">
            <a:avLst/>
          </a:prstGeom>
        </p:spPr>
        <p:txBody>
          <a:bodyPr vert="horz" wrap="square" lIns="0" tIns="12700" rIns="0" bIns="0" rtlCol="0">
            <a:spAutoFit/>
          </a:bodyPr>
          <a:lstStyle/>
          <a:p>
            <a:pPr marL="104139" marR="4365625">
              <a:lnSpc>
                <a:spcPct val="141700"/>
              </a:lnSpc>
              <a:spcBef>
                <a:spcPts val="100"/>
              </a:spcBef>
            </a:pPr>
            <a:r>
              <a:rPr sz="1900" b="1" dirty="0">
                <a:solidFill>
                  <a:srgbClr val="404040"/>
                </a:solidFill>
                <a:latin typeface="Calibri"/>
                <a:cs typeface="Calibri"/>
              </a:rPr>
              <a:t>7.</a:t>
            </a:r>
            <a:r>
              <a:rPr sz="1900" b="1" spc="-35" dirty="0">
                <a:solidFill>
                  <a:srgbClr val="404040"/>
                </a:solidFill>
                <a:latin typeface="Calibri"/>
                <a:cs typeface="Calibri"/>
              </a:rPr>
              <a:t> </a:t>
            </a:r>
            <a:r>
              <a:rPr sz="1900" b="1" spc="-20" dirty="0">
                <a:solidFill>
                  <a:srgbClr val="404040"/>
                </a:solidFill>
                <a:latin typeface="Calibri"/>
                <a:cs typeface="Calibri"/>
              </a:rPr>
              <a:t>Real-</a:t>
            </a:r>
            <a:r>
              <a:rPr sz="1900" b="1" dirty="0">
                <a:solidFill>
                  <a:srgbClr val="404040"/>
                </a:solidFill>
                <a:latin typeface="Calibri"/>
                <a:cs typeface="Calibri"/>
              </a:rPr>
              <a:t>Time</a:t>
            </a:r>
            <a:r>
              <a:rPr sz="1900" b="1" spc="-5" dirty="0">
                <a:solidFill>
                  <a:srgbClr val="404040"/>
                </a:solidFill>
                <a:latin typeface="Calibri"/>
                <a:cs typeface="Calibri"/>
              </a:rPr>
              <a:t> </a:t>
            </a:r>
            <a:r>
              <a:rPr sz="1900" b="1" spc="-10" dirty="0">
                <a:solidFill>
                  <a:srgbClr val="404040"/>
                </a:solidFill>
                <a:latin typeface="Calibri"/>
                <a:cs typeface="Calibri"/>
              </a:rPr>
              <a:t>Processing</a:t>
            </a:r>
            <a:r>
              <a:rPr sz="1900" b="1" dirty="0">
                <a:solidFill>
                  <a:srgbClr val="404040"/>
                </a:solidFill>
                <a:latin typeface="Calibri"/>
                <a:cs typeface="Calibri"/>
              </a:rPr>
              <a:t> </a:t>
            </a:r>
            <a:r>
              <a:rPr sz="1900" b="1" spc="-10" dirty="0">
                <a:solidFill>
                  <a:srgbClr val="404040"/>
                </a:solidFill>
                <a:latin typeface="Calibri"/>
                <a:cs typeface="Calibri"/>
              </a:rPr>
              <a:t>Challenge Explanation</a:t>
            </a:r>
            <a:endParaRPr sz="1900">
              <a:latin typeface="Calibri"/>
              <a:cs typeface="Calibri"/>
            </a:endParaRPr>
          </a:p>
          <a:p>
            <a:pPr marL="104139">
              <a:lnSpc>
                <a:spcPct val="100000"/>
              </a:lnSpc>
              <a:spcBef>
                <a:spcPts val="935"/>
              </a:spcBef>
            </a:pPr>
            <a:r>
              <a:rPr sz="1900" dirty="0">
                <a:solidFill>
                  <a:srgbClr val="404040"/>
                </a:solidFill>
                <a:latin typeface="Calibri"/>
                <a:cs typeface="Calibri"/>
              </a:rPr>
              <a:t>Many</a:t>
            </a:r>
            <a:r>
              <a:rPr sz="1900" spc="-55" dirty="0">
                <a:solidFill>
                  <a:srgbClr val="404040"/>
                </a:solidFill>
                <a:latin typeface="Calibri"/>
                <a:cs typeface="Calibri"/>
              </a:rPr>
              <a:t> </a:t>
            </a:r>
            <a:r>
              <a:rPr sz="1900" spc="-10" dirty="0">
                <a:solidFill>
                  <a:srgbClr val="404040"/>
                </a:solidFill>
                <a:latin typeface="Calibri"/>
                <a:cs typeface="Calibri"/>
              </a:rPr>
              <a:t>applications</a:t>
            </a:r>
            <a:r>
              <a:rPr sz="1900" spc="-45" dirty="0">
                <a:solidFill>
                  <a:srgbClr val="404040"/>
                </a:solidFill>
                <a:latin typeface="Calibri"/>
                <a:cs typeface="Calibri"/>
              </a:rPr>
              <a:t> </a:t>
            </a:r>
            <a:r>
              <a:rPr sz="1900" dirty="0">
                <a:solidFill>
                  <a:srgbClr val="404040"/>
                </a:solidFill>
                <a:latin typeface="Calibri"/>
                <a:cs typeface="Calibri"/>
              </a:rPr>
              <a:t>require</a:t>
            </a:r>
            <a:r>
              <a:rPr sz="1900" spc="-45" dirty="0">
                <a:solidFill>
                  <a:srgbClr val="404040"/>
                </a:solidFill>
                <a:latin typeface="Calibri"/>
                <a:cs typeface="Calibri"/>
              </a:rPr>
              <a:t> </a:t>
            </a:r>
            <a:r>
              <a:rPr sz="1900" spc="-10" dirty="0">
                <a:solidFill>
                  <a:srgbClr val="404040"/>
                </a:solidFill>
                <a:latin typeface="Calibri"/>
                <a:cs typeface="Calibri"/>
              </a:rPr>
              <a:t>immediate</a:t>
            </a:r>
            <a:r>
              <a:rPr sz="1900" spc="-45" dirty="0">
                <a:solidFill>
                  <a:srgbClr val="404040"/>
                </a:solidFill>
                <a:latin typeface="Calibri"/>
                <a:cs typeface="Calibri"/>
              </a:rPr>
              <a:t> </a:t>
            </a:r>
            <a:r>
              <a:rPr sz="1900" dirty="0">
                <a:solidFill>
                  <a:srgbClr val="404040"/>
                </a:solidFill>
                <a:latin typeface="Calibri"/>
                <a:cs typeface="Calibri"/>
              </a:rPr>
              <a:t>processing</a:t>
            </a:r>
            <a:r>
              <a:rPr sz="1900" spc="-50" dirty="0">
                <a:solidFill>
                  <a:srgbClr val="404040"/>
                </a:solidFill>
                <a:latin typeface="Calibri"/>
                <a:cs typeface="Calibri"/>
              </a:rPr>
              <a:t> </a:t>
            </a:r>
            <a:r>
              <a:rPr sz="1900" dirty="0">
                <a:solidFill>
                  <a:srgbClr val="404040"/>
                </a:solidFill>
                <a:latin typeface="Calibri"/>
                <a:cs typeface="Calibri"/>
              </a:rPr>
              <a:t>and</a:t>
            </a:r>
            <a:r>
              <a:rPr sz="1900" spc="-60" dirty="0">
                <a:solidFill>
                  <a:srgbClr val="404040"/>
                </a:solidFill>
                <a:latin typeface="Calibri"/>
                <a:cs typeface="Calibri"/>
              </a:rPr>
              <a:t> </a:t>
            </a:r>
            <a:r>
              <a:rPr sz="1900" dirty="0">
                <a:solidFill>
                  <a:srgbClr val="404040"/>
                </a:solidFill>
                <a:latin typeface="Calibri"/>
                <a:cs typeface="Calibri"/>
              </a:rPr>
              <a:t>analysis</a:t>
            </a:r>
            <a:r>
              <a:rPr sz="1900" spc="-60" dirty="0">
                <a:solidFill>
                  <a:srgbClr val="404040"/>
                </a:solidFill>
                <a:latin typeface="Calibri"/>
                <a:cs typeface="Calibri"/>
              </a:rPr>
              <a:t> </a:t>
            </a:r>
            <a:r>
              <a:rPr sz="1900" dirty="0">
                <a:solidFill>
                  <a:srgbClr val="404040"/>
                </a:solidFill>
                <a:latin typeface="Calibri"/>
                <a:cs typeface="Calibri"/>
              </a:rPr>
              <a:t>of</a:t>
            </a:r>
            <a:r>
              <a:rPr sz="1900" spc="-70" dirty="0">
                <a:solidFill>
                  <a:srgbClr val="404040"/>
                </a:solidFill>
                <a:latin typeface="Calibri"/>
                <a:cs typeface="Calibri"/>
              </a:rPr>
              <a:t> </a:t>
            </a:r>
            <a:r>
              <a:rPr sz="1900" dirty="0">
                <a:solidFill>
                  <a:srgbClr val="404040"/>
                </a:solidFill>
                <a:latin typeface="Calibri"/>
                <a:cs typeface="Calibri"/>
              </a:rPr>
              <a:t>incoming</a:t>
            </a:r>
            <a:r>
              <a:rPr sz="1900" spc="-45" dirty="0">
                <a:solidFill>
                  <a:srgbClr val="404040"/>
                </a:solidFill>
                <a:latin typeface="Calibri"/>
                <a:cs typeface="Calibri"/>
              </a:rPr>
              <a:t> </a:t>
            </a:r>
            <a:r>
              <a:rPr sz="1900" spc="-10" dirty="0">
                <a:solidFill>
                  <a:srgbClr val="404040"/>
                </a:solidFill>
                <a:latin typeface="Calibri"/>
                <a:cs typeface="Calibri"/>
              </a:rPr>
              <a:t>data.</a:t>
            </a:r>
            <a:endParaRPr sz="1900">
              <a:latin typeface="Calibri"/>
              <a:cs typeface="Calibri"/>
            </a:endParaRPr>
          </a:p>
          <a:p>
            <a:pPr marL="104139">
              <a:lnSpc>
                <a:spcPct val="100000"/>
              </a:lnSpc>
              <a:spcBef>
                <a:spcPts val="950"/>
              </a:spcBef>
            </a:pPr>
            <a:r>
              <a:rPr sz="1900" b="1" spc="-10" dirty="0">
                <a:solidFill>
                  <a:srgbClr val="404040"/>
                </a:solidFill>
                <a:latin typeface="Calibri"/>
                <a:cs typeface="Calibri"/>
              </a:rPr>
              <a:t>Examples</a:t>
            </a:r>
            <a:endParaRPr sz="1900">
              <a:latin typeface="Calibri"/>
              <a:cs typeface="Calibri"/>
            </a:endParaRPr>
          </a:p>
          <a:p>
            <a:pPr marL="103505" indent="-101600">
              <a:lnSpc>
                <a:spcPct val="100000"/>
              </a:lnSpc>
              <a:spcBef>
                <a:spcPts val="944"/>
              </a:spcBef>
              <a:buClr>
                <a:srgbClr val="E38312"/>
              </a:buClr>
              <a:buSzPct val="81578"/>
              <a:buFont typeface="Tahoma"/>
              <a:buChar char="•"/>
              <a:tabLst>
                <a:tab pos="103505" algn="l"/>
              </a:tabLst>
            </a:pPr>
            <a:r>
              <a:rPr sz="1900" dirty="0">
                <a:solidFill>
                  <a:srgbClr val="404040"/>
                </a:solidFill>
                <a:latin typeface="Calibri"/>
                <a:cs typeface="Calibri"/>
              </a:rPr>
              <a:t>Fraud</a:t>
            </a:r>
            <a:r>
              <a:rPr sz="1900" spc="-95" dirty="0">
                <a:solidFill>
                  <a:srgbClr val="404040"/>
                </a:solidFill>
                <a:latin typeface="Calibri"/>
                <a:cs typeface="Calibri"/>
              </a:rPr>
              <a:t> </a:t>
            </a:r>
            <a:r>
              <a:rPr sz="1900" spc="-10" dirty="0">
                <a:solidFill>
                  <a:srgbClr val="404040"/>
                </a:solidFill>
                <a:latin typeface="Calibri"/>
                <a:cs typeface="Calibri"/>
              </a:rPr>
              <a:t>detection</a:t>
            </a:r>
            <a:endParaRPr sz="1900">
              <a:latin typeface="Calibri"/>
              <a:cs typeface="Calibri"/>
            </a:endParaRPr>
          </a:p>
          <a:p>
            <a:pPr marL="103505" indent="-101600">
              <a:lnSpc>
                <a:spcPct val="100000"/>
              </a:lnSpc>
              <a:spcBef>
                <a:spcPts val="940"/>
              </a:spcBef>
              <a:buClr>
                <a:srgbClr val="E38312"/>
              </a:buClr>
              <a:buSzPct val="81578"/>
              <a:buFont typeface="Tahoma"/>
              <a:buChar char="•"/>
              <a:tabLst>
                <a:tab pos="103505" algn="l"/>
              </a:tabLst>
            </a:pPr>
            <a:r>
              <a:rPr sz="1900" dirty="0">
                <a:solidFill>
                  <a:srgbClr val="404040"/>
                </a:solidFill>
                <a:latin typeface="Calibri"/>
                <a:cs typeface="Calibri"/>
              </a:rPr>
              <a:t>Stock</a:t>
            </a:r>
            <a:r>
              <a:rPr sz="1900" spc="-60" dirty="0">
                <a:solidFill>
                  <a:srgbClr val="404040"/>
                </a:solidFill>
                <a:latin typeface="Calibri"/>
                <a:cs typeface="Calibri"/>
              </a:rPr>
              <a:t> </a:t>
            </a:r>
            <a:r>
              <a:rPr sz="1900" spc="-10" dirty="0">
                <a:solidFill>
                  <a:srgbClr val="404040"/>
                </a:solidFill>
                <a:latin typeface="Calibri"/>
                <a:cs typeface="Calibri"/>
              </a:rPr>
              <a:t>market</a:t>
            </a:r>
            <a:r>
              <a:rPr sz="1900" spc="-55" dirty="0">
                <a:solidFill>
                  <a:srgbClr val="404040"/>
                </a:solidFill>
                <a:latin typeface="Calibri"/>
                <a:cs typeface="Calibri"/>
              </a:rPr>
              <a:t> </a:t>
            </a:r>
            <a:r>
              <a:rPr sz="1900" spc="-10" dirty="0">
                <a:solidFill>
                  <a:srgbClr val="404040"/>
                </a:solidFill>
                <a:latin typeface="Calibri"/>
                <a:cs typeface="Calibri"/>
              </a:rPr>
              <a:t>trading</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dirty="0">
                <a:solidFill>
                  <a:srgbClr val="404040"/>
                </a:solidFill>
                <a:latin typeface="Calibri"/>
                <a:cs typeface="Calibri"/>
              </a:rPr>
              <a:t>Smart</a:t>
            </a:r>
            <a:r>
              <a:rPr sz="1900" spc="-45" dirty="0">
                <a:solidFill>
                  <a:srgbClr val="404040"/>
                </a:solidFill>
                <a:latin typeface="Calibri"/>
                <a:cs typeface="Calibri"/>
              </a:rPr>
              <a:t> </a:t>
            </a:r>
            <a:r>
              <a:rPr sz="1900" spc="-10" dirty="0">
                <a:solidFill>
                  <a:srgbClr val="404040"/>
                </a:solidFill>
                <a:latin typeface="Calibri"/>
                <a:cs typeface="Calibri"/>
              </a:rPr>
              <a:t>traffic</a:t>
            </a:r>
            <a:r>
              <a:rPr sz="1900" spc="-45" dirty="0">
                <a:solidFill>
                  <a:srgbClr val="404040"/>
                </a:solidFill>
                <a:latin typeface="Calibri"/>
                <a:cs typeface="Calibri"/>
              </a:rPr>
              <a:t> </a:t>
            </a:r>
            <a:r>
              <a:rPr sz="1900" spc="-10" dirty="0">
                <a:solidFill>
                  <a:srgbClr val="404040"/>
                </a:solidFill>
                <a:latin typeface="Calibri"/>
                <a:cs typeface="Calibri"/>
              </a:rPr>
              <a:t>systems</a:t>
            </a:r>
            <a:endParaRPr sz="1900">
              <a:latin typeface="Calibri"/>
              <a:cs typeface="Calibri"/>
            </a:endParaRPr>
          </a:p>
          <a:p>
            <a:pPr marL="103505" indent="-101600">
              <a:lnSpc>
                <a:spcPct val="100000"/>
              </a:lnSpc>
              <a:spcBef>
                <a:spcPts val="944"/>
              </a:spcBef>
              <a:buClr>
                <a:srgbClr val="E38312"/>
              </a:buClr>
              <a:buSzPct val="81578"/>
              <a:buFont typeface="Tahoma"/>
              <a:buChar char="•"/>
              <a:tabLst>
                <a:tab pos="103505" algn="l"/>
              </a:tabLst>
            </a:pPr>
            <a:r>
              <a:rPr sz="1900" dirty="0">
                <a:solidFill>
                  <a:srgbClr val="404040"/>
                </a:solidFill>
                <a:latin typeface="Calibri"/>
                <a:cs typeface="Calibri"/>
              </a:rPr>
              <a:t>Online</a:t>
            </a:r>
            <a:r>
              <a:rPr sz="1900" spc="-35" dirty="0">
                <a:solidFill>
                  <a:srgbClr val="404040"/>
                </a:solidFill>
                <a:latin typeface="Calibri"/>
                <a:cs typeface="Calibri"/>
              </a:rPr>
              <a:t> </a:t>
            </a:r>
            <a:r>
              <a:rPr sz="1900" spc="-10" dirty="0">
                <a:solidFill>
                  <a:srgbClr val="404040"/>
                </a:solidFill>
                <a:latin typeface="Calibri"/>
                <a:cs typeface="Calibri"/>
              </a:rPr>
              <a:t>recommendation</a:t>
            </a:r>
            <a:r>
              <a:rPr sz="1900" spc="-30" dirty="0">
                <a:solidFill>
                  <a:srgbClr val="404040"/>
                </a:solidFill>
                <a:latin typeface="Calibri"/>
                <a:cs typeface="Calibri"/>
              </a:rPr>
              <a:t> </a:t>
            </a:r>
            <a:r>
              <a:rPr sz="1900" spc="-10" dirty="0">
                <a:solidFill>
                  <a:srgbClr val="404040"/>
                </a:solidFill>
                <a:latin typeface="Calibri"/>
                <a:cs typeface="Calibri"/>
              </a:rPr>
              <a:t>systems</a:t>
            </a:r>
            <a:endParaRPr sz="1900">
              <a:latin typeface="Calibri"/>
              <a:cs typeface="Calibri"/>
            </a:endParaRPr>
          </a:p>
          <a:p>
            <a:pPr marL="103505" indent="-101600">
              <a:lnSpc>
                <a:spcPct val="100000"/>
              </a:lnSpc>
              <a:spcBef>
                <a:spcPts val="935"/>
              </a:spcBef>
              <a:buClr>
                <a:srgbClr val="E38312"/>
              </a:buClr>
              <a:buSzPct val="81578"/>
              <a:buFont typeface="Tahoma"/>
              <a:buChar char="•"/>
              <a:tabLst>
                <a:tab pos="103505" algn="l"/>
              </a:tabLst>
            </a:pPr>
            <a:r>
              <a:rPr sz="1900" spc="-10" dirty="0">
                <a:solidFill>
                  <a:srgbClr val="404040"/>
                </a:solidFill>
                <a:latin typeface="Calibri"/>
                <a:cs typeface="Calibri"/>
              </a:rPr>
              <a:t>Emergency</a:t>
            </a:r>
            <a:r>
              <a:rPr sz="1900" spc="-20" dirty="0">
                <a:solidFill>
                  <a:srgbClr val="404040"/>
                </a:solidFill>
                <a:latin typeface="Calibri"/>
                <a:cs typeface="Calibri"/>
              </a:rPr>
              <a:t> </a:t>
            </a:r>
            <a:r>
              <a:rPr sz="1900" spc="-10" dirty="0">
                <a:solidFill>
                  <a:srgbClr val="404040"/>
                </a:solidFill>
                <a:latin typeface="Calibri"/>
                <a:cs typeface="Calibri"/>
              </a:rPr>
              <a:t>healthcare monitoring</a:t>
            </a:r>
            <a:endParaRPr sz="1900">
              <a:latin typeface="Calibri"/>
              <a:cs typeface="Calibri"/>
            </a:endParaRPr>
          </a:p>
          <a:p>
            <a:pPr marL="104139">
              <a:lnSpc>
                <a:spcPct val="100000"/>
              </a:lnSpc>
              <a:spcBef>
                <a:spcPts val="950"/>
              </a:spcBef>
            </a:pPr>
            <a:r>
              <a:rPr sz="1900" b="1" spc="-10" dirty="0">
                <a:solidFill>
                  <a:srgbClr val="404040"/>
                </a:solidFill>
                <a:latin typeface="Calibri"/>
                <a:cs typeface="Calibri"/>
              </a:rPr>
              <a:t>Challenge</a:t>
            </a:r>
            <a:endParaRPr sz="1900">
              <a:latin typeface="Calibri"/>
              <a:cs typeface="Calibri"/>
            </a:endParaRPr>
          </a:p>
          <a:p>
            <a:pPr marL="104139">
              <a:lnSpc>
                <a:spcPct val="100000"/>
              </a:lnSpc>
              <a:spcBef>
                <a:spcPts val="950"/>
              </a:spcBef>
            </a:pPr>
            <a:r>
              <a:rPr sz="1900" dirty="0">
                <a:solidFill>
                  <a:srgbClr val="404040"/>
                </a:solidFill>
                <a:latin typeface="Calibri"/>
                <a:cs typeface="Calibri"/>
              </a:rPr>
              <a:t>Data</a:t>
            </a:r>
            <a:r>
              <a:rPr sz="1900" spc="-60" dirty="0">
                <a:solidFill>
                  <a:srgbClr val="404040"/>
                </a:solidFill>
                <a:latin typeface="Calibri"/>
                <a:cs typeface="Calibri"/>
              </a:rPr>
              <a:t> </a:t>
            </a:r>
            <a:r>
              <a:rPr sz="1900" dirty="0">
                <a:solidFill>
                  <a:srgbClr val="404040"/>
                </a:solidFill>
                <a:latin typeface="Calibri"/>
                <a:cs typeface="Calibri"/>
              </a:rPr>
              <a:t>must</a:t>
            </a:r>
            <a:r>
              <a:rPr sz="1900" spc="-55" dirty="0">
                <a:solidFill>
                  <a:srgbClr val="404040"/>
                </a:solidFill>
                <a:latin typeface="Calibri"/>
                <a:cs typeface="Calibri"/>
              </a:rPr>
              <a:t> </a:t>
            </a:r>
            <a:r>
              <a:rPr sz="1900" dirty="0">
                <a:solidFill>
                  <a:srgbClr val="404040"/>
                </a:solidFill>
                <a:latin typeface="Calibri"/>
                <a:cs typeface="Calibri"/>
              </a:rPr>
              <a:t>be</a:t>
            </a:r>
            <a:r>
              <a:rPr sz="1900" spc="-55" dirty="0">
                <a:solidFill>
                  <a:srgbClr val="404040"/>
                </a:solidFill>
                <a:latin typeface="Calibri"/>
                <a:cs typeface="Calibri"/>
              </a:rPr>
              <a:t> </a:t>
            </a:r>
            <a:r>
              <a:rPr sz="1900" dirty="0">
                <a:solidFill>
                  <a:srgbClr val="404040"/>
                </a:solidFill>
                <a:latin typeface="Calibri"/>
                <a:cs typeface="Calibri"/>
              </a:rPr>
              <a:t>processed</a:t>
            </a:r>
            <a:r>
              <a:rPr sz="1900" spc="-55" dirty="0">
                <a:solidFill>
                  <a:srgbClr val="404040"/>
                </a:solidFill>
                <a:latin typeface="Calibri"/>
                <a:cs typeface="Calibri"/>
              </a:rPr>
              <a:t> </a:t>
            </a:r>
            <a:r>
              <a:rPr sz="1900" dirty="0">
                <a:solidFill>
                  <a:srgbClr val="404040"/>
                </a:solidFill>
                <a:latin typeface="Calibri"/>
                <a:cs typeface="Calibri"/>
              </a:rPr>
              <a:t>within</a:t>
            </a:r>
            <a:r>
              <a:rPr sz="1900" spc="-45" dirty="0">
                <a:solidFill>
                  <a:srgbClr val="404040"/>
                </a:solidFill>
                <a:latin typeface="Calibri"/>
                <a:cs typeface="Calibri"/>
              </a:rPr>
              <a:t> </a:t>
            </a:r>
            <a:r>
              <a:rPr sz="1900" spc="-10" dirty="0">
                <a:solidFill>
                  <a:srgbClr val="404040"/>
                </a:solidFill>
                <a:latin typeface="Calibri"/>
                <a:cs typeface="Calibri"/>
              </a:rPr>
              <a:t>milliseconds.</a:t>
            </a:r>
            <a:endParaRPr sz="1900">
              <a:latin typeface="Calibri"/>
              <a:cs typeface="Calibri"/>
            </a:endParaRPr>
          </a:p>
          <a:p>
            <a:pPr marL="104139">
              <a:lnSpc>
                <a:spcPct val="100000"/>
              </a:lnSpc>
              <a:spcBef>
                <a:spcPts val="935"/>
              </a:spcBef>
            </a:pPr>
            <a:r>
              <a:rPr sz="1900" b="1" spc="-10" dirty="0">
                <a:solidFill>
                  <a:srgbClr val="404040"/>
                </a:solidFill>
                <a:latin typeface="Calibri"/>
                <a:cs typeface="Calibri"/>
              </a:rPr>
              <a:t>Technologies</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dirty="0">
                <a:solidFill>
                  <a:srgbClr val="404040"/>
                </a:solidFill>
                <a:latin typeface="Calibri"/>
                <a:cs typeface="Calibri"/>
              </a:rPr>
              <a:t>Apache</a:t>
            </a:r>
            <a:r>
              <a:rPr sz="1900" spc="-55" dirty="0">
                <a:solidFill>
                  <a:srgbClr val="404040"/>
                </a:solidFill>
                <a:latin typeface="Calibri"/>
                <a:cs typeface="Calibri"/>
              </a:rPr>
              <a:t> </a:t>
            </a:r>
            <a:r>
              <a:rPr sz="1900" spc="-20" dirty="0">
                <a:solidFill>
                  <a:srgbClr val="404040"/>
                </a:solidFill>
                <a:latin typeface="Calibri"/>
                <a:cs typeface="Calibri"/>
              </a:rPr>
              <a:t>Kafka</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dirty="0">
                <a:solidFill>
                  <a:srgbClr val="404040"/>
                </a:solidFill>
                <a:latin typeface="Calibri"/>
                <a:cs typeface="Calibri"/>
              </a:rPr>
              <a:t>Apache</a:t>
            </a:r>
            <a:r>
              <a:rPr sz="1900" spc="-40" dirty="0">
                <a:solidFill>
                  <a:srgbClr val="404040"/>
                </a:solidFill>
                <a:latin typeface="Calibri"/>
                <a:cs typeface="Calibri"/>
              </a:rPr>
              <a:t> </a:t>
            </a:r>
            <a:r>
              <a:rPr sz="1900" dirty="0">
                <a:solidFill>
                  <a:srgbClr val="404040"/>
                </a:solidFill>
                <a:latin typeface="Calibri"/>
                <a:cs typeface="Calibri"/>
              </a:rPr>
              <a:t>Spark</a:t>
            </a:r>
            <a:r>
              <a:rPr sz="1900" spc="-60" dirty="0">
                <a:solidFill>
                  <a:srgbClr val="404040"/>
                </a:solidFill>
                <a:latin typeface="Calibri"/>
                <a:cs typeface="Calibri"/>
              </a:rPr>
              <a:t> </a:t>
            </a:r>
            <a:r>
              <a:rPr sz="1900" spc="-10" dirty="0">
                <a:solidFill>
                  <a:srgbClr val="404040"/>
                </a:solidFill>
                <a:latin typeface="Calibri"/>
                <a:cs typeface="Calibri"/>
              </a:rPr>
              <a:t>Streaming</a:t>
            </a:r>
            <a:endParaRPr sz="1900">
              <a:latin typeface="Calibri"/>
              <a:cs typeface="Calibri"/>
            </a:endParaRPr>
          </a:p>
          <a:p>
            <a:pPr marL="103505" indent="-101600">
              <a:lnSpc>
                <a:spcPct val="100000"/>
              </a:lnSpc>
              <a:spcBef>
                <a:spcPts val="935"/>
              </a:spcBef>
              <a:buClr>
                <a:srgbClr val="E38312"/>
              </a:buClr>
              <a:buSzPct val="81578"/>
              <a:buFont typeface="Tahoma"/>
              <a:buChar char="•"/>
              <a:tabLst>
                <a:tab pos="103505" algn="l"/>
              </a:tabLst>
            </a:pPr>
            <a:r>
              <a:rPr sz="1900" dirty="0">
                <a:solidFill>
                  <a:srgbClr val="404040"/>
                </a:solidFill>
                <a:latin typeface="Calibri"/>
                <a:cs typeface="Calibri"/>
              </a:rPr>
              <a:t>Apache</a:t>
            </a:r>
            <a:r>
              <a:rPr sz="1900" spc="-50" dirty="0">
                <a:solidFill>
                  <a:srgbClr val="404040"/>
                </a:solidFill>
                <a:latin typeface="Calibri"/>
                <a:cs typeface="Calibri"/>
              </a:rPr>
              <a:t> </a:t>
            </a:r>
            <a:r>
              <a:rPr sz="1900" spc="-20" dirty="0">
                <a:solidFill>
                  <a:srgbClr val="404040"/>
                </a:solidFill>
                <a:latin typeface="Calibri"/>
                <a:cs typeface="Calibri"/>
              </a:rPr>
              <a:t>Storm</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dirty="0">
                <a:solidFill>
                  <a:srgbClr val="404040"/>
                </a:solidFill>
                <a:latin typeface="Calibri"/>
                <a:cs typeface="Calibri"/>
              </a:rPr>
              <a:t>Apache</a:t>
            </a:r>
            <a:r>
              <a:rPr sz="1900" spc="-45" dirty="0">
                <a:solidFill>
                  <a:srgbClr val="404040"/>
                </a:solidFill>
                <a:latin typeface="Calibri"/>
                <a:cs typeface="Calibri"/>
              </a:rPr>
              <a:t> </a:t>
            </a:r>
            <a:r>
              <a:rPr sz="1900" spc="-20" dirty="0">
                <a:solidFill>
                  <a:srgbClr val="404040"/>
                </a:solidFill>
                <a:latin typeface="Calibri"/>
                <a:cs typeface="Calibri"/>
              </a:rPr>
              <a:t>Flink</a:t>
            </a:r>
            <a:endParaRPr sz="19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0595" y="15392"/>
            <a:ext cx="8231505" cy="6223635"/>
          </a:xfrm>
          <a:prstGeom prst="rect">
            <a:avLst/>
          </a:prstGeom>
        </p:spPr>
        <p:txBody>
          <a:bodyPr vert="horz" wrap="square" lIns="0" tIns="12700" rIns="0" bIns="0" rtlCol="0">
            <a:spAutoFit/>
          </a:bodyPr>
          <a:lstStyle/>
          <a:p>
            <a:pPr marL="104139" marR="5045075">
              <a:lnSpc>
                <a:spcPct val="141700"/>
              </a:lnSpc>
              <a:spcBef>
                <a:spcPts val="100"/>
              </a:spcBef>
            </a:pPr>
            <a:r>
              <a:rPr sz="1900" b="1" dirty="0">
                <a:solidFill>
                  <a:srgbClr val="404040"/>
                </a:solidFill>
                <a:latin typeface="Calibri"/>
                <a:cs typeface="Calibri"/>
              </a:rPr>
              <a:t>8.</a:t>
            </a:r>
            <a:r>
              <a:rPr sz="1900" b="1" spc="-50" dirty="0">
                <a:solidFill>
                  <a:srgbClr val="404040"/>
                </a:solidFill>
                <a:latin typeface="Calibri"/>
                <a:cs typeface="Calibri"/>
              </a:rPr>
              <a:t> </a:t>
            </a:r>
            <a:r>
              <a:rPr sz="1900" b="1" dirty="0">
                <a:solidFill>
                  <a:srgbClr val="404040"/>
                </a:solidFill>
                <a:latin typeface="Calibri"/>
                <a:cs typeface="Calibri"/>
              </a:rPr>
              <a:t>Data</a:t>
            </a:r>
            <a:r>
              <a:rPr sz="1900" b="1" spc="-50" dirty="0">
                <a:solidFill>
                  <a:srgbClr val="404040"/>
                </a:solidFill>
                <a:latin typeface="Calibri"/>
                <a:cs typeface="Calibri"/>
              </a:rPr>
              <a:t> </a:t>
            </a:r>
            <a:r>
              <a:rPr sz="1900" b="1" spc="-10" dirty="0">
                <a:solidFill>
                  <a:srgbClr val="404040"/>
                </a:solidFill>
                <a:latin typeface="Calibri"/>
                <a:cs typeface="Calibri"/>
              </a:rPr>
              <a:t>Visualization</a:t>
            </a:r>
            <a:r>
              <a:rPr sz="1900" b="1" spc="-40" dirty="0">
                <a:solidFill>
                  <a:srgbClr val="404040"/>
                </a:solidFill>
                <a:latin typeface="Calibri"/>
                <a:cs typeface="Calibri"/>
              </a:rPr>
              <a:t> </a:t>
            </a:r>
            <a:r>
              <a:rPr sz="1900" b="1" spc="-10" dirty="0">
                <a:solidFill>
                  <a:srgbClr val="404040"/>
                </a:solidFill>
                <a:latin typeface="Calibri"/>
                <a:cs typeface="Calibri"/>
              </a:rPr>
              <a:t>Challenge Explanation</a:t>
            </a:r>
            <a:endParaRPr sz="1900">
              <a:latin typeface="Calibri"/>
              <a:cs typeface="Calibri"/>
            </a:endParaRPr>
          </a:p>
          <a:p>
            <a:pPr marL="104139" marR="127000">
              <a:lnSpc>
                <a:spcPts val="1820"/>
              </a:lnSpc>
              <a:spcBef>
                <a:spcPts val="1380"/>
              </a:spcBef>
            </a:pPr>
            <a:r>
              <a:rPr sz="1900" dirty="0">
                <a:solidFill>
                  <a:srgbClr val="404040"/>
                </a:solidFill>
                <a:latin typeface="Calibri"/>
                <a:cs typeface="Calibri"/>
              </a:rPr>
              <a:t>Billions</a:t>
            </a:r>
            <a:r>
              <a:rPr sz="1900" spc="-30" dirty="0">
                <a:solidFill>
                  <a:srgbClr val="404040"/>
                </a:solidFill>
                <a:latin typeface="Calibri"/>
                <a:cs typeface="Calibri"/>
              </a:rPr>
              <a:t> </a:t>
            </a:r>
            <a:r>
              <a:rPr sz="1900" dirty="0">
                <a:solidFill>
                  <a:srgbClr val="404040"/>
                </a:solidFill>
                <a:latin typeface="Calibri"/>
                <a:cs typeface="Calibri"/>
              </a:rPr>
              <a:t>of</a:t>
            </a:r>
            <a:r>
              <a:rPr sz="1900" spc="-65" dirty="0">
                <a:solidFill>
                  <a:srgbClr val="404040"/>
                </a:solidFill>
                <a:latin typeface="Calibri"/>
                <a:cs typeface="Calibri"/>
              </a:rPr>
              <a:t> </a:t>
            </a:r>
            <a:r>
              <a:rPr sz="1900" spc="-10" dirty="0">
                <a:solidFill>
                  <a:srgbClr val="404040"/>
                </a:solidFill>
                <a:latin typeface="Calibri"/>
                <a:cs typeface="Calibri"/>
              </a:rPr>
              <a:t>records</a:t>
            </a:r>
            <a:r>
              <a:rPr sz="1900" spc="-50" dirty="0">
                <a:solidFill>
                  <a:srgbClr val="404040"/>
                </a:solidFill>
                <a:latin typeface="Calibri"/>
                <a:cs typeface="Calibri"/>
              </a:rPr>
              <a:t> </a:t>
            </a:r>
            <a:r>
              <a:rPr sz="1900" dirty="0">
                <a:solidFill>
                  <a:srgbClr val="404040"/>
                </a:solidFill>
                <a:latin typeface="Calibri"/>
                <a:cs typeface="Calibri"/>
              </a:rPr>
              <a:t>are</a:t>
            </a:r>
            <a:r>
              <a:rPr sz="1900" spc="-55" dirty="0">
                <a:solidFill>
                  <a:srgbClr val="404040"/>
                </a:solidFill>
                <a:latin typeface="Calibri"/>
                <a:cs typeface="Calibri"/>
              </a:rPr>
              <a:t> </a:t>
            </a:r>
            <a:r>
              <a:rPr sz="1900" dirty="0">
                <a:solidFill>
                  <a:srgbClr val="404040"/>
                </a:solidFill>
                <a:latin typeface="Calibri"/>
                <a:cs typeface="Calibri"/>
              </a:rPr>
              <a:t>difficult</a:t>
            </a:r>
            <a:r>
              <a:rPr sz="1900" spc="-35" dirty="0">
                <a:solidFill>
                  <a:srgbClr val="404040"/>
                </a:solidFill>
                <a:latin typeface="Calibri"/>
                <a:cs typeface="Calibri"/>
              </a:rPr>
              <a:t> </a:t>
            </a:r>
            <a:r>
              <a:rPr sz="1900" dirty="0">
                <a:solidFill>
                  <a:srgbClr val="404040"/>
                </a:solidFill>
                <a:latin typeface="Calibri"/>
                <a:cs typeface="Calibri"/>
              </a:rPr>
              <a:t>to</a:t>
            </a:r>
            <a:r>
              <a:rPr sz="1900" spc="-55" dirty="0">
                <a:solidFill>
                  <a:srgbClr val="404040"/>
                </a:solidFill>
                <a:latin typeface="Calibri"/>
                <a:cs typeface="Calibri"/>
              </a:rPr>
              <a:t> </a:t>
            </a:r>
            <a:r>
              <a:rPr sz="1900" spc="-10" dirty="0">
                <a:solidFill>
                  <a:srgbClr val="404040"/>
                </a:solidFill>
                <a:latin typeface="Calibri"/>
                <a:cs typeface="Calibri"/>
              </a:rPr>
              <a:t>understand</a:t>
            </a:r>
            <a:r>
              <a:rPr sz="1900" spc="-25" dirty="0">
                <a:solidFill>
                  <a:srgbClr val="404040"/>
                </a:solidFill>
                <a:latin typeface="Calibri"/>
                <a:cs typeface="Calibri"/>
              </a:rPr>
              <a:t> </a:t>
            </a:r>
            <a:r>
              <a:rPr sz="1900" dirty="0">
                <a:solidFill>
                  <a:srgbClr val="404040"/>
                </a:solidFill>
                <a:latin typeface="Calibri"/>
                <a:cs typeface="Calibri"/>
              </a:rPr>
              <a:t>in</a:t>
            </a:r>
            <a:r>
              <a:rPr sz="1900" spc="-55" dirty="0">
                <a:solidFill>
                  <a:srgbClr val="404040"/>
                </a:solidFill>
                <a:latin typeface="Calibri"/>
                <a:cs typeface="Calibri"/>
              </a:rPr>
              <a:t> </a:t>
            </a:r>
            <a:r>
              <a:rPr sz="1900" dirty="0">
                <a:solidFill>
                  <a:srgbClr val="404040"/>
                </a:solidFill>
                <a:latin typeface="Calibri"/>
                <a:cs typeface="Calibri"/>
              </a:rPr>
              <a:t>raw</a:t>
            </a:r>
            <a:r>
              <a:rPr sz="1900" spc="-55" dirty="0">
                <a:solidFill>
                  <a:srgbClr val="404040"/>
                </a:solidFill>
                <a:latin typeface="Calibri"/>
                <a:cs typeface="Calibri"/>
              </a:rPr>
              <a:t> </a:t>
            </a:r>
            <a:r>
              <a:rPr sz="1900" dirty="0">
                <a:solidFill>
                  <a:srgbClr val="404040"/>
                </a:solidFill>
                <a:latin typeface="Calibri"/>
                <a:cs typeface="Calibri"/>
              </a:rPr>
              <a:t>form.</a:t>
            </a:r>
            <a:r>
              <a:rPr sz="1900" spc="-60" dirty="0">
                <a:solidFill>
                  <a:srgbClr val="404040"/>
                </a:solidFill>
                <a:latin typeface="Calibri"/>
                <a:cs typeface="Calibri"/>
              </a:rPr>
              <a:t> </a:t>
            </a:r>
            <a:r>
              <a:rPr sz="1900" spc="-10" dirty="0">
                <a:solidFill>
                  <a:srgbClr val="404040"/>
                </a:solidFill>
                <a:latin typeface="Calibri"/>
                <a:cs typeface="Calibri"/>
              </a:rPr>
              <a:t>Visualization</a:t>
            </a:r>
            <a:r>
              <a:rPr sz="1900" spc="-35" dirty="0">
                <a:solidFill>
                  <a:srgbClr val="404040"/>
                </a:solidFill>
                <a:latin typeface="Calibri"/>
                <a:cs typeface="Calibri"/>
              </a:rPr>
              <a:t> </a:t>
            </a:r>
            <a:r>
              <a:rPr sz="1900" spc="-10" dirty="0">
                <a:solidFill>
                  <a:srgbClr val="404040"/>
                </a:solidFill>
                <a:latin typeface="Calibri"/>
                <a:cs typeface="Calibri"/>
              </a:rPr>
              <a:t>transforms </a:t>
            </a:r>
            <a:r>
              <a:rPr sz="1900" dirty="0">
                <a:solidFill>
                  <a:srgbClr val="404040"/>
                </a:solidFill>
                <a:latin typeface="Calibri"/>
                <a:cs typeface="Calibri"/>
              </a:rPr>
              <a:t>data</a:t>
            </a:r>
            <a:r>
              <a:rPr sz="1900" spc="-60" dirty="0">
                <a:solidFill>
                  <a:srgbClr val="404040"/>
                </a:solidFill>
                <a:latin typeface="Calibri"/>
                <a:cs typeface="Calibri"/>
              </a:rPr>
              <a:t> </a:t>
            </a:r>
            <a:r>
              <a:rPr sz="1900" dirty="0">
                <a:solidFill>
                  <a:srgbClr val="404040"/>
                </a:solidFill>
                <a:latin typeface="Calibri"/>
                <a:cs typeface="Calibri"/>
              </a:rPr>
              <a:t>into</a:t>
            </a:r>
            <a:r>
              <a:rPr sz="1900" spc="-65" dirty="0">
                <a:solidFill>
                  <a:srgbClr val="404040"/>
                </a:solidFill>
                <a:latin typeface="Calibri"/>
                <a:cs typeface="Calibri"/>
              </a:rPr>
              <a:t> </a:t>
            </a:r>
            <a:r>
              <a:rPr sz="1900" spc="-10" dirty="0">
                <a:solidFill>
                  <a:srgbClr val="404040"/>
                </a:solidFill>
                <a:latin typeface="Calibri"/>
                <a:cs typeface="Calibri"/>
              </a:rPr>
              <a:t>graphs,</a:t>
            </a:r>
            <a:r>
              <a:rPr sz="1900" spc="-55" dirty="0">
                <a:solidFill>
                  <a:srgbClr val="404040"/>
                </a:solidFill>
                <a:latin typeface="Calibri"/>
                <a:cs typeface="Calibri"/>
              </a:rPr>
              <a:t> </a:t>
            </a:r>
            <a:r>
              <a:rPr sz="1900" dirty="0">
                <a:solidFill>
                  <a:srgbClr val="404040"/>
                </a:solidFill>
                <a:latin typeface="Calibri"/>
                <a:cs typeface="Calibri"/>
              </a:rPr>
              <a:t>charts,</a:t>
            </a:r>
            <a:r>
              <a:rPr sz="1900" spc="-60" dirty="0">
                <a:solidFill>
                  <a:srgbClr val="404040"/>
                </a:solidFill>
                <a:latin typeface="Calibri"/>
                <a:cs typeface="Calibri"/>
              </a:rPr>
              <a:t> </a:t>
            </a:r>
            <a:r>
              <a:rPr sz="1900" spc="-10" dirty="0">
                <a:solidFill>
                  <a:srgbClr val="404040"/>
                </a:solidFill>
                <a:latin typeface="Calibri"/>
                <a:cs typeface="Calibri"/>
              </a:rPr>
              <a:t>dashboards,</a:t>
            </a:r>
            <a:r>
              <a:rPr sz="1900" spc="-50" dirty="0">
                <a:solidFill>
                  <a:srgbClr val="404040"/>
                </a:solidFill>
                <a:latin typeface="Calibri"/>
                <a:cs typeface="Calibri"/>
              </a:rPr>
              <a:t> </a:t>
            </a:r>
            <a:r>
              <a:rPr sz="1900" dirty="0">
                <a:solidFill>
                  <a:srgbClr val="404040"/>
                </a:solidFill>
                <a:latin typeface="Calibri"/>
                <a:cs typeface="Calibri"/>
              </a:rPr>
              <a:t>and</a:t>
            </a:r>
            <a:r>
              <a:rPr sz="1900" spc="-60" dirty="0">
                <a:solidFill>
                  <a:srgbClr val="404040"/>
                </a:solidFill>
                <a:latin typeface="Calibri"/>
                <a:cs typeface="Calibri"/>
              </a:rPr>
              <a:t> </a:t>
            </a:r>
            <a:r>
              <a:rPr sz="1900" dirty="0">
                <a:solidFill>
                  <a:srgbClr val="404040"/>
                </a:solidFill>
                <a:latin typeface="Calibri"/>
                <a:cs typeface="Calibri"/>
              </a:rPr>
              <a:t>maps</a:t>
            </a:r>
            <a:r>
              <a:rPr sz="1900" spc="-60" dirty="0">
                <a:solidFill>
                  <a:srgbClr val="404040"/>
                </a:solidFill>
                <a:latin typeface="Calibri"/>
                <a:cs typeface="Calibri"/>
              </a:rPr>
              <a:t> </a:t>
            </a:r>
            <a:r>
              <a:rPr sz="1900" dirty="0">
                <a:solidFill>
                  <a:srgbClr val="404040"/>
                </a:solidFill>
                <a:latin typeface="Calibri"/>
                <a:cs typeface="Calibri"/>
              </a:rPr>
              <a:t>for</a:t>
            </a:r>
            <a:r>
              <a:rPr sz="1900" spc="-70" dirty="0">
                <a:solidFill>
                  <a:srgbClr val="404040"/>
                </a:solidFill>
                <a:latin typeface="Calibri"/>
                <a:cs typeface="Calibri"/>
              </a:rPr>
              <a:t> </a:t>
            </a:r>
            <a:r>
              <a:rPr sz="1900" dirty="0">
                <a:solidFill>
                  <a:srgbClr val="404040"/>
                </a:solidFill>
                <a:latin typeface="Calibri"/>
                <a:cs typeface="Calibri"/>
              </a:rPr>
              <a:t>better</a:t>
            </a:r>
            <a:r>
              <a:rPr sz="1900" spc="-50" dirty="0">
                <a:solidFill>
                  <a:srgbClr val="404040"/>
                </a:solidFill>
                <a:latin typeface="Calibri"/>
                <a:cs typeface="Calibri"/>
              </a:rPr>
              <a:t> </a:t>
            </a:r>
            <a:r>
              <a:rPr sz="1900" spc="-10" dirty="0">
                <a:solidFill>
                  <a:srgbClr val="404040"/>
                </a:solidFill>
                <a:latin typeface="Calibri"/>
                <a:cs typeface="Calibri"/>
              </a:rPr>
              <a:t>interpretation.</a:t>
            </a:r>
            <a:endParaRPr sz="1900">
              <a:latin typeface="Calibri"/>
              <a:cs typeface="Calibri"/>
            </a:endParaRPr>
          </a:p>
          <a:p>
            <a:pPr marL="104139">
              <a:lnSpc>
                <a:spcPct val="100000"/>
              </a:lnSpc>
              <a:spcBef>
                <a:spcPts val="965"/>
              </a:spcBef>
            </a:pPr>
            <a:r>
              <a:rPr sz="1900" b="1" spc="-10" dirty="0">
                <a:solidFill>
                  <a:srgbClr val="404040"/>
                </a:solidFill>
                <a:latin typeface="Calibri"/>
                <a:cs typeface="Calibri"/>
              </a:rPr>
              <a:t>Challenges</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dirty="0">
                <a:solidFill>
                  <a:srgbClr val="404040"/>
                </a:solidFill>
                <a:latin typeface="Calibri"/>
                <a:cs typeface="Calibri"/>
              </a:rPr>
              <a:t>Large</a:t>
            </a:r>
            <a:r>
              <a:rPr sz="1900" spc="-80" dirty="0">
                <a:solidFill>
                  <a:srgbClr val="404040"/>
                </a:solidFill>
                <a:latin typeface="Calibri"/>
                <a:cs typeface="Calibri"/>
              </a:rPr>
              <a:t> </a:t>
            </a:r>
            <a:r>
              <a:rPr sz="1900" spc="-10" dirty="0">
                <a:solidFill>
                  <a:srgbClr val="404040"/>
                </a:solidFill>
                <a:latin typeface="Calibri"/>
                <a:cs typeface="Calibri"/>
              </a:rPr>
              <a:t>datasets</a:t>
            </a:r>
            <a:endParaRPr sz="1900">
              <a:latin typeface="Calibri"/>
              <a:cs typeface="Calibri"/>
            </a:endParaRPr>
          </a:p>
          <a:p>
            <a:pPr marL="103505" indent="-101600">
              <a:lnSpc>
                <a:spcPct val="100000"/>
              </a:lnSpc>
              <a:spcBef>
                <a:spcPts val="940"/>
              </a:spcBef>
              <a:buClr>
                <a:srgbClr val="E38312"/>
              </a:buClr>
              <a:buSzPct val="81578"/>
              <a:buFont typeface="Tahoma"/>
              <a:buChar char="•"/>
              <a:tabLst>
                <a:tab pos="103505" algn="l"/>
              </a:tabLst>
            </a:pPr>
            <a:r>
              <a:rPr sz="1900" dirty="0">
                <a:solidFill>
                  <a:srgbClr val="404040"/>
                </a:solidFill>
                <a:latin typeface="Calibri"/>
                <a:cs typeface="Calibri"/>
              </a:rPr>
              <a:t>Dynamic</a:t>
            </a:r>
            <a:r>
              <a:rPr sz="1900" spc="-55" dirty="0">
                <a:solidFill>
                  <a:srgbClr val="404040"/>
                </a:solidFill>
                <a:latin typeface="Calibri"/>
                <a:cs typeface="Calibri"/>
              </a:rPr>
              <a:t> </a:t>
            </a:r>
            <a:r>
              <a:rPr sz="1900" spc="-10" dirty="0">
                <a:solidFill>
                  <a:srgbClr val="404040"/>
                </a:solidFill>
                <a:latin typeface="Calibri"/>
                <a:cs typeface="Calibri"/>
              </a:rPr>
              <a:t>updates</a:t>
            </a:r>
            <a:endParaRPr sz="1900">
              <a:latin typeface="Calibri"/>
              <a:cs typeface="Calibri"/>
            </a:endParaRPr>
          </a:p>
          <a:p>
            <a:pPr marL="103505" indent="-101600">
              <a:lnSpc>
                <a:spcPct val="100000"/>
              </a:lnSpc>
              <a:spcBef>
                <a:spcPts val="944"/>
              </a:spcBef>
              <a:buClr>
                <a:srgbClr val="E38312"/>
              </a:buClr>
              <a:buSzPct val="81578"/>
              <a:buFont typeface="Tahoma"/>
              <a:buChar char="•"/>
              <a:tabLst>
                <a:tab pos="103505" algn="l"/>
              </a:tabLst>
            </a:pPr>
            <a:r>
              <a:rPr sz="1900" spc="-10" dirty="0">
                <a:solidFill>
                  <a:srgbClr val="404040"/>
                </a:solidFill>
                <a:latin typeface="Calibri"/>
                <a:cs typeface="Calibri"/>
              </a:rPr>
              <a:t>Interactive</a:t>
            </a:r>
            <a:r>
              <a:rPr sz="1900" spc="-75" dirty="0">
                <a:solidFill>
                  <a:srgbClr val="404040"/>
                </a:solidFill>
                <a:latin typeface="Calibri"/>
                <a:cs typeface="Calibri"/>
              </a:rPr>
              <a:t> </a:t>
            </a:r>
            <a:r>
              <a:rPr sz="1900" spc="-10" dirty="0">
                <a:solidFill>
                  <a:srgbClr val="404040"/>
                </a:solidFill>
                <a:latin typeface="Calibri"/>
                <a:cs typeface="Calibri"/>
              </a:rPr>
              <a:t>dashboards</a:t>
            </a:r>
            <a:endParaRPr sz="1900">
              <a:latin typeface="Calibri"/>
              <a:cs typeface="Calibri"/>
            </a:endParaRPr>
          </a:p>
          <a:p>
            <a:pPr marL="104139">
              <a:lnSpc>
                <a:spcPct val="100000"/>
              </a:lnSpc>
              <a:spcBef>
                <a:spcPts val="950"/>
              </a:spcBef>
            </a:pPr>
            <a:r>
              <a:rPr sz="1900" b="1" spc="-10" dirty="0">
                <a:solidFill>
                  <a:srgbClr val="404040"/>
                </a:solidFill>
                <a:latin typeface="Calibri"/>
                <a:cs typeface="Calibri"/>
              </a:rPr>
              <a:t>Tools</a:t>
            </a:r>
            <a:endParaRPr sz="1900">
              <a:latin typeface="Calibri"/>
              <a:cs typeface="Calibri"/>
            </a:endParaRPr>
          </a:p>
          <a:p>
            <a:pPr marL="103505" indent="-101600">
              <a:lnSpc>
                <a:spcPct val="100000"/>
              </a:lnSpc>
              <a:spcBef>
                <a:spcPts val="940"/>
              </a:spcBef>
              <a:buClr>
                <a:srgbClr val="E38312"/>
              </a:buClr>
              <a:buSzPct val="81578"/>
              <a:buFont typeface="Tahoma"/>
              <a:buChar char="•"/>
              <a:tabLst>
                <a:tab pos="103505" algn="l"/>
              </a:tabLst>
            </a:pPr>
            <a:r>
              <a:rPr sz="1900" spc="-10" dirty="0">
                <a:solidFill>
                  <a:srgbClr val="404040"/>
                </a:solidFill>
                <a:latin typeface="Calibri"/>
                <a:cs typeface="Calibri"/>
              </a:rPr>
              <a:t>Tableau</a:t>
            </a:r>
            <a:endParaRPr sz="1900">
              <a:latin typeface="Calibri"/>
              <a:cs typeface="Calibri"/>
            </a:endParaRPr>
          </a:p>
          <a:p>
            <a:pPr marL="103505" indent="-101600">
              <a:lnSpc>
                <a:spcPct val="100000"/>
              </a:lnSpc>
              <a:spcBef>
                <a:spcPts val="944"/>
              </a:spcBef>
              <a:buClr>
                <a:srgbClr val="E38312"/>
              </a:buClr>
              <a:buSzPct val="81578"/>
              <a:buFont typeface="Tahoma"/>
              <a:buChar char="•"/>
              <a:tabLst>
                <a:tab pos="103505" algn="l"/>
              </a:tabLst>
            </a:pPr>
            <a:r>
              <a:rPr sz="1900" spc="-10" dirty="0">
                <a:solidFill>
                  <a:srgbClr val="404040"/>
                </a:solidFill>
                <a:latin typeface="Calibri"/>
                <a:cs typeface="Calibri"/>
              </a:rPr>
              <a:t>Power</a:t>
            </a:r>
            <a:r>
              <a:rPr sz="1900" spc="-60" dirty="0">
                <a:solidFill>
                  <a:srgbClr val="404040"/>
                </a:solidFill>
                <a:latin typeface="Calibri"/>
                <a:cs typeface="Calibri"/>
              </a:rPr>
              <a:t> </a:t>
            </a:r>
            <a:r>
              <a:rPr sz="1900" spc="-25" dirty="0">
                <a:solidFill>
                  <a:srgbClr val="404040"/>
                </a:solidFill>
                <a:latin typeface="Calibri"/>
                <a:cs typeface="Calibri"/>
              </a:rPr>
              <a:t>BI</a:t>
            </a:r>
            <a:endParaRPr sz="1900">
              <a:latin typeface="Calibri"/>
              <a:cs typeface="Calibri"/>
            </a:endParaRPr>
          </a:p>
          <a:p>
            <a:pPr marL="103505" indent="-101600">
              <a:lnSpc>
                <a:spcPct val="100000"/>
              </a:lnSpc>
              <a:spcBef>
                <a:spcPts val="950"/>
              </a:spcBef>
              <a:buClr>
                <a:srgbClr val="E38312"/>
              </a:buClr>
              <a:buSzPct val="81578"/>
              <a:buFont typeface="Tahoma"/>
              <a:buChar char="•"/>
              <a:tabLst>
                <a:tab pos="103505" algn="l"/>
              </a:tabLst>
            </a:pPr>
            <a:r>
              <a:rPr sz="1900" spc="-10" dirty="0">
                <a:solidFill>
                  <a:srgbClr val="404040"/>
                </a:solidFill>
                <a:latin typeface="Calibri"/>
                <a:cs typeface="Calibri"/>
              </a:rPr>
              <a:t>Grafana</a:t>
            </a:r>
            <a:endParaRPr sz="1900">
              <a:latin typeface="Calibri"/>
              <a:cs typeface="Calibri"/>
            </a:endParaRPr>
          </a:p>
          <a:p>
            <a:pPr marL="103505" indent="-101600">
              <a:lnSpc>
                <a:spcPct val="100000"/>
              </a:lnSpc>
              <a:spcBef>
                <a:spcPts val="935"/>
              </a:spcBef>
              <a:buClr>
                <a:srgbClr val="E38312"/>
              </a:buClr>
              <a:buSzPct val="81578"/>
              <a:buFont typeface="Tahoma"/>
              <a:buChar char="•"/>
              <a:tabLst>
                <a:tab pos="103505" algn="l"/>
              </a:tabLst>
            </a:pPr>
            <a:r>
              <a:rPr sz="1900" dirty="0">
                <a:solidFill>
                  <a:srgbClr val="404040"/>
                </a:solidFill>
                <a:latin typeface="Calibri"/>
                <a:cs typeface="Calibri"/>
              </a:rPr>
              <a:t>Apache</a:t>
            </a:r>
            <a:r>
              <a:rPr sz="1900" spc="-50" dirty="0">
                <a:solidFill>
                  <a:srgbClr val="404040"/>
                </a:solidFill>
                <a:latin typeface="Calibri"/>
                <a:cs typeface="Calibri"/>
              </a:rPr>
              <a:t> </a:t>
            </a:r>
            <a:r>
              <a:rPr sz="1900" spc="-10" dirty="0">
                <a:solidFill>
                  <a:srgbClr val="404040"/>
                </a:solidFill>
                <a:latin typeface="Calibri"/>
                <a:cs typeface="Calibri"/>
              </a:rPr>
              <a:t>Superset</a:t>
            </a:r>
            <a:endParaRPr sz="1900">
              <a:latin typeface="Calibri"/>
              <a:cs typeface="Calibri"/>
            </a:endParaRPr>
          </a:p>
          <a:p>
            <a:pPr marL="104139">
              <a:lnSpc>
                <a:spcPct val="100000"/>
              </a:lnSpc>
              <a:spcBef>
                <a:spcPts val="950"/>
              </a:spcBef>
            </a:pPr>
            <a:r>
              <a:rPr sz="1900" b="1" spc="-10" dirty="0">
                <a:solidFill>
                  <a:srgbClr val="404040"/>
                </a:solidFill>
                <a:latin typeface="Calibri"/>
                <a:cs typeface="Calibri"/>
              </a:rPr>
              <a:t>Example</a:t>
            </a:r>
            <a:endParaRPr sz="1900">
              <a:latin typeface="Calibri"/>
              <a:cs typeface="Calibri"/>
            </a:endParaRPr>
          </a:p>
          <a:p>
            <a:pPr marL="104139" marR="5080">
              <a:lnSpc>
                <a:spcPct val="80000"/>
              </a:lnSpc>
              <a:spcBef>
                <a:spcPts val="1405"/>
              </a:spcBef>
            </a:pPr>
            <a:r>
              <a:rPr sz="1900" dirty="0">
                <a:solidFill>
                  <a:srgbClr val="404040"/>
                </a:solidFill>
                <a:latin typeface="Calibri"/>
                <a:cs typeface="Calibri"/>
              </a:rPr>
              <a:t>An</a:t>
            </a:r>
            <a:r>
              <a:rPr sz="1900" spc="-55" dirty="0">
                <a:solidFill>
                  <a:srgbClr val="404040"/>
                </a:solidFill>
                <a:latin typeface="Calibri"/>
                <a:cs typeface="Calibri"/>
              </a:rPr>
              <a:t> </a:t>
            </a:r>
            <a:r>
              <a:rPr sz="1900" dirty="0">
                <a:solidFill>
                  <a:srgbClr val="404040"/>
                </a:solidFill>
                <a:latin typeface="Calibri"/>
                <a:cs typeface="Calibri"/>
              </a:rPr>
              <a:t>online</a:t>
            </a:r>
            <a:r>
              <a:rPr sz="1900" spc="-25" dirty="0">
                <a:solidFill>
                  <a:srgbClr val="404040"/>
                </a:solidFill>
                <a:latin typeface="Calibri"/>
                <a:cs typeface="Calibri"/>
              </a:rPr>
              <a:t> </a:t>
            </a:r>
            <a:r>
              <a:rPr sz="1900" spc="-10" dirty="0">
                <a:solidFill>
                  <a:srgbClr val="404040"/>
                </a:solidFill>
                <a:latin typeface="Calibri"/>
                <a:cs typeface="Calibri"/>
              </a:rPr>
              <a:t>retailer</a:t>
            </a:r>
            <a:r>
              <a:rPr sz="1900" spc="-45" dirty="0">
                <a:solidFill>
                  <a:srgbClr val="404040"/>
                </a:solidFill>
                <a:latin typeface="Calibri"/>
                <a:cs typeface="Calibri"/>
              </a:rPr>
              <a:t> </a:t>
            </a:r>
            <a:r>
              <a:rPr sz="1900" dirty="0">
                <a:solidFill>
                  <a:srgbClr val="404040"/>
                </a:solidFill>
                <a:latin typeface="Calibri"/>
                <a:cs typeface="Calibri"/>
              </a:rPr>
              <a:t>uses</a:t>
            </a:r>
            <a:r>
              <a:rPr sz="1900" spc="-60" dirty="0">
                <a:solidFill>
                  <a:srgbClr val="404040"/>
                </a:solidFill>
                <a:latin typeface="Calibri"/>
                <a:cs typeface="Calibri"/>
              </a:rPr>
              <a:t> </a:t>
            </a:r>
            <a:r>
              <a:rPr sz="1900" spc="-10" dirty="0">
                <a:solidFill>
                  <a:srgbClr val="404040"/>
                </a:solidFill>
                <a:latin typeface="Calibri"/>
                <a:cs typeface="Calibri"/>
              </a:rPr>
              <a:t>dashboards</a:t>
            </a:r>
            <a:r>
              <a:rPr sz="1900" spc="-50" dirty="0">
                <a:solidFill>
                  <a:srgbClr val="404040"/>
                </a:solidFill>
                <a:latin typeface="Calibri"/>
                <a:cs typeface="Calibri"/>
              </a:rPr>
              <a:t> </a:t>
            </a:r>
            <a:r>
              <a:rPr sz="1900" dirty="0">
                <a:solidFill>
                  <a:srgbClr val="404040"/>
                </a:solidFill>
                <a:latin typeface="Calibri"/>
                <a:cs typeface="Calibri"/>
              </a:rPr>
              <a:t>to</a:t>
            </a:r>
            <a:r>
              <a:rPr sz="1900" spc="-45" dirty="0">
                <a:solidFill>
                  <a:srgbClr val="404040"/>
                </a:solidFill>
                <a:latin typeface="Calibri"/>
                <a:cs typeface="Calibri"/>
              </a:rPr>
              <a:t> </a:t>
            </a:r>
            <a:r>
              <a:rPr sz="1900" dirty="0">
                <a:solidFill>
                  <a:srgbClr val="404040"/>
                </a:solidFill>
                <a:latin typeface="Calibri"/>
                <a:cs typeface="Calibri"/>
              </a:rPr>
              <a:t>monitor</a:t>
            </a:r>
            <a:r>
              <a:rPr sz="1900" spc="-45" dirty="0">
                <a:solidFill>
                  <a:srgbClr val="404040"/>
                </a:solidFill>
                <a:latin typeface="Calibri"/>
                <a:cs typeface="Calibri"/>
              </a:rPr>
              <a:t> </a:t>
            </a:r>
            <a:r>
              <a:rPr sz="1900" dirty="0">
                <a:solidFill>
                  <a:srgbClr val="404040"/>
                </a:solidFill>
                <a:latin typeface="Calibri"/>
                <a:cs typeface="Calibri"/>
              </a:rPr>
              <a:t>sales</a:t>
            </a:r>
            <a:r>
              <a:rPr sz="1900" spc="-60" dirty="0">
                <a:solidFill>
                  <a:srgbClr val="404040"/>
                </a:solidFill>
                <a:latin typeface="Calibri"/>
                <a:cs typeface="Calibri"/>
              </a:rPr>
              <a:t> </a:t>
            </a:r>
            <a:r>
              <a:rPr sz="1900" dirty="0">
                <a:solidFill>
                  <a:srgbClr val="404040"/>
                </a:solidFill>
                <a:latin typeface="Calibri"/>
                <a:cs typeface="Calibri"/>
              </a:rPr>
              <a:t>trends,</a:t>
            </a:r>
            <a:r>
              <a:rPr sz="1900" spc="-45" dirty="0">
                <a:solidFill>
                  <a:srgbClr val="404040"/>
                </a:solidFill>
                <a:latin typeface="Calibri"/>
                <a:cs typeface="Calibri"/>
              </a:rPr>
              <a:t> </a:t>
            </a:r>
            <a:r>
              <a:rPr sz="1900" dirty="0">
                <a:solidFill>
                  <a:srgbClr val="404040"/>
                </a:solidFill>
                <a:latin typeface="Calibri"/>
                <a:cs typeface="Calibri"/>
              </a:rPr>
              <a:t>customer</a:t>
            </a:r>
            <a:r>
              <a:rPr sz="1900" spc="-40" dirty="0">
                <a:solidFill>
                  <a:srgbClr val="404040"/>
                </a:solidFill>
                <a:latin typeface="Calibri"/>
                <a:cs typeface="Calibri"/>
              </a:rPr>
              <a:t> </a:t>
            </a:r>
            <a:r>
              <a:rPr sz="1900" spc="-25" dirty="0">
                <a:solidFill>
                  <a:srgbClr val="404040"/>
                </a:solidFill>
                <a:latin typeface="Calibri"/>
                <a:cs typeface="Calibri"/>
              </a:rPr>
              <a:t>behavior,</a:t>
            </a:r>
            <a:r>
              <a:rPr sz="1900" spc="-15" dirty="0">
                <a:solidFill>
                  <a:srgbClr val="404040"/>
                </a:solidFill>
                <a:latin typeface="Calibri"/>
                <a:cs typeface="Calibri"/>
              </a:rPr>
              <a:t> </a:t>
            </a:r>
            <a:r>
              <a:rPr sz="1900" spc="-25" dirty="0">
                <a:solidFill>
                  <a:srgbClr val="404040"/>
                </a:solidFill>
                <a:latin typeface="Calibri"/>
                <a:cs typeface="Calibri"/>
              </a:rPr>
              <a:t>and </a:t>
            </a:r>
            <a:r>
              <a:rPr sz="1900" spc="-10" dirty="0">
                <a:solidFill>
                  <a:srgbClr val="404040"/>
                </a:solidFill>
                <a:latin typeface="Calibri"/>
                <a:cs typeface="Calibri"/>
              </a:rPr>
              <a:t>inventory</a:t>
            </a:r>
            <a:r>
              <a:rPr sz="1900" spc="-60" dirty="0">
                <a:solidFill>
                  <a:srgbClr val="404040"/>
                </a:solidFill>
                <a:latin typeface="Calibri"/>
                <a:cs typeface="Calibri"/>
              </a:rPr>
              <a:t> </a:t>
            </a:r>
            <a:r>
              <a:rPr sz="1900" spc="-10" dirty="0">
                <a:solidFill>
                  <a:srgbClr val="404040"/>
                </a:solidFill>
                <a:latin typeface="Calibri"/>
                <a:cs typeface="Calibri"/>
              </a:rPr>
              <a:t>levels.</a:t>
            </a:r>
            <a:endParaRPr sz="19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0259" y="9880"/>
            <a:ext cx="7458075" cy="5574030"/>
          </a:xfrm>
          <a:prstGeom prst="rect">
            <a:avLst/>
          </a:prstGeom>
        </p:spPr>
        <p:txBody>
          <a:bodyPr vert="horz" wrap="square" lIns="0" tIns="12700" rIns="0" bIns="0" rtlCol="0">
            <a:spAutoFit/>
          </a:bodyPr>
          <a:lstStyle/>
          <a:p>
            <a:pPr marL="104139" marR="5542280">
              <a:lnSpc>
                <a:spcPct val="138500"/>
              </a:lnSpc>
              <a:spcBef>
                <a:spcPts val="100"/>
              </a:spcBef>
            </a:pPr>
            <a:r>
              <a:rPr sz="2000" b="1" dirty="0">
                <a:solidFill>
                  <a:srgbClr val="404040"/>
                </a:solidFill>
                <a:latin typeface="Calibri"/>
                <a:cs typeface="Calibri"/>
              </a:rPr>
              <a:t>9.</a:t>
            </a:r>
            <a:r>
              <a:rPr sz="2000" b="1" spc="-15" dirty="0">
                <a:solidFill>
                  <a:srgbClr val="404040"/>
                </a:solidFill>
                <a:latin typeface="Calibri"/>
                <a:cs typeface="Calibri"/>
              </a:rPr>
              <a:t> </a:t>
            </a:r>
            <a:r>
              <a:rPr sz="2000" b="1" dirty="0">
                <a:solidFill>
                  <a:srgbClr val="404040"/>
                </a:solidFill>
                <a:latin typeface="Calibri"/>
                <a:cs typeface="Calibri"/>
              </a:rPr>
              <a:t>Cost</a:t>
            </a:r>
            <a:r>
              <a:rPr sz="2000" b="1" spc="-25" dirty="0">
                <a:solidFill>
                  <a:srgbClr val="404040"/>
                </a:solidFill>
                <a:latin typeface="Calibri"/>
                <a:cs typeface="Calibri"/>
              </a:rPr>
              <a:t> </a:t>
            </a:r>
            <a:r>
              <a:rPr sz="2000" b="1" spc="-10" dirty="0">
                <a:solidFill>
                  <a:srgbClr val="404040"/>
                </a:solidFill>
                <a:latin typeface="Calibri"/>
                <a:cs typeface="Calibri"/>
              </a:rPr>
              <a:t>Challenge Explanation</a:t>
            </a:r>
            <a:endParaRPr sz="2000">
              <a:latin typeface="Calibri"/>
              <a:cs typeface="Calibri"/>
            </a:endParaRPr>
          </a:p>
          <a:p>
            <a:pPr marL="104139">
              <a:lnSpc>
                <a:spcPts val="2160"/>
              </a:lnSpc>
              <a:spcBef>
                <a:spcPts val="910"/>
              </a:spcBef>
            </a:pPr>
            <a:r>
              <a:rPr sz="2000" dirty="0">
                <a:solidFill>
                  <a:srgbClr val="404040"/>
                </a:solidFill>
                <a:latin typeface="Calibri"/>
                <a:cs typeface="Calibri"/>
              </a:rPr>
              <a:t>Managing</a:t>
            </a:r>
            <a:r>
              <a:rPr sz="2000" spc="-85" dirty="0">
                <a:solidFill>
                  <a:srgbClr val="404040"/>
                </a:solidFill>
                <a:latin typeface="Calibri"/>
                <a:cs typeface="Calibri"/>
              </a:rPr>
              <a:t> </a:t>
            </a:r>
            <a:r>
              <a:rPr sz="2000" dirty="0">
                <a:solidFill>
                  <a:srgbClr val="404040"/>
                </a:solidFill>
                <a:latin typeface="Calibri"/>
                <a:cs typeface="Calibri"/>
              </a:rPr>
              <a:t>Big</a:t>
            </a:r>
            <a:r>
              <a:rPr sz="2000" spc="-55" dirty="0">
                <a:solidFill>
                  <a:srgbClr val="404040"/>
                </a:solidFill>
                <a:latin typeface="Calibri"/>
                <a:cs typeface="Calibri"/>
              </a:rPr>
              <a:t> </a:t>
            </a:r>
            <a:r>
              <a:rPr sz="2000" dirty="0">
                <a:solidFill>
                  <a:srgbClr val="404040"/>
                </a:solidFill>
                <a:latin typeface="Calibri"/>
                <a:cs typeface="Calibri"/>
              </a:rPr>
              <a:t>Data</a:t>
            </a:r>
            <a:r>
              <a:rPr sz="2000" spc="-55" dirty="0">
                <a:solidFill>
                  <a:srgbClr val="404040"/>
                </a:solidFill>
                <a:latin typeface="Calibri"/>
                <a:cs typeface="Calibri"/>
              </a:rPr>
              <a:t> </a:t>
            </a:r>
            <a:r>
              <a:rPr sz="2000" spc="-10" dirty="0">
                <a:solidFill>
                  <a:srgbClr val="404040"/>
                </a:solidFill>
                <a:latin typeface="Calibri"/>
                <a:cs typeface="Calibri"/>
              </a:rPr>
              <a:t>infrastructure</a:t>
            </a:r>
            <a:r>
              <a:rPr sz="2000" spc="-45" dirty="0">
                <a:solidFill>
                  <a:srgbClr val="404040"/>
                </a:solidFill>
                <a:latin typeface="Calibri"/>
                <a:cs typeface="Calibri"/>
              </a:rPr>
              <a:t> </a:t>
            </a:r>
            <a:r>
              <a:rPr sz="2000" dirty="0">
                <a:solidFill>
                  <a:srgbClr val="404040"/>
                </a:solidFill>
                <a:latin typeface="Calibri"/>
                <a:cs typeface="Calibri"/>
              </a:rPr>
              <a:t>requires</a:t>
            </a:r>
            <a:r>
              <a:rPr sz="2000" spc="-55" dirty="0">
                <a:solidFill>
                  <a:srgbClr val="404040"/>
                </a:solidFill>
                <a:latin typeface="Calibri"/>
                <a:cs typeface="Calibri"/>
              </a:rPr>
              <a:t> </a:t>
            </a:r>
            <a:r>
              <a:rPr sz="2000" dirty="0">
                <a:solidFill>
                  <a:srgbClr val="404040"/>
                </a:solidFill>
                <a:latin typeface="Calibri"/>
                <a:cs typeface="Calibri"/>
              </a:rPr>
              <a:t>significant</a:t>
            </a:r>
            <a:r>
              <a:rPr sz="2000" spc="-55" dirty="0">
                <a:solidFill>
                  <a:srgbClr val="404040"/>
                </a:solidFill>
                <a:latin typeface="Calibri"/>
                <a:cs typeface="Calibri"/>
              </a:rPr>
              <a:t> </a:t>
            </a:r>
            <a:r>
              <a:rPr sz="2000" spc="-10" dirty="0">
                <a:solidFill>
                  <a:srgbClr val="404040"/>
                </a:solidFill>
                <a:latin typeface="Calibri"/>
                <a:cs typeface="Calibri"/>
              </a:rPr>
              <a:t>financial</a:t>
            </a:r>
            <a:endParaRPr sz="2000">
              <a:latin typeface="Calibri"/>
              <a:cs typeface="Calibri"/>
            </a:endParaRPr>
          </a:p>
          <a:p>
            <a:pPr marL="104139">
              <a:lnSpc>
                <a:spcPts val="2160"/>
              </a:lnSpc>
            </a:pPr>
            <a:r>
              <a:rPr sz="2000" spc="-10" dirty="0">
                <a:solidFill>
                  <a:srgbClr val="404040"/>
                </a:solidFill>
                <a:latin typeface="Calibri"/>
                <a:cs typeface="Calibri"/>
              </a:rPr>
              <a:t>investment.</a:t>
            </a:r>
            <a:endParaRPr sz="2000">
              <a:latin typeface="Calibri"/>
              <a:cs typeface="Calibri"/>
            </a:endParaRPr>
          </a:p>
          <a:p>
            <a:pPr marL="104139">
              <a:lnSpc>
                <a:spcPct val="100000"/>
              </a:lnSpc>
              <a:spcBef>
                <a:spcPts val="925"/>
              </a:spcBef>
            </a:pPr>
            <a:r>
              <a:rPr sz="2000" b="1" spc="-10" dirty="0">
                <a:solidFill>
                  <a:srgbClr val="404040"/>
                </a:solidFill>
                <a:latin typeface="Calibri"/>
                <a:cs typeface="Calibri"/>
              </a:rPr>
              <a:t>Expenses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spc="-10" dirty="0">
                <a:solidFill>
                  <a:srgbClr val="404040"/>
                </a:solidFill>
                <a:latin typeface="Calibri"/>
                <a:cs typeface="Calibri"/>
              </a:rPr>
              <a:t>Storage</a:t>
            </a:r>
            <a:endParaRPr sz="2000">
              <a:latin typeface="Calibri"/>
              <a:cs typeface="Calibri"/>
            </a:endParaRPr>
          </a:p>
          <a:p>
            <a:pPr marL="103505" indent="-101600">
              <a:lnSpc>
                <a:spcPct val="100000"/>
              </a:lnSpc>
              <a:spcBef>
                <a:spcPts val="910"/>
              </a:spcBef>
              <a:buClr>
                <a:srgbClr val="E38312"/>
              </a:buClr>
              <a:buSzPct val="77500"/>
              <a:buFont typeface="Tahoma"/>
              <a:buChar char="•"/>
              <a:tabLst>
                <a:tab pos="103505" algn="l"/>
              </a:tabLst>
            </a:pPr>
            <a:r>
              <a:rPr sz="2000" spc="-10" dirty="0">
                <a:solidFill>
                  <a:srgbClr val="404040"/>
                </a:solidFill>
                <a:latin typeface="Calibri"/>
                <a:cs typeface="Calibri"/>
              </a:rPr>
              <a:t>Servers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Network</a:t>
            </a:r>
            <a:r>
              <a:rPr sz="2000" spc="-30" dirty="0">
                <a:solidFill>
                  <a:srgbClr val="404040"/>
                </a:solidFill>
                <a:latin typeface="Calibri"/>
                <a:cs typeface="Calibri"/>
              </a:rPr>
              <a:t> </a:t>
            </a:r>
            <a:r>
              <a:rPr sz="2000" spc="-10" dirty="0">
                <a:solidFill>
                  <a:srgbClr val="404040"/>
                </a:solidFill>
                <a:latin typeface="Calibri"/>
                <a:cs typeface="Calibri"/>
              </a:rPr>
              <a:t>infrastructure</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Software</a:t>
            </a:r>
            <a:r>
              <a:rPr sz="2000" spc="-90" dirty="0">
                <a:solidFill>
                  <a:srgbClr val="404040"/>
                </a:solidFill>
                <a:latin typeface="Calibri"/>
                <a:cs typeface="Calibri"/>
              </a:rPr>
              <a:t> </a:t>
            </a:r>
            <a:r>
              <a:rPr sz="2000" spc="-10" dirty="0">
                <a:solidFill>
                  <a:srgbClr val="404040"/>
                </a:solidFill>
                <a:latin typeface="Calibri"/>
                <a:cs typeface="Calibri"/>
              </a:rPr>
              <a:t>licenses</a:t>
            </a:r>
            <a:endParaRPr sz="2000">
              <a:latin typeface="Calibri"/>
              <a:cs typeface="Calibri"/>
            </a:endParaRPr>
          </a:p>
          <a:p>
            <a:pPr marL="103505" indent="-101600">
              <a:lnSpc>
                <a:spcPct val="100000"/>
              </a:lnSpc>
              <a:spcBef>
                <a:spcPts val="915"/>
              </a:spcBef>
              <a:buClr>
                <a:srgbClr val="E38312"/>
              </a:buClr>
              <a:buSzPct val="77500"/>
              <a:buFont typeface="Tahoma"/>
              <a:buChar char="•"/>
              <a:tabLst>
                <a:tab pos="103505" algn="l"/>
              </a:tabLst>
            </a:pPr>
            <a:r>
              <a:rPr sz="2000" dirty="0">
                <a:solidFill>
                  <a:srgbClr val="404040"/>
                </a:solidFill>
                <a:latin typeface="Calibri"/>
                <a:cs typeface="Calibri"/>
              </a:rPr>
              <a:t>Cloud</a:t>
            </a:r>
            <a:r>
              <a:rPr sz="2000" spc="-30" dirty="0">
                <a:solidFill>
                  <a:srgbClr val="404040"/>
                </a:solidFill>
                <a:latin typeface="Calibri"/>
                <a:cs typeface="Calibri"/>
              </a:rPr>
              <a:t> </a:t>
            </a:r>
            <a:r>
              <a:rPr sz="2000" spc="-10" dirty="0">
                <a:solidFill>
                  <a:srgbClr val="404040"/>
                </a:solidFill>
                <a:latin typeface="Calibri"/>
                <a:cs typeface="Calibri"/>
              </a:rPr>
              <a:t>services</a:t>
            </a:r>
            <a:endParaRPr sz="2000">
              <a:latin typeface="Calibri"/>
              <a:cs typeface="Calibri"/>
            </a:endParaRPr>
          </a:p>
          <a:p>
            <a:pPr marL="103505" indent="-101600">
              <a:lnSpc>
                <a:spcPct val="100000"/>
              </a:lnSpc>
              <a:spcBef>
                <a:spcPts val="925"/>
              </a:spcBef>
              <a:buClr>
                <a:srgbClr val="E38312"/>
              </a:buClr>
              <a:buSzPct val="77500"/>
              <a:buFont typeface="Tahoma"/>
              <a:buChar char="•"/>
              <a:tabLst>
                <a:tab pos="103505" algn="l"/>
              </a:tabLst>
            </a:pPr>
            <a:r>
              <a:rPr sz="2000" dirty="0">
                <a:solidFill>
                  <a:srgbClr val="404040"/>
                </a:solidFill>
                <a:latin typeface="Calibri"/>
                <a:cs typeface="Calibri"/>
              </a:rPr>
              <a:t>Skilled</a:t>
            </a:r>
            <a:r>
              <a:rPr sz="2000" spc="-65" dirty="0">
                <a:solidFill>
                  <a:srgbClr val="404040"/>
                </a:solidFill>
                <a:latin typeface="Calibri"/>
                <a:cs typeface="Calibri"/>
              </a:rPr>
              <a:t> </a:t>
            </a:r>
            <a:r>
              <a:rPr sz="2000" spc="-10" dirty="0">
                <a:solidFill>
                  <a:srgbClr val="404040"/>
                </a:solidFill>
                <a:latin typeface="Calibri"/>
                <a:cs typeface="Calibri"/>
              </a:rPr>
              <a:t>professionals</a:t>
            </a:r>
            <a:endParaRPr sz="2000">
              <a:latin typeface="Calibri"/>
              <a:cs typeface="Calibri"/>
            </a:endParaRPr>
          </a:p>
          <a:p>
            <a:pPr marL="104139">
              <a:lnSpc>
                <a:spcPct val="100000"/>
              </a:lnSpc>
              <a:spcBef>
                <a:spcPts val="925"/>
              </a:spcBef>
            </a:pPr>
            <a:r>
              <a:rPr sz="2000" b="1" spc="-10" dirty="0">
                <a:solidFill>
                  <a:srgbClr val="404040"/>
                </a:solidFill>
                <a:latin typeface="Calibri"/>
                <a:cs typeface="Calibri"/>
              </a:rPr>
              <a:t>Solution</a:t>
            </a:r>
            <a:endParaRPr sz="2000">
              <a:latin typeface="Calibri"/>
              <a:cs typeface="Calibri"/>
            </a:endParaRPr>
          </a:p>
          <a:p>
            <a:pPr marL="104139" marR="5080">
              <a:lnSpc>
                <a:spcPct val="80000"/>
              </a:lnSpc>
              <a:spcBef>
                <a:spcPts val="1390"/>
              </a:spcBef>
            </a:pPr>
            <a:r>
              <a:rPr sz="2000" dirty="0">
                <a:solidFill>
                  <a:srgbClr val="404040"/>
                </a:solidFill>
                <a:latin typeface="Calibri"/>
                <a:cs typeface="Calibri"/>
              </a:rPr>
              <a:t>Cloud</a:t>
            </a:r>
            <a:r>
              <a:rPr sz="2000" spc="-55" dirty="0">
                <a:solidFill>
                  <a:srgbClr val="404040"/>
                </a:solidFill>
                <a:latin typeface="Calibri"/>
                <a:cs typeface="Calibri"/>
              </a:rPr>
              <a:t> </a:t>
            </a:r>
            <a:r>
              <a:rPr sz="2000" dirty="0">
                <a:solidFill>
                  <a:srgbClr val="404040"/>
                </a:solidFill>
                <a:latin typeface="Calibri"/>
                <a:cs typeface="Calibri"/>
              </a:rPr>
              <a:t>computing</a:t>
            </a:r>
            <a:r>
              <a:rPr sz="2000" spc="-65" dirty="0">
                <a:solidFill>
                  <a:srgbClr val="404040"/>
                </a:solidFill>
                <a:latin typeface="Calibri"/>
                <a:cs typeface="Calibri"/>
              </a:rPr>
              <a:t> </a:t>
            </a:r>
            <a:r>
              <a:rPr sz="2000" spc="-10" dirty="0">
                <a:solidFill>
                  <a:srgbClr val="404040"/>
                </a:solidFill>
                <a:latin typeface="Calibri"/>
                <a:cs typeface="Calibri"/>
              </a:rPr>
              <a:t>offers</a:t>
            </a:r>
            <a:r>
              <a:rPr sz="2000" spc="-30" dirty="0">
                <a:solidFill>
                  <a:srgbClr val="404040"/>
                </a:solidFill>
                <a:latin typeface="Calibri"/>
                <a:cs typeface="Calibri"/>
              </a:rPr>
              <a:t> </a:t>
            </a:r>
            <a:r>
              <a:rPr sz="2000" dirty="0">
                <a:solidFill>
                  <a:srgbClr val="404040"/>
                </a:solidFill>
                <a:latin typeface="Calibri"/>
                <a:cs typeface="Calibri"/>
              </a:rPr>
              <a:t>scalable,</a:t>
            </a:r>
            <a:r>
              <a:rPr sz="2000" spc="-35" dirty="0">
                <a:solidFill>
                  <a:srgbClr val="404040"/>
                </a:solidFill>
                <a:latin typeface="Calibri"/>
                <a:cs typeface="Calibri"/>
              </a:rPr>
              <a:t> </a:t>
            </a:r>
            <a:r>
              <a:rPr sz="2000" spc="-30" dirty="0">
                <a:solidFill>
                  <a:srgbClr val="404040"/>
                </a:solidFill>
                <a:latin typeface="Calibri"/>
                <a:cs typeface="Calibri"/>
              </a:rPr>
              <a:t>pay-</a:t>
            </a:r>
            <a:r>
              <a:rPr sz="2000" spc="-20" dirty="0">
                <a:solidFill>
                  <a:srgbClr val="404040"/>
                </a:solidFill>
                <a:latin typeface="Calibri"/>
                <a:cs typeface="Calibri"/>
              </a:rPr>
              <a:t>as-</a:t>
            </a:r>
            <a:r>
              <a:rPr sz="2000" spc="-10" dirty="0">
                <a:solidFill>
                  <a:srgbClr val="404040"/>
                </a:solidFill>
                <a:latin typeface="Calibri"/>
                <a:cs typeface="Calibri"/>
              </a:rPr>
              <a:t>you-</a:t>
            </a:r>
            <a:r>
              <a:rPr sz="2000" dirty="0">
                <a:solidFill>
                  <a:srgbClr val="404040"/>
                </a:solidFill>
                <a:latin typeface="Calibri"/>
                <a:cs typeface="Calibri"/>
              </a:rPr>
              <a:t>go</a:t>
            </a:r>
            <a:r>
              <a:rPr sz="2000" spc="-85" dirty="0">
                <a:solidFill>
                  <a:srgbClr val="404040"/>
                </a:solidFill>
                <a:latin typeface="Calibri"/>
                <a:cs typeface="Calibri"/>
              </a:rPr>
              <a:t> </a:t>
            </a:r>
            <a:r>
              <a:rPr sz="2000" dirty="0">
                <a:solidFill>
                  <a:srgbClr val="404040"/>
                </a:solidFill>
                <a:latin typeface="Calibri"/>
                <a:cs typeface="Calibri"/>
              </a:rPr>
              <a:t>resources,</a:t>
            </a:r>
            <a:r>
              <a:rPr sz="2000" spc="-40" dirty="0">
                <a:solidFill>
                  <a:srgbClr val="404040"/>
                </a:solidFill>
                <a:latin typeface="Calibri"/>
                <a:cs typeface="Calibri"/>
              </a:rPr>
              <a:t> </a:t>
            </a:r>
            <a:r>
              <a:rPr sz="2000" dirty="0">
                <a:solidFill>
                  <a:srgbClr val="404040"/>
                </a:solidFill>
                <a:latin typeface="Calibri"/>
                <a:cs typeface="Calibri"/>
              </a:rPr>
              <a:t>reducing</a:t>
            </a:r>
            <a:r>
              <a:rPr sz="2000" spc="-60" dirty="0">
                <a:solidFill>
                  <a:srgbClr val="404040"/>
                </a:solidFill>
                <a:latin typeface="Calibri"/>
                <a:cs typeface="Calibri"/>
              </a:rPr>
              <a:t> </a:t>
            </a:r>
            <a:r>
              <a:rPr sz="2000" spc="-25" dirty="0">
                <a:solidFill>
                  <a:srgbClr val="404040"/>
                </a:solidFill>
                <a:latin typeface="Calibri"/>
                <a:cs typeface="Calibri"/>
              </a:rPr>
              <a:t>the </a:t>
            </a:r>
            <a:r>
              <a:rPr sz="2000" dirty="0">
                <a:solidFill>
                  <a:srgbClr val="404040"/>
                </a:solidFill>
                <a:latin typeface="Calibri"/>
                <a:cs typeface="Calibri"/>
              </a:rPr>
              <a:t>need</a:t>
            </a:r>
            <a:r>
              <a:rPr sz="2000" spc="-60" dirty="0">
                <a:solidFill>
                  <a:srgbClr val="404040"/>
                </a:solidFill>
                <a:latin typeface="Calibri"/>
                <a:cs typeface="Calibri"/>
              </a:rPr>
              <a:t> </a:t>
            </a:r>
            <a:r>
              <a:rPr sz="2000" dirty="0">
                <a:solidFill>
                  <a:srgbClr val="404040"/>
                </a:solidFill>
                <a:latin typeface="Calibri"/>
                <a:cs typeface="Calibri"/>
              </a:rPr>
              <a:t>for</a:t>
            </a:r>
            <a:r>
              <a:rPr sz="2000" spc="-60" dirty="0">
                <a:solidFill>
                  <a:srgbClr val="404040"/>
                </a:solidFill>
                <a:latin typeface="Calibri"/>
                <a:cs typeface="Calibri"/>
              </a:rPr>
              <a:t> </a:t>
            </a:r>
            <a:r>
              <a:rPr sz="2000" dirty="0">
                <a:solidFill>
                  <a:srgbClr val="404040"/>
                </a:solidFill>
                <a:latin typeface="Calibri"/>
                <a:cs typeface="Calibri"/>
              </a:rPr>
              <a:t>heavy</a:t>
            </a:r>
            <a:r>
              <a:rPr sz="2000" spc="-55" dirty="0">
                <a:solidFill>
                  <a:srgbClr val="404040"/>
                </a:solidFill>
                <a:latin typeface="Calibri"/>
                <a:cs typeface="Calibri"/>
              </a:rPr>
              <a:t> </a:t>
            </a:r>
            <a:r>
              <a:rPr sz="2000" dirty="0">
                <a:solidFill>
                  <a:srgbClr val="404040"/>
                </a:solidFill>
                <a:latin typeface="Calibri"/>
                <a:cs typeface="Calibri"/>
              </a:rPr>
              <a:t>upfront</a:t>
            </a:r>
            <a:r>
              <a:rPr sz="2000" spc="-70" dirty="0">
                <a:solidFill>
                  <a:srgbClr val="404040"/>
                </a:solidFill>
                <a:latin typeface="Calibri"/>
                <a:cs typeface="Calibri"/>
              </a:rPr>
              <a:t> </a:t>
            </a:r>
            <a:r>
              <a:rPr sz="2000" spc="-10" dirty="0">
                <a:solidFill>
                  <a:srgbClr val="404040"/>
                </a:solidFill>
                <a:latin typeface="Calibri"/>
                <a:cs typeface="Calibri"/>
              </a:rPr>
              <a:t>investment.</a:t>
            </a:r>
            <a:endParaRPr sz="20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977900" y="2821177"/>
          <a:ext cx="7543800" cy="2923540"/>
        </p:xfrm>
        <a:graphic>
          <a:graphicData uri="http://schemas.openxmlformats.org/drawingml/2006/table">
            <a:tbl>
              <a:tblPr firstRow="1" bandRow="1">
                <a:tableStyleId>{2D5ABB26-0587-4C30-8999-92F81FD0307C}</a:tableStyleId>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365760">
                <a:tc>
                  <a:txBody>
                    <a:bodyPr/>
                    <a:lstStyle/>
                    <a:p>
                      <a:pPr marL="91440">
                        <a:lnSpc>
                          <a:spcPct val="100000"/>
                        </a:lnSpc>
                        <a:spcBef>
                          <a:spcPts val="244"/>
                        </a:spcBef>
                      </a:pPr>
                      <a:r>
                        <a:rPr sz="1800" b="1" dirty="0">
                          <a:latin typeface="Calibri"/>
                          <a:cs typeface="Calibri"/>
                        </a:rPr>
                        <a:t>Defining</a:t>
                      </a:r>
                      <a:r>
                        <a:rPr sz="1800" b="1" spc="-40" dirty="0">
                          <a:latin typeface="Calibri"/>
                          <a:cs typeface="Calibri"/>
                        </a:rPr>
                        <a:t> </a:t>
                      </a:r>
                      <a:r>
                        <a:rPr sz="1800" b="1" spc="-10" dirty="0">
                          <a:latin typeface="Calibri"/>
                          <a:cs typeface="Calibri"/>
                        </a:rPr>
                        <a:t>Characteristics</a:t>
                      </a:r>
                      <a:r>
                        <a:rPr sz="1800" b="1" spc="-35" dirty="0">
                          <a:latin typeface="Calibri"/>
                          <a:cs typeface="Calibri"/>
                        </a:rPr>
                        <a:t> </a:t>
                      </a:r>
                      <a:r>
                        <a:rPr sz="1800" b="1" spc="-20" dirty="0">
                          <a:latin typeface="Calibri"/>
                          <a:cs typeface="Calibri"/>
                        </a:rPr>
                        <a:t>(3Vs)</a:t>
                      </a:r>
                      <a:endParaRPr sz="1800">
                        <a:latin typeface="Calibri"/>
                        <a:cs typeface="Calibri"/>
                      </a:endParaRPr>
                    </a:p>
                  </a:txBody>
                  <a:tcPr marL="0" marR="0" marT="31114" marB="0">
                    <a:solidFill>
                      <a:srgbClr val="DFE3DB"/>
                    </a:solidFill>
                  </a:tcPr>
                </a:tc>
                <a:tc>
                  <a:txBody>
                    <a:bodyPr/>
                    <a:lstStyle/>
                    <a:p>
                      <a:pPr marL="92075">
                        <a:lnSpc>
                          <a:spcPct val="100000"/>
                        </a:lnSpc>
                        <a:spcBef>
                          <a:spcPts val="244"/>
                        </a:spcBef>
                      </a:pPr>
                      <a:r>
                        <a:rPr sz="1800" b="1" dirty="0">
                          <a:latin typeface="Calibri"/>
                          <a:cs typeface="Calibri"/>
                        </a:rPr>
                        <a:t>Supporting</a:t>
                      </a:r>
                      <a:r>
                        <a:rPr sz="1800" b="1" spc="-30" dirty="0">
                          <a:latin typeface="Calibri"/>
                          <a:cs typeface="Calibri"/>
                        </a:rPr>
                        <a:t> </a:t>
                      </a:r>
                      <a:r>
                        <a:rPr sz="1800" b="1" spc="-10" dirty="0">
                          <a:latin typeface="Calibri"/>
                          <a:cs typeface="Calibri"/>
                        </a:rPr>
                        <a:t>Characteristics</a:t>
                      </a:r>
                      <a:endParaRPr sz="1800">
                        <a:latin typeface="Calibri"/>
                        <a:cs typeface="Calibri"/>
                      </a:endParaRPr>
                    </a:p>
                  </a:txBody>
                  <a:tcPr marL="0" marR="0" marT="31114" marB="0">
                    <a:solidFill>
                      <a:srgbClr val="DFE3DB"/>
                    </a:solidFill>
                  </a:tcPr>
                </a:tc>
                <a:extLst>
                  <a:ext uri="{0D108BD9-81ED-4DB2-BD59-A6C34878D82A}">
                    <a16:rowId xmlns:a16="http://schemas.microsoft.com/office/drawing/2014/main" val="10000"/>
                  </a:ext>
                </a:extLst>
              </a:tr>
              <a:tr h="384810">
                <a:tc>
                  <a:txBody>
                    <a:bodyPr/>
                    <a:lstStyle/>
                    <a:p>
                      <a:pPr marL="91440">
                        <a:lnSpc>
                          <a:spcPct val="100000"/>
                        </a:lnSpc>
                        <a:spcBef>
                          <a:spcPts val="245"/>
                        </a:spcBef>
                      </a:pPr>
                      <a:r>
                        <a:rPr sz="1800" spc="-10" dirty="0">
                          <a:latin typeface="Calibri"/>
                          <a:cs typeface="Calibri"/>
                        </a:rPr>
                        <a:t>Volume</a:t>
                      </a:r>
                      <a:endParaRPr sz="1800">
                        <a:latin typeface="Calibri"/>
                        <a:cs typeface="Calibri"/>
                      </a:endParaRPr>
                    </a:p>
                  </a:txBody>
                  <a:tcPr marL="0" marR="0" marT="31115" marB="0">
                    <a:solidFill>
                      <a:srgbClr val="ACC7DD"/>
                    </a:solidFill>
                  </a:tcPr>
                </a:tc>
                <a:tc>
                  <a:txBody>
                    <a:bodyPr/>
                    <a:lstStyle/>
                    <a:p>
                      <a:pPr marL="92075">
                        <a:lnSpc>
                          <a:spcPct val="100000"/>
                        </a:lnSpc>
                        <a:spcBef>
                          <a:spcPts val="245"/>
                        </a:spcBef>
                      </a:pPr>
                      <a:r>
                        <a:rPr sz="1800" spc="-10" dirty="0">
                          <a:latin typeface="Calibri"/>
                          <a:cs typeface="Calibri"/>
                        </a:rPr>
                        <a:t>Veracity</a:t>
                      </a:r>
                      <a:endParaRPr sz="1800">
                        <a:latin typeface="Calibri"/>
                        <a:cs typeface="Calibri"/>
                      </a:endParaRPr>
                    </a:p>
                  </a:txBody>
                  <a:tcPr marL="0" marR="0" marT="31115" marB="0">
                    <a:solidFill>
                      <a:srgbClr val="7DA9C9"/>
                    </a:solidFill>
                  </a:tcPr>
                </a:tc>
                <a:extLst>
                  <a:ext uri="{0D108BD9-81ED-4DB2-BD59-A6C34878D82A}">
                    <a16:rowId xmlns:a16="http://schemas.microsoft.com/office/drawing/2014/main" val="10001"/>
                  </a:ext>
                </a:extLst>
              </a:tr>
              <a:tr h="365125">
                <a:tc>
                  <a:txBody>
                    <a:bodyPr/>
                    <a:lstStyle/>
                    <a:p>
                      <a:pPr marL="91440">
                        <a:lnSpc>
                          <a:spcPct val="100000"/>
                        </a:lnSpc>
                        <a:spcBef>
                          <a:spcPts val="90"/>
                        </a:spcBef>
                      </a:pPr>
                      <a:r>
                        <a:rPr sz="1800" spc="-10" dirty="0">
                          <a:latin typeface="Calibri"/>
                          <a:cs typeface="Calibri"/>
                        </a:rPr>
                        <a:t>Velocity</a:t>
                      </a:r>
                      <a:endParaRPr sz="1800">
                        <a:latin typeface="Calibri"/>
                        <a:cs typeface="Calibri"/>
                      </a:endParaRPr>
                    </a:p>
                  </a:txBody>
                  <a:tcPr marL="0" marR="0" marT="11430" marB="0">
                    <a:solidFill>
                      <a:srgbClr val="ACC7DD"/>
                    </a:solidFill>
                  </a:tcPr>
                </a:tc>
                <a:tc>
                  <a:txBody>
                    <a:bodyPr/>
                    <a:lstStyle/>
                    <a:p>
                      <a:pPr marL="92075">
                        <a:lnSpc>
                          <a:spcPct val="100000"/>
                        </a:lnSpc>
                        <a:spcBef>
                          <a:spcPts val="90"/>
                        </a:spcBef>
                      </a:pPr>
                      <a:r>
                        <a:rPr sz="1800" spc="-10" dirty="0">
                          <a:latin typeface="Calibri"/>
                          <a:cs typeface="Calibri"/>
                        </a:rPr>
                        <a:t>Value</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2"/>
                  </a:ext>
                </a:extLst>
              </a:tr>
              <a:tr h="365760">
                <a:tc>
                  <a:txBody>
                    <a:bodyPr/>
                    <a:lstStyle/>
                    <a:p>
                      <a:pPr marL="91440">
                        <a:lnSpc>
                          <a:spcPct val="100000"/>
                        </a:lnSpc>
                        <a:spcBef>
                          <a:spcPts val="90"/>
                        </a:spcBef>
                      </a:pPr>
                      <a:r>
                        <a:rPr sz="1800" spc="-10" dirty="0">
                          <a:latin typeface="Calibri"/>
                          <a:cs typeface="Calibri"/>
                        </a:rPr>
                        <a:t>Variety</a:t>
                      </a:r>
                      <a:endParaRPr sz="1800">
                        <a:latin typeface="Calibri"/>
                        <a:cs typeface="Calibri"/>
                      </a:endParaRPr>
                    </a:p>
                  </a:txBody>
                  <a:tcPr marL="0" marR="0" marT="11430" marB="0">
                    <a:solidFill>
                      <a:srgbClr val="ACC7DD"/>
                    </a:solidFill>
                  </a:tcPr>
                </a:tc>
                <a:tc>
                  <a:txBody>
                    <a:bodyPr/>
                    <a:lstStyle/>
                    <a:p>
                      <a:pPr marL="92075">
                        <a:lnSpc>
                          <a:spcPct val="100000"/>
                        </a:lnSpc>
                        <a:spcBef>
                          <a:spcPts val="90"/>
                        </a:spcBef>
                      </a:pPr>
                      <a:r>
                        <a:rPr sz="1800" spc="-10" dirty="0">
                          <a:latin typeface="Calibri"/>
                          <a:cs typeface="Calibri"/>
                        </a:rPr>
                        <a:t>Variability</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3"/>
                  </a:ext>
                </a:extLst>
              </a:tr>
              <a:tr h="365760">
                <a:tc>
                  <a:txBody>
                    <a:bodyPr/>
                    <a:lstStyle/>
                    <a:p>
                      <a:pPr>
                        <a:lnSpc>
                          <a:spcPct val="100000"/>
                        </a:lnSpc>
                      </a:pPr>
                      <a:endParaRPr sz="1800">
                        <a:latin typeface="Times New Roman"/>
                        <a:cs typeface="Times New Roman"/>
                      </a:endParaRPr>
                    </a:p>
                  </a:txBody>
                  <a:tcPr marL="0" marR="0" marT="0" marB="0">
                    <a:solidFill>
                      <a:srgbClr val="ACC7DD"/>
                    </a:solidFill>
                  </a:tcPr>
                </a:tc>
                <a:tc>
                  <a:txBody>
                    <a:bodyPr/>
                    <a:lstStyle/>
                    <a:p>
                      <a:pPr marL="92075">
                        <a:lnSpc>
                          <a:spcPct val="100000"/>
                        </a:lnSpc>
                        <a:spcBef>
                          <a:spcPts val="90"/>
                        </a:spcBef>
                      </a:pPr>
                      <a:r>
                        <a:rPr sz="1800" spc="-10" dirty="0">
                          <a:latin typeface="Calibri"/>
                          <a:cs typeface="Calibri"/>
                        </a:rPr>
                        <a:t>Validity</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4"/>
                  </a:ext>
                </a:extLst>
              </a:tr>
              <a:tr h="365760">
                <a:tc>
                  <a:txBody>
                    <a:bodyPr/>
                    <a:lstStyle/>
                    <a:p>
                      <a:pPr>
                        <a:lnSpc>
                          <a:spcPct val="100000"/>
                        </a:lnSpc>
                      </a:pPr>
                      <a:endParaRPr sz="1800">
                        <a:latin typeface="Times New Roman"/>
                        <a:cs typeface="Times New Roman"/>
                      </a:endParaRPr>
                    </a:p>
                  </a:txBody>
                  <a:tcPr marL="0" marR="0" marT="0" marB="0">
                    <a:solidFill>
                      <a:srgbClr val="ACC7DD"/>
                    </a:solidFill>
                  </a:tcPr>
                </a:tc>
                <a:tc>
                  <a:txBody>
                    <a:bodyPr/>
                    <a:lstStyle/>
                    <a:p>
                      <a:pPr marL="92075">
                        <a:lnSpc>
                          <a:spcPct val="100000"/>
                        </a:lnSpc>
                        <a:spcBef>
                          <a:spcPts val="90"/>
                        </a:spcBef>
                      </a:pPr>
                      <a:r>
                        <a:rPr sz="1800" spc="-10" dirty="0">
                          <a:latin typeface="Calibri"/>
                          <a:cs typeface="Calibri"/>
                        </a:rPr>
                        <a:t>Visualization</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5"/>
                  </a:ext>
                </a:extLst>
              </a:tr>
              <a:tr h="365125">
                <a:tc>
                  <a:txBody>
                    <a:bodyPr/>
                    <a:lstStyle/>
                    <a:p>
                      <a:pPr>
                        <a:lnSpc>
                          <a:spcPct val="100000"/>
                        </a:lnSpc>
                      </a:pPr>
                      <a:endParaRPr sz="1800">
                        <a:latin typeface="Times New Roman"/>
                        <a:cs typeface="Times New Roman"/>
                      </a:endParaRPr>
                    </a:p>
                  </a:txBody>
                  <a:tcPr marL="0" marR="0" marT="0" marB="0">
                    <a:solidFill>
                      <a:srgbClr val="ACC7DD"/>
                    </a:solidFill>
                  </a:tcPr>
                </a:tc>
                <a:tc>
                  <a:txBody>
                    <a:bodyPr/>
                    <a:lstStyle/>
                    <a:p>
                      <a:pPr marL="92075">
                        <a:lnSpc>
                          <a:spcPct val="100000"/>
                        </a:lnSpc>
                        <a:spcBef>
                          <a:spcPts val="90"/>
                        </a:spcBef>
                      </a:pPr>
                      <a:r>
                        <a:rPr sz="1800" spc="-10" dirty="0">
                          <a:latin typeface="Calibri"/>
                          <a:cs typeface="Calibri"/>
                        </a:rPr>
                        <a:t>Volatility</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6"/>
                  </a:ext>
                </a:extLst>
              </a:tr>
              <a:tr h="345440">
                <a:tc>
                  <a:txBody>
                    <a:bodyPr/>
                    <a:lstStyle/>
                    <a:p>
                      <a:pPr>
                        <a:lnSpc>
                          <a:spcPct val="100000"/>
                        </a:lnSpc>
                      </a:pPr>
                      <a:endParaRPr sz="1800">
                        <a:latin typeface="Times New Roman"/>
                        <a:cs typeface="Times New Roman"/>
                      </a:endParaRPr>
                    </a:p>
                  </a:txBody>
                  <a:tcPr marL="0" marR="0" marT="0" marB="0">
                    <a:solidFill>
                      <a:srgbClr val="ACC7DD"/>
                    </a:solidFill>
                  </a:tcPr>
                </a:tc>
                <a:tc>
                  <a:txBody>
                    <a:bodyPr/>
                    <a:lstStyle/>
                    <a:p>
                      <a:pPr marL="92075">
                        <a:lnSpc>
                          <a:spcPct val="100000"/>
                        </a:lnSpc>
                        <a:spcBef>
                          <a:spcPts val="90"/>
                        </a:spcBef>
                      </a:pPr>
                      <a:r>
                        <a:rPr sz="1800" spc="-10" dirty="0">
                          <a:latin typeface="Calibri"/>
                          <a:cs typeface="Calibri"/>
                        </a:rPr>
                        <a:t>Vulnerability</a:t>
                      </a:r>
                      <a:endParaRPr sz="1800">
                        <a:latin typeface="Calibri"/>
                        <a:cs typeface="Calibri"/>
                      </a:endParaRPr>
                    </a:p>
                  </a:txBody>
                  <a:tcPr marL="0" marR="0" marT="11430" marB="0">
                    <a:solidFill>
                      <a:srgbClr val="7DA9C9"/>
                    </a:solidFill>
                  </a:tcPr>
                </a:tc>
                <a:extLst>
                  <a:ext uri="{0D108BD9-81ED-4DB2-BD59-A6C34878D82A}">
                    <a16:rowId xmlns:a16="http://schemas.microsoft.com/office/drawing/2014/main" val="10007"/>
                  </a:ext>
                </a:extLst>
              </a:tr>
            </a:tbl>
          </a:graphicData>
        </a:graphic>
      </p:graphicFrame>
      <p:sp>
        <p:nvSpPr>
          <p:cNvPr id="3" name="object 3" descr="$PPTXTitle"/>
          <p:cNvSpPr txBox="1">
            <a:spLocks noGrp="1"/>
          </p:cNvSpPr>
          <p:nvPr>
            <p:ph type="title"/>
          </p:nvPr>
        </p:nvSpPr>
        <p:spPr>
          <a:xfrm>
            <a:off x="901090" y="371982"/>
            <a:ext cx="7244080" cy="635635"/>
          </a:xfrm>
          <a:prstGeom prst="rect">
            <a:avLst/>
          </a:prstGeom>
        </p:spPr>
        <p:txBody>
          <a:bodyPr vert="horz" wrap="square" lIns="0" tIns="13335" rIns="0" bIns="0" rtlCol="0">
            <a:spAutoFit/>
          </a:bodyPr>
          <a:lstStyle/>
          <a:p>
            <a:pPr marL="12700" marR="5080">
              <a:lnSpc>
                <a:spcPct val="100000"/>
              </a:lnSpc>
              <a:spcBef>
                <a:spcPts val="105"/>
              </a:spcBef>
            </a:pPr>
            <a:r>
              <a:rPr dirty="0">
                <a:solidFill>
                  <a:srgbClr val="000000"/>
                </a:solidFill>
              </a:rPr>
              <a:t>Other</a:t>
            </a:r>
            <a:r>
              <a:rPr spc="-35" dirty="0">
                <a:solidFill>
                  <a:srgbClr val="000000"/>
                </a:solidFill>
              </a:rPr>
              <a:t> </a:t>
            </a:r>
            <a:r>
              <a:rPr spc="-10" dirty="0">
                <a:solidFill>
                  <a:srgbClr val="000000"/>
                </a:solidFill>
              </a:rPr>
              <a:t>Characteristics</a:t>
            </a:r>
            <a:r>
              <a:rPr spc="-45" dirty="0">
                <a:solidFill>
                  <a:srgbClr val="000000"/>
                </a:solidFill>
              </a:rPr>
              <a:t> </a:t>
            </a:r>
            <a:r>
              <a:rPr dirty="0">
                <a:solidFill>
                  <a:srgbClr val="000000"/>
                </a:solidFill>
              </a:rPr>
              <a:t>of</a:t>
            </a:r>
            <a:r>
              <a:rPr spc="-30" dirty="0">
                <a:solidFill>
                  <a:srgbClr val="000000"/>
                </a:solidFill>
              </a:rPr>
              <a:t> </a:t>
            </a:r>
            <a:r>
              <a:rPr dirty="0">
                <a:solidFill>
                  <a:srgbClr val="000000"/>
                </a:solidFill>
              </a:rPr>
              <a:t>Data</a:t>
            </a:r>
            <a:r>
              <a:rPr spc="-25" dirty="0">
                <a:solidFill>
                  <a:srgbClr val="000000"/>
                </a:solidFill>
              </a:rPr>
              <a:t> </a:t>
            </a:r>
            <a:r>
              <a:rPr dirty="0">
                <a:solidFill>
                  <a:srgbClr val="000000"/>
                </a:solidFill>
              </a:rPr>
              <a:t>Which</a:t>
            </a:r>
            <a:r>
              <a:rPr spc="-40" dirty="0">
                <a:solidFill>
                  <a:srgbClr val="000000"/>
                </a:solidFill>
              </a:rPr>
              <a:t> </a:t>
            </a:r>
            <a:r>
              <a:rPr dirty="0">
                <a:solidFill>
                  <a:srgbClr val="000000"/>
                </a:solidFill>
              </a:rPr>
              <a:t>Are</a:t>
            </a:r>
            <a:r>
              <a:rPr spc="-30" dirty="0">
                <a:solidFill>
                  <a:srgbClr val="000000"/>
                </a:solidFill>
              </a:rPr>
              <a:t> </a:t>
            </a:r>
            <a:r>
              <a:rPr dirty="0">
                <a:solidFill>
                  <a:srgbClr val="000000"/>
                </a:solidFill>
              </a:rPr>
              <a:t>Not</a:t>
            </a:r>
            <a:r>
              <a:rPr spc="-40" dirty="0">
                <a:solidFill>
                  <a:srgbClr val="000000"/>
                </a:solidFill>
              </a:rPr>
              <a:t> </a:t>
            </a:r>
            <a:r>
              <a:rPr dirty="0">
                <a:solidFill>
                  <a:srgbClr val="000000"/>
                </a:solidFill>
              </a:rPr>
              <a:t>Definitional</a:t>
            </a:r>
            <a:r>
              <a:rPr spc="-55" dirty="0">
                <a:solidFill>
                  <a:srgbClr val="000000"/>
                </a:solidFill>
              </a:rPr>
              <a:t> </a:t>
            </a:r>
            <a:r>
              <a:rPr spc="-20" dirty="0">
                <a:solidFill>
                  <a:srgbClr val="000000"/>
                </a:solidFill>
              </a:rPr>
              <a:t>Traits</a:t>
            </a:r>
            <a:r>
              <a:rPr spc="-25" dirty="0">
                <a:solidFill>
                  <a:srgbClr val="000000"/>
                </a:solidFill>
              </a:rPr>
              <a:t> </a:t>
            </a:r>
            <a:r>
              <a:rPr dirty="0">
                <a:solidFill>
                  <a:srgbClr val="000000"/>
                </a:solidFill>
              </a:rPr>
              <a:t>of</a:t>
            </a:r>
            <a:r>
              <a:rPr spc="-35" dirty="0">
                <a:solidFill>
                  <a:srgbClr val="000000"/>
                </a:solidFill>
              </a:rPr>
              <a:t> </a:t>
            </a:r>
            <a:r>
              <a:rPr spc="-25" dirty="0">
                <a:solidFill>
                  <a:srgbClr val="000000"/>
                </a:solidFill>
              </a:rPr>
              <a:t>Big </a:t>
            </a:r>
            <a:r>
              <a:rPr spc="-20" dirty="0">
                <a:solidFill>
                  <a:srgbClr val="000000"/>
                </a:solidFill>
              </a:rPr>
              <a:t>Data</a:t>
            </a:r>
          </a:p>
        </p:txBody>
      </p:sp>
      <p:sp>
        <p:nvSpPr>
          <p:cNvPr id="4" name="object 4"/>
          <p:cNvSpPr txBox="1"/>
          <p:nvPr/>
        </p:nvSpPr>
        <p:spPr>
          <a:xfrm>
            <a:off x="901090" y="982802"/>
            <a:ext cx="7418070" cy="112331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a:cs typeface="Calibri"/>
              </a:rPr>
              <a:t>The</a:t>
            </a:r>
            <a:r>
              <a:rPr sz="1800" spc="-35" dirty="0">
                <a:latin typeface="Calibri"/>
                <a:cs typeface="Calibri"/>
              </a:rPr>
              <a:t> </a:t>
            </a:r>
            <a:r>
              <a:rPr sz="1800" dirty="0">
                <a:latin typeface="Calibri"/>
                <a:cs typeface="Calibri"/>
              </a:rPr>
              <a:t>three</a:t>
            </a:r>
            <a:r>
              <a:rPr sz="1800" spc="-20" dirty="0">
                <a:latin typeface="Calibri"/>
                <a:cs typeface="Calibri"/>
              </a:rPr>
              <a:t> </a:t>
            </a:r>
            <a:r>
              <a:rPr sz="1800" dirty="0">
                <a:latin typeface="Calibri"/>
                <a:cs typeface="Calibri"/>
              </a:rPr>
              <a:t>defining</a:t>
            </a:r>
            <a:r>
              <a:rPr sz="1800" spc="-20" dirty="0">
                <a:latin typeface="Calibri"/>
                <a:cs typeface="Calibri"/>
              </a:rPr>
              <a:t> </a:t>
            </a:r>
            <a:r>
              <a:rPr sz="1800" spc="-10" dirty="0">
                <a:latin typeface="Calibri"/>
                <a:cs typeface="Calibri"/>
              </a:rPr>
              <a:t>characteristics </a:t>
            </a:r>
            <a:r>
              <a:rPr sz="1800" dirty="0">
                <a:latin typeface="Calibri"/>
                <a:cs typeface="Calibri"/>
              </a:rPr>
              <a:t>of</a:t>
            </a:r>
            <a:r>
              <a:rPr sz="1800" spc="-20" dirty="0">
                <a:latin typeface="Calibri"/>
                <a:cs typeface="Calibri"/>
              </a:rPr>
              <a:t> </a:t>
            </a:r>
            <a:r>
              <a:rPr sz="1800" dirty="0">
                <a:latin typeface="Calibri"/>
                <a:cs typeface="Calibri"/>
              </a:rPr>
              <a:t>Big</a:t>
            </a:r>
            <a:r>
              <a:rPr sz="1800" spc="-45" dirty="0">
                <a:latin typeface="Calibri"/>
                <a:cs typeface="Calibri"/>
              </a:rPr>
              <a:t> </a:t>
            </a:r>
            <a:r>
              <a:rPr sz="1800" dirty="0">
                <a:latin typeface="Calibri"/>
                <a:cs typeface="Calibri"/>
              </a:rPr>
              <a:t>Data</a:t>
            </a:r>
            <a:r>
              <a:rPr sz="1800" spc="-20" dirty="0">
                <a:latin typeface="Calibri"/>
                <a:cs typeface="Calibri"/>
              </a:rPr>
              <a:t> </a:t>
            </a:r>
            <a:r>
              <a:rPr sz="1800" dirty="0">
                <a:latin typeface="Calibri"/>
                <a:cs typeface="Calibri"/>
              </a:rPr>
              <a:t>are</a:t>
            </a:r>
            <a:r>
              <a:rPr sz="1800" spc="-30" dirty="0">
                <a:latin typeface="Calibri"/>
                <a:cs typeface="Calibri"/>
              </a:rPr>
              <a:t> </a:t>
            </a:r>
            <a:r>
              <a:rPr sz="1800" b="1" spc="-10" dirty="0">
                <a:latin typeface="Calibri"/>
                <a:cs typeface="Calibri"/>
              </a:rPr>
              <a:t>Volume</a:t>
            </a:r>
            <a:r>
              <a:rPr sz="1800" spc="-10" dirty="0">
                <a:latin typeface="Calibri"/>
                <a:cs typeface="Calibri"/>
              </a:rPr>
              <a:t>,</a:t>
            </a:r>
            <a:r>
              <a:rPr sz="1800" spc="-60" dirty="0">
                <a:latin typeface="Calibri"/>
                <a:cs typeface="Calibri"/>
              </a:rPr>
              <a:t> </a:t>
            </a:r>
            <a:r>
              <a:rPr sz="1800" b="1" spc="-10" dirty="0">
                <a:latin typeface="Calibri"/>
                <a:cs typeface="Calibri"/>
              </a:rPr>
              <a:t>Velocity</a:t>
            </a:r>
            <a:r>
              <a:rPr sz="1800" spc="-10" dirty="0">
                <a:latin typeface="Calibri"/>
                <a:cs typeface="Calibri"/>
              </a:rPr>
              <a:t>,</a:t>
            </a:r>
            <a:r>
              <a:rPr sz="1800" spc="-60" dirty="0">
                <a:latin typeface="Calibri"/>
                <a:cs typeface="Calibri"/>
              </a:rPr>
              <a:t> </a:t>
            </a:r>
            <a:r>
              <a:rPr sz="1800" dirty="0">
                <a:latin typeface="Calibri"/>
                <a:cs typeface="Calibri"/>
              </a:rPr>
              <a:t>and</a:t>
            </a:r>
            <a:r>
              <a:rPr sz="1800" spc="-30" dirty="0">
                <a:latin typeface="Calibri"/>
                <a:cs typeface="Calibri"/>
              </a:rPr>
              <a:t> </a:t>
            </a:r>
            <a:r>
              <a:rPr sz="1800" b="1" spc="-10" dirty="0">
                <a:latin typeface="Calibri"/>
                <a:cs typeface="Calibri"/>
              </a:rPr>
              <a:t>Variety</a:t>
            </a:r>
            <a:r>
              <a:rPr sz="1800" spc="-10" dirty="0">
                <a:latin typeface="Calibri"/>
                <a:cs typeface="Calibri"/>
              </a:rPr>
              <a:t>. </a:t>
            </a:r>
            <a:r>
              <a:rPr sz="1800" spc="-25" dirty="0">
                <a:latin typeface="Calibri"/>
                <a:cs typeface="Calibri"/>
              </a:rPr>
              <a:t>However,</a:t>
            </a:r>
            <a:r>
              <a:rPr sz="1800" spc="-55" dirty="0">
                <a:latin typeface="Calibri"/>
                <a:cs typeface="Calibri"/>
              </a:rPr>
              <a:t> </a:t>
            </a:r>
            <a:r>
              <a:rPr sz="1800" dirty="0">
                <a:latin typeface="Calibri"/>
                <a:cs typeface="Calibri"/>
              </a:rPr>
              <a:t>several</a:t>
            </a:r>
            <a:r>
              <a:rPr sz="1800" spc="-75" dirty="0">
                <a:latin typeface="Calibri"/>
                <a:cs typeface="Calibri"/>
              </a:rPr>
              <a:t> </a:t>
            </a:r>
            <a:r>
              <a:rPr sz="1800" dirty="0">
                <a:latin typeface="Calibri"/>
                <a:cs typeface="Calibri"/>
              </a:rPr>
              <a:t>additional</a:t>
            </a:r>
            <a:r>
              <a:rPr sz="1800" spc="-45" dirty="0">
                <a:latin typeface="Calibri"/>
                <a:cs typeface="Calibri"/>
              </a:rPr>
              <a:t> </a:t>
            </a:r>
            <a:r>
              <a:rPr sz="1800" spc="-10" dirty="0">
                <a:latin typeface="Calibri"/>
                <a:cs typeface="Calibri"/>
              </a:rPr>
              <a:t>characteristics</a:t>
            </a:r>
            <a:r>
              <a:rPr sz="1800" spc="-45" dirty="0">
                <a:latin typeface="Calibri"/>
                <a:cs typeface="Calibri"/>
              </a:rPr>
              <a:t> </a:t>
            </a:r>
            <a:r>
              <a:rPr sz="1800" dirty="0">
                <a:latin typeface="Calibri"/>
                <a:cs typeface="Calibri"/>
              </a:rPr>
              <a:t>are</a:t>
            </a:r>
            <a:r>
              <a:rPr sz="1800" spc="-50" dirty="0">
                <a:latin typeface="Calibri"/>
                <a:cs typeface="Calibri"/>
              </a:rPr>
              <a:t> </a:t>
            </a:r>
            <a:r>
              <a:rPr sz="1800" dirty="0">
                <a:latin typeface="Calibri"/>
                <a:cs typeface="Calibri"/>
              </a:rPr>
              <a:t>equally</a:t>
            </a:r>
            <a:r>
              <a:rPr sz="1800" spc="-55" dirty="0">
                <a:latin typeface="Calibri"/>
                <a:cs typeface="Calibri"/>
              </a:rPr>
              <a:t> </a:t>
            </a:r>
            <a:r>
              <a:rPr sz="1800" dirty="0">
                <a:latin typeface="Calibri"/>
                <a:cs typeface="Calibri"/>
              </a:rPr>
              <a:t>important</a:t>
            </a:r>
            <a:r>
              <a:rPr sz="1800" spc="-60" dirty="0">
                <a:latin typeface="Calibri"/>
                <a:cs typeface="Calibri"/>
              </a:rPr>
              <a:t> </a:t>
            </a:r>
            <a:r>
              <a:rPr sz="1800" dirty="0">
                <a:latin typeface="Calibri"/>
                <a:cs typeface="Calibri"/>
              </a:rPr>
              <a:t>because</a:t>
            </a:r>
            <a:r>
              <a:rPr sz="1800" spc="-65" dirty="0">
                <a:latin typeface="Calibri"/>
                <a:cs typeface="Calibri"/>
              </a:rPr>
              <a:t> </a:t>
            </a:r>
            <a:r>
              <a:rPr sz="1800" spc="-20" dirty="0">
                <a:latin typeface="Calibri"/>
                <a:cs typeface="Calibri"/>
              </a:rPr>
              <a:t>they </a:t>
            </a:r>
            <a:r>
              <a:rPr sz="1800" dirty="0">
                <a:latin typeface="Calibri"/>
                <a:cs typeface="Calibri"/>
              </a:rPr>
              <a:t>determine</a:t>
            </a:r>
            <a:r>
              <a:rPr sz="1800" spc="-45" dirty="0">
                <a:latin typeface="Calibri"/>
                <a:cs typeface="Calibri"/>
              </a:rPr>
              <a:t> </a:t>
            </a:r>
            <a:r>
              <a:rPr sz="1800" dirty="0">
                <a:latin typeface="Calibri"/>
                <a:cs typeface="Calibri"/>
              </a:rPr>
              <a:t>the</a:t>
            </a:r>
            <a:r>
              <a:rPr sz="1800" spc="-65" dirty="0">
                <a:latin typeface="Calibri"/>
                <a:cs typeface="Calibri"/>
              </a:rPr>
              <a:t> </a:t>
            </a:r>
            <a:r>
              <a:rPr sz="1800" spc="-10" dirty="0">
                <a:latin typeface="Calibri"/>
                <a:cs typeface="Calibri"/>
              </a:rPr>
              <a:t>quality,</a:t>
            </a:r>
            <a:r>
              <a:rPr sz="1800" spc="-55" dirty="0">
                <a:latin typeface="Calibri"/>
                <a:cs typeface="Calibri"/>
              </a:rPr>
              <a:t> </a:t>
            </a:r>
            <a:r>
              <a:rPr sz="1800" dirty="0">
                <a:latin typeface="Calibri"/>
                <a:cs typeface="Calibri"/>
              </a:rPr>
              <a:t>usefulness,</a:t>
            </a:r>
            <a:r>
              <a:rPr sz="1800" spc="-80" dirty="0">
                <a:latin typeface="Calibri"/>
                <a:cs typeface="Calibri"/>
              </a:rPr>
              <a:t> </a:t>
            </a:r>
            <a:r>
              <a:rPr sz="1800" spc="-10" dirty="0">
                <a:latin typeface="Calibri"/>
                <a:cs typeface="Calibri"/>
              </a:rPr>
              <a:t>security,</a:t>
            </a:r>
            <a:r>
              <a:rPr sz="1800" spc="-55" dirty="0">
                <a:latin typeface="Calibri"/>
                <a:cs typeface="Calibri"/>
              </a:rPr>
              <a:t> </a:t>
            </a:r>
            <a:r>
              <a:rPr sz="1800" dirty="0">
                <a:latin typeface="Calibri"/>
                <a:cs typeface="Calibri"/>
              </a:rPr>
              <a:t>and</a:t>
            </a:r>
            <a:r>
              <a:rPr sz="1800" spc="-65" dirty="0">
                <a:latin typeface="Calibri"/>
                <a:cs typeface="Calibri"/>
              </a:rPr>
              <a:t> </a:t>
            </a:r>
            <a:r>
              <a:rPr sz="1800" spc="-10" dirty="0">
                <a:latin typeface="Calibri"/>
                <a:cs typeface="Calibri"/>
              </a:rPr>
              <a:t>effectiveness</a:t>
            </a:r>
            <a:r>
              <a:rPr sz="1800" spc="-75" dirty="0">
                <a:latin typeface="Calibri"/>
                <a:cs typeface="Calibri"/>
              </a:rPr>
              <a:t> </a:t>
            </a:r>
            <a:r>
              <a:rPr sz="1800" dirty="0">
                <a:latin typeface="Calibri"/>
                <a:cs typeface="Calibri"/>
              </a:rPr>
              <a:t>of</a:t>
            </a:r>
            <a:r>
              <a:rPr sz="1800" spc="-70" dirty="0">
                <a:latin typeface="Calibri"/>
                <a:cs typeface="Calibri"/>
              </a:rPr>
              <a:t> </a:t>
            </a:r>
            <a:r>
              <a:rPr sz="1800" spc="-20" dirty="0">
                <a:latin typeface="Calibri"/>
                <a:cs typeface="Calibri"/>
              </a:rPr>
              <a:t>data </a:t>
            </a:r>
            <a:r>
              <a:rPr sz="1800" spc="-10" dirty="0">
                <a:latin typeface="Calibri"/>
                <a:cs typeface="Calibri"/>
              </a:rPr>
              <a:t>management.</a:t>
            </a:r>
            <a:endParaRPr sz="1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330200" y="265049"/>
          <a:ext cx="8534400" cy="5773420"/>
        </p:xfrm>
        <a:graphic>
          <a:graphicData uri="http://schemas.openxmlformats.org/drawingml/2006/table">
            <a:tbl>
              <a:tblPr firstRow="1" bandRow="1">
                <a:tableStyleId>{2D5ABB26-0587-4C30-8999-92F81FD0307C}</a:tableStyleId>
              </a:tblPr>
              <a:tblGrid>
                <a:gridCol w="8534400">
                  <a:extLst>
                    <a:ext uri="{9D8B030D-6E8A-4147-A177-3AD203B41FA5}">
                      <a16:colId xmlns:a16="http://schemas.microsoft.com/office/drawing/2014/main" val="20000"/>
                    </a:ext>
                  </a:extLst>
                </a:gridCol>
              </a:tblGrid>
              <a:tr h="852805">
                <a:tc>
                  <a:txBody>
                    <a:bodyPr/>
                    <a:lstStyle/>
                    <a:p>
                      <a:pPr marL="91440" marR="236220">
                        <a:lnSpc>
                          <a:spcPct val="100000"/>
                        </a:lnSpc>
                        <a:spcBef>
                          <a:spcPts val="200"/>
                        </a:spcBef>
                      </a:pPr>
                      <a:r>
                        <a:rPr sz="2500" b="1" dirty="0">
                          <a:solidFill>
                            <a:srgbClr val="E38312"/>
                          </a:solidFill>
                          <a:latin typeface="Calibri"/>
                          <a:cs typeface="Calibri"/>
                        </a:rPr>
                        <a:t>Other</a:t>
                      </a:r>
                      <a:r>
                        <a:rPr sz="2500" b="1" spc="-80" dirty="0">
                          <a:solidFill>
                            <a:srgbClr val="E38312"/>
                          </a:solidFill>
                          <a:latin typeface="Calibri"/>
                          <a:cs typeface="Calibri"/>
                        </a:rPr>
                        <a:t> </a:t>
                      </a:r>
                      <a:r>
                        <a:rPr sz="2500" b="1" spc="-10" dirty="0">
                          <a:solidFill>
                            <a:srgbClr val="E38312"/>
                          </a:solidFill>
                          <a:latin typeface="Calibri"/>
                          <a:cs typeface="Calibri"/>
                        </a:rPr>
                        <a:t>Characteristics</a:t>
                      </a:r>
                      <a:r>
                        <a:rPr sz="2500" b="1" spc="-50" dirty="0">
                          <a:solidFill>
                            <a:srgbClr val="E38312"/>
                          </a:solidFill>
                          <a:latin typeface="Calibri"/>
                          <a:cs typeface="Calibri"/>
                        </a:rPr>
                        <a:t> </a:t>
                      </a:r>
                      <a:r>
                        <a:rPr sz="2500" b="1" dirty="0">
                          <a:solidFill>
                            <a:srgbClr val="E38312"/>
                          </a:solidFill>
                          <a:latin typeface="Calibri"/>
                          <a:cs typeface="Calibri"/>
                        </a:rPr>
                        <a:t>of</a:t>
                      </a:r>
                      <a:r>
                        <a:rPr sz="2500" b="1" spc="-70" dirty="0">
                          <a:solidFill>
                            <a:srgbClr val="E38312"/>
                          </a:solidFill>
                          <a:latin typeface="Calibri"/>
                          <a:cs typeface="Calibri"/>
                        </a:rPr>
                        <a:t> </a:t>
                      </a:r>
                      <a:r>
                        <a:rPr sz="2500" b="1" dirty="0">
                          <a:solidFill>
                            <a:srgbClr val="E38312"/>
                          </a:solidFill>
                          <a:latin typeface="Calibri"/>
                          <a:cs typeface="Calibri"/>
                        </a:rPr>
                        <a:t>Data</a:t>
                      </a:r>
                      <a:r>
                        <a:rPr sz="2500" b="1" spc="-70" dirty="0">
                          <a:solidFill>
                            <a:srgbClr val="E38312"/>
                          </a:solidFill>
                          <a:latin typeface="Calibri"/>
                          <a:cs typeface="Calibri"/>
                        </a:rPr>
                        <a:t> </a:t>
                      </a:r>
                      <a:r>
                        <a:rPr sz="2500" b="1" dirty="0">
                          <a:solidFill>
                            <a:srgbClr val="E38312"/>
                          </a:solidFill>
                          <a:latin typeface="Calibri"/>
                          <a:cs typeface="Calibri"/>
                        </a:rPr>
                        <a:t>Which</a:t>
                      </a:r>
                      <a:r>
                        <a:rPr sz="2500" b="1" spc="-70" dirty="0">
                          <a:solidFill>
                            <a:srgbClr val="E38312"/>
                          </a:solidFill>
                          <a:latin typeface="Calibri"/>
                          <a:cs typeface="Calibri"/>
                        </a:rPr>
                        <a:t> </a:t>
                      </a:r>
                      <a:r>
                        <a:rPr sz="2500" b="1" dirty="0">
                          <a:solidFill>
                            <a:srgbClr val="E38312"/>
                          </a:solidFill>
                          <a:latin typeface="Calibri"/>
                          <a:cs typeface="Calibri"/>
                        </a:rPr>
                        <a:t>Are</a:t>
                      </a:r>
                      <a:r>
                        <a:rPr sz="2500" b="1" spc="-70" dirty="0">
                          <a:solidFill>
                            <a:srgbClr val="E38312"/>
                          </a:solidFill>
                          <a:latin typeface="Calibri"/>
                          <a:cs typeface="Calibri"/>
                        </a:rPr>
                        <a:t> </a:t>
                      </a:r>
                      <a:r>
                        <a:rPr sz="2500" b="1" dirty="0">
                          <a:solidFill>
                            <a:srgbClr val="E38312"/>
                          </a:solidFill>
                          <a:latin typeface="Calibri"/>
                          <a:cs typeface="Calibri"/>
                        </a:rPr>
                        <a:t>Not</a:t>
                      </a:r>
                      <a:r>
                        <a:rPr sz="2500" b="1" spc="-55" dirty="0">
                          <a:solidFill>
                            <a:srgbClr val="E38312"/>
                          </a:solidFill>
                          <a:latin typeface="Calibri"/>
                          <a:cs typeface="Calibri"/>
                        </a:rPr>
                        <a:t> </a:t>
                      </a:r>
                      <a:r>
                        <a:rPr sz="2500" b="1" spc="-10" dirty="0">
                          <a:solidFill>
                            <a:srgbClr val="E38312"/>
                          </a:solidFill>
                          <a:latin typeface="Calibri"/>
                          <a:cs typeface="Calibri"/>
                        </a:rPr>
                        <a:t>Definitional</a:t>
                      </a:r>
                      <a:r>
                        <a:rPr sz="2500" b="1" spc="-70" dirty="0">
                          <a:solidFill>
                            <a:srgbClr val="E38312"/>
                          </a:solidFill>
                          <a:latin typeface="Calibri"/>
                          <a:cs typeface="Calibri"/>
                        </a:rPr>
                        <a:t> </a:t>
                      </a:r>
                      <a:r>
                        <a:rPr sz="2500" b="1" spc="-10" dirty="0">
                          <a:solidFill>
                            <a:srgbClr val="E38312"/>
                          </a:solidFill>
                          <a:latin typeface="Calibri"/>
                          <a:cs typeface="Calibri"/>
                        </a:rPr>
                        <a:t>Traits </a:t>
                      </a:r>
                      <a:r>
                        <a:rPr sz="2500" b="1" dirty="0">
                          <a:solidFill>
                            <a:srgbClr val="E38312"/>
                          </a:solidFill>
                          <a:latin typeface="Calibri"/>
                          <a:cs typeface="Calibri"/>
                        </a:rPr>
                        <a:t>of</a:t>
                      </a:r>
                      <a:r>
                        <a:rPr sz="2500" b="1" spc="-35" dirty="0">
                          <a:solidFill>
                            <a:srgbClr val="E38312"/>
                          </a:solidFill>
                          <a:latin typeface="Calibri"/>
                          <a:cs typeface="Calibri"/>
                        </a:rPr>
                        <a:t> </a:t>
                      </a:r>
                      <a:r>
                        <a:rPr sz="2500" b="1" dirty="0">
                          <a:solidFill>
                            <a:srgbClr val="E38312"/>
                          </a:solidFill>
                          <a:latin typeface="Calibri"/>
                          <a:cs typeface="Calibri"/>
                        </a:rPr>
                        <a:t>Big</a:t>
                      </a:r>
                      <a:r>
                        <a:rPr sz="2500" b="1" spc="-35" dirty="0">
                          <a:solidFill>
                            <a:srgbClr val="E38312"/>
                          </a:solidFill>
                          <a:latin typeface="Calibri"/>
                          <a:cs typeface="Calibri"/>
                        </a:rPr>
                        <a:t> </a:t>
                      </a:r>
                      <a:r>
                        <a:rPr sz="2500" b="1" spc="-20" dirty="0">
                          <a:solidFill>
                            <a:srgbClr val="E38312"/>
                          </a:solidFill>
                          <a:latin typeface="Calibri"/>
                          <a:cs typeface="Calibri"/>
                        </a:rPr>
                        <a:t>Data</a:t>
                      </a:r>
                      <a:endParaRPr sz="2500">
                        <a:latin typeface="Calibri"/>
                        <a:cs typeface="Calibri"/>
                      </a:endParaRPr>
                    </a:p>
                  </a:txBody>
                  <a:tcPr marL="0" marR="0" marT="25400"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12775">
                <a:tc>
                  <a:txBody>
                    <a:bodyPr/>
                    <a:lstStyle/>
                    <a:p>
                      <a:pPr marL="91440">
                        <a:lnSpc>
                          <a:spcPct val="100000"/>
                        </a:lnSpc>
                        <a:spcBef>
                          <a:spcPts val="244"/>
                        </a:spcBef>
                      </a:pPr>
                      <a:r>
                        <a:rPr sz="1800" b="1" spc="-10" dirty="0">
                          <a:latin typeface="Calibri"/>
                          <a:cs typeface="Calibri"/>
                        </a:rPr>
                        <a:t>Veracity:</a:t>
                      </a:r>
                      <a:r>
                        <a:rPr sz="1800" b="1" spc="-40" dirty="0">
                          <a:latin typeface="Calibri"/>
                          <a:cs typeface="Calibri"/>
                        </a:rPr>
                        <a:t> </a:t>
                      </a:r>
                      <a:r>
                        <a:rPr sz="1800" spc="-20" dirty="0">
                          <a:latin typeface="Calibri"/>
                          <a:cs typeface="Calibri"/>
                        </a:rPr>
                        <a:t>Veracity</a:t>
                      </a:r>
                      <a:r>
                        <a:rPr sz="1800" spc="-30" dirty="0">
                          <a:latin typeface="Calibri"/>
                          <a:cs typeface="Calibri"/>
                        </a:rPr>
                        <a:t> </a:t>
                      </a:r>
                      <a:r>
                        <a:rPr sz="1800" spc="-20" dirty="0">
                          <a:latin typeface="Calibri"/>
                          <a:cs typeface="Calibri"/>
                        </a:rPr>
                        <a:t>refers</a:t>
                      </a:r>
                      <a:r>
                        <a:rPr sz="1800" spc="-25" dirty="0">
                          <a:latin typeface="Calibri"/>
                          <a:cs typeface="Calibri"/>
                        </a:rPr>
                        <a:t> </a:t>
                      </a:r>
                      <a:r>
                        <a:rPr sz="1800" dirty="0">
                          <a:latin typeface="Calibri"/>
                          <a:cs typeface="Calibri"/>
                        </a:rPr>
                        <a:t>to</a:t>
                      </a:r>
                      <a:r>
                        <a:rPr sz="1800" spc="-15" dirty="0">
                          <a:latin typeface="Calibri"/>
                          <a:cs typeface="Calibri"/>
                        </a:rPr>
                        <a:t> </a:t>
                      </a:r>
                      <a:r>
                        <a:rPr sz="1800" dirty="0">
                          <a:latin typeface="Calibri"/>
                          <a:cs typeface="Calibri"/>
                        </a:rPr>
                        <a:t>the</a:t>
                      </a:r>
                      <a:r>
                        <a:rPr sz="1800" spc="-25" dirty="0">
                          <a:latin typeface="Calibri"/>
                          <a:cs typeface="Calibri"/>
                        </a:rPr>
                        <a:t> </a:t>
                      </a:r>
                      <a:r>
                        <a:rPr sz="1800" b="1" spc="-20" dirty="0">
                          <a:latin typeface="Calibri"/>
                          <a:cs typeface="Calibri"/>
                        </a:rPr>
                        <a:t>accuracy,</a:t>
                      </a:r>
                      <a:r>
                        <a:rPr sz="1800" b="1" spc="-60" dirty="0">
                          <a:latin typeface="Calibri"/>
                          <a:cs typeface="Calibri"/>
                        </a:rPr>
                        <a:t> </a:t>
                      </a:r>
                      <a:r>
                        <a:rPr sz="1800" b="1" spc="-10" dirty="0">
                          <a:latin typeface="Calibri"/>
                          <a:cs typeface="Calibri"/>
                        </a:rPr>
                        <a:t>reliability,</a:t>
                      </a:r>
                      <a:r>
                        <a:rPr sz="1800" b="1" spc="-60" dirty="0">
                          <a:latin typeface="Calibri"/>
                          <a:cs typeface="Calibri"/>
                        </a:rPr>
                        <a:t> </a:t>
                      </a:r>
                      <a:r>
                        <a:rPr sz="1800" b="1" dirty="0">
                          <a:latin typeface="Calibri"/>
                          <a:cs typeface="Calibri"/>
                        </a:rPr>
                        <a:t>and</a:t>
                      </a:r>
                      <a:r>
                        <a:rPr sz="1800" b="1" spc="-30" dirty="0">
                          <a:latin typeface="Calibri"/>
                          <a:cs typeface="Calibri"/>
                        </a:rPr>
                        <a:t> </a:t>
                      </a:r>
                      <a:r>
                        <a:rPr sz="1800" b="1" dirty="0">
                          <a:latin typeface="Calibri"/>
                          <a:cs typeface="Calibri"/>
                        </a:rPr>
                        <a:t>trustworthiness</a:t>
                      </a:r>
                      <a:r>
                        <a:rPr sz="1800" b="1" spc="-55" dirty="0">
                          <a:latin typeface="Calibri"/>
                          <a:cs typeface="Calibri"/>
                        </a:rPr>
                        <a:t> </a:t>
                      </a:r>
                      <a:r>
                        <a:rPr sz="1800" dirty="0">
                          <a:latin typeface="Calibri"/>
                          <a:cs typeface="Calibri"/>
                        </a:rPr>
                        <a:t>of</a:t>
                      </a:r>
                      <a:r>
                        <a:rPr sz="1800" spc="-15" dirty="0">
                          <a:latin typeface="Calibri"/>
                          <a:cs typeface="Calibri"/>
                        </a:rPr>
                        <a:t> </a:t>
                      </a:r>
                      <a:r>
                        <a:rPr sz="1800" spc="-10" dirty="0">
                          <a:latin typeface="Calibri"/>
                          <a:cs typeface="Calibri"/>
                        </a:rPr>
                        <a:t>data.</a:t>
                      </a:r>
                      <a:endParaRPr sz="1800">
                        <a:latin typeface="Calibri"/>
                        <a:cs typeface="Calibri"/>
                      </a:endParaRPr>
                    </a:p>
                  </a:txBody>
                  <a:tcPr marL="0" marR="0" marT="31114" marB="0">
                    <a:lnT w="12700">
                      <a:solidFill>
                        <a:srgbClr val="000000"/>
                      </a:solidFill>
                      <a:prstDash val="solid"/>
                    </a:lnT>
                    <a:solidFill>
                      <a:srgbClr val="000000">
                        <a:alpha val="19999"/>
                      </a:srgbClr>
                    </a:solidFill>
                  </a:tcPr>
                </a:tc>
                <a:extLst>
                  <a:ext uri="{0D108BD9-81ED-4DB2-BD59-A6C34878D82A}">
                    <a16:rowId xmlns:a16="http://schemas.microsoft.com/office/drawing/2014/main" val="10001"/>
                  </a:ext>
                </a:extLst>
              </a:tr>
              <a:tr h="90170">
                <a:tc>
                  <a:txBody>
                    <a:bodyPr/>
                    <a:lstStyle/>
                    <a:p>
                      <a:pPr>
                        <a:lnSpc>
                          <a:spcPct val="100000"/>
                        </a:lnSpc>
                      </a:pPr>
                      <a:endParaRPr sz="400">
                        <a:latin typeface="Times New Roman"/>
                        <a:cs typeface="Times New Roman"/>
                      </a:endParaRPr>
                    </a:p>
                  </a:txBody>
                  <a:tcPr marL="0" marR="0" marT="0" marB="0">
                    <a:solidFill>
                      <a:srgbClr val="000000">
                        <a:alpha val="19999"/>
                      </a:srgbClr>
                    </a:solidFill>
                  </a:tcPr>
                </a:tc>
                <a:extLst>
                  <a:ext uri="{0D108BD9-81ED-4DB2-BD59-A6C34878D82A}">
                    <a16:rowId xmlns:a16="http://schemas.microsoft.com/office/drawing/2014/main" val="10002"/>
                  </a:ext>
                </a:extLst>
              </a:tr>
              <a:tr h="702945">
                <a:tc>
                  <a:txBody>
                    <a:bodyPr/>
                    <a:lstStyle/>
                    <a:p>
                      <a:pPr marL="91440">
                        <a:lnSpc>
                          <a:spcPct val="100000"/>
                        </a:lnSpc>
                        <a:spcBef>
                          <a:spcPts val="244"/>
                        </a:spcBef>
                      </a:pPr>
                      <a:r>
                        <a:rPr sz="1800" b="1" spc="-10" dirty="0">
                          <a:latin typeface="Calibri"/>
                          <a:cs typeface="Calibri"/>
                        </a:rPr>
                        <a:t>Value:</a:t>
                      </a:r>
                      <a:r>
                        <a:rPr sz="1800" b="1" spc="-75" dirty="0">
                          <a:latin typeface="Calibri"/>
                          <a:cs typeface="Calibri"/>
                        </a:rPr>
                        <a:t> </a:t>
                      </a:r>
                      <a:r>
                        <a:rPr sz="1800" spc="-10" dirty="0">
                          <a:latin typeface="Calibri"/>
                          <a:cs typeface="Calibri"/>
                        </a:rPr>
                        <a:t>Value</a:t>
                      </a:r>
                      <a:r>
                        <a:rPr sz="1800" spc="-35" dirty="0">
                          <a:latin typeface="Calibri"/>
                          <a:cs typeface="Calibri"/>
                        </a:rPr>
                        <a:t> </a:t>
                      </a:r>
                      <a:r>
                        <a:rPr sz="1800" spc="-20" dirty="0">
                          <a:latin typeface="Calibri"/>
                          <a:cs typeface="Calibri"/>
                        </a:rPr>
                        <a:t>refers</a:t>
                      </a:r>
                      <a:r>
                        <a:rPr sz="1800" spc="-50" dirty="0">
                          <a:latin typeface="Calibri"/>
                          <a:cs typeface="Calibri"/>
                        </a:rPr>
                        <a:t> </a:t>
                      </a:r>
                      <a:r>
                        <a:rPr sz="1800" dirty="0">
                          <a:latin typeface="Calibri"/>
                          <a:cs typeface="Calibri"/>
                        </a:rPr>
                        <a:t>to</a:t>
                      </a:r>
                      <a:r>
                        <a:rPr sz="1800" spc="-55" dirty="0">
                          <a:latin typeface="Calibri"/>
                          <a:cs typeface="Calibri"/>
                        </a:rPr>
                        <a:t> </a:t>
                      </a:r>
                      <a:r>
                        <a:rPr sz="1800" dirty="0">
                          <a:latin typeface="Calibri"/>
                          <a:cs typeface="Calibri"/>
                        </a:rPr>
                        <a:t>the</a:t>
                      </a:r>
                      <a:r>
                        <a:rPr sz="1800" spc="-35" dirty="0">
                          <a:latin typeface="Calibri"/>
                          <a:cs typeface="Calibri"/>
                        </a:rPr>
                        <a:t> </a:t>
                      </a:r>
                      <a:r>
                        <a:rPr sz="1800" b="1" dirty="0">
                          <a:latin typeface="Calibri"/>
                          <a:cs typeface="Calibri"/>
                        </a:rPr>
                        <a:t>usefulness</a:t>
                      </a:r>
                      <a:r>
                        <a:rPr sz="1800" b="1" spc="-80" dirty="0">
                          <a:latin typeface="Calibri"/>
                          <a:cs typeface="Calibri"/>
                        </a:rPr>
                        <a:t> </a:t>
                      </a:r>
                      <a:r>
                        <a:rPr sz="1800" b="1" dirty="0">
                          <a:latin typeface="Calibri"/>
                          <a:cs typeface="Calibri"/>
                        </a:rPr>
                        <a:t>and</a:t>
                      </a:r>
                      <a:r>
                        <a:rPr sz="1800" b="1" spc="-55" dirty="0">
                          <a:latin typeface="Calibri"/>
                          <a:cs typeface="Calibri"/>
                        </a:rPr>
                        <a:t> </a:t>
                      </a:r>
                      <a:r>
                        <a:rPr sz="1800" b="1" dirty="0">
                          <a:latin typeface="Calibri"/>
                          <a:cs typeface="Calibri"/>
                        </a:rPr>
                        <a:t>business</a:t>
                      </a:r>
                      <a:r>
                        <a:rPr sz="1800" b="1" spc="-90" dirty="0">
                          <a:latin typeface="Calibri"/>
                          <a:cs typeface="Calibri"/>
                        </a:rPr>
                        <a:t> </a:t>
                      </a:r>
                      <a:r>
                        <a:rPr sz="1800" b="1" dirty="0">
                          <a:latin typeface="Calibri"/>
                          <a:cs typeface="Calibri"/>
                        </a:rPr>
                        <a:t>benefit</a:t>
                      </a:r>
                      <a:r>
                        <a:rPr sz="1800" b="1" spc="-65" dirty="0">
                          <a:latin typeface="Calibri"/>
                          <a:cs typeface="Calibri"/>
                        </a:rPr>
                        <a:t> </a:t>
                      </a:r>
                      <a:r>
                        <a:rPr sz="1800" dirty="0">
                          <a:latin typeface="Calibri"/>
                          <a:cs typeface="Calibri"/>
                        </a:rPr>
                        <a:t>obtained</a:t>
                      </a:r>
                      <a:r>
                        <a:rPr sz="1800" spc="-30" dirty="0">
                          <a:latin typeface="Calibri"/>
                          <a:cs typeface="Calibri"/>
                        </a:rPr>
                        <a:t> </a:t>
                      </a:r>
                      <a:r>
                        <a:rPr sz="1800" dirty="0">
                          <a:latin typeface="Calibri"/>
                          <a:cs typeface="Calibri"/>
                        </a:rPr>
                        <a:t>from</a:t>
                      </a:r>
                      <a:r>
                        <a:rPr sz="1800" spc="-50" dirty="0">
                          <a:latin typeface="Calibri"/>
                          <a:cs typeface="Calibri"/>
                        </a:rPr>
                        <a:t> </a:t>
                      </a:r>
                      <a:r>
                        <a:rPr sz="1800" dirty="0">
                          <a:latin typeface="Calibri"/>
                          <a:cs typeface="Calibri"/>
                        </a:rPr>
                        <a:t>analyzing</a:t>
                      </a:r>
                      <a:r>
                        <a:rPr sz="1800" spc="-35" dirty="0">
                          <a:latin typeface="Calibri"/>
                          <a:cs typeface="Calibri"/>
                        </a:rPr>
                        <a:t> </a:t>
                      </a:r>
                      <a:r>
                        <a:rPr sz="1800" spc="-10" dirty="0">
                          <a:latin typeface="Calibri"/>
                          <a:cs typeface="Calibri"/>
                        </a:rPr>
                        <a:t>data.</a:t>
                      </a:r>
                      <a:endParaRPr sz="1800">
                        <a:latin typeface="Calibri"/>
                        <a:cs typeface="Calibri"/>
                      </a:endParaRPr>
                    </a:p>
                  </a:txBody>
                  <a:tcPr marL="0" marR="0" marT="31114" marB="0"/>
                </a:tc>
                <a:extLst>
                  <a:ext uri="{0D108BD9-81ED-4DB2-BD59-A6C34878D82A}">
                    <a16:rowId xmlns:a16="http://schemas.microsoft.com/office/drawing/2014/main" val="10003"/>
                  </a:ext>
                </a:extLst>
              </a:tr>
              <a:tr h="702945">
                <a:tc>
                  <a:txBody>
                    <a:bodyPr/>
                    <a:lstStyle/>
                    <a:p>
                      <a:pPr marL="91440" marR="590550">
                        <a:lnSpc>
                          <a:spcPct val="100000"/>
                        </a:lnSpc>
                        <a:spcBef>
                          <a:spcPts val="240"/>
                        </a:spcBef>
                      </a:pPr>
                      <a:r>
                        <a:rPr sz="1800" b="1" spc="-10" dirty="0">
                          <a:latin typeface="Calibri"/>
                          <a:cs typeface="Calibri"/>
                        </a:rPr>
                        <a:t>Variability:</a:t>
                      </a:r>
                      <a:r>
                        <a:rPr sz="1800" b="1" spc="-65" dirty="0">
                          <a:latin typeface="Calibri"/>
                          <a:cs typeface="Calibri"/>
                        </a:rPr>
                        <a:t> </a:t>
                      </a:r>
                      <a:r>
                        <a:rPr sz="1800" spc="-10" dirty="0">
                          <a:latin typeface="Calibri"/>
                          <a:cs typeface="Calibri"/>
                        </a:rPr>
                        <a:t>Variability</a:t>
                      </a:r>
                      <a:r>
                        <a:rPr sz="1800" spc="-20" dirty="0">
                          <a:latin typeface="Calibri"/>
                          <a:cs typeface="Calibri"/>
                        </a:rPr>
                        <a:t> refers</a:t>
                      </a:r>
                      <a:r>
                        <a:rPr sz="1800" spc="-35"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the</a:t>
                      </a:r>
                      <a:r>
                        <a:rPr sz="1800" spc="-20" dirty="0">
                          <a:latin typeface="Calibri"/>
                          <a:cs typeface="Calibri"/>
                        </a:rPr>
                        <a:t> </a:t>
                      </a:r>
                      <a:r>
                        <a:rPr sz="1800" dirty="0">
                          <a:latin typeface="Calibri"/>
                          <a:cs typeface="Calibri"/>
                        </a:rPr>
                        <a:t>changing</a:t>
                      </a:r>
                      <a:r>
                        <a:rPr sz="1800" spc="-25" dirty="0">
                          <a:latin typeface="Calibri"/>
                          <a:cs typeface="Calibri"/>
                        </a:rPr>
                        <a:t> </a:t>
                      </a:r>
                      <a:r>
                        <a:rPr sz="1800" dirty="0">
                          <a:latin typeface="Calibri"/>
                          <a:cs typeface="Calibri"/>
                        </a:rPr>
                        <a:t>meaning,</a:t>
                      </a:r>
                      <a:r>
                        <a:rPr sz="1800" spc="-30" dirty="0">
                          <a:latin typeface="Calibri"/>
                          <a:cs typeface="Calibri"/>
                        </a:rPr>
                        <a:t> </a:t>
                      </a:r>
                      <a:r>
                        <a:rPr sz="1800" spc="-10" dirty="0">
                          <a:latin typeface="Calibri"/>
                          <a:cs typeface="Calibri"/>
                        </a:rPr>
                        <a:t>structure,</a:t>
                      </a:r>
                      <a:r>
                        <a:rPr sz="1800" spc="-30" dirty="0">
                          <a:latin typeface="Calibri"/>
                          <a:cs typeface="Calibri"/>
                        </a:rPr>
                        <a:t> </a:t>
                      </a:r>
                      <a:r>
                        <a:rPr sz="1800" dirty="0">
                          <a:latin typeface="Calibri"/>
                          <a:cs typeface="Calibri"/>
                        </a:rPr>
                        <a:t>or</a:t>
                      </a:r>
                      <a:r>
                        <a:rPr sz="1800" spc="-35" dirty="0">
                          <a:latin typeface="Calibri"/>
                          <a:cs typeface="Calibri"/>
                        </a:rPr>
                        <a:t> </a:t>
                      </a:r>
                      <a:r>
                        <a:rPr sz="1800" dirty="0">
                          <a:latin typeface="Calibri"/>
                          <a:cs typeface="Calibri"/>
                        </a:rPr>
                        <a:t>flow</a:t>
                      </a:r>
                      <a:r>
                        <a:rPr sz="1800" spc="-30"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data</a:t>
                      </a:r>
                      <a:r>
                        <a:rPr sz="1800" spc="-45" dirty="0">
                          <a:latin typeface="Calibri"/>
                          <a:cs typeface="Calibri"/>
                        </a:rPr>
                        <a:t> </a:t>
                      </a:r>
                      <a:r>
                        <a:rPr sz="1800" spc="-20" dirty="0">
                          <a:latin typeface="Calibri"/>
                          <a:cs typeface="Calibri"/>
                        </a:rPr>
                        <a:t>over </a:t>
                      </a:r>
                      <a:r>
                        <a:rPr sz="1800" spc="-10" dirty="0">
                          <a:latin typeface="Calibri"/>
                          <a:cs typeface="Calibri"/>
                        </a:rPr>
                        <a:t>time.</a:t>
                      </a:r>
                      <a:endParaRPr sz="1800">
                        <a:latin typeface="Calibri"/>
                        <a:cs typeface="Calibri"/>
                      </a:endParaRPr>
                    </a:p>
                  </a:txBody>
                  <a:tcPr marL="0" marR="0" marT="30480" marB="0">
                    <a:solidFill>
                      <a:srgbClr val="000000">
                        <a:alpha val="19999"/>
                      </a:srgbClr>
                    </a:solidFill>
                  </a:tcPr>
                </a:tc>
                <a:extLst>
                  <a:ext uri="{0D108BD9-81ED-4DB2-BD59-A6C34878D82A}">
                    <a16:rowId xmlns:a16="http://schemas.microsoft.com/office/drawing/2014/main" val="10004"/>
                  </a:ext>
                </a:extLst>
              </a:tr>
              <a:tr h="702945">
                <a:tc>
                  <a:txBody>
                    <a:bodyPr/>
                    <a:lstStyle/>
                    <a:p>
                      <a:pPr marL="91440">
                        <a:lnSpc>
                          <a:spcPct val="100000"/>
                        </a:lnSpc>
                        <a:spcBef>
                          <a:spcPts val="240"/>
                        </a:spcBef>
                      </a:pPr>
                      <a:r>
                        <a:rPr sz="1800" b="1" spc="-10" dirty="0">
                          <a:latin typeface="Calibri"/>
                          <a:cs typeface="Calibri"/>
                        </a:rPr>
                        <a:t>Validity:</a:t>
                      </a:r>
                      <a:r>
                        <a:rPr sz="1800" spc="-10" dirty="0">
                          <a:latin typeface="Calibri"/>
                          <a:cs typeface="Calibri"/>
                        </a:rPr>
                        <a:t>Validity</a:t>
                      </a:r>
                      <a:r>
                        <a:rPr sz="1800" spc="-55" dirty="0">
                          <a:latin typeface="Calibri"/>
                          <a:cs typeface="Calibri"/>
                        </a:rPr>
                        <a:t> </a:t>
                      </a:r>
                      <a:r>
                        <a:rPr sz="1800" dirty="0">
                          <a:latin typeface="Calibri"/>
                          <a:cs typeface="Calibri"/>
                        </a:rPr>
                        <a:t>ensures</a:t>
                      </a:r>
                      <a:r>
                        <a:rPr sz="1800" spc="-50" dirty="0">
                          <a:latin typeface="Calibri"/>
                          <a:cs typeface="Calibri"/>
                        </a:rPr>
                        <a:t> </a:t>
                      </a:r>
                      <a:r>
                        <a:rPr sz="1800" dirty="0">
                          <a:latin typeface="Calibri"/>
                          <a:cs typeface="Calibri"/>
                        </a:rPr>
                        <a:t>that</a:t>
                      </a:r>
                      <a:r>
                        <a:rPr sz="1800" spc="-45" dirty="0">
                          <a:latin typeface="Calibri"/>
                          <a:cs typeface="Calibri"/>
                        </a:rPr>
                        <a:t> </a:t>
                      </a:r>
                      <a:r>
                        <a:rPr sz="1800" dirty="0">
                          <a:latin typeface="Calibri"/>
                          <a:cs typeface="Calibri"/>
                        </a:rPr>
                        <a:t>data</a:t>
                      </a:r>
                      <a:r>
                        <a:rPr sz="1800" spc="-40" dirty="0">
                          <a:latin typeface="Calibri"/>
                          <a:cs typeface="Calibri"/>
                        </a:rPr>
                        <a:t> </a:t>
                      </a:r>
                      <a:r>
                        <a:rPr sz="1800" spc="-10" dirty="0">
                          <a:latin typeface="Calibri"/>
                          <a:cs typeface="Calibri"/>
                        </a:rPr>
                        <a:t>conforms</a:t>
                      </a:r>
                      <a:r>
                        <a:rPr sz="1800" spc="-30" dirty="0">
                          <a:latin typeface="Calibri"/>
                          <a:cs typeface="Calibri"/>
                        </a:rPr>
                        <a:t> </a:t>
                      </a:r>
                      <a:r>
                        <a:rPr sz="1800" dirty="0">
                          <a:latin typeface="Calibri"/>
                          <a:cs typeface="Calibri"/>
                        </a:rPr>
                        <a:t>to</a:t>
                      </a:r>
                      <a:r>
                        <a:rPr sz="1800" spc="-45" dirty="0">
                          <a:latin typeface="Calibri"/>
                          <a:cs typeface="Calibri"/>
                        </a:rPr>
                        <a:t> </a:t>
                      </a:r>
                      <a:r>
                        <a:rPr sz="1800" spc="-10" dirty="0">
                          <a:latin typeface="Calibri"/>
                          <a:cs typeface="Calibri"/>
                        </a:rPr>
                        <a:t>predefined</a:t>
                      </a:r>
                      <a:r>
                        <a:rPr sz="1800" spc="-35" dirty="0">
                          <a:latin typeface="Calibri"/>
                          <a:cs typeface="Calibri"/>
                        </a:rPr>
                        <a:t> </a:t>
                      </a:r>
                      <a:r>
                        <a:rPr sz="1800" dirty="0">
                          <a:latin typeface="Calibri"/>
                          <a:cs typeface="Calibri"/>
                        </a:rPr>
                        <a:t>rules</a:t>
                      </a:r>
                      <a:r>
                        <a:rPr sz="1800" spc="-40" dirty="0">
                          <a:latin typeface="Calibri"/>
                          <a:cs typeface="Calibri"/>
                        </a:rPr>
                        <a:t> </a:t>
                      </a:r>
                      <a:r>
                        <a:rPr sz="1800" dirty="0">
                          <a:latin typeface="Calibri"/>
                          <a:cs typeface="Calibri"/>
                        </a:rPr>
                        <a:t>and</a:t>
                      </a:r>
                      <a:r>
                        <a:rPr sz="1800" spc="-25" dirty="0">
                          <a:latin typeface="Calibri"/>
                          <a:cs typeface="Calibri"/>
                        </a:rPr>
                        <a:t> </a:t>
                      </a:r>
                      <a:r>
                        <a:rPr sz="1800" dirty="0">
                          <a:latin typeface="Calibri"/>
                          <a:cs typeface="Calibri"/>
                        </a:rPr>
                        <a:t>business</a:t>
                      </a:r>
                      <a:r>
                        <a:rPr sz="1800" spc="-50" dirty="0">
                          <a:latin typeface="Calibri"/>
                          <a:cs typeface="Calibri"/>
                        </a:rPr>
                        <a:t> </a:t>
                      </a:r>
                      <a:r>
                        <a:rPr sz="1800" spc="-10" dirty="0">
                          <a:latin typeface="Calibri"/>
                          <a:cs typeface="Calibri"/>
                        </a:rPr>
                        <a:t>constraints.</a:t>
                      </a:r>
                      <a:endParaRPr sz="1800">
                        <a:latin typeface="Calibri"/>
                        <a:cs typeface="Calibri"/>
                      </a:endParaRPr>
                    </a:p>
                  </a:txBody>
                  <a:tcPr marL="0" marR="0" marT="30480" marB="0"/>
                </a:tc>
                <a:extLst>
                  <a:ext uri="{0D108BD9-81ED-4DB2-BD59-A6C34878D82A}">
                    <a16:rowId xmlns:a16="http://schemas.microsoft.com/office/drawing/2014/main" val="10005"/>
                  </a:ext>
                </a:extLst>
              </a:tr>
              <a:tr h="702945">
                <a:tc>
                  <a:txBody>
                    <a:bodyPr/>
                    <a:lstStyle/>
                    <a:p>
                      <a:pPr marL="91440" marR="1337310">
                        <a:lnSpc>
                          <a:spcPct val="100000"/>
                        </a:lnSpc>
                        <a:spcBef>
                          <a:spcPts val="245"/>
                        </a:spcBef>
                      </a:pPr>
                      <a:r>
                        <a:rPr sz="1800" b="1" spc="-10" dirty="0">
                          <a:latin typeface="Calibri"/>
                          <a:cs typeface="Calibri"/>
                        </a:rPr>
                        <a:t>Visualization:</a:t>
                      </a:r>
                      <a:r>
                        <a:rPr sz="1800" b="1" spc="-50" dirty="0">
                          <a:latin typeface="Calibri"/>
                          <a:cs typeface="Calibri"/>
                        </a:rPr>
                        <a:t> </a:t>
                      </a:r>
                      <a:r>
                        <a:rPr sz="1800" spc="-10" dirty="0">
                          <a:latin typeface="Calibri"/>
                          <a:cs typeface="Calibri"/>
                        </a:rPr>
                        <a:t>Visualization</a:t>
                      </a:r>
                      <a:r>
                        <a:rPr sz="1800" spc="-5" dirty="0">
                          <a:latin typeface="Calibri"/>
                          <a:cs typeface="Calibri"/>
                        </a:rPr>
                        <a:t> </a:t>
                      </a:r>
                      <a:r>
                        <a:rPr sz="1800" dirty="0">
                          <a:latin typeface="Calibri"/>
                          <a:cs typeface="Calibri"/>
                        </a:rPr>
                        <a:t>is</a:t>
                      </a:r>
                      <a:r>
                        <a:rPr sz="1800" spc="-25" dirty="0">
                          <a:latin typeface="Calibri"/>
                          <a:cs typeface="Calibri"/>
                        </a:rPr>
                        <a:t> </a:t>
                      </a:r>
                      <a:r>
                        <a:rPr sz="1800" dirty="0">
                          <a:latin typeface="Calibri"/>
                          <a:cs typeface="Calibri"/>
                        </a:rPr>
                        <a:t>the</a:t>
                      </a:r>
                      <a:r>
                        <a:rPr sz="1800" spc="-10" dirty="0">
                          <a:latin typeface="Calibri"/>
                          <a:cs typeface="Calibri"/>
                        </a:rPr>
                        <a:t> graphical</a:t>
                      </a:r>
                      <a:r>
                        <a:rPr sz="1800" spc="-20" dirty="0">
                          <a:latin typeface="Calibri"/>
                          <a:cs typeface="Calibri"/>
                        </a:rPr>
                        <a:t> </a:t>
                      </a:r>
                      <a:r>
                        <a:rPr sz="1800" spc="-10" dirty="0">
                          <a:latin typeface="Calibri"/>
                          <a:cs typeface="Calibri"/>
                        </a:rPr>
                        <a:t>representation</a:t>
                      </a:r>
                      <a:r>
                        <a:rPr sz="1800" spc="-25" dirty="0">
                          <a:latin typeface="Calibri"/>
                          <a:cs typeface="Calibri"/>
                        </a:rPr>
                        <a:t> </a:t>
                      </a:r>
                      <a:r>
                        <a:rPr sz="1800" dirty="0">
                          <a:latin typeface="Calibri"/>
                          <a:cs typeface="Calibri"/>
                        </a:rPr>
                        <a:t>of</a:t>
                      </a:r>
                      <a:r>
                        <a:rPr sz="1800" spc="-15" dirty="0">
                          <a:latin typeface="Calibri"/>
                          <a:cs typeface="Calibri"/>
                        </a:rPr>
                        <a:t> </a:t>
                      </a:r>
                      <a:r>
                        <a:rPr sz="1800" dirty="0">
                          <a:latin typeface="Calibri"/>
                          <a:cs typeface="Calibri"/>
                        </a:rPr>
                        <a:t>data</a:t>
                      </a:r>
                      <a:r>
                        <a:rPr sz="1800" spc="-30" dirty="0">
                          <a:latin typeface="Calibri"/>
                          <a:cs typeface="Calibri"/>
                        </a:rPr>
                        <a:t> </a:t>
                      </a:r>
                      <a:r>
                        <a:rPr sz="1800" dirty="0">
                          <a:latin typeface="Calibri"/>
                          <a:cs typeface="Calibri"/>
                        </a:rPr>
                        <a:t>to</a:t>
                      </a:r>
                      <a:r>
                        <a:rPr sz="1800" spc="-30" dirty="0">
                          <a:latin typeface="Calibri"/>
                          <a:cs typeface="Calibri"/>
                        </a:rPr>
                        <a:t> </a:t>
                      </a:r>
                      <a:r>
                        <a:rPr sz="1800" spc="-10" dirty="0">
                          <a:latin typeface="Calibri"/>
                          <a:cs typeface="Calibri"/>
                        </a:rPr>
                        <a:t>simplify understanding</a:t>
                      </a:r>
                      <a:r>
                        <a:rPr sz="1800" spc="-25" dirty="0">
                          <a:latin typeface="Calibri"/>
                          <a:cs typeface="Calibri"/>
                        </a:rPr>
                        <a:t> </a:t>
                      </a:r>
                      <a:r>
                        <a:rPr sz="1800" dirty="0">
                          <a:latin typeface="Calibri"/>
                          <a:cs typeface="Calibri"/>
                        </a:rPr>
                        <a:t>and</a:t>
                      </a:r>
                      <a:r>
                        <a:rPr sz="1800" spc="-50" dirty="0">
                          <a:latin typeface="Calibri"/>
                          <a:cs typeface="Calibri"/>
                        </a:rPr>
                        <a:t> </a:t>
                      </a:r>
                      <a:r>
                        <a:rPr sz="1800" spc="-10" dirty="0">
                          <a:latin typeface="Calibri"/>
                          <a:cs typeface="Calibri"/>
                        </a:rPr>
                        <a:t>communication.</a:t>
                      </a:r>
                      <a:endParaRPr sz="1800">
                        <a:latin typeface="Calibri"/>
                        <a:cs typeface="Calibri"/>
                      </a:endParaRPr>
                    </a:p>
                  </a:txBody>
                  <a:tcPr marL="0" marR="0" marT="31115" marB="0">
                    <a:solidFill>
                      <a:srgbClr val="000000">
                        <a:alpha val="19999"/>
                      </a:srgbClr>
                    </a:solidFill>
                  </a:tcPr>
                </a:tc>
                <a:extLst>
                  <a:ext uri="{0D108BD9-81ED-4DB2-BD59-A6C34878D82A}">
                    <a16:rowId xmlns:a16="http://schemas.microsoft.com/office/drawing/2014/main" val="10006"/>
                  </a:ext>
                </a:extLst>
              </a:tr>
              <a:tr h="702945">
                <a:tc>
                  <a:txBody>
                    <a:bodyPr/>
                    <a:lstStyle/>
                    <a:p>
                      <a:pPr marL="91440" marR="566420">
                        <a:lnSpc>
                          <a:spcPct val="100000"/>
                        </a:lnSpc>
                        <a:spcBef>
                          <a:spcPts val="245"/>
                        </a:spcBef>
                      </a:pPr>
                      <a:r>
                        <a:rPr sz="1800" b="1" spc="-10" dirty="0">
                          <a:latin typeface="Calibri"/>
                          <a:cs typeface="Calibri"/>
                        </a:rPr>
                        <a:t>Volatility:</a:t>
                      </a:r>
                      <a:r>
                        <a:rPr sz="1800" b="1" spc="-65" dirty="0">
                          <a:latin typeface="Calibri"/>
                          <a:cs typeface="Calibri"/>
                        </a:rPr>
                        <a:t> </a:t>
                      </a:r>
                      <a:r>
                        <a:rPr sz="1800" spc="-10" dirty="0">
                          <a:latin typeface="Calibri"/>
                          <a:cs typeface="Calibri"/>
                        </a:rPr>
                        <a:t>Volatility</a:t>
                      </a:r>
                      <a:r>
                        <a:rPr sz="1800" spc="-20" dirty="0">
                          <a:latin typeface="Calibri"/>
                          <a:cs typeface="Calibri"/>
                        </a:rPr>
                        <a:t> refers</a:t>
                      </a:r>
                      <a:r>
                        <a:rPr sz="1800" spc="-35" dirty="0">
                          <a:latin typeface="Calibri"/>
                          <a:cs typeface="Calibri"/>
                        </a:rPr>
                        <a:t> </a:t>
                      </a:r>
                      <a:r>
                        <a:rPr sz="1800" dirty="0">
                          <a:latin typeface="Calibri"/>
                          <a:cs typeface="Calibri"/>
                        </a:rPr>
                        <a:t>to</a:t>
                      </a:r>
                      <a:r>
                        <a:rPr sz="1800" spc="-40" dirty="0">
                          <a:latin typeface="Calibri"/>
                          <a:cs typeface="Calibri"/>
                        </a:rPr>
                        <a:t> </a:t>
                      </a:r>
                      <a:r>
                        <a:rPr sz="1800" dirty="0">
                          <a:latin typeface="Calibri"/>
                          <a:cs typeface="Calibri"/>
                        </a:rPr>
                        <a:t>the</a:t>
                      </a:r>
                      <a:r>
                        <a:rPr sz="1800" spc="-35" dirty="0">
                          <a:latin typeface="Calibri"/>
                          <a:cs typeface="Calibri"/>
                        </a:rPr>
                        <a:t> </a:t>
                      </a:r>
                      <a:r>
                        <a:rPr sz="1800" spc="-10" dirty="0">
                          <a:latin typeface="Calibri"/>
                          <a:cs typeface="Calibri"/>
                        </a:rPr>
                        <a:t>lifespan</a:t>
                      </a:r>
                      <a:r>
                        <a:rPr sz="1800" spc="-2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data</a:t>
                      </a:r>
                      <a:r>
                        <a:rPr sz="1800" spc="-30" dirty="0">
                          <a:latin typeface="Calibri"/>
                          <a:cs typeface="Calibri"/>
                        </a:rPr>
                        <a:t> </a:t>
                      </a:r>
                      <a:r>
                        <a:rPr sz="1800" dirty="0">
                          <a:latin typeface="Calibri"/>
                          <a:cs typeface="Calibri"/>
                        </a:rPr>
                        <a:t>or</a:t>
                      </a:r>
                      <a:r>
                        <a:rPr sz="1800" spc="-35" dirty="0">
                          <a:latin typeface="Calibri"/>
                          <a:cs typeface="Calibri"/>
                        </a:rPr>
                        <a:t> </a:t>
                      </a:r>
                      <a:r>
                        <a:rPr sz="1800" dirty="0">
                          <a:latin typeface="Calibri"/>
                          <a:cs typeface="Calibri"/>
                        </a:rPr>
                        <a:t>how</a:t>
                      </a:r>
                      <a:r>
                        <a:rPr sz="1800" spc="-20" dirty="0">
                          <a:latin typeface="Calibri"/>
                          <a:cs typeface="Calibri"/>
                        </a:rPr>
                        <a:t> </a:t>
                      </a:r>
                      <a:r>
                        <a:rPr sz="1800" dirty="0">
                          <a:latin typeface="Calibri"/>
                          <a:cs typeface="Calibri"/>
                        </a:rPr>
                        <a:t>long</a:t>
                      </a:r>
                      <a:r>
                        <a:rPr sz="1800" spc="-25" dirty="0">
                          <a:latin typeface="Calibri"/>
                          <a:cs typeface="Calibri"/>
                        </a:rPr>
                        <a:t> </a:t>
                      </a:r>
                      <a:r>
                        <a:rPr sz="1800" dirty="0">
                          <a:latin typeface="Calibri"/>
                          <a:cs typeface="Calibri"/>
                        </a:rPr>
                        <a:t>it</a:t>
                      </a:r>
                      <a:r>
                        <a:rPr sz="1800" spc="-40" dirty="0">
                          <a:latin typeface="Calibri"/>
                          <a:cs typeface="Calibri"/>
                        </a:rPr>
                        <a:t> </a:t>
                      </a:r>
                      <a:r>
                        <a:rPr sz="1800" dirty="0">
                          <a:latin typeface="Calibri"/>
                          <a:cs typeface="Calibri"/>
                        </a:rPr>
                        <a:t>remains</a:t>
                      </a:r>
                      <a:r>
                        <a:rPr sz="1800" spc="-30" dirty="0">
                          <a:latin typeface="Calibri"/>
                          <a:cs typeface="Calibri"/>
                        </a:rPr>
                        <a:t> </a:t>
                      </a:r>
                      <a:r>
                        <a:rPr sz="1800" dirty="0">
                          <a:latin typeface="Calibri"/>
                          <a:cs typeface="Calibri"/>
                        </a:rPr>
                        <a:t>useful</a:t>
                      </a:r>
                      <a:r>
                        <a:rPr sz="1800" spc="-45" dirty="0">
                          <a:latin typeface="Calibri"/>
                          <a:cs typeface="Calibri"/>
                        </a:rPr>
                        <a:t> </a:t>
                      </a:r>
                      <a:r>
                        <a:rPr sz="1800" spc="-10" dirty="0">
                          <a:latin typeface="Calibri"/>
                          <a:cs typeface="Calibri"/>
                        </a:rPr>
                        <a:t>before </a:t>
                      </a:r>
                      <a:r>
                        <a:rPr sz="1800" dirty="0">
                          <a:latin typeface="Calibri"/>
                          <a:cs typeface="Calibri"/>
                        </a:rPr>
                        <a:t>becoming</a:t>
                      </a:r>
                      <a:r>
                        <a:rPr sz="1800" spc="-80" dirty="0">
                          <a:latin typeface="Calibri"/>
                          <a:cs typeface="Calibri"/>
                        </a:rPr>
                        <a:t> </a:t>
                      </a:r>
                      <a:r>
                        <a:rPr sz="1800" spc="-10" dirty="0">
                          <a:latin typeface="Calibri"/>
                          <a:cs typeface="Calibri"/>
                        </a:rPr>
                        <a:t>outdated.</a:t>
                      </a:r>
                      <a:endParaRPr sz="1800">
                        <a:latin typeface="Calibri"/>
                        <a:cs typeface="Calibri"/>
                      </a:endParaRPr>
                    </a:p>
                  </a:txBody>
                  <a:tcPr marL="0" marR="0" marT="31115" marB="0"/>
                </a:tc>
                <a:extLst>
                  <a:ext uri="{0D108BD9-81ED-4DB2-BD59-A6C34878D82A}">
                    <a16:rowId xmlns:a16="http://schemas.microsoft.com/office/drawing/2014/main" val="10007"/>
                  </a:ext>
                </a:extLst>
              </a:tr>
              <a:tr h="702945">
                <a:tc>
                  <a:txBody>
                    <a:bodyPr/>
                    <a:lstStyle/>
                    <a:p>
                      <a:pPr marL="91440">
                        <a:lnSpc>
                          <a:spcPct val="100000"/>
                        </a:lnSpc>
                        <a:spcBef>
                          <a:spcPts val="245"/>
                        </a:spcBef>
                      </a:pPr>
                      <a:r>
                        <a:rPr sz="1800" b="1" spc="-10" dirty="0">
                          <a:latin typeface="Calibri"/>
                          <a:cs typeface="Calibri"/>
                        </a:rPr>
                        <a:t>Vulnerability:</a:t>
                      </a:r>
                      <a:r>
                        <a:rPr sz="1800" b="1" spc="-75" dirty="0">
                          <a:latin typeface="Calibri"/>
                          <a:cs typeface="Calibri"/>
                        </a:rPr>
                        <a:t> </a:t>
                      </a:r>
                      <a:r>
                        <a:rPr sz="1800" spc="-10" dirty="0">
                          <a:latin typeface="Calibri"/>
                          <a:cs typeface="Calibri"/>
                        </a:rPr>
                        <a:t>Vulnerability</a:t>
                      </a:r>
                      <a:r>
                        <a:rPr sz="1800" spc="-15" dirty="0">
                          <a:latin typeface="Calibri"/>
                          <a:cs typeface="Calibri"/>
                        </a:rPr>
                        <a:t> </a:t>
                      </a:r>
                      <a:r>
                        <a:rPr sz="1800" spc="-20" dirty="0">
                          <a:latin typeface="Calibri"/>
                          <a:cs typeface="Calibri"/>
                        </a:rPr>
                        <a:t>refers</a:t>
                      </a:r>
                      <a:r>
                        <a:rPr sz="1800" spc="-45" dirty="0">
                          <a:latin typeface="Calibri"/>
                          <a:cs typeface="Calibri"/>
                        </a:rPr>
                        <a:t> </a:t>
                      </a:r>
                      <a:r>
                        <a:rPr sz="1800" dirty="0">
                          <a:latin typeface="Calibri"/>
                          <a:cs typeface="Calibri"/>
                        </a:rPr>
                        <a:t>to</a:t>
                      </a:r>
                      <a:r>
                        <a:rPr sz="1800" spc="-50"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susceptibility</a:t>
                      </a:r>
                      <a:r>
                        <a:rPr sz="1800" spc="-25"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data</a:t>
                      </a:r>
                      <a:r>
                        <a:rPr sz="1800" spc="-50" dirty="0">
                          <a:latin typeface="Calibri"/>
                          <a:cs typeface="Calibri"/>
                        </a:rPr>
                        <a:t> </a:t>
                      </a:r>
                      <a:r>
                        <a:rPr sz="1800" dirty="0">
                          <a:latin typeface="Calibri"/>
                          <a:cs typeface="Calibri"/>
                        </a:rPr>
                        <a:t>to</a:t>
                      </a:r>
                      <a:r>
                        <a:rPr sz="1800" spc="-45" dirty="0">
                          <a:latin typeface="Calibri"/>
                          <a:cs typeface="Calibri"/>
                        </a:rPr>
                        <a:t> </a:t>
                      </a:r>
                      <a:r>
                        <a:rPr sz="1800" dirty="0">
                          <a:latin typeface="Calibri"/>
                          <a:cs typeface="Calibri"/>
                        </a:rPr>
                        <a:t>security</a:t>
                      </a:r>
                      <a:r>
                        <a:rPr sz="1800" spc="-40" dirty="0">
                          <a:latin typeface="Calibri"/>
                          <a:cs typeface="Calibri"/>
                        </a:rPr>
                        <a:t> </a:t>
                      </a:r>
                      <a:r>
                        <a:rPr sz="1800" dirty="0">
                          <a:latin typeface="Calibri"/>
                          <a:cs typeface="Calibri"/>
                        </a:rPr>
                        <a:t>threats</a:t>
                      </a:r>
                      <a:r>
                        <a:rPr sz="1800" spc="-55" dirty="0">
                          <a:latin typeface="Calibri"/>
                          <a:cs typeface="Calibri"/>
                        </a:rPr>
                        <a:t> </a:t>
                      </a:r>
                      <a:r>
                        <a:rPr sz="1800" dirty="0">
                          <a:latin typeface="Calibri"/>
                          <a:cs typeface="Calibri"/>
                        </a:rPr>
                        <a:t>such</a:t>
                      </a:r>
                      <a:r>
                        <a:rPr sz="1800" spc="-35" dirty="0">
                          <a:latin typeface="Calibri"/>
                          <a:cs typeface="Calibri"/>
                        </a:rPr>
                        <a:t> </a:t>
                      </a:r>
                      <a:r>
                        <a:rPr sz="1800" spc="-25" dirty="0">
                          <a:latin typeface="Calibri"/>
                          <a:cs typeface="Calibri"/>
                        </a:rPr>
                        <a:t>as</a:t>
                      </a:r>
                      <a:endParaRPr sz="1800">
                        <a:latin typeface="Calibri"/>
                        <a:cs typeface="Calibri"/>
                      </a:endParaRPr>
                    </a:p>
                    <a:p>
                      <a:pPr marL="91440">
                        <a:lnSpc>
                          <a:spcPct val="100000"/>
                        </a:lnSpc>
                      </a:pPr>
                      <a:r>
                        <a:rPr sz="1800" spc="-10" dirty="0">
                          <a:latin typeface="Calibri"/>
                          <a:cs typeface="Calibri"/>
                        </a:rPr>
                        <a:t>cyberattacks,</a:t>
                      </a:r>
                      <a:r>
                        <a:rPr sz="1800" spc="-50" dirty="0">
                          <a:latin typeface="Calibri"/>
                          <a:cs typeface="Calibri"/>
                        </a:rPr>
                        <a:t> </a:t>
                      </a:r>
                      <a:r>
                        <a:rPr sz="1800" spc="-10" dirty="0">
                          <a:latin typeface="Calibri"/>
                          <a:cs typeface="Calibri"/>
                        </a:rPr>
                        <a:t>unauthorized</a:t>
                      </a:r>
                      <a:r>
                        <a:rPr sz="1800" spc="-15" dirty="0">
                          <a:latin typeface="Calibri"/>
                          <a:cs typeface="Calibri"/>
                        </a:rPr>
                        <a:t> </a:t>
                      </a:r>
                      <a:r>
                        <a:rPr sz="1800" dirty="0">
                          <a:latin typeface="Calibri"/>
                          <a:cs typeface="Calibri"/>
                        </a:rPr>
                        <a:t>access,</a:t>
                      </a:r>
                      <a:r>
                        <a:rPr sz="1800" spc="-40"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data</a:t>
                      </a:r>
                      <a:r>
                        <a:rPr sz="1800" spc="-35" dirty="0">
                          <a:latin typeface="Calibri"/>
                          <a:cs typeface="Calibri"/>
                        </a:rPr>
                        <a:t> </a:t>
                      </a:r>
                      <a:r>
                        <a:rPr sz="1800" spc="-10" dirty="0">
                          <a:latin typeface="Calibri"/>
                          <a:cs typeface="Calibri"/>
                        </a:rPr>
                        <a:t>breaches.</a:t>
                      </a:r>
                      <a:endParaRPr sz="1800">
                        <a:latin typeface="Calibri"/>
                        <a:cs typeface="Calibri"/>
                      </a:endParaRPr>
                    </a:p>
                  </a:txBody>
                  <a:tcPr marL="0" marR="0" marT="31115" marB="0">
                    <a:lnB w="12700">
                      <a:solidFill>
                        <a:srgbClr val="000000"/>
                      </a:solidFill>
                      <a:prstDash val="solid"/>
                    </a:lnB>
                    <a:solidFill>
                      <a:srgbClr val="000000">
                        <a:alpha val="19999"/>
                      </a:srgb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630395-B532-E8DD-B33D-FFCAB828B97B}"/>
              </a:ext>
            </a:extLst>
          </p:cNvPr>
          <p:cNvPicPr>
            <a:picLocks noChangeAspect="1"/>
          </p:cNvPicPr>
          <p:nvPr/>
        </p:nvPicPr>
        <p:blipFill>
          <a:blip r:embed="rId3">
            <a:lum/>
            <a:alphaModFix/>
          </a:blip>
          <a:srcRect/>
          <a:stretch>
            <a:fillRect/>
          </a:stretch>
        </p:blipFill>
        <p:spPr>
          <a:xfrm>
            <a:off x="-6531" y="500964"/>
            <a:ext cx="9143107" cy="58468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C601C7-37DD-85B7-17C1-05490F2194FF}"/>
              </a:ext>
            </a:extLst>
          </p:cNvPr>
          <p:cNvPicPr>
            <a:picLocks noChangeAspect="1"/>
          </p:cNvPicPr>
          <p:nvPr/>
        </p:nvPicPr>
        <p:blipFill>
          <a:blip r:embed="rId2"/>
          <a:stretch>
            <a:fillRect/>
          </a:stretch>
        </p:blipFill>
        <p:spPr>
          <a:xfrm>
            <a:off x="555600" y="381000"/>
            <a:ext cx="8032800" cy="5488643"/>
          </a:xfrm>
          <a:prstGeom prst="rect">
            <a:avLst/>
          </a:prstGeom>
        </p:spPr>
      </p:pic>
    </p:spTree>
    <p:extLst>
      <p:ext uri="{BB962C8B-B14F-4D97-AF65-F5344CB8AC3E}">
        <p14:creationId xmlns:p14="http://schemas.microsoft.com/office/powerpoint/2010/main" val="40124706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339221B-392B-0E96-6EEB-7A73FFAF26C1}"/>
              </a:ext>
            </a:extLst>
          </p:cNvPr>
          <p:cNvSpPr txBox="1"/>
          <p:nvPr/>
        </p:nvSpPr>
        <p:spPr>
          <a:xfrm>
            <a:off x="381000" y="381000"/>
            <a:ext cx="8305800" cy="5078313"/>
          </a:xfrm>
          <a:prstGeom prst="rect">
            <a:avLst/>
          </a:prstGeom>
          <a:noFill/>
        </p:spPr>
        <p:txBody>
          <a:bodyPr wrap="square">
            <a:spAutoFit/>
          </a:bodyPr>
          <a:lstStyle/>
          <a:p>
            <a:r>
              <a:rPr lang="en-US" sz="2000" dirty="0">
                <a:solidFill>
                  <a:schemeClr val="accent6">
                    <a:lumMod val="75000"/>
                  </a:schemeClr>
                </a:solidFill>
              </a:rPr>
              <a:t>Business Intelligence vs Big Data </a:t>
            </a:r>
          </a:p>
          <a:p>
            <a:endParaRPr lang="en-US" dirty="0">
              <a:solidFill>
                <a:schemeClr val="accent6">
                  <a:lumMod val="75000"/>
                </a:schemeClr>
              </a:solidFill>
            </a:endParaRPr>
          </a:p>
          <a:p>
            <a:pPr algn="just"/>
            <a:r>
              <a:rPr lang="en-US" dirty="0"/>
              <a:t>Big Data and Business Intelligence are two technologies used to analyze data to help companies in the decision-making process, there are differences between both of them. </a:t>
            </a:r>
          </a:p>
          <a:p>
            <a:pPr algn="just"/>
            <a:endParaRPr lang="en-US" dirty="0"/>
          </a:p>
          <a:p>
            <a:pPr algn="just"/>
            <a:r>
              <a:rPr lang="en-US" dirty="0"/>
              <a:t>They differ in the way they work as much as in the type of data they analyze. </a:t>
            </a:r>
          </a:p>
          <a:p>
            <a:pPr algn="just"/>
            <a:r>
              <a:rPr lang="en-US" dirty="0"/>
              <a:t>Traditional BI methodology is based on the principle of grouping all business data into a central server. </a:t>
            </a:r>
          </a:p>
          <a:p>
            <a:pPr algn="just"/>
            <a:endParaRPr lang="en-US" dirty="0"/>
          </a:p>
          <a:p>
            <a:pPr algn="just"/>
            <a:r>
              <a:rPr lang="en-US" dirty="0"/>
              <a:t>Typically, this data is analyzed in offline mode, after storing the information in an environment called Data Warehouse. The data is structured in a conventional relational database with an additional set of indexes and forms of access to the tables (multidimensional cubes). </a:t>
            </a:r>
          </a:p>
          <a:p>
            <a:endParaRPr lang="en-US" dirty="0"/>
          </a:p>
          <a:p>
            <a:r>
              <a:rPr lang="en-US" dirty="0"/>
              <a:t>A Big Data solution differs in many aspects to BI to use. These are the main differences between </a:t>
            </a:r>
          </a:p>
          <a:p>
            <a:endParaRPr lang="en-IN" dirty="0"/>
          </a:p>
        </p:txBody>
      </p:sp>
    </p:spTree>
    <p:extLst>
      <p:ext uri="{BB962C8B-B14F-4D97-AF65-F5344CB8AC3E}">
        <p14:creationId xmlns:p14="http://schemas.microsoft.com/office/powerpoint/2010/main" val="169992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79668A-9C8B-7477-FFF9-40F598027A66}"/>
              </a:ext>
            </a:extLst>
          </p:cNvPr>
          <p:cNvSpPr txBox="1"/>
          <p:nvPr/>
        </p:nvSpPr>
        <p:spPr>
          <a:xfrm>
            <a:off x="33528" y="152400"/>
            <a:ext cx="9110472" cy="6463308"/>
          </a:xfrm>
          <a:prstGeom prst="rect">
            <a:avLst/>
          </a:prstGeom>
          <a:noFill/>
        </p:spPr>
        <p:txBody>
          <a:bodyPr wrap="square">
            <a:spAutoFit/>
          </a:bodyPr>
          <a:lstStyle/>
          <a:p>
            <a:r>
              <a:rPr lang="en-US" dirty="0">
                <a:solidFill>
                  <a:schemeClr val="accent6">
                    <a:lumMod val="75000"/>
                  </a:schemeClr>
                </a:solidFill>
              </a:rPr>
              <a:t>Big Data and Business Intelligence: </a:t>
            </a:r>
          </a:p>
          <a:p>
            <a:pPr marL="342900" indent="-342900" algn="just">
              <a:buAutoNum type="arabicPeriod"/>
            </a:pPr>
            <a:r>
              <a:rPr lang="en-US" dirty="0"/>
              <a:t>In a Big Data environment, information is stored on a distributed file system, rather than on a central server. It is a much safer and more flexible space. </a:t>
            </a:r>
          </a:p>
          <a:p>
            <a:pPr algn="just"/>
            <a:endParaRPr lang="en-US" dirty="0"/>
          </a:p>
          <a:p>
            <a:pPr algn="just"/>
            <a:r>
              <a:rPr lang="en-US" dirty="0"/>
              <a:t>2. Big Data solutions carry the processing functions to the data, rather than the data to the functions. As the analysis is centered on the information, it´s easier to handle larger amounts of information in a more agile way. </a:t>
            </a:r>
          </a:p>
          <a:p>
            <a:pPr algn="just"/>
            <a:endParaRPr lang="en-US" dirty="0"/>
          </a:p>
          <a:p>
            <a:pPr algn="just"/>
            <a:r>
              <a:rPr lang="en-US" dirty="0"/>
              <a:t>3. Big Data can analyze data in different formats, both structured and unstructured. The volume of unstructured data (those not stored in a traditional database) is growing at levels much higher than the structured data. Nevertheless, its analysis carries different challenges. Big Data solutions solve them by allowing a global analysis of various sources of information.</a:t>
            </a:r>
          </a:p>
          <a:p>
            <a:pPr algn="just"/>
            <a:endParaRPr lang="en-US" dirty="0"/>
          </a:p>
          <a:p>
            <a:pPr algn="just"/>
            <a:r>
              <a:rPr lang="en-US" dirty="0"/>
              <a:t>4. Data processed by Big Data solutions can be historical or come from real-time sources. Thus, companies can make decisions that affect their business in an agile and efficient way. </a:t>
            </a:r>
          </a:p>
          <a:p>
            <a:pPr algn="just"/>
            <a:endParaRPr lang="en-US" dirty="0"/>
          </a:p>
          <a:p>
            <a:pPr algn="just"/>
            <a:r>
              <a:rPr lang="en-US" dirty="0"/>
              <a:t>5. Big Data technology uses parallel mass processing (MPP) concepts, which improves the  speed of analysis. With MPP many instructions are executed simultaneously, and since the various jobs are divided into several parallel execution parts, at the end the overall results are reunited and presented. This allows you to analyze large volumes of information quickly.</a:t>
            </a:r>
            <a:endParaRPr lang="en-IN" dirty="0"/>
          </a:p>
        </p:txBody>
      </p:sp>
    </p:spTree>
    <p:extLst>
      <p:ext uri="{BB962C8B-B14F-4D97-AF65-F5344CB8AC3E}">
        <p14:creationId xmlns:p14="http://schemas.microsoft.com/office/powerpoint/2010/main" val="4017863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F586A8-2775-5EC7-017E-C8C040D05990}"/>
              </a:ext>
            </a:extLst>
          </p:cNvPr>
          <p:cNvPicPr>
            <a:picLocks noChangeAspect="1"/>
          </p:cNvPicPr>
          <p:nvPr/>
        </p:nvPicPr>
        <p:blipFill>
          <a:blip r:embed="rId2"/>
          <a:stretch>
            <a:fillRect/>
          </a:stretch>
        </p:blipFill>
        <p:spPr>
          <a:xfrm>
            <a:off x="381000" y="381000"/>
            <a:ext cx="8639156" cy="5341329"/>
          </a:xfrm>
          <a:prstGeom prst="rect">
            <a:avLst/>
          </a:prstGeom>
        </p:spPr>
      </p:pic>
    </p:spTree>
    <p:extLst>
      <p:ext uri="{BB962C8B-B14F-4D97-AF65-F5344CB8AC3E}">
        <p14:creationId xmlns:p14="http://schemas.microsoft.com/office/powerpoint/2010/main" val="10124667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7C3702-B43E-B018-06E7-2426622E09D7}"/>
              </a:ext>
            </a:extLst>
          </p:cNvPr>
          <p:cNvSpPr txBox="1"/>
          <p:nvPr/>
        </p:nvSpPr>
        <p:spPr>
          <a:xfrm>
            <a:off x="6096000" y="381000"/>
            <a:ext cx="3038856" cy="6032421"/>
          </a:xfrm>
          <a:prstGeom prst="rect">
            <a:avLst/>
          </a:prstGeom>
          <a:solidFill>
            <a:schemeClr val="accent1">
              <a:lumMod val="20000"/>
              <a:lumOff val="80000"/>
            </a:schemeClr>
          </a:solidFill>
        </p:spPr>
        <p:txBody>
          <a:bodyPr wrap="square">
            <a:spAutoFit/>
          </a:bodyPr>
          <a:lstStyle/>
          <a:p>
            <a:r>
              <a:rPr lang="en-IN" dirty="0"/>
              <a:t> </a:t>
            </a:r>
            <a:r>
              <a:rPr lang="en-IN" sz="1600" dirty="0"/>
              <a:t>Operational Systems</a:t>
            </a:r>
          </a:p>
          <a:p>
            <a:r>
              <a:rPr lang="en-IN" sz="1600" dirty="0"/>
              <a:t>     (ERP, CRM, Banking, HR)</a:t>
            </a:r>
          </a:p>
          <a:p>
            <a:endParaRPr lang="en-IN" sz="1600" dirty="0"/>
          </a:p>
          <a:p>
            <a:r>
              <a:rPr lang="en-IN" sz="1600" dirty="0"/>
              <a:t>                  │</a:t>
            </a:r>
          </a:p>
          <a:p>
            <a:r>
              <a:rPr lang="en-IN" sz="1600" dirty="0"/>
              <a:t>                 ▼</a:t>
            </a:r>
          </a:p>
          <a:p>
            <a:r>
              <a:rPr lang="en-IN" sz="1600" dirty="0"/>
              <a:t>  ETL (Extract, Transform, Load)</a:t>
            </a:r>
          </a:p>
          <a:p>
            <a:endParaRPr lang="en-IN" sz="1600" dirty="0"/>
          </a:p>
          <a:p>
            <a:r>
              <a:rPr lang="en-IN" sz="1600" dirty="0"/>
              <a:t>                  │</a:t>
            </a:r>
          </a:p>
          <a:p>
            <a:r>
              <a:rPr lang="en-IN" sz="1600" dirty="0"/>
              <a:t>                 ▼</a:t>
            </a:r>
          </a:p>
          <a:p>
            <a:r>
              <a:rPr lang="en-IN" sz="1600" dirty="0"/>
              <a:t>           Data Warehouse</a:t>
            </a:r>
          </a:p>
          <a:p>
            <a:endParaRPr lang="en-IN" sz="1600" dirty="0"/>
          </a:p>
          <a:p>
            <a:r>
              <a:rPr lang="en-IN" sz="1600" dirty="0"/>
              <a:t>                  │</a:t>
            </a:r>
          </a:p>
          <a:p>
            <a:r>
              <a:rPr lang="en-IN" sz="1600" dirty="0"/>
              <a:t>        ┌───────┐</a:t>
            </a:r>
          </a:p>
          <a:p>
            <a:r>
              <a:rPr lang="en-IN" sz="1600" dirty="0"/>
              <a:t>        ▼                 ▼</a:t>
            </a:r>
          </a:p>
          <a:p>
            <a:r>
              <a:rPr lang="en-IN" sz="1600" dirty="0"/>
              <a:t>    Data Mart        OLAP Cubes</a:t>
            </a:r>
          </a:p>
          <a:p>
            <a:r>
              <a:rPr lang="en-IN" sz="1600" dirty="0"/>
              <a:t>    </a:t>
            </a:r>
          </a:p>
          <a:p>
            <a:r>
              <a:rPr lang="en-IN" sz="1600" dirty="0"/>
              <a:t>                  │</a:t>
            </a:r>
          </a:p>
          <a:p>
            <a:r>
              <a:rPr lang="en-IN" sz="1600" dirty="0"/>
              <a:t>                 ▼</a:t>
            </a:r>
          </a:p>
          <a:p>
            <a:r>
              <a:rPr lang="en-IN" sz="1600" dirty="0"/>
              <a:t>        Reports &amp; Dashboards</a:t>
            </a:r>
          </a:p>
          <a:p>
            <a:endParaRPr lang="en-IN" sz="1600" dirty="0"/>
          </a:p>
          <a:p>
            <a:r>
              <a:rPr lang="en-IN" sz="1600" dirty="0"/>
              <a:t>                  │</a:t>
            </a:r>
          </a:p>
          <a:p>
            <a:r>
              <a:rPr lang="en-IN" sz="1600" dirty="0"/>
              <a:t>                 ▼</a:t>
            </a:r>
          </a:p>
          <a:p>
            <a:r>
              <a:rPr lang="en-IN" sz="1600" dirty="0"/>
              <a:t>        Business Intelligence</a:t>
            </a:r>
          </a:p>
        </p:txBody>
      </p:sp>
      <p:sp>
        <p:nvSpPr>
          <p:cNvPr id="5" name="TextBox 4">
            <a:extLst>
              <a:ext uri="{FF2B5EF4-FFF2-40B4-BE49-F238E27FC236}">
                <a16:creationId xmlns:a16="http://schemas.microsoft.com/office/drawing/2014/main" id="{66D191B8-ACDF-3530-F58A-7EFCC69347C2}"/>
              </a:ext>
            </a:extLst>
          </p:cNvPr>
          <p:cNvSpPr txBox="1"/>
          <p:nvPr/>
        </p:nvSpPr>
        <p:spPr>
          <a:xfrm>
            <a:off x="152400" y="0"/>
            <a:ext cx="5029200" cy="430887"/>
          </a:xfrm>
          <a:prstGeom prst="rect">
            <a:avLst/>
          </a:prstGeom>
          <a:noFill/>
        </p:spPr>
        <p:txBody>
          <a:bodyPr wrap="square">
            <a:spAutoFit/>
          </a:bodyPr>
          <a:lstStyle/>
          <a:p>
            <a:r>
              <a:rPr lang="en-US" sz="2200" b="1" dirty="0">
                <a:solidFill>
                  <a:schemeClr val="accent6">
                    <a:lumMod val="75000"/>
                  </a:schemeClr>
                </a:solidFill>
              </a:rPr>
              <a:t>Architecture of a Data Warehouse</a:t>
            </a:r>
            <a:endParaRPr lang="en-IN" sz="2200" b="1" dirty="0">
              <a:solidFill>
                <a:schemeClr val="accent6">
                  <a:lumMod val="75000"/>
                </a:schemeClr>
              </a:solidFill>
            </a:endParaRPr>
          </a:p>
        </p:txBody>
      </p:sp>
      <p:graphicFrame>
        <p:nvGraphicFramePr>
          <p:cNvPr id="6" name="Table 5">
            <a:extLst>
              <a:ext uri="{FF2B5EF4-FFF2-40B4-BE49-F238E27FC236}">
                <a16:creationId xmlns:a16="http://schemas.microsoft.com/office/drawing/2014/main" id="{C03BC104-95A5-7F4B-5D15-2D6C626DF1A4}"/>
              </a:ext>
            </a:extLst>
          </p:cNvPr>
          <p:cNvGraphicFramePr>
            <a:graphicFrameLocks noGrp="1"/>
          </p:cNvGraphicFramePr>
          <p:nvPr>
            <p:extLst>
              <p:ext uri="{D42A27DB-BD31-4B8C-83A1-F6EECF244321}">
                <p14:modId xmlns:p14="http://schemas.microsoft.com/office/powerpoint/2010/main" val="1292247683"/>
              </p:ext>
            </p:extLst>
          </p:nvPr>
        </p:nvGraphicFramePr>
        <p:xfrm>
          <a:off x="0" y="670560"/>
          <a:ext cx="6096000" cy="6187440"/>
        </p:xfrm>
        <a:graphic>
          <a:graphicData uri="http://schemas.openxmlformats.org/drawingml/2006/table">
            <a:tbl>
              <a:tblPr firstRow="1" bandRow="1">
                <a:tableStyleId>{616DA210-FB5B-4158-B5E0-FEB733F419BA}</a:tableStyleId>
              </a:tblPr>
              <a:tblGrid>
                <a:gridCol w="2682239">
                  <a:extLst>
                    <a:ext uri="{9D8B030D-6E8A-4147-A177-3AD203B41FA5}">
                      <a16:colId xmlns:a16="http://schemas.microsoft.com/office/drawing/2014/main" val="182746072"/>
                    </a:ext>
                  </a:extLst>
                </a:gridCol>
                <a:gridCol w="3413761">
                  <a:extLst>
                    <a:ext uri="{9D8B030D-6E8A-4147-A177-3AD203B41FA5}">
                      <a16:colId xmlns:a16="http://schemas.microsoft.com/office/drawing/2014/main" val="3560077118"/>
                    </a:ext>
                  </a:extLst>
                </a:gridCol>
              </a:tblGrid>
              <a:tr h="138073">
                <a:tc>
                  <a:txBody>
                    <a:bodyPr/>
                    <a:lstStyle/>
                    <a:p>
                      <a:r>
                        <a:rPr lang="en-US" sz="1600" b="1" dirty="0"/>
                        <a:t>1. Data Sources</a:t>
                      </a:r>
                    </a:p>
                    <a:p>
                      <a:r>
                        <a:rPr lang="en-US" sz="1600" b="0" dirty="0" err="1"/>
                        <a:t>Examples:ERP</a:t>
                      </a:r>
                      <a:r>
                        <a:rPr lang="en-US" sz="1600" b="0" dirty="0"/>
                        <a:t> ,CRM ,Banking systems ,Hospital databases </a:t>
                      </a:r>
                    </a:p>
                    <a:p>
                      <a:r>
                        <a:rPr lang="en-US" sz="1600" b="0" dirty="0"/>
                        <a:t>Payroll systems</a:t>
                      </a:r>
                    </a:p>
                    <a:p>
                      <a:endParaRPr lang="en-IN" sz="1600" dirty="0"/>
                    </a:p>
                  </a:txBody>
                  <a:tcPr/>
                </a:tc>
                <a:tc>
                  <a:txBody>
                    <a:bodyPr/>
                    <a:lstStyle/>
                    <a:p>
                      <a:r>
                        <a:rPr lang="en-IN" sz="1600" b="1" dirty="0"/>
                        <a:t>3. Data Warehouse</a:t>
                      </a:r>
                    </a:p>
                    <a:p>
                      <a:r>
                        <a:rPr lang="en-IN" sz="1600" b="0" dirty="0"/>
                        <a:t>Stores structured historical data optimized for analytical queries.</a:t>
                      </a:r>
                    </a:p>
                    <a:p>
                      <a:r>
                        <a:rPr lang="en-IN" sz="1600" b="0" dirty="0" err="1"/>
                        <a:t>Examples:Oracle</a:t>
                      </a:r>
                      <a:r>
                        <a:rPr lang="en-IN" sz="1600" b="0" dirty="0"/>
                        <a:t> ,SQL Server ,Teradata </a:t>
                      </a:r>
                    </a:p>
                    <a:p>
                      <a:r>
                        <a:rPr lang="en-IN" sz="1600" b="0" dirty="0"/>
                        <a:t>Snowflake</a:t>
                      </a:r>
                    </a:p>
                    <a:p>
                      <a:endParaRPr lang="en-IN" dirty="0"/>
                    </a:p>
                  </a:txBody>
                  <a:tcPr/>
                </a:tc>
                <a:extLst>
                  <a:ext uri="{0D108BD9-81ED-4DB2-BD59-A6C34878D82A}">
                    <a16:rowId xmlns:a16="http://schemas.microsoft.com/office/drawing/2014/main" val="688737418"/>
                  </a:ext>
                </a:extLst>
              </a:tr>
              <a:tr h="370840">
                <a:tc>
                  <a:txBody>
                    <a:bodyPr/>
                    <a:lstStyle/>
                    <a:p>
                      <a:r>
                        <a:rPr lang="en-US" sz="1600" b="1" dirty="0"/>
                        <a:t>2.ETL Process</a:t>
                      </a:r>
                    </a:p>
                    <a:p>
                      <a:r>
                        <a:rPr lang="en-US" sz="1600" b="1" dirty="0" err="1"/>
                        <a:t>Extract</a:t>
                      </a:r>
                      <a:r>
                        <a:rPr lang="en-US" sz="1600" dirty="0" err="1"/>
                        <a:t>,Collect</a:t>
                      </a:r>
                      <a:r>
                        <a:rPr lang="en-US" sz="1600" dirty="0"/>
                        <a:t> data from multiple sources.</a:t>
                      </a:r>
                    </a:p>
                    <a:p>
                      <a:r>
                        <a:rPr lang="en-US" sz="1600" dirty="0"/>
                        <a:t>↓</a:t>
                      </a:r>
                    </a:p>
                    <a:p>
                      <a:r>
                        <a:rPr lang="en-US" sz="1600" b="1" dirty="0" err="1"/>
                        <a:t>Transform</a:t>
                      </a:r>
                      <a:r>
                        <a:rPr lang="en-US" sz="1600" dirty="0" err="1"/>
                        <a:t>,Clean</a:t>
                      </a:r>
                      <a:r>
                        <a:rPr lang="en-US" sz="1600" dirty="0"/>
                        <a:t>, validate, standardize, integrate.</a:t>
                      </a:r>
                    </a:p>
                    <a:p>
                      <a:r>
                        <a:rPr lang="en-US" sz="1600" dirty="0"/>
                        <a:t>↓</a:t>
                      </a:r>
                    </a:p>
                    <a:p>
                      <a:r>
                        <a:rPr lang="en-US" sz="1600" b="1" dirty="0"/>
                        <a:t>Load</a:t>
                      </a:r>
                      <a:r>
                        <a:rPr lang="en-US" sz="1600" dirty="0"/>
                        <a:t> Store into Data Warehouse.</a:t>
                      </a:r>
                    </a:p>
                    <a:p>
                      <a:endParaRPr lang="en-IN" sz="1600" dirty="0"/>
                    </a:p>
                  </a:txBody>
                  <a:tcPr>
                    <a:solidFill>
                      <a:schemeClr val="bg1">
                        <a:alpha val="20000"/>
                      </a:schemeClr>
                    </a:solidFill>
                  </a:tcPr>
                </a:tc>
                <a:tc>
                  <a:txBody>
                    <a:bodyPr/>
                    <a:lstStyle/>
                    <a:p>
                      <a:r>
                        <a:rPr lang="en-US" sz="1600" b="1" dirty="0"/>
                        <a:t>4. Data Mart</a:t>
                      </a:r>
                    </a:p>
                    <a:p>
                      <a:r>
                        <a:rPr lang="en-US" sz="1600" dirty="0"/>
                        <a:t>A subset of the Data Warehouse designed for a specific department.</a:t>
                      </a:r>
                    </a:p>
                    <a:p>
                      <a:r>
                        <a:rPr lang="en-US" sz="1600" dirty="0"/>
                        <a:t>Examples</a:t>
                      </a:r>
                    </a:p>
                    <a:p>
                      <a:r>
                        <a:rPr lang="en-US" sz="1600" dirty="0"/>
                        <a:t>Sales Data Mart </a:t>
                      </a:r>
                    </a:p>
                    <a:p>
                      <a:r>
                        <a:rPr lang="en-US" sz="1600" dirty="0"/>
                        <a:t>Finance Data Mart </a:t>
                      </a:r>
                    </a:p>
                    <a:p>
                      <a:r>
                        <a:rPr lang="en-US" sz="1600" dirty="0"/>
                        <a:t>HR Data Mart</a:t>
                      </a:r>
                    </a:p>
                    <a:p>
                      <a:endParaRPr lang="en-IN" dirty="0"/>
                    </a:p>
                  </a:txBody>
                  <a:tcPr>
                    <a:solidFill>
                      <a:schemeClr val="bg1">
                        <a:alpha val="20000"/>
                      </a:schemeClr>
                    </a:solidFill>
                  </a:tcPr>
                </a:tc>
                <a:extLst>
                  <a:ext uri="{0D108BD9-81ED-4DB2-BD59-A6C34878D82A}">
                    <a16:rowId xmlns:a16="http://schemas.microsoft.com/office/drawing/2014/main" val="227149417"/>
                  </a:ext>
                </a:extLst>
              </a:tr>
              <a:tr h="370840">
                <a:tc>
                  <a:txBody>
                    <a:bodyPr/>
                    <a:lstStyle/>
                    <a:p>
                      <a:r>
                        <a:rPr lang="en-US" sz="1600" b="1" dirty="0"/>
                        <a:t>5. OLAP (Online Analytical Processing)</a:t>
                      </a:r>
                    </a:p>
                    <a:p>
                      <a:r>
                        <a:rPr lang="en-US" sz="1600" dirty="0"/>
                        <a:t>Supports multidimensional analysis.</a:t>
                      </a:r>
                    </a:p>
                    <a:p>
                      <a:r>
                        <a:rPr lang="en-US" sz="1600" dirty="0"/>
                        <a:t>Operations include</a:t>
                      </a:r>
                    </a:p>
                    <a:p>
                      <a:r>
                        <a:rPr lang="en-US" sz="1600" dirty="0"/>
                        <a:t>Drill-down ,Roll-up ,Slice ,</a:t>
                      </a:r>
                      <a:r>
                        <a:rPr lang="en-US" sz="1600" dirty="0" err="1"/>
                        <a:t>Dice,Pivot</a:t>
                      </a:r>
                      <a:endParaRPr lang="en-US" sz="1600" dirty="0"/>
                    </a:p>
                    <a:p>
                      <a:endParaRPr lang="en-IN" dirty="0"/>
                    </a:p>
                  </a:txBody>
                  <a:tcPr/>
                </a:tc>
                <a:tc>
                  <a:txBody>
                    <a:bodyPr/>
                    <a:lstStyle/>
                    <a:p>
                      <a:r>
                        <a:rPr lang="en-US" sz="1600" b="1" dirty="0"/>
                        <a:t>6. BI Tools</a:t>
                      </a:r>
                    </a:p>
                    <a:p>
                      <a:r>
                        <a:rPr lang="en-US" sz="1600" dirty="0"/>
                        <a:t>Examples</a:t>
                      </a:r>
                    </a:p>
                    <a:p>
                      <a:r>
                        <a:rPr lang="en-US" sz="1600" dirty="0"/>
                        <a:t>Power BI </a:t>
                      </a:r>
                    </a:p>
                    <a:p>
                      <a:r>
                        <a:rPr lang="en-US" sz="1600" dirty="0"/>
                        <a:t>Tableau </a:t>
                      </a:r>
                    </a:p>
                    <a:p>
                      <a:r>
                        <a:rPr lang="en-US" sz="1600" dirty="0"/>
                        <a:t>SAP BusinessObjects </a:t>
                      </a:r>
                    </a:p>
                    <a:p>
                      <a:r>
                        <a:rPr lang="en-US" sz="1600" dirty="0"/>
                        <a:t>IBM Cognos</a:t>
                      </a:r>
                    </a:p>
                    <a:p>
                      <a:endParaRPr lang="en-IN" dirty="0"/>
                    </a:p>
                  </a:txBody>
                  <a:tcPr/>
                </a:tc>
                <a:extLst>
                  <a:ext uri="{0D108BD9-81ED-4DB2-BD59-A6C34878D82A}">
                    <a16:rowId xmlns:a16="http://schemas.microsoft.com/office/drawing/2014/main" val="1284300086"/>
                  </a:ext>
                </a:extLst>
              </a:tr>
            </a:tbl>
          </a:graphicData>
        </a:graphic>
      </p:graphicFrame>
    </p:spTree>
    <p:extLst>
      <p:ext uri="{BB962C8B-B14F-4D97-AF65-F5344CB8AC3E}">
        <p14:creationId xmlns:p14="http://schemas.microsoft.com/office/powerpoint/2010/main" val="32408059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059108F-B517-588A-8976-4AB3FBFD54C0}"/>
              </a:ext>
            </a:extLst>
          </p:cNvPr>
          <p:cNvPicPr>
            <a:picLocks noChangeAspect="1"/>
          </p:cNvPicPr>
          <p:nvPr/>
        </p:nvPicPr>
        <p:blipFill>
          <a:blip r:embed="rId2">
            <a:lum/>
            <a:alphaModFix/>
          </a:blip>
          <a:srcRect/>
          <a:stretch>
            <a:fillRect/>
          </a:stretch>
        </p:blipFill>
        <p:spPr>
          <a:xfrm>
            <a:off x="301200" y="228600"/>
            <a:ext cx="8541600" cy="5986350"/>
          </a:xfrm>
          <a:prstGeom prst="rect">
            <a:avLst/>
          </a:prstGeom>
          <a:noFill/>
          <a:ln>
            <a:noFill/>
          </a:ln>
        </p:spPr>
      </p:pic>
    </p:spTree>
    <p:extLst>
      <p:ext uri="{BB962C8B-B14F-4D97-AF65-F5344CB8AC3E}">
        <p14:creationId xmlns:p14="http://schemas.microsoft.com/office/powerpoint/2010/main" val="15754526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EB402-5EB3-A54E-075F-8A0FF7C9E39E}"/>
              </a:ext>
            </a:extLst>
          </p:cNvPr>
          <p:cNvSpPr txBox="1"/>
          <p:nvPr/>
        </p:nvSpPr>
        <p:spPr>
          <a:xfrm>
            <a:off x="381000" y="381000"/>
            <a:ext cx="2590800" cy="4801314"/>
          </a:xfrm>
          <a:prstGeom prst="rect">
            <a:avLst/>
          </a:prstGeom>
          <a:noFill/>
        </p:spPr>
        <p:txBody>
          <a:bodyPr wrap="square">
            <a:spAutoFit/>
          </a:bodyPr>
          <a:lstStyle/>
          <a:p>
            <a:r>
              <a:rPr lang="en-US" b="1" dirty="0">
                <a:solidFill>
                  <a:schemeClr val="accent6">
                    <a:lumMod val="75000"/>
                  </a:schemeClr>
                </a:solidFill>
              </a:rPr>
              <a:t>A Typical Hadoop Environment</a:t>
            </a:r>
          </a:p>
          <a:p>
            <a:endParaRPr lang="en-US" b="1" dirty="0"/>
          </a:p>
          <a:p>
            <a:r>
              <a:rPr lang="en-US" b="1" dirty="0"/>
              <a:t>What is Hadoop?</a:t>
            </a:r>
          </a:p>
          <a:p>
            <a:r>
              <a:rPr lang="en-US" dirty="0"/>
              <a:t>Apache Hadoop is an open-source distributed framework that stores and processes massive datasets across clusters of commodity hardware.</a:t>
            </a:r>
          </a:p>
          <a:p>
            <a:endParaRPr lang="en-US" dirty="0"/>
          </a:p>
          <a:p>
            <a:r>
              <a:rPr lang="en-US" dirty="0"/>
              <a:t>It is designed to manage:</a:t>
            </a:r>
          </a:p>
          <a:p>
            <a:pPr>
              <a:buFont typeface="Arial" panose="020B0604020202020204" pitchFamily="34" charset="0"/>
              <a:buChar char="•"/>
            </a:pPr>
            <a:r>
              <a:rPr lang="en-US" dirty="0"/>
              <a:t>Structured data </a:t>
            </a:r>
          </a:p>
          <a:p>
            <a:pPr>
              <a:buFont typeface="Arial" panose="020B0604020202020204" pitchFamily="34" charset="0"/>
              <a:buChar char="•"/>
            </a:pPr>
            <a:r>
              <a:rPr lang="en-US" dirty="0"/>
              <a:t>Semi-structured data </a:t>
            </a:r>
          </a:p>
          <a:p>
            <a:pPr>
              <a:buFont typeface="Arial" panose="020B0604020202020204" pitchFamily="34" charset="0"/>
              <a:buChar char="•"/>
            </a:pPr>
            <a:r>
              <a:rPr lang="en-US" dirty="0"/>
              <a:t>Unstructured data</a:t>
            </a:r>
          </a:p>
        </p:txBody>
      </p:sp>
      <p:sp>
        <p:nvSpPr>
          <p:cNvPr id="5" name="TextBox 4">
            <a:extLst>
              <a:ext uri="{FF2B5EF4-FFF2-40B4-BE49-F238E27FC236}">
                <a16:creationId xmlns:a16="http://schemas.microsoft.com/office/drawing/2014/main" id="{D0BA2F52-07C7-59A8-C804-65E4FA0ECE9A}"/>
              </a:ext>
            </a:extLst>
          </p:cNvPr>
          <p:cNvSpPr txBox="1"/>
          <p:nvPr/>
        </p:nvSpPr>
        <p:spPr>
          <a:xfrm>
            <a:off x="3695702" y="0"/>
            <a:ext cx="5257800" cy="6401753"/>
          </a:xfrm>
          <a:prstGeom prst="rect">
            <a:avLst/>
          </a:prstGeom>
          <a:solidFill>
            <a:schemeClr val="accent3">
              <a:lumMod val="20000"/>
              <a:lumOff val="80000"/>
            </a:schemeClr>
          </a:solidFill>
        </p:spPr>
        <p:txBody>
          <a:bodyPr wrap="square">
            <a:spAutoFit/>
          </a:bodyPr>
          <a:lstStyle/>
          <a:p>
            <a:r>
              <a:rPr lang="en-IN" dirty="0"/>
              <a:t> </a:t>
            </a:r>
            <a:r>
              <a:rPr lang="en-IN" sz="1400" dirty="0"/>
              <a:t>Data Sources</a:t>
            </a:r>
          </a:p>
          <a:p>
            <a:endParaRPr lang="en-IN" sz="1400" dirty="0"/>
          </a:p>
          <a:p>
            <a:r>
              <a:rPr lang="en-IN" sz="1400" dirty="0">
                <a:solidFill>
                  <a:schemeClr val="accent6">
                    <a:lumMod val="75000"/>
                  </a:schemeClr>
                </a:solidFill>
              </a:rPr>
              <a:t> Social Media | IoT | Logs | Databases</a:t>
            </a:r>
          </a:p>
          <a:p>
            <a:r>
              <a:rPr lang="en-IN" sz="1400" dirty="0">
                <a:solidFill>
                  <a:schemeClr val="accent6">
                    <a:lumMod val="75000"/>
                  </a:schemeClr>
                </a:solidFill>
              </a:rPr>
              <a:t> Images | Videos | Sensors | Emails</a:t>
            </a:r>
          </a:p>
          <a:p>
            <a:r>
              <a:rPr lang="en-IN" sz="1400" dirty="0"/>
              <a:t>                     │</a:t>
            </a:r>
          </a:p>
          <a:p>
            <a:r>
              <a:rPr lang="en-IN" sz="1400" dirty="0"/>
              <a:t>                    ▼</a:t>
            </a:r>
          </a:p>
          <a:p>
            <a:r>
              <a:rPr lang="en-IN" sz="1400" dirty="0"/>
              <a:t>            Data Ingestion Layer</a:t>
            </a:r>
          </a:p>
          <a:p>
            <a:endParaRPr lang="en-IN" sz="1400" dirty="0"/>
          </a:p>
          <a:p>
            <a:r>
              <a:rPr lang="en-IN" sz="1400" dirty="0">
                <a:solidFill>
                  <a:schemeClr val="accent6">
                    <a:lumMod val="75000"/>
                  </a:schemeClr>
                </a:solidFill>
              </a:rPr>
              <a:t>      Sqoop | Flume | Kafka | APIs</a:t>
            </a:r>
          </a:p>
          <a:p>
            <a:r>
              <a:rPr lang="en-IN" sz="1400" dirty="0"/>
              <a:t>                     │</a:t>
            </a:r>
          </a:p>
          <a:p>
            <a:r>
              <a:rPr lang="en-IN" sz="1400" dirty="0"/>
              <a:t>                    ▼</a:t>
            </a:r>
          </a:p>
          <a:p>
            <a:r>
              <a:rPr lang="en-IN" sz="1400" dirty="0"/>
              <a:t>       Hadoop Distributed File System (HDFS)</a:t>
            </a:r>
          </a:p>
          <a:p>
            <a:r>
              <a:rPr lang="en-IN" sz="1400" dirty="0"/>
              <a:t>                     │</a:t>
            </a:r>
          </a:p>
          <a:p>
            <a:r>
              <a:rPr lang="en-IN" sz="1400" dirty="0"/>
              <a:t>                    ▼</a:t>
            </a:r>
          </a:p>
          <a:p>
            <a:r>
              <a:rPr lang="en-IN" sz="1400" dirty="0"/>
              <a:t>          YARN (Resource Manager)</a:t>
            </a:r>
          </a:p>
          <a:p>
            <a:r>
              <a:rPr lang="en-IN" sz="1400" dirty="0"/>
              <a:t>                      │</a:t>
            </a:r>
          </a:p>
          <a:p>
            <a:r>
              <a:rPr lang="en-IN" sz="1400" dirty="0"/>
              <a:t>         ┌────┴────┐</a:t>
            </a:r>
          </a:p>
          <a:p>
            <a:r>
              <a:rPr lang="en-IN" sz="1400" dirty="0"/>
              <a:t>         ▼                     ▼</a:t>
            </a:r>
          </a:p>
          <a:p>
            <a:r>
              <a:rPr lang="en-IN" sz="1400" dirty="0"/>
              <a:t>     MapReduce        Apache Spark</a:t>
            </a:r>
          </a:p>
          <a:p>
            <a:r>
              <a:rPr lang="en-IN" sz="1400" dirty="0"/>
              <a:t>                      │</a:t>
            </a:r>
          </a:p>
          <a:p>
            <a:r>
              <a:rPr lang="en-IN" sz="1400" dirty="0"/>
              <a:t>                     ▼</a:t>
            </a:r>
          </a:p>
          <a:p>
            <a:r>
              <a:rPr lang="en-IN" sz="1400" dirty="0"/>
              <a:t>      </a:t>
            </a:r>
            <a:r>
              <a:rPr lang="en-IN" sz="1400" dirty="0">
                <a:solidFill>
                  <a:schemeClr val="accent6">
                    <a:lumMod val="75000"/>
                  </a:schemeClr>
                </a:solidFill>
              </a:rPr>
              <a:t>Hive | Pig | HBase | Impala</a:t>
            </a:r>
          </a:p>
          <a:p>
            <a:r>
              <a:rPr lang="en-IN" sz="1400" dirty="0"/>
              <a:t>                     │</a:t>
            </a:r>
          </a:p>
          <a:p>
            <a:r>
              <a:rPr lang="en-IN" sz="1400" dirty="0"/>
              <a:t>                    ▼</a:t>
            </a:r>
          </a:p>
          <a:p>
            <a:r>
              <a:rPr lang="en-IN" sz="1400" dirty="0"/>
              <a:t>     Machine Learning &amp; Analytics</a:t>
            </a:r>
          </a:p>
          <a:p>
            <a:r>
              <a:rPr lang="en-IN" sz="1400" dirty="0"/>
              <a:t>                     │</a:t>
            </a:r>
          </a:p>
          <a:p>
            <a:r>
              <a:rPr lang="en-IN" sz="1400" dirty="0"/>
              <a:t>                    ▼</a:t>
            </a:r>
          </a:p>
          <a:p>
            <a:r>
              <a:rPr lang="en-IN" sz="1400" dirty="0"/>
              <a:t>       Dashboards &amp; Visualization</a:t>
            </a:r>
          </a:p>
        </p:txBody>
      </p:sp>
    </p:spTree>
    <p:extLst>
      <p:ext uri="{BB962C8B-B14F-4D97-AF65-F5344CB8AC3E}">
        <p14:creationId xmlns:p14="http://schemas.microsoft.com/office/powerpoint/2010/main" val="39087251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8CB911B-49F2-42AB-084A-5BC117AE512F}"/>
              </a:ext>
            </a:extLst>
          </p:cNvPr>
          <p:cNvGraphicFramePr>
            <a:graphicFrameLocks noGrp="1"/>
          </p:cNvGraphicFramePr>
          <p:nvPr>
            <p:extLst>
              <p:ext uri="{D42A27DB-BD31-4B8C-83A1-F6EECF244321}">
                <p14:modId xmlns:p14="http://schemas.microsoft.com/office/powerpoint/2010/main" val="4154251502"/>
              </p:ext>
            </p:extLst>
          </p:nvPr>
        </p:nvGraphicFramePr>
        <p:xfrm>
          <a:off x="381000" y="772005"/>
          <a:ext cx="8382000" cy="490728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133255238"/>
                    </a:ext>
                  </a:extLst>
                </a:gridCol>
                <a:gridCol w="4419600">
                  <a:extLst>
                    <a:ext uri="{9D8B030D-6E8A-4147-A177-3AD203B41FA5}">
                      <a16:colId xmlns:a16="http://schemas.microsoft.com/office/drawing/2014/main" val="109337791"/>
                    </a:ext>
                  </a:extLst>
                </a:gridCol>
              </a:tblGrid>
              <a:tr h="370840">
                <a:tc>
                  <a:txBody>
                    <a:bodyPr/>
                    <a:lstStyle/>
                    <a:p>
                      <a:r>
                        <a:rPr lang="en-US" sz="1600" b="1" dirty="0">
                          <a:solidFill>
                            <a:schemeClr val="tx1"/>
                          </a:solidFill>
                        </a:rPr>
                        <a:t>HDFS</a:t>
                      </a:r>
                    </a:p>
                    <a:p>
                      <a:r>
                        <a:rPr lang="en-US" sz="1600" b="0" dirty="0">
                          <a:solidFill>
                            <a:schemeClr val="tx1"/>
                          </a:solidFill>
                        </a:rPr>
                        <a:t>Stores files across multiple computers.</a:t>
                      </a:r>
                    </a:p>
                    <a:p>
                      <a:r>
                        <a:rPr lang="en-US" sz="1600" b="0" dirty="0">
                          <a:solidFill>
                            <a:schemeClr val="tx1"/>
                          </a:solidFill>
                        </a:rPr>
                        <a:t>Advantages</a:t>
                      </a:r>
                    </a:p>
                    <a:p>
                      <a:pPr>
                        <a:buFont typeface="Arial" panose="020B0604020202020204" pitchFamily="34" charset="0"/>
                        <a:buChar char="•"/>
                      </a:pPr>
                      <a:r>
                        <a:rPr lang="en-US" sz="1600" b="0" dirty="0">
                          <a:solidFill>
                            <a:schemeClr val="tx1"/>
                          </a:solidFill>
                        </a:rPr>
                        <a:t>Fault tolerance </a:t>
                      </a:r>
                    </a:p>
                    <a:p>
                      <a:pPr>
                        <a:buFont typeface="Arial" panose="020B0604020202020204" pitchFamily="34" charset="0"/>
                        <a:buChar char="•"/>
                      </a:pPr>
                      <a:r>
                        <a:rPr lang="en-US" sz="1600" b="0" dirty="0">
                          <a:solidFill>
                            <a:schemeClr val="tx1"/>
                          </a:solidFill>
                        </a:rPr>
                        <a:t>Scalability </a:t>
                      </a:r>
                    </a:p>
                    <a:p>
                      <a:pPr>
                        <a:buFont typeface="Arial" panose="020B0604020202020204" pitchFamily="34" charset="0"/>
                        <a:buChar char="•"/>
                      </a:pPr>
                      <a:r>
                        <a:rPr lang="en-US" sz="1600" b="0" dirty="0">
                          <a:solidFill>
                            <a:schemeClr val="tx1"/>
                          </a:solidFill>
                        </a:rPr>
                        <a:t>High availability</a:t>
                      </a:r>
                    </a:p>
                    <a:p>
                      <a:endParaRPr lang="en-IN" sz="1600" dirty="0">
                        <a:solidFill>
                          <a:schemeClr val="tx1"/>
                        </a:solidFill>
                      </a:endParaRPr>
                    </a:p>
                  </a:txBody>
                  <a:tcPr>
                    <a:solidFill>
                      <a:schemeClr val="bg2">
                        <a:lumMod val="90000"/>
                      </a:schemeClr>
                    </a:solidFill>
                  </a:tcPr>
                </a:tc>
                <a:tc>
                  <a:txBody>
                    <a:bodyPr/>
                    <a:lstStyle/>
                    <a:p>
                      <a:r>
                        <a:rPr lang="en-US" sz="1600" b="1" dirty="0">
                          <a:solidFill>
                            <a:schemeClr val="tx1"/>
                          </a:solidFill>
                        </a:rPr>
                        <a:t>MapReduce</a:t>
                      </a:r>
                    </a:p>
                    <a:p>
                      <a:r>
                        <a:rPr lang="en-US" sz="1600" b="0" dirty="0">
                          <a:solidFill>
                            <a:schemeClr val="tx1"/>
                          </a:solidFill>
                        </a:rPr>
                        <a:t>Programming model for distributed processing.</a:t>
                      </a:r>
                    </a:p>
                    <a:p>
                      <a:r>
                        <a:rPr lang="en-US" sz="1600" b="0" dirty="0">
                          <a:solidFill>
                            <a:schemeClr val="tx1"/>
                          </a:solidFill>
                        </a:rPr>
                        <a:t>Two stages</a:t>
                      </a:r>
                    </a:p>
                    <a:p>
                      <a:r>
                        <a:rPr lang="en-US" sz="1600" b="0" dirty="0">
                          <a:solidFill>
                            <a:schemeClr val="tx1"/>
                          </a:solidFill>
                        </a:rPr>
                        <a:t>Map</a:t>
                      </a:r>
                    </a:p>
                    <a:p>
                      <a:r>
                        <a:rPr lang="en-US" sz="1600" b="0" dirty="0">
                          <a:solidFill>
                            <a:schemeClr val="tx1"/>
                          </a:solidFill>
                        </a:rPr>
                        <a:t>↓</a:t>
                      </a:r>
                    </a:p>
                    <a:p>
                      <a:r>
                        <a:rPr lang="en-US" sz="1600" b="0" dirty="0">
                          <a:solidFill>
                            <a:schemeClr val="tx1"/>
                          </a:solidFill>
                        </a:rPr>
                        <a:t>Reduce</a:t>
                      </a:r>
                    </a:p>
                    <a:p>
                      <a:endParaRPr lang="en-IN" sz="1600" dirty="0">
                        <a:solidFill>
                          <a:schemeClr val="tx1"/>
                        </a:solidFill>
                      </a:endParaRPr>
                    </a:p>
                  </a:txBody>
                  <a:tcPr>
                    <a:solidFill>
                      <a:schemeClr val="bg2">
                        <a:lumMod val="90000"/>
                      </a:schemeClr>
                    </a:solidFill>
                  </a:tcPr>
                </a:tc>
                <a:extLst>
                  <a:ext uri="{0D108BD9-81ED-4DB2-BD59-A6C34878D82A}">
                    <a16:rowId xmlns:a16="http://schemas.microsoft.com/office/drawing/2014/main" val="1256857947"/>
                  </a:ext>
                </a:extLst>
              </a:tr>
              <a:tr h="370840">
                <a:tc>
                  <a:txBody>
                    <a:bodyPr/>
                    <a:lstStyle/>
                    <a:p>
                      <a:r>
                        <a:rPr lang="en-US" sz="1600" b="1" dirty="0"/>
                        <a:t>YARN</a:t>
                      </a:r>
                    </a:p>
                    <a:p>
                      <a:r>
                        <a:rPr lang="en-US" sz="1600" dirty="0"/>
                        <a:t>Resource management framework.</a:t>
                      </a:r>
                    </a:p>
                    <a:p>
                      <a:r>
                        <a:rPr lang="en-US" sz="1600" dirty="0"/>
                        <a:t>Functions:</a:t>
                      </a:r>
                    </a:p>
                    <a:p>
                      <a:r>
                        <a:rPr lang="en-US" sz="1600" dirty="0"/>
                        <a:t>Allocates CPU </a:t>
                      </a:r>
                    </a:p>
                    <a:p>
                      <a:r>
                        <a:rPr lang="en-US" sz="1600" dirty="0"/>
                        <a:t>Allocates Memory </a:t>
                      </a:r>
                    </a:p>
                    <a:p>
                      <a:r>
                        <a:rPr lang="en-US" sz="1600" dirty="0"/>
                        <a:t>Schedules jobs</a:t>
                      </a:r>
                    </a:p>
                    <a:p>
                      <a:endParaRPr lang="en-IN" sz="1600" dirty="0"/>
                    </a:p>
                  </a:txBody>
                  <a:tcPr>
                    <a:solidFill>
                      <a:schemeClr val="bg2">
                        <a:lumMod val="90000"/>
                      </a:schemeClr>
                    </a:solidFill>
                  </a:tcPr>
                </a:tc>
                <a:tc>
                  <a:txBody>
                    <a:bodyPr/>
                    <a:lstStyle/>
                    <a:p>
                      <a:r>
                        <a:rPr lang="en-US" sz="1600" b="1" dirty="0"/>
                        <a:t>Hive</a:t>
                      </a:r>
                    </a:p>
                    <a:p>
                      <a:r>
                        <a:rPr lang="en-US" sz="1600" dirty="0"/>
                        <a:t>SQL interface for Hadoop.</a:t>
                      </a:r>
                    </a:p>
                    <a:p>
                      <a:r>
                        <a:rPr lang="en-US" sz="1600" dirty="0"/>
                        <a:t>Allows SQL-like queries.</a:t>
                      </a:r>
                    </a:p>
                    <a:p>
                      <a:endParaRPr lang="en-IN" sz="1600" dirty="0"/>
                    </a:p>
                  </a:txBody>
                  <a:tcPr>
                    <a:solidFill>
                      <a:schemeClr val="bg2">
                        <a:lumMod val="90000"/>
                      </a:schemeClr>
                    </a:solidFill>
                  </a:tcPr>
                </a:tc>
                <a:extLst>
                  <a:ext uri="{0D108BD9-81ED-4DB2-BD59-A6C34878D82A}">
                    <a16:rowId xmlns:a16="http://schemas.microsoft.com/office/drawing/2014/main" val="3030187379"/>
                  </a:ext>
                </a:extLst>
              </a:tr>
              <a:tr h="370840">
                <a:tc>
                  <a:txBody>
                    <a:bodyPr/>
                    <a:lstStyle/>
                    <a:p>
                      <a:r>
                        <a:rPr lang="en-US" sz="1600" b="1" dirty="0"/>
                        <a:t>HBase</a:t>
                      </a:r>
                    </a:p>
                    <a:p>
                      <a:r>
                        <a:rPr lang="en-US" sz="1600" dirty="0"/>
                        <a:t>NoSQL database built on Hadoop.</a:t>
                      </a:r>
                    </a:p>
                    <a:p>
                      <a:r>
                        <a:rPr lang="en-US" sz="1600" dirty="0"/>
                        <a:t>Supports random read/write operations.</a:t>
                      </a:r>
                    </a:p>
                    <a:p>
                      <a:endParaRPr lang="en-IN" sz="1600" dirty="0"/>
                    </a:p>
                  </a:txBody>
                  <a:tcPr>
                    <a:solidFill>
                      <a:schemeClr val="bg2">
                        <a:lumMod val="90000"/>
                      </a:schemeClr>
                    </a:solidFill>
                  </a:tcPr>
                </a:tc>
                <a:tc>
                  <a:txBody>
                    <a:bodyPr/>
                    <a:lstStyle/>
                    <a:p>
                      <a:r>
                        <a:rPr lang="en-US" sz="1600" b="1" dirty="0"/>
                        <a:t>Spark</a:t>
                      </a:r>
                    </a:p>
                    <a:p>
                      <a:r>
                        <a:rPr lang="en-US" sz="1600" dirty="0"/>
                        <a:t>Fast in-memory processing engine.</a:t>
                      </a:r>
                    </a:p>
                    <a:p>
                      <a:r>
                        <a:rPr lang="en-US" sz="1600" dirty="0"/>
                        <a:t>Up to </a:t>
                      </a:r>
                      <a:r>
                        <a:rPr lang="en-US" sz="1600" b="1" dirty="0"/>
                        <a:t>100× faster</a:t>
                      </a:r>
                      <a:r>
                        <a:rPr lang="en-US" sz="1600" dirty="0"/>
                        <a:t> than traditional MapReduce for many workloads.</a:t>
                      </a:r>
                    </a:p>
                    <a:p>
                      <a:endParaRPr lang="en-IN" sz="1600" dirty="0"/>
                    </a:p>
                  </a:txBody>
                  <a:tcPr>
                    <a:solidFill>
                      <a:schemeClr val="bg2">
                        <a:lumMod val="90000"/>
                      </a:schemeClr>
                    </a:solidFill>
                  </a:tcPr>
                </a:tc>
                <a:extLst>
                  <a:ext uri="{0D108BD9-81ED-4DB2-BD59-A6C34878D82A}">
                    <a16:rowId xmlns:a16="http://schemas.microsoft.com/office/drawing/2014/main" val="866731508"/>
                  </a:ext>
                </a:extLst>
              </a:tr>
            </a:tbl>
          </a:graphicData>
        </a:graphic>
      </p:graphicFrame>
      <p:sp>
        <p:nvSpPr>
          <p:cNvPr id="4" name="TextBox 3">
            <a:extLst>
              <a:ext uri="{FF2B5EF4-FFF2-40B4-BE49-F238E27FC236}">
                <a16:creationId xmlns:a16="http://schemas.microsoft.com/office/drawing/2014/main" id="{2852D624-FC5E-6B35-CCD9-E9714E490A5E}"/>
              </a:ext>
            </a:extLst>
          </p:cNvPr>
          <p:cNvSpPr txBox="1"/>
          <p:nvPr/>
        </p:nvSpPr>
        <p:spPr>
          <a:xfrm>
            <a:off x="685800" y="140609"/>
            <a:ext cx="4572000" cy="369332"/>
          </a:xfrm>
          <a:prstGeom prst="rect">
            <a:avLst/>
          </a:prstGeom>
          <a:noFill/>
        </p:spPr>
        <p:txBody>
          <a:bodyPr wrap="square">
            <a:spAutoFit/>
          </a:bodyPr>
          <a:lstStyle/>
          <a:p>
            <a:r>
              <a:rPr lang="en-US" b="1" dirty="0">
                <a:solidFill>
                  <a:schemeClr val="accent6">
                    <a:lumMod val="75000"/>
                  </a:schemeClr>
                </a:solidFill>
              </a:rPr>
              <a:t>Hadoop Components</a:t>
            </a:r>
          </a:p>
        </p:txBody>
      </p:sp>
    </p:spTree>
    <p:extLst>
      <p:ext uri="{BB962C8B-B14F-4D97-AF65-F5344CB8AC3E}">
        <p14:creationId xmlns:p14="http://schemas.microsoft.com/office/powerpoint/2010/main" val="36811672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DCAA1C5-7522-244D-3BAD-A4A3C8B50EBF}"/>
              </a:ext>
            </a:extLst>
          </p:cNvPr>
          <p:cNvGraphicFramePr>
            <a:graphicFrameLocks noGrp="1"/>
          </p:cNvGraphicFramePr>
          <p:nvPr>
            <p:extLst>
              <p:ext uri="{D42A27DB-BD31-4B8C-83A1-F6EECF244321}">
                <p14:modId xmlns:p14="http://schemas.microsoft.com/office/powerpoint/2010/main" val="2788854837"/>
              </p:ext>
            </p:extLst>
          </p:nvPr>
        </p:nvGraphicFramePr>
        <p:xfrm>
          <a:off x="152400" y="0"/>
          <a:ext cx="8458200" cy="6789168"/>
        </p:xfrm>
        <a:graphic>
          <a:graphicData uri="http://schemas.openxmlformats.org/drawingml/2006/table">
            <a:tbl>
              <a:tblPr/>
              <a:tblGrid>
                <a:gridCol w="3420055">
                  <a:extLst>
                    <a:ext uri="{9D8B030D-6E8A-4147-A177-3AD203B41FA5}">
                      <a16:colId xmlns:a16="http://schemas.microsoft.com/office/drawing/2014/main" val="1957197004"/>
                    </a:ext>
                  </a:extLst>
                </a:gridCol>
                <a:gridCol w="5038145">
                  <a:extLst>
                    <a:ext uri="{9D8B030D-6E8A-4147-A177-3AD203B41FA5}">
                      <a16:colId xmlns:a16="http://schemas.microsoft.com/office/drawing/2014/main" val="3626601958"/>
                    </a:ext>
                  </a:extLst>
                </a:gridCol>
              </a:tblGrid>
              <a:tr h="214993">
                <a:tc>
                  <a:txBody>
                    <a:bodyPr/>
                    <a:lstStyle/>
                    <a:p>
                      <a:pPr algn="ctr"/>
                      <a:r>
                        <a:rPr lang="en-IN" sz="1600" b="1" dirty="0"/>
                        <a:t>Component</a:t>
                      </a:r>
                    </a:p>
                  </a:txBody>
                  <a:tcPr marL="26109" marR="26109" marT="13054" marB="13054" anchor="ctr">
                    <a:lnL>
                      <a:noFill/>
                    </a:lnL>
                    <a:lnR>
                      <a:noFill/>
                    </a:lnR>
                    <a:lnT>
                      <a:noFill/>
                    </a:lnT>
                    <a:lnB>
                      <a:noFill/>
                    </a:lnB>
                    <a:solidFill>
                      <a:schemeClr val="accent2">
                        <a:lumMod val="20000"/>
                        <a:lumOff val="80000"/>
                      </a:schemeClr>
                    </a:solidFill>
                  </a:tcPr>
                </a:tc>
                <a:tc>
                  <a:txBody>
                    <a:bodyPr/>
                    <a:lstStyle/>
                    <a:p>
                      <a:pPr algn="ctr"/>
                      <a:r>
                        <a:rPr lang="en-IN" sz="1600" b="1" dirty="0"/>
                        <a:t>Main Function</a:t>
                      </a:r>
                    </a:p>
                  </a:txBody>
                  <a:tcPr marL="26109" marR="26109" marT="13054" marB="13054" anchor="ctr">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3356561918"/>
                  </a:ext>
                </a:extLst>
              </a:tr>
              <a:tr h="376237">
                <a:tc>
                  <a:txBody>
                    <a:bodyPr/>
                    <a:lstStyle/>
                    <a:p>
                      <a:pPr algn="ctr"/>
                      <a:r>
                        <a:rPr lang="en-IN" sz="1600" b="1" dirty="0"/>
                        <a:t>Social Media</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Generates user/content data</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688224373"/>
                  </a:ext>
                </a:extLst>
              </a:tr>
              <a:tr h="214993">
                <a:tc>
                  <a:txBody>
                    <a:bodyPr/>
                    <a:lstStyle/>
                    <a:p>
                      <a:pPr algn="ctr"/>
                      <a:r>
                        <a:rPr lang="en-IN" sz="1600" b="1" dirty="0"/>
                        <a:t>IoT</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Generates device data</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774456051"/>
                  </a:ext>
                </a:extLst>
              </a:tr>
              <a:tr h="214993">
                <a:tc>
                  <a:txBody>
                    <a:bodyPr/>
                    <a:lstStyle/>
                    <a:p>
                      <a:pPr algn="ctr"/>
                      <a:r>
                        <a:rPr lang="en-IN" sz="1600" b="1" dirty="0"/>
                        <a:t>Logs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Records system activities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084524347"/>
                  </a:ext>
                </a:extLst>
              </a:tr>
              <a:tr h="376237">
                <a:tc>
                  <a:txBody>
                    <a:bodyPr/>
                    <a:lstStyle/>
                    <a:p>
                      <a:pPr algn="ctr"/>
                      <a:r>
                        <a:rPr lang="en-IN" sz="1600" b="1" dirty="0"/>
                        <a:t>Databases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Stores structured enterprise data</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731634010"/>
                  </a:ext>
                </a:extLst>
              </a:tr>
              <a:tr h="214993">
                <a:tc>
                  <a:txBody>
                    <a:bodyPr/>
                    <a:lstStyle/>
                    <a:p>
                      <a:pPr algn="ctr"/>
                      <a:r>
                        <a:rPr lang="en-IN" sz="1600" b="1" dirty="0"/>
                        <a:t>Images/Videos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Multimedia data</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906899562"/>
                  </a:ext>
                </a:extLst>
              </a:tr>
              <a:tr h="376237">
                <a:tc>
                  <a:txBody>
                    <a:bodyPr/>
                    <a:lstStyle/>
                    <a:p>
                      <a:pPr algn="ctr"/>
                      <a:r>
                        <a:rPr lang="en-IN" sz="1600" b="1" dirty="0"/>
                        <a:t>Sensors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Continuous measurements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432900296"/>
                  </a:ext>
                </a:extLst>
              </a:tr>
              <a:tr h="214993">
                <a:tc>
                  <a:txBody>
                    <a:bodyPr/>
                    <a:lstStyle/>
                    <a:p>
                      <a:pPr algn="ctr"/>
                      <a:r>
                        <a:rPr lang="en-IN" sz="1600" b="1" dirty="0"/>
                        <a:t>Emails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Communication data</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490461093"/>
                  </a:ext>
                </a:extLst>
              </a:tr>
              <a:tr h="214993">
                <a:tc>
                  <a:txBody>
                    <a:bodyPr/>
                    <a:lstStyle/>
                    <a:p>
                      <a:pPr algn="ctr"/>
                      <a:r>
                        <a:rPr lang="en-IN" sz="1600" b="1" dirty="0"/>
                        <a:t>Kafka</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Event/data streaming</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021437359"/>
                  </a:ext>
                </a:extLst>
              </a:tr>
              <a:tr h="214993">
                <a:tc>
                  <a:txBody>
                    <a:bodyPr/>
                    <a:lstStyle/>
                    <a:p>
                      <a:pPr algn="ctr"/>
                      <a:r>
                        <a:rPr lang="en-IN" sz="1600" b="1" dirty="0"/>
                        <a:t>Flume</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Log ingestion</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4217068276"/>
                  </a:ext>
                </a:extLst>
              </a:tr>
              <a:tr h="376237">
                <a:tc>
                  <a:txBody>
                    <a:bodyPr/>
                    <a:lstStyle/>
                    <a:p>
                      <a:pPr algn="ctr"/>
                      <a:r>
                        <a:rPr lang="en-IN" sz="1600" b="1" dirty="0"/>
                        <a:t>Sqoop</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RDBMS ↔ Hadoop bulk transfer</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463514247"/>
                  </a:ext>
                </a:extLst>
              </a:tr>
              <a:tr h="376237">
                <a:tc>
                  <a:txBody>
                    <a:bodyPr/>
                    <a:lstStyle/>
                    <a:p>
                      <a:pPr algn="ctr"/>
                      <a:r>
                        <a:rPr lang="en-IN" sz="1600" b="1" dirty="0"/>
                        <a:t>APIs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Application-to-application data access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498005586"/>
                  </a:ext>
                </a:extLst>
              </a:tr>
              <a:tr h="214993">
                <a:tc>
                  <a:txBody>
                    <a:bodyPr/>
                    <a:lstStyle/>
                    <a:p>
                      <a:pPr algn="ctr"/>
                      <a:r>
                        <a:rPr lang="en-IN" sz="1600" b="1"/>
                        <a:t>HDFS</a:t>
                      </a:r>
                      <a:endParaRPr lang="en-IN" sz="160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Distributed storage</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273813122"/>
                  </a:ext>
                </a:extLst>
              </a:tr>
              <a:tr h="214993">
                <a:tc>
                  <a:txBody>
                    <a:bodyPr/>
                    <a:lstStyle/>
                    <a:p>
                      <a:pPr algn="ctr"/>
                      <a:r>
                        <a:rPr lang="en-IN" sz="1600" b="1" dirty="0"/>
                        <a:t>YARN</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Resource management</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713158202"/>
                  </a:ext>
                </a:extLst>
              </a:tr>
              <a:tr h="376237">
                <a:tc>
                  <a:txBody>
                    <a:bodyPr/>
                    <a:lstStyle/>
                    <a:p>
                      <a:pPr algn="ctr"/>
                      <a:r>
                        <a:rPr lang="en-IN" sz="1600" b="1" dirty="0"/>
                        <a:t>MapReduce</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Distributed batch processing</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710796672"/>
                  </a:ext>
                </a:extLst>
              </a:tr>
              <a:tr h="376237">
                <a:tc>
                  <a:txBody>
                    <a:bodyPr/>
                    <a:lstStyle/>
                    <a:p>
                      <a:pPr algn="ctr"/>
                      <a:r>
                        <a:rPr lang="en-IN" sz="1600" b="1" dirty="0"/>
                        <a:t>Spark</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Fast distributed processing</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760290085"/>
                  </a:ext>
                </a:extLst>
              </a:tr>
              <a:tr h="214993">
                <a:tc>
                  <a:txBody>
                    <a:bodyPr/>
                    <a:lstStyle/>
                    <a:p>
                      <a:pPr algn="ctr"/>
                      <a:r>
                        <a:rPr lang="en-IN" sz="1600" b="1" dirty="0"/>
                        <a:t>Hive</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SQL-based analytics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354228871"/>
                  </a:ext>
                </a:extLst>
              </a:tr>
              <a:tr h="214993">
                <a:tc>
                  <a:txBody>
                    <a:bodyPr/>
                    <a:lstStyle/>
                    <a:p>
                      <a:pPr algn="ctr"/>
                      <a:r>
                        <a:rPr lang="en-IN" sz="1600" b="1" dirty="0"/>
                        <a:t>Pig</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Data-flow scripting</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021934206"/>
                  </a:ext>
                </a:extLst>
              </a:tr>
              <a:tr h="214993">
                <a:tc>
                  <a:txBody>
                    <a:bodyPr/>
                    <a:lstStyle/>
                    <a:p>
                      <a:pPr algn="ctr"/>
                      <a:r>
                        <a:rPr lang="en-IN" sz="1600" b="1" dirty="0"/>
                        <a:t>HBase</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NoSQL storage/database</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682857153"/>
                  </a:ext>
                </a:extLst>
              </a:tr>
              <a:tr h="214993">
                <a:tc>
                  <a:txBody>
                    <a:bodyPr/>
                    <a:lstStyle/>
                    <a:p>
                      <a:pPr algn="ctr"/>
                      <a:r>
                        <a:rPr lang="en-IN" sz="1600" b="1" dirty="0"/>
                        <a:t>Impala</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Interactive SQL analytics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1669716090"/>
                  </a:ext>
                </a:extLst>
              </a:tr>
              <a:tr h="376237">
                <a:tc>
                  <a:txBody>
                    <a:bodyPr/>
                    <a:lstStyle/>
                    <a:p>
                      <a:pPr algn="ctr"/>
                      <a:r>
                        <a:rPr lang="en-IN" sz="1600" b="1" dirty="0"/>
                        <a:t>ML/Analytics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Finds patterns and predictions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399238867"/>
                  </a:ext>
                </a:extLst>
              </a:tr>
              <a:tr h="214993">
                <a:tc>
                  <a:txBody>
                    <a:bodyPr/>
                    <a:lstStyle/>
                    <a:p>
                      <a:pPr algn="ctr"/>
                      <a:r>
                        <a:rPr lang="en-IN" sz="1600" b="1" dirty="0"/>
                        <a:t>Dashboards</a:t>
                      </a:r>
                      <a:endParaRPr lang="en-IN" sz="1600" dirty="0"/>
                    </a:p>
                  </a:txBody>
                  <a:tcPr marL="26109" marR="26109" marT="13054" marB="13054" anchor="ctr">
                    <a:lnL>
                      <a:noFill/>
                    </a:lnL>
                    <a:lnR>
                      <a:noFill/>
                    </a:lnR>
                    <a:lnT>
                      <a:noFill/>
                    </a:lnT>
                    <a:lnB>
                      <a:noFill/>
                    </a:lnB>
                    <a:solidFill>
                      <a:schemeClr val="bg1">
                        <a:lumMod val="95000"/>
                      </a:schemeClr>
                    </a:solidFill>
                  </a:tcPr>
                </a:tc>
                <a:tc>
                  <a:txBody>
                    <a:bodyPr/>
                    <a:lstStyle/>
                    <a:p>
                      <a:r>
                        <a:rPr lang="en-IN" sz="1600" dirty="0"/>
                        <a:t>Displays results</a:t>
                      </a:r>
                    </a:p>
                  </a:txBody>
                  <a:tcPr marL="26109" marR="26109" marT="13054" marB="13054" anchor="ctr">
                    <a:lnL>
                      <a:noFill/>
                    </a:lnL>
                    <a:lnR>
                      <a:noFill/>
                    </a:lnR>
                    <a:lnT>
                      <a:noFill/>
                    </a:lnT>
                    <a:lnB>
                      <a:noFill/>
                    </a:lnB>
                    <a:solidFill>
                      <a:schemeClr val="accent1">
                        <a:lumMod val="20000"/>
                        <a:lumOff val="80000"/>
                      </a:schemeClr>
                    </a:solidFill>
                  </a:tcPr>
                </a:tc>
                <a:extLst>
                  <a:ext uri="{0D108BD9-81ED-4DB2-BD59-A6C34878D82A}">
                    <a16:rowId xmlns:a16="http://schemas.microsoft.com/office/drawing/2014/main" val="205738622"/>
                  </a:ext>
                </a:extLst>
              </a:tr>
            </a:tbl>
          </a:graphicData>
        </a:graphic>
      </p:graphicFrame>
    </p:spTree>
    <p:extLst>
      <p:ext uri="{BB962C8B-B14F-4D97-AF65-F5344CB8AC3E}">
        <p14:creationId xmlns:p14="http://schemas.microsoft.com/office/powerpoint/2010/main" val="40296072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1DB3332-F0BC-4A47-EB88-E04FE69F1278}"/>
              </a:ext>
            </a:extLst>
          </p:cNvPr>
          <p:cNvSpPr txBox="1"/>
          <p:nvPr/>
        </p:nvSpPr>
        <p:spPr>
          <a:xfrm>
            <a:off x="228600" y="228600"/>
            <a:ext cx="3276600" cy="6006773"/>
          </a:xfrm>
          <a:prstGeom prst="rect">
            <a:avLst/>
          </a:prstGeom>
          <a:noFill/>
        </p:spPr>
        <p:txBody>
          <a:bodyPr wrap="square">
            <a:spAutoFit/>
          </a:bodyPr>
          <a:lstStyle/>
          <a:p>
            <a:pPr algn="just" rtl="0" hangingPunct="0">
              <a:lnSpc>
                <a:spcPct val="150000"/>
              </a:lnSpc>
              <a:spcBef>
                <a:spcPts val="1191"/>
              </a:spcBef>
              <a:spcAft>
                <a:spcPts val="992"/>
              </a:spcAft>
            </a:pPr>
            <a:r>
              <a:rPr lang="en-IN" sz="1800" b="1" i="0" u="none" strike="noStrike" kern="1200" cap="none" dirty="0">
                <a:ln>
                  <a:noFill/>
                </a:ln>
                <a:solidFill>
                  <a:schemeClr val="accent6">
                    <a:lumMod val="75000"/>
                  </a:schemeClr>
                </a:solidFill>
                <a:latin typeface="Liberation Sans" pitchFamily="18"/>
                <a:ea typeface="Droid Sans Fallback" pitchFamily="2"/>
                <a:cs typeface="FreeSans" pitchFamily="2"/>
              </a:rPr>
              <a:t>Data Mart</a:t>
            </a:r>
            <a:endParaRPr lang="en-IN" sz="1800" b="0" i="0" u="none" strike="noStrike" kern="1200" cap="none" dirty="0">
              <a:ln>
                <a:noFill/>
              </a:ln>
              <a:solidFill>
                <a:schemeClr val="accent6">
                  <a:lumMod val="75000"/>
                </a:schemeClr>
              </a:solidFill>
              <a:latin typeface="Liberation Sans" pitchFamily="18"/>
              <a:ea typeface="Droid Sans Fallback" pitchFamily="2"/>
              <a:cs typeface="FreeSans" pitchFamily="2"/>
            </a:endParaRPr>
          </a:p>
          <a:p>
            <a:pPr marL="0" marR="0" lvl="0" indent="0" algn="just" rtl="0" hangingPunct="0">
              <a:lnSpc>
                <a:spcPct val="150000"/>
              </a:lnSpc>
              <a:spcBef>
                <a:spcPts val="1191"/>
              </a:spcBef>
              <a:spcAft>
                <a:spcPts val="992"/>
              </a:spcAft>
              <a:buNone/>
              <a:tabLst/>
            </a:pPr>
            <a:r>
              <a:rPr lang="en-IN" sz="1800" b="0" i="0" u="none" strike="noStrike" kern="1200" cap="none" dirty="0">
                <a:ln>
                  <a:noFill/>
                </a:ln>
                <a:latin typeface="Liberation Sans" pitchFamily="18"/>
                <a:ea typeface="Droid Sans Fallback" pitchFamily="2"/>
                <a:cs typeface="FreeSans" pitchFamily="2"/>
              </a:rPr>
              <a:t>Generally, a data mart can be thought of as a subset of a data warehouse. The data mart is a storehouse of data that is meant to serve a specific community and is designed to meet the needs of a specific group of users.</a:t>
            </a:r>
          </a:p>
          <a:p>
            <a:pPr marL="0" marR="0" lvl="0" indent="0" algn="just" rtl="0" hangingPunct="0">
              <a:lnSpc>
                <a:spcPct val="150000"/>
              </a:lnSpc>
              <a:spcBef>
                <a:spcPts val="1191"/>
              </a:spcBef>
              <a:spcAft>
                <a:spcPts val="992"/>
              </a:spcAft>
              <a:buNone/>
              <a:tabLst/>
            </a:pPr>
            <a:r>
              <a:rPr lang="en-IN" sz="1800" b="0" i="0" u="none" strike="noStrike" kern="1200" cap="none" dirty="0">
                <a:ln>
                  <a:noFill/>
                </a:ln>
                <a:latin typeface="Liberation Sans" pitchFamily="18"/>
                <a:ea typeface="Droid Sans Fallback" pitchFamily="2"/>
                <a:cs typeface="FreeSans" pitchFamily="2"/>
              </a:rPr>
              <a:t>Data marts are usually controlled by a single department of an organization like sales, finance, etc.</a:t>
            </a:r>
          </a:p>
        </p:txBody>
      </p:sp>
      <p:pic>
        <p:nvPicPr>
          <p:cNvPr id="4" name="Picture 3">
            <a:extLst>
              <a:ext uri="{FF2B5EF4-FFF2-40B4-BE49-F238E27FC236}">
                <a16:creationId xmlns:a16="http://schemas.microsoft.com/office/drawing/2014/main" id="{1CDBEF1C-9BFF-C3D9-CCD0-C2E99DE36233}"/>
              </a:ext>
            </a:extLst>
          </p:cNvPr>
          <p:cNvPicPr>
            <a:picLocks noChangeAspect="1"/>
          </p:cNvPicPr>
          <p:nvPr/>
        </p:nvPicPr>
        <p:blipFill>
          <a:blip r:embed="rId2"/>
          <a:stretch>
            <a:fillRect/>
          </a:stretch>
        </p:blipFill>
        <p:spPr>
          <a:xfrm>
            <a:off x="3855936" y="457200"/>
            <a:ext cx="4648200" cy="2438400"/>
          </a:xfrm>
          <a:prstGeom prst="rect">
            <a:avLst/>
          </a:prstGeom>
        </p:spPr>
      </p:pic>
      <p:pic>
        <p:nvPicPr>
          <p:cNvPr id="5" name="Picture 4">
            <a:extLst>
              <a:ext uri="{FF2B5EF4-FFF2-40B4-BE49-F238E27FC236}">
                <a16:creationId xmlns:a16="http://schemas.microsoft.com/office/drawing/2014/main" id="{149BC184-9CDE-5238-09F3-A45564907DBA}"/>
              </a:ext>
            </a:extLst>
          </p:cNvPr>
          <p:cNvPicPr>
            <a:picLocks noChangeAspect="1"/>
          </p:cNvPicPr>
          <p:nvPr/>
        </p:nvPicPr>
        <p:blipFill>
          <a:blip r:embed="rId3"/>
          <a:stretch>
            <a:fillRect/>
          </a:stretch>
        </p:blipFill>
        <p:spPr>
          <a:xfrm>
            <a:off x="4191000" y="3810000"/>
            <a:ext cx="4800600" cy="2276980"/>
          </a:xfrm>
          <a:prstGeom prst="rect">
            <a:avLst/>
          </a:prstGeom>
        </p:spPr>
      </p:pic>
    </p:spTree>
    <p:extLst>
      <p:ext uri="{BB962C8B-B14F-4D97-AF65-F5344CB8AC3E}">
        <p14:creationId xmlns:p14="http://schemas.microsoft.com/office/powerpoint/2010/main" val="2120354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EE2843C-F143-7A87-8096-7D6447ED0948}"/>
              </a:ext>
            </a:extLst>
          </p:cNvPr>
          <p:cNvPicPr>
            <a:picLocks noChangeAspect="1"/>
          </p:cNvPicPr>
          <p:nvPr/>
        </p:nvPicPr>
        <p:blipFill>
          <a:blip r:embed="rId2"/>
          <a:stretch>
            <a:fillRect/>
          </a:stretch>
        </p:blipFill>
        <p:spPr>
          <a:xfrm>
            <a:off x="457200" y="1066800"/>
            <a:ext cx="7848600" cy="5175423"/>
          </a:xfrm>
          <a:prstGeom prst="rect">
            <a:avLst/>
          </a:prstGeom>
        </p:spPr>
      </p:pic>
      <p:sp>
        <p:nvSpPr>
          <p:cNvPr id="4" name="TextBox 3">
            <a:extLst>
              <a:ext uri="{FF2B5EF4-FFF2-40B4-BE49-F238E27FC236}">
                <a16:creationId xmlns:a16="http://schemas.microsoft.com/office/drawing/2014/main" id="{F0B350D5-2E75-5744-C0A1-DB3B3AC3ED64}"/>
              </a:ext>
            </a:extLst>
          </p:cNvPr>
          <p:cNvSpPr txBox="1"/>
          <p:nvPr/>
        </p:nvSpPr>
        <p:spPr>
          <a:xfrm>
            <a:off x="762000" y="292611"/>
            <a:ext cx="7010400" cy="369332"/>
          </a:xfrm>
          <a:prstGeom prst="rect">
            <a:avLst/>
          </a:prstGeom>
          <a:noFill/>
        </p:spPr>
        <p:txBody>
          <a:bodyPr wrap="square">
            <a:spAutoFit/>
          </a:bodyPr>
          <a:lstStyle/>
          <a:p>
            <a:pPr marL="0" marR="0" lvl="0" indent="0" algn="ctr" rtl="0" hangingPunct="0">
              <a:lnSpc>
                <a:spcPct val="100000"/>
              </a:lnSpc>
              <a:spcBef>
                <a:spcPts val="1191"/>
              </a:spcBef>
              <a:spcAft>
                <a:spcPts val="992"/>
              </a:spcAft>
              <a:buNone/>
              <a:tabLst/>
            </a:pPr>
            <a:r>
              <a:rPr lang="en-IN" sz="1800" b="0" i="0" u="none" strike="noStrike" kern="1200" cap="none" dirty="0">
                <a:ln>
                  <a:noFill/>
                </a:ln>
                <a:solidFill>
                  <a:schemeClr val="accent6">
                    <a:lumMod val="75000"/>
                  </a:schemeClr>
                </a:solidFill>
                <a:latin typeface="Liberation Sans" pitchFamily="18"/>
                <a:ea typeface="Droid Sans Fallback" pitchFamily="2"/>
                <a:cs typeface="FreeSans" pitchFamily="2"/>
              </a:rPr>
              <a:t>Big Data and Data Warehouse Coexistence</a:t>
            </a:r>
          </a:p>
        </p:txBody>
      </p:sp>
    </p:spTree>
    <p:extLst>
      <p:ext uri="{BB962C8B-B14F-4D97-AF65-F5344CB8AC3E}">
        <p14:creationId xmlns:p14="http://schemas.microsoft.com/office/powerpoint/2010/main" val="25892101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B82009-DB9B-E510-77A2-7D718C39495F}"/>
              </a:ext>
            </a:extLst>
          </p:cNvPr>
          <p:cNvSpPr txBox="1"/>
          <p:nvPr/>
        </p:nvSpPr>
        <p:spPr>
          <a:xfrm>
            <a:off x="152400" y="152400"/>
            <a:ext cx="3810000" cy="3139321"/>
          </a:xfrm>
          <a:prstGeom prst="rect">
            <a:avLst/>
          </a:prstGeom>
          <a:noFill/>
        </p:spPr>
        <p:txBody>
          <a:bodyPr wrap="square">
            <a:spAutoFit/>
          </a:bodyPr>
          <a:lstStyle/>
          <a:p>
            <a:r>
              <a:rPr lang="en-US" b="1" dirty="0">
                <a:solidFill>
                  <a:schemeClr val="accent6">
                    <a:lumMod val="75000"/>
                  </a:schemeClr>
                </a:solidFill>
              </a:rPr>
              <a:t>Coexistence of Big Data and Data Warehouse</a:t>
            </a:r>
          </a:p>
          <a:p>
            <a:endParaRPr lang="en-US" b="1" dirty="0"/>
          </a:p>
          <a:p>
            <a:r>
              <a:rPr lang="en-US" b="1" dirty="0"/>
              <a:t>Why Both Are Needed?</a:t>
            </a:r>
          </a:p>
          <a:p>
            <a:endParaRPr lang="en-US" b="1" dirty="0"/>
          </a:p>
          <a:p>
            <a:r>
              <a:rPr lang="en-US" dirty="0"/>
              <a:t>Organizations still need Data Warehouses for structured reporting while using Big Data platforms for advanced analytics.</a:t>
            </a:r>
          </a:p>
          <a:p>
            <a:r>
              <a:rPr lang="en-US" dirty="0"/>
              <a:t>Instead of replacing each other, they complement one another.</a:t>
            </a:r>
          </a:p>
        </p:txBody>
      </p:sp>
      <p:sp>
        <p:nvSpPr>
          <p:cNvPr id="5" name="TextBox 4">
            <a:extLst>
              <a:ext uri="{FF2B5EF4-FFF2-40B4-BE49-F238E27FC236}">
                <a16:creationId xmlns:a16="http://schemas.microsoft.com/office/drawing/2014/main" id="{CC539EE4-B233-1D0D-80D5-F61E43F2702D}"/>
              </a:ext>
            </a:extLst>
          </p:cNvPr>
          <p:cNvSpPr txBox="1"/>
          <p:nvPr/>
        </p:nvSpPr>
        <p:spPr>
          <a:xfrm>
            <a:off x="4419600" y="381000"/>
            <a:ext cx="4572000" cy="5539978"/>
          </a:xfrm>
          <a:prstGeom prst="rect">
            <a:avLst/>
          </a:prstGeom>
          <a:solidFill>
            <a:schemeClr val="bg2">
              <a:lumMod val="90000"/>
            </a:schemeClr>
          </a:solidFill>
        </p:spPr>
        <p:txBody>
          <a:bodyPr wrap="square">
            <a:spAutoFit/>
          </a:bodyPr>
          <a:lstStyle/>
          <a:p>
            <a:r>
              <a:rPr lang="en-IN" dirty="0"/>
              <a:t>                 </a:t>
            </a:r>
            <a:r>
              <a:rPr lang="en-IN" sz="1600" dirty="0"/>
              <a:t>Enterprise Systems</a:t>
            </a:r>
          </a:p>
          <a:p>
            <a:endParaRPr lang="en-IN" sz="1600" dirty="0"/>
          </a:p>
          <a:p>
            <a:r>
              <a:rPr lang="en-IN" sz="1600" dirty="0"/>
              <a:t>      ERP | CRM | Banking | HR | Sales</a:t>
            </a:r>
          </a:p>
          <a:p>
            <a:endParaRPr lang="en-IN" sz="1600" dirty="0"/>
          </a:p>
          <a:p>
            <a:r>
              <a:rPr lang="en-IN" sz="1600" dirty="0"/>
              <a:t>               │                                │</a:t>
            </a:r>
          </a:p>
          <a:p>
            <a:r>
              <a:rPr lang="en-IN" sz="1600" dirty="0"/>
              <a:t>               ▼                              ▼</a:t>
            </a:r>
          </a:p>
          <a:p>
            <a:endParaRPr lang="en-IN" sz="1600" dirty="0"/>
          </a:p>
          <a:p>
            <a:r>
              <a:rPr lang="en-IN" sz="1600" dirty="0"/>
              <a:t>      Data Warehouse     Hadoop Data Lake</a:t>
            </a:r>
          </a:p>
          <a:p>
            <a:endParaRPr lang="en-IN" sz="1600" dirty="0"/>
          </a:p>
          <a:p>
            <a:r>
              <a:rPr lang="en-IN" sz="1600" dirty="0"/>
              <a:t>             │                              │</a:t>
            </a:r>
          </a:p>
          <a:p>
            <a:r>
              <a:rPr lang="en-IN" sz="1600" dirty="0"/>
              <a:t>             │                              │</a:t>
            </a:r>
          </a:p>
          <a:p>
            <a:endParaRPr lang="en-IN" sz="1600" dirty="0"/>
          </a:p>
          <a:p>
            <a:r>
              <a:rPr lang="en-IN" sz="1600" dirty="0"/>
              <a:t> Historical Reports    Machine Learning</a:t>
            </a:r>
          </a:p>
          <a:p>
            <a:endParaRPr lang="en-IN" sz="1600" dirty="0"/>
          </a:p>
          <a:p>
            <a:r>
              <a:rPr lang="en-IN" sz="1600" dirty="0"/>
              <a:t> Business Dashboards   Real-Time Analytics</a:t>
            </a:r>
          </a:p>
          <a:p>
            <a:endParaRPr lang="en-IN" sz="1600" dirty="0"/>
          </a:p>
          <a:p>
            <a:r>
              <a:rPr lang="en-IN" sz="1600" dirty="0"/>
              <a:t>             │                                   │</a:t>
            </a:r>
          </a:p>
          <a:p>
            <a:endParaRPr lang="en-IN" sz="1600" dirty="0"/>
          </a:p>
          <a:p>
            <a:r>
              <a:rPr lang="en-IN" sz="1600" dirty="0"/>
              <a:t>             └──────┬───────┘</a:t>
            </a:r>
          </a:p>
          <a:p>
            <a:r>
              <a:rPr lang="en-IN" sz="1600" dirty="0"/>
              <a:t>                              ▼</a:t>
            </a:r>
          </a:p>
          <a:p>
            <a:endParaRPr lang="en-IN" sz="1600" dirty="0"/>
          </a:p>
          <a:p>
            <a:r>
              <a:rPr lang="en-IN" sz="1600" dirty="0"/>
              <a:t>            Executive Decision Making</a:t>
            </a:r>
          </a:p>
        </p:txBody>
      </p:sp>
      <p:sp>
        <p:nvSpPr>
          <p:cNvPr id="7" name="TextBox 6">
            <a:extLst>
              <a:ext uri="{FF2B5EF4-FFF2-40B4-BE49-F238E27FC236}">
                <a16:creationId xmlns:a16="http://schemas.microsoft.com/office/drawing/2014/main" id="{1ADD3484-32F3-3ED3-A5F0-7E256974C706}"/>
              </a:ext>
            </a:extLst>
          </p:cNvPr>
          <p:cNvSpPr txBox="1"/>
          <p:nvPr/>
        </p:nvSpPr>
        <p:spPr>
          <a:xfrm>
            <a:off x="152400" y="3563232"/>
            <a:ext cx="4114800" cy="2893100"/>
          </a:xfrm>
          <a:prstGeom prst="rect">
            <a:avLst/>
          </a:prstGeom>
          <a:solidFill>
            <a:schemeClr val="accent1">
              <a:lumMod val="20000"/>
              <a:lumOff val="80000"/>
            </a:schemeClr>
          </a:solidFill>
        </p:spPr>
        <p:txBody>
          <a:bodyPr wrap="square">
            <a:spAutoFit/>
          </a:bodyPr>
          <a:lstStyle/>
          <a:p>
            <a:r>
              <a:rPr lang="en-US" sz="1400" b="1" dirty="0"/>
              <a:t>Example</a:t>
            </a:r>
          </a:p>
          <a:p>
            <a:r>
              <a:rPr lang="en-US" sz="1400" b="1" dirty="0"/>
              <a:t>Bank Data Warehouse</a:t>
            </a:r>
            <a:endParaRPr lang="en-US" sz="1400" dirty="0"/>
          </a:p>
          <a:p>
            <a:pPr>
              <a:buFont typeface="Arial" panose="020B0604020202020204" pitchFamily="34" charset="0"/>
              <a:buChar char="•"/>
            </a:pPr>
            <a:r>
              <a:rPr lang="en-US" sz="1400" dirty="0"/>
              <a:t>Customer accounts </a:t>
            </a:r>
          </a:p>
          <a:p>
            <a:pPr>
              <a:buFont typeface="Arial" panose="020B0604020202020204" pitchFamily="34" charset="0"/>
              <a:buChar char="•"/>
            </a:pPr>
            <a:r>
              <a:rPr lang="en-US" sz="1400" dirty="0"/>
              <a:t>Loan history </a:t>
            </a:r>
          </a:p>
          <a:p>
            <a:pPr>
              <a:buFont typeface="Arial" panose="020B0604020202020204" pitchFamily="34" charset="0"/>
              <a:buChar char="•"/>
            </a:pPr>
            <a:r>
              <a:rPr lang="en-US" sz="1400" dirty="0"/>
              <a:t>Monthly reports </a:t>
            </a:r>
          </a:p>
          <a:p>
            <a:r>
              <a:rPr lang="en-US" sz="1400" b="1" dirty="0"/>
              <a:t>Hadoop</a:t>
            </a:r>
            <a:endParaRPr lang="en-US" sz="1400" dirty="0"/>
          </a:p>
          <a:p>
            <a:pPr>
              <a:buFont typeface="Arial" panose="020B0604020202020204" pitchFamily="34" charset="0"/>
              <a:buChar char="•"/>
            </a:pPr>
            <a:r>
              <a:rPr lang="en-US" sz="1400" dirty="0"/>
              <a:t>ATM logs </a:t>
            </a:r>
          </a:p>
          <a:p>
            <a:pPr>
              <a:buFont typeface="Arial" panose="020B0604020202020204" pitchFamily="34" charset="0"/>
              <a:buChar char="•"/>
            </a:pPr>
            <a:r>
              <a:rPr lang="en-US" sz="1400" dirty="0"/>
              <a:t>CCTV videos </a:t>
            </a:r>
          </a:p>
          <a:p>
            <a:pPr>
              <a:buFont typeface="Arial" panose="020B0604020202020204" pitchFamily="34" charset="0"/>
              <a:buChar char="•"/>
            </a:pPr>
            <a:r>
              <a:rPr lang="en-US" sz="1400" dirty="0"/>
              <a:t>Customer complaints </a:t>
            </a:r>
          </a:p>
          <a:p>
            <a:pPr>
              <a:buFont typeface="Arial" panose="020B0604020202020204" pitchFamily="34" charset="0"/>
              <a:buChar char="•"/>
            </a:pPr>
            <a:r>
              <a:rPr lang="en-US" sz="1400" dirty="0"/>
              <a:t>Fraud detection </a:t>
            </a:r>
          </a:p>
          <a:p>
            <a:pPr>
              <a:buFont typeface="Arial" panose="020B0604020202020204" pitchFamily="34" charset="0"/>
              <a:buChar char="•"/>
            </a:pPr>
            <a:r>
              <a:rPr lang="en-US" sz="1400" dirty="0"/>
              <a:t>Social media analysis </a:t>
            </a:r>
          </a:p>
          <a:p>
            <a:r>
              <a:rPr lang="en-US" sz="1400" dirty="0"/>
              <a:t>Together they provide complete business intelligence.</a:t>
            </a:r>
          </a:p>
        </p:txBody>
      </p:sp>
    </p:spTree>
    <p:extLst>
      <p:ext uri="{BB962C8B-B14F-4D97-AF65-F5344CB8AC3E}">
        <p14:creationId xmlns:p14="http://schemas.microsoft.com/office/powerpoint/2010/main" val="30371680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787FE1-033F-2259-9A6C-B3F4D3D516BA}"/>
              </a:ext>
            </a:extLst>
          </p:cNvPr>
          <p:cNvPicPr>
            <a:picLocks noChangeAspect="1"/>
          </p:cNvPicPr>
          <p:nvPr/>
        </p:nvPicPr>
        <p:blipFill>
          <a:blip r:embed="rId2"/>
          <a:stretch>
            <a:fillRect/>
          </a:stretch>
        </p:blipFill>
        <p:spPr>
          <a:xfrm>
            <a:off x="609600" y="304800"/>
            <a:ext cx="7924800" cy="2507785"/>
          </a:xfrm>
          <a:prstGeom prst="rect">
            <a:avLst/>
          </a:prstGeom>
        </p:spPr>
      </p:pic>
      <p:pic>
        <p:nvPicPr>
          <p:cNvPr id="3" name="Picture 2">
            <a:extLst>
              <a:ext uri="{FF2B5EF4-FFF2-40B4-BE49-F238E27FC236}">
                <a16:creationId xmlns:a16="http://schemas.microsoft.com/office/drawing/2014/main" id="{083BD35B-7D2E-B519-82F2-AAD1BC889AE8}"/>
              </a:ext>
            </a:extLst>
          </p:cNvPr>
          <p:cNvPicPr>
            <a:picLocks noChangeAspect="1"/>
          </p:cNvPicPr>
          <p:nvPr/>
        </p:nvPicPr>
        <p:blipFill>
          <a:blip r:embed="rId3"/>
          <a:stretch>
            <a:fillRect/>
          </a:stretch>
        </p:blipFill>
        <p:spPr>
          <a:xfrm>
            <a:off x="1143000" y="3048000"/>
            <a:ext cx="7239000" cy="3272681"/>
          </a:xfrm>
          <a:prstGeom prst="rect">
            <a:avLst/>
          </a:prstGeom>
        </p:spPr>
      </p:pic>
    </p:spTree>
    <p:extLst>
      <p:ext uri="{BB962C8B-B14F-4D97-AF65-F5344CB8AC3E}">
        <p14:creationId xmlns:p14="http://schemas.microsoft.com/office/powerpoint/2010/main" val="21231346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01700" y="908684"/>
            <a:ext cx="2919730" cy="756920"/>
          </a:xfrm>
          <a:prstGeom prst="rect">
            <a:avLst/>
          </a:prstGeom>
        </p:spPr>
        <p:txBody>
          <a:bodyPr vert="horz" wrap="square" lIns="0" tIns="12700" rIns="0" bIns="0" rtlCol="0">
            <a:spAutoFit/>
          </a:bodyPr>
          <a:lstStyle/>
          <a:p>
            <a:pPr marL="12700">
              <a:lnSpc>
                <a:spcPct val="100000"/>
              </a:lnSpc>
              <a:spcBef>
                <a:spcPts val="100"/>
              </a:spcBef>
            </a:pPr>
            <a:r>
              <a:rPr sz="4800" b="0" spc="-45" dirty="0">
                <a:latin typeface="Calibri Light"/>
                <a:cs typeface="Calibri Light"/>
              </a:rPr>
              <a:t>Comparison</a:t>
            </a:r>
            <a:endParaRPr sz="4800">
              <a:latin typeface="Calibri Light"/>
              <a:cs typeface="Calibri Light"/>
            </a:endParaRPr>
          </a:p>
        </p:txBody>
      </p:sp>
      <p:sp>
        <p:nvSpPr>
          <p:cNvPr id="3" name="object 3"/>
          <p:cNvSpPr txBox="1"/>
          <p:nvPr/>
        </p:nvSpPr>
        <p:spPr>
          <a:xfrm>
            <a:off x="901700" y="1681099"/>
            <a:ext cx="2901315" cy="1548130"/>
          </a:xfrm>
          <a:prstGeom prst="rect">
            <a:avLst/>
          </a:prstGeom>
        </p:spPr>
        <p:txBody>
          <a:bodyPr vert="horz" wrap="square" lIns="0" tIns="12700" rIns="0" bIns="0" rtlCol="0">
            <a:spAutoFit/>
          </a:bodyPr>
          <a:lstStyle/>
          <a:p>
            <a:pPr marL="12700" marR="871219">
              <a:lnSpc>
                <a:spcPct val="138700"/>
              </a:lnSpc>
              <a:spcBef>
                <a:spcPts val="100"/>
              </a:spcBef>
            </a:pPr>
            <a:r>
              <a:rPr sz="2400" dirty="0">
                <a:solidFill>
                  <a:srgbClr val="404040"/>
                </a:solidFill>
                <a:latin typeface="Calibri"/>
                <a:cs typeface="Calibri"/>
              </a:rPr>
              <a:t>Structured:</a:t>
            </a:r>
            <a:r>
              <a:rPr sz="2400" spc="-60" dirty="0">
                <a:solidFill>
                  <a:srgbClr val="404040"/>
                </a:solidFill>
                <a:latin typeface="Calibri"/>
                <a:cs typeface="Calibri"/>
              </a:rPr>
              <a:t> </a:t>
            </a:r>
            <a:r>
              <a:rPr sz="2400" spc="-20" dirty="0">
                <a:solidFill>
                  <a:srgbClr val="404040"/>
                </a:solidFill>
                <a:latin typeface="Calibri"/>
                <a:cs typeface="Calibri"/>
              </a:rPr>
              <a:t>Easy </a:t>
            </a:r>
            <a:r>
              <a:rPr sz="2400" dirty="0">
                <a:solidFill>
                  <a:srgbClr val="404040"/>
                </a:solidFill>
                <a:latin typeface="Calibri"/>
                <a:cs typeface="Calibri"/>
              </a:rPr>
              <a:t>Semi:</a:t>
            </a:r>
            <a:r>
              <a:rPr sz="2400" spc="-30" dirty="0">
                <a:solidFill>
                  <a:srgbClr val="404040"/>
                </a:solidFill>
                <a:latin typeface="Calibri"/>
                <a:cs typeface="Calibri"/>
              </a:rPr>
              <a:t> </a:t>
            </a:r>
            <a:r>
              <a:rPr sz="2400" spc="-10" dirty="0">
                <a:solidFill>
                  <a:srgbClr val="404040"/>
                </a:solidFill>
                <a:latin typeface="Calibri"/>
                <a:cs typeface="Calibri"/>
              </a:rPr>
              <a:t>Moderate</a:t>
            </a:r>
            <a:endParaRPr sz="2400">
              <a:latin typeface="Calibri"/>
              <a:cs typeface="Calibri"/>
            </a:endParaRPr>
          </a:p>
          <a:p>
            <a:pPr marL="12700">
              <a:lnSpc>
                <a:spcPct val="100000"/>
              </a:lnSpc>
              <a:spcBef>
                <a:spcPts val="1120"/>
              </a:spcBef>
            </a:pPr>
            <a:r>
              <a:rPr sz="2400" dirty="0">
                <a:solidFill>
                  <a:srgbClr val="404040"/>
                </a:solidFill>
                <a:latin typeface="Calibri"/>
                <a:cs typeface="Calibri"/>
              </a:rPr>
              <a:t>Unstructured:</a:t>
            </a:r>
            <a:r>
              <a:rPr sz="2400" spc="-135" dirty="0">
                <a:solidFill>
                  <a:srgbClr val="404040"/>
                </a:solidFill>
                <a:latin typeface="Calibri"/>
                <a:cs typeface="Calibri"/>
              </a:rPr>
              <a:t> </a:t>
            </a:r>
            <a:r>
              <a:rPr sz="2400" spc="-10" dirty="0">
                <a:solidFill>
                  <a:srgbClr val="404040"/>
                </a:solidFill>
                <a:latin typeface="Calibri"/>
                <a:cs typeface="Calibri"/>
              </a:rPr>
              <a:t>Complex</a:t>
            </a:r>
            <a:endParaRPr sz="2400">
              <a:latin typeface="Calibri"/>
              <a:cs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sz="4800" b="0" spc="-20" dirty="0">
                <a:latin typeface="Calibri Light"/>
                <a:cs typeface="Calibri Light"/>
              </a:rPr>
              <a:t>Case</a:t>
            </a:r>
            <a:r>
              <a:rPr sz="4800" b="0" spc="-245" dirty="0">
                <a:latin typeface="Calibri Light"/>
                <a:cs typeface="Calibri Light"/>
              </a:rPr>
              <a:t> </a:t>
            </a:r>
            <a:r>
              <a:rPr sz="4800" b="0" spc="-20" dirty="0">
                <a:latin typeface="Calibri Light"/>
                <a:cs typeface="Calibri Light"/>
              </a:rPr>
              <a:t>Study</a:t>
            </a:r>
            <a:endParaRPr sz="4800">
              <a:latin typeface="Calibri Light"/>
              <a:cs typeface="Calibri Light"/>
            </a:endParaRPr>
          </a:p>
        </p:txBody>
      </p:sp>
      <p:sp>
        <p:nvSpPr>
          <p:cNvPr id="3" name="object 3"/>
          <p:cNvSpPr txBox="1"/>
          <p:nvPr/>
        </p:nvSpPr>
        <p:spPr>
          <a:xfrm>
            <a:off x="901700" y="1822830"/>
            <a:ext cx="5513070" cy="391160"/>
          </a:xfrm>
          <a:prstGeom prst="rect">
            <a:avLst/>
          </a:prstGeom>
        </p:spPr>
        <p:txBody>
          <a:bodyPr vert="horz" wrap="square" lIns="0" tIns="12700" rIns="0" bIns="0" rtlCol="0">
            <a:spAutoFit/>
          </a:bodyPr>
          <a:lstStyle/>
          <a:p>
            <a:pPr marL="12700">
              <a:lnSpc>
                <a:spcPct val="100000"/>
              </a:lnSpc>
              <a:spcBef>
                <a:spcPts val="100"/>
              </a:spcBef>
            </a:pPr>
            <a:r>
              <a:rPr sz="2400" dirty="0">
                <a:solidFill>
                  <a:srgbClr val="404040"/>
                </a:solidFill>
                <a:latin typeface="Calibri"/>
                <a:cs typeface="Calibri"/>
              </a:rPr>
              <a:t>Amazon:</a:t>
            </a:r>
            <a:r>
              <a:rPr sz="2400" spc="-60" dirty="0">
                <a:solidFill>
                  <a:srgbClr val="404040"/>
                </a:solidFill>
                <a:latin typeface="Calibri"/>
                <a:cs typeface="Calibri"/>
              </a:rPr>
              <a:t> </a:t>
            </a:r>
            <a:r>
              <a:rPr sz="2400" dirty="0">
                <a:solidFill>
                  <a:srgbClr val="404040"/>
                </a:solidFill>
                <a:latin typeface="Calibri"/>
                <a:cs typeface="Calibri"/>
              </a:rPr>
              <a:t>orders,</a:t>
            </a:r>
            <a:r>
              <a:rPr sz="2400" spc="-40" dirty="0">
                <a:solidFill>
                  <a:srgbClr val="404040"/>
                </a:solidFill>
                <a:latin typeface="Calibri"/>
                <a:cs typeface="Calibri"/>
              </a:rPr>
              <a:t> </a:t>
            </a:r>
            <a:r>
              <a:rPr sz="2400" dirty="0">
                <a:solidFill>
                  <a:srgbClr val="404040"/>
                </a:solidFill>
                <a:latin typeface="Calibri"/>
                <a:cs typeface="Calibri"/>
              </a:rPr>
              <a:t>JSON</a:t>
            </a:r>
            <a:r>
              <a:rPr sz="2400" spc="-55" dirty="0">
                <a:solidFill>
                  <a:srgbClr val="404040"/>
                </a:solidFill>
                <a:latin typeface="Calibri"/>
                <a:cs typeface="Calibri"/>
              </a:rPr>
              <a:t> </a:t>
            </a:r>
            <a:r>
              <a:rPr sz="2400" dirty="0">
                <a:solidFill>
                  <a:srgbClr val="404040"/>
                </a:solidFill>
                <a:latin typeface="Calibri"/>
                <a:cs typeface="Calibri"/>
              </a:rPr>
              <a:t>APIs,</a:t>
            </a:r>
            <a:r>
              <a:rPr sz="2400" spc="-40" dirty="0">
                <a:solidFill>
                  <a:srgbClr val="404040"/>
                </a:solidFill>
                <a:latin typeface="Calibri"/>
                <a:cs typeface="Calibri"/>
              </a:rPr>
              <a:t> </a:t>
            </a:r>
            <a:r>
              <a:rPr sz="2400" spc="-10" dirty="0">
                <a:solidFill>
                  <a:srgbClr val="404040"/>
                </a:solidFill>
                <a:latin typeface="Calibri"/>
                <a:cs typeface="Calibri"/>
              </a:rPr>
              <a:t>reviews/images.</a:t>
            </a:r>
            <a:endParaRPr sz="24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1121</TotalTime>
  <Words>3743</Words>
  <Application>Microsoft Office PowerPoint</Application>
  <PresentationFormat>On-screen Show (4:3)</PresentationFormat>
  <Paragraphs>788</Paragraphs>
  <Slides>53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Aptos</vt:lpstr>
      <vt:lpstr>Arial</vt:lpstr>
      <vt:lpstr>Arial MT</vt:lpstr>
      <vt:lpstr>Calibri</vt:lpstr>
      <vt:lpstr>Calibri Light</vt:lpstr>
      <vt:lpstr>Liberation Sans</vt:lpstr>
      <vt:lpstr>Tahoma</vt:lpstr>
      <vt:lpstr>Times New Roman</vt:lpstr>
      <vt:lpstr>Office Theme</vt:lpstr>
      <vt:lpstr>Introduction to Big Data</vt:lpstr>
      <vt:lpstr>What is Big Data?</vt:lpstr>
      <vt:lpstr>Why Big Data? Growth of Digital Information</vt:lpstr>
      <vt:lpstr>PowerPoint Presentation</vt:lpstr>
      <vt:lpstr>Classification of Digital Data Understanding Structured, Semi-Structured, and Unstructured Data</vt:lpstr>
      <vt:lpstr>What is Digital Data?</vt:lpstr>
      <vt:lpstr>Classification of Digital Data</vt:lpstr>
      <vt:lpstr>Structured Data</vt:lpstr>
      <vt:lpstr>Sources of Structured Data</vt:lpstr>
      <vt:lpstr>Semi-Structured Data Definition: Semi-structured data does not follow a strict tabular format but contains tags or metadata</vt:lpstr>
      <vt:lpstr>Unstructured Data Definition: Data without predefined organization or schema. Cannot be stored easily inside relational tables.</vt:lpstr>
      <vt:lpstr>PowerPoint Presentation</vt:lpstr>
      <vt:lpstr>Handling Unstructured data:</vt:lpstr>
      <vt:lpstr>Workflow for Handling Unstructured Data</vt:lpstr>
      <vt:lpstr>PowerPoint Presentation</vt:lpstr>
      <vt:lpstr>PowerPoint Presentation</vt:lpstr>
      <vt:lpstr>Step 3:Store Data in a Data Lake What is a Data Lake?</vt:lpstr>
      <vt:lpstr>PowerPoint Presentation</vt:lpstr>
      <vt:lpstr>PowerPoint Presentation</vt:lpstr>
      <vt:lpstr>PowerPoint Presentation</vt:lpstr>
      <vt:lpstr>What is Data?</vt:lpstr>
      <vt:lpstr>PowerPoint Presentation</vt:lpstr>
      <vt:lpstr>PowerPoint Presentation</vt:lpstr>
      <vt:lpstr>Evolution of Big Data</vt:lpstr>
      <vt:lpstr>Definition of Big Data Definition</vt:lpstr>
      <vt:lpstr>The Three Defining Characteristics (3Vs)</vt:lpstr>
      <vt:lpstr>Challenges of Big Data</vt:lpstr>
      <vt:lpstr>2. Data Processing Challenge Explanation</vt:lpstr>
      <vt:lpstr>3. Data Integration Challenge Explanation</vt:lpstr>
      <vt:lpstr>4. Data Quality Challenge</vt:lpstr>
      <vt:lpstr>5. Security and Privacy Challenge Explanation</vt:lpstr>
      <vt:lpstr>6. Scalability Challenge Explanation</vt:lpstr>
      <vt:lpstr>PowerPoint Presentation</vt:lpstr>
      <vt:lpstr>PowerPoint Presentation</vt:lpstr>
      <vt:lpstr>PowerPoint Presentation</vt:lpstr>
      <vt:lpstr>Other Characteristics of Data Which Are Not Definitional Traits of Big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vt:lpstr>
      <vt:lpstr>Case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Arhath Kumar</cp:lastModifiedBy>
  <cp:revision>2</cp:revision>
  <dcterms:created xsi:type="dcterms:W3CDTF">2026-08-04T07:27:35Z</dcterms:created>
  <dcterms:modified xsi:type="dcterms:W3CDTF">2026-08-14T04:09:54Z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2026-08-04T00:00:00Z</vt:filetime>
  </property>
  <property fmtid="{D5CDD505-2E9C-101B-9397-08002B2CF9AE}" pid="4" name="Creator">
    <vt:lpwstr>Microsoft® PowerPoint® LTSC</vt:lpwstr>
  </property>
  <property fmtid="{D5CDD505-2E9C-101B-9397-08002B2CF9AE}" pid="5" name="LastSaved">
    <vt:filetime>2026-08-04T00:00:00Z</vt:filetime>
  </property>
  <property fmtid="{D5CDD505-2E9C-101B-9397-08002B2CF9AE}" pid="6" name="Producer">
    <vt:lpwstr>Microsoft® PowerPoint® LTSC</vt:lpwstr>
  </property>
</Properties>
</file>