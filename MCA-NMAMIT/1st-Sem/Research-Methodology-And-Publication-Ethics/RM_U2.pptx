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Roboto"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77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94a3bf5fe1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94a3bf5fe1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94a3bf5fe1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94a3bf5fe1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94a3bf5fe1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94a3bf5fe1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94a3bf5fe1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94a3bf5fe1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94a3bf5fe1_0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94a3bf5fe1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94a3bf5fe1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94a3bf5fe1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94a3bf5fe1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94a3bf5fe1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94a3bf5fe1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94a3bf5fe1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94a3bf5fe1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94a3bf5fe1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94a3bf5fe1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94a3bf5fe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9709187ed7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9709187ed7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9709187ed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9709187ed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9709187ed7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9709187ed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97fc36b36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197fc36b36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97fc36b36e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97fc36b36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97fc36b36e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97fc36b36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a540afc60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a540afc6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Developing a Research Plan</a:t>
            </a:r>
            <a:endParaRPr/>
          </a:p>
        </p:txBody>
      </p:sp>
      <p:sp>
        <p:nvSpPr>
          <p:cNvPr id="86" name="Google Shape;86;p13"/>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1018"/>
              <a:buNone/>
            </a:pPr>
            <a:r>
              <a:rPr lang="en-GB" sz="2742"/>
              <a:t>Unit 2</a:t>
            </a:r>
            <a:endParaRPr sz="2742"/>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Defining a Research Problem</a:t>
            </a:r>
            <a:endParaRPr/>
          </a:p>
        </p:txBody>
      </p:sp>
      <p:sp>
        <p:nvSpPr>
          <p:cNvPr id="92" name="Google Shape;92;p1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lnSpcReduction="20000"/>
          </a:bodyPr>
          <a:lstStyle/>
          <a:p>
            <a:pPr marL="457200" lvl="0" indent="-342900" algn="just" rtl="0">
              <a:spcBef>
                <a:spcPts val="0"/>
              </a:spcBef>
              <a:spcAft>
                <a:spcPts val="0"/>
              </a:spcAft>
              <a:buSzPts val="1800"/>
              <a:buChar char="●"/>
            </a:pPr>
            <a:r>
              <a:rPr lang="en-GB" dirty="0"/>
              <a:t>In research process, the first and foremost step happens to be that of </a:t>
            </a:r>
            <a:r>
              <a:rPr lang="en-GB" dirty="0">
                <a:solidFill>
                  <a:schemeClr val="accent3"/>
                </a:solidFill>
              </a:rPr>
              <a:t>selecting and properly defining a research problem</a:t>
            </a:r>
            <a:r>
              <a:rPr lang="en-GB" dirty="0"/>
              <a:t>.</a:t>
            </a:r>
            <a:endParaRPr dirty="0"/>
          </a:p>
          <a:p>
            <a:pPr marL="457200" lvl="0" indent="0" algn="just" rtl="0">
              <a:spcBef>
                <a:spcPts val="1200"/>
              </a:spcBef>
              <a:spcAft>
                <a:spcPts val="0"/>
              </a:spcAft>
              <a:buNone/>
            </a:pPr>
            <a:endParaRPr dirty="0"/>
          </a:p>
          <a:p>
            <a:pPr marL="457200" lvl="0" indent="-342900" algn="just" rtl="0">
              <a:spcBef>
                <a:spcPts val="1200"/>
              </a:spcBef>
              <a:spcAft>
                <a:spcPts val="0"/>
              </a:spcAft>
              <a:buSzPts val="1800"/>
              <a:buChar char="●"/>
            </a:pPr>
            <a:r>
              <a:rPr lang="en-GB" dirty="0"/>
              <a:t> A researcher must find the problem and formulate it so that it becomes susceptible to research. </a:t>
            </a:r>
            <a:endParaRPr dirty="0"/>
          </a:p>
          <a:p>
            <a:pPr marL="457200" lvl="0" indent="0" algn="just" rtl="0">
              <a:spcBef>
                <a:spcPts val="1200"/>
              </a:spcBef>
              <a:spcAft>
                <a:spcPts val="0"/>
              </a:spcAft>
              <a:buNone/>
            </a:pPr>
            <a:endParaRPr dirty="0"/>
          </a:p>
          <a:p>
            <a:pPr marL="457200" lvl="0" indent="-342900" algn="just" rtl="0">
              <a:spcBef>
                <a:spcPts val="1200"/>
              </a:spcBef>
              <a:spcAft>
                <a:spcPts val="0"/>
              </a:spcAft>
              <a:buSzPts val="1800"/>
              <a:buChar char="●"/>
            </a:pPr>
            <a:r>
              <a:rPr lang="en-GB" dirty="0"/>
              <a:t>Like a medical doctor, a researcher must examine all the symptoms (presented to him or observed by him) concerning a problem before he can diagnose correctly.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A RESEARCH PROBLEM?</a:t>
            </a:r>
            <a:endParaRPr/>
          </a:p>
        </p:txBody>
      </p:sp>
      <p:sp>
        <p:nvSpPr>
          <p:cNvPr id="98" name="Google Shape;98;p15"/>
          <p:cNvSpPr txBox="1">
            <a:spLocks noGrp="1"/>
          </p:cNvSpPr>
          <p:nvPr>
            <p:ph type="body" idx="1"/>
          </p:nvPr>
        </p:nvSpPr>
        <p:spPr>
          <a:xfrm>
            <a:off x="311700" y="921225"/>
            <a:ext cx="8520600" cy="36477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just" rtl="0">
              <a:spcBef>
                <a:spcPts val="0"/>
              </a:spcBef>
              <a:spcAft>
                <a:spcPts val="0"/>
              </a:spcAft>
              <a:buNone/>
            </a:pPr>
            <a:r>
              <a:rPr lang="en-GB"/>
              <a:t>A research problem, refers to </a:t>
            </a:r>
            <a:r>
              <a:rPr lang="en-GB">
                <a:solidFill>
                  <a:schemeClr val="accent3"/>
                </a:solidFill>
              </a:rPr>
              <a:t>some difficulty</a:t>
            </a:r>
            <a:r>
              <a:rPr lang="en-GB"/>
              <a:t> which a researcher experiences in the context of either a </a:t>
            </a:r>
            <a:r>
              <a:rPr lang="en-GB">
                <a:solidFill>
                  <a:schemeClr val="accent3"/>
                </a:solidFill>
              </a:rPr>
              <a:t>theoretical or practical situation</a:t>
            </a:r>
            <a:r>
              <a:rPr lang="en-GB"/>
              <a:t> and wants to </a:t>
            </a:r>
            <a:r>
              <a:rPr lang="en-GB">
                <a:solidFill>
                  <a:schemeClr val="accent3"/>
                </a:solidFill>
              </a:rPr>
              <a:t>obtain a solution</a:t>
            </a:r>
            <a:r>
              <a:rPr lang="en-GB"/>
              <a:t> for the same. </a:t>
            </a:r>
            <a:endParaRPr/>
          </a:p>
          <a:p>
            <a:pPr marL="0" lvl="0" indent="0" algn="just" rtl="0">
              <a:spcBef>
                <a:spcPts val="1200"/>
              </a:spcBef>
              <a:spcAft>
                <a:spcPts val="0"/>
              </a:spcAft>
              <a:buNone/>
            </a:pPr>
            <a:r>
              <a:rPr lang="en-GB"/>
              <a:t>Usually we say that a</a:t>
            </a:r>
            <a:r>
              <a:rPr lang="en-GB">
                <a:solidFill>
                  <a:schemeClr val="accent3"/>
                </a:solidFill>
              </a:rPr>
              <a:t> research problem does exist if the following conditions are met</a:t>
            </a:r>
            <a:r>
              <a:rPr lang="en-GB"/>
              <a:t> with: </a:t>
            </a:r>
            <a:endParaRPr/>
          </a:p>
          <a:p>
            <a:pPr marL="0" lvl="0" indent="0" algn="just" rtl="0">
              <a:spcBef>
                <a:spcPts val="1200"/>
              </a:spcBef>
              <a:spcAft>
                <a:spcPts val="0"/>
              </a:spcAft>
              <a:buNone/>
            </a:pPr>
            <a:r>
              <a:rPr lang="en-GB"/>
              <a:t>(i) There must be an </a:t>
            </a:r>
            <a:r>
              <a:rPr lang="en-GB">
                <a:solidFill>
                  <a:schemeClr val="accent3"/>
                </a:solidFill>
              </a:rPr>
              <a:t>individual (or a group or an organisation), let us call it ‘I,’ </a:t>
            </a:r>
            <a:r>
              <a:rPr lang="en-GB"/>
              <a:t>to whom the problem can be attributed. The individual or the organisation, as the case may be, </a:t>
            </a:r>
            <a:r>
              <a:rPr lang="en-GB">
                <a:solidFill>
                  <a:schemeClr val="accent3"/>
                </a:solidFill>
              </a:rPr>
              <a:t>occupies an environment, say ‘N</a:t>
            </a:r>
            <a:r>
              <a:rPr lang="en-GB"/>
              <a:t>’, which is defined by values of the uncontrolled variables, Yj . </a:t>
            </a:r>
            <a:endParaRPr/>
          </a:p>
          <a:p>
            <a:pPr marL="0" lvl="0" indent="0" algn="just" rtl="0">
              <a:spcBef>
                <a:spcPts val="1200"/>
              </a:spcBef>
              <a:spcAft>
                <a:spcPts val="1200"/>
              </a:spcAft>
              <a:buNone/>
            </a:pPr>
            <a:r>
              <a:rPr lang="en-GB"/>
              <a:t>(ii) There must be at least </a:t>
            </a:r>
            <a:r>
              <a:rPr lang="en-GB">
                <a:solidFill>
                  <a:schemeClr val="accent3"/>
                </a:solidFill>
              </a:rPr>
              <a:t>two courses of action, say C1 and C2 </a:t>
            </a:r>
            <a:r>
              <a:rPr lang="en-GB"/>
              <a:t>, to be pursued. A course of action is defined by one or more values of the controlled variables.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contd…</a:t>
            </a:r>
            <a:endParaRPr/>
          </a:p>
        </p:txBody>
      </p:sp>
      <p:sp>
        <p:nvSpPr>
          <p:cNvPr id="104" name="Google Shape;104;p16"/>
          <p:cNvSpPr txBox="1">
            <a:spLocks noGrp="1"/>
          </p:cNvSpPr>
          <p:nvPr>
            <p:ph type="body" idx="1"/>
          </p:nvPr>
        </p:nvSpPr>
        <p:spPr>
          <a:xfrm>
            <a:off x="311700" y="882850"/>
            <a:ext cx="8520600" cy="3686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a:t>(iii) There must be at least </a:t>
            </a:r>
            <a:r>
              <a:rPr lang="en-GB">
                <a:solidFill>
                  <a:schemeClr val="accent3"/>
                </a:solidFill>
              </a:rPr>
              <a:t>two possible outcomes, say O1 and O2</a:t>
            </a:r>
            <a:r>
              <a:rPr lang="en-GB"/>
              <a:t>, of the course of action, of which one should be preferable to the other. In other words, this means that there must be at least one outcome that the researcher wants, i.e., an objective.</a:t>
            </a:r>
            <a:endParaRPr/>
          </a:p>
          <a:p>
            <a:pPr marL="0" lvl="0" indent="0" algn="just" rtl="0">
              <a:spcBef>
                <a:spcPts val="1200"/>
              </a:spcBef>
              <a:spcAft>
                <a:spcPts val="0"/>
              </a:spcAft>
              <a:buNone/>
            </a:pPr>
            <a:endParaRPr/>
          </a:p>
          <a:p>
            <a:pPr marL="0" lvl="0" indent="0" algn="just" rtl="0">
              <a:spcBef>
                <a:spcPts val="1200"/>
              </a:spcBef>
              <a:spcAft>
                <a:spcPts val="1200"/>
              </a:spcAft>
              <a:buNone/>
            </a:pPr>
            <a:r>
              <a:rPr lang="en-GB"/>
              <a:t> (iv) The courses of action available must provides some chance of o</a:t>
            </a:r>
            <a:r>
              <a:rPr lang="en-GB">
                <a:solidFill>
                  <a:schemeClr val="accent3"/>
                </a:solidFill>
              </a:rPr>
              <a:t>btaining the objective</a:t>
            </a:r>
            <a:r>
              <a:rPr lang="en-GB"/>
              <a:t>, but they cannot provide the same chance, otherwise the choice would not matter. Thus, if P (Oj | I, Cj,N)  represents the probability that an outcome Oj will occur, if I select Cj in N then P (O1 | I, C1,N) != P (O2 | I, C2,N).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Components of a Research Program</a:t>
            </a:r>
            <a:endParaRPr/>
          </a:p>
        </p:txBody>
      </p:sp>
      <p:sp>
        <p:nvSpPr>
          <p:cNvPr id="110" name="Google Shape;110;p17"/>
          <p:cNvSpPr txBox="1">
            <a:spLocks noGrp="1"/>
          </p:cNvSpPr>
          <p:nvPr>
            <p:ph type="body" idx="1"/>
          </p:nvPr>
        </p:nvSpPr>
        <p:spPr>
          <a:xfrm>
            <a:off x="311700" y="1017800"/>
            <a:ext cx="8520600" cy="3551100"/>
          </a:xfrm>
          <a:prstGeom prst="rect">
            <a:avLst/>
          </a:prstGeom>
        </p:spPr>
        <p:txBody>
          <a:bodyPr spcFirstLastPara="1" wrap="square" lIns="91425" tIns="91425" rIns="91425" bIns="91425" anchor="t" anchorCtr="0">
            <a:normAutofit lnSpcReduction="20000"/>
          </a:bodyPr>
          <a:lstStyle/>
          <a:p>
            <a:pPr marL="0" lvl="0" indent="0" algn="just" rtl="0">
              <a:spcBef>
                <a:spcPts val="0"/>
              </a:spcBef>
              <a:spcAft>
                <a:spcPts val="0"/>
              </a:spcAft>
              <a:buNone/>
            </a:pPr>
            <a:r>
              <a:rPr lang="en-GB"/>
              <a:t>(i) There must be an i</a:t>
            </a:r>
            <a:r>
              <a:rPr lang="en-GB">
                <a:solidFill>
                  <a:schemeClr val="accent3"/>
                </a:solidFill>
              </a:rPr>
              <a:t>ndividual or a group which has some difficulty</a:t>
            </a:r>
            <a:r>
              <a:rPr lang="en-GB"/>
              <a:t> or the problem.</a:t>
            </a:r>
            <a:endParaRPr/>
          </a:p>
          <a:p>
            <a:pPr marL="0" lvl="0" indent="0" algn="just" rtl="0">
              <a:spcBef>
                <a:spcPts val="1200"/>
              </a:spcBef>
              <a:spcAft>
                <a:spcPts val="0"/>
              </a:spcAft>
              <a:buNone/>
            </a:pPr>
            <a:r>
              <a:rPr lang="en-GB"/>
              <a:t> (ii) There must be s</a:t>
            </a:r>
            <a:r>
              <a:rPr lang="en-GB">
                <a:solidFill>
                  <a:schemeClr val="accent3"/>
                </a:solidFill>
              </a:rPr>
              <a:t>ome objective(s) to be attained at</a:t>
            </a:r>
            <a:r>
              <a:rPr lang="en-GB"/>
              <a:t>. If one wants nothing, one cannot have a problem. </a:t>
            </a:r>
            <a:endParaRPr/>
          </a:p>
          <a:p>
            <a:pPr marL="0" lvl="0" indent="0" algn="just" rtl="0">
              <a:spcBef>
                <a:spcPts val="1200"/>
              </a:spcBef>
              <a:spcAft>
                <a:spcPts val="0"/>
              </a:spcAft>
              <a:buNone/>
            </a:pPr>
            <a:r>
              <a:rPr lang="en-GB"/>
              <a:t>(iii) There must be </a:t>
            </a:r>
            <a:r>
              <a:rPr lang="en-GB">
                <a:solidFill>
                  <a:schemeClr val="accent3"/>
                </a:solidFill>
              </a:rPr>
              <a:t>alternative means </a:t>
            </a:r>
            <a:r>
              <a:rPr lang="en-GB"/>
              <a:t>(or the courses of action) for obtaining the objective(s) one wishes to attain. </a:t>
            </a:r>
            <a:endParaRPr/>
          </a:p>
          <a:p>
            <a:pPr marL="0" lvl="0" indent="0" algn="just" rtl="0">
              <a:spcBef>
                <a:spcPts val="1200"/>
              </a:spcBef>
              <a:spcAft>
                <a:spcPts val="0"/>
              </a:spcAft>
              <a:buNone/>
            </a:pPr>
            <a:r>
              <a:rPr lang="en-GB"/>
              <a:t> (iv) There must r</a:t>
            </a:r>
            <a:r>
              <a:rPr lang="en-GB">
                <a:solidFill>
                  <a:schemeClr val="accent3"/>
                </a:solidFill>
              </a:rPr>
              <a:t>emain some doubt</a:t>
            </a:r>
            <a:r>
              <a:rPr lang="en-GB"/>
              <a:t> in the mind of a researcher with regard to the selection of alternatives. This means that research must answer the question concerning the relative efficiency of the possible alternatives. </a:t>
            </a:r>
            <a:endParaRPr/>
          </a:p>
          <a:p>
            <a:pPr marL="0" lvl="0" indent="0" algn="just" rtl="0">
              <a:spcBef>
                <a:spcPts val="1200"/>
              </a:spcBef>
              <a:spcAft>
                <a:spcPts val="1200"/>
              </a:spcAft>
              <a:buNone/>
            </a:pPr>
            <a:r>
              <a:rPr lang="en-GB"/>
              <a:t>(v) There must be some </a:t>
            </a:r>
            <a:r>
              <a:rPr lang="en-GB">
                <a:solidFill>
                  <a:schemeClr val="accent3"/>
                </a:solidFill>
              </a:rPr>
              <a:t>environment(s) </a:t>
            </a:r>
            <a:r>
              <a:rPr lang="en-GB"/>
              <a:t>to which the difficulty pertains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SELECTING THE PROBLEM</a:t>
            </a:r>
            <a:endParaRPr/>
          </a:p>
        </p:txBody>
      </p:sp>
      <p:sp>
        <p:nvSpPr>
          <p:cNvPr id="116" name="Google Shape;116;p18"/>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The following points may be observed by a researcher in selecting a research problem or a subject for research:</a:t>
            </a:r>
            <a:endParaRPr dirty="0"/>
          </a:p>
          <a:p>
            <a:pPr marL="0" lvl="0" indent="0" algn="l" rtl="0">
              <a:spcBef>
                <a:spcPts val="1200"/>
              </a:spcBef>
              <a:spcAft>
                <a:spcPts val="0"/>
              </a:spcAft>
              <a:buNone/>
            </a:pPr>
            <a:r>
              <a:rPr lang="en-GB" dirty="0"/>
              <a:t> (</a:t>
            </a:r>
            <a:r>
              <a:rPr lang="en-GB" dirty="0" err="1"/>
              <a:t>i</a:t>
            </a:r>
            <a:r>
              <a:rPr lang="en-GB" dirty="0"/>
              <a:t>) </a:t>
            </a:r>
            <a:r>
              <a:rPr lang="en-GB" dirty="0">
                <a:solidFill>
                  <a:schemeClr val="accent3"/>
                </a:solidFill>
              </a:rPr>
              <a:t>Subject which is overdone s</a:t>
            </a:r>
            <a:r>
              <a:rPr lang="en-GB" dirty="0"/>
              <a:t>hould not be normally chosen, for it will be a difficult task to throw any new light in such a case. </a:t>
            </a:r>
            <a:endParaRPr dirty="0"/>
          </a:p>
          <a:p>
            <a:pPr marL="0" lvl="0" indent="0" algn="l" rtl="0">
              <a:spcBef>
                <a:spcPts val="1200"/>
              </a:spcBef>
              <a:spcAft>
                <a:spcPts val="0"/>
              </a:spcAft>
              <a:buNone/>
            </a:pPr>
            <a:r>
              <a:rPr lang="en-GB" dirty="0"/>
              <a:t>(ii) </a:t>
            </a:r>
            <a:r>
              <a:rPr lang="en-GB" dirty="0">
                <a:solidFill>
                  <a:schemeClr val="accent3"/>
                </a:solidFill>
              </a:rPr>
              <a:t>Controversial subject</a:t>
            </a:r>
            <a:r>
              <a:rPr lang="en-GB" dirty="0"/>
              <a:t> should </a:t>
            </a:r>
            <a:r>
              <a:rPr lang="en-GB" dirty="0">
                <a:solidFill>
                  <a:schemeClr val="accent3"/>
                </a:solidFill>
              </a:rPr>
              <a:t>not </a:t>
            </a:r>
            <a:r>
              <a:rPr lang="en-GB" dirty="0"/>
              <a:t>become the choice of an average researcher. </a:t>
            </a:r>
            <a:endParaRPr dirty="0"/>
          </a:p>
          <a:p>
            <a:pPr marL="0" lvl="0" indent="0" algn="l" rtl="0">
              <a:spcBef>
                <a:spcPts val="1200"/>
              </a:spcBef>
              <a:spcAft>
                <a:spcPts val="0"/>
              </a:spcAft>
              <a:buNone/>
            </a:pPr>
            <a:r>
              <a:rPr lang="en-GB" dirty="0"/>
              <a:t>(iii) T</a:t>
            </a:r>
            <a:r>
              <a:rPr lang="en-GB" dirty="0">
                <a:solidFill>
                  <a:schemeClr val="accent3"/>
                </a:solidFill>
              </a:rPr>
              <a:t>oo narrow or too vague</a:t>
            </a:r>
            <a:r>
              <a:rPr lang="en-GB" dirty="0"/>
              <a:t> problems should be avoided.</a:t>
            </a:r>
            <a:endParaRPr dirty="0"/>
          </a:p>
          <a:p>
            <a:pPr marL="0" lvl="0" indent="0" algn="l" rtl="0">
              <a:spcBef>
                <a:spcPts val="1200"/>
              </a:spcBef>
              <a:spcAft>
                <a:spcPts val="1200"/>
              </a:spcAft>
              <a:buNone/>
            </a:pPr>
            <a:r>
              <a:rPr lang="en-GB" dirty="0"/>
              <a:t> (iv) The subject selected for research should be </a:t>
            </a:r>
            <a:r>
              <a:rPr lang="en-GB" dirty="0">
                <a:solidFill>
                  <a:schemeClr val="accent3"/>
                </a:solidFill>
              </a:rPr>
              <a:t>familiar and feasible </a:t>
            </a:r>
            <a:r>
              <a:rPr lang="en-GB" dirty="0"/>
              <a:t>so that the related research material or sources of research are within one’s reach.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contd…</a:t>
            </a:r>
            <a:endParaRPr/>
          </a:p>
        </p:txBody>
      </p:sp>
      <p:sp>
        <p:nvSpPr>
          <p:cNvPr id="122" name="Google Shape;122;p19"/>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(v) The i</a:t>
            </a:r>
            <a:r>
              <a:rPr lang="en-GB">
                <a:solidFill>
                  <a:schemeClr val="accent3"/>
                </a:solidFill>
              </a:rPr>
              <a:t>mportance of the subject, the qualifications and the training of a researcher, the costs involved, the time factor </a:t>
            </a:r>
            <a:r>
              <a:rPr lang="en-GB"/>
              <a:t>are few other criteria that must also be considered in selecting a problem.</a:t>
            </a:r>
            <a:endParaRPr/>
          </a:p>
          <a:p>
            <a:pPr marL="0" lvl="0" indent="0" algn="l" rtl="0">
              <a:spcBef>
                <a:spcPts val="1200"/>
              </a:spcBef>
              <a:spcAft>
                <a:spcPts val="1200"/>
              </a:spcAft>
              <a:buNone/>
            </a:pPr>
            <a:r>
              <a:rPr lang="en-GB"/>
              <a:t>(vi) The selection of a problem must be preceded by a </a:t>
            </a:r>
            <a:r>
              <a:rPr lang="en-GB">
                <a:solidFill>
                  <a:schemeClr val="accent3"/>
                </a:solidFill>
              </a:rPr>
              <a:t>preliminary study</a:t>
            </a:r>
            <a:r>
              <a:rPr lang="en-GB"/>
              <a:t>. This may not be necessary when the problem requires the conduct of a research closely similar to one that has already been done. But when the field of inquiry is relatively new and does not have available a set of well developed techniques, a brief feasibility study must always be undertaken.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NECESSITY OF DEFINING THE PROBLEM</a:t>
            </a:r>
            <a:endParaRPr/>
          </a:p>
        </p:txBody>
      </p:sp>
      <p:sp>
        <p:nvSpPr>
          <p:cNvPr id="128" name="Google Shape;128;p20"/>
          <p:cNvSpPr txBox="1">
            <a:spLocks noGrp="1"/>
          </p:cNvSpPr>
          <p:nvPr>
            <p:ph type="body" idx="1"/>
          </p:nvPr>
        </p:nvSpPr>
        <p:spPr>
          <a:xfrm>
            <a:off x="311700" y="882850"/>
            <a:ext cx="8520600" cy="38961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en-GB"/>
              <a:t>A problem clearly stated is a problem half solved, which signifies the need for defining a research problem. </a:t>
            </a:r>
            <a:endParaRPr/>
          </a:p>
          <a:p>
            <a:pPr marL="457200" lvl="0" indent="-342900" algn="just" rtl="0">
              <a:spcBef>
                <a:spcPts val="0"/>
              </a:spcBef>
              <a:spcAft>
                <a:spcPts val="0"/>
              </a:spcAft>
              <a:buSzPts val="1800"/>
              <a:buChar char="●"/>
            </a:pPr>
            <a:r>
              <a:rPr lang="en-GB"/>
              <a:t>A proper definition of research problem will enable the researcher to be on the track whereas an ill-defined problem may create hurdles. Questions like: What data are to be collected? What characteristics of data are relevant and need to be studied? What relations are to be explored. What techniques are to be used for the purpose? and similar other questions crop up in the mind of the researcher who can well plan his strategy and find answers to all such questions only when the research problem has been well defined. </a:t>
            </a:r>
            <a:endParaRPr/>
          </a:p>
          <a:p>
            <a:pPr marL="457200" lvl="0" indent="-342900" algn="just" rtl="0">
              <a:spcBef>
                <a:spcPts val="0"/>
              </a:spcBef>
              <a:spcAft>
                <a:spcPts val="0"/>
              </a:spcAft>
              <a:buSzPts val="1800"/>
              <a:buChar char="●"/>
            </a:pPr>
            <a:r>
              <a:rPr lang="en-GB"/>
              <a:t>Thus, defining a research problem properly is a prerequisite for any study and is a step of the highest importance.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TECHNIQUE INVOLVED IN DEFINING A PROBLEM</a:t>
            </a:r>
            <a:endParaRPr/>
          </a:p>
        </p:txBody>
      </p:sp>
      <p:sp>
        <p:nvSpPr>
          <p:cNvPr id="134" name="Google Shape;134;p21"/>
          <p:cNvSpPr txBox="1">
            <a:spLocks noGrp="1"/>
          </p:cNvSpPr>
          <p:nvPr>
            <p:ph type="body" idx="1"/>
          </p:nvPr>
        </p:nvSpPr>
        <p:spPr>
          <a:xfrm>
            <a:off x="311700" y="1017800"/>
            <a:ext cx="8520600" cy="3972300"/>
          </a:xfrm>
          <a:prstGeom prst="rect">
            <a:avLst/>
          </a:prstGeom>
        </p:spPr>
        <p:txBody>
          <a:bodyPr spcFirstLastPara="1" wrap="square" lIns="91425" tIns="91425" rIns="91425" bIns="91425" anchor="t" anchorCtr="0">
            <a:normAutofit fontScale="85000" lnSpcReduction="20000"/>
          </a:bodyPr>
          <a:lstStyle/>
          <a:p>
            <a:pPr marL="0" lvl="0" indent="0" algn="just" rtl="0">
              <a:spcBef>
                <a:spcPts val="0"/>
              </a:spcBef>
              <a:spcAft>
                <a:spcPts val="0"/>
              </a:spcAft>
              <a:buNone/>
            </a:pPr>
            <a:r>
              <a:rPr lang="en-GB" dirty="0">
                <a:solidFill>
                  <a:schemeClr val="accent3"/>
                </a:solidFill>
              </a:rPr>
              <a:t>(</a:t>
            </a:r>
            <a:r>
              <a:rPr lang="en-GB" dirty="0" err="1">
                <a:solidFill>
                  <a:schemeClr val="accent3"/>
                </a:solidFill>
              </a:rPr>
              <a:t>i</a:t>
            </a:r>
            <a:r>
              <a:rPr lang="en-GB" dirty="0">
                <a:solidFill>
                  <a:schemeClr val="accent3"/>
                </a:solidFill>
              </a:rPr>
              <a:t>) Statement of the problem in a general way: </a:t>
            </a:r>
            <a:r>
              <a:rPr lang="en-GB" dirty="0"/>
              <a:t>First of all the problem should be stated in a broad general way, keeping in view either some practical concern or some scientific or intellectual interest.</a:t>
            </a:r>
            <a:endParaRPr dirty="0"/>
          </a:p>
          <a:p>
            <a:pPr marL="457200" lvl="0" indent="-325755" algn="just" rtl="0">
              <a:spcBef>
                <a:spcPts val="1200"/>
              </a:spcBef>
              <a:spcAft>
                <a:spcPts val="0"/>
              </a:spcAft>
              <a:buSzPct val="100000"/>
              <a:buChar char="●"/>
            </a:pPr>
            <a:r>
              <a:rPr lang="en-GB" dirty="0"/>
              <a:t> For this purpose, the researcher must immerse himself thoroughly in the subject matter concerning which he wishes to pose a problem. </a:t>
            </a:r>
            <a:endParaRPr dirty="0"/>
          </a:p>
          <a:p>
            <a:pPr marL="457200" lvl="0" indent="-325755" algn="just" rtl="0">
              <a:spcBef>
                <a:spcPts val="0"/>
              </a:spcBef>
              <a:spcAft>
                <a:spcPts val="0"/>
              </a:spcAft>
              <a:buSzPct val="100000"/>
              <a:buChar char="●"/>
            </a:pPr>
            <a:r>
              <a:rPr lang="en-GB" dirty="0"/>
              <a:t>In case of social research, it is considered advisable to do some field observation and as such the researcher may undertake some sort of preliminary survey or what is often called pilot survey. </a:t>
            </a:r>
            <a:endParaRPr dirty="0"/>
          </a:p>
          <a:p>
            <a:pPr marL="457200" lvl="0" indent="-325755" algn="just" rtl="0">
              <a:spcBef>
                <a:spcPts val="0"/>
              </a:spcBef>
              <a:spcAft>
                <a:spcPts val="0"/>
              </a:spcAft>
              <a:buSzPct val="100000"/>
              <a:buChar char="●"/>
            </a:pPr>
            <a:r>
              <a:rPr lang="en-GB" dirty="0"/>
              <a:t>Then the researcher can himself state the problem or he can seek the guidance of the guide or the subject expert in accomplishing this task. Often, the guide puts forth the problem in general terms, and it is then up to the researcher to narrow it down and phrase the problem in operational terms. </a:t>
            </a:r>
            <a:endParaRPr dirty="0"/>
          </a:p>
          <a:p>
            <a:pPr marL="457200" lvl="0" indent="-325755" algn="just" rtl="0">
              <a:spcBef>
                <a:spcPts val="0"/>
              </a:spcBef>
              <a:spcAft>
                <a:spcPts val="0"/>
              </a:spcAft>
              <a:buSzPct val="100000"/>
              <a:buChar char="●"/>
            </a:pPr>
            <a:r>
              <a:rPr lang="en-GB" dirty="0"/>
              <a:t>The problem stated in a broad general way may contain various ambiguities which must be resolved by cool thinking and rethinking over the problem.</a:t>
            </a:r>
            <a:endParaRPr dirty="0"/>
          </a:p>
          <a:p>
            <a:pPr marL="457200" lvl="0" indent="-325755" algn="just" rtl="0">
              <a:spcBef>
                <a:spcPts val="0"/>
              </a:spcBef>
              <a:spcAft>
                <a:spcPts val="0"/>
              </a:spcAft>
              <a:buSzPct val="100000"/>
              <a:buChar char="●"/>
            </a:pPr>
            <a:r>
              <a:rPr lang="en-GB" dirty="0"/>
              <a:t> At the same time the feasibility of a particular solution has to be considered and the same should be kept in view while stating the problem.</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0" name="Google Shape;140;p22"/>
          <p:cNvSpPr txBox="1">
            <a:spLocks noGrp="1"/>
          </p:cNvSpPr>
          <p:nvPr>
            <p:ph type="body" idx="1"/>
          </p:nvPr>
        </p:nvSpPr>
        <p:spPr>
          <a:xfrm>
            <a:off x="311700" y="410000"/>
            <a:ext cx="8520600" cy="4158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dirty="0"/>
              <a:t>(i</a:t>
            </a:r>
            <a:r>
              <a:rPr lang="en-GB" dirty="0">
                <a:solidFill>
                  <a:schemeClr val="accent3"/>
                </a:solidFill>
              </a:rPr>
              <a:t>i) Understanding the nature of the problem:</a:t>
            </a:r>
            <a:r>
              <a:rPr lang="en-GB" dirty="0"/>
              <a:t> </a:t>
            </a:r>
            <a:endParaRPr dirty="0"/>
          </a:p>
          <a:p>
            <a:pPr marL="457200" lvl="0" indent="-342900" algn="just" rtl="0">
              <a:spcBef>
                <a:spcPts val="1200"/>
              </a:spcBef>
              <a:spcAft>
                <a:spcPts val="0"/>
              </a:spcAft>
              <a:buSzPts val="1800"/>
              <a:buChar char="●"/>
            </a:pPr>
            <a:r>
              <a:rPr lang="en-GB" dirty="0"/>
              <a:t>The next step in defining the problem is to </a:t>
            </a:r>
            <a:r>
              <a:rPr lang="en-GB" dirty="0">
                <a:solidFill>
                  <a:schemeClr val="accent3"/>
                </a:solidFill>
              </a:rPr>
              <a:t>understand its origin and nature clearly</a:t>
            </a:r>
            <a:r>
              <a:rPr lang="en-GB" dirty="0"/>
              <a:t>. The best way of understanding the problem is to discuss it with those who first raised it in order to find out how the problem originally came about and with what objectives in view. </a:t>
            </a:r>
            <a:endParaRPr dirty="0"/>
          </a:p>
          <a:p>
            <a:pPr marL="457200" lvl="0" indent="-342900" algn="just" rtl="0">
              <a:spcBef>
                <a:spcPts val="0"/>
              </a:spcBef>
              <a:spcAft>
                <a:spcPts val="0"/>
              </a:spcAft>
              <a:buSzPts val="1800"/>
              <a:buChar char="●"/>
            </a:pPr>
            <a:r>
              <a:rPr lang="en-GB" dirty="0"/>
              <a:t>If the researcher has stated the problem himself, he should consider </a:t>
            </a:r>
            <a:r>
              <a:rPr lang="en-GB" dirty="0">
                <a:solidFill>
                  <a:schemeClr val="accent3"/>
                </a:solidFill>
              </a:rPr>
              <a:t>once again all those points that induced</a:t>
            </a:r>
            <a:r>
              <a:rPr lang="en-GB" dirty="0"/>
              <a:t> him to make a general statement concerning the problem.</a:t>
            </a:r>
            <a:endParaRPr dirty="0"/>
          </a:p>
          <a:p>
            <a:pPr marL="457200" lvl="0" indent="-342900" algn="just" rtl="0">
              <a:spcBef>
                <a:spcPts val="0"/>
              </a:spcBef>
              <a:spcAft>
                <a:spcPts val="0"/>
              </a:spcAft>
              <a:buSzPts val="1800"/>
              <a:buChar char="●"/>
            </a:pPr>
            <a:r>
              <a:rPr lang="en-GB" dirty="0"/>
              <a:t> For a better understanding of the nature of the problem involved, he can enter into </a:t>
            </a:r>
            <a:r>
              <a:rPr lang="en-GB" dirty="0">
                <a:solidFill>
                  <a:schemeClr val="accent3"/>
                </a:solidFill>
              </a:rPr>
              <a:t>discussion with those who have a good knowledge of the problem concerned </a:t>
            </a:r>
            <a:r>
              <a:rPr lang="en-GB" dirty="0"/>
              <a:t>or similar other problems.</a:t>
            </a:r>
            <a:endParaRPr dirty="0"/>
          </a:p>
          <a:p>
            <a:pPr marL="457200" lvl="0" indent="-342900" algn="just" rtl="0">
              <a:spcBef>
                <a:spcPts val="0"/>
              </a:spcBef>
              <a:spcAft>
                <a:spcPts val="0"/>
              </a:spcAft>
              <a:buSzPts val="1800"/>
              <a:buChar char="●"/>
            </a:pPr>
            <a:r>
              <a:rPr lang="en-GB" dirty="0"/>
              <a:t> The researcher should also keep in view the environment within which the problem is to be studied and understood.</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6" name="Google Shape;146;p23"/>
          <p:cNvSpPr txBox="1">
            <a:spLocks noGrp="1"/>
          </p:cNvSpPr>
          <p:nvPr>
            <p:ph type="body" idx="1"/>
          </p:nvPr>
        </p:nvSpPr>
        <p:spPr>
          <a:xfrm>
            <a:off x="311700" y="410000"/>
            <a:ext cx="8520600" cy="415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solidFill>
                  <a:schemeClr val="accent3"/>
                </a:solidFill>
              </a:rPr>
              <a:t>(iii) Surveying the available literature: </a:t>
            </a:r>
            <a:endParaRPr dirty="0">
              <a:solidFill>
                <a:schemeClr val="accent3"/>
              </a:solidFill>
            </a:endParaRPr>
          </a:p>
          <a:p>
            <a:pPr marL="457200" lvl="0" indent="-342900" algn="just" rtl="0">
              <a:spcBef>
                <a:spcPts val="1200"/>
              </a:spcBef>
              <a:spcAft>
                <a:spcPts val="0"/>
              </a:spcAft>
              <a:buSzPts val="1800"/>
              <a:buChar char="●"/>
            </a:pPr>
            <a:r>
              <a:rPr lang="en-GB" dirty="0"/>
              <a:t>All available literature concerning the problem at hand must necessarily be </a:t>
            </a:r>
            <a:r>
              <a:rPr lang="en-GB" dirty="0">
                <a:solidFill>
                  <a:schemeClr val="accent3"/>
                </a:solidFill>
              </a:rPr>
              <a:t>surveyed and examined </a:t>
            </a:r>
            <a:r>
              <a:rPr lang="en-GB" dirty="0"/>
              <a:t>before a definition of the research problem is given. </a:t>
            </a:r>
            <a:endParaRPr dirty="0"/>
          </a:p>
          <a:p>
            <a:pPr marL="457200" lvl="0" indent="-342900" algn="just" rtl="0">
              <a:spcBef>
                <a:spcPts val="0"/>
              </a:spcBef>
              <a:spcAft>
                <a:spcPts val="0"/>
              </a:spcAft>
              <a:buSzPts val="1800"/>
              <a:buChar char="●"/>
            </a:pPr>
            <a:r>
              <a:rPr lang="en-GB" dirty="0"/>
              <a:t>This is done to </a:t>
            </a:r>
            <a:r>
              <a:rPr lang="en-GB" dirty="0">
                <a:solidFill>
                  <a:schemeClr val="accent3"/>
                </a:solidFill>
              </a:rPr>
              <a:t>find out what data and other materials</a:t>
            </a:r>
            <a:r>
              <a:rPr lang="en-GB" dirty="0"/>
              <a:t>, if any, are available for operational purposes.  </a:t>
            </a:r>
            <a:endParaRPr dirty="0"/>
          </a:p>
          <a:p>
            <a:pPr marL="457200" lvl="0" indent="-342900" algn="just" rtl="0">
              <a:spcBef>
                <a:spcPts val="0"/>
              </a:spcBef>
              <a:spcAft>
                <a:spcPts val="0"/>
              </a:spcAft>
              <a:buSzPts val="1800"/>
              <a:buChar char="●"/>
            </a:pPr>
            <a:r>
              <a:rPr lang="en-GB" dirty="0"/>
              <a:t>This would also help a researcher to know if there are </a:t>
            </a:r>
            <a:r>
              <a:rPr lang="en-GB" dirty="0">
                <a:solidFill>
                  <a:schemeClr val="accent3"/>
                </a:solidFill>
              </a:rPr>
              <a:t>certain gaps</a:t>
            </a:r>
            <a:r>
              <a:rPr lang="en-GB" dirty="0"/>
              <a:t> in the theories, or whether the existing theories applicable to the problem under study are </a:t>
            </a:r>
            <a:r>
              <a:rPr lang="en-GB" dirty="0">
                <a:solidFill>
                  <a:schemeClr val="accent3"/>
                </a:solidFill>
              </a:rPr>
              <a:t>inconsistent with each other</a:t>
            </a:r>
            <a:r>
              <a:rPr lang="en-GB" dirty="0"/>
              <a:t>, or whether the findings of the different studies do not follow a pattern consistent with the theoretical expectations and so on. </a:t>
            </a:r>
            <a:endParaRPr dirty="0"/>
          </a:p>
          <a:p>
            <a:pPr marL="457200" lvl="0" indent="-342900" algn="just" rtl="0">
              <a:spcBef>
                <a:spcPts val="0"/>
              </a:spcBef>
              <a:spcAft>
                <a:spcPts val="0"/>
              </a:spcAft>
              <a:buSzPts val="1800"/>
              <a:buChar char="●"/>
            </a:pPr>
            <a:r>
              <a:rPr lang="en-GB" dirty="0"/>
              <a:t>At times such studies may also suggest useful and even new lines of approach to the present problem.</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dirty="0"/>
          </a:p>
        </p:txBody>
      </p:sp>
      <p:sp>
        <p:nvSpPr>
          <p:cNvPr id="152" name="Google Shape;152;p24"/>
          <p:cNvSpPr txBox="1">
            <a:spLocks noGrp="1"/>
          </p:cNvSpPr>
          <p:nvPr>
            <p:ph type="body" idx="1"/>
          </p:nvPr>
        </p:nvSpPr>
        <p:spPr>
          <a:xfrm>
            <a:off x="311700" y="410000"/>
            <a:ext cx="8520600" cy="41589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dirty="0">
                <a:solidFill>
                  <a:schemeClr val="accent3"/>
                </a:solidFill>
              </a:rPr>
              <a:t>iv) Developing the ideas through discussions: </a:t>
            </a:r>
            <a:endParaRPr dirty="0">
              <a:solidFill>
                <a:schemeClr val="accent3"/>
              </a:solidFill>
            </a:endParaRPr>
          </a:p>
          <a:p>
            <a:pPr marL="457200" lvl="0" indent="-342900" algn="just" rtl="0">
              <a:spcBef>
                <a:spcPts val="1200"/>
              </a:spcBef>
              <a:spcAft>
                <a:spcPts val="0"/>
              </a:spcAft>
              <a:buSzPts val="1800"/>
              <a:buChar char="●"/>
            </a:pPr>
            <a:r>
              <a:rPr lang="en-GB" dirty="0"/>
              <a:t>Discussion concerning a problem often </a:t>
            </a:r>
            <a:r>
              <a:rPr lang="en-GB" dirty="0">
                <a:solidFill>
                  <a:schemeClr val="accent3"/>
                </a:solidFill>
              </a:rPr>
              <a:t>produces useful information</a:t>
            </a:r>
            <a:r>
              <a:rPr lang="en-GB" dirty="0"/>
              <a:t>. </a:t>
            </a:r>
            <a:endParaRPr dirty="0"/>
          </a:p>
          <a:p>
            <a:pPr marL="457200" lvl="0" indent="-342900" algn="just" rtl="0">
              <a:spcBef>
                <a:spcPts val="0"/>
              </a:spcBef>
              <a:spcAft>
                <a:spcPts val="0"/>
              </a:spcAft>
              <a:buSzPts val="1800"/>
              <a:buChar char="●"/>
            </a:pPr>
            <a:r>
              <a:rPr lang="en-GB" dirty="0"/>
              <a:t>A researcher must discuss his problem with his c</a:t>
            </a:r>
            <a:r>
              <a:rPr lang="en-GB" dirty="0">
                <a:solidFill>
                  <a:schemeClr val="accent3"/>
                </a:solidFill>
              </a:rPr>
              <a:t>olleagues and others who have enough experience in the same area</a:t>
            </a:r>
            <a:r>
              <a:rPr lang="en-GB" dirty="0"/>
              <a:t> or in working on </a:t>
            </a:r>
            <a:r>
              <a:rPr lang="en-GB" dirty="0">
                <a:solidFill>
                  <a:schemeClr val="accent3"/>
                </a:solidFill>
              </a:rPr>
              <a:t>similar problems.</a:t>
            </a:r>
            <a:r>
              <a:rPr lang="en-GB" dirty="0"/>
              <a:t> </a:t>
            </a:r>
            <a:endParaRPr dirty="0"/>
          </a:p>
          <a:p>
            <a:pPr marL="457200" lvl="0" indent="-342900" algn="just" rtl="0">
              <a:spcBef>
                <a:spcPts val="0"/>
              </a:spcBef>
              <a:spcAft>
                <a:spcPts val="0"/>
              </a:spcAft>
              <a:buSzPts val="1800"/>
              <a:buChar char="●"/>
            </a:pPr>
            <a:r>
              <a:rPr lang="en-GB" dirty="0"/>
              <a:t>This is quite often known as an experience survey. </a:t>
            </a:r>
            <a:endParaRPr dirty="0"/>
          </a:p>
          <a:p>
            <a:pPr marL="457200" lvl="0" indent="-342900" algn="just" rtl="0">
              <a:spcBef>
                <a:spcPts val="0"/>
              </a:spcBef>
              <a:spcAft>
                <a:spcPts val="0"/>
              </a:spcAft>
              <a:buSzPts val="1800"/>
              <a:buChar char="●"/>
            </a:pPr>
            <a:r>
              <a:rPr lang="en-GB" dirty="0"/>
              <a:t>People with </a:t>
            </a:r>
            <a:r>
              <a:rPr lang="en-GB" dirty="0">
                <a:solidFill>
                  <a:schemeClr val="accent3"/>
                </a:solidFill>
              </a:rPr>
              <a:t>rich experience</a:t>
            </a:r>
            <a:r>
              <a:rPr lang="en-GB" dirty="0"/>
              <a:t> are in a position to </a:t>
            </a:r>
            <a:r>
              <a:rPr lang="en-GB" dirty="0">
                <a:solidFill>
                  <a:schemeClr val="accent3"/>
                </a:solidFill>
              </a:rPr>
              <a:t>enlighten the researcher</a:t>
            </a:r>
            <a:r>
              <a:rPr lang="en-GB" dirty="0"/>
              <a:t> on </a:t>
            </a:r>
            <a:r>
              <a:rPr lang="en-GB" dirty="0">
                <a:solidFill>
                  <a:schemeClr val="accent3"/>
                </a:solidFill>
              </a:rPr>
              <a:t>different aspects of his proposed study</a:t>
            </a:r>
            <a:r>
              <a:rPr lang="en-GB" dirty="0"/>
              <a:t> and their advice and comments are usually invaluable to the researcher. </a:t>
            </a:r>
            <a:endParaRPr dirty="0"/>
          </a:p>
          <a:p>
            <a:pPr marL="457200" lvl="0" indent="-342900" algn="just" rtl="0">
              <a:spcBef>
                <a:spcPts val="0"/>
              </a:spcBef>
              <a:spcAft>
                <a:spcPts val="0"/>
              </a:spcAft>
              <a:buSzPts val="1800"/>
              <a:buChar char="●"/>
            </a:pPr>
            <a:r>
              <a:rPr lang="en-GB" dirty="0"/>
              <a:t>Discussions with such persons should not only be confined to the formulation of the specific problem at hand, but should also be concerned with the </a:t>
            </a:r>
            <a:r>
              <a:rPr lang="en-GB" dirty="0">
                <a:solidFill>
                  <a:schemeClr val="accent3"/>
                </a:solidFill>
              </a:rPr>
              <a:t>general approach</a:t>
            </a:r>
            <a:r>
              <a:rPr lang="en-GB" dirty="0"/>
              <a:t> to the given problem, techniques that might be used, possible solutions, etc.</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8" name="Google Shape;158;p25"/>
          <p:cNvSpPr txBox="1">
            <a:spLocks noGrp="1"/>
          </p:cNvSpPr>
          <p:nvPr>
            <p:ph type="body" idx="1"/>
          </p:nvPr>
        </p:nvSpPr>
        <p:spPr>
          <a:xfrm>
            <a:off x="311700" y="410000"/>
            <a:ext cx="8520600" cy="41589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dirty="0">
                <a:solidFill>
                  <a:schemeClr val="accent3"/>
                </a:solidFill>
              </a:rPr>
              <a:t>(v) Rephrasing the research problem: </a:t>
            </a:r>
            <a:endParaRPr dirty="0">
              <a:solidFill>
                <a:schemeClr val="accent3"/>
              </a:solidFill>
            </a:endParaRPr>
          </a:p>
          <a:p>
            <a:pPr marL="457200" lvl="0" indent="-342900" algn="just" rtl="0">
              <a:spcBef>
                <a:spcPts val="1200"/>
              </a:spcBef>
              <a:spcAft>
                <a:spcPts val="0"/>
              </a:spcAft>
              <a:buSzPts val="1800"/>
              <a:buChar char="●"/>
            </a:pPr>
            <a:r>
              <a:rPr lang="en-GB" dirty="0"/>
              <a:t>Finally, the researcher must </a:t>
            </a:r>
            <a:r>
              <a:rPr lang="en-GB" dirty="0">
                <a:solidFill>
                  <a:schemeClr val="accent3"/>
                </a:solidFill>
              </a:rPr>
              <a:t>sit to rephrase the research problem</a:t>
            </a:r>
            <a:r>
              <a:rPr lang="en-GB" dirty="0"/>
              <a:t> into a working proposition. </a:t>
            </a:r>
            <a:endParaRPr dirty="0"/>
          </a:p>
          <a:p>
            <a:pPr marL="457200" lvl="0" indent="-342900" algn="just" rtl="0">
              <a:spcBef>
                <a:spcPts val="0"/>
              </a:spcBef>
              <a:spcAft>
                <a:spcPts val="0"/>
              </a:spcAft>
              <a:buSzPts val="1800"/>
              <a:buChar char="●"/>
            </a:pPr>
            <a:r>
              <a:rPr lang="en-GB" dirty="0"/>
              <a:t>Once the </a:t>
            </a:r>
            <a:r>
              <a:rPr lang="en-GB" dirty="0">
                <a:solidFill>
                  <a:schemeClr val="accent3"/>
                </a:solidFill>
              </a:rPr>
              <a:t>nature</a:t>
            </a:r>
            <a:r>
              <a:rPr lang="en-GB" dirty="0"/>
              <a:t> of the problem has been clearly </a:t>
            </a:r>
            <a:r>
              <a:rPr lang="en-GB" dirty="0">
                <a:solidFill>
                  <a:schemeClr val="accent3"/>
                </a:solidFill>
              </a:rPr>
              <a:t>understood,</a:t>
            </a:r>
            <a:r>
              <a:rPr lang="en-GB" dirty="0"/>
              <a:t> the environment (within which the problem has got to be studied) has been </a:t>
            </a:r>
            <a:r>
              <a:rPr lang="en-GB" dirty="0">
                <a:solidFill>
                  <a:schemeClr val="accent3"/>
                </a:solidFill>
              </a:rPr>
              <a:t>defined</a:t>
            </a:r>
            <a:r>
              <a:rPr lang="en-GB" dirty="0"/>
              <a:t>, </a:t>
            </a:r>
            <a:r>
              <a:rPr lang="en-GB" dirty="0">
                <a:solidFill>
                  <a:schemeClr val="accent3"/>
                </a:solidFill>
              </a:rPr>
              <a:t>discussions over the problem have taken place</a:t>
            </a:r>
            <a:r>
              <a:rPr lang="en-GB" dirty="0"/>
              <a:t> and the </a:t>
            </a:r>
            <a:r>
              <a:rPr lang="en-GB" dirty="0">
                <a:solidFill>
                  <a:schemeClr val="accent3"/>
                </a:solidFill>
              </a:rPr>
              <a:t>available literature has been surveyed and examined</a:t>
            </a:r>
            <a:r>
              <a:rPr lang="en-GB" dirty="0"/>
              <a:t>, </a:t>
            </a:r>
            <a:r>
              <a:rPr lang="en-GB" dirty="0">
                <a:solidFill>
                  <a:schemeClr val="accent3"/>
                </a:solidFill>
              </a:rPr>
              <a:t>rephrasing the problem into analytical or operational terms is not a difficult task</a:t>
            </a:r>
            <a:r>
              <a:rPr lang="en-GB" dirty="0"/>
              <a:t>. </a:t>
            </a:r>
            <a:endParaRPr dirty="0"/>
          </a:p>
          <a:p>
            <a:pPr marL="457200" lvl="0" indent="-342900" algn="just" rtl="0">
              <a:spcBef>
                <a:spcPts val="0"/>
              </a:spcBef>
              <a:spcAft>
                <a:spcPts val="0"/>
              </a:spcAft>
              <a:buSzPts val="1800"/>
              <a:buChar char="●"/>
            </a:pPr>
            <a:r>
              <a:rPr lang="en-GB" dirty="0"/>
              <a:t>Through rephrasing, the researcher puts the research problem in as </a:t>
            </a:r>
            <a:r>
              <a:rPr lang="en-GB" dirty="0">
                <a:solidFill>
                  <a:schemeClr val="accent3"/>
                </a:solidFill>
              </a:rPr>
              <a:t>specific terms as possible</a:t>
            </a:r>
            <a:r>
              <a:rPr lang="en-GB" dirty="0"/>
              <a:t> so that it may become operationally viable and may help in the </a:t>
            </a:r>
            <a:r>
              <a:rPr lang="en-GB" dirty="0">
                <a:solidFill>
                  <a:schemeClr val="accent3"/>
                </a:solidFill>
              </a:rPr>
              <a:t>development of working hypotheses</a:t>
            </a:r>
            <a:r>
              <a:rPr lang="en-GB" dirty="0"/>
              <a:t>.</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4" name="Google Shape;164;p26"/>
          <p:cNvSpPr txBox="1">
            <a:spLocks noGrp="1"/>
          </p:cNvSpPr>
          <p:nvPr>
            <p:ph type="body" idx="1"/>
          </p:nvPr>
        </p:nvSpPr>
        <p:spPr>
          <a:xfrm>
            <a:off x="311700" y="410000"/>
            <a:ext cx="8520600" cy="41589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n-GB"/>
              <a:t>The following points must also be observed while defining a research problem:</a:t>
            </a:r>
            <a:endParaRPr/>
          </a:p>
          <a:p>
            <a:pPr marL="0" lvl="0" indent="0" algn="just" rtl="0">
              <a:spcBef>
                <a:spcPts val="1200"/>
              </a:spcBef>
              <a:spcAft>
                <a:spcPts val="0"/>
              </a:spcAft>
              <a:buNone/>
            </a:pPr>
            <a:r>
              <a:rPr lang="en-GB"/>
              <a:t>(a) </a:t>
            </a:r>
            <a:r>
              <a:rPr lang="en-GB">
                <a:solidFill>
                  <a:schemeClr val="accent3"/>
                </a:solidFill>
              </a:rPr>
              <a:t>Technical terms and words or phrases</a:t>
            </a:r>
            <a:r>
              <a:rPr lang="en-GB"/>
              <a:t>, with special meanings used in the statement of the problem, should be </a:t>
            </a:r>
            <a:r>
              <a:rPr lang="en-GB">
                <a:solidFill>
                  <a:schemeClr val="accent3"/>
                </a:solidFill>
              </a:rPr>
              <a:t>clearly defined.</a:t>
            </a:r>
            <a:endParaRPr>
              <a:solidFill>
                <a:schemeClr val="accent3"/>
              </a:solidFill>
            </a:endParaRPr>
          </a:p>
          <a:p>
            <a:pPr marL="0" lvl="0" indent="0" algn="just" rtl="0">
              <a:spcBef>
                <a:spcPts val="1200"/>
              </a:spcBef>
              <a:spcAft>
                <a:spcPts val="0"/>
              </a:spcAft>
              <a:buNone/>
            </a:pPr>
            <a:r>
              <a:rPr lang="en-GB"/>
              <a:t>(b) </a:t>
            </a:r>
            <a:r>
              <a:rPr lang="en-GB">
                <a:solidFill>
                  <a:schemeClr val="accent3"/>
                </a:solidFill>
              </a:rPr>
              <a:t>Basic assumptions or postulates</a:t>
            </a:r>
            <a:r>
              <a:rPr lang="en-GB"/>
              <a:t> (if any) relating to the research problem should be </a:t>
            </a:r>
            <a:r>
              <a:rPr lang="en-GB">
                <a:solidFill>
                  <a:schemeClr val="accent3"/>
                </a:solidFill>
              </a:rPr>
              <a:t>clearly stated</a:t>
            </a:r>
            <a:r>
              <a:rPr lang="en-GB"/>
              <a:t>.</a:t>
            </a:r>
            <a:endParaRPr/>
          </a:p>
          <a:p>
            <a:pPr marL="0" lvl="0" indent="0" algn="just" rtl="0">
              <a:spcBef>
                <a:spcPts val="1200"/>
              </a:spcBef>
              <a:spcAft>
                <a:spcPts val="0"/>
              </a:spcAft>
              <a:buNone/>
            </a:pPr>
            <a:r>
              <a:rPr lang="en-GB"/>
              <a:t>(c) A </a:t>
            </a:r>
            <a:r>
              <a:rPr lang="en-GB">
                <a:solidFill>
                  <a:schemeClr val="accent3"/>
                </a:solidFill>
              </a:rPr>
              <a:t>straightforward statement</a:t>
            </a:r>
            <a:r>
              <a:rPr lang="en-GB"/>
              <a:t> of the value of the investigation (i.e., the criteria for the selection of the problem) </a:t>
            </a:r>
            <a:r>
              <a:rPr lang="en-GB">
                <a:solidFill>
                  <a:schemeClr val="accent3"/>
                </a:solidFill>
              </a:rPr>
              <a:t>should be provided</a:t>
            </a:r>
            <a:r>
              <a:rPr lang="en-GB"/>
              <a:t>.</a:t>
            </a:r>
            <a:endParaRPr/>
          </a:p>
          <a:p>
            <a:pPr marL="0" lvl="0" indent="0" algn="just" rtl="0">
              <a:spcBef>
                <a:spcPts val="1200"/>
              </a:spcBef>
              <a:spcAft>
                <a:spcPts val="0"/>
              </a:spcAft>
              <a:buNone/>
            </a:pPr>
            <a:r>
              <a:rPr lang="en-GB"/>
              <a:t>(d) The suitability of the </a:t>
            </a:r>
            <a:r>
              <a:rPr lang="en-GB">
                <a:solidFill>
                  <a:schemeClr val="accent3"/>
                </a:solidFill>
              </a:rPr>
              <a:t>time-period and the sources of data available</a:t>
            </a:r>
            <a:r>
              <a:rPr lang="en-GB"/>
              <a:t> must also be considered by the researcher in defining the problem.</a:t>
            </a:r>
            <a:endParaRPr/>
          </a:p>
          <a:p>
            <a:pPr marL="0" lvl="0" indent="0" algn="just" rtl="0">
              <a:spcBef>
                <a:spcPts val="1200"/>
              </a:spcBef>
              <a:spcAft>
                <a:spcPts val="1200"/>
              </a:spcAft>
              <a:buNone/>
            </a:pPr>
            <a:r>
              <a:rPr lang="en-GB"/>
              <a:t>(e) The </a:t>
            </a:r>
            <a:r>
              <a:rPr lang="en-GB">
                <a:solidFill>
                  <a:schemeClr val="accent3"/>
                </a:solidFill>
              </a:rPr>
              <a:t>scope of the investigation or the limits </a:t>
            </a:r>
            <a:r>
              <a:rPr lang="en-GB"/>
              <a:t>within which the problem is to be studied must be mentioned explicitly in defining a research problem.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Importance of literature review in defining a problem</a:t>
            </a:r>
            <a:endParaRPr/>
          </a:p>
        </p:txBody>
      </p:sp>
      <p:sp>
        <p:nvSpPr>
          <p:cNvPr id="170" name="Google Shape;170;p27"/>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lnSpcReduction="10000"/>
          </a:bodyPr>
          <a:lstStyle/>
          <a:p>
            <a:pPr marL="457200" lvl="0" indent="-330200" algn="just" rtl="0">
              <a:spcBef>
                <a:spcPts val="0"/>
              </a:spcBef>
              <a:spcAft>
                <a:spcPts val="0"/>
              </a:spcAft>
              <a:buClr>
                <a:srgbClr val="333333"/>
              </a:buClr>
              <a:buSzPts val="1600"/>
              <a:buFont typeface="Roboto"/>
              <a:buChar char="●"/>
            </a:pPr>
            <a:r>
              <a:rPr lang="en-GB" sz="1900" dirty="0">
                <a:solidFill>
                  <a:srgbClr val="333333"/>
                </a:solidFill>
                <a:highlight>
                  <a:srgbClr val="FFFFFF"/>
                </a:highlight>
              </a:rPr>
              <a:t>Provide </a:t>
            </a:r>
            <a:r>
              <a:rPr lang="en-GB" sz="1900" dirty="0">
                <a:solidFill>
                  <a:schemeClr val="accent3"/>
                </a:solidFill>
                <a:highlight>
                  <a:srgbClr val="FFFFFF"/>
                </a:highlight>
              </a:rPr>
              <a:t>foundation of knowledge</a:t>
            </a:r>
            <a:r>
              <a:rPr lang="en-GB" sz="1900" dirty="0">
                <a:solidFill>
                  <a:srgbClr val="333333"/>
                </a:solidFill>
                <a:highlight>
                  <a:srgbClr val="FFFFFF"/>
                </a:highlight>
              </a:rPr>
              <a:t> on topic.</a:t>
            </a:r>
            <a:endParaRPr sz="1900" dirty="0">
              <a:solidFill>
                <a:srgbClr val="333333"/>
              </a:solidFill>
              <a:highlight>
                <a:srgbClr val="FFFFFF"/>
              </a:highlight>
            </a:endParaRPr>
          </a:p>
          <a:p>
            <a:pPr marL="457200" lvl="0" indent="-330200" algn="just" rtl="0">
              <a:spcBef>
                <a:spcPts val="0"/>
              </a:spcBef>
              <a:spcAft>
                <a:spcPts val="0"/>
              </a:spcAft>
              <a:buClr>
                <a:srgbClr val="333333"/>
              </a:buClr>
              <a:buSzPts val="1600"/>
              <a:buFont typeface="Roboto"/>
              <a:buChar char="●"/>
            </a:pPr>
            <a:r>
              <a:rPr lang="en-GB" sz="1900" dirty="0">
                <a:solidFill>
                  <a:srgbClr val="333333"/>
                </a:solidFill>
                <a:highlight>
                  <a:srgbClr val="FFFFFF"/>
                </a:highlight>
              </a:rPr>
              <a:t>Identify areas of prior scholarship to prevent duplication and give credit to other researchers</a:t>
            </a:r>
            <a:endParaRPr sz="1900" dirty="0">
              <a:solidFill>
                <a:srgbClr val="333333"/>
              </a:solidFill>
              <a:highlight>
                <a:srgbClr val="FFFFFF"/>
              </a:highlight>
            </a:endParaRPr>
          </a:p>
          <a:p>
            <a:pPr marL="457200" lvl="0" indent="-330200" algn="just" rtl="0">
              <a:spcBef>
                <a:spcPts val="0"/>
              </a:spcBef>
              <a:spcAft>
                <a:spcPts val="0"/>
              </a:spcAft>
              <a:buClr>
                <a:srgbClr val="333333"/>
              </a:buClr>
              <a:buSzPts val="1600"/>
              <a:buFont typeface="Roboto"/>
              <a:buChar char="●"/>
            </a:pPr>
            <a:r>
              <a:rPr lang="en-GB" sz="1900" dirty="0">
                <a:solidFill>
                  <a:schemeClr val="accent3"/>
                </a:solidFill>
                <a:highlight>
                  <a:srgbClr val="FFFFFF"/>
                </a:highlight>
              </a:rPr>
              <a:t>Identify inconsistencies</a:t>
            </a:r>
            <a:r>
              <a:rPr lang="en-GB" sz="1900" dirty="0">
                <a:solidFill>
                  <a:srgbClr val="333333"/>
                </a:solidFill>
                <a:highlight>
                  <a:srgbClr val="FFFFFF"/>
                </a:highlight>
              </a:rPr>
              <a:t>: gaps in research, conflicts in previous studies, open questions left from other research</a:t>
            </a:r>
            <a:endParaRPr sz="1900" dirty="0">
              <a:solidFill>
                <a:srgbClr val="333333"/>
              </a:solidFill>
              <a:highlight>
                <a:srgbClr val="FFFFFF"/>
              </a:highlight>
            </a:endParaRPr>
          </a:p>
          <a:p>
            <a:pPr marL="457200" lvl="0" indent="-330200" algn="just" rtl="0">
              <a:spcBef>
                <a:spcPts val="0"/>
              </a:spcBef>
              <a:spcAft>
                <a:spcPts val="0"/>
              </a:spcAft>
              <a:buClr>
                <a:srgbClr val="333333"/>
              </a:buClr>
              <a:buSzPts val="1600"/>
              <a:buFont typeface="Roboto"/>
              <a:buChar char="●"/>
            </a:pPr>
            <a:r>
              <a:rPr lang="en-GB" sz="1900" dirty="0">
                <a:solidFill>
                  <a:srgbClr val="333333"/>
                </a:solidFill>
                <a:highlight>
                  <a:srgbClr val="FFFFFF"/>
                </a:highlight>
              </a:rPr>
              <a:t>Identify </a:t>
            </a:r>
            <a:r>
              <a:rPr lang="en-GB" sz="1900" dirty="0">
                <a:solidFill>
                  <a:schemeClr val="accent3"/>
                </a:solidFill>
                <a:highlight>
                  <a:srgbClr val="FFFFFF"/>
                </a:highlight>
              </a:rPr>
              <a:t>need for additional research</a:t>
            </a:r>
            <a:r>
              <a:rPr lang="en-GB" sz="1900" dirty="0">
                <a:solidFill>
                  <a:srgbClr val="333333"/>
                </a:solidFill>
                <a:highlight>
                  <a:srgbClr val="FFFFFF"/>
                </a:highlight>
              </a:rPr>
              <a:t> (justifying your research)</a:t>
            </a:r>
            <a:endParaRPr sz="1900" dirty="0">
              <a:solidFill>
                <a:srgbClr val="333333"/>
              </a:solidFill>
              <a:highlight>
                <a:srgbClr val="FFFFFF"/>
              </a:highlight>
            </a:endParaRPr>
          </a:p>
          <a:p>
            <a:pPr marL="457200" lvl="0" indent="-330200" algn="just" rtl="0">
              <a:spcBef>
                <a:spcPts val="0"/>
              </a:spcBef>
              <a:spcAft>
                <a:spcPts val="0"/>
              </a:spcAft>
              <a:buClr>
                <a:srgbClr val="333333"/>
              </a:buClr>
              <a:buSzPts val="1600"/>
              <a:buFont typeface="Roboto"/>
              <a:buChar char="●"/>
            </a:pPr>
            <a:r>
              <a:rPr lang="en-GB" sz="1900" dirty="0">
                <a:solidFill>
                  <a:srgbClr val="333333"/>
                </a:solidFill>
                <a:highlight>
                  <a:srgbClr val="FFFFFF"/>
                </a:highlight>
              </a:rPr>
              <a:t>Identify the </a:t>
            </a:r>
            <a:r>
              <a:rPr lang="en-GB" sz="1900" dirty="0">
                <a:solidFill>
                  <a:schemeClr val="accent3"/>
                </a:solidFill>
                <a:highlight>
                  <a:srgbClr val="FFFFFF"/>
                </a:highlight>
              </a:rPr>
              <a:t>relationship of works</a:t>
            </a:r>
            <a:r>
              <a:rPr lang="en-GB" sz="1900" dirty="0">
                <a:solidFill>
                  <a:srgbClr val="333333"/>
                </a:solidFill>
                <a:highlight>
                  <a:srgbClr val="FFFFFF"/>
                </a:highlight>
              </a:rPr>
              <a:t> in context of its contribution to the topic and to other works</a:t>
            </a:r>
            <a:endParaRPr sz="1900" dirty="0">
              <a:solidFill>
                <a:srgbClr val="333333"/>
              </a:solidFill>
              <a:highlight>
                <a:srgbClr val="FFFFFF"/>
              </a:highlight>
            </a:endParaRPr>
          </a:p>
          <a:p>
            <a:pPr marL="457200" lvl="0" indent="-330200" algn="just" rtl="0">
              <a:spcBef>
                <a:spcPts val="0"/>
              </a:spcBef>
              <a:spcAft>
                <a:spcPts val="0"/>
              </a:spcAft>
              <a:buClr>
                <a:srgbClr val="333333"/>
              </a:buClr>
              <a:buSzPts val="1600"/>
              <a:buFont typeface="Roboto"/>
              <a:buChar char="●"/>
            </a:pPr>
            <a:r>
              <a:rPr lang="en-GB" sz="1900" dirty="0">
                <a:solidFill>
                  <a:srgbClr val="333333"/>
                </a:solidFill>
                <a:highlight>
                  <a:srgbClr val="FFFFFF"/>
                </a:highlight>
              </a:rPr>
              <a:t>Place your own research within the context of existing literature making a case for why further study is needed.</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Survey of Literature- Primary and secondary Sources</a:t>
            </a:r>
            <a:endParaRPr/>
          </a:p>
        </p:txBody>
      </p:sp>
      <p:sp>
        <p:nvSpPr>
          <p:cNvPr id="176" name="Google Shape;176;p28"/>
          <p:cNvSpPr txBox="1">
            <a:spLocks noGrp="1"/>
          </p:cNvSpPr>
          <p:nvPr>
            <p:ph type="body" idx="1"/>
          </p:nvPr>
        </p:nvSpPr>
        <p:spPr>
          <a:xfrm>
            <a:off x="311700" y="892475"/>
            <a:ext cx="8520600" cy="38283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rgbClr val="333333"/>
              </a:buClr>
              <a:buSzPts val="1800"/>
              <a:buChar char="●"/>
            </a:pPr>
            <a:r>
              <a:rPr lang="en-GB" dirty="0">
                <a:solidFill>
                  <a:srgbClr val="333333"/>
                </a:solidFill>
                <a:highlight>
                  <a:srgbClr val="FFFFFF"/>
                </a:highlight>
              </a:rPr>
              <a:t>Research for your literature review can be categorised as either primary or secondary in nature. </a:t>
            </a:r>
            <a:endParaRPr dirty="0">
              <a:solidFill>
                <a:srgbClr val="333333"/>
              </a:solidFill>
              <a:highlight>
                <a:srgbClr val="FFFFFF"/>
              </a:highlight>
            </a:endParaRPr>
          </a:p>
          <a:p>
            <a:pPr marL="457200" lvl="0" indent="-342900" algn="just" rtl="0">
              <a:spcBef>
                <a:spcPts val="0"/>
              </a:spcBef>
              <a:spcAft>
                <a:spcPts val="0"/>
              </a:spcAft>
              <a:buClr>
                <a:srgbClr val="333333"/>
              </a:buClr>
              <a:buSzPts val="1800"/>
              <a:buChar char="●"/>
            </a:pPr>
            <a:r>
              <a:rPr lang="en-GB" dirty="0">
                <a:solidFill>
                  <a:srgbClr val="333333"/>
                </a:solidFill>
                <a:highlight>
                  <a:srgbClr val="FFFFFF"/>
                </a:highlight>
              </a:rPr>
              <a:t>The simplest definition of </a:t>
            </a:r>
            <a:r>
              <a:rPr lang="en-GB" dirty="0">
                <a:solidFill>
                  <a:schemeClr val="accent3"/>
                </a:solidFill>
                <a:highlight>
                  <a:srgbClr val="FFFFFF"/>
                </a:highlight>
              </a:rPr>
              <a:t>primary sources is either original information</a:t>
            </a:r>
            <a:r>
              <a:rPr lang="en-GB" dirty="0">
                <a:solidFill>
                  <a:srgbClr val="333333"/>
                </a:solidFill>
                <a:highlight>
                  <a:srgbClr val="FFFFFF"/>
                </a:highlight>
              </a:rPr>
              <a:t> (such as survey data) or a first person account of an event (such as an interview transcript). </a:t>
            </a:r>
            <a:endParaRPr dirty="0">
              <a:solidFill>
                <a:srgbClr val="333333"/>
              </a:solidFill>
              <a:highlight>
                <a:srgbClr val="FFFFFF"/>
              </a:highlight>
            </a:endParaRPr>
          </a:p>
          <a:p>
            <a:pPr marL="457200" lvl="0" indent="-342900" algn="just" rtl="0">
              <a:spcBef>
                <a:spcPts val="0"/>
              </a:spcBef>
              <a:spcAft>
                <a:spcPts val="0"/>
              </a:spcAft>
              <a:buClr>
                <a:srgbClr val="333333"/>
              </a:buClr>
              <a:buSzPts val="1800"/>
              <a:buChar char="●"/>
            </a:pPr>
            <a:r>
              <a:rPr lang="en-GB" dirty="0">
                <a:solidFill>
                  <a:srgbClr val="333333"/>
                </a:solidFill>
                <a:highlight>
                  <a:srgbClr val="FFFFFF"/>
                </a:highlight>
              </a:rPr>
              <a:t>Whereas </a:t>
            </a:r>
            <a:r>
              <a:rPr lang="en-GB" dirty="0">
                <a:solidFill>
                  <a:schemeClr val="accent3"/>
                </a:solidFill>
                <a:highlight>
                  <a:srgbClr val="FFFFFF"/>
                </a:highlight>
              </a:rPr>
              <a:t>secondary sources are any published or unpublished works </a:t>
            </a:r>
            <a:r>
              <a:rPr lang="en-GB" dirty="0">
                <a:solidFill>
                  <a:srgbClr val="333333"/>
                </a:solidFill>
                <a:highlight>
                  <a:srgbClr val="FFFFFF"/>
                </a:highlight>
              </a:rPr>
              <a:t>that describe, summarise, analyse, evaluate, interpret or review primary source materials. Secondary sources can incorporate primary sources to support their arguments.</a:t>
            </a:r>
            <a:endParaRPr dirty="0">
              <a:solidFill>
                <a:srgbClr val="333333"/>
              </a:solidFill>
              <a:highlight>
                <a:srgbClr val="FFFFFF"/>
              </a:highlight>
            </a:endParaRPr>
          </a:p>
          <a:p>
            <a:pPr marL="457200" lvl="0" indent="-342900" algn="just" rtl="0">
              <a:spcBef>
                <a:spcPts val="0"/>
              </a:spcBef>
              <a:spcAft>
                <a:spcPts val="0"/>
              </a:spcAft>
              <a:buClr>
                <a:srgbClr val="333333"/>
              </a:buClr>
              <a:buSzPts val="1800"/>
              <a:buChar char="●"/>
            </a:pPr>
            <a:r>
              <a:rPr lang="en-GB" dirty="0">
                <a:solidFill>
                  <a:srgbClr val="333333"/>
                </a:solidFill>
                <a:highlight>
                  <a:srgbClr val="FFFFFF"/>
                </a:highlight>
              </a:rPr>
              <a:t>Ideally, good research should use a </a:t>
            </a:r>
            <a:r>
              <a:rPr lang="en-GB" dirty="0">
                <a:solidFill>
                  <a:schemeClr val="accent3"/>
                </a:solidFill>
                <a:highlight>
                  <a:srgbClr val="FFFFFF"/>
                </a:highlight>
              </a:rPr>
              <a:t>combination of both</a:t>
            </a:r>
            <a:r>
              <a:rPr lang="en-GB" dirty="0">
                <a:solidFill>
                  <a:srgbClr val="333333"/>
                </a:solidFill>
                <a:highlight>
                  <a:srgbClr val="FFFFFF"/>
                </a:highlight>
              </a:rPr>
              <a:t> primary and secondary sources. </a:t>
            </a:r>
            <a:endParaRPr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Examples of Primary  and Secondary sources</a:t>
            </a:r>
            <a:endParaRPr dirty="0"/>
          </a:p>
        </p:txBody>
      </p:sp>
      <p:sp>
        <p:nvSpPr>
          <p:cNvPr id="182" name="Google Shape;182;p29"/>
          <p:cNvSpPr txBox="1">
            <a:spLocks noGrp="1"/>
          </p:cNvSpPr>
          <p:nvPr>
            <p:ph type="body" idx="1"/>
          </p:nvPr>
        </p:nvSpPr>
        <p:spPr>
          <a:xfrm>
            <a:off x="311700" y="1229975"/>
            <a:ext cx="3999900" cy="3725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852"/>
              <a:buNone/>
            </a:pPr>
            <a:r>
              <a:rPr lang="en-GB" sz="2200" u="sng" dirty="0">
                <a:solidFill>
                  <a:schemeClr val="dk1"/>
                </a:solidFill>
                <a:latin typeface="Raavi" panose="020B0502040204020203" pitchFamily="34" charset="0"/>
                <a:cs typeface="Raavi" panose="020B0502040204020203" pitchFamily="34" charset="0"/>
              </a:rPr>
              <a:t>Primary Sources</a:t>
            </a:r>
            <a:endParaRPr sz="2200" u="sng" dirty="0">
              <a:solidFill>
                <a:schemeClr val="dk1"/>
              </a:solidFill>
              <a:latin typeface="Raavi" panose="020B0502040204020203" pitchFamily="34" charset="0"/>
              <a:cs typeface="Raavi" panose="020B0502040204020203" pitchFamily="34" charset="0"/>
            </a:endParaRPr>
          </a:p>
          <a:p>
            <a:pPr marL="457200" lvl="0" indent="-339725" algn="l" rtl="0">
              <a:lnSpc>
                <a:spcPct val="95000"/>
              </a:lnSpc>
              <a:spcBef>
                <a:spcPts val="1200"/>
              </a:spcBef>
              <a:spcAft>
                <a:spcPts val="0"/>
              </a:spcAft>
              <a:buSzPts val="1750"/>
              <a:buChar char="●"/>
            </a:pPr>
            <a:r>
              <a:rPr lang="en-GB" sz="1750" dirty="0">
                <a:latin typeface="Raavi" panose="020B0502040204020203" pitchFamily="34" charset="0"/>
                <a:cs typeface="Raavi" panose="020B0502040204020203" pitchFamily="34" charset="0"/>
              </a:rPr>
              <a:t>Diaries</a:t>
            </a:r>
            <a:endParaRPr sz="1750" dirty="0">
              <a:latin typeface="Raavi" panose="020B0502040204020203" pitchFamily="34" charset="0"/>
              <a:cs typeface="Raavi" panose="020B0502040204020203" pitchFamily="34" charset="0"/>
            </a:endParaRPr>
          </a:p>
          <a:p>
            <a:pPr marL="457200" lvl="0" indent="-339883" algn="l" rtl="0">
              <a:lnSpc>
                <a:spcPct val="95000"/>
              </a:lnSpc>
              <a:spcBef>
                <a:spcPts val="0"/>
              </a:spcBef>
              <a:spcAft>
                <a:spcPts val="0"/>
              </a:spcAft>
              <a:buClr>
                <a:srgbClr val="333333"/>
              </a:buClr>
              <a:buSzPts val="1753"/>
              <a:buChar char="●"/>
            </a:pPr>
            <a:r>
              <a:rPr lang="en-GB" sz="1752" dirty="0">
                <a:solidFill>
                  <a:srgbClr val="333333"/>
                </a:solidFill>
                <a:highlight>
                  <a:srgbClr val="FFFFFF"/>
                </a:highlight>
                <a:latin typeface="Raavi" panose="020B0502040204020203" pitchFamily="34" charset="0"/>
                <a:cs typeface="Raavi" panose="020B0502040204020203" pitchFamily="34" charset="0"/>
              </a:rPr>
              <a:t>Audio recordings</a:t>
            </a:r>
            <a:endParaRPr sz="2321" dirty="0">
              <a:solidFill>
                <a:srgbClr val="333333"/>
              </a:solidFill>
              <a:highlight>
                <a:srgbClr val="FFFFFF"/>
              </a:highlight>
              <a:latin typeface="Raavi" panose="020B0502040204020203" pitchFamily="34" charset="0"/>
              <a:cs typeface="Raavi" panose="020B0502040204020203" pitchFamily="34" charset="0"/>
            </a:endParaRPr>
          </a:p>
          <a:p>
            <a:pPr marL="457200" lvl="0" indent="-331548" algn="l" rtl="0">
              <a:lnSpc>
                <a:spcPct val="95000"/>
              </a:lnSpc>
              <a:spcBef>
                <a:spcPts val="0"/>
              </a:spcBef>
              <a:spcAft>
                <a:spcPts val="0"/>
              </a:spcAft>
              <a:buClr>
                <a:srgbClr val="333333"/>
              </a:buClr>
              <a:buSzPts val="1621"/>
              <a:buChar char="●"/>
            </a:pPr>
            <a:r>
              <a:rPr lang="en-GB" sz="1621" dirty="0">
                <a:solidFill>
                  <a:srgbClr val="333333"/>
                </a:solidFill>
                <a:highlight>
                  <a:srgbClr val="EEEEEE"/>
                </a:highlight>
                <a:latin typeface="Raavi" panose="020B0502040204020203" pitchFamily="34" charset="0"/>
                <a:cs typeface="Raavi" panose="020B0502040204020203" pitchFamily="34" charset="0"/>
              </a:rPr>
              <a:t>Transcripts</a:t>
            </a:r>
            <a:endParaRPr sz="1621" dirty="0">
              <a:solidFill>
                <a:srgbClr val="333333"/>
              </a:solidFill>
              <a:highlight>
                <a:srgbClr val="EEEEEE"/>
              </a:highlight>
              <a:latin typeface="Raavi" panose="020B0502040204020203" pitchFamily="34" charset="0"/>
              <a:cs typeface="Raavi" panose="020B0502040204020203" pitchFamily="34" charset="0"/>
            </a:endParaRPr>
          </a:p>
          <a:p>
            <a:pPr marL="457200" lvl="0" indent="-331548" algn="l" rtl="0">
              <a:lnSpc>
                <a:spcPct val="95000"/>
              </a:lnSpc>
              <a:spcBef>
                <a:spcPts val="0"/>
              </a:spcBef>
              <a:spcAft>
                <a:spcPts val="0"/>
              </a:spcAft>
              <a:buClr>
                <a:srgbClr val="333333"/>
              </a:buClr>
              <a:buSzPts val="1621"/>
              <a:buChar char="●"/>
            </a:pPr>
            <a:r>
              <a:rPr lang="en-GB" sz="1621" dirty="0">
                <a:solidFill>
                  <a:srgbClr val="333333"/>
                </a:solidFill>
                <a:highlight>
                  <a:srgbClr val="FFFFFF"/>
                </a:highlight>
                <a:latin typeface="Raavi" panose="020B0502040204020203" pitchFamily="34" charset="0"/>
                <a:cs typeface="Raavi" panose="020B0502040204020203" pitchFamily="34" charset="0"/>
              </a:rPr>
              <a:t>Original manuscripts</a:t>
            </a:r>
            <a:endParaRPr sz="1621" dirty="0">
              <a:solidFill>
                <a:srgbClr val="333333"/>
              </a:solidFill>
              <a:highlight>
                <a:srgbClr val="FFFFFF"/>
              </a:highlight>
              <a:latin typeface="Raavi" panose="020B0502040204020203" pitchFamily="34" charset="0"/>
              <a:cs typeface="Raavi" panose="020B0502040204020203" pitchFamily="34" charset="0"/>
            </a:endParaRPr>
          </a:p>
          <a:p>
            <a:pPr marL="457200" lvl="0" indent="-331548" algn="l" rtl="0">
              <a:lnSpc>
                <a:spcPct val="95000"/>
              </a:lnSpc>
              <a:spcBef>
                <a:spcPts val="0"/>
              </a:spcBef>
              <a:spcAft>
                <a:spcPts val="0"/>
              </a:spcAft>
              <a:buClr>
                <a:srgbClr val="333333"/>
              </a:buClr>
              <a:buSzPts val="1621"/>
              <a:buChar char="●"/>
            </a:pPr>
            <a:r>
              <a:rPr lang="en-GB" sz="1621" dirty="0">
                <a:solidFill>
                  <a:srgbClr val="333333"/>
                </a:solidFill>
                <a:highlight>
                  <a:srgbClr val="EEEEEE"/>
                </a:highlight>
                <a:latin typeface="Raavi" panose="020B0502040204020203" pitchFamily="34" charset="0"/>
                <a:cs typeface="Raavi" panose="020B0502040204020203" pitchFamily="34" charset="0"/>
              </a:rPr>
              <a:t>Government documents</a:t>
            </a:r>
            <a:endParaRPr sz="1621" dirty="0">
              <a:solidFill>
                <a:srgbClr val="333333"/>
              </a:solidFill>
              <a:highlight>
                <a:srgbClr val="EEEEEE"/>
              </a:highlight>
              <a:latin typeface="Raavi" panose="020B0502040204020203" pitchFamily="34" charset="0"/>
              <a:cs typeface="Raavi" panose="020B0502040204020203" pitchFamily="34" charset="0"/>
            </a:endParaRPr>
          </a:p>
          <a:p>
            <a:pPr marL="457200" lvl="0" indent="-331548" algn="l" rtl="0">
              <a:lnSpc>
                <a:spcPct val="95000"/>
              </a:lnSpc>
              <a:spcBef>
                <a:spcPts val="0"/>
              </a:spcBef>
              <a:spcAft>
                <a:spcPts val="0"/>
              </a:spcAft>
              <a:buClr>
                <a:srgbClr val="333333"/>
              </a:buClr>
              <a:buSzPts val="1621"/>
              <a:buChar char="●"/>
            </a:pPr>
            <a:r>
              <a:rPr lang="en-GB" sz="1621" dirty="0">
                <a:solidFill>
                  <a:srgbClr val="333333"/>
                </a:solidFill>
                <a:highlight>
                  <a:srgbClr val="FFFFFF"/>
                </a:highlight>
                <a:latin typeface="Raavi" panose="020B0502040204020203" pitchFamily="34" charset="0"/>
                <a:cs typeface="Raavi" panose="020B0502040204020203" pitchFamily="34" charset="0"/>
              </a:rPr>
              <a:t>Court records</a:t>
            </a:r>
            <a:endParaRPr sz="1621" dirty="0">
              <a:solidFill>
                <a:srgbClr val="333333"/>
              </a:solidFill>
              <a:highlight>
                <a:srgbClr val="FFFFFF"/>
              </a:highlight>
              <a:latin typeface="Raavi" panose="020B0502040204020203" pitchFamily="34" charset="0"/>
              <a:cs typeface="Raavi" panose="020B0502040204020203" pitchFamily="34" charset="0"/>
            </a:endParaRPr>
          </a:p>
          <a:p>
            <a:pPr marL="457200" lvl="0" indent="-331548" algn="l" rtl="0">
              <a:lnSpc>
                <a:spcPct val="95000"/>
              </a:lnSpc>
              <a:spcBef>
                <a:spcPts val="0"/>
              </a:spcBef>
              <a:spcAft>
                <a:spcPts val="0"/>
              </a:spcAft>
              <a:buClr>
                <a:srgbClr val="333333"/>
              </a:buClr>
              <a:buSzPts val="1621"/>
              <a:buChar char="●"/>
            </a:pPr>
            <a:r>
              <a:rPr lang="en-GB" sz="1621" dirty="0">
                <a:solidFill>
                  <a:srgbClr val="333333"/>
                </a:solidFill>
                <a:highlight>
                  <a:srgbClr val="EEEEEE"/>
                </a:highlight>
                <a:latin typeface="Raavi" panose="020B0502040204020203" pitchFamily="34" charset="0"/>
                <a:cs typeface="Raavi" panose="020B0502040204020203" pitchFamily="34" charset="0"/>
              </a:rPr>
              <a:t>Speeches</a:t>
            </a:r>
            <a:endParaRPr sz="1621" dirty="0">
              <a:solidFill>
                <a:srgbClr val="333333"/>
              </a:solidFill>
              <a:highlight>
                <a:srgbClr val="EEEEEE"/>
              </a:highlight>
              <a:latin typeface="Raavi" panose="020B0502040204020203" pitchFamily="34" charset="0"/>
              <a:cs typeface="Raavi" panose="020B0502040204020203" pitchFamily="34" charset="0"/>
            </a:endParaRPr>
          </a:p>
          <a:p>
            <a:pPr marL="457200" lvl="0" indent="-331548" algn="l" rtl="0">
              <a:lnSpc>
                <a:spcPct val="95000"/>
              </a:lnSpc>
              <a:spcBef>
                <a:spcPts val="0"/>
              </a:spcBef>
              <a:spcAft>
                <a:spcPts val="0"/>
              </a:spcAft>
              <a:buClr>
                <a:srgbClr val="333333"/>
              </a:buClr>
              <a:buSzPts val="1621"/>
              <a:buChar char="●"/>
            </a:pPr>
            <a:r>
              <a:rPr lang="en-GB" sz="1621" dirty="0">
                <a:solidFill>
                  <a:srgbClr val="333333"/>
                </a:solidFill>
                <a:highlight>
                  <a:srgbClr val="EEEEEE"/>
                </a:highlight>
                <a:latin typeface="Raavi" panose="020B0502040204020203" pitchFamily="34" charset="0"/>
                <a:cs typeface="Raavi" panose="020B0502040204020203" pitchFamily="34" charset="0"/>
              </a:rPr>
              <a:t>Film footage, </a:t>
            </a:r>
            <a:r>
              <a:rPr lang="en-GB" sz="1621" dirty="0">
                <a:solidFill>
                  <a:srgbClr val="333333"/>
                </a:solidFill>
                <a:highlight>
                  <a:srgbClr val="FFFFFF"/>
                </a:highlight>
                <a:latin typeface="Raavi" panose="020B0502040204020203" pitchFamily="34" charset="0"/>
                <a:cs typeface="Raavi" panose="020B0502040204020203" pitchFamily="34" charset="0"/>
              </a:rPr>
              <a:t>Photographs</a:t>
            </a:r>
            <a:endParaRPr sz="1621" dirty="0">
              <a:solidFill>
                <a:srgbClr val="333333"/>
              </a:solidFill>
              <a:highlight>
                <a:srgbClr val="EEEEEE"/>
              </a:highlight>
              <a:latin typeface="Raavi" panose="020B0502040204020203" pitchFamily="34" charset="0"/>
              <a:cs typeface="Raavi" panose="020B0502040204020203" pitchFamily="34" charset="0"/>
            </a:endParaRPr>
          </a:p>
        </p:txBody>
      </p:sp>
      <p:sp>
        <p:nvSpPr>
          <p:cNvPr id="183" name="Google Shape;183;p29"/>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fontScale="92500" lnSpcReduction="20000"/>
          </a:bodyPr>
          <a:lstStyle/>
          <a:p>
            <a:pPr marL="0" lvl="0" indent="0" algn="l" rtl="0">
              <a:lnSpc>
                <a:spcPct val="100000"/>
              </a:lnSpc>
              <a:spcBef>
                <a:spcPts val="0"/>
              </a:spcBef>
              <a:spcAft>
                <a:spcPts val="0"/>
              </a:spcAft>
              <a:buNone/>
            </a:pPr>
            <a:r>
              <a:rPr lang="en-GB" sz="2550" u="sng" dirty="0">
                <a:solidFill>
                  <a:schemeClr val="dk1"/>
                </a:solidFill>
              </a:rPr>
              <a:t>Secondary sources</a:t>
            </a:r>
            <a:endParaRPr sz="2550" u="sng" dirty="0">
              <a:solidFill>
                <a:schemeClr val="dk1"/>
              </a:solidFill>
            </a:endParaRPr>
          </a:p>
          <a:p>
            <a:pPr marL="457200" lvl="0" indent="0" algn="l" rtl="0">
              <a:spcBef>
                <a:spcPts val="0"/>
              </a:spcBef>
              <a:spcAft>
                <a:spcPts val="0"/>
              </a:spcAft>
              <a:buNone/>
            </a:pPr>
            <a:endParaRPr sz="1800" dirty="0">
              <a:solidFill>
                <a:srgbClr val="333333"/>
              </a:solidFill>
              <a:highlight>
                <a:srgbClr val="EEEEEE"/>
              </a:highlight>
            </a:endParaRPr>
          </a:p>
          <a:p>
            <a:pPr marL="457200" lvl="0" indent="-334327" algn="l" rtl="0">
              <a:spcBef>
                <a:spcPts val="1200"/>
              </a:spcBef>
              <a:spcAft>
                <a:spcPts val="0"/>
              </a:spcAft>
              <a:buClr>
                <a:srgbClr val="333333"/>
              </a:buClr>
              <a:buSzPct val="100000"/>
              <a:buChar char="●"/>
            </a:pPr>
            <a:r>
              <a:rPr lang="en-GB" sz="1800" dirty="0">
                <a:solidFill>
                  <a:srgbClr val="333333"/>
                </a:solidFill>
                <a:highlight>
                  <a:srgbClr val="EEEEEE"/>
                </a:highlight>
              </a:rPr>
              <a:t>Journal articles</a:t>
            </a:r>
            <a:endParaRPr sz="1800" dirty="0">
              <a:solidFill>
                <a:srgbClr val="333333"/>
              </a:solidFill>
              <a:highlight>
                <a:srgbClr val="EEEEEE"/>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chemeClr val="lt1"/>
                </a:highlight>
              </a:rPr>
              <a:t>Textbooks</a:t>
            </a:r>
            <a:endParaRPr sz="1800" dirty="0">
              <a:solidFill>
                <a:srgbClr val="333333"/>
              </a:solidFill>
              <a:highlight>
                <a:schemeClr val="lt1"/>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rgbClr val="EEEEEE"/>
                </a:highlight>
              </a:rPr>
              <a:t>Dictionaries and encyclopaedias</a:t>
            </a:r>
            <a:endParaRPr sz="1800" dirty="0">
              <a:solidFill>
                <a:srgbClr val="333333"/>
              </a:solidFill>
              <a:highlight>
                <a:srgbClr val="EEEEEE"/>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chemeClr val="lt1"/>
                </a:highlight>
              </a:rPr>
              <a:t>Biographies</a:t>
            </a:r>
            <a:endParaRPr sz="1800" dirty="0">
              <a:solidFill>
                <a:srgbClr val="333333"/>
              </a:solidFill>
              <a:highlight>
                <a:schemeClr val="lt1"/>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chemeClr val="lt1"/>
                </a:highlight>
              </a:rPr>
              <a:t>Blog posts</a:t>
            </a:r>
            <a:endParaRPr sz="1800" dirty="0">
              <a:solidFill>
                <a:srgbClr val="333333"/>
              </a:solidFill>
              <a:highlight>
                <a:schemeClr val="lt1"/>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rgbClr val="EEEEEE"/>
                </a:highlight>
              </a:rPr>
              <a:t>Newspaper articles</a:t>
            </a:r>
            <a:endParaRPr sz="1800" dirty="0">
              <a:solidFill>
                <a:srgbClr val="333333"/>
              </a:solidFill>
              <a:highlight>
                <a:srgbClr val="EEEEEE"/>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rgbClr val="EEEEEE"/>
                </a:highlight>
              </a:rPr>
              <a:t>Documentaries</a:t>
            </a:r>
            <a:endParaRPr sz="1800" dirty="0">
              <a:solidFill>
                <a:srgbClr val="333333"/>
              </a:solidFill>
              <a:highlight>
                <a:srgbClr val="EEEEEE"/>
              </a:highlight>
            </a:endParaRPr>
          </a:p>
          <a:p>
            <a:pPr marL="457200" lvl="0" indent="-334327" algn="l" rtl="0">
              <a:spcBef>
                <a:spcPts val="0"/>
              </a:spcBef>
              <a:spcAft>
                <a:spcPts val="0"/>
              </a:spcAft>
              <a:buClr>
                <a:srgbClr val="333333"/>
              </a:buClr>
              <a:buSzPct val="100000"/>
              <a:buChar char="●"/>
            </a:pPr>
            <a:r>
              <a:rPr lang="en-GB" sz="1800" dirty="0">
                <a:solidFill>
                  <a:srgbClr val="333333"/>
                </a:solidFill>
                <a:highlight>
                  <a:schemeClr val="lt1"/>
                </a:highlight>
              </a:rPr>
              <a:t>Theses</a:t>
            </a:r>
            <a:endParaRPr sz="1800" dirty="0">
              <a:solidFill>
                <a:srgbClr val="333333"/>
              </a:solidFill>
              <a:highlight>
                <a:srgbClr val="EEEEEE"/>
              </a:highlight>
            </a:endParaRPr>
          </a:p>
          <a:p>
            <a:pPr marL="0" lvl="0" indent="0" algn="l" rtl="0">
              <a:spcBef>
                <a:spcPts val="1200"/>
              </a:spcBef>
              <a:spcAft>
                <a:spcPts val="1200"/>
              </a:spcAft>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END OF UNIT - II</a:t>
            </a:r>
            <a:endParaRPr/>
          </a:p>
        </p:txBody>
      </p:sp>
      <p:sp>
        <p:nvSpPr>
          <p:cNvPr id="189" name="Google Shape;189;p30"/>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2001</Words>
  <Application>Microsoft Office PowerPoint</Application>
  <PresentationFormat>On-screen Show (16:9)</PresentationFormat>
  <Paragraphs>102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Raavi</vt:lpstr>
      <vt:lpstr>Roboto</vt:lpstr>
      <vt:lpstr>Arial</vt:lpstr>
      <vt:lpstr>Geometric</vt:lpstr>
      <vt:lpstr>Developing a Research Plan</vt:lpstr>
      <vt:lpstr>Defining a Research Problem</vt:lpstr>
      <vt:lpstr>WHAT IS A RESEARCH PROBLEM?</vt:lpstr>
      <vt:lpstr>contd…</vt:lpstr>
      <vt:lpstr>Components of a Research Program</vt:lpstr>
      <vt:lpstr>SELECTING THE PROBLEM</vt:lpstr>
      <vt:lpstr>contd…</vt:lpstr>
      <vt:lpstr>NECESSITY OF DEFINING THE PROBLEM</vt:lpstr>
      <vt:lpstr>TECHNIQUE INVOLVED IN DEFINING A PROBLEM</vt:lpstr>
      <vt:lpstr>PowerPoint Presentation</vt:lpstr>
      <vt:lpstr>PowerPoint Presentation</vt:lpstr>
      <vt:lpstr>PowerPoint Presentation</vt:lpstr>
      <vt:lpstr>PowerPoint Presentation</vt:lpstr>
      <vt:lpstr>PowerPoint Presentation</vt:lpstr>
      <vt:lpstr>Importance of literature review in defining a problem</vt:lpstr>
      <vt:lpstr>Survey of Literature- Primary and secondary Sources</vt:lpstr>
      <vt:lpstr>Examples of Primary  and Secondary sources</vt:lpstr>
      <vt:lpstr>END OF UNIT -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a Research Plan</dc:title>
  <cp:lastModifiedBy>HoD MCA</cp:lastModifiedBy>
  <cp:revision>1</cp:revision>
  <dcterms:modified xsi:type="dcterms:W3CDTF">2023-11-08T10:11:49Z</dcterms:modified>
</cp:coreProperties>
</file>