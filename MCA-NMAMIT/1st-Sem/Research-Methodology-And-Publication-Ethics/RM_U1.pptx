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9144000" cy="5143500" type="screen16x9"/>
  <p:notesSz cx="6858000" cy="9144000"/>
  <p:embeddedFontLst>
    <p:embeddedFont>
      <p:font typeface="Roboto" panose="020B0604020202020204"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pcY4i4my5pqCy7JVuywLe4xUFM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120"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 name="Google Shape;240;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 name="Google Shape;246;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6" name="Google Shape;306;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0" name="Google Shape;330;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6" name="Google Shape;336;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8" name="Google Shape;34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47"/>
          <p:cNvGrpSpPr/>
          <p:nvPr/>
        </p:nvGrpSpPr>
        <p:grpSpPr>
          <a:xfrm>
            <a:off x="6098378" y="5"/>
            <a:ext cx="3045625" cy="2030570"/>
            <a:chOff x="6098378" y="5"/>
            <a:chExt cx="3045625" cy="2030570"/>
          </a:xfrm>
        </p:grpSpPr>
        <p:sp>
          <p:nvSpPr>
            <p:cNvPr id="11" name="Google Shape;11;p47"/>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47"/>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47"/>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47"/>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47"/>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47"/>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7" name="Google Shape;17;p47"/>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4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grpSp>
        <p:nvGrpSpPr>
          <p:cNvPr id="20" name="Google Shape;20;p48"/>
          <p:cNvGrpSpPr/>
          <p:nvPr/>
        </p:nvGrpSpPr>
        <p:grpSpPr>
          <a:xfrm>
            <a:off x="0" y="3903669"/>
            <a:ext cx="9144000" cy="1239925"/>
            <a:chOff x="0" y="3903669"/>
            <a:chExt cx="9144000" cy="1239925"/>
          </a:xfrm>
        </p:grpSpPr>
        <p:sp>
          <p:nvSpPr>
            <p:cNvPr id="21" name="Google Shape;21;p48"/>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8"/>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48"/>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8"/>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8"/>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p4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48"/>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8" name="Google Shape;28;p4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9"/>
        <p:cNvGrpSpPr/>
        <p:nvPr/>
      </p:nvGrpSpPr>
      <p:grpSpPr>
        <a:xfrm>
          <a:off x="0" y="0"/>
          <a:ext cx="0" cy="0"/>
          <a:chOff x="0" y="0"/>
          <a:chExt cx="0" cy="0"/>
        </a:xfrm>
      </p:grpSpPr>
      <p:grpSp>
        <p:nvGrpSpPr>
          <p:cNvPr id="30" name="Google Shape;30;p49"/>
          <p:cNvGrpSpPr/>
          <p:nvPr/>
        </p:nvGrpSpPr>
        <p:grpSpPr>
          <a:xfrm>
            <a:off x="6098378" y="5"/>
            <a:ext cx="3045625" cy="2030570"/>
            <a:chOff x="6098378" y="5"/>
            <a:chExt cx="3045625" cy="2030570"/>
          </a:xfrm>
        </p:grpSpPr>
        <p:sp>
          <p:nvSpPr>
            <p:cNvPr id="31" name="Google Shape;31;p49"/>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49"/>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49"/>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9"/>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49"/>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 name="Google Shape;36;p49"/>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37" name="Google Shape;37;p4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0"/>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0" name="Google Shape;40;p50"/>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1" name="Google Shape;41;p50"/>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p5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5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5" name="Google Shape;45;p5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5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8" name="Google Shape;48;p52"/>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9" name="Google Shape;49;p5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53"/>
          <p:cNvGrpSpPr/>
          <p:nvPr/>
        </p:nvGrpSpPr>
        <p:grpSpPr>
          <a:xfrm>
            <a:off x="6098378" y="5"/>
            <a:ext cx="3045625" cy="2030570"/>
            <a:chOff x="6098378" y="5"/>
            <a:chExt cx="3045625" cy="2030570"/>
          </a:xfrm>
        </p:grpSpPr>
        <p:sp>
          <p:nvSpPr>
            <p:cNvPr id="52" name="Google Shape;52;p53"/>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53"/>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53"/>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53"/>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53"/>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7" name="Google Shape;57;p53"/>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58" name="Google Shape;58;p5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54"/>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1" name="Google Shape;61;p54"/>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54"/>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3" name="Google Shape;63;p54"/>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54"/>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5" name="Google Shape;65;p5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55"/>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68" name="Google Shape;68;p5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56"/>
          <p:cNvGrpSpPr/>
          <p:nvPr/>
        </p:nvGrpSpPr>
        <p:grpSpPr>
          <a:xfrm>
            <a:off x="6098378" y="5"/>
            <a:ext cx="3045625" cy="2030570"/>
            <a:chOff x="6098378" y="5"/>
            <a:chExt cx="3045625" cy="2030570"/>
          </a:xfrm>
        </p:grpSpPr>
        <p:sp>
          <p:nvSpPr>
            <p:cNvPr id="71" name="Google Shape;71;p5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5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5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5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5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6" name="Google Shape;76;p56"/>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7" name="Google Shape;77;p56"/>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78" name="Google Shape;78;p5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5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46"/>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46"/>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4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200"/>
              <a:buNone/>
            </a:pPr>
            <a:r>
              <a:rPr lang="en" sz="4400"/>
              <a:t>Research Methodology</a:t>
            </a:r>
            <a:endParaRPr sz="4400"/>
          </a:p>
        </p:txBody>
      </p:sp>
      <p:sp>
        <p:nvSpPr>
          <p:cNvPr id="86" name="Google Shape;86;p1"/>
          <p:cNvSpPr txBox="1">
            <a:spLocks noGrp="1"/>
          </p:cNvSpPr>
          <p:nvPr>
            <p:ph type="subTitle" idx="1"/>
          </p:nvPr>
        </p:nvSpPr>
        <p:spPr>
          <a:xfrm>
            <a:off x="598100" y="2715937"/>
            <a:ext cx="8222100" cy="8388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1018"/>
              <a:buNone/>
            </a:pPr>
            <a:r>
              <a:rPr lang="en" sz="2642"/>
              <a:t>Unit 1</a:t>
            </a:r>
            <a:endParaRPr sz="2642"/>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Meaning of Research</a:t>
            </a:r>
            <a:endParaRPr/>
          </a:p>
          <a:p>
            <a:pPr marL="0" lvl="0" indent="0" algn="l" rtl="0">
              <a:lnSpc>
                <a:spcPct val="100000"/>
              </a:lnSpc>
              <a:spcBef>
                <a:spcPts val="0"/>
              </a:spcBef>
              <a:spcAft>
                <a:spcPts val="0"/>
              </a:spcAft>
              <a:buSzPct val="111111"/>
              <a:buNone/>
            </a:pPr>
            <a:endParaRPr/>
          </a:p>
        </p:txBody>
      </p:sp>
      <p:sp>
        <p:nvSpPr>
          <p:cNvPr id="92" name="Google Shape;92;p2"/>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p>
            <a:pPr marL="457200" lvl="0" indent="-368300" algn="just" rtl="0">
              <a:lnSpc>
                <a:spcPct val="115000"/>
              </a:lnSpc>
              <a:spcBef>
                <a:spcPts val="0"/>
              </a:spcBef>
              <a:spcAft>
                <a:spcPts val="0"/>
              </a:spcAft>
              <a:buSzPts val="2200"/>
              <a:buChar char="●"/>
            </a:pPr>
            <a:r>
              <a:rPr lang="en" sz="2200"/>
              <a:t>Research in common parlance refers to a </a:t>
            </a:r>
            <a:r>
              <a:rPr lang="en" sz="2200">
                <a:solidFill>
                  <a:schemeClr val="accent4"/>
                </a:solidFill>
              </a:rPr>
              <a:t>search for knowledge. </a:t>
            </a:r>
            <a:endParaRPr sz="2200">
              <a:solidFill>
                <a:schemeClr val="accent4"/>
              </a:solidFill>
            </a:endParaRPr>
          </a:p>
          <a:p>
            <a:pPr marL="457200" lvl="0" indent="-368300" algn="just" rtl="0">
              <a:lnSpc>
                <a:spcPct val="115000"/>
              </a:lnSpc>
              <a:spcBef>
                <a:spcPts val="0"/>
              </a:spcBef>
              <a:spcAft>
                <a:spcPts val="0"/>
              </a:spcAft>
              <a:buSzPts val="2200"/>
              <a:buChar char="●"/>
            </a:pPr>
            <a:r>
              <a:rPr lang="en" sz="2200"/>
              <a:t>Once can also define research as a </a:t>
            </a:r>
            <a:r>
              <a:rPr lang="en" sz="2200">
                <a:solidFill>
                  <a:schemeClr val="accent4"/>
                </a:solidFill>
              </a:rPr>
              <a:t>scientific and systematic search for pertinent information on a specific topic</a:t>
            </a:r>
            <a:r>
              <a:rPr lang="en" sz="2200"/>
              <a:t>. </a:t>
            </a:r>
            <a:endParaRPr sz="2200"/>
          </a:p>
          <a:p>
            <a:pPr marL="457200" lvl="0" indent="-368300" algn="just" rtl="0">
              <a:lnSpc>
                <a:spcPct val="115000"/>
              </a:lnSpc>
              <a:spcBef>
                <a:spcPts val="0"/>
              </a:spcBef>
              <a:spcAft>
                <a:spcPts val="0"/>
              </a:spcAft>
              <a:buSzPts val="2200"/>
              <a:buChar char="●"/>
            </a:pPr>
            <a:r>
              <a:rPr lang="en" sz="2200"/>
              <a:t>In fact, research is an a</a:t>
            </a:r>
            <a:r>
              <a:rPr lang="en" sz="2200">
                <a:solidFill>
                  <a:schemeClr val="accent4"/>
                </a:solidFill>
              </a:rPr>
              <a:t>rt of scientific investigation</a:t>
            </a:r>
            <a:r>
              <a:rPr lang="en" sz="2200"/>
              <a:t>.</a:t>
            </a:r>
            <a:endParaRPr sz="2200"/>
          </a:p>
          <a:p>
            <a:pPr marL="0" lvl="0" indent="0" algn="just" rtl="0">
              <a:lnSpc>
                <a:spcPct val="115000"/>
              </a:lnSpc>
              <a:spcBef>
                <a:spcPts val="1200"/>
              </a:spcBef>
              <a:spcAft>
                <a:spcPts val="0"/>
              </a:spcAft>
              <a:buSzPts val="1800"/>
              <a:buNone/>
            </a:pPr>
            <a:endParaRPr sz="2200"/>
          </a:p>
          <a:p>
            <a:pPr marL="0" lvl="0" indent="0" algn="just" rtl="0">
              <a:lnSpc>
                <a:spcPct val="115000"/>
              </a:lnSpc>
              <a:spcBef>
                <a:spcPts val="1200"/>
              </a:spcBef>
              <a:spcAft>
                <a:spcPts val="1200"/>
              </a:spcAft>
              <a:buSzPts val="18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Definition of Research</a:t>
            </a:r>
            <a:endParaRPr/>
          </a:p>
        </p:txBody>
      </p:sp>
      <p:sp>
        <p:nvSpPr>
          <p:cNvPr id="98" name="Google Shape;98;p3"/>
          <p:cNvSpPr txBox="1">
            <a:spLocks noGrp="1"/>
          </p:cNvSpPr>
          <p:nvPr>
            <p:ph type="body" idx="1"/>
          </p:nvPr>
        </p:nvSpPr>
        <p:spPr>
          <a:xfrm>
            <a:off x="311700" y="1017800"/>
            <a:ext cx="8520600" cy="3551100"/>
          </a:xfrm>
          <a:prstGeom prst="rect">
            <a:avLst/>
          </a:prstGeom>
          <a:noFill/>
          <a:ln>
            <a:noFill/>
          </a:ln>
        </p:spPr>
        <p:txBody>
          <a:bodyPr spcFirstLastPara="1" wrap="square" lIns="91425" tIns="91425" rIns="91425" bIns="91425" anchor="t" anchorCtr="0">
            <a:normAutofit fontScale="92500"/>
          </a:bodyPr>
          <a:lstStyle/>
          <a:p>
            <a:pPr marL="457200" lvl="0" indent="-357822" algn="just" rtl="0">
              <a:lnSpc>
                <a:spcPct val="115000"/>
              </a:lnSpc>
              <a:spcBef>
                <a:spcPts val="0"/>
              </a:spcBef>
              <a:spcAft>
                <a:spcPts val="0"/>
              </a:spcAft>
              <a:buSzPct val="100000"/>
              <a:buChar char="●"/>
            </a:pPr>
            <a:r>
              <a:rPr lang="en" sz="2200"/>
              <a:t>“a careful investigation or inquiry specially through search for new facts in any branch of knowledge”.</a:t>
            </a:r>
            <a:endParaRPr sz="2200"/>
          </a:p>
          <a:p>
            <a:pPr marL="457200" lvl="0" indent="-357822" algn="just" rtl="0">
              <a:lnSpc>
                <a:spcPct val="115000"/>
              </a:lnSpc>
              <a:spcBef>
                <a:spcPts val="0"/>
              </a:spcBef>
              <a:spcAft>
                <a:spcPts val="0"/>
              </a:spcAft>
              <a:buSzPct val="100000"/>
              <a:buChar char="●"/>
            </a:pPr>
            <a:r>
              <a:rPr lang="en" sz="2200"/>
              <a:t>“systematized effort to gain new knowledge.”</a:t>
            </a:r>
            <a:endParaRPr sz="2200"/>
          </a:p>
          <a:p>
            <a:pPr marL="457200" lvl="0" indent="-371010" algn="just" rtl="0">
              <a:lnSpc>
                <a:spcPct val="115000"/>
              </a:lnSpc>
              <a:spcBef>
                <a:spcPts val="0"/>
              </a:spcBef>
              <a:spcAft>
                <a:spcPts val="0"/>
              </a:spcAft>
              <a:buSzPct val="100000"/>
              <a:buChar char="●"/>
            </a:pPr>
            <a:r>
              <a:rPr lang="en" sz="2424"/>
              <a:t>According to Clifford Woody research comprises defining and redefining problems, formulating hypothesis or suggested solutions; collecting organising and evaluating data; making deductions and reaching conclusions; and at last carefully testing the conclusions to determine whether they fit the formulating hypothesis.</a:t>
            </a:r>
            <a:endParaRPr sz="2424"/>
          </a:p>
          <a:p>
            <a:pPr marL="0" lvl="0" indent="0" algn="just" rtl="0">
              <a:lnSpc>
                <a:spcPct val="115000"/>
              </a:lnSpc>
              <a:spcBef>
                <a:spcPts val="1200"/>
              </a:spcBef>
              <a:spcAft>
                <a:spcPts val="1200"/>
              </a:spcAft>
              <a:buSzPct val="108108"/>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Objectives of Research</a:t>
            </a:r>
            <a:endParaRPr dirty="0"/>
          </a:p>
        </p:txBody>
      </p:sp>
      <p:sp>
        <p:nvSpPr>
          <p:cNvPr id="104" name="Google Shape;104;p4"/>
          <p:cNvSpPr txBox="1">
            <a:spLocks noGrp="1"/>
          </p:cNvSpPr>
          <p:nvPr>
            <p:ph type="body" idx="1"/>
          </p:nvPr>
        </p:nvSpPr>
        <p:spPr>
          <a:xfrm>
            <a:off x="311700" y="1017800"/>
            <a:ext cx="8520600" cy="3551100"/>
          </a:xfrm>
          <a:prstGeom prst="rect">
            <a:avLst/>
          </a:prstGeom>
          <a:noFill/>
          <a:ln>
            <a:noFill/>
          </a:ln>
        </p:spPr>
        <p:txBody>
          <a:bodyPr spcFirstLastPara="1" wrap="square" lIns="91425" tIns="91425" rIns="91425" bIns="91425" anchor="t" anchorCtr="0">
            <a:normAutofit lnSpcReduction="10000"/>
          </a:bodyPr>
          <a:lstStyle/>
          <a:p>
            <a:pPr marL="457200" lvl="0" indent="-342900" algn="just" rtl="0">
              <a:lnSpc>
                <a:spcPct val="115000"/>
              </a:lnSpc>
              <a:spcBef>
                <a:spcPts val="0"/>
              </a:spcBef>
              <a:spcAft>
                <a:spcPts val="0"/>
              </a:spcAft>
              <a:buSzPts val="1800"/>
              <a:buAutoNum type="arabicPeriod"/>
            </a:pPr>
            <a:r>
              <a:rPr lang="en" dirty="0"/>
              <a:t>To gain familiarity with a phenomenon or to achieve new insights into it (studies with this object in view are termed as exploratory or formulative research studies);</a:t>
            </a:r>
            <a:endParaRPr dirty="0"/>
          </a:p>
          <a:p>
            <a:pPr marL="457200" lvl="0" indent="-342900" algn="just" rtl="0">
              <a:lnSpc>
                <a:spcPct val="115000"/>
              </a:lnSpc>
              <a:spcBef>
                <a:spcPts val="0"/>
              </a:spcBef>
              <a:spcAft>
                <a:spcPts val="0"/>
              </a:spcAft>
              <a:buSzPts val="1800"/>
              <a:buAutoNum type="arabicPeriod"/>
            </a:pPr>
            <a:r>
              <a:rPr lang="en" dirty="0"/>
              <a:t>To portray accurately the characteristics of a particular individual, situation or a group (studies with this object in view are known as descriptive research studies);</a:t>
            </a:r>
            <a:endParaRPr dirty="0"/>
          </a:p>
          <a:p>
            <a:pPr marL="457200" lvl="0" indent="-342900" algn="just" rtl="0">
              <a:lnSpc>
                <a:spcPct val="115000"/>
              </a:lnSpc>
              <a:spcBef>
                <a:spcPts val="0"/>
              </a:spcBef>
              <a:spcAft>
                <a:spcPts val="0"/>
              </a:spcAft>
              <a:buSzPts val="1800"/>
              <a:buAutoNum type="arabicPeriod"/>
            </a:pPr>
            <a:r>
              <a:rPr lang="en" dirty="0"/>
              <a:t>To determine the frequency with which something occurs or with which it is associated with something else (studies with this object in view are known as diagnostic research studies);</a:t>
            </a:r>
            <a:endParaRPr dirty="0"/>
          </a:p>
          <a:p>
            <a:pPr marL="457200" lvl="0" indent="-342900" algn="just" rtl="0">
              <a:lnSpc>
                <a:spcPct val="115000"/>
              </a:lnSpc>
              <a:spcBef>
                <a:spcPts val="0"/>
              </a:spcBef>
              <a:spcAft>
                <a:spcPts val="0"/>
              </a:spcAft>
              <a:buSzPts val="1800"/>
              <a:buAutoNum type="arabicPeriod"/>
            </a:pPr>
            <a:r>
              <a:rPr lang="en" dirty="0"/>
              <a:t>To test a hypothesis of a causal relationship between variables (such studies are known as hypothesis-testing research studies).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5"/>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Characteristics of Research</a:t>
            </a:r>
            <a:endParaRPr/>
          </a:p>
        </p:txBody>
      </p:sp>
      <p:sp>
        <p:nvSpPr>
          <p:cNvPr id="110" name="Google Shape;110;p5"/>
          <p:cNvSpPr txBox="1">
            <a:spLocks noGrp="1"/>
          </p:cNvSpPr>
          <p:nvPr>
            <p:ph type="body" idx="1"/>
          </p:nvPr>
        </p:nvSpPr>
        <p:spPr>
          <a:xfrm>
            <a:off x="311700" y="1229875"/>
            <a:ext cx="8520600" cy="3513000"/>
          </a:xfrm>
          <a:prstGeom prst="rect">
            <a:avLst/>
          </a:prstGeom>
          <a:noFill/>
          <a:ln>
            <a:noFill/>
          </a:ln>
        </p:spPr>
        <p:txBody>
          <a:bodyPr spcFirstLastPara="1" wrap="square" lIns="91425" tIns="91425" rIns="91425" bIns="91425" anchor="t" anchorCtr="0">
            <a:normAutofit fontScale="92500"/>
          </a:bodyPr>
          <a:lstStyle/>
          <a:p>
            <a:pPr marL="457200" lvl="0" indent="-356115" algn="just" rtl="0">
              <a:lnSpc>
                <a:spcPct val="115000"/>
              </a:lnSpc>
              <a:spcBef>
                <a:spcPts val="0"/>
              </a:spcBef>
              <a:spcAft>
                <a:spcPts val="0"/>
              </a:spcAft>
              <a:buSzPts val="2008"/>
              <a:buAutoNum type="arabicPeriod"/>
            </a:pPr>
            <a:r>
              <a:rPr lang="en" sz="2008" dirty="0">
                <a:solidFill>
                  <a:schemeClr val="accent4"/>
                </a:solidFill>
              </a:rPr>
              <a:t>Empirical</a:t>
            </a:r>
            <a:r>
              <a:rPr lang="en" sz="2008" dirty="0"/>
              <a:t>-Based on direct observation by the researcher. Practical experience</a:t>
            </a:r>
            <a:endParaRPr sz="2008" dirty="0"/>
          </a:p>
          <a:p>
            <a:pPr marL="457200" lvl="0" indent="-356115" algn="just" rtl="0">
              <a:lnSpc>
                <a:spcPct val="115000"/>
              </a:lnSpc>
              <a:spcBef>
                <a:spcPts val="0"/>
              </a:spcBef>
              <a:spcAft>
                <a:spcPts val="0"/>
              </a:spcAft>
              <a:buSzPts val="2008"/>
              <a:buAutoNum type="arabicPeriod"/>
            </a:pPr>
            <a:r>
              <a:rPr lang="en" sz="2008" dirty="0">
                <a:solidFill>
                  <a:schemeClr val="accent4"/>
                </a:solidFill>
              </a:rPr>
              <a:t>Logical</a:t>
            </a:r>
            <a:r>
              <a:rPr lang="en" sz="2008" dirty="0"/>
              <a:t>-Based on valid procedure/ principles. Scientific study, Systematic  examinations that draw conclusions.</a:t>
            </a:r>
            <a:endParaRPr sz="2008" dirty="0"/>
          </a:p>
          <a:p>
            <a:pPr marL="457200" lvl="0" indent="-356115" algn="just" rtl="0">
              <a:lnSpc>
                <a:spcPct val="115000"/>
              </a:lnSpc>
              <a:spcBef>
                <a:spcPts val="0"/>
              </a:spcBef>
              <a:spcAft>
                <a:spcPts val="0"/>
              </a:spcAft>
              <a:buSzPts val="2008"/>
              <a:buAutoNum type="arabicPeriod"/>
            </a:pPr>
            <a:r>
              <a:rPr lang="en" sz="2008" dirty="0">
                <a:solidFill>
                  <a:schemeClr val="accent4"/>
                </a:solidFill>
              </a:rPr>
              <a:t>Cyclical</a:t>
            </a:r>
            <a:r>
              <a:rPr lang="en" sz="2008" dirty="0"/>
              <a:t>- starts with a problem and ends with a problem</a:t>
            </a:r>
            <a:endParaRPr sz="2008" dirty="0"/>
          </a:p>
          <a:p>
            <a:pPr marL="457200" lvl="0" indent="-356115" algn="just" rtl="0">
              <a:lnSpc>
                <a:spcPct val="115000"/>
              </a:lnSpc>
              <a:spcBef>
                <a:spcPts val="0"/>
              </a:spcBef>
              <a:spcAft>
                <a:spcPts val="0"/>
              </a:spcAft>
              <a:buSzPts val="2008"/>
              <a:buAutoNum type="arabicPeriod"/>
            </a:pPr>
            <a:r>
              <a:rPr lang="en" sz="2008" dirty="0">
                <a:solidFill>
                  <a:schemeClr val="accent4"/>
                </a:solidFill>
              </a:rPr>
              <a:t>Analytical</a:t>
            </a:r>
            <a:r>
              <a:rPr lang="en" sz="2008" dirty="0"/>
              <a:t>–Utilizes proven, analytical procedure in gathering data. </a:t>
            </a:r>
            <a:endParaRPr sz="2008" dirty="0"/>
          </a:p>
          <a:p>
            <a:pPr marL="457200" lvl="0" indent="-356115" algn="just" rtl="0">
              <a:lnSpc>
                <a:spcPct val="115000"/>
              </a:lnSpc>
              <a:spcBef>
                <a:spcPts val="0"/>
              </a:spcBef>
              <a:spcAft>
                <a:spcPts val="0"/>
              </a:spcAft>
              <a:buSzPts val="2008"/>
              <a:buAutoNum type="arabicPeriod"/>
            </a:pPr>
            <a:r>
              <a:rPr lang="en" sz="2008" dirty="0">
                <a:solidFill>
                  <a:schemeClr val="accent4"/>
                </a:solidFill>
              </a:rPr>
              <a:t>Critical</a:t>
            </a:r>
            <a:r>
              <a:rPr lang="en" sz="2008" dirty="0"/>
              <a:t>- careful &amp; precision judgment, precision interpretation  based on results</a:t>
            </a:r>
            <a:endParaRPr sz="2008" dirty="0"/>
          </a:p>
          <a:p>
            <a:pPr marL="457200" lvl="0" indent="-356115" algn="just" rtl="0">
              <a:lnSpc>
                <a:spcPct val="115000"/>
              </a:lnSpc>
              <a:spcBef>
                <a:spcPts val="0"/>
              </a:spcBef>
              <a:spcAft>
                <a:spcPts val="0"/>
              </a:spcAft>
              <a:buSzPts val="2008"/>
              <a:buAutoNum type="arabicPeriod"/>
            </a:pPr>
            <a:r>
              <a:rPr lang="en" sz="2008" dirty="0">
                <a:solidFill>
                  <a:schemeClr val="accent4"/>
                </a:solidFill>
              </a:rPr>
              <a:t>Methodical</a:t>
            </a:r>
            <a:r>
              <a:rPr lang="en" sz="2008" dirty="0"/>
              <a:t>- using systematic procedures &amp; methods. No bias.</a:t>
            </a:r>
            <a:endParaRPr sz="2008" dirty="0"/>
          </a:p>
          <a:p>
            <a:pPr marL="457200" lvl="0" indent="-356115" algn="just" rtl="0">
              <a:lnSpc>
                <a:spcPct val="115000"/>
              </a:lnSpc>
              <a:spcBef>
                <a:spcPts val="0"/>
              </a:spcBef>
              <a:spcAft>
                <a:spcPts val="0"/>
              </a:spcAft>
              <a:buSzPts val="2008"/>
              <a:buAutoNum type="arabicPeriod"/>
            </a:pPr>
            <a:r>
              <a:rPr lang="en" sz="2008" dirty="0">
                <a:solidFill>
                  <a:schemeClr val="accent4"/>
                </a:solidFill>
              </a:rPr>
              <a:t>Replicability</a:t>
            </a:r>
            <a:r>
              <a:rPr lang="en" sz="2008" dirty="0"/>
              <a:t>- using this the researcher arrives at valid and conclusive results. More repetitions, more valid results.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6"/>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Motivation in Research</a:t>
            </a:r>
            <a:endParaRPr/>
          </a:p>
        </p:txBody>
      </p:sp>
      <p:sp>
        <p:nvSpPr>
          <p:cNvPr id="116" name="Google Shape;116;p6"/>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p>
            <a:pPr marL="0" lvl="0" indent="0" algn="just" rtl="0">
              <a:lnSpc>
                <a:spcPct val="95000"/>
              </a:lnSpc>
              <a:spcBef>
                <a:spcPts val="0"/>
              </a:spcBef>
              <a:spcAft>
                <a:spcPts val="0"/>
              </a:spcAft>
              <a:buSzPts val="1800"/>
              <a:buNone/>
            </a:pPr>
            <a:r>
              <a:rPr lang="en" sz="2100" dirty="0"/>
              <a:t>1. Desire to get a research degree along with its consequential benefits;</a:t>
            </a:r>
            <a:endParaRPr sz="2100" dirty="0"/>
          </a:p>
          <a:p>
            <a:pPr marL="0" lvl="0" indent="0" algn="just" rtl="0">
              <a:lnSpc>
                <a:spcPct val="95000"/>
              </a:lnSpc>
              <a:spcBef>
                <a:spcPts val="1200"/>
              </a:spcBef>
              <a:spcAft>
                <a:spcPts val="0"/>
              </a:spcAft>
              <a:buSzPts val="1800"/>
              <a:buNone/>
            </a:pPr>
            <a:r>
              <a:rPr lang="en" sz="2100" dirty="0"/>
              <a:t>2. Desire to face the challenge in solving the unsolved problems, i.e., concern over practical</a:t>
            </a:r>
            <a:endParaRPr sz="2100" dirty="0"/>
          </a:p>
          <a:p>
            <a:pPr marL="0" lvl="0" indent="0" algn="just" rtl="0">
              <a:lnSpc>
                <a:spcPct val="95000"/>
              </a:lnSpc>
              <a:spcBef>
                <a:spcPts val="1200"/>
              </a:spcBef>
              <a:spcAft>
                <a:spcPts val="0"/>
              </a:spcAft>
              <a:buSzPts val="1800"/>
              <a:buNone/>
            </a:pPr>
            <a:r>
              <a:rPr lang="en" sz="2100" dirty="0"/>
              <a:t>problems initiates research;</a:t>
            </a:r>
            <a:endParaRPr sz="2100" dirty="0"/>
          </a:p>
          <a:p>
            <a:pPr marL="0" lvl="0" indent="0" algn="just" rtl="0">
              <a:lnSpc>
                <a:spcPct val="95000"/>
              </a:lnSpc>
              <a:spcBef>
                <a:spcPts val="1200"/>
              </a:spcBef>
              <a:spcAft>
                <a:spcPts val="0"/>
              </a:spcAft>
              <a:buSzPts val="1800"/>
              <a:buNone/>
            </a:pPr>
            <a:r>
              <a:rPr lang="en" sz="2100" dirty="0"/>
              <a:t>3. Desire to get intellectual joy of doing some creative work;</a:t>
            </a:r>
            <a:endParaRPr sz="2100" dirty="0"/>
          </a:p>
          <a:p>
            <a:pPr marL="0" lvl="0" indent="0" algn="just" rtl="0">
              <a:lnSpc>
                <a:spcPct val="95000"/>
              </a:lnSpc>
              <a:spcBef>
                <a:spcPts val="1200"/>
              </a:spcBef>
              <a:spcAft>
                <a:spcPts val="0"/>
              </a:spcAft>
              <a:buSzPts val="1800"/>
              <a:buNone/>
            </a:pPr>
            <a:r>
              <a:rPr lang="en" sz="2100" dirty="0"/>
              <a:t>4. Desire to be of service to society;</a:t>
            </a:r>
            <a:endParaRPr sz="2100" dirty="0"/>
          </a:p>
          <a:p>
            <a:pPr marL="0" lvl="0" indent="0" algn="just" rtl="0">
              <a:lnSpc>
                <a:spcPct val="95000"/>
              </a:lnSpc>
              <a:spcBef>
                <a:spcPts val="1200"/>
              </a:spcBef>
              <a:spcAft>
                <a:spcPts val="0"/>
              </a:spcAft>
              <a:buSzPts val="1800"/>
              <a:buNone/>
            </a:pPr>
            <a:r>
              <a:rPr lang="en" sz="2100" dirty="0"/>
              <a:t>5. Desire to get respectability.</a:t>
            </a:r>
            <a:endParaRPr sz="2100" dirty="0"/>
          </a:p>
          <a:p>
            <a:pPr marL="0" lvl="0" indent="0" algn="just" rtl="0">
              <a:lnSpc>
                <a:spcPct val="95000"/>
              </a:lnSpc>
              <a:spcBef>
                <a:spcPts val="1200"/>
              </a:spcBef>
              <a:spcAft>
                <a:spcPts val="1200"/>
              </a:spcAft>
              <a:buSzPts val="180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Types of Research</a:t>
            </a:r>
            <a:endParaRPr/>
          </a:p>
        </p:txBody>
      </p:sp>
      <p:sp>
        <p:nvSpPr>
          <p:cNvPr id="122" name="Google Shape;122;p7"/>
          <p:cNvSpPr txBox="1">
            <a:spLocks noGrp="1"/>
          </p:cNvSpPr>
          <p:nvPr>
            <p:ph type="body" idx="1"/>
          </p:nvPr>
        </p:nvSpPr>
        <p:spPr>
          <a:xfrm>
            <a:off x="311700" y="912175"/>
            <a:ext cx="8520600" cy="3960300"/>
          </a:xfrm>
          <a:prstGeom prst="rect">
            <a:avLst/>
          </a:prstGeom>
          <a:noFill/>
          <a:ln>
            <a:noFill/>
          </a:ln>
        </p:spPr>
        <p:txBody>
          <a:bodyPr spcFirstLastPara="1" wrap="square" lIns="91425" tIns="91425" rIns="91425" bIns="91425" anchor="t" anchorCtr="0">
            <a:normAutofit fontScale="85000" lnSpcReduction="20000"/>
          </a:bodyPr>
          <a:lstStyle/>
          <a:p>
            <a:pPr marL="0" lvl="0" indent="0" algn="l" rtl="0">
              <a:lnSpc>
                <a:spcPct val="115000"/>
              </a:lnSpc>
              <a:spcBef>
                <a:spcPts val="0"/>
              </a:spcBef>
              <a:spcAft>
                <a:spcPts val="0"/>
              </a:spcAft>
              <a:buSzPct val="66095"/>
              <a:buNone/>
            </a:pPr>
            <a:r>
              <a:rPr lang="en" sz="3514" dirty="0">
                <a:solidFill>
                  <a:schemeClr val="accent4"/>
                </a:solidFill>
                <a:highlight>
                  <a:schemeClr val="lt1"/>
                </a:highlight>
              </a:rPr>
              <a:t>Descriptive vs. Analytical: </a:t>
            </a:r>
            <a:endParaRPr sz="3514" dirty="0">
              <a:solidFill>
                <a:schemeClr val="accent4"/>
              </a:solidFill>
              <a:highlight>
                <a:schemeClr val="lt1"/>
              </a:highlight>
            </a:endParaRPr>
          </a:p>
          <a:p>
            <a:pPr marL="457200" lvl="0" indent="-357950" algn="just" rtl="0">
              <a:lnSpc>
                <a:spcPct val="115000"/>
              </a:lnSpc>
              <a:spcBef>
                <a:spcPts val="1200"/>
              </a:spcBef>
              <a:spcAft>
                <a:spcPts val="0"/>
              </a:spcAft>
              <a:buSzPct val="100000"/>
              <a:buChar char="●"/>
            </a:pPr>
            <a:r>
              <a:rPr lang="en" sz="2627" dirty="0">
                <a:solidFill>
                  <a:schemeClr val="accent4"/>
                </a:solidFill>
              </a:rPr>
              <a:t>Descriptive research</a:t>
            </a:r>
            <a:r>
              <a:rPr lang="en" sz="2627" dirty="0"/>
              <a:t> includes surveys and fact-finding enquiries of different kinds. </a:t>
            </a:r>
            <a:endParaRPr sz="2627" dirty="0"/>
          </a:p>
          <a:p>
            <a:pPr marL="457200" lvl="0" indent="-357950" algn="just" rtl="0">
              <a:lnSpc>
                <a:spcPct val="115000"/>
              </a:lnSpc>
              <a:spcBef>
                <a:spcPts val="0"/>
              </a:spcBef>
              <a:spcAft>
                <a:spcPts val="0"/>
              </a:spcAft>
              <a:buSzPct val="100000"/>
              <a:buChar char="●"/>
            </a:pPr>
            <a:r>
              <a:rPr lang="en" sz="2627" dirty="0"/>
              <a:t>The main characteristic of this method is that the researcher has no control over the variables; he can only report what has happened or what is happening.</a:t>
            </a:r>
            <a:endParaRPr sz="2627" dirty="0"/>
          </a:p>
          <a:p>
            <a:pPr marL="457200" lvl="0" indent="0" algn="just" rtl="0">
              <a:lnSpc>
                <a:spcPct val="115000"/>
              </a:lnSpc>
              <a:spcBef>
                <a:spcPts val="1200"/>
              </a:spcBef>
              <a:spcAft>
                <a:spcPts val="0"/>
              </a:spcAft>
              <a:buSzPct val="88411"/>
              <a:buNone/>
            </a:pPr>
            <a:endParaRPr sz="2627" dirty="0"/>
          </a:p>
          <a:p>
            <a:pPr marL="457200" lvl="0" indent="-357950" algn="just" rtl="0">
              <a:lnSpc>
                <a:spcPct val="115000"/>
              </a:lnSpc>
              <a:spcBef>
                <a:spcPts val="1200"/>
              </a:spcBef>
              <a:spcAft>
                <a:spcPts val="0"/>
              </a:spcAft>
              <a:buSzPct val="100000"/>
              <a:buChar char="●"/>
            </a:pPr>
            <a:r>
              <a:rPr lang="en" sz="2627" dirty="0"/>
              <a:t>In </a:t>
            </a:r>
            <a:r>
              <a:rPr lang="en" sz="2627" dirty="0">
                <a:solidFill>
                  <a:schemeClr val="accent4"/>
                </a:solidFill>
              </a:rPr>
              <a:t>analytical research,</a:t>
            </a:r>
            <a:r>
              <a:rPr lang="en" sz="2627" dirty="0"/>
              <a:t> on the other hand, the researcher has to use facts or information already available, and analyze these to make a critical evaluation of the material.</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128" name="Google Shape;128;p8"/>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endParaRPr lang="en" sz="2100" dirty="0">
              <a:solidFill>
                <a:schemeClr val="accent5"/>
              </a:solidFill>
            </a:endParaRPr>
          </a:p>
          <a:p>
            <a:pPr marL="0" lvl="0" indent="0" algn="l" rtl="0">
              <a:lnSpc>
                <a:spcPct val="115000"/>
              </a:lnSpc>
              <a:spcBef>
                <a:spcPts val="0"/>
              </a:spcBef>
              <a:spcAft>
                <a:spcPts val="0"/>
              </a:spcAft>
              <a:buSzPts val="1800"/>
              <a:buNone/>
            </a:pPr>
            <a:endParaRPr lang="en" sz="2100" dirty="0">
              <a:solidFill>
                <a:schemeClr val="accent5"/>
              </a:solidFill>
            </a:endParaRPr>
          </a:p>
          <a:p>
            <a:pPr marL="0" lvl="0" indent="0" algn="l" rtl="0">
              <a:lnSpc>
                <a:spcPct val="115000"/>
              </a:lnSpc>
              <a:spcBef>
                <a:spcPts val="0"/>
              </a:spcBef>
              <a:spcAft>
                <a:spcPts val="0"/>
              </a:spcAft>
              <a:buSzPts val="1800"/>
              <a:buNone/>
            </a:pPr>
            <a:r>
              <a:rPr lang="en" sz="2100" dirty="0">
                <a:solidFill>
                  <a:schemeClr val="accent5"/>
                </a:solidFill>
              </a:rPr>
              <a:t>Applied vs. Fundamental: </a:t>
            </a:r>
            <a:endParaRPr sz="2100" dirty="0">
              <a:solidFill>
                <a:schemeClr val="accent5"/>
              </a:solidFill>
            </a:endParaRPr>
          </a:p>
          <a:p>
            <a:pPr marL="457200" lvl="0" indent="-355600" algn="just" rtl="0">
              <a:lnSpc>
                <a:spcPct val="115000"/>
              </a:lnSpc>
              <a:spcBef>
                <a:spcPts val="1200"/>
              </a:spcBef>
              <a:spcAft>
                <a:spcPts val="0"/>
              </a:spcAft>
              <a:buSzPts val="2000"/>
              <a:buChar char="●"/>
            </a:pPr>
            <a:r>
              <a:rPr lang="en" sz="2000" dirty="0"/>
              <a:t>Research can either be </a:t>
            </a:r>
            <a:r>
              <a:rPr lang="en" sz="2000" dirty="0">
                <a:solidFill>
                  <a:schemeClr val="accent4"/>
                </a:solidFill>
              </a:rPr>
              <a:t>applied </a:t>
            </a:r>
            <a:r>
              <a:rPr lang="en" sz="2000" dirty="0"/>
              <a:t>(or action) research or </a:t>
            </a:r>
            <a:r>
              <a:rPr lang="en" sz="2000" dirty="0">
                <a:solidFill>
                  <a:schemeClr val="accent4"/>
                </a:solidFill>
              </a:rPr>
              <a:t>fundamental </a:t>
            </a:r>
            <a:r>
              <a:rPr lang="en" sz="2000" dirty="0"/>
              <a:t>(to basic or pure) research. </a:t>
            </a:r>
            <a:endParaRPr sz="2000" dirty="0"/>
          </a:p>
          <a:p>
            <a:pPr marL="457200" lvl="0" indent="-355600" algn="just" rtl="0">
              <a:lnSpc>
                <a:spcPct val="115000"/>
              </a:lnSpc>
              <a:spcBef>
                <a:spcPts val="0"/>
              </a:spcBef>
              <a:spcAft>
                <a:spcPts val="0"/>
              </a:spcAft>
              <a:buSzPts val="2000"/>
              <a:buChar char="●"/>
            </a:pPr>
            <a:r>
              <a:rPr lang="en" sz="2000" dirty="0">
                <a:solidFill>
                  <a:schemeClr val="accent4"/>
                </a:solidFill>
              </a:rPr>
              <a:t>Applied research </a:t>
            </a:r>
            <a:r>
              <a:rPr lang="en" sz="2000" dirty="0"/>
              <a:t>aims at finding a solution for an immediate problem facing a society or an industrial/business organisation, whereas </a:t>
            </a:r>
            <a:r>
              <a:rPr lang="en" sz="2000" dirty="0">
                <a:solidFill>
                  <a:schemeClr val="accent4"/>
                </a:solidFill>
              </a:rPr>
              <a:t>fundamental research</a:t>
            </a:r>
            <a:r>
              <a:rPr lang="en" sz="2000" dirty="0"/>
              <a:t> is mainly concerned with generalisations and with the formulation of a theory.</a:t>
            </a:r>
            <a:endParaRPr sz="2000" dirty="0"/>
          </a:p>
          <a:p>
            <a:pPr marL="0" lvl="0" indent="0" algn="l" rtl="0">
              <a:lnSpc>
                <a:spcPct val="115000"/>
              </a:lnSpc>
              <a:spcBef>
                <a:spcPts val="1200"/>
              </a:spcBef>
              <a:spcAft>
                <a:spcPts val="1200"/>
              </a:spcAft>
              <a:buSzPts val="180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9"/>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134" name="Google Shape;134;p9"/>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2200" dirty="0">
                <a:solidFill>
                  <a:schemeClr val="accent4"/>
                </a:solidFill>
              </a:rPr>
              <a:t>Quantitative vs. Qualitative: </a:t>
            </a:r>
            <a:endParaRPr sz="2200" dirty="0">
              <a:solidFill>
                <a:schemeClr val="accent4"/>
              </a:solidFill>
            </a:endParaRPr>
          </a:p>
          <a:p>
            <a:pPr marL="457200" lvl="0" indent="-361950" algn="l" rtl="0">
              <a:lnSpc>
                <a:spcPct val="115000"/>
              </a:lnSpc>
              <a:spcBef>
                <a:spcPts val="1200"/>
              </a:spcBef>
              <a:spcAft>
                <a:spcPts val="0"/>
              </a:spcAft>
              <a:buSzPts val="2100"/>
              <a:buChar char="●"/>
            </a:pPr>
            <a:r>
              <a:rPr lang="en" sz="2100" dirty="0">
                <a:solidFill>
                  <a:schemeClr val="accent4"/>
                </a:solidFill>
              </a:rPr>
              <a:t>Quantitative research </a:t>
            </a:r>
            <a:r>
              <a:rPr lang="en" sz="2100" dirty="0"/>
              <a:t>is based on the measurement of quantity or amount. It is applicable to phenomena that can be expressed in terms of quantity.</a:t>
            </a:r>
            <a:endParaRPr sz="2100" dirty="0"/>
          </a:p>
          <a:p>
            <a:pPr marL="457200" lvl="0" indent="-361950" algn="l" rtl="0">
              <a:lnSpc>
                <a:spcPct val="115000"/>
              </a:lnSpc>
              <a:spcBef>
                <a:spcPts val="0"/>
              </a:spcBef>
              <a:spcAft>
                <a:spcPts val="0"/>
              </a:spcAft>
              <a:buSzPts val="2100"/>
              <a:buChar char="●"/>
            </a:pPr>
            <a:r>
              <a:rPr lang="en" sz="2100" dirty="0">
                <a:solidFill>
                  <a:schemeClr val="accent4"/>
                </a:solidFill>
              </a:rPr>
              <a:t>Qualitative research</a:t>
            </a:r>
            <a:r>
              <a:rPr lang="en" sz="2100" dirty="0"/>
              <a:t>, on the other hand, is concerned with qualitative phenomenon, i.e., phenomena relating to or involving quality or kind.</a:t>
            </a:r>
            <a:endParaRPr sz="2100" dirty="0"/>
          </a:p>
          <a:p>
            <a:pPr marL="0" lvl="0" indent="0" algn="l" rtl="0">
              <a:lnSpc>
                <a:spcPct val="115000"/>
              </a:lnSpc>
              <a:spcBef>
                <a:spcPts val="1200"/>
              </a:spcBef>
              <a:spcAft>
                <a:spcPts val="1200"/>
              </a:spcAft>
              <a:buSzPts val="180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0"/>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140" name="Google Shape;140;p10"/>
          <p:cNvSpPr txBox="1">
            <a:spLocks noGrp="1"/>
          </p:cNvSpPr>
          <p:nvPr>
            <p:ph type="body" idx="1"/>
          </p:nvPr>
        </p:nvSpPr>
        <p:spPr>
          <a:xfrm>
            <a:off x="311700" y="410000"/>
            <a:ext cx="8520600" cy="43512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2100" dirty="0">
                <a:solidFill>
                  <a:schemeClr val="accent4"/>
                </a:solidFill>
              </a:rPr>
              <a:t>Conceptual vs. Empirical: </a:t>
            </a:r>
            <a:endParaRPr sz="2100" dirty="0">
              <a:solidFill>
                <a:schemeClr val="accent4"/>
              </a:solidFill>
            </a:endParaRPr>
          </a:p>
          <a:p>
            <a:pPr marL="457200" lvl="0" indent="-349250" algn="just" rtl="0">
              <a:lnSpc>
                <a:spcPct val="115000"/>
              </a:lnSpc>
              <a:spcBef>
                <a:spcPts val="1200"/>
              </a:spcBef>
              <a:spcAft>
                <a:spcPts val="0"/>
              </a:spcAft>
              <a:buSzPts val="1900"/>
              <a:buChar char="●"/>
            </a:pPr>
            <a:r>
              <a:rPr lang="en" sz="1900" dirty="0">
                <a:solidFill>
                  <a:schemeClr val="accent4"/>
                </a:solidFill>
              </a:rPr>
              <a:t>Conceptual research</a:t>
            </a:r>
            <a:r>
              <a:rPr lang="en" sz="1900" dirty="0"/>
              <a:t> is that related to some abstract idea(s) or theory. </a:t>
            </a:r>
            <a:endParaRPr sz="1900" dirty="0"/>
          </a:p>
          <a:p>
            <a:pPr marL="457200" lvl="0" indent="-349250" algn="just" rtl="0">
              <a:lnSpc>
                <a:spcPct val="115000"/>
              </a:lnSpc>
              <a:spcBef>
                <a:spcPts val="0"/>
              </a:spcBef>
              <a:spcAft>
                <a:spcPts val="0"/>
              </a:spcAft>
              <a:buSzPts val="1900"/>
              <a:buChar char="●"/>
            </a:pPr>
            <a:r>
              <a:rPr lang="en" sz="1900" dirty="0"/>
              <a:t>It is generally used by philosophers and thinkers to develop new concepts or to reinterpret existing ones. </a:t>
            </a:r>
            <a:endParaRPr sz="1900" dirty="0"/>
          </a:p>
          <a:p>
            <a:pPr marL="457200" lvl="0" indent="-349250" algn="just" rtl="0">
              <a:lnSpc>
                <a:spcPct val="115000"/>
              </a:lnSpc>
              <a:spcBef>
                <a:spcPts val="0"/>
              </a:spcBef>
              <a:spcAft>
                <a:spcPts val="0"/>
              </a:spcAft>
              <a:buSzPts val="1900"/>
              <a:buChar char="●"/>
            </a:pPr>
            <a:r>
              <a:rPr lang="en" sz="1900" dirty="0">
                <a:solidFill>
                  <a:schemeClr val="accent4"/>
                </a:solidFill>
              </a:rPr>
              <a:t>Empirical research</a:t>
            </a:r>
            <a:r>
              <a:rPr lang="en" sz="1900" dirty="0"/>
              <a:t> relies on experience or observation alone, often without due regard for system and theory. It is data-based research, coming up with conclusions which are capable of being verified by observation or experiment.</a:t>
            </a:r>
            <a:endParaRPr sz="1900" dirty="0"/>
          </a:p>
          <a:p>
            <a:pPr marL="457200" lvl="0" indent="-349250" algn="just" rtl="0">
              <a:lnSpc>
                <a:spcPct val="115000"/>
              </a:lnSpc>
              <a:spcBef>
                <a:spcPts val="0"/>
              </a:spcBef>
              <a:spcAft>
                <a:spcPts val="0"/>
              </a:spcAft>
              <a:buSzPts val="1900"/>
              <a:buChar char="●"/>
            </a:pPr>
            <a:r>
              <a:rPr lang="en" sz="1900" dirty="0"/>
              <a:t>We can also call it as </a:t>
            </a:r>
            <a:r>
              <a:rPr lang="en" sz="1900" dirty="0">
                <a:solidFill>
                  <a:schemeClr val="accent2"/>
                </a:solidFill>
              </a:rPr>
              <a:t>experimental type of research</a:t>
            </a:r>
            <a:r>
              <a:rPr lang="en" sz="1900" dirty="0"/>
              <a:t>.</a:t>
            </a:r>
            <a:endParaRPr sz="1900" dirty="0"/>
          </a:p>
          <a:p>
            <a:pPr marL="457200" lvl="0" indent="0" algn="l" rtl="0">
              <a:lnSpc>
                <a:spcPct val="115000"/>
              </a:lnSpc>
              <a:spcBef>
                <a:spcPts val="1200"/>
              </a:spcBef>
              <a:spcAft>
                <a:spcPts val="1200"/>
              </a:spcAft>
              <a:buSzPts val="180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146" name="Google Shape;146;p11"/>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a:t>Some Other Types of Research: </a:t>
            </a:r>
            <a:endParaRPr/>
          </a:p>
          <a:p>
            <a:pPr marL="457200" lvl="0" indent="-342900" algn="just" rtl="0">
              <a:lnSpc>
                <a:spcPct val="115000"/>
              </a:lnSpc>
              <a:spcBef>
                <a:spcPts val="1200"/>
              </a:spcBef>
              <a:spcAft>
                <a:spcPts val="0"/>
              </a:spcAft>
              <a:buSzPts val="1800"/>
              <a:buChar char="●"/>
            </a:pPr>
            <a:r>
              <a:rPr lang="en"/>
              <a:t>All other types of research are variations of one or more of the above stated approaches, based on either the purpose of research, or the time required to accomplish research, on the environment in which research is done, or on the basis of some other similar factor. </a:t>
            </a:r>
            <a:endParaRPr/>
          </a:p>
          <a:p>
            <a:pPr marL="457200" lvl="0" indent="-342900" algn="just" rtl="0">
              <a:lnSpc>
                <a:spcPct val="115000"/>
              </a:lnSpc>
              <a:spcBef>
                <a:spcPts val="0"/>
              </a:spcBef>
              <a:spcAft>
                <a:spcPts val="0"/>
              </a:spcAft>
              <a:buSzPts val="1800"/>
              <a:buChar char="●"/>
            </a:pPr>
            <a:r>
              <a:rPr lang="en"/>
              <a:t>Form the point of view of time, we can think of research either as o</a:t>
            </a:r>
            <a:r>
              <a:rPr lang="en">
                <a:solidFill>
                  <a:schemeClr val="accent4"/>
                </a:solidFill>
              </a:rPr>
              <a:t>ne-time research or longitudinal research.</a:t>
            </a:r>
            <a:r>
              <a:rPr lang="en"/>
              <a:t> </a:t>
            </a:r>
            <a:endParaRPr/>
          </a:p>
          <a:p>
            <a:pPr marL="457200" lvl="0" indent="-342900" algn="just" rtl="0">
              <a:lnSpc>
                <a:spcPct val="115000"/>
              </a:lnSpc>
              <a:spcBef>
                <a:spcPts val="0"/>
              </a:spcBef>
              <a:spcAft>
                <a:spcPts val="0"/>
              </a:spcAft>
              <a:buSzPts val="1800"/>
              <a:buChar char="●"/>
            </a:pPr>
            <a:r>
              <a:rPr lang="en"/>
              <a:t>In the former case the research is confined to a single time-period, whereas in the latter case the research is carried on over several time-periods. </a:t>
            </a:r>
            <a:endParaRPr/>
          </a:p>
          <a:p>
            <a:pPr marL="457200" lvl="0" indent="-342900" algn="just" rtl="0">
              <a:lnSpc>
                <a:spcPct val="115000"/>
              </a:lnSpc>
              <a:spcBef>
                <a:spcPts val="0"/>
              </a:spcBef>
              <a:spcAft>
                <a:spcPts val="0"/>
              </a:spcAft>
              <a:buSzPts val="1800"/>
              <a:buChar char="●"/>
            </a:pPr>
            <a:r>
              <a:rPr lang="en"/>
              <a:t>Research can be </a:t>
            </a:r>
            <a:r>
              <a:rPr lang="en">
                <a:solidFill>
                  <a:schemeClr val="accent4"/>
                </a:solidFill>
              </a:rPr>
              <a:t>field-setting research or laboratory research</a:t>
            </a:r>
            <a:r>
              <a:rPr lang="en"/>
              <a:t> or s</a:t>
            </a:r>
            <a:r>
              <a:rPr lang="en">
                <a:solidFill>
                  <a:schemeClr val="accent4"/>
                </a:solidFill>
              </a:rPr>
              <a:t>imulation research</a:t>
            </a:r>
            <a:r>
              <a:rPr lang="en"/>
              <a:t>, depending upon the environment in which it is to be carried out.</a:t>
            </a:r>
            <a:endParaRPr/>
          </a:p>
          <a:p>
            <a:pPr marL="457200" lvl="0" indent="-342900" algn="just" rtl="0">
              <a:lnSpc>
                <a:spcPct val="115000"/>
              </a:lnSpc>
              <a:spcBef>
                <a:spcPts val="0"/>
              </a:spcBef>
              <a:spcAft>
                <a:spcPts val="0"/>
              </a:spcAft>
              <a:buSzPts val="1800"/>
              <a:buChar char="●"/>
            </a:pPr>
            <a:r>
              <a:rPr lang="en"/>
              <a:t>Research can as well be understood as </a:t>
            </a:r>
            <a:r>
              <a:rPr lang="en">
                <a:solidFill>
                  <a:schemeClr val="accent4"/>
                </a:solidFill>
              </a:rPr>
              <a:t>clinical or diagnostic research.</a:t>
            </a:r>
            <a:endParaRPr>
              <a:solidFill>
                <a:schemeClr val="accent4"/>
              </a:solidFill>
            </a:endParaRPr>
          </a:p>
          <a:p>
            <a:pPr marL="0" lvl="0" indent="0" algn="l" rtl="0">
              <a:lnSpc>
                <a:spcPct val="115000"/>
              </a:lnSpc>
              <a:spcBef>
                <a:spcPts val="1200"/>
              </a:spcBef>
              <a:spcAft>
                <a:spcPts val="1200"/>
              </a:spcAft>
              <a:buSzPts val="18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2"/>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contd…</a:t>
            </a:r>
            <a:endParaRPr/>
          </a:p>
        </p:txBody>
      </p:sp>
      <p:sp>
        <p:nvSpPr>
          <p:cNvPr id="152" name="Google Shape;152;p12"/>
          <p:cNvSpPr txBox="1">
            <a:spLocks noGrp="1"/>
          </p:cNvSpPr>
          <p:nvPr>
            <p:ph type="body" idx="1"/>
          </p:nvPr>
        </p:nvSpPr>
        <p:spPr>
          <a:xfrm>
            <a:off x="311700" y="889925"/>
            <a:ext cx="8520600" cy="3871200"/>
          </a:xfrm>
          <a:prstGeom prst="rect">
            <a:avLst/>
          </a:prstGeom>
          <a:noFill/>
          <a:ln>
            <a:noFill/>
          </a:ln>
        </p:spPr>
        <p:txBody>
          <a:bodyPr spcFirstLastPara="1" wrap="square" lIns="91425" tIns="91425" rIns="91425" bIns="91425" anchor="t" anchorCtr="0">
            <a:normAutofit fontScale="85000" lnSpcReduction="20000"/>
          </a:bodyPr>
          <a:lstStyle/>
          <a:p>
            <a:pPr marL="457200" lvl="0" indent="-359012" algn="just" rtl="0">
              <a:lnSpc>
                <a:spcPct val="115000"/>
              </a:lnSpc>
              <a:spcBef>
                <a:spcPts val="0"/>
              </a:spcBef>
              <a:spcAft>
                <a:spcPts val="0"/>
              </a:spcAft>
              <a:buSzPct val="100000"/>
              <a:buChar char="●"/>
            </a:pPr>
            <a:r>
              <a:rPr lang="en" sz="2415"/>
              <a:t>Research can as well be understood as </a:t>
            </a:r>
            <a:r>
              <a:rPr lang="en" sz="2415">
                <a:solidFill>
                  <a:schemeClr val="accent4"/>
                </a:solidFill>
              </a:rPr>
              <a:t>clinical or diagnostic research</a:t>
            </a:r>
            <a:r>
              <a:rPr lang="en" sz="2415"/>
              <a:t>. Such research follow case-study methods or in-depth approaches to reach the basic causal relations.</a:t>
            </a:r>
            <a:endParaRPr sz="2415"/>
          </a:p>
          <a:p>
            <a:pPr marL="457200" lvl="0" indent="-359012" algn="just" rtl="0">
              <a:lnSpc>
                <a:spcPct val="115000"/>
              </a:lnSpc>
              <a:spcBef>
                <a:spcPts val="0"/>
              </a:spcBef>
              <a:spcAft>
                <a:spcPts val="0"/>
              </a:spcAft>
              <a:buSzPct val="100000"/>
              <a:buChar char="●"/>
            </a:pPr>
            <a:r>
              <a:rPr lang="en" sz="2415"/>
              <a:t>The research may be </a:t>
            </a:r>
            <a:r>
              <a:rPr lang="en" sz="2415">
                <a:solidFill>
                  <a:schemeClr val="accent4"/>
                </a:solidFill>
              </a:rPr>
              <a:t>exploratory or it may be formalized</a:t>
            </a:r>
            <a:r>
              <a:rPr lang="en" sz="2415"/>
              <a:t>. </a:t>
            </a:r>
            <a:endParaRPr sz="2415"/>
          </a:p>
          <a:p>
            <a:pPr marL="457200" lvl="0" indent="-359012" algn="just" rtl="0">
              <a:lnSpc>
                <a:spcPct val="115000"/>
              </a:lnSpc>
              <a:spcBef>
                <a:spcPts val="0"/>
              </a:spcBef>
              <a:spcAft>
                <a:spcPts val="0"/>
              </a:spcAft>
              <a:buSzPct val="100000"/>
              <a:buChar char="●"/>
            </a:pPr>
            <a:r>
              <a:rPr lang="en" sz="2415"/>
              <a:t>The objective of </a:t>
            </a:r>
            <a:r>
              <a:rPr lang="en" sz="2415">
                <a:solidFill>
                  <a:schemeClr val="accent4"/>
                </a:solidFill>
              </a:rPr>
              <a:t>exploratory research</a:t>
            </a:r>
            <a:r>
              <a:rPr lang="en" sz="2415"/>
              <a:t> is the development of hypotheses rather than their testing, whereas </a:t>
            </a:r>
            <a:r>
              <a:rPr lang="en" sz="2415">
                <a:solidFill>
                  <a:schemeClr val="accent4"/>
                </a:solidFill>
              </a:rPr>
              <a:t>formalized research </a:t>
            </a:r>
            <a:r>
              <a:rPr lang="en" sz="2415"/>
              <a:t>studies are those with substantial structure and with specific hypotheses to be tested.</a:t>
            </a:r>
            <a:endParaRPr sz="2415"/>
          </a:p>
          <a:p>
            <a:pPr marL="457200" lvl="0" indent="-359012" algn="just" rtl="0">
              <a:lnSpc>
                <a:spcPct val="115000"/>
              </a:lnSpc>
              <a:spcBef>
                <a:spcPts val="0"/>
              </a:spcBef>
              <a:spcAft>
                <a:spcPts val="0"/>
              </a:spcAft>
              <a:buSzPct val="100000"/>
              <a:buChar char="●"/>
            </a:pPr>
            <a:r>
              <a:rPr lang="en" sz="2415">
                <a:solidFill>
                  <a:schemeClr val="accent4"/>
                </a:solidFill>
              </a:rPr>
              <a:t>Historical research</a:t>
            </a:r>
            <a:r>
              <a:rPr lang="en" sz="2415"/>
              <a:t> is that which utilizes historical sources like documents, remains, etc. to study events or ideas of the past, including the philosophy of persons and groups at any remote point of time.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contd..</a:t>
            </a:r>
            <a:endParaRPr/>
          </a:p>
        </p:txBody>
      </p:sp>
      <p:sp>
        <p:nvSpPr>
          <p:cNvPr id="158" name="Google Shape;158;p13"/>
          <p:cNvSpPr txBox="1">
            <a:spLocks noGrp="1"/>
          </p:cNvSpPr>
          <p:nvPr>
            <p:ph type="body" idx="1"/>
          </p:nvPr>
        </p:nvSpPr>
        <p:spPr>
          <a:xfrm>
            <a:off x="311700" y="1229875"/>
            <a:ext cx="8520600" cy="3486900"/>
          </a:xfrm>
          <a:prstGeom prst="rect">
            <a:avLst/>
          </a:prstGeom>
          <a:noFill/>
          <a:ln>
            <a:noFill/>
          </a:ln>
        </p:spPr>
        <p:txBody>
          <a:bodyPr spcFirstLastPara="1" wrap="square" lIns="91425" tIns="91425" rIns="91425" bIns="91425" anchor="t" anchorCtr="0">
            <a:normAutofit/>
          </a:bodyPr>
          <a:lstStyle/>
          <a:p>
            <a:pPr marL="457200" lvl="0" indent="-361950" algn="just" rtl="0">
              <a:lnSpc>
                <a:spcPct val="115000"/>
              </a:lnSpc>
              <a:spcBef>
                <a:spcPts val="0"/>
              </a:spcBef>
              <a:spcAft>
                <a:spcPts val="0"/>
              </a:spcAft>
              <a:buSzPts val="2100"/>
              <a:buChar char="●"/>
            </a:pPr>
            <a:r>
              <a:rPr lang="en" sz="2100"/>
              <a:t>Research can also be classified as </a:t>
            </a:r>
            <a:r>
              <a:rPr lang="en" sz="2100">
                <a:solidFill>
                  <a:schemeClr val="accent4"/>
                </a:solidFill>
              </a:rPr>
              <a:t>conclusion-oriented </a:t>
            </a:r>
            <a:r>
              <a:rPr lang="en" sz="2100"/>
              <a:t>and </a:t>
            </a:r>
            <a:r>
              <a:rPr lang="en" sz="2100">
                <a:solidFill>
                  <a:schemeClr val="accent4"/>
                </a:solidFill>
              </a:rPr>
              <a:t>decision-oriented</a:t>
            </a:r>
            <a:r>
              <a:rPr lang="en" sz="2100"/>
              <a:t>.</a:t>
            </a:r>
            <a:endParaRPr sz="2100"/>
          </a:p>
          <a:p>
            <a:pPr marL="457200" lvl="0" indent="-361950" algn="just" rtl="0">
              <a:lnSpc>
                <a:spcPct val="115000"/>
              </a:lnSpc>
              <a:spcBef>
                <a:spcPts val="0"/>
              </a:spcBef>
              <a:spcAft>
                <a:spcPts val="0"/>
              </a:spcAft>
              <a:buSzPts val="2100"/>
              <a:buChar char="●"/>
            </a:pPr>
            <a:r>
              <a:rPr lang="en" sz="2100"/>
              <a:t>While doing </a:t>
            </a:r>
            <a:r>
              <a:rPr lang="en" sz="2100">
                <a:solidFill>
                  <a:schemeClr val="accent4"/>
                </a:solidFill>
              </a:rPr>
              <a:t>conclusion-oriented research,</a:t>
            </a:r>
            <a:r>
              <a:rPr lang="en" sz="2100"/>
              <a:t> a researcher is free to pick up a problem, redesign the enquiry as he proceeds and is prepared to conceptualize as he wishes. </a:t>
            </a:r>
            <a:endParaRPr sz="2100"/>
          </a:p>
          <a:p>
            <a:pPr marL="457200" lvl="0" indent="-361950" algn="just" rtl="0">
              <a:lnSpc>
                <a:spcPct val="115000"/>
              </a:lnSpc>
              <a:spcBef>
                <a:spcPts val="0"/>
              </a:spcBef>
              <a:spcAft>
                <a:spcPts val="0"/>
              </a:spcAft>
              <a:buSzPts val="2100"/>
              <a:buChar char="●"/>
            </a:pPr>
            <a:r>
              <a:rPr lang="en" sz="2100">
                <a:solidFill>
                  <a:schemeClr val="accent4"/>
                </a:solidFill>
              </a:rPr>
              <a:t>Decision-oriented research</a:t>
            </a:r>
            <a:r>
              <a:rPr lang="en" sz="2100"/>
              <a:t> is always for the need of a decision maker and the researcher in this case is not free to embark upon research according to his own inclination.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Research Process</a:t>
            </a:r>
            <a:endParaRPr/>
          </a:p>
        </p:txBody>
      </p:sp>
      <p:sp>
        <p:nvSpPr>
          <p:cNvPr id="164" name="Google Shape;164;p14"/>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68300" algn="l" rtl="0">
              <a:lnSpc>
                <a:spcPct val="115000"/>
              </a:lnSpc>
              <a:spcBef>
                <a:spcPts val="0"/>
              </a:spcBef>
              <a:spcAft>
                <a:spcPts val="0"/>
              </a:spcAft>
              <a:buSzPts val="2200"/>
              <a:buChar char="●"/>
            </a:pPr>
            <a:r>
              <a:rPr lang="en" sz="2200" dirty="0"/>
              <a:t>Research process consists of series of actions or steps necessary to effectively carry out research and the desired sequencing of these steps.</a:t>
            </a:r>
            <a:endParaRPr sz="2200" dirty="0"/>
          </a:p>
          <a:p>
            <a:pPr marL="457200" lvl="0" indent="0" algn="l" rtl="0">
              <a:lnSpc>
                <a:spcPct val="115000"/>
              </a:lnSpc>
              <a:spcBef>
                <a:spcPts val="1200"/>
              </a:spcBef>
              <a:spcAft>
                <a:spcPts val="1200"/>
              </a:spcAft>
              <a:buSzPts val="1800"/>
              <a:buNone/>
            </a:pPr>
            <a:endParaRPr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5"/>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170" name="Google Shape;170;p15"/>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71" name="Google Shape;171;p15"/>
          <p:cNvPicPr preferRelativeResize="0"/>
          <p:nvPr/>
        </p:nvPicPr>
        <p:blipFill rotWithShape="1">
          <a:blip r:embed="rId3">
            <a:alphaModFix/>
          </a:blip>
          <a:srcRect/>
          <a:stretch/>
        </p:blipFill>
        <p:spPr>
          <a:xfrm>
            <a:off x="-138023" y="792400"/>
            <a:ext cx="9032749" cy="4351100"/>
          </a:xfrm>
          <a:prstGeom prst="rect">
            <a:avLst/>
          </a:prstGeom>
          <a:noFill/>
          <a:ln>
            <a:noFill/>
          </a:ln>
        </p:spPr>
      </p:pic>
      <p:pic>
        <p:nvPicPr>
          <p:cNvPr id="5" name="Google Shape;171;p15">
            <a:extLst>
              <a:ext uri="{FF2B5EF4-FFF2-40B4-BE49-F238E27FC236}">
                <a16:creationId xmlns:a16="http://schemas.microsoft.com/office/drawing/2014/main" id="{DBCDF616-4E61-4E3F-B99C-BC7F26133651}"/>
              </a:ext>
            </a:extLst>
          </p:cNvPr>
          <p:cNvPicPr preferRelativeResize="0"/>
          <p:nvPr/>
        </p:nvPicPr>
        <p:blipFill rotWithShape="1">
          <a:blip r:embed="rId3">
            <a:alphaModFix/>
          </a:blip>
          <a:srcRect/>
          <a:stretch/>
        </p:blipFill>
        <p:spPr>
          <a:xfrm>
            <a:off x="-423912" y="531756"/>
            <a:ext cx="9032749" cy="4351100"/>
          </a:xfrm>
          <a:prstGeom prst="rect">
            <a:avLst/>
          </a:prstGeom>
          <a:noFill/>
          <a:ln>
            <a:noFill/>
          </a:ln>
        </p:spPr>
      </p:pic>
      <p:pic>
        <p:nvPicPr>
          <p:cNvPr id="6" name="Google Shape;171;p15">
            <a:extLst>
              <a:ext uri="{FF2B5EF4-FFF2-40B4-BE49-F238E27FC236}">
                <a16:creationId xmlns:a16="http://schemas.microsoft.com/office/drawing/2014/main" id="{CD745913-AB7E-4836-A9C2-30EE7E1385D5}"/>
              </a:ext>
            </a:extLst>
          </p:cNvPr>
          <p:cNvPicPr preferRelativeResize="0"/>
          <p:nvPr/>
        </p:nvPicPr>
        <p:blipFill rotWithShape="1">
          <a:blip r:embed="rId3">
            <a:alphaModFix/>
          </a:blip>
          <a:srcRect/>
          <a:stretch/>
        </p:blipFill>
        <p:spPr>
          <a:xfrm>
            <a:off x="-423912" y="653512"/>
            <a:ext cx="9506366" cy="4351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6"/>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1: Formulating the research problem</a:t>
            </a:r>
            <a:endParaRPr/>
          </a:p>
        </p:txBody>
      </p:sp>
      <p:sp>
        <p:nvSpPr>
          <p:cNvPr id="177" name="Google Shape;177;p16"/>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0"/>
              </a:spcBef>
              <a:spcAft>
                <a:spcPts val="0"/>
              </a:spcAft>
              <a:buSzPts val="1800"/>
              <a:buChar char="●"/>
            </a:pPr>
            <a:r>
              <a:rPr lang="en"/>
              <a:t>There are </a:t>
            </a:r>
            <a:r>
              <a:rPr lang="en">
                <a:solidFill>
                  <a:schemeClr val="accent4"/>
                </a:solidFill>
              </a:rPr>
              <a:t>two types of research problems,</a:t>
            </a:r>
            <a:r>
              <a:rPr lang="en"/>
              <a:t> viz., those which relate to states of nature and those which relate to relationships between variables.</a:t>
            </a:r>
            <a:endParaRPr/>
          </a:p>
          <a:p>
            <a:pPr marL="457200" lvl="0" indent="-342900" algn="just" rtl="0">
              <a:lnSpc>
                <a:spcPct val="115000"/>
              </a:lnSpc>
              <a:spcBef>
                <a:spcPts val="0"/>
              </a:spcBef>
              <a:spcAft>
                <a:spcPts val="0"/>
              </a:spcAft>
              <a:buSzPts val="1800"/>
              <a:buChar char="●"/>
            </a:pPr>
            <a:r>
              <a:rPr lang="en"/>
              <a:t>Essentially two steps are involved in formulating the research problem, viz., </a:t>
            </a:r>
            <a:r>
              <a:rPr lang="en">
                <a:solidFill>
                  <a:schemeClr val="accent4"/>
                </a:solidFill>
              </a:rPr>
              <a:t>understanding the problem thoroughly, and rephrasing the same into meaningful terms from an analytical point of view.</a:t>
            </a:r>
            <a:endParaRPr>
              <a:solidFill>
                <a:schemeClr val="accent4"/>
              </a:solidFill>
            </a:endParaRPr>
          </a:p>
          <a:p>
            <a:pPr marL="457200" lvl="0" indent="-342900" algn="just" rtl="0">
              <a:lnSpc>
                <a:spcPct val="115000"/>
              </a:lnSpc>
              <a:spcBef>
                <a:spcPts val="0"/>
              </a:spcBef>
              <a:spcAft>
                <a:spcPts val="0"/>
              </a:spcAft>
              <a:buSzPts val="1800"/>
              <a:buChar char="●"/>
            </a:pPr>
            <a:r>
              <a:rPr lang="en"/>
              <a:t>The researcher must at the same time examine all available literature to get himself acquainted with the selected problem. He may review two types of literature—the conceptual literature concerning the concepts and theories, and the empirical literature consisting of studies made earlier which are similar to the one proposed.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183" name="Google Shape;183;p17"/>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0"/>
              </a:spcBef>
              <a:spcAft>
                <a:spcPts val="0"/>
              </a:spcAft>
              <a:buSzPts val="1800"/>
              <a:buChar char="●"/>
            </a:pPr>
            <a:r>
              <a:rPr lang="en"/>
              <a:t>This task of formulating, or defining, a research problem is a step of greatest importance in the entire research process. </a:t>
            </a:r>
            <a:endParaRPr/>
          </a:p>
          <a:p>
            <a:pPr marL="457200" lvl="0" indent="-342900" algn="just" rtl="0">
              <a:lnSpc>
                <a:spcPct val="115000"/>
              </a:lnSpc>
              <a:spcBef>
                <a:spcPts val="0"/>
              </a:spcBef>
              <a:spcAft>
                <a:spcPts val="0"/>
              </a:spcAft>
              <a:buSzPts val="1800"/>
              <a:buChar char="●"/>
            </a:pPr>
            <a:r>
              <a:rPr lang="en"/>
              <a:t>The problem to be investigated must be defined unambiguously for that will help discriminating relevant data from irrelevant ones. </a:t>
            </a:r>
            <a:endParaRPr/>
          </a:p>
          <a:p>
            <a:pPr marL="457200" lvl="0" indent="-342900" algn="just" rtl="0">
              <a:lnSpc>
                <a:spcPct val="115000"/>
              </a:lnSpc>
              <a:spcBef>
                <a:spcPts val="0"/>
              </a:spcBef>
              <a:spcAft>
                <a:spcPts val="0"/>
              </a:spcAft>
              <a:buSzPts val="1800"/>
              <a:buChar char="●"/>
            </a:pPr>
            <a:r>
              <a:rPr lang="en"/>
              <a:t>Care must, however, be taken to verify the objectivity and validity of the background facts concerning the problem.</a:t>
            </a:r>
            <a:endParaRPr/>
          </a:p>
          <a:p>
            <a:pPr marL="457200" lvl="0" indent="0" algn="just" rtl="0">
              <a:lnSpc>
                <a:spcPct val="115000"/>
              </a:lnSpc>
              <a:spcBef>
                <a:spcPts val="1200"/>
              </a:spcBef>
              <a:spcAft>
                <a:spcPts val="1200"/>
              </a:spcAft>
              <a:buSzPts val="1800"/>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2: Extensive literature survey</a:t>
            </a:r>
            <a:endParaRPr/>
          </a:p>
        </p:txBody>
      </p:sp>
      <p:sp>
        <p:nvSpPr>
          <p:cNvPr id="189" name="Google Shape;189;p18"/>
          <p:cNvSpPr txBox="1">
            <a:spLocks noGrp="1"/>
          </p:cNvSpPr>
          <p:nvPr>
            <p:ph type="body" idx="1"/>
          </p:nvPr>
        </p:nvSpPr>
        <p:spPr>
          <a:xfrm>
            <a:off x="311700" y="1229875"/>
            <a:ext cx="8520600" cy="3620100"/>
          </a:xfrm>
          <a:prstGeom prst="rect">
            <a:avLst/>
          </a:prstGeom>
          <a:noFill/>
          <a:ln>
            <a:noFill/>
          </a:ln>
        </p:spPr>
        <p:txBody>
          <a:bodyPr spcFirstLastPara="1" wrap="square" lIns="91425" tIns="91425" rIns="91425" bIns="91425" anchor="t" anchorCtr="0">
            <a:normAutofit fontScale="92500"/>
          </a:bodyPr>
          <a:lstStyle/>
          <a:p>
            <a:pPr marL="457200" lvl="0" indent="-361950" algn="just" rtl="0">
              <a:lnSpc>
                <a:spcPct val="115000"/>
              </a:lnSpc>
              <a:spcBef>
                <a:spcPts val="0"/>
              </a:spcBef>
              <a:spcAft>
                <a:spcPts val="0"/>
              </a:spcAft>
              <a:buSzPts val="2100"/>
              <a:buChar char="●"/>
            </a:pPr>
            <a:r>
              <a:rPr lang="en" sz="2100"/>
              <a:t>Once the problem is formulated, a brief summary of it should be written down. It is compulsory for a research worker writing a thesis for a Ph.D. degree to write a synopsis of the topic and submit it to the necessary Committee or the Research Board for approval.</a:t>
            </a:r>
            <a:endParaRPr sz="2100"/>
          </a:p>
          <a:p>
            <a:pPr marL="457200" lvl="0" indent="0" algn="just" rtl="0">
              <a:lnSpc>
                <a:spcPct val="115000"/>
              </a:lnSpc>
              <a:spcBef>
                <a:spcPts val="1200"/>
              </a:spcBef>
              <a:spcAft>
                <a:spcPts val="0"/>
              </a:spcAft>
              <a:buSzPts val="1800"/>
              <a:buNone/>
            </a:pPr>
            <a:endParaRPr sz="2100"/>
          </a:p>
          <a:p>
            <a:pPr marL="457200" lvl="0" indent="-361950" algn="just" rtl="0">
              <a:lnSpc>
                <a:spcPct val="115000"/>
              </a:lnSpc>
              <a:spcBef>
                <a:spcPts val="1200"/>
              </a:spcBef>
              <a:spcAft>
                <a:spcPts val="0"/>
              </a:spcAft>
              <a:buSzPts val="2100"/>
              <a:buChar char="●"/>
            </a:pPr>
            <a:r>
              <a:rPr lang="en" sz="2100"/>
              <a:t>For this purpose, the abstracting and indexing journals and published or unpublished bibliographies,academic journals, conference proceedings, government reports, books etc., must be tapped depending on the nature of the problem.</a:t>
            </a:r>
            <a:endParaRPr sz="2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9"/>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3: Development of working hypotheses</a:t>
            </a:r>
            <a:endParaRPr/>
          </a:p>
        </p:txBody>
      </p:sp>
      <p:sp>
        <p:nvSpPr>
          <p:cNvPr id="195" name="Google Shape;195;p19"/>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58564" algn="just" rtl="0">
              <a:lnSpc>
                <a:spcPct val="115000"/>
              </a:lnSpc>
              <a:spcBef>
                <a:spcPts val="0"/>
              </a:spcBef>
              <a:spcAft>
                <a:spcPts val="0"/>
              </a:spcAft>
              <a:buSzPts val="2047"/>
              <a:buChar char="●"/>
            </a:pPr>
            <a:r>
              <a:rPr lang="en" sz="2045"/>
              <a:t>Working hypothesis is tentative assumption made in order to draw out and test its logical or empirical consequences.</a:t>
            </a:r>
            <a:endParaRPr sz="2045"/>
          </a:p>
          <a:p>
            <a:pPr marL="457200" lvl="0" indent="-358564" algn="just" rtl="0">
              <a:lnSpc>
                <a:spcPct val="115000"/>
              </a:lnSpc>
              <a:spcBef>
                <a:spcPts val="0"/>
              </a:spcBef>
              <a:spcAft>
                <a:spcPts val="0"/>
              </a:spcAft>
              <a:buSzPts val="2047"/>
              <a:buChar char="●"/>
            </a:pPr>
            <a:r>
              <a:rPr lang="en" sz="2045"/>
              <a:t>Hypothesis should be very specific and limited to the piece of research in hand because it has to be tested. </a:t>
            </a:r>
            <a:endParaRPr sz="2045"/>
          </a:p>
          <a:p>
            <a:pPr marL="457200" lvl="0" indent="-358564" algn="just" rtl="0">
              <a:lnSpc>
                <a:spcPct val="115000"/>
              </a:lnSpc>
              <a:spcBef>
                <a:spcPts val="0"/>
              </a:spcBef>
              <a:spcAft>
                <a:spcPts val="0"/>
              </a:spcAft>
              <a:buSzPts val="2047"/>
              <a:buChar char="●"/>
            </a:pPr>
            <a:r>
              <a:rPr lang="en" sz="2045"/>
              <a:t>The role of the hypothesis is to guide the researcher by delimiting the area of research and to keep him on the right track.</a:t>
            </a:r>
            <a:endParaRPr sz="2045"/>
          </a:p>
          <a:p>
            <a:pPr marL="457200" lvl="0" indent="-358564" algn="just" rtl="0">
              <a:lnSpc>
                <a:spcPct val="115000"/>
              </a:lnSpc>
              <a:spcBef>
                <a:spcPts val="0"/>
              </a:spcBef>
              <a:spcAft>
                <a:spcPts val="0"/>
              </a:spcAft>
              <a:buSzPts val="2047"/>
              <a:buChar char="●"/>
            </a:pPr>
            <a:r>
              <a:rPr lang="en" sz="2045"/>
              <a:t>It indicates the type of data required and the type of methods of data analysis to be used.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0"/>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201" name="Google Shape;201;p20"/>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sz="1929"/>
              <a:t>How does one go about developing working hypotheses? </a:t>
            </a:r>
            <a:endParaRPr sz="1929"/>
          </a:p>
          <a:p>
            <a:pPr marL="0" lvl="0" indent="0" algn="l" rtl="0">
              <a:lnSpc>
                <a:spcPct val="95000"/>
              </a:lnSpc>
              <a:spcBef>
                <a:spcPts val="1200"/>
              </a:spcBef>
              <a:spcAft>
                <a:spcPts val="0"/>
              </a:spcAft>
              <a:buSzPts val="935"/>
              <a:buNone/>
            </a:pPr>
            <a:r>
              <a:rPr lang="en" sz="1929"/>
              <a:t>The answer is by using the following approach:</a:t>
            </a:r>
            <a:endParaRPr sz="1929"/>
          </a:p>
          <a:p>
            <a:pPr marL="0" lvl="0" indent="0" algn="l" rtl="0">
              <a:lnSpc>
                <a:spcPct val="95000"/>
              </a:lnSpc>
              <a:spcBef>
                <a:spcPts val="1200"/>
              </a:spcBef>
              <a:spcAft>
                <a:spcPts val="0"/>
              </a:spcAft>
              <a:buSzPts val="935"/>
              <a:buNone/>
            </a:pPr>
            <a:r>
              <a:rPr lang="en" sz="1929"/>
              <a:t>(a) Discussions with colleagues and experts about the problem, its origin and the objectives in seeking a solution;</a:t>
            </a:r>
            <a:endParaRPr sz="1929"/>
          </a:p>
          <a:p>
            <a:pPr marL="0" lvl="0" indent="0" algn="l" rtl="0">
              <a:lnSpc>
                <a:spcPct val="95000"/>
              </a:lnSpc>
              <a:spcBef>
                <a:spcPts val="1200"/>
              </a:spcBef>
              <a:spcAft>
                <a:spcPts val="0"/>
              </a:spcAft>
              <a:buSzPts val="935"/>
              <a:buNone/>
            </a:pPr>
            <a:r>
              <a:rPr lang="en" sz="1929"/>
              <a:t>(b) Examination of data and   records, if available, concerning the problem for possible trends, peculiarities and other clues;</a:t>
            </a:r>
            <a:endParaRPr sz="1929"/>
          </a:p>
          <a:p>
            <a:pPr marL="0" lvl="0" indent="0" algn="l" rtl="0">
              <a:lnSpc>
                <a:spcPct val="95000"/>
              </a:lnSpc>
              <a:spcBef>
                <a:spcPts val="1200"/>
              </a:spcBef>
              <a:spcAft>
                <a:spcPts val="0"/>
              </a:spcAft>
              <a:buSzPts val="935"/>
              <a:buNone/>
            </a:pPr>
            <a:r>
              <a:rPr lang="en" sz="1929"/>
              <a:t>(c) Review of similar studies in the area or of the studies on similar problems; and</a:t>
            </a:r>
            <a:endParaRPr sz="1929"/>
          </a:p>
          <a:p>
            <a:pPr marL="0" lvl="0" indent="0" algn="l" rtl="0">
              <a:lnSpc>
                <a:spcPct val="95000"/>
              </a:lnSpc>
              <a:spcBef>
                <a:spcPts val="1200"/>
              </a:spcBef>
              <a:spcAft>
                <a:spcPts val="1200"/>
              </a:spcAft>
              <a:buSzPts val="935"/>
              <a:buNone/>
            </a:pPr>
            <a:r>
              <a:rPr lang="en" sz="1929"/>
              <a:t>(d) Exploratory personal investigation which involves original field interviews on a limited scale with interested parties and individuals with a view to secure greater insight into the practical aspects of the problem.</a:t>
            </a:r>
            <a:endParaRPr sz="1829"/>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4: Preparing the research design</a:t>
            </a:r>
            <a:endParaRPr/>
          </a:p>
        </p:txBody>
      </p:sp>
      <p:sp>
        <p:nvSpPr>
          <p:cNvPr id="207" name="Google Shape;207;p2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55600" algn="just" rtl="0">
              <a:lnSpc>
                <a:spcPct val="115000"/>
              </a:lnSpc>
              <a:spcBef>
                <a:spcPts val="0"/>
              </a:spcBef>
              <a:spcAft>
                <a:spcPts val="0"/>
              </a:spcAft>
              <a:buSzPts val="2000"/>
              <a:buChar char="●"/>
            </a:pPr>
            <a:r>
              <a:rPr lang="en" sz="2000"/>
              <a:t>To prepare a research design, i.e., he will have to state the conceptual structure within which research would be conducted.</a:t>
            </a:r>
            <a:endParaRPr sz="2000"/>
          </a:p>
          <a:p>
            <a:pPr marL="457200" lvl="0" indent="-355600" algn="just" rtl="0">
              <a:lnSpc>
                <a:spcPct val="115000"/>
              </a:lnSpc>
              <a:spcBef>
                <a:spcPts val="0"/>
              </a:spcBef>
              <a:spcAft>
                <a:spcPts val="0"/>
              </a:spcAft>
              <a:buSzPts val="2000"/>
              <a:buChar char="●"/>
            </a:pPr>
            <a:r>
              <a:rPr lang="en" sz="2000"/>
              <a:t>The function of research design is to provide for the collection of relevant evidence with minimal expenditure of effort, time and money. But how all these can be achieved depends mainly on the research purpose.</a:t>
            </a:r>
            <a:endParaRPr sz="2000"/>
          </a:p>
          <a:p>
            <a:pPr marL="457200" lvl="0" indent="-355600" algn="just" rtl="0">
              <a:lnSpc>
                <a:spcPct val="115000"/>
              </a:lnSpc>
              <a:spcBef>
                <a:spcPts val="0"/>
              </a:spcBef>
              <a:spcAft>
                <a:spcPts val="0"/>
              </a:spcAft>
              <a:buSzPts val="2000"/>
              <a:buChar char="●"/>
            </a:pPr>
            <a:r>
              <a:rPr lang="en" sz="2000"/>
              <a:t>Research purposes may be grouped into four categories, viz., (i) Exploration, (ii) Description, (iii) Diagnosis, and (iv) Experimentation.</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2"/>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213" name="Google Shape;213;p22"/>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a:t>The preparation of the research design, appropriate for a particular research problem, involves usually the consideration of the following:</a:t>
            </a:r>
            <a:endParaRPr/>
          </a:p>
          <a:p>
            <a:pPr marL="0" lvl="0" indent="0" algn="l" rtl="0">
              <a:lnSpc>
                <a:spcPct val="115000"/>
              </a:lnSpc>
              <a:spcBef>
                <a:spcPts val="1200"/>
              </a:spcBef>
              <a:spcAft>
                <a:spcPts val="0"/>
              </a:spcAft>
              <a:buSzPts val="1800"/>
              <a:buNone/>
            </a:pPr>
            <a:r>
              <a:rPr lang="en"/>
              <a:t>(i) the means of obtaining the information;</a:t>
            </a:r>
            <a:endParaRPr/>
          </a:p>
          <a:p>
            <a:pPr marL="0" lvl="0" indent="0" algn="l" rtl="0">
              <a:lnSpc>
                <a:spcPct val="115000"/>
              </a:lnSpc>
              <a:spcBef>
                <a:spcPts val="1200"/>
              </a:spcBef>
              <a:spcAft>
                <a:spcPts val="0"/>
              </a:spcAft>
              <a:buSzPts val="1800"/>
              <a:buNone/>
            </a:pPr>
            <a:r>
              <a:rPr lang="en"/>
              <a:t>(ii) the availability and skills of the researcher and his staff (if any);</a:t>
            </a:r>
            <a:endParaRPr/>
          </a:p>
          <a:p>
            <a:pPr marL="0" lvl="0" indent="0" algn="l" rtl="0">
              <a:lnSpc>
                <a:spcPct val="115000"/>
              </a:lnSpc>
              <a:spcBef>
                <a:spcPts val="1200"/>
              </a:spcBef>
              <a:spcAft>
                <a:spcPts val="0"/>
              </a:spcAft>
              <a:buSzPts val="1800"/>
              <a:buNone/>
            </a:pPr>
            <a:r>
              <a:rPr lang="en"/>
              <a:t>(iii) explanation of the way in which selected means of obtaining information will be organised and the reasoning leading to the selection;</a:t>
            </a:r>
            <a:endParaRPr/>
          </a:p>
          <a:p>
            <a:pPr marL="0" lvl="0" indent="0" algn="l" rtl="0">
              <a:lnSpc>
                <a:spcPct val="115000"/>
              </a:lnSpc>
              <a:spcBef>
                <a:spcPts val="1200"/>
              </a:spcBef>
              <a:spcAft>
                <a:spcPts val="0"/>
              </a:spcAft>
              <a:buSzPts val="1800"/>
              <a:buNone/>
            </a:pPr>
            <a:r>
              <a:rPr lang="en"/>
              <a:t>(iv) the time available for research; and</a:t>
            </a:r>
            <a:endParaRPr/>
          </a:p>
          <a:p>
            <a:pPr marL="0" lvl="0" indent="0" algn="l" rtl="0">
              <a:lnSpc>
                <a:spcPct val="115000"/>
              </a:lnSpc>
              <a:spcBef>
                <a:spcPts val="1200"/>
              </a:spcBef>
              <a:spcAft>
                <a:spcPts val="0"/>
              </a:spcAft>
              <a:buSzPts val="1800"/>
              <a:buNone/>
            </a:pPr>
            <a:r>
              <a:rPr lang="en"/>
              <a:t>(v) the cost factor relating to research, i.e., the finance available for the purpose.</a:t>
            </a:r>
            <a:endParaRPr/>
          </a:p>
          <a:p>
            <a:pPr marL="0" lvl="0" indent="0" algn="l" rtl="0">
              <a:lnSpc>
                <a:spcPct val="115000"/>
              </a:lnSpc>
              <a:spcBef>
                <a:spcPts val="1200"/>
              </a:spcBef>
              <a:spcAft>
                <a:spcPts val="1200"/>
              </a:spcAft>
              <a:buSzPts val="180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5: Determining sample design</a:t>
            </a:r>
            <a:endParaRPr/>
          </a:p>
        </p:txBody>
      </p:sp>
      <p:sp>
        <p:nvSpPr>
          <p:cNvPr id="219" name="Google Shape;219;p2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61950" algn="just" rtl="0">
              <a:lnSpc>
                <a:spcPct val="115000"/>
              </a:lnSpc>
              <a:spcBef>
                <a:spcPts val="0"/>
              </a:spcBef>
              <a:spcAft>
                <a:spcPts val="0"/>
              </a:spcAft>
              <a:buSzPts val="2100"/>
              <a:buChar char="●"/>
            </a:pPr>
            <a:r>
              <a:rPr lang="en" sz="2100"/>
              <a:t>All the items under consideration in any field of inquiry constitute a ‘</a:t>
            </a:r>
            <a:r>
              <a:rPr lang="en" sz="2100">
                <a:solidFill>
                  <a:schemeClr val="accent4"/>
                </a:solidFill>
              </a:rPr>
              <a:t>universe’ or ‘population’. </a:t>
            </a:r>
            <a:endParaRPr sz="2100">
              <a:solidFill>
                <a:schemeClr val="accent4"/>
              </a:solidFill>
            </a:endParaRPr>
          </a:p>
          <a:p>
            <a:pPr marL="457200" lvl="0" indent="-361950" algn="just" rtl="0">
              <a:lnSpc>
                <a:spcPct val="115000"/>
              </a:lnSpc>
              <a:spcBef>
                <a:spcPts val="0"/>
              </a:spcBef>
              <a:spcAft>
                <a:spcPts val="0"/>
              </a:spcAft>
              <a:buSzPts val="2100"/>
              <a:buChar char="●"/>
            </a:pPr>
            <a:r>
              <a:rPr lang="en" sz="2100"/>
              <a:t>A complete enumeration of all the items in the ‘population’ is known as a </a:t>
            </a:r>
            <a:r>
              <a:rPr lang="en" sz="2100">
                <a:solidFill>
                  <a:schemeClr val="accent4"/>
                </a:solidFill>
              </a:rPr>
              <a:t>census inquiry.</a:t>
            </a:r>
            <a:endParaRPr sz="2100">
              <a:solidFill>
                <a:schemeClr val="accent4"/>
              </a:solidFill>
            </a:endParaRPr>
          </a:p>
          <a:p>
            <a:pPr marL="457200" lvl="0" indent="-361950" algn="just" rtl="0">
              <a:lnSpc>
                <a:spcPct val="115000"/>
              </a:lnSpc>
              <a:spcBef>
                <a:spcPts val="0"/>
              </a:spcBef>
              <a:spcAft>
                <a:spcPts val="0"/>
              </a:spcAft>
              <a:buSzPts val="2100"/>
              <a:buChar char="●"/>
            </a:pPr>
            <a:r>
              <a:rPr lang="en" sz="2100"/>
              <a:t>A sample design is a definite plan determined before any data are actually collected for obtaining a sample from a given population. </a:t>
            </a:r>
            <a:endParaRPr sz="2100"/>
          </a:p>
          <a:p>
            <a:pPr marL="457200" lvl="0" indent="-361950" algn="just" rtl="0">
              <a:lnSpc>
                <a:spcPct val="115000"/>
              </a:lnSpc>
              <a:spcBef>
                <a:spcPts val="0"/>
              </a:spcBef>
              <a:spcAft>
                <a:spcPts val="0"/>
              </a:spcAft>
              <a:buSzPts val="2100"/>
              <a:buChar char="●"/>
            </a:pPr>
            <a:r>
              <a:rPr lang="en" sz="2100"/>
              <a:t>Samples can be either </a:t>
            </a:r>
            <a:r>
              <a:rPr lang="en" sz="2100">
                <a:solidFill>
                  <a:schemeClr val="accent3"/>
                </a:solidFill>
              </a:rPr>
              <a:t>probability samples or non-probability samples.</a:t>
            </a:r>
            <a:r>
              <a:rPr lang="en" sz="2100"/>
              <a:t> </a:t>
            </a:r>
            <a:endParaRPr sz="2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225" name="Google Shape;225;p24"/>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SzPts val="1800"/>
              <a:buNone/>
            </a:pPr>
            <a:r>
              <a:rPr lang="en" dirty="0"/>
              <a:t>Some important sample designs are:</a:t>
            </a:r>
            <a:endParaRPr dirty="0"/>
          </a:p>
          <a:p>
            <a:pPr marL="457200" lvl="0" indent="-361950" algn="just" rtl="0">
              <a:lnSpc>
                <a:spcPct val="115000"/>
              </a:lnSpc>
              <a:spcBef>
                <a:spcPts val="1200"/>
              </a:spcBef>
              <a:spcAft>
                <a:spcPts val="0"/>
              </a:spcAft>
              <a:buSzPts val="2100"/>
              <a:buChar char="●"/>
            </a:pPr>
            <a:r>
              <a:rPr lang="en" sz="2100" dirty="0">
                <a:solidFill>
                  <a:schemeClr val="accent4"/>
                </a:solidFill>
              </a:rPr>
              <a:t>Deliberate sampling</a:t>
            </a:r>
            <a:r>
              <a:rPr lang="en" sz="2100" dirty="0"/>
              <a:t>: Deliberate sampling is also known as </a:t>
            </a:r>
            <a:r>
              <a:rPr lang="en" sz="2100" dirty="0">
                <a:solidFill>
                  <a:schemeClr val="accent4"/>
                </a:solidFill>
              </a:rPr>
              <a:t>purposive or non-probability sampling. </a:t>
            </a:r>
            <a:endParaRPr sz="2100" dirty="0">
              <a:solidFill>
                <a:schemeClr val="accent4"/>
              </a:solidFill>
            </a:endParaRPr>
          </a:p>
          <a:p>
            <a:pPr marL="457200" lvl="0" indent="-361950" algn="just" rtl="0">
              <a:lnSpc>
                <a:spcPct val="115000"/>
              </a:lnSpc>
              <a:spcBef>
                <a:spcPts val="0"/>
              </a:spcBef>
              <a:spcAft>
                <a:spcPts val="0"/>
              </a:spcAft>
              <a:buSzPts val="2100"/>
              <a:buChar char="●"/>
            </a:pPr>
            <a:r>
              <a:rPr lang="en" sz="2100" dirty="0"/>
              <a:t>This sampling method involves purposive or deliberate selection of particular units of the universe for constituting a sample which represents the universe. </a:t>
            </a:r>
            <a:endParaRPr sz="2100" dirty="0"/>
          </a:p>
          <a:p>
            <a:pPr marL="457200" lvl="0" indent="-361950" algn="just" rtl="0">
              <a:lnSpc>
                <a:spcPct val="115000"/>
              </a:lnSpc>
              <a:spcBef>
                <a:spcPts val="0"/>
              </a:spcBef>
              <a:spcAft>
                <a:spcPts val="0"/>
              </a:spcAft>
              <a:buSzPts val="2100"/>
              <a:buChar char="●"/>
            </a:pPr>
            <a:r>
              <a:rPr lang="en" sz="2100" dirty="0"/>
              <a:t>When population elements are selected for inclusion in the sample based on the ease of access, it can be called </a:t>
            </a:r>
            <a:r>
              <a:rPr lang="en" sz="2100" dirty="0">
                <a:solidFill>
                  <a:schemeClr val="dk1"/>
                </a:solidFill>
              </a:rPr>
              <a:t>convenience sampling</a:t>
            </a:r>
            <a:r>
              <a:rPr lang="en" sz="2100" dirty="0"/>
              <a:t>.</a:t>
            </a:r>
            <a:endParaRPr sz="2100" dirty="0"/>
          </a:p>
          <a:p>
            <a:pPr marL="457200" lvl="0" indent="-349250" algn="just" rtl="0">
              <a:lnSpc>
                <a:spcPct val="115000"/>
              </a:lnSpc>
              <a:spcBef>
                <a:spcPts val="0"/>
              </a:spcBef>
              <a:spcAft>
                <a:spcPts val="0"/>
              </a:spcAft>
              <a:buSzPts val="1900"/>
              <a:buChar char="●"/>
            </a:pPr>
            <a:r>
              <a:rPr lang="en" sz="1900" dirty="0"/>
              <a:t>In </a:t>
            </a:r>
            <a:r>
              <a:rPr lang="en" sz="1900" dirty="0">
                <a:solidFill>
                  <a:schemeClr val="accent4"/>
                </a:solidFill>
              </a:rPr>
              <a:t>judgement sampling</a:t>
            </a:r>
            <a:r>
              <a:rPr lang="en" sz="1900" dirty="0"/>
              <a:t> the researcher’s judgement is used for selecting items which he considers as representative of the population.</a:t>
            </a:r>
            <a:endParaRPr sz="1900" dirty="0"/>
          </a:p>
          <a:p>
            <a:pPr marL="0" lvl="0" indent="0" algn="just" rtl="0">
              <a:lnSpc>
                <a:spcPct val="115000"/>
              </a:lnSpc>
              <a:spcBef>
                <a:spcPts val="1200"/>
              </a:spcBef>
              <a:spcAft>
                <a:spcPts val="1200"/>
              </a:spcAft>
              <a:buSzPts val="1800"/>
              <a:buNone/>
            </a:pPr>
            <a:endParaRPr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5"/>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231" name="Google Shape;231;p25"/>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0"/>
              </a:spcBef>
              <a:spcAft>
                <a:spcPts val="0"/>
              </a:spcAft>
              <a:buSzPts val="1800"/>
              <a:buChar char="●"/>
            </a:pPr>
            <a:r>
              <a:rPr lang="en" sz="2100" dirty="0">
                <a:solidFill>
                  <a:schemeClr val="accent4"/>
                </a:solidFill>
              </a:rPr>
              <a:t>Simple random sampling</a:t>
            </a:r>
            <a:r>
              <a:rPr lang="en" sz="2100" dirty="0"/>
              <a:t>: This type of sampling is also known as c</a:t>
            </a:r>
            <a:r>
              <a:rPr lang="en" sz="2100" dirty="0">
                <a:solidFill>
                  <a:schemeClr val="dk1"/>
                </a:solidFill>
              </a:rPr>
              <a:t>hance sampling or probability sampling</a:t>
            </a:r>
            <a:r>
              <a:rPr lang="en" sz="2100" dirty="0"/>
              <a:t> where each and every item in the population has an equal chance of inclusion in the sample and each one of the possible samples, in case of finite universe, has the same probability of being selected</a:t>
            </a:r>
            <a:r>
              <a:rPr lang="en" dirty="0"/>
              <a:t>.</a:t>
            </a:r>
            <a:endParaRPr dirty="0"/>
          </a:p>
          <a:p>
            <a:pPr marL="0" lvl="0" indent="0" algn="l" rtl="0">
              <a:lnSpc>
                <a:spcPct val="115000"/>
              </a:lnSpc>
              <a:spcBef>
                <a:spcPts val="1200"/>
              </a:spcBef>
              <a:spcAft>
                <a:spcPts val="1200"/>
              </a:spcAft>
              <a:buSzPts val="1800"/>
              <a:buNone/>
            </a:pP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6"/>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237" name="Google Shape;237;p26"/>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457200" lvl="0" indent="-361950" algn="just" rtl="0">
              <a:lnSpc>
                <a:spcPct val="115000"/>
              </a:lnSpc>
              <a:spcBef>
                <a:spcPts val="0"/>
              </a:spcBef>
              <a:spcAft>
                <a:spcPts val="0"/>
              </a:spcAft>
              <a:buSzPts val="2100"/>
              <a:buChar char="●"/>
            </a:pPr>
            <a:r>
              <a:rPr lang="en" sz="2100" dirty="0">
                <a:solidFill>
                  <a:schemeClr val="accent4"/>
                </a:solidFill>
              </a:rPr>
              <a:t>Systematic sampling:</a:t>
            </a:r>
            <a:r>
              <a:rPr lang="en" sz="2100" dirty="0"/>
              <a:t> In some instances the most practical way of sampling is to select</a:t>
            </a:r>
            <a:endParaRPr sz="2100" dirty="0"/>
          </a:p>
          <a:p>
            <a:pPr marL="457200" lvl="0" indent="-361950" algn="just" rtl="0">
              <a:lnSpc>
                <a:spcPct val="115000"/>
              </a:lnSpc>
              <a:spcBef>
                <a:spcPts val="0"/>
              </a:spcBef>
              <a:spcAft>
                <a:spcPts val="0"/>
              </a:spcAft>
              <a:buSzPts val="2100"/>
              <a:buChar char="●"/>
            </a:pPr>
            <a:r>
              <a:rPr lang="en" sz="2100" dirty="0"/>
              <a:t>every 15th name on a list, every 10th house on one side of a street and so on. </a:t>
            </a:r>
            <a:endParaRPr sz="2100" dirty="0"/>
          </a:p>
          <a:p>
            <a:pPr marL="457200" lvl="0" indent="-361950" algn="just" rtl="0">
              <a:lnSpc>
                <a:spcPct val="115000"/>
              </a:lnSpc>
              <a:spcBef>
                <a:spcPts val="0"/>
              </a:spcBef>
              <a:spcAft>
                <a:spcPts val="0"/>
              </a:spcAft>
              <a:buSzPts val="2100"/>
              <a:buChar char="●"/>
            </a:pPr>
            <a:r>
              <a:rPr lang="en" sz="2100" dirty="0"/>
              <a:t>An element of randomness is usually introduced into this kind of sampling by using random numbers to pick up the unit with which to start.</a:t>
            </a:r>
            <a:endParaRPr sz="2100" dirty="0"/>
          </a:p>
          <a:p>
            <a:pPr marL="457200" lvl="0" indent="-361950" algn="just" rtl="0">
              <a:lnSpc>
                <a:spcPct val="115000"/>
              </a:lnSpc>
              <a:spcBef>
                <a:spcPts val="0"/>
              </a:spcBef>
              <a:spcAft>
                <a:spcPts val="0"/>
              </a:spcAft>
              <a:buSzPts val="2100"/>
              <a:buChar char="●"/>
            </a:pPr>
            <a:r>
              <a:rPr lang="en" sz="2100" dirty="0"/>
              <a:t>This procedure is useful when sampling frame is available in the form of a list.</a:t>
            </a:r>
            <a:endParaRPr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243" name="Google Shape;243;p27"/>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0"/>
              </a:spcBef>
              <a:spcAft>
                <a:spcPts val="0"/>
              </a:spcAft>
              <a:buSzPts val="1800"/>
              <a:buChar char="●"/>
            </a:pPr>
            <a:r>
              <a:rPr lang="en" dirty="0">
                <a:solidFill>
                  <a:schemeClr val="accent4"/>
                </a:solidFill>
              </a:rPr>
              <a:t>Stratified sampling</a:t>
            </a:r>
            <a:r>
              <a:rPr lang="en" dirty="0"/>
              <a:t>: If the population from which a sample is to be drawn d</a:t>
            </a:r>
            <a:r>
              <a:rPr lang="en" sz="2100" dirty="0"/>
              <a:t>oes not constitute a homogeneous group, then stratified sampling technique is applied so as to obtain a representative sample. </a:t>
            </a:r>
            <a:endParaRPr sz="2100" dirty="0"/>
          </a:p>
          <a:p>
            <a:pPr marL="457200" lvl="0" indent="-361950" algn="just" rtl="0">
              <a:lnSpc>
                <a:spcPct val="115000"/>
              </a:lnSpc>
              <a:spcBef>
                <a:spcPts val="0"/>
              </a:spcBef>
              <a:spcAft>
                <a:spcPts val="0"/>
              </a:spcAft>
              <a:buSzPts val="2100"/>
              <a:buChar char="●"/>
            </a:pPr>
            <a:r>
              <a:rPr lang="en" sz="2100" dirty="0"/>
              <a:t>In this technique, the population is stratified into a number of non-</a:t>
            </a:r>
            <a:endParaRPr sz="2100" dirty="0"/>
          </a:p>
          <a:p>
            <a:pPr marL="457200" lvl="0" indent="-361950" algn="just" rtl="0">
              <a:lnSpc>
                <a:spcPct val="115000"/>
              </a:lnSpc>
              <a:spcBef>
                <a:spcPts val="0"/>
              </a:spcBef>
              <a:spcAft>
                <a:spcPts val="0"/>
              </a:spcAft>
              <a:buSzPts val="2100"/>
              <a:buChar char="●"/>
            </a:pPr>
            <a:r>
              <a:rPr lang="en" sz="2100" dirty="0"/>
              <a:t>overlapping subpopulations or strata and sample items are selected from each stratum.</a:t>
            </a:r>
            <a:endParaRPr sz="2100" dirty="0"/>
          </a:p>
          <a:p>
            <a:pPr marL="457200" lvl="0" indent="-361950" algn="just" rtl="0">
              <a:lnSpc>
                <a:spcPct val="115000"/>
              </a:lnSpc>
              <a:spcBef>
                <a:spcPts val="0"/>
              </a:spcBef>
              <a:spcAft>
                <a:spcPts val="0"/>
              </a:spcAft>
              <a:buSzPts val="2100"/>
              <a:buChar char="●"/>
            </a:pPr>
            <a:r>
              <a:rPr lang="en" sz="2100" dirty="0"/>
              <a:t> If the items selected from each stratum is based on simple random sampling the entire procedure, first stratification and then simple random sampling, is known as stratified random sampling.</a:t>
            </a:r>
            <a:endParaRPr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249" name="Google Shape;249;p28"/>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Autofit/>
          </a:bodyPr>
          <a:lstStyle/>
          <a:p>
            <a:pPr marL="457200" lvl="0" indent="-385127" algn="just" rtl="0">
              <a:lnSpc>
                <a:spcPct val="115000"/>
              </a:lnSpc>
              <a:spcBef>
                <a:spcPts val="0"/>
              </a:spcBef>
              <a:spcAft>
                <a:spcPts val="0"/>
              </a:spcAft>
              <a:buSzPts val="2465"/>
              <a:buChar char="●"/>
            </a:pPr>
            <a:r>
              <a:rPr lang="en" sz="2465" dirty="0">
                <a:solidFill>
                  <a:schemeClr val="accent4"/>
                </a:solidFill>
              </a:rPr>
              <a:t>Quota sampling:</a:t>
            </a:r>
            <a:r>
              <a:rPr lang="en" sz="2465" dirty="0"/>
              <a:t> In stratified sampling the cost of taking random samples from individual strata is often so expensive that interviewers are simply given quota to be filled from different strata, the actual selection of items for sample being left to the interviewer’s judgement. </a:t>
            </a:r>
            <a:endParaRPr sz="2465" dirty="0"/>
          </a:p>
          <a:p>
            <a:pPr marL="457200" lvl="0" indent="-385127" algn="just" rtl="0">
              <a:lnSpc>
                <a:spcPct val="115000"/>
              </a:lnSpc>
              <a:spcBef>
                <a:spcPts val="0"/>
              </a:spcBef>
              <a:spcAft>
                <a:spcPts val="0"/>
              </a:spcAft>
              <a:buSzPts val="2465"/>
              <a:buChar char="●"/>
            </a:pPr>
            <a:r>
              <a:rPr lang="en" sz="2465" dirty="0"/>
              <a:t>The size of the quota for each stratum is generally proportionate to the size of that stratum in the population.</a:t>
            </a:r>
            <a:endParaRPr sz="2465" dirty="0"/>
          </a:p>
          <a:p>
            <a:pPr marL="0" lvl="0" indent="0" algn="just" rtl="0">
              <a:lnSpc>
                <a:spcPct val="115000"/>
              </a:lnSpc>
              <a:spcBef>
                <a:spcPts val="1200"/>
              </a:spcBef>
              <a:spcAft>
                <a:spcPts val="1200"/>
              </a:spcAft>
              <a:buSzPts val="1800"/>
              <a:buNone/>
            </a:pPr>
            <a:endParaRPr sz="166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9"/>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255" name="Google Shape;255;p29"/>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lnSpcReduction="10000"/>
          </a:bodyPr>
          <a:lstStyle/>
          <a:p>
            <a:pPr marL="457200" lvl="0" indent="-342900" algn="just" rtl="0">
              <a:lnSpc>
                <a:spcPct val="115000"/>
              </a:lnSpc>
              <a:spcBef>
                <a:spcPts val="0"/>
              </a:spcBef>
              <a:spcAft>
                <a:spcPts val="0"/>
              </a:spcAft>
              <a:buSzPts val="1800"/>
              <a:buChar char="●"/>
            </a:pPr>
            <a:r>
              <a:rPr lang="en">
                <a:solidFill>
                  <a:schemeClr val="accent4"/>
                </a:solidFill>
              </a:rPr>
              <a:t>Cluster sampling and area sampling</a:t>
            </a:r>
            <a:r>
              <a:rPr lang="en"/>
              <a:t>: </a:t>
            </a:r>
            <a:r>
              <a:rPr lang="en">
                <a:solidFill>
                  <a:schemeClr val="accent4"/>
                </a:solidFill>
              </a:rPr>
              <a:t>Cluster sampling</a:t>
            </a:r>
            <a:r>
              <a:rPr lang="en"/>
              <a:t> involves grouping the population and then selecting the groups or the clusters rather than individual elements for inclusion in the sample.</a:t>
            </a:r>
            <a:endParaRPr/>
          </a:p>
          <a:p>
            <a:pPr marL="457200" lvl="0" indent="-342900" algn="just" rtl="0">
              <a:lnSpc>
                <a:spcPct val="115000"/>
              </a:lnSpc>
              <a:spcBef>
                <a:spcPts val="0"/>
              </a:spcBef>
              <a:spcAft>
                <a:spcPts val="0"/>
              </a:spcAft>
              <a:buSzPts val="1800"/>
              <a:buChar char="●"/>
            </a:pPr>
            <a:r>
              <a:rPr lang="en">
                <a:solidFill>
                  <a:schemeClr val="accent4"/>
                </a:solidFill>
              </a:rPr>
              <a:t>Area sampling</a:t>
            </a:r>
            <a:r>
              <a:rPr lang="en"/>
              <a:t> is quite close to cluster sampling and is often talked about when the total geographical area of interest happens to be big one. </a:t>
            </a:r>
            <a:endParaRPr/>
          </a:p>
          <a:p>
            <a:pPr marL="457200" lvl="0" indent="-342900" algn="just" rtl="0">
              <a:lnSpc>
                <a:spcPct val="115000"/>
              </a:lnSpc>
              <a:spcBef>
                <a:spcPts val="0"/>
              </a:spcBef>
              <a:spcAft>
                <a:spcPts val="0"/>
              </a:spcAft>
              <a:buSzPts val="1800"/>
              <a:buChar char="●"/>
            </a:pPr>
            <a:r>
              <a:rPr lang="en"/>
              <a:t>Under </a:t>
            </a:r>
            <a:r>
              <a:rPr lang="en">
                <a:solidFill>
                  <a:schemeClr val="accent4"/>
                </a:solidFill>
              </a:rPr>
              <a:t>area sampling </a:t>
            </a:r>
            <a:r>
              <a:rPr lang="en"/>
              <a:t>we first divide the total area into a number of smaller non-overlapping areas, generally called geographical clusters, then a number of these smaller areas are randomly selected, and all units in these small areas are included in the sample. </a:t>
            </a:r>
            <a:endParaRPr/>
          </a:p>
          <a:p>
            <a:pPr marL="457200" lvl="0" indent="-342900" algn="just" rtl="0">
              <a:lnSpc>
                <a:spcPct val="115000"/>
              </a:lnSpc>
              <a:spcBef>
                <a:spcPts val="0"/>
              </a:spcBef>
              <a:spcAft>
                <a:spcPts val="0"/>
              </a:spcAft>
              <a:buSzPts val="1800"/>
              <a:buChar char="●"/>
            </a:pPr>
            <a:r>
              <a:rPr lang="en">
                <a:solidFill>
                  <a:schemeClr val="accent4"/>
                </a:solidFill>
              </a:rPr>
              <a:t>Area sampling </a:t>
            </a:r>
            <a:r>
              <a:rPr lang="en"/>
              <a:t>is especially helpful where we do not have the list of the population concerned. </a:t>
            </a:r>
            <a:endParaRPr/>
          </a:p>
          <a:p>
            <a:pPr marL="457200" lvl="0" indent="-342900" algn="just" rtl="0">
              <a:lnSpc>
                <a:spcPct val="115000"/>
              </a:lnSpc>
              <a:spcBef>
                <a:spcPts val="0"/>
              </a:spcBef>
              <a:spcAft>
                <a:spcPts val="0"/>
              </a:spcAft>
              <a:buSzPts val="1800"/>
              <a:buChar char="●"/>
            </a:pPr>
            <a:r>
              <a:rPr lang="en"/>
              <a:t>It also makes the field interviewing more efficient since interviewer can do many interviews at each location.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0"/>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261" name="Google Shape;261;p30"/>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457200" lvl="0" indent="-368300" algn="just" rtl="0">
              <a:lnSpc>
                <a:spcPct val="115000"/>
              </a:lnSpc>
              <a:spcBef>
                <a:spcPts val="0"/>
              </a:spcBef>
              <a:spcAft>
                <a:spcPts val="0"/>
              </a:spcAft>
              <a:buSzPts val="2200"/>
              <a:buChar char="●"/>
            </a:pPr>
            <a:r>
              <a:rPr lang="en" sz="2200">
                <a:solidFill>
                  <a:schemeClr val="accent4"/>
                </a:solidFill>
              </a:rPr>
              <a:t>Multi-stage sampling</a:t>
            </a:r>
            <a:r>
              <a:rPr lang="en" sz="2200"/>
              <a:t>: This is a f</a:t>
            </a:r>
            <a:r>
              <a:rPr lang="en" sz="2200">
                <a:solidFill>
                  <a:schemeClr val="dk1"/>
                </a:solidFill>
              </a:rPr>
              <a:t>urther development of the idea of cluster sampling.</a:t>
            </a:r>
            <a:r>
              <a:rPr lang="en" sz="2200"/>
              <a:t> </a:t>
            </a:r>
            <a:endParaRPr sz="2200"/>
          </a:p>
          <a:p>
            <a:pPr marL="457200" lvl="0" indent="-368300" algn="just" rtl="0">
              <a:lnSpc>
                <a:spcPct val="115000"/>
              </a:lnSpc>
              <a:spcBef>
                <a:spcPts val="0"/>
              </a:spcBef>
              <a:spcAft>
                <a:spcPts val="0"/>
              </a:spcAft>
              <a:buSzPts val="2200"/>
              <a:buChar char="●"/>
            </a:pPr>
            <a:r>
              <a:rPr lang="en" sz="2200"/>
              <a:t>This technique is meant for big inquiries extending to a considerably large geographical area like an entire country. </a:t>
            </a:r>
            <a:endParaRPr sz="2200"/>
          </a:p>
          <a:p>
            <a:pPr marL="457200" lvl="0" indent="-368300" algn="just" rtl="0">
              <a:lnSpc>
                <a:spcPct val="115000"/>
              </a:lnSpc>
              <a:spcBef>
                <a:spcPts val="0"/>
              </a:spcBef>
              <a:spcAft>
                <a:spcPts val="0"/>
              </a:spcAft>
              <a:buSzPts val="2200"/>
              <a:buChar char="●"/>
            </a:pPr>
            <a:r>
              <a:rPr lang="en" sz="2200"/>
              <a:t>Under multi-stage sampling the first stage may be to select large primary sampling units such as states, then districts, then towns and finally certain families within towns.</a:t>
            </a:r>
            <a:endParaRPr sz="2200"/>
          </a:p>
          <a:p>
            <a:pPr marL="457200" lvl="0" indent="-368300" algn="just" rtl="0">
              <a:lnSpc>
                <a:spcPct val="115000"/>
              </a:lnSpc>
              <a:spcBef>
                <a:spcPts val="0"/>
              </a:spcBef>
              <a:spcAft>
                <a:spcPts val="0"/>
              </a:spcAft>
              <a:buSzPts val="2200"/>
              <a:buChar char="●"/>
            </a:pPr>
            <a:r>
              <a:rPr lang="en" sz="2200"/>
              <a:t> If the technique of random-sampling is applied at all stages, the sampling procedure is described as multi-stage random sampling.</a:t>
            </a:r>
            <a:endParaRPr sz="2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267" name="Google Shape;267;p31"/>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457200" lvl="0" indent="-374650" algn="just" rtl="0">
              <a:lnSpc>
                <a:spcPct val="115000"/>
              </a:lnSpc>
              <a:spcBef>
                <a:spcPts val="0"/>
              </a:spcBef>
              <a:spcAft>
                <a:spcPts val="0"/>
              </a:spcAft>
              <a:buSzPts val="2300"/>
              <a:buChar char="●"/>
            </a:pPr>
            <a:r>
              <a:rPr lang="en" sz="2300">
                <a:solidFill>
                  <a:schemeClr val="accent4"/>
                </a:solidFill>
              </a:rPr>
              <a:t>Sequential sampling</a:t>
            </a:r>
            <a:r>
              <a:rPr lang="en" sz="2300"/>
              <a:t>: This is somewhat a complex sample design where the ultimate size of the sample is not fixed in advance but is determined according to mathematical decisions on the basis of information yielded as survey progresses. </a:t>
            </a:r>
            <a:endParaRPr sz="2300"/>
          </a:p>
          <a:p>
            <a:pPr marL="457200" lvl="0" indent="-374650" algn="just" rtl="0">
              <a:lnSpc>
                <a:spcPct val="115000"/>
              </a:lnSpc>
              <a:spcBef>
                <a:spcPts val="0"/>
              </a:spcBef>
              <a:spcAft>
                <a:spcPts val="0"/>
              </a:spcAft>
              <a:buSzPts val="2300"/>
              <a:buChar char="●"/>
            </a:pPr>
            <a:r>
              <a:rPr lang="en" sz="2300"/>
              <a:t>This design is usually adopted under acceptance sampling plan in the context of statistical quality control.</a:t>
            </a:r>
            <a:endParaRPr sz="2300"/>
          </a:p>
          <a:p>
            <a:pPr marL="0" lvl="0" indent="0" algn="l" rtl="0">
              <a:lnSpc>
                <a:spcPct val="115000"/>
              </a:lnSpc>
              <a:spcBef>
                <a:spcPts val="1200"/>
              </a:spcBef>
              <a:spcAft>
                <a:spcPts val="1200"/>
              </a:spcAft>
              <a:buSzPts val="1800"/>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2"/>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6: Collecting the data</a:t>
            </a:r>
            <a:endParaRPr/>
          </a:p>
        </p:txBody>
      </p:sp>
      <p:sp>
        <p:nvSpPr>
          <p:cNvPr id="273" name="Google Shape;273;p32"/>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61950" algn="just" rtl="0">
              <a:lnSpc>
                <a:spcPct val="115000"/>
              </a:lnSpc>
              <a:spcBef>
                <a:spcPts val="0"/>
              </a:spcBef>
              <a:spcAft>
                <a:spcPts val="0"/>
              </a:spcAft>
              <a:buSzPts val="2100"/>
              <a:buChar char="●"/>
            </a:pPr>
            <a:r>
              <a:rPr lang="en" sz="2100"/>
              <a:t>Primary data can be collected either through experiment or through survey. If the researcher conducts an experiment, he observes some quantitative measurements, or the data, with the help of which he examines the truth contained in his hypothesis. </a:t>
            </a:r>
            <a:endParaRPr sz="2100"/>
          </a:p>
          <a:p>
            <a:pPr marL="457200" lvl="0" indent="-361950" algn="just" rtl="0">
              <a:lnSpc>
                <a:spcPct val="115000"/>
              </a:lnSpc>
              <a:spcBef>
                <a:spcPts val="0"/>
              </a:spcBef>
              <a:spcAft>
                <a:spcPts val="0"/>
              </a:spcAft>
              <a:buSzPts val="2100"/>
              <a:buChar char="●"/>
            </a:pPr>
            <a:r>
              <a:rPr lang="en" sz="2100"/>
              <a:t>But in the case of a survey, data can be collected by any one or more of the following ways: By observation, Through personal interview, Through telephone interviews, By mailing of questionnaires, Through schedules. </a:t>
            </a:r>
            <a:endParaRPr sz="2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7: Execution of the project</a:t>
            </a:r>
            <a:endParaRPr/>
          </a:p>
        </p:txBody>
      </p:sp>
      <p:sp>
        <p:nvSpPr>
          <p:cNvPr id="279" name="Google Shape;279;p3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61950" algn="just" rtl="0">
              <a:lnSpc>
                <a:spcPct val="115000"/>
              </a:lnSpc>
              <a:spcBef>
                <a:spcPts val="0"/>
              </a:spcBef>
              <a:spcAft>
                <a:spcPts val="0"/>
              </a:spcAft>
              <a:buSzPts val="2100"/>
              <a:buChar char="●"/>
            </a:pPr>
            <a:r>
              <a:rPr lang="en" sz="2100"/>
              <a:t>Execution of the project is a very important step in the research process.</a:t>
            </a:r>
            <a:endParaRPr sz="2100"/>
          </a:p>
          <a:p>
            <a:pPr marL="457200" lvl="0" indent="-361950" algn="just" rtl="0">
              <a:lnSpc>
                <a:spcPct val="115000"/>
              </a:lnSpc>
              <a:spcBef>
                <a:spcPts val="0"/>
              </a:spcBef>
              <a:spcAft>
                <a:spcPts val="0"/>
              </a:spcAft>
              <a:buSzPts val="2100"/>
              <a:buChar char="●"/>
            </a:pPr>
            <a:r>
              <a:rPr lang="en" sz="2100"/>
              <a:t> If the execution of the project proceeds on correct lines, the data to be collected would be adequate and dependable.</a:t>
            </a:r>
            <a:endParaRPr sz="2100"/>
          </a:p>
          <a:p>
            <a:pPr marL="457200" lvl="0" indent="-361950" algn="just" rtl="0">
              <a:lnSpc>
                <a:spcPct val="115000"/>
              </a:lnSpc>
              <a:spcBef>
                <a:spcPts val="0"/>
              </a:spcBef>
              <a:spcAft>
                <a:spcPts val="0"/>
              </a:spcAft>
              <a:buSzPts val="2100"/>
              <a:buChar char="●"/>
            </a:pPr>
            <a:r>
              <a:rPr lang="en" sz="2100"/>
              <a:t>The researcher should see that the project is executed in a systematic manner and in time.</a:t>
            </a:r>
            <a:endParaRPr sz="2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8: Analysis of data</a:t>
            </a:r>
            <a:endParaRPr/>
          </a:p>
        </p:txBody>
      </p:sp>
      <p:sp>
        <p:nvSpPr>
          <p:cNvPr id="285" name="Google Shape;285;p34"/>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0"/>
              </a:spcBef>
              <a:spcAft>
                <a:spcPts val="0"/>
              </a:spcAft>
              <a:buSzPts val="1800"/>
              <a:buChar char="●"/>
            </a:pPr>
            <a:r>
              <a:rPr lang="en"/>
              <a:t> The analysis of data requires a number of closely related operations such as establishment of categories, the application of these categories to raw data through coding, tabulation and then drawing statistical inferences.</a:t>
            </a:r>
            <a:endParaRPr/>
          </a:p>
          <a:p>
            <a:pPr marL="457200" lvl="0" indent="-342900" algn="just" rtl="0">
              <a:lnSpc>
                <a:spcPct val="115000"/>
              </a:lnSpc>
              <a:spcBef>
                <a:spcPts val="0"/>
              </a:spcBef>
              <a:spcAft>
                <a:spcPts val="0"/>
              </a:spcAft>
              <a:buSzPts val="1800"/>
              <a:buChar char="●"/>
            </a:pPr>
            <a:r>
              <a:rPr lang="en">
                <a:solidFill>
                  <a:schemeClr val="accent4"/>
                </a:solidFill>
              </a:rPr>
              <a:t>Coding</a:t>
            </a:r>
            <a:r>
              <a:rPr lang="en"/>
              <a:t> operation is usually done at this stage through which the categories of data are transformed into symbols that may be tabulated and counted. </a:t>
            </a:r>
            <a:endParaRPr/>
          </a:p>
          <a:p>
            <a:pPr marL="457200" lvl="0" indent="-342900" algn="just" rtl="0">
              <a:lnSpc>
                <a:spcPct val="115000"/>
              </a:lnSpc>
              <a:spcBef>
                <a:spcPts val="0"/>
              </a:spcBef>
              <a:spcAft>
                <a:spcPts val="0"/>
              </a:spcAft>
              <a:buSzPts val="1800"/>
              <a:buChar char="●"/>
            </a:pPr>
            <a:r>
              <a:rPr lang="en">
                <a:solidFill>
                  <a:schemeClr val="accent4"/>
                </a:solidFill>
              </a:rPr>
              <a:t>Editing</a:t>
            </a:r>
            <a:r>
              <a:rPr lang="en"/>
              <a:t> is the procedure that improves the quality of the data for coding. With coding the stage is ready for tabulation. </a:t>
            </a:r>
            <a:endParaRPr/>
          </a:p>
          <a:p>
            <a:pPr marL="457200" lvl="0" indent="-342900" algn="just" rtl="0">
              <a:lnSpc>
                <a:spcPct val="115000"/>
              </a:lnSpc>
              <a:spcBef>
                <a:spcPts val="0"/>
              </a:spcBef>
              <a:spcAft>
                <a:spcPts val="0"/>
              </a:spcAft>
              <a:buSzPts val="1800"/>
              <a:buChar char="●"/>
            </a:pPr>
            <a:r>
              <a:rPr lang="en">
                <a:solidFill>
                  <a:schemeClr val="accent4"/>
                </a:solidFill>
              </a:rPr>
              <a:t>Tabulation</a:t>
            </a:r>
            <a:r>
              <a:rPr lang="en"/>
              <a:t> is a part of the technical procedure wherein the classified data are put in the form of tables.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5"/>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291" name="Google Shape;291;p35"/>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457200" lvl="0" indent="-368300" algn="just" rtl="0">
              <a:lnSpc>
                <a:spcPct val="115000"/>
              </a:lnSpc>
              <a:spcBef>
                <a:spcPts val="0"/>
              </a:spcBef>
              <a:spcAft>
                <a:spcPts val="0"/>
              </a:spcAft>
              <a:buSzPts val="2200"/>
              <a:buChar char="●"/>
            </a:pPr>
            <a:r>
              <a:rPr lang="en" sz="2200"/>
              <a:t>Analysis work after tabulation is generally based on the computation of various percentages, coefficients, etc., by applying various well defined statistical formulae.</a:t>
            </a:r>
            <a:endParaRPr sz="2200"/>
          </a:p>
          <a:p>
            <a:pPr marL="457200" lvl="0" indent="0" algn="just" rtl="0">
              <a:lnSpc>
                <a:spcPct val="115000"/>
              </a:lnSpc>
              <a:spcBef>
                <a:spcPts val="1200"/>
              </a:spcBef>
              <a:spcAft>
                <a:spcPts val="0"/>
              </a:spcAft>
              <a:buSzPts val="1800"/>
              <a:buNone/>
            </a:pPr>
            <a:endParaRPr sz="2200"/>
          </a:p>
          <a:p>
            <a:pPr marL="457200" lvl="0" indent="-368300" algn="just" rtl="0">
              <a:lnSpc>
                <a:spcPct val="115000"/>
              </a:lnSpc>
              <a:spcBef>
                <a:spcPts val="1200"/>
              </a:spcBef>
              <a:spcAft>
                <a:spcPts val="0"/>
              </a:spcAft>
              <a:buSzPts val="2200"/>
              <a:buChar char="●"/>
            </a:pPr>
            <a:r>
              <a:rPr lang="en" sz="2200"/>
              <a:t> In the process of analysis, relationships or differences supporting or conflicting with original or new hypotheses should be subjected to tests of significance to determine with what validity data can be said to indicate any conclusion(s).</a:t>
            </a:r>
            <a:endParaRPr sz="22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6"/>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9:Hypothesis-testing </a:t>
            </a:r>
            <a:endParaRPr/>
          </a:p>
        </p:txBody>
      </p:sp>
      <p:sp>
        <p:nvSpPr>
          <p:cNvPr id="297" name="Google Shape;297;p36"/>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49250" algn="just" rtl="0">
              <a:lnSpc>
                <a:spcPct val="115000"/>
              </a:lnSpc>
              <a:spcBef>
                <a:spcPts val="0"/>
              </a:spcBef>
              <a:spcAft>
                <a:spcPts val="0"/>
              </a:spcAft>
              <a:buSzPts val="1900"/>
              <a:buChar char="●"/>
            </a:pPr>
            <a:r>
              <a:rPr lang="en" sz="1900"/>
              <a:t>Various tests, such as </a:t>
            </a:r>
            <a:r>
              <a:rPr lang="en" sz="1900">
                <a:solidFill>
                  <a:schemeClr val="accent4"/>
                </a:solidFill>
              </a:rPr>
              <a:t>Chi square test, t-test, F-test</a:t>
            </a:r>
            <a:r>
              <a:rPr lang="en" sz="1900"/>
              <a:t>, have been developed by statisticians for the purpose. </a:t>
            </a:r>
            <a:endParaRPr sz="1900"/>
          </a:p>
          <a:p>
            <a:pPr marL="457200" lvl="0" indent="-349250" algn="just" rtl="0">
              <a:lnSpc>
                <a:spcPct val="115000"/>
              </a:lnSpc>
              <a:spcBef>
                <a:spcPts val="0"/>
              </a:spcBef>
              <a:spcAft>
                <a:spcPts val="0"/>
              </a:spcAft>
              <a:buSzPts val="1900"/>
              <a:buChar char="●"/>
            </a:pPr>
            <a:r>
              <a:rPr lang="en" sz="1900"/>
              <a:t>The hypotheses may be tested through the use of one or more of such tests, depending upon the nature and object of research inquiry. </a:t>
            </a:r>
            <a:endParaRPr sz="1900"/>
          </a:p>
          <a:p>
            <a:pPr marL="457200" lvl="0" indent="-349250" algn="just" rtl="0">
              <a:lnSpc>
                <a:spcPct val="115000"/>
              </a:lnSpc>
              <a:spcBef>
                <a:spcPts val="0"/>
              </a:spcBef>
              <a:spcAft>
                <a:spcPts val="0"/>
              </a:spcAft>
              <a:buSzPts val="1900"/>
              <a:buChar char="●"/>
            </a:pPr>
            <a:r>
              <a:rPr lang="en" sz="1900"/>
              <a:t>Hypothesis-testing will result in either accepting the hypothesis or in rejecting it.</a:t>
            </a:r>
            <a:endParaRPr sz="1900"/>
          </a:p>
          <a:p>
            <a:pPr marL="457200" lvl="0" indent="-349250" algn="just" rtl="0">
              <a:lnSpc>
                <a:spcPct val="115000"/>
              </a:lnSpc>
              <a:spcBef>
                <a:spcPts val="0"/>
              </a:spcBef>
              <a:spcAft>
                <a:spcPts val="0"/>
              </a:spcAft>
              <a:buSzPts val="1900"/>
              <a:buChar char="●"/>
            </a:pPr>
            <a:r>
              <a:rPr lang="en" sz="1900"/>
              <a:t> If the researcher had no hypotheses to start with, generalisations established on the basis of data may be stated as hypotheses to be tested by subsequent researches in times to come. </a:t>
            </a:r>
            <a:endParaRPr sz="19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10: Generalisations and interpretation</a:t>
            </a:r>
            <a:endParaRPr/>
          </a:p>
        </p:txBody>
      </p:sp>
      <p:sp>
        <p:nvSpPr>
          <p:cNvPr id="303" name="Google Shape;303;p37"/>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55600" algn="just" rtl="0">
              <a:lnSpc>
                <a:spcPct val="115000"/>
              </a:lnSpc>
              <a:spcBef>
                <a:spcPts val="0"/>
              </a:spcBef>
              <a:spcAft>
                <a:spcPts val="0"/>
              </a:spcAft>
              <a:buSzPts val="2000"/>
              <a:buChar char="●"/>
            </a:pPr>
            <a:r>
              <a:rPr lang="en" sz="2000"/>
              <a:t>If a hypothesis is tested and upheld several times, it may be possible for the researcher to arrive at </a:t>
            </a:r>
            <a:r>
              <a:rPr lang="en" sz="2000">
                <a:solidFill>
                  <a:schemeClr val="accent4"/>
                </a:solidFill>
              </a:rPr>
              <a:t>generalisation</a:t>
            </a:r>
            <a:r>
              <a:rPr lang="en" sz="2000"/>
              <a:t>, i.e., to build a theory. </a:t>
            </a:r>
            <a:endParaRPr sz="2000"/>
          </a:p>
          <a:p>
            <a:pPr marL="457200" lvl="0" indent="-355600" algn="just" rtl="0">
              <a:lnSpc>
                <a:spcPct val="115000"/>
              </a:lnSpc>
              <a:spcBef>
                <a:spcPts val="0"/>
              </a:spcBef>
              <a:spcAft>
                <a:spcPts val="0"/>
              </a:spcAft>
              <a:buSzPts val="2000"/>
              <a:buChar char="●"/>
            </a:pPr>
            <a:r>
              <a:rPr lang="en" sz="2000"/>
              <a:t>As a matter of fact, the real value of research lies in its ability to arrive at certain generalisations.</a:t>
            </a:r>
            <a:endParaRPr sz="2000"/>
          </a:p>
          <a:p>
            <a:pPr marL="457200" lvl="0" indent="-355600" algn="just" rtl="0">
              <a:lnSpc>
                <a:spcPct val="115000"/>
              </a:lnSpc>
              <a:spcBef>
                <a:spcPts val="0"/>
              </a:spcBef>
              <a:spcAft>
                <a:spcPts val="0"/>
              </a:spcAft>
              <a:buSzPts val="2000"/>
              <a:buChar char="●"/>
            </a:pPr>
            <a:r>
              <a:rPr lang="en" sz="2000"/>
              <a:t> If the researcher had no hypothesis to start with, he might seek to explain his findings on the basis of some theory. It is known as </a:t>
            </a:r>
            <a:r>
              <a:rPr lang="en" sz="2000">
                <a:solidFill>
                  <a:schemeClr val="accent4"/>
                </a:solidFill>
              </a:rPr>
              <a:t>interpretation</a:t>
            </a:r>
            <a:r>
              <a:rPr lang="en" sz="2000"/>
              <a:t>. </a:t>
            </a:r>
            <a:endParaRPr sz="2000"/>
          </a:p>
          <a:p>
            <a:pPr marL="457200" lvl="0" indent="-355600" algn="just" rtl="0">
              <a:lnSpc>
                <a:spcPct val="115000"/>
              </a:lnSpc>
              <a:spcBef>
                <a:spcPts val="0"/>
              </a:spcBef>
              <a:spcAft>
                <a:spcPts val="0"/>
              </a:spcAft>
              <a:buSzPts val="2000"/>
              <a:buChar char="●"/>
            </a:pPr>
            <a:r>
              <a:rPr lang="en" sz="2000"/>
              <a:t>The process of </a:t>
            </a:r>
            <a:r>
              <a:rPr lang="en" sz="2000">
                <a:solidFill>
                  <a:schemeClr val="accent4"/>
                </a:solidFill>
              </a:rPr>
              <a:t>interpretation</a:t>
            </a:r>
            <a:r>
              <a:rPr lang="en" sz="2000"/>
              <a:t> may quite often trigger off new questions which in turn may lead to further researches</a:t>
            </a:r>
            <a:endParaRPr sz="2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11: Preparation of the report or the thesis</a:t>
            </a:r>
            <a:endParaRPr/>
          </a:p>
        </p:txBody>
      </p:sp>
      <p:sp>
        <p:nvSpPr>
          <p:cNvPr id="309" name="Google Shape;309;p38"/>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457200" lvl="0" indent="-349250" algn="just" rtl="0">
              <a:lnSpc>
                <a:spcPct val="115000"/>
              </a:lnSpc>
              <a:spcBef>
                <a:spcPts val="0"/>
              </a:spcBef>
              <a:spcAft>
                <a:spcPts val="0"/>
              </a:spcAft>
              <a:buSzPts val="1900"/>
              <a:buChar char="●"/>
            </a:pPr>
            <a:r>
              <a:rPr lang="en" sz="1900"/>
              <a:t> Writing of report must be done with great care keeping in view the following: </a:t>
            </a:r>
            <a:endParaRPr sz="1900"/>
          </a:p>
          <a:p>
            <a:pPr marL="0" lvl="0" indent="0" algn="just" rtl="0">
              <a:lnSpc>
                <a:spcPct val="115000"/>
              </a:lnSpc>
              <a:spcBef>
                <a:spcPts val="1200"/>
              </a:spcBef>
              <a:spcAft>
                <a:spcPts val="0"/>
              </a:spcAft>
              <a:buSzPts val="1800"/>
              <a:buNone/>
            </a:pPr>
            <a:r>
              <a:rPr lang="en" sz="1900"/>
              <a:t>1. The layout of the report should be as follows: </a:t>
            </a:r>
            <a:endParaRPr sz="1900"/>
          </a:p>
          <a:p>
            <a:pPr marL="457200" lvl="0" indent="0" algn="just" rtl="0">
              <a:lnSpc>
                <a:spcPct val="115000"/>
              </a:lnSpc>
              <a:spcBef>
                <a:spcPts val="1200"/>
              </a:spcBef>
              <a:spcAft>
                <a:spcPts val="0"/>
              </a:spcAft>
              <a:buSzPts val="1800"/>
              <a:buNone/>
            </a:pPr>
            <a:r>
              <a:rPr lang="en" sz="1900">
                <a:solidFill>
                  <a:schemeClr val="accent3"/>
                </a:solidFill>
              </a:rPr>
              <a:t>(i) the preliminary pages; (ii) the main text, and (iii) the end matter.</a:t>
            </a:r>
            <a:endParaRPr sz="1900">
              <a:solidFill>
                <a:schemeClr val="accent3"/>
              </a:solidFill>
            </a:endParaRPr>
          </a:p>
          <a:p>
            <a:pPr marL="457200" lvl="0" indent="-349250" algn="just" rtl="0">
              <a:lnSpc>
                <a:spcPct val="115000"/>
              </a:lnSpc>
              <a:spcBef>
                <a:spcPts val="1200"/>
              </a:spcBef>
              <a:spcAft>
                <a:spcPts val="0"/>
              </a:spcAft>
              <a:buSzPts val="1900"/>
              <a:buChar char="●"/>
            </a:pPr>
            <a:r>
              <a:rPr lang="en" sz="1900"/>
              <a:t>In its preliminary pages the report should carry title and date followed by acknowledgements and foreword. </a:t>
            </a:r>
            <a:endParaRPr sz="1900"/>
          </a:p>
          <a:p>
            <a:pPr marL="457200" lvl="0" indent="-349250" algn="just" rtl="0">
              <a:lnSpc>
                <a:spcPct val="115000"/>
              </a:lnSpc>
              <a:spcBef>
                <a:spcPts val="0"/>
              </a:spcBef>
              <a:spcAft>
                <a:spcPts val="0"/>
              </a:spcAft>
              <a:buSzPts val="1900"/>
              <a:buChar char="●"/>
            </a:pPr>
            <a:r>
              <a:rPr lang="en" sz="1900"/>
              <a:t>Then there should be a table of contents followed by a list of tables and list of graphs and charts, if any, given in the report.</a:t>
            </a:r>
            <a:endParaRPr sz="19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9"/>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315" name="Google Shape;315;p39"/>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15000"/>
              </a:lnSpc>
              <a:spcBef>
                <a:spcPts val="0"/>
              </a:spcBef>
              <a:spcAft>
                <a:spcPts val="0"/>
              </a:spcAft>
              <a:buSzPct val="108108"/>
              <a:buNone/>
            </a:pPr>
            <a:r>
              <a:rPr lang="en"/>
              <a:t>The main text of the report should have the following parts: </a:t>
            </a:r>
            <a:endParaRPr/>
          </a:p>
          <a:p>
            <a:pPr marL="0" lvl="0" indent="0" algn="l" rtl="0">
              <a:lnSpc>
                <a:spcPct val="115000"/>
              </a:lnSpc>
              <a:spcBef>
                <a:spcPts val="1200"/>
              </a:spcBef>
              <a:spcAft>
                <a:spcPts val="0"/>
              </a:spcAft>
              <a:buSzPct val="108108"/>
              <a:buNone/>
            </a:pPr>
            <a:r>
              <a:rPr lang="en"/>
              <a:t>(a) </a:t>
            </a:r>
            <a:r>
              <a:rPr lang="en">
                <a:solidFill>
                  <a:schemeClr val="accent4"/>
                </a:solidFill>
              </a:rPr>
              <a:t>Introduction</a:t>
            </a:r>
            <a:r>
              <a:rPr lang="en"/>
              <a:t>: It should contain a clear statement of the objective of the research and an explanation of the methodology adopted in accomplishing the research. The scope of the study along with various limitations should as well be stated in this part. </a:t>
            </a:r>
            <a:endParaRPr/>
          </a:p>
          <a:p>
            <a:pPr marL="0" lvl="0" indent="0" algn="l" rtl="0">
              <a:lnSpc>
                <a:spcPct val="115000"/>
              </a:lnSpc>
              <a:spcBef>
                <a:spcPts val="1200"/>
              </a:spcBef>
              <a:spcAft>
                <a:spcPts val="0"/>
              </a:spcAft>
              <a:buSzPct val="108108"/>
              <a:buNone/>
            </a:pPr>
            <a:r>
              <a:rPr lang="en"/>
              <a:t>(b) </a:t>
            </a:r>
            <a:r>
              <a:rPr lang="en">
                <a:solidFill>
                  <a:schemeClr val="accent4"/>
                </a:solidFill>
              </a:rPr>
              <a:t>Summary of findings</a:t>
            </a:r>
            <a:r>
              <a:rPr lang="en"/>
              <a:t>: After introduction there would appear a statement of findings and recommendations in non-technical language. If the findings are extensive, they should be summarised.</a:t>
            </a:r>
            <a:endParaRPr/>
          </a:p>
          <a:p>
            <a:pPr marL="0" lvl="0" indent="0" algn="l" rtl="0">
              <a:lnSpc>
                <a:spcPct val="115000"/>
              </a:lnSpc>
              <a:spcBef>
                <a:spcPts val="1200"/>
              </a:spcBef>
              <a:spcAft>
                <a:spcPts val="0"/>
              </a:spcAft>
              <a:buSzPct val="108108"/>
              <a:buNone/>
            </a:pPr>
            <a:r>
              <a:rPr lang="en"/>
              <a:t> (c) </a:t>
            </a:r>
            <a:r>
              <a:rPr lang="en">
                <a:solidFill>
                  <a:schemeClr val="accent4"/>
                </a:solidFill>
              </a:rPr>
              <a:t>Main report</a:t>
            </a:r>
            <a:r>
              <a:rPr lang="en"/>
              <a:t>: The main body of the report should be presented in logical sequence and broken-down into readily identifiable sections. </a:t>
            </a:r>
            <a:endParaRPr/>
          </a:p>
          <a:p>
            <a:pPr marL="0" lvl="0" indent="0" algn="l" rtl="0">
              <a:lnSpc>
                <a:spcPct val="115000"/>
              </a:lnSpc>
              <a:spcBef>
                <a:spcPts val="1200"/>
              </a:spcBef>
              <a:spcAft>
                <a:spcPts val="1200"/>
              </a:spcAft>
              <a:buSzPct val="108108"/>
              <a:buNone/>
            </a:pPr>
            <a:r>
              <a:rPr lang="en"/>
              <a:t>(d) </a:t>
            </a:r>
            <a:r>
              <a:rPr lang="en">
                <a:solidFill>
                  <a:schemeClr val="accent4"/>
                </a:solidFill>
              </a:rPr>
              <a:t>Conclusion</a:t>
            </a:r>
            <a:r>
              <a:rPr lang="en"/>
              <a:t>: Towards the end of the main text, researcher should again put down the results of his research clearly and precisely. In fact, it is the final summing up</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0"/>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321" name="Google Shape;321;p40"/>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fontScale="92500" lnSpcReduction="20000"/>
          </a:bodyPr>
          <a:lstStyle/>
          <a:p>
            <a:pPr marL="457200" lvl="0" indent="-355600" algn="just" rtl="0">
              <a:lnSpc>
                <a:spcPct val="115000"/>
              </a:lnSpc>
              <a:spcBef>
                <a:spcPts val="0"/>
              </a:spcBef>
              <a:spcAft>
                <a:spcPts val="0"/>
              </a:spcAft>
              <a:buSzPts val="2000"/>
              <a:buChar char="●"/>
            </a:pPr>
            <a:r>
              <a:rPr lang="en" sz="2000"/>
              <a:t>At the end of the report, appendices should be enlisted in respect of all technical data. Bibliography, i.e., list of books, journals, reports, etc., consulted, should also be given in the end. Index should also be given specially in a published research report.</a:t>
            </a:r>
            <a:endParaRPr sz="2000"/>
          </a:p>
          <a:p>
            <a:pPr marL="0" lvl="0" indent="0" algn="just" rtl="0">
              <a:lnSpc>
                <a:spcPct val="115000"/>
              </a:lnSpc>
              <a:spcBef>
                <a:spcPts val="1200"/>
              </a:spcBef>
              <a:spcAft>
                <a:spcPts val="0"/>
              </a:spcAft>
              <a:buSzPts val="1800"/>
              <a:buNone/>
            </a:pPr>
            <a:r>
              <a:rPr lang="en" sz="2000"/>
              <a:t>2. Report should be written in a concise and objective style in simple language avoiding vague expressions such as ‘it seems,’ ‘there may be’, and the like. </a:t>
            </a:r>
            <a:endParaRPr sz="2000"/>
          </a:p>
          <a:p>
            <a:pPr marL="0" lvl="0" indent="0" algn="just" rtl="0">
              <a:lnSpc>
                <a:spcPct val="115000"/>
              </a:lnSpc>
              <a:spcBef>
                <a:spcPts val="1200"/>
              </a:spcBef>
              <a:spcAft>
                <a:spcPts val="0"/>
              </a:spcAft>
              <a:buSzPts val="1800"/>
              <a:buNone/>
            </a:pPr>
            <a:r>
              <a:rPr lang="en" sz="2000"/>
              <a:t>3. Charts and illustrations in the main report should be used only if they present the information more clearly and forcibly. </a:t>
            </a:r>
            <a:endParaRPr sz="2000"/>
          </a:p>
          <a:p>
            <a:pPr marL="0" lvl="0" indent="0" algn="just" rtl="0">
              <a:lnSpc>
                <a:spcPct val="115000"/>
              </a:lnSpc>
              <a:spcBef>
                <a:spcPts val="1200"/>
              </a:spcBef>
              <a:spcAft>
                <a:spcPts val="1200"/>
              </a:spcAft>
              <a:buSzPts val="1800"/>
              <a:buNone/>
            </a:pPr>
            <a:r>
              <a:rPr lang="en" sz="2000"/>
              <a:t>4. Calculated ‘confidence limits’ must be mentioned and the various constraints experienced in conducting research operations may as well be stated</a:t>
            </a:r>
            <a:endParaRPr sz="2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Criteria of Good Research</a:t>
            </a:r>
            <a:endParaRPr/>
          </a:p>
        </p:txBody>
      </p:sp>
      <p:sp>
        <p:nvSpPr>
          <p:cNvPr id="327" name="Google Shape;327;p4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lnSpc>
                <a:spcPct val="115000"/>
              </a:lnSpc>
              <a:spcBef>
                <a:spcPts val="0"/>
              </a:spcBef>
              <a:spcAft>
                <a:spcPts val="0"/>
              </a:spcAft>
              <a:buSzPct val="117647"/>
              <a:buNone/>
            </a:pPr>
            <a:r>
              <a:rPr lang="en"/>
              <a:t>One expects scientific research to satisfy the following criteria:</a:t>
            </a:r>
            <a:endParaRPr/>
          </a:p>
          <a:p>
            <a:pPr marL="0" lvl="0" indent="0" algn="l" rtl="0">
              <a:lnSpc>
                <a:spcPct val="115000"/>
              </a:lnSpc>
              <a:spcBef>
                <a:spcPts val="1200"/>
              </a:spcBef>
              <a:spcAft>
                <a:spcPts val="0"/>
              </a:spcAft>
              <a:buSzPct val="117647"/>
              <a:buNone/>
            </a:pPr>
            <a:r>
              <a:rPr lang="en"/>
              <a:t> 1. The purpose of the research should be clearly defined and common concepts be used. </a:t>
            </a:r>
            <a:endParaRPr/>
          </a:p>
          <a:p>
            <a:pPr marL="0" lvl="0" indent="0" algn="l" rtl="0">
              <a:lnSpc>
                <a:spcPct val="115000"/>
              </a:lnSpc>
              <a:spcBef>
                <a:spcPts val="1200"/>
              </a:spcBef>
              <a:spcAft>
                <a:spcPts val="0"/>
              </a:spcAft>
              <a:buSzPct val="117647"/>
              <a:buNone/>
            </a:pPr>
            <a:r>
              <a:rPr lang="en"/>
              <a:t>2. The research procedure used should be described in sufficient detail to permit another researcher to repeat the research for further advancement, keeping the continuity of what has already been attained. </a:t>
            </a:r>
            <a:endParaRPr/>
          </a:p>
          <a:p>
            <a:pPr marL="0" lvl="0" indent="0" algn="l" rtl="0">
              <a:lnSpc>
                <a:spcPct val="115000"/>
              </a:lnSpc>
              <a:spcBef>
                <a:spcPts val="1200"/>
              </a:spcBef>
              <a:spcAft>
                <a:spcPts val="0"/>
              </a:spcAft>
              <a:buSzPct val="117647"/>
              <a:buNone/>
            </a:pPr>
            <a:r>
              <a:rPr lang="en"/>
              <a:t>3. The procedural design of the research should be carefully planned to yield results that are as objective as possible. </a:t>
            </a:r>
            <a:endParaRPr/>
          </a:p>
          <a:p>
            <a:pPr marL="0" lvl="0" indent="0" algn="l" rtl="0">
              <a:lnSpc>
                <a:spcPct val="115000"/>
              </a:lnSpc>
              <a:spcBef>
                <a:spcPts val="1200"/>
              </a:spcBef>
              <a:spcAft>
                <a:spcPts val="0"/>
              </a:spcAft>
              <a:buSzPct val="117647"/>
              <a:buNone/>
            </a:pPr>
            <a:r>
              <a:rPr lang="en"/>
              <a:t>4. The researcher should report with complete frankness, flaws in procedural design and estimate their effects upon the findings. </a:t>
            </a:r>
            <a:endParaRPr/>
          </a:p>
          <a:p>
            <a:pPr marL="0" lvl="0" indent="0" algn="l" rtl="0">
              <a:lnSpc>
                <a:spcPct val="115000"/>
              </a:lnSpc>
              <a:spcBef>
                <a:spcPts val="1200"/>
              </a:spcBef>
              <a:spcAft>
                <a:spcPts val="1200"/>
              </a:spcAft>
              <a:buSzPct val="117647"/>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2"/>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333" name="Google Shape;333;p42"/>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a:t>5. The analysis of data should be sufficiently adequate to reveal its significance and the methods of analysis used should be appropriate. The validity and reliability of the data should be checked carefully. </a:t>
            </a:r>
            <a:endParaRPr/>
          </a:p>
          <a:p>
            <a:pPr marL="0" lvl="0" indent="0" algn="l" rtl="0">
              <a:lnSpc>
                <a:spcPct val="115000"/>
              </a:lnSpc>
              <a:spcBef>
                <a:spcPts val="1200"/>
              </a:spcBef>
              <a:spcAft>
                <a:spcPts val="0"/>
              </a:spcAft>
              <a:buSzPts val="1800"/>
              <a:buNone/>
            </a:pPr>
            <a:r>
              <a:rPr lang="en"/>
              <a:t>6. Conclusions should be confined to those justified by the data of the research and limited to those for which the data provide an adequate basis. </a:t>
            </a:r>
            <a:endParaRPr/>
          </a:p>
          <a:p>
            <a:pPr marL="0" lvl="0" indent="0" algn="l" rtl="0">
              <a:lnSpc>
                <a:spcPct val="115000"/>
              </a:lnSpc>
              <a:spcBef>
                <a:spcPts val="1200"/>
              </a:spcBef>
              <a:spcAft>
                <a:spcPts val="1200"/>
              </a:spcAft>
              <a:buSzPts val="1800"/>
              <a:buNone/>
            </a:pPr>
            <a:r>
              <a:rPr lang="en"/>
              <a:t>7. Greater confidence in research is warranted if the researcher is experienced, has a good reputation in research and is a person of integrity</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Qualities of a good research</a:t>
            </a:r>
            <a:endParaRPr/>
          </a:p>
        </p:txBody>
      </p:sp>
      <p:sp>
        <p:nvSpPr>
          <p:cNvPr id="339" name="Google Shape;339;p4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a:t>1. </a:t>
            </a:r>
            <a:r>
              <a:rPr lang="en">
                <a:solidFill>
                  <a:schemeClr val="accent4"/>
                </a:solidFill>
              </a:rPr>
              <a:t>Good research is systematic</a:t>
            </a:r>
            <a:r>
              <a:rPr lang="en"/>
              <a:t>: It means that research is structured with specified steps to be taken in a specified sequence in accordance with the well defined set of rules. </a:t>
            </a:r>
            <a:endParaRPr/>
          </a:p>
          <a:p>
            <a:pPr marL="0" lvl="0" indent="0" algn="l" rtl="0">
              <a:lnSpc>
                <a:spcPct val="115000"/>
              </a:lnSpc>
              <a:spcBef>
                <a:spcPts val="1200"/>
              </a:spcBef>
              <a:spcAft>
                <a:spcPts val="1200"/>
              </a:spcAft>
              <a:buSzPts val="1800"/>
              <a:buNone/>
            </a:pPr>
            <a:r>
              <a:rPr lang="en"/>
              <a:t>2. </a:t>
            </a:r>
            <a:r>
              <a:rPr lang="en">
                <a:solidFill>
                  <a:schemeClr val="accent4"/>
                </a:solidFill>
              </a:rPr>
              <a:t>Good research is logical</a:t>
            </a:r>
            <a:r>
              <a:rPr lang="en"/>
              <a:t>: This implies that research is guided by the rules of logical reasoning and the logical process of induction and deduction are of great value in carrying out research. Induction is the process of reasoning from a part to the whole whereas deduction is the process of reasoning from some premise to a conclusion which follows from that very premise. In fact, logical reasoning makes research more meaningful in the context of decision making.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345" name="Google Shape;345;p44"/>
          <p:cNvSpPr txBox="1">
            <a:spLocks noGrp="1"/>
          </p:cNvSpPr>
          <p:nvPr>
            <p:ph type="body" idx="1"/>
          </p:nvPr>
        </p:nvSpPr>
        <p:spPr>
          <a:xfrm>
            <a:off x="311700" y="410000"/>
            <a:ext cx="8520600" cy="4158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0"/>
              </a:spcBef>
              <a:spcAft>
                <a:spcPts val="0"/>
              </a:spcAft>
              <a:buSzPts val="1800"/>
              <a:buNone/>
            </a:pPr>
            <a:r>
              <a:rPr lang="en"/>
              <a:t>3. </a:t>
            </a:r>
            <a:r>
              <a:rPr lang="en">
                <a:solidFill>
                  <a:schemeClr val="accent4"/>
                </a:solidFill>
              </a:rPr>
              <a:t>Good research is empirical</a:t>
            </a:r>
            <a:r>
              <a:rPr lang="en"/>
              <a:t>: It implies that research is related basically to one or more aspects of a real situation and deals with concrete data that provides a basis for external validity to research results. </a:t>
            </a:r>
            <a:endParaRPr/>
          </a:p>
          <a:p>
            <a:pPr marL="0" lvl="0" indent="0" algn="just" rtl="0">
              <a:lnSpc>
                <a:spcPct val="115000"/>
              </a:lnSpc>
              <a:spcBef>
                <a:spcPts val="1200"/>
              </a:spcBef>
              <a:spcAft>
                <a:spcPts val="0"/>
              </a:spcAft>
              <a:buSzPts val="1800"/>
              <a:buNone/>
            </a:pPr>
            <a:endParaRPr/>
          </a:p>
          <a:p>
            <a:pPr marL="0" lvl="0" indent="0" algn="just" rtl="0">
              <a:lnSpc>
                <a:spcPct val="115000"/>
              </a:lnSpc>
              <a:spcBef>
                <a:spcPts val="1200"/>
              </a:spcBef>
              <a:spcAft>
                <a:spcPts val="0"/>
              </a:spcAft>
              <a:buSzPts val="1800"/>
              <a:buNone/>
            </a:pPr>
            <a:endParaRPr/>
          </a:p>
          <a:p>
            <a:pPr marL="0" lvl="0" indent="0" algn="just" rtl="0">
              <a:lnSpc>
                <a:spcPct val="115000"/>
              </a:lnSpc>
              <a:spcBef>
                <a:spcPts val="1200"/>
              </a:spcBef>
              <a:spcAft>
                <a:spcPts val="1200"/>
              </a:spcAft>
              <a:buSzPts val="1800"/>
              <a:buNone/>
            </a:pPr>
            <a:r>
              <a:rPr lang="en"/>
              <a:t>4. </a:t>
            </a:r>
            <a:r>
              <a:rPr lang="en">
                <a:solidFill>
                  <a:schemeClr val="accent4"/>
                </a:solidFill>
              </a:rPr>
              <a:t>Good research is replicable</a:t>
            </a:r>
            <a:r>
              <a:rPr lang="en"/>
              <a:t>: This characteristic allows research results to be verified by replicating the study and thereby building a sound basis for decisions.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5"/>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4200"/>
              <a:buNone/>
            </a:pPr>
            <a:r>
              <a:rPr lang="en"/>
              <a:t>END OF UNIT 1</a:t>
            </a:r>
            <a:endParaRPr/>
          </a:p>
        </p:txBody>
      </p:sp>
      <p:sp>
        <p:nvSpPr>
          <p:cNvPr id="351" name="Google Shape;351;p45"/>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lnSpc>
                <a:spcPct val="100000"/>
              </a:lnSpc>
              <a:spcBef>
                <a:spcPts val="0"/>
              </a:spcBef>
              <a:spcAft>
                <a:spcPts val="0"/>
              </a:spcAft>
              <a:buSzPct val="108108"/>
              <a:buNone/>
            </a:pPr>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3789</Words>
  <Application>Microsoft Office PowerPoint</Application>
  <PresentationFormat>On-screen Show (16:9)</PresentationFormat>
  <Paragraphs>187</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Roboto</vt:lpstr>
      <vt:lpstr>Geometric</vt:lpstr>
      <vt:lpstr>Research Methodology</vt:lpstr>
      <vt:lpstr>Meaning of Research </vt:lpstr>
      <vt:lpstr>Definition of Research</vt:lpstr>
      <vt:lpstr>Objectives of Research</vt:lpstr>
      <vt:lpstr>Characteristics of Research</vt:lpstr>
      <vt:lpstr>Motivation in Research</vt:lpstr>
      <vt:lpstr>Types of Research</vt:lpstr>
      <vt:lpstr>PowerPoint Presentation</vt:lpstr>
      <vt:lpstr>PowerPoint Presentation</vt:lpstr>
      <vt:lpstr>PowerPoint Presentation</vt:lpstr>
      <vt:lpstr>PowerPoint Presentation</vt:lpstr>
      <vt:lpstr>contd…</vt:lpstr>
      <vt:lpstr>contd..</vt:lpstr>
      <vt:lpstr>Research Process</vt:lpstr>
      <vt:lpstr>PowerPoint Presentation</vt:lpstr>
      <vt:lpstr>Step 1: Formulating the research problem</vt:lpstr>
      <vt:lpstr>PowerPoint Presentation</vt:lpstr>
      <vt:lpstr>Step 2: Extensive literature survey</vt:lpstr>
      <vt:lpstr>Step 3: Development of working hypotheses</vt:lpstr>
      <vt:lpstr>PowerPoint Presentation</vt:lpstr>
      <vt:lpstr>Step 4: Preparing the research design</vt:lpstr>
      <vt:lpstr>PowerPoint Presentation</vt:lpstr>
      <vt:lpstr>Step 5: Determining sample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 6: Collecting the data</vt:lpstr>
      <vt:lpstr>Step 7: Execution of the project</vt:lpstr>
      <vt:lpstr>Step 8: Analysis of data</vt:lpstr>
      <vt:lpstr>PowerPoint Presentation</vt:lpstr>
      <vt:lpstr>Step 9:Hypothesis-testing </vt:lpstr>
      <vt:lpstr>Step 10: Generalisations and interpretation</vt:lpstr>
      <vt:lpstr>Step 11: Preparation of the report or the thesis</vt:lpstr>
      <vt:lpstr>PowerPoint Presentation</vt:lpstr>
      <vt:lpstr>PowerPoint Presentation</vt:lpstr>
      <vt:lpstr>Criteria of Good Research</vt:lpstr>
      <vt:lpstr>PowerPoint Presentation</vt:lpstr>
      <vt:lpstr>Qualities of a good research</vt:lpstr>
      <vt:lpstr>PowerPoint Presentation</vt:lpstr>
      <vt:lpstr>END OF UNIT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Methodology</dc:title>
  <cp:lastModifiedBy>HoD MCA</cp:lastModifiedBy>
  <cp:revision>3</cp:revision>
  <dcterms:modified xsi:type="dcterms:W3CDTF">2023-11-08T09:59:55Z</dcterms:modified>
</cp:coreProperties>
</file>