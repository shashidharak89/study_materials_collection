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1" r:id="rId2"/>
    <p:sldMasterId id="2147483674" r:id="rId3"/>
  </p:sldMasterIdLst>
  <p:notesMasterIdLst>
    <p:notesMasterId r:id="rId95"/>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 id="301" r:id="rId49"/>
    <p:sldId id="302" r:id="rId50"/>
    <p:sldId id="303" r:id="rId51"/>
    <p:sldId id="304" r:id="rId52"/>
    <p:sldId id="305" r:id="rId53"/>
    <p:sldId id="306" r:id="rId54"/>
    <p:sldId id="307" r:id="rId55"/>
    <p:sldId id="308" r:id="rId56"/>
    <p:sldId id="309" r:id="rId57"/>
    <p:sldId id="310" r:id="rId58"/>
    <p:sldId id="311" r:id="rId59"/>
    <p:sldId id="312" r:id="rId60"/>
    <p:sldId id="313" r:id="rId61"/>
    <p:sldId id="314" r:id="rId62"/>
    <p:sldId id="315" r:id="rId63"/>
    <p:sldId id="316" r:id="rId64"/>
    <p:sldId id="317" r:id="rId65"/>
    <p:sldId id="318" r:id="rId66"/>
    <p:sldId id="319" r:id="rId67"/>
    <p:sldId id="320" r:id="rId68"/>
    <p:sldId id="321" r:id="rId69"/>
    <p:sldId id="322" r:id="rId70"/>
    <p:sldId id="323" r:id="rId71"/>
    <p:sldId id="324" r:id="rId72"/>
    <p:sldId id="325" r:id="rId73"/>
    <p:sldId id="326" r:id="rId74"/>
    <p:sldId id="327" r:id="rId75"/>
    <p:sldId id="328" r:id="rId76"/>
    <p:sldId id="329" r:id="rId77"/>
    <p:sldId id="330" r:id="rId78"/>
    <p:sldId id="331" r:id="rId79"/>
    <p:sldId id="332" r:id="rId80"/>
    <p:sldId id="333" r:id="rId81"/>
    <p:sldId id="334" r:id="rId82"/>
    <p:sldId id="335" r:id="rId83"/>
    <p:sldId id="336" r:id="rId84"/>
    <p:sldId id="337" r:id="rId85"/>
    <p:sldId id="338" r:id="rId86"/>
    <p:sldId id="339" r:id="rId87"/>
    <p:sldId id="340" r:id="rId88"/>
    <p:sldId id="341" r:id="rId89"/>
    <p:sldId id="342" r:id="rId90"/>
    <p:sldId id="343" r:id="rId91"/>
    <p:sldId id="344" r:id="rId92"/>
    <p:sldId id="345" r:id="rId93"/>
    <p:sldId id="346" r:id="rId94"/>
  </p:sldIdLst>
  <p:sldSz cx="9144000" cy="5143500" type="screen16x9"/>
  <p:notesSz cx="6858000" cy="9144000"/>
  <p:embeddedFontLst>
    <p:embeddedFont>
      <p:font typeface="Roboto" panose="020B0604020202020204" charset="0"/>
      <p:regular r:id="rId96"/>
      <p:bold r:id="rId97"/>
      <p:italic r:id="rId98"/>
      <p:boldItalic r:id="rId9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102" roundtripDataSignature="AMtx7mhZeZVgMeN5ZNJVqf4mOgnV7pRjcA=="/>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2" d="100"/>
          <a:sy n="112" d="100"/>
        </p:scale>
        <p:origin x="774"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slide" Target="slides/slide65.xml"/><Relationship Id="rId84" Type="http://schemas.openxmlformats.org/officeDocument/2006/relationships/slide" Target="slides/slide81.xml"/><Relationship Id="rId89" Type="http://schemas.openxmlformats.org/officeDocument/2006/relationships/slide" Target="slides/slide86.xml"/><Relationship Id="rId16" Type="http://schemas.openxmlformats.org/officeDocument/2006/relationships/slide" Target="slides/slide13.xml"/><Relationship Id="rId11" Type="http://schemas.openxmlformats.org/officeDocument/2006/relationships/slide" Target="slides/slide8.xml"/><Relationship Id="rId32" Type="http://schemas.openxmlformats.org/officeDocument/2006/relationships/slide" Target="slides/slide29.xml"/><Relationship Id="rId37" Type="http://schemas.openxmlformats.org/officeDocument/2006/relationships/slide" Target="slides/slide34.xml"/><Relationship Id="rId53" Type="http://schemas.openxmlformats.org/officeDocument/2006/relationships/slide" Target="slides/slide50.xml"/><Relationship Id="rId58" Type="http://schemas.openxmlformats.org/officeDocument/2006/relationships/slide" Target="slides/slide55.xml"/><Relationship Id="rId74" Type="http://schemas.openxmlformats.org/officeDocument/2006/relationships/slide" Target="slides/slide71.xml"/><Relationship Id="rId79" Type="http://schemas.openxmlformats.org/officeDocument/2006/relationships/slide" Target="slides/slide76.xml"/><Relationship Id="rId102" Type="http://customschemas.google.com/relationships/presentationmetadata" Target="metadata"/><Relationship Id="rId5" Type="http://schemas.openxmlformats.org/officeDocument/2006/relationships/slide" Target="slides/slide2.xml"/><Relationship Id="rId90" Type="http://schemas.openxmlformats.org/officeDocument/2006/relationships/slide" Target="slides/slide87.xml"/><Relationship Id="rId95" Type="http://schemas.openxmlformats.org/officeDocument/2006/relationships/notesMaster" Target="notesMasters/notesMaster1.xml"/><Relationship Id="rId22" Type="http://schemas.openxmlformats.org/officeDocument/2006/relationships/slide" Target="slides/slide19.xml"/><Relationship Id="rId27" Type="http://schemas.openxmlformats.org/officeDocument/2006/relationships/slide" Target="slides/slide24.xml"/><Relationship Id="rId43" Type="http://schemas.openxmlformats.org/officeDocument/2006/relationships/slide" Target="slides/slide40.xml"/><Relationship Id="rId48" Type="http://schemas.openxmlformats.org/officeDocument/2006/relationships/slide" Target="slides/slide45.xml"/><Relationship Id="rId64" Type="http://schemas.openxmlformats.org/officeDocument/2006/relationships/slide" Target="slides/slide61.xml"/><Relationship Id="rId69" Type="http://schemas.openxmlformats.org/officeDocument/2006/relationships/slide" Target="slides/slide66.xml"/><Relationship Id="rId80" Type="http://schemas.openxmlformats.org/officeDocument/2006/relationships/slide" Target="slides/slide77.xml"/><Relationship Id="rId85" Type="http://schemas.openxmlformats.org/officeDocument/2006/relationships/slide" Target="slides/slide82.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slide" Target="slides/slide64.xml"/><Relationship Id="rId103" Type="http://schemas.openxmlformats.org/officeDocument/2006/relationships/presProps" Target="presProps.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70" Type="http://schemas.openxmlformats.org/officeDocument/2006/relationships/slide" Target="slides/slide67.xml"/><Relationship Id="rId75" Type="http://schemas.openxmlformats.org/officeDocument/2006/relationships/slide" Target="slides/slide72.xml"/><Relationship Id="rId83" Type="http://schemas.openxmlformats.org/officeDocument/2006/relationships/slide" Target="slides/slide80.xml"/><Relationship Id="rId88" Type="http://schemas.openxmlformats.org/officeDocument/2006/relationships/slide" Target="slides/slide85.xml"/><Relationship Id="rId91" Type="http://schemas.openxmlformats.org/officeDocument/2006/relationships/slide" Target="slides/slide88.xml"/><Relationship Id="rId96"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6" Type="http://schemas.openxmlformats.org/officeDocument/2006/relationships/tableStyles" Target="tableStyles.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73" Type="http://schemas.openxmlformats.org/officeDocument/2006/relationships/slide" Target="slides/slide70.xml"/><Relationship Id="rId78" Type="http://schemas.openxmlformats.org/officeDocument/2006/relationships/slide" Target="slides/slide75.xml"/><Relationship Id="rId81" Type="http://schemas.openxmlformats.org/officeDocument/2006/relationships/slide" Target="slides/slide78.xml"/><Relationship Id="rId86" Type="http://schemas.openxmlformats.org/officeDocument/2006/relationships/slide" Target="slides/slide83.xml"/><Relationship Id="rId94" Type="http://schemas.openxmlformats.org/officeDocument/2006/relationships/slide" Target="slides/slide91.xml"/><Relationship Id="rId99" Type="http://schemas.openxmlformats.org/officeDocument/2006/relationships/font" Target="fonts/font4.fntdata"/><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6" Type="http://schemas.openxmlformats.org/officeDocument/2006/relationships/slide" Target="slides/slide73.xml"/><Relationship Id="rId97" Type="http://schemas.openxmlformats.org/officeDocument/2006/relationships/font" Target="fonts/font2.fntdata"/><Relationship Id="rId104" Type="http://schemas.openxmlformats.org/officeDocument/2006/relationships/viewProps" Target="viewProps.xml"/><Relationship Id="rId7" Type="http://schemas.openxmlformats.org/officeDocument/2006/relationships/slide" Target="slides/slide4.xml"/><Relationship Id="rId71" Type="http://schemas.openxmlformats.org/officeDocument/2006/relationships/slide" Target="slides/slide68.xml"/><Relationship Id="rId92" Type="http://schemas.openxmlformats.org/officeDocument/2006/relationships/slide" Target="slides/slide89.xml"/><Relationship Id="rId2" Type="http://schemas.openxmlformats.org/officeDocument/2006/relationships/slideMaster" Target="slideMasters/slideMaster2.xml"/><Relationship Id="rId29" Type="http://schemas.openxmlformats.org/officeDocument/2006/relationships/slide" Target="slides/slide26.xml"/><Relationship Id="rId24" Type="http://schemas.openxmlformats.org/officeDocument/2006/relationships/slide" Target="slides/slide21.xml"/><Relationship Id="rId40" Type="http://schemas.openxmlformats.org/officeDocument/2006/relationships/slide" Target="slides/slide37.xml"/><Relationship Id="rId45" Type="http://schemas.openxmlformats.org/officeDocument/2006/relationships/slide" Target="slides/slide42.xml"/><Relationship Id="rId66" Type="http://schemas.openxmlformats.org/officeDocument/2006/relationships/slide" Target="slides/slide63.xml"/><Relationship Id="rId87" Type="http://schemas.openxmlformats.org/officeDocument/2006/relationships/slide" Target="slides/slide84.xml"/><Relationship Id="rId61" Type="http://schemas.openxmlformats.org/officeDocument/2006/relationships/slide" Target="slides/slide58.xml"/><Relationship Id="rId82" Type="http://schemas.openxmlformats.org/officeDocument/2006/relationships/slide" Target="slides/slide79.xml"/><Relationship Id="rId19" Type="http://schemas.openxmlformats.org/officeDocument/2006/relationships/slide" Target="slides/slide16.xml"/><Relationship Id="rId14" Type="http://schemas.openxmlformats.org/officeDocument/2006/relationships/slide" Target="slides/slide11.xml"/><Relationship Id="rId30" Type="http://schemas.openxmlformats.org/officeDocument/2006/relationships/slide" Target="slides/slide27.xml"/><Relationship Id="rId35" Type="http://schemas.openxmlformats.org/officeDocument/2006/relationships/slide" Target="slides/slide32.xml"/><Relationship Id="rId56" Type="http://schemas.openxmlformats.org/officeDocument/2006/relationships/slide" Target="slides/slide53.xml"/><Relationship Id="rId77" Type="http://schemas.openxmlformats.org/officeDocument/2006/relationships/slide" Target="slides/slide74.xml"/><Relationship Id="rId105" Type="http://schemas.openxmlformats.org/officeDocument/2006/relationships/theme" Target="theme/theme1.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slide" Target="slides/slide69.xml"/><Relationship Id="rId93" Type="http://schemas.openxmlformats.org/officeDocument/2006/relationships/slide" Target="slides/slide90.xml"/><Relationship Id="rId98" Type="http://schemas.openxmlformats.org/officeDocument/2006/relationships/font" Target="fonts/font3.fntdata"/><Relationship Id="rId3" Type="http://schemas.openxmlformats.org/officeDocument/2006/relationships/slideMaster" Target="slideMasters/slideMaster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5" name="Google Shape;205;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2" name="Google Shape;212;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8" name="Google Shape;218;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Google Shape;223;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4" name="Google Shape;224;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1" name="Google Shape;231;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7" name="Google Shape;237;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3" name="Google Shape;243;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0" name="Google Shape;25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7" name="Google Shape;257;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p:cNvGrpSpPr/>
        <p:nvPr/>
      </p:nvGrpSpPr>
      <p:grpSpPr>
        <a:xfrm>
          <a:off x="0" y="0"/>
          <a:ext cx="0" cy="0"/>
          <a:chOff x="0" y="0"/>
          <a:chExt cx="0" cy="0"/>
        </a:xfrm>
      </p:grpSpPr>
      <p:sp>
        <p:nvSpPr>
          <p:cNvPr id="263" name="Google Shape;263;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4" name="Google Shape;264;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0" name="Google Shape;270;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4"/>
        <p:cNvGrpSpPr/>
        <p:nvPr/>
      </p:nvGrpSpPr>
      <p:grpSpPr>
        <a:xfrm>
          <a:off x="0" y="0"/>
          <a:ext cx="0" cy="0"/>
          <a:chOff x="0" y="0"/>
          <a:chExt cx="0" cy="0"/>
        </a:xfrm>
      </p:grpSpPr>
      <p:sp>
        <p:nvSpPr>
          <p:cNvPr id="275" name="Google Shape;275;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6" name="Google Shape;276;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2" name="Google Shape;282;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p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8" name="Google Shape;288;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2"/>
        <p:cNvGrpSpPr/>
        <p:nvPr/>
      </p:nvGrpSpPr>
      <p:grpSpPr>
        <a:xfrm>
          <a:off x="0" y="0"/>
          <a:ext cx="0" cy="0"/>
          <a:chOff x="0" y="0"/>
          <a:chExt cx="0" cy="0"/>
        </a:xfrm>
      </p:grpSpPr>
      <p:sp>
        <p:nvSpPr>
          <p:cNvPr id="293" name="Google Shape;293;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4" name="Google Shape;294;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9"/>
        <p:cNvGrpSpPr/>
        <p:nvPr/>
      </p:nvGrpSpPr>
      <p:grpSpPr>
        <a:xfrm>
          <a:off x="0" y="0"/>
          <a:ext cx="0" cy="0"/>
          <a:chOff x="0" y="0"/>
          <a:chExt cx="0" cy="0"/>
        </a:xfrm>
      </p:grpSpPr>
      <p:sp>
        <p:nvSpPr>
          <p:cNvPr id="300" name="Google Shape;300;p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1" name="Google Shape;301;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7" name="Google Shape;307;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p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3" name="Google Shape;313;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7"/>
        <p:cNvGrpSpPr/>
        <p:nvPr/>
      </p:nvGrpSpPr>
      <p:grpSpPr>
        <a:xfrm>
          <a:off x="0" y="0"/>
          <a:ext cx="0" cy="0"/>
          <a:chOff x="0" y="0"/>
          <a:chExt cx="0" cy="0"/>
        </a:xfrm>
      </p:grpSpPr>
      <p:sp>
        <p:nvSpPr>
          <p:cNvPr id="318" name="Google Shape;318;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9" name="Google Shape;319;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p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26" name="Google Shape;326;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p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2" name="Google Shape;332;p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p:cNvGrpSpPr/>
        <p:nvPr/>
      </p:nvGrpSpPr>
      <p:grpSpPr>
        <a:xfrm>
          <a:off x="0" y="0"/>
          <a:ext cx="0" cy="0"/>
          <a:chOff x="0" y="0"/>
          <a:chExt cx="0" cy="0"/>
        </a:xfrm>
      </p:grpSpPr>
      <p:sp>
        <p:nvSpPr>
          <p:cNvPr id="337" name="Google Shape;337;p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8" name="Google Shape;338;p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2"/>
        <p:cNvGrpSpPr/>
        <p:nvPr/>
      </p:nvGrpSpPr>
      <p:grpSpPr>
        <a:xfrm>
          <a:off x="0" y="0"/>
          <a:ext cx="0" cy="0"/>
          <a:chOff x="0" y="0"/>
          <a:chExt cx="0" cy="0"/>
        </a:xfrm>
      </p:grpSpPr>
      <p:sp>
        <p:nvSpPr>
          <p:cNvPr id="343" name="Google Shape;343;p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44" name="Google Shape;344;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8"/>
        <p:cNvGrpSpPr/>
        <p:nvPr/>
      </p:nvGrpSpPr>
      <p:grpSpPr>
        <a:xfrm>
          <a:off x="0" y="0"/>
          <a:ext cx="0" cy="0"/>
          <a:chOff x="0" y="0"/>
          <a:chExt cx="0" cy="0"/>
        </a:xfrm>
      </p:grpSpPr>
      <p:sp>
        <p:nvSpPr>
          <p:cNvPr id="349" name="Google Shape;349;p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50" name="Google Shape;350;p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4"/>
        <p:cNvGrpSpPr/>
        <p:nvPr/>
      </p:nvGrpSpPr>
      <p:grpSpPr>
        <a:xfrm>
          <a:off x="0" y="0"/>
          <a:ext cx="0" cy="0"/>
          <a:chOff x="0" y="0"/>
          <a:chExt cx="0" cy="0"/>
        </a:xfrm>
      </p:grpSpPr>
      <p:sp>
        <p:nvSpPr>
          <p:cNvPr id="355" name="Google Shape;355;p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56" name="Google Shape;356;p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0"/>
        <p:cNvGrpSpPr/>
        <p:nvPr/>
      </p:nvGrpSpPr>
      <p:grpSpPr>
        <a:xfrm>
          <a:off x="0" y="0"/>
          <a:ext cx="0" cy="0"/>
          <a:chOff x="0" y="0"/>
          <a:chExt cx="0" cy="0"/>
        </a:xfrm>
      </p:grpSpPr>
      <p:sp>
        <p:nvSpPr>
          <p:cNvPr id="361" name="Google Shape;361;p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62" name="Google Shape;362;p2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6"/>
        <p:cNvGrpSpPr/>
        <p:nvPr/>
      </p:nvGrpSpPr>
      <p:grpSpPr>
        <a:xfrm>
          <a:off x="0" y="0"/>
          <a:ext cx="0" cy="0"/>
          <a:chOff x="0" y="0"/>
          <a:chExt cx="0" cy="0"/>
        </a:xfrm>
      </p:grpSpPr>
      <p:sp>
        <p:nvSpPr>
          <p:cNvPr id="367" name="Google Shape;367;g1e8a5d14dff_0_12: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8" name="Google Shape;368;g1e8a5d14dff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3"/>
        <p:cNvGrpSpPr/>
        <p:nvPr/>
      </p:nvGrpSpPr>
      <p:grpSpPr>
        <a:xfrm>
          <a:off x="0" y="0"/>
          <a:ext cx="0" cy="0"/>
          <a:chOff x="0" y="0"/>
          <a:chExt cx="0" cy="0"/>
        </a:xfrm>
      </p:grpSpPr>
      <p:sp>
        <p:nvSpPr>
          <p:cNvPr id="374" name="Google Shape;374;p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75" name="Google Shape;375;p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9"/>
        <p:cNvGrpSpPr/>
        <p:nvPr/>
      </p:nvGrpSpPr>
      <p:grpSpPr>
        <a:xfrm>
          <a:off x="0" y="0"/>
          <a:ext cx="0" cy="0"/>
          <a:chOff x="0" y="0"/>
          <a:chExt cx="0" cy="0"/>
        </a:xfrm>
      </p:grpSpPr>
      <p:sp>
        <p:nvSpPr>
          <p:cNvPr id="380" name="Google Shape;380;p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81" name="Google Shape;381;p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5"/>
        <p:cNvGrpSpPr/>
        <p:nvPr/>
      </p:nvGrpSpPr>
      <p:grpSpPr>
        <a:xfrm>
          <a:off x="0" y="0"/>
          <a:ext cx="0" cy="0"/>
          <a:chOff x="0" y="0"/>
          <a:chExt cx="0" cy="0"/>
        </a:xfrm>
      </p:grpSpPr>
      <p:sp>
        <p:nvSpPr>
          <p:cNvPr id="386" name="Google Shape;386;p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87" name="Google Shape;387;p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1"/>
        <p:cNvGrpSpPr/>
        <p:nvPr/>
      </p:nvGrpSpPr>
      <p:grpSpPr>
        <a:xfrm>
          <a:off x="0" y="0"/>
          <a:ext cx="0" cy="0"/>
          <a:chOff x="0" y="0"/>
          <a:chExt cx="0" cy="0"/>
        </a:xfrm>
      </p:grpSpPr>
      <p:sp>
        <p:nvSpPr>
          <p:cNvPr id="392" name="Google Shape;392;p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93" name="Google Shape;393;p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7"/>
        <p:cNvGrpSpPr/>
        <p:nvPr/>
      </p:nvGrpSpPr>
      <p:grpSpPr>
        <a:xfrm>
          <a:off x="0" y="0"/>
          <a:ext cx="0" cy="0"/>
          <a:chOff x="0" y="0"/>
          <a:chExt cx="0" cy="0"/>
        </a:xfrm>
      </p:grpSpPr>
      <p:sp>
        <p:nvSpPr>
          <p:cNvPr id="398" name="Google Shape;398;p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99" name="Google Shape;399;p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3"/>
        <p:cNvGrpSpPr/>
        <p:nvPr/>
      </p:nvGrpSpPr>
      <p:grpSpPr>
        <a:xfrm>
          <a:off x="0" y="0"/>
          <a:ext cx="0" cy="0"/>
          <a:chOff x="0" y="0"/>
          <a:chExt cx="0" cy="0"/>
        </a:xfrm>
      </p:grpSpPr>
      <p:sp>
        <p:nvSpPr>
          <p:cNvPr id="404" name="Google Shape;404;p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05" name="Google Shape;405;p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9"/>
        <p:cNvGrpSpPr/>
        <p:nvPr/>
      </p:nvGrpSpPr>
      <p:grpSpPr>
        <a:xfrm>
          <a:off x="0" y="0"/>
          <a:ext cx="0" cy="0"/>
          <a:chOff x="0" y="0"/>
          <a:chExt cx="0" cy="0"/>
        </a:xfrm>
      </p:grpSpPr>
      <p:sp>
        <p:nvSpPr>
          <p:cNvPr id="410" name="Google Shape;410;p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11" name="Google Shape;411;p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5"/>
        <p:cNvGrpSpPr/>
        <p:nvPr/>
      </p:nvGrpSpPr>
      <p:grpSpPr>
        <a:xfrm>
          <a:off x="0" y="0"/>
          <a:ext cx="0" cy="0"/>
          <a:chOff x="0" y="0"/>
          <a:chExt cx="0" cy="0"/>
        </a:xfrm>
      </p:grpSpPr>
      <p:sp>
        <p:nvSpPr>
          <p:cNvPr id="416" name="Google Shape;416;p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17" name="Google Shape;417;p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1"/>
        <p:cNvGrpSpPr/>
        <p:nvPr/>
      </p:nvGrpSpPr>
      <p:grpSpPr>
        <a:xfrm>
          <a:off x="0" y="0"/>
          <a:ext cx="0" cy="0"/>
          <a:chOff x="0" y="0"/>
          <a:chExt cx="0" cy="0"/>
        </a:xfrm>
      </p:grpSpPr>
      <p:sp>
        <p:nvSpPr>
          <p:cNvPr id="422" name="Google Shape;422;p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23" name="Google Shape;423;p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7"/>
        <p:cNvGrpSpPr/>
        <p:nvPr/>
      </p:nvGrpSpPr>
      <p:grpSpPr>
        <a:xfrm>
          <a:off x="0" y="0"/>
          <a:ext cx="0" cy="0"/>
          <a:chOff x="0" y="0"/>
          <a:chExt cx="0" cy="0"/>
        </a:xfrm>
      </p:grpSpPr>
      <p:sp>
        <p:nvSpPr>
          <p:cNvPr id="428" name="Google Shape;428;p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29" name="Google Shape;429;p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3"/>
        <p:cNvGrpSpPr/>
        <p:nvPr/>
      </p:nvGrpSpPr>
      <p:grpSpPr>
        <a:xfrm>
          <a:off x="0" y="0"/>
          <a:ext cx="0" cy="0"/>
          <a:chOff x="0" y="0"/>
          <a:chExt cx="0" cy="0"/>
        </a:xfrm>
      </p:grpSpPr>
      <p:sp>
        <p:nvSpPr>
          <p:cNvPr id="434" name="Google Shape;434;p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35" name="Google Shape;435;p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9"/>
        <p:cNvGrpSpPr/>
        <p:nvPr/>
      </p:nvGrpSpPr>
      <p:grpSpPr>
        <a:xfrm>
          <a:off x="0" y="0"/>
          <a:ext cx="0" cy="0"/>
          <a:chOff x="0" y="0"/>
          <a:chExt cx="0" cy="0"/>
        </a:xfrm>
      </p:grpSpPr>
      <p:sp>
        <p:nvSpPr>
          <p:cNvPr id="440" name="Google Shape;440;p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41" name="Google Shape;441;p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5"/>
        <p:cNvGrpSpPr/>
        <p:nvPr/>
      </p:nvGrpSpPr>
      <p:grpSpPr>
        <a:xfrm>
          <a:off x="0" y="0"/>
          <a:ext cx="0" cy="0"/>
          <a:chOff x="0" y="0"/>
          <a:chExt cx="0" cy="0"/>
        </a:xfrm>
      </p:grpSpPr>
      <p:sp>
        <p:nvSpPr>
          <p:cNvPr id="446" name="Google Shape;446;p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47" name="Google Shape;447;p4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1"/>
        <p:cNvGrpSpPr/>
        <p:nvPr/>
      </p:nvGrpSpPr>
      <p:grpSpPr>
        <a:xfrm>
          <a:off x="0" y="0"/>
          <a:ext cx="0" cy="0"/>
          <a:chOff x="0" y="0"/>
          <a:chExt cx="0" cy="0"/>
        </a:xfrm>
      </p:grpSpPr>
      <p:sp>
        <p:nvSpPr>
          <p:cNvPr id="452" name="Google Shape;452;g1e8a5d14dff_0_82: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3" name="Google Shape;453;g1e8a5d14dff_0_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8"/>
        <p:cNvGrpSpPr/>
        <p:nvPr/>
      </p:nvGrpSpPr>
      <p:grpSpPr>
        <a:xfrm>
          <a:off x="0" y="0"/>
          <a:ext cx="0" cy="0"/>
          <a:chOff x="0" y="0"/>
          <a:chExt cx="0" cy="0"/>
        </a:xfrm>
      </p:grpSpPr>
      <p:sp>
        <p:nvSpPr>
          <p:cNvPr id="459" name="Google Shape;459;g1e8a5d14dff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60" name="Google Shape;460;g1e8a5d14dff_0_5: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5"/>
        <p:cNvGrpSpPr/>
        <p:nvPr/>
      </p:nvGrpSpPr>
      <p:grpSpPr>
        <a:xfrm>
          <a:off x="0" y="0"/>
          <a:ext cx="0" cy="0"/>
          <a:chOff x="0" y="0"/>
          <a:chExt cx="0" cy="0"/>
        </a:xfrm>
      </p:grpSpPr>
      <p:sp>
        <p:nvSpPr>
          <p:cNvPr id="466" name="Google Shape;466;p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67" name="Google Shape;467;p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1"/>
        <p:cNvGrpSpPr/>
        <p:nvPr/>
      </p:nvGrpSpPr>
      <p:grpSpPr>
        <a:xfrm>
          <a:off x="0" y="0"/>
          <a:ext cx="0" cy="0"/>
          <a:chOff x="0" y="0"/>
          <a:chExt cx="0" cy="0"/>
        </a:xfrm>
      </p:grpSpPr>
      <p:sp>
        <p:nvSpPr>
          <p:cNvPr id="472" name="Google Shape;472;p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73" name="Google Shape;473;p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7"/>
        <p:cNvGrpSpPr/>
        <p:nvPr/>
      </p:nvGrpSpPr>
      <p:grpSpPr>
        <a:xfrm>
          <a:off x="0" y="0"/>
          <a:ext cx="0" cy="0"/>
          <a:chOff x="0" y="0"/>
          <a:chExt cx="0" cy="0"/>
        </a:xfrm>
      </p:grpSpPr>
      <p:sp>
        <p:nvSpPr>
          <p:cNvPr id="478" name="Google Shape;478;g1e8a5d14dff_0_18: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9" name="Google Shape;479;g1e8a5d14dff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4"/>
        <p:cNvGrpSpPr/>
        <p:nvPr/>
      </p:nvGrpSpPr>
      <p:grpSpPr>
        <a:xfrm>
          <a:off x="0" y="0"/>
          <a:ext cx="0" cy="0"/>
          <a:chOff x="0" y="0"/>
          <a:chExt cx="0" cy="0"/>
        </a:xfrm>
      </p:grpSpPr>
      <p:sp>
        <p:nvSpPr>
          <p:cNvPr id="485" name="Google Shape;485;p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86" name="Google Shape;486;p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0"/>
        <p:cNvGrpSpPr/>
        <p:nvPr/>
      </p:nvGrpSpPr>
      <p:grpSpPr>
        <a:xfrm>
          <a:off x="0" y="0"/>
          <a:ext cx="0" cy="0"/>
          <a:chOff x="0" y="0"/>
          <a:chExt cx="0" cy="0"/>
        </a:xfrm>
      </p:grpSpPr>
      <p:sp>
        <p:nvSpPr>
          <p:cNvPr id="491" name="Google Shape;491;g1e8a5d14dff_0_24: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2" name="Google Shape;492;g1e8a5d14dff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6"/>
        <p:cNvGrpSpPr/>
        <p:nvPr/>
      </p:nvGrpSpPr>
      <p:grpSpPr>
        <a:xfrm>
          <a:off x="0" y="0"/>
          <a:ext cx="0" cy="0"/>
          <a:chOff x="0" y="0"/>
          <a:chExt cx="0" cy="0"/>
        </a:xfrm>
      </p:grpSpPr>
      <p:sp>
        <p:nvSpPr>
          <p:cNvPr id="497" name="Google Shape;497;g1e8a5d14dff_0_64: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8" name="Google Shape;498;g1e8a5d14dff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3"/>
        <p:cNvGrpSpPr/>
        <p:nvPr/>
      </p:nvGrpSpPr>
      <p:grpSpPr>
        <a:xfrm>
          <a:off x="0" y="0"/>
          <a:ext cx="0" cy="0"/>
          <a:chOff x="0" y="0"/>
          <a:chExt cx="0" cy="0"/>
        </a:xfrm>
      </p:grpSpPr>
      <p:sp>
        <p:nvSpPr>
          <p:cNvPr id="504" name="Google Shape;504;g1e8a5d14dff_0_31: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5" name="Google Shape;505;g1e8a5d14dff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9"/>
        <p:cNvGrpSpPr/>
        <p:nvPr/>
      </p:nvGrpSpPr>
      <p:grpSpPr>
        <a:xfrm>
          <a:off x="0" y="0"/>
          <a:ext cx="0" cy="0"/>
          <a:chOff x="0" y="0"/>
          <a:chExt cx="0" cy="0"/>
        </a:xfrm>
      </p:grpSpPr>
      <p:sp>
        <p:nvSpPr>
          <p:cNvPr id="510" name="Google Shape;510;g1e8a5d14dff_0_7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1" name="Google Shape;511;g1e8a5d14dff_0_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6"/>
        <p:cNvGrpSpPr/>
        <p:nvPr/>
      </p:nvGrpSpPr>
      <p:grpSpPr>
        <a:xfrm>
          <a:off x="0" y="0"/>
          <a:ext cx="0" cy="0"/>
          <a:chOff x="0" y="0"/>
          <a:chExt cx="0" cy="0"/>
        </a:xfrm>
      </p:grpSpPr>
      <p:sp>
        <p:nvSpPr>
          <p:cNvPr id="517" name="Google Shape;517;g1e8a5d14dff_0_38: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8" name="Google Shape;518;g1e8a5d14dff_0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2"/>
        <p:cNvGrpSpPr/>
        <p:nvPr/>
      </p:nvGrpSpPr>
      <p:grpSpPr>
        <a:xfrm>
          <a:off x="0" y="0"/>
          <a:ext cx="0" cy="0"/>
          <a:chOff x="0" y="0"/>
          <a:chExt cx="0" cy="0"/>
        </a:xfrm>
      </p:grpSpPr>
      <p:sp>
        <p:nvSpPr>
          <p:cNvPr id="523" name="Google Shape;523;g1e8a5d14dff_0_45: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4" name="Google Shape;524;g1e8a5d14dff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p:cNvGrpSpPr/>
        <p:nvPr/>
      </p:nvGrpSpPr>
      <p:grpSpPr>
        <a:xfrm>
          <a:off x="0" y="0"/>
          <a:ext cx="0" cy="0"/>
          <a:chOff x="0" y="0"/>
          <a:chExt cx="0" cy="0"/>
        </a:xfrm>
      </p:grpSpPr>
      <p:sp>
        <p:nvSpPr>
          <p:cNvPr id="529" name="Google Shape;529;g1e8a5d14dff_0_51: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1e8a5d14dff_0_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4"/>
        <p:cNvGrpSpPr/>
        <p:nvPr/>
      </p:nvGrpSpPr>
      <p:grpSpPr>
        <a:xfrm>
          <a:off x="0" y="0"/>
          <a:ext cx="0" cy="0"/>
          <a:chOff x="0" y="0"/>
          <a:chExt cx="0" cy="0"/>
        </a:xfrm>
      </p:grpSpPr>
      <p:sp>
        <p:nvSpPr>
          <p:cNvPr id="535" name="Google Shape;535;g1e8a5d14dff_0_58: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6" name="Google Shape;536;g1e8a5d14dff_0_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0"/>
        <p:cNvGrpSpPr/>
        <p:nvPr/>
      </p:nvGrpSpPr>
      <p:grpSpPr>
        <a:xfrm>
          <a:off x="0" y="0"/>
          <a:ext cx="0" cy="0"/>
          <a:chOff x="0" y="0"/>
          <a:chExt cx="0" cy="0"/>
        </a:xfrm>
      </p:grpSpPr>
      <p:sp>
        <p:nvSpPr>
          <p:cNvPr id="541" name="Google Shape;541;g1e8a5d14dff_0_76: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2" name="Google Shape;542;g1e8a5d14dff_0_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7"/>
        <p:cNvGrpSpPr/>
        <p:nvPr/>
      </p:nvGrpSpPr>
      <p:grpSpPr>
        <a:xfrm>
          <a:off x="0" y="0"/>
          <a:ext cx="0" cy="0"/>
          <a:chOff x="0" y="0"/>
          <a:chExt cx="0" cy="0"/>
        </a:xfrm>
      </p:grpSpPr>
      <p:sp>
        <p:nvSpPr>
          <p:cNvPr id="548" name="Google Shape;548;p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49" name="Google Shape;549;p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3"/>
        <p:cNvGrpSpPr/>
        <p:nvPr/>
      </p:nvGrpSpPr>
      <p:grpSpPr>
        <a:xfrm>
          <a:off x="0" y="0"/>
          <a:ext cx="0" cy="0"/>
          <a:chOff x="0" y="0"/>
          <a:chExt cx="0" cy="0"/>
        </a:xfrm>
      </p:grpSpPr>
      <p:sp>
        <p:nvSpPr>
          <p:cNvPr id="554" name="Google Shape;554;g1fdf17ce282_0_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5" name="Google Shape;555;g1fdf17ce282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0"/>
        <p:cNvGrpSpPr/>
        <p:nvPr/>
      </p:nvGrpSpPr>
      <p:grpSpPr>
        <a:xfrm>
          <a:off x="0" y="0"/>
          <a:ext cx="0" cy="0"/>
          <a:chOff x="0" y="0"/>
          <a:chExt cx="0" cy="0"/>
        </a:xfrm>
      </p:grpSpPr>
      <p:sp>
        <p:nvSpPr>
          <p:cNvPr id="561" name="Google Shape;561;g1f331929e45_0_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2" name="Google Shape;562;g1f331929e4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7"/>
        <p:cNvGrpSpPr/>
        <p:nvPr/>
      </p:nvGrpSpPr>
      <p:grpSpPr>
        <a:xfrm>
          <a:off x="0" y="0"/>
          <a:ext cx="0" cy="0"/>
          <a:chOff x="0" y="0"/>
          <a:chExt cx="0" cy="0"/>
        </a:xfrm>
      </p:grpSpPr>
      <p:sp>
        <p:nvSpPr>
          <p:cNvPr id="568" name="Google Shape;568;g1fdf17ce282_0_19: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9" name="Google Shape;569;g1fdf17ce282_0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3"/>
        <p:cNvGrpSpPr/>
        <p:nvPr/>
      </p:nvGrpSpPr>
      <p:grpSpPr>
        <a:xfrm>
          <a:off x="0" y="0"/>
          <a:ext cx="0" cy="0"/>
          <a:chOff x="0" y="0"/>
          <a:chExt cx="0" cy="0"/>
        </a:xfrm>
      </p:grpSpPr>
      <p:sp>
        <p:nvSpPr>
          <p:cNvPr id="574" name="Google Shape;574;g1fdf17ce282_0_3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5" name="Google Shape;575;g1fdf17ce282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9"/>
        <p:cNvGrpSpPr/>
        <p:nvPr/>
      </p:nvGrpSpPr>
      <p:grpSpPr>
        <a:xfrm>
          <a:off x="0" y="0"/>
          <a:ext cx="0" cy="0"/>
          <a:chOff x="0" y="0"/>
          <a:chExt cx="0" cy="0"/>
        </a:xfrm>
      </p:grpSpPr>
      <p:sp>
        <p:nvSpPr>
          <p:cNvPr id="580" name="Google Shape;580;g1fdf17ce282_0_35: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1" name="Google Shape;581;g1fdf17ce282_0_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5"/>
        <p:cNvGrpSpPr/>
        <p:nvPr/>
      </p:nvGrpSpPr>
      <p:grpSpPr>
        <a:xfrm>
          <a:off x="0" y="0"/>
          <a:ext cx="0" cy="0"/>
          <a:chOff x="0" y="0"/>
          <a:chExt cx="0" cy="0"/>
        </a:xfrm>
      </p:grpSpPr>
      <p:sp>
        <p:nvSpPr>
          <p:cNvPr id="586" name="Google Shape;586;g1fdf17ce282_0_45: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7" name="Google Shape;587;g1fdf17ce282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1"/>
        <p:cNvGrpSpPr/>
        <p:nvPr/>
      </p:nvGrpSpPr>
      <p:grpSpPr>
        <a:xfrm>
          <a:off x="0" y="0"/>
          <a:ext cx="0" cy="0"/>
          <a:chOff x="0" y="0"/>
          <a:chExt cx="0" cy="0"/>
        </a:xfrm>
      </p:grpSpPr>
      <p:sp>
        <p:nvSpPr>
          <p:cNvPr id="592" name="Google Shape;592;g1fdf17ce282_0_67: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3" name="Google Shape;593;g1fdf17ce282_0_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7"/>
        <p:cNvGrpSpPr/>
        <p:nvPr/>
      </p:nvGrpSpPr>
      <p:grpSpPr>
        <a:xfrm>
          <a:off x="0" y="0"/>
          <a:ext cx="0" cy="0"/>
          <a:chOff x="0" y="0"/>
          <a:chExt cx="0" cy="0"/>
        </a:xfrm>
      </p:grpSpPr>
      <p:sp>
        <p:nvSpPr>
          <p:cNvPr id="598" name="Google Shape;598;g1fdf17ce282_0_58: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9" name="Google Shape;599;g1fdf17ce282_0_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3"/>
        <p:cNvGrpSpPr/>
        <p:nvPr/>
      </p:nvGrpSpPr>
      <p:grpSpPr>
        <a:xfrm>
          <a:off x="0" y="0"/>
          <a:ext cx="0" cy="0"/>
          <a:chOff x="0" y="0"/>
          <a:chExt cx="0" cy="0"/>
        </a:xfrm>
      </p:grpSpPr>
      <p:sp>
        <p:nvSpPr>
          <p:cNvPr id="604" name="Google Shape;604;g1f331929e45_0_6: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5" name="Google Shape;605;g1f331929e45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0"/>
        <p:cNvGrpSpPr/>
        <p:nvPr/>
      </p:nvGrpSpPr>
      <p:grpSpPr>
        <a:xfrm>
          <a:off x="0" y="0"/>
          <a:ext cx="0" cy="0"/>
          <a:chOff x="0" y="0"/>
          <a:chExt cx="0" cy="0"/>
        </a:xfrm>
      </p:grpSpPr>
      <p:sp>
        <p:nvSpPr>
          <p:cNvPr id="611" name="Google Shape;611;g1fdf17ce282_0_4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2" name="Google Shape;612;g1fdf17ce282_0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6"/>
        <p:cNvGrpSpPr/>
        <p:nvPr/>
      </p:nvGrpSpPr>
      <p:grpSpPr>
        <a:xfrm>
          <a:off x="0" y="0"/>
          <a:ext cx="0" cy="0"/>
          <a:chOff x="0" y="0"/>
          <a:chExt cx="0" cy="0"/>
        </a:xfrm>
      </p:grpSpPr>
      <p:sp>
        <p:nvSpPr>
          <p:cNvPr id="617" name="Google Shape;617;g1fdf17ce282_0_25: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8" name="Google Shape;618;g1fdf17ce282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2"/>
        <p:cNvGrpSpPr/>
        <p:nvPr/>
      </p:nvGrpSpPr>
      <p:grpSpPr>
        <a:xfrm>
          <a:off x="0" y="0"/>
          <a:ext cx="0" cy="0"/>
          <a:chOff x="0" y="0"/>
          <a:chExt cx="0" cy="0"/>
        </a:xfrm>
      </p:grpSpPr>
      <p:sp>
        <p:nvSpPr>
          <p:cNvPr id="623" name="Google Shape;623;g20fd7f885cd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4" name="Google Shape;624;g20fd7f885cd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8"/>
        <p:cNvGrpSpPr/>
        <p:nvPr/>
      </p:nvGrpSpPr>
      <p:grpSpPr>
        <a:xfrm>
          <a:off x="0" y="0"/>
          <a:ext cx="0" cy="0"/>
          <a:chOff x="0" y="0"/>
          <a:chExt cx="0" cy="0"/>
        </a:xfrm>
      </p:grpSpPr>
      <p:sp>
        <p:nvSpPr>
          <p:cNvPr id="629" name="Google Shape;629;g1f331929e45_0_14: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0" name="Google Shape;630;g1f331929e45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4"/>
        <p:cNvGrpSpPr/>
        <p:nvPr/>
      </p:nvGrpSpPr>
      <p:grpSpPr>
        <a:xfrm>
          <a:off x="0" y="0"/>
          <a:ext cx="0" cy="0"/>
          <a:chOff x="0" y="0"/>
          <a:chExt cx="0" cy="0"/>
        </a:xfrm>
      </p:grpSpPr>
      <p:sp>
        <p:nvSpPr>
          <p:cNvPr id="635" name="Google Shape;635;g20fd7f885cd_0_15: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6" name="Google Shape;636;g20fd7f885cd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0"/>
        <p:cNvGrpSpPr/>
        <p:nvPr/>
      </p:nvGrpSpPr>
      <p:grpSpPr>
        <a:xfrm>
          <a:off x="0" y="0"/>
          <a:ext cx="0" cy="0"/>
          <a:chOff x="0" y="0"/>
          <a:chExt cx="0" cy="0"/>
        </a:xfrm>
      </p:grpSpPr>
      <p:sp>
        <p:nvSpPr>
          <p:cNvPr id="641" name="Google Shape;641;g20fd7f885cd_0_21: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2" name="Google Shape;642;g20fd7f885cd_0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6"/>
        <p:cNvGrpSpPr/>
        <p:nvPr/>
      </p:nvGrpSpPr>
      <p:grpSpPr>
        <a:xfrm>
          <a:off x="0" y="0"/>
          <a:ext cx="0" cy="0"/>
          <a:chOff x="0" y="0"/>
          <a:chExt cx="0" cy="0"/>
        </a:xfrm>
      </p:grpSpPr>
      <p:sp>
        <p:nvSpPr>
          <p:cNvPr id="647" name="Google Shape;647;g20fd7f885cd_0_27: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8" name="Google Shape;648;g20fd7f885cd_0_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2"/>
        <p:cNvGrpSpPr/>
        <p:nvPr/>
      </p:nvGrpSpPr>
      <p:grpSpPr>
        <a:xfrm>
          <a:off x="0" y="0"/>
          <a:ext cx="0" cy="0"/>
          <a:chOff x="0" y="0"/>
          <a:chExt cx="0" cy="0"/>
        </a:xfrm>
      </p:grpSpPr>
      <p:sp>
        <p:nvSpPr>
          <p:cNvPr id="653" name="Google Shape;653;g20fd7f885cd_0_1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4" name="Google Shape;654;g20fd7f885cd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8"/>
        <p:cNvGrpSpPr/>
        <p:nvPr/>
      </p:nvGrpSpPr>
      <p:grpSpPr>
        <a:xfrm>
          <a:off x="0" y="0"/>
          <a:ext cx="0" cy="0"/>
          <a:chOff x="0" y="0"/>
          <a:chExt cx="0" cy="0"/>
        </a:xfrm>
      </p:grpSpPr>
      <p:sp>
        <p:nvSpPr>
          <p:cNvPr id="659" name="Google Shape;659;g20fd7f885cd_0_37: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0" name="Google Shape;660;g20fd7f885cd_0_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4"/>
        <p:cNvGrpSpPr/>
        <p:nvPr/>
      </p:nvGrpSpPr>
      <p:grpSpPr>
        <a:xfrm>
          <a:off x="0" y="0"/>
          <a:ext cx="0" cy="0"/>
          <a:chOff x="0" y="0"/>
          <a:chExt cx="0" cy="0"/>
        </a:xfrm>
      </p:grpSpPr>
      <p:sp>
        <p:nvSpPr>
          <p:cNvPr id="665" name="Google Shape;665;g20fd7f885cd_0_43: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6" name="Google Shape;666;g20fd7f885cd_0_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0"/>
        <p:cNvGrpSpPr/>
        <p:nvPr/>
      </p:nvGrpSpPr>
      <p:grpSpPr>
        <a:xfrm>
          <a:off x="0" y="0"/>
          <a:ext cx="0" cy="0"/>
          <a:chOff x="0" y="0"/>
          <a:chExt cx="0" cy="0"/>
        </a:xfrm>
      </p:grpSpPr>
      <p:sp>
        <p:nvSpPr>
          <p:cNvPr id="671" name="Google Shape;671;g1f331929e45_0_2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2" name="Google Shape;672;g1f331929e45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6"/>
        <p:cNvGrpSpPr/>
        <p:nvPr/>
      </p:nvGrpSpPr>
      <p:grpSpPr>
        <a:xfrm>
          <a:off x="0" y="0"/>
          <a:ext cx="0" cy="0"/>
          <a:chOff x="0" y="0"/>
          <a:chExt cx="0" cy="0"/>
        </a:xfrm>
      </p:grpSpPr>
      <p:sp>
        <p:nvSpPr>
          <p:cNvPr id="677" name="Google Shape;677;g21115aaa1d6_0_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8" name="Google Shape;678;g21115aaa1d6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2"/>
        <p:cNvGrpSpPr/>
        <p:nvPr/>
      </p:nvGrpSpPr>
      <p:grpSpPr>
        <a:xfrm>
          <a:off x="0" y="0"/>
          <a:ext cx="0" cy="0"/>
          <a:chOff x="0" y="0"/>
          <a:chExt cx="0" cy="0"/>
        </a:xfrm>
      </p:grpSpPr>
      <p:sp>
        <p:nvSpPr>
          <p:cNvPr id="683" name="Google Shape;683;g20fd7f885cd_0_5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4" name="Google Shape;684;g20fd7f885cd_0_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8"/>
        <p:cNvGrpSpPr/>
        <p:nvPr/>
      </p:nvGrpSpPr>
      <p:grpSpPr>
        <a:xfrm>
          <a:off x="0" y="0"/>
          <a:ext cx="0" cy="0"/>
          <a:chOff x="0" y="0"/>
          <a:chExt cx="0" cy="0"/>
        </a:xfrm>
      </p:grpSpPr>
      <p:sp>
        <p:nvSpPr>
          <p:cNvPr id="689" name="Google Shape;689;g20fd7f885cd_0_57: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0" name="Google Shape;690;g20fd7f885cd_0_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4"/>
        <p:cNvGrpSpPr/>
        <p:nvPr/>
      </p:nvGrpSpPr>
      <p:grpSpPr>
        <a:xfrm>
          <a:off x="0" y="0"/>
          <a:ext cx="0" cy="0"/>
          <a:chOff x="0" y="0"/>
          <a:chExt cx="0" cy="0"/>
        </a:xfrm>
      </p:grpSpPr>
      <p:sp>
        <p:nvSpPr>
          <p:cNvPr id="695" name="Google Shape;695;g1f331929e45_0_27: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6" name="Google Shape;696;g1f331929e45_0_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0"/>
        <p:cNvGrpSpPr/>
        <p:nvPr/>
      </p:nvGrpSpPr>
      <p:grpSpPr>
        <a:xfrm>
          <a:off x="0" y="0"/>
          <a:ext cx="0" cy="0"/>
          <a:chOff x="0" y="0"/>
          <a:chExt cx="0" cy="0"/>
        </a:xfrm>
      </p:grpSpPr>
      <p:sp>
        <p:nvSpPr>
          <p:cNvPr id="701" name="Google Shape;701;g1f331929e45_0_33: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2" name="Google Shape;702;g1f331929e45_0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6"/>
        <p:cNvGrpSpPr/>
        <p:nvPr/>
      </p:nvGrpSpPr>
      <p:grpSpPr>
        <a:xfrm>
          <a:off x="0" y="0"/>
          <a:ext cx="0" cy="0"/>
          <a:chOff x="0" y="0"/>
          <a:chExt cx="0" cy="0"/>
        </a:xfrm>
      </p:grpSpPr>
      <p:sp>
        <p:nvSpPr>
          <p:cNvPr id="707" name="Google Shape;707;g1f331929e45_0_4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8" name="Google Shape;708;g1f331929e45_0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2"/>
        <p:cNvGrpSpPr/>
        <p:nvPr/>
      </p:nvGrpSpPr>
      <p:grpSpPr>
        <a:xfrm>
          <a:off x="0" y="0"/>
          <a:ext cx="0" cy="0"/>
          <a:chOff x="0" y="0"/>
          <a:chExt cx="0" cy="0"/>
        </a:xfrm>
      </p:grpSpPr>
      <p:sp>
        <p:nvSpPr>
          <p:cNvPr id="713" name="Google Shape;713;g1f331929e45_0_46: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4" name="Google Shape;714;g1f331929e45_0_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8"/>
        <p:cNvGrpSpPr/>
        <p:nvPr/>
      </p:nvGrpSpPr>
      <p:grpSpPr>
        <a:xfrm>
          <a:off x="0" y="0"/>
          <a:ext cx="0" cy="0"/>
          <a:chOff x="0" y="0"/>
          <a:chExt cx="0" cy="0"/>
        </a:xfrm>
      </p:grpSpPr>
      <p:sp>
        <p:nvSpPr>
          <p:cNvPr id="719" name="Google Shape;719;g1f331929e45_0_51: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0" name="Google Shape;720;g1f331929e45_0_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4"/>
        <p:cNvGrpSpPr/>
        <p:nvPr/>
      </p:nvGrpSpPr>
      <p:grpSpPr>
        <a:xfrm>
          <a:off x="0" y="0"/>
          <a:ext cx="0" cy="0"/>
          <a:chOff x="0" y="0"/>
          <a:chExt cx="0" cy="0"/>
        </a:xfrm>
      </p:grpSpPr>
      <p:sp>
        <p:nvSpPr>
          <p:cNvPr id="725" name="Google Shape;725;g1f331929e45_0_63: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6" name="Google Shape;726;g1f331929e45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0"/>
        <p:cNvGrpSpPr/>
        <p:nvPr/>
      </p:nvGrpSpPr>
      <p:grpSpPr>
        <a:xfrm>
          <a:off x="0" y="0"/>
          <a:ext cx="0" cy="0"/>
          <a:chOff x="0" y="0"/>
          <a:chExt cx="0" cy="0"/>
        </a:xfrm>
      </p:grpSpPr>
      <p:sp>
        <p:nvSpPr>
          <p:cNvPr id="731" name="Google Shape;731;g1f331929e45_0_57: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2" name="Google Shape;732;g1f331929e45_0_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6"/>
        <p:cNvGrpSpPr/>
        <p:nvPr/>
      </p:nvGrpSpPr>
      <p:grpSpPr>
        <a:xfrm>
          <a:off x="0" y="0"/>
          <a:ext cx="0" cy="0"/>
          <a:chOff x="0" y="0"/>
          <a:chExt cx="0" cy="0"/>
        </a:xfrm>
      </p:grpSpPr>
      <p:sp>
        <p:nvSpPr>
          <p:cNvPr id="737" name="Google Shape;737;g1f331929e45_0_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8" name="Google Shape;738;g1f331929e45_0_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2"/>
        <p:cNvGrpSpPr/>
        <p:nvPr/>
      </p:nvGrpSpPr>
      <p:grpSpPr>
        <a:xfrm>
          <a:off x="0" y="0"/>
          <a:ext cx="0" cy="0"/>
          <a:chOff x="0" y="0"/>
          <a:chExt cx="0" cy="0"/>
        </a:xfrm>
      </p:grpSpPr>
      <p:sp>
        <p:nvSpPr>
          <p:cNvPr id="743" name="Google Shape;743;g1f331929e45_0_76: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4" name="Google Shape;744;g1f331929e45_0_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8"/>
        <p:cNvGrpSpPr/>
        <p:nvPr/>
      </p:nvGrpSpPr>
      <p:grpSpPr>
        <a:xfrm>
          <a:off x="0" y="0"/>
          <a:ext cx="0" cy="0"/>
          <a:chOff x="0" y="0"/>
          <a:chExt cx="0" cy="0"/>
        </a:xfrm>
      </p:grpSpPr>
      <p:sp>
        <p:nvSpPr>
          <p:cNvPr id="749" name="Google Shape;749;g1f331929e45_0_83: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0" name="Google Shape;750;g1f331929e45_0_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4"/>
        <p:cNvGrpSpPr/>
        <p:nvPr/>
      </p:nvGrpSpPr>
      <p:grpSpPr>
        <a:xfrm>
          <a:off x="0" y="0"/>
          <a:ext cx="0" cy="0"/>
          <a:chOff x="0" y="0"/>
          <a:chExt cx="0" cy="0"/>
        </a:xfrm>
      </p:grpSpPr>
      <p:sp>
        <p:nvSpPr>
          <p:cNvPr id="755" name="Google Shape;755;g21115aaa1d6_0_10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6" name="Google Shape;756;g21115aaa1d6_0_1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x">
  <p:cSld name="TITLE_AND_BODY">
    <p:spTree>
      <p:nvGrpSpPr>
        <p:cNvPr id="1" name="Shape 15"/>
        <p:cNvGrpSpPr/>
        <p:nvPr/>
      </p:nvGrpSpPr>
      <p:grpSpPr>
        <a:xfrm>
          <a:off x="0" y="0"/>
          <a:ext cx="0" cy="0"/>
          <a:chOff x="0" y="0"/>
          <a:chExt cx="0" cy="0"/>
        </a:xfrm>
      </p:grpSpPr>
      <p:sp>
        <p:nvSpPr>
          <p:cNvPr id="16" name="Google Shape;16;p47"/>
          <p:cNvSpPr txBox="1">
            <a:spLocks noGrp="1"/>
          </p:cNvSpPr>
          <p:nvPr>
            <p:ph type="title"/>
          </p:nvPr>
        </p:nvSpPr>
        <p:spPr>
          <a:xfrm>
            <a:off x="311760" y="410040"/>
            <a:ext cx="8520120" cy="60732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 name="Google Shape;17;p47"/>
          <p:cNvSpPr txBox="1">
            <a:spLocks noGrp="1"/>
          </p:cNvSpPr>
          <p:nvPr>
            <p:ph type="subTitle" idx="1"/>
          </p:nvPr>
        </p:nvSpPr>
        <p:spPr>
          <a:xfrm>
            <a:off x="311760" y="1229760"/>
            <a:ext cx="8520120" cy="333864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Slide" type="blank">
  <p:cSld name="BLANK">
    <p:spTree>
      <p:nvGrpSpPr>
        <p:cNvPr id="1" name="Shape 18"/>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Content" type="obj">
  <p:cSld name="OBJECT">
    <p:spTree>
      <p:nvGrpSpPr>
        <p:cNvPr id="1" name="Shape 19"/>
        <p:cNvGrpSpPr/>
        <p:nvPr/>
      </p:nvGrpSpPr>
      <p:grpSpPr>
        <a:xfrm>
          <a:off x="0" y="0"/>
          <a:ext cx="0" cy="0"/>
          <a:chOff x="0" y="0"/>
          <a:chExt cx="0" cy="0"/>
        </a:xfrm>
      </p:grpSpPr>
      <p:sp>
        <p:nvSpPr>
          <p:cNvPr id="20" name="Google Shape;20;p51"/>
          <p:cNvSpPr txBox="1">
            <a:spLocks noGrp="1"/>
          </p:cNvSpPr>
          <p:nvPr>
            <p:ph type="title"/>
          </p:nvPr>
        </p:nvSpPr>
        <p:spPr>
          <a:xfrm>
            <a:off x="311760" y="410040"/>
            <a:ext cx="8520120" cy="60732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51"/>
          <p:cNvSpPr txBox="1">
            <a:spLocks noGrp="1"/>
          </p:cNvSpPr>
          <p:nvPr>
            <p:ph type="body" idx="1"/>
          </p:nvPr>
        </p:nvSpPr>
        <p:spPr>
          <a:xfrm>
            <a:off x="311760" y="1229760"/>
            <a:ext cx="8520120" cy="33386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2 Content" type="twoObj">
  <p:cSld name="TWO_OBJECTS">
    <p:spTree>
      <p:nvGrpSpPr>
        <p:cNvPr id="1" name="Shape 22"/>
        <p:cNvGrpSpPr/>
        <p:nvPr/>
      </p:nvGrpSpPr>
      <p:grpSpPr>
        <a:xfrm>
          <a:off x="0" y="0"/>
          <a:ext cx="0" cy="0"/>
          <a:chOff x="0" y="0"/>
          <a:chExt cx="0" cy="0"/>
        </a:xfrm>
      </p:grpSpPr>
      <p:sp>
        <p:nvSpPr>
          <p:cNvPr id="23" name="Google Shape;23;p52"/>
          <p:cNvSpPr txBox="1">
            <a:spLocks noGrp="1"/>
          </p:cNvSpPr>
          <p:nvPr>
            <p:ph type="title"/>
          </p:nvPr>
        </p:nvSpPr>
        <p:spPr>
          <a:xfrm>
            <a:off x="311760" y="410040"/>
            <a:ext cx="8520120" cy="60732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 name="Google Shape;24;p52"/>
          <p:cNvSpPr txBox="1">
            <a:spLocks noGrp="1"/>
          </p:cNvSpPr>
          <p:nvPr>
            <p:ph type="body" idx="1"/>
          </p:nvPr>
        </p:nvSpPr>
        <p:spPr>
          <a:xfrm>
            <a:off x="311760" y="1229760"/>
            <a:ext cx="4157640" cy="33386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25" name="Google Shape;25;p52"/>
          <p:cNvSpPr txBox="1">
            <a:spLocks noGrp="1"/>
          </p:cNvSpPr>
          <p:nvPr>
            <p:ph type="body" idx="2"/>
          </p:nvPr>
        </p:nvSpPr>
        <p:spPr>
          <a:xfrm>
            <a:off x="4677840" y="1229760"/>
            <a:ext cx="4157640" cy="33386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6"/>
        <p:cNvGrpSpPr/>
        <p:nvPr/>
      </p:nvGrpSpPr>
      <p:grpSpPr>
        <a:xfrm>
          <a:off x="0" y="0"/>
          <a:ext cx="0" cy="0"/>
          <a:chOff x="0" y="0"/>
          <a:chExt cx="0" cy="0"/>
        </a:xfrm>
      </p:grpSpPr>
      <p:sp>
        <p:nvSpPr>
          <p:cNvPr id="27" name="Google Shape;27;p53"/>
          <p:cNvSpPr txBox="1">
            <a:spLocks noGrp="1"/>
          </p:cNvSpPr>
          <p:nvPr>
            <p:ph type="title"/>
          </p:nvPr>
        </p:nvSpPr>
        <p:spPr>
          <a:xfrm>
            <a:off x="311760" y="410040"/>
            <a:ext cx="8520120" cy="60732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entered Text" type="objOnly">
  <p:cSld name="OBJECT_ONLY">
    <p:spTree>
      <p:nvGrpSpPr>
        <p:cNvPr id="1" name="Shape 28"/>
        <p:cNvGrpSpPr/>
        <p:nvPr/>
      </p:nvGrpSpPr>
      <p:grpSpPr>
        <a:xfrm>
          <a:off x="0" y="0"/>
          <a:ext cx="0" cy="0"/>
          <a:chOff x="0" y="0"/>
          <a:chExt cx="0" cy="0"/>
        </a:xfrm>
      </p:grpSpPr>
      <p:sp>
        <p:nvSpPr>
          <p:cNvPr id="29" name="Google Shape;29;p54"/>
          <p:cNvSpPr txBox="1">
            <a:spLocks noGrp="1"/>
          </p:cNvSpPr>
          <p:nvPr>
            <p:ph type="subTitle" idx="1"/>
          </p:nvPr>
        </p:nvSpPr>
        <p:spPr>
          <a:xfrm>
            <a:off x="311760" y="410040"/>
            <a:ext cx="8520120" cy="281664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2 Content and Content" type="twoObjAndObj">
  <p:cSld name="TWO_OBJECTS_AND_OBJECT">
    <p:spTree>
      <p:nvGrpSpPr>
        <p:cNvPr id="1" name="Shape 30"/>
        <p:cNvGrpSpPr/>
        <p:nvPr/>
      </p:nvGrpSpPr>
      <p:grpSpPr>
        <a:xfrm>
          <a:off x="0" y="0"/>
          <a:ext cx="0" cy="0"/>
          <a:chOff x="0" y="0"/>
          <a:chExt cx="0" cy="0"/>
        </a:xfrm>
      </p:grpSpPr>
      <p:sp>
        <p:nvSpPr>
          <p:cNvPr id="31" name="Google Shape;31;p55"/>
          <p:cNvSpPr txBox="1">
            <a:spLocks noGrp="1"/>
          </p:cNvSpPr>
          <p:nvPr>
            <p:ph type="title"/>
          </p:nvPr>
        </p:nvSpPr>
        <p:spPr>
          <a:xfrm>
            <a:off x="311760" y="410040"/>
            <a:ext cx="8520120" cy="60732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5"/>
          <p:cNvSpPr txBox="1">
            <a:spLocks noGrp="1"/>
          </p:cNvSpPr>
          <p:nvPr>
            <p:ph type="body" idx="1"/>
          </p:nvPr>
        </p:nvSpPr>
        <p:spPr>
          <a:xfrm>
            <a:off x="311760" y="1229760"/>
            <a:ext cx="4157640" cy="159228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3" name="Google Shape;33;p55"/>
          <p:cNvSpPr txBox="1">
            <a:spLocks noGrp="1"/>
          </p:cNvSpPr>
          <p:nvPr>
            <p:ph type="body" idx="2"/>
          </p:nvPr>
        </p:nvSpPr>
        <p:spPr>
          <a:xfrm>
            <a:off x="4677840" y="1229760"/>
            <a:ext cx="4157640" cy="33386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4" name="Google Shape;34;p55"/>
          <p:cNvSpPr txBox="1">
            <a:spLocks noGrp="1"/>
          </p:cNvSpPr>
          <p:nvPr>
            <p:ph type="body" idx="3"/>
          </p:nvPr>
        </p:nvSpPr>
        <p:spPr>
          <a:xfrm>
            <a:off x="311760" y="2973600"/>
            <a:ext cx="4157640" cy="159228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Content and 2 Content" type="objAndTwoObj">
  <p:cSld name="OBJECT_AND_TWO_OBJECTS">
    <p:spTree>
      <p:nvGrpSpPr>
        <p:cNvPr id="1" name="Shape 35"/>
        <p:cNvGrpSpPr/>
        <p:nvPr/>
      </p:nvGrpSpPr>
      <p:grpSpPr>
        <a:xfrm>
          <a:off x="0" y="0"/>
          <a:ext cx="0" cy="0"/>
          <a:chOff x="0" y="0"/>
          <a:chExt cx="0" cy="0"/>
        </a:xfrm>
      </p:grpSpPr>
      <p:sp>
        <p:nvSpPr>
          <p:cNvPr id="36" name="Google Shape;36;p56"/>
          <p:cNvSpPr txBox="1">
            <a:spLocks noGrp="1"/>
          </p:cNvSpPr>
          <p:nvPr>
            <p:ph type="title"/>
          </p:nvPr>
        </p:nvSpPr>
        <p:spPr>
          <a:xfrm>
            <a:off x="311760" y="410040"/>
            <a:ext cx="8520120" cy="60732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56"/>
          <p:cNvSpPr txBox="1">
            <a:spLocks noGrp="1"/>
          </p:cNvSpPr>
          <p:nvPr>
            <p:ph type="body" idx="1"/>
          </p:nvPr>
        </p:nvSpPr>
        <p:spPr>
          <a:xfrm>
            <a:off x="311760" y="1229760"/>
            <a:ext cx="4157640" cy="33386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8" name="Google Shape;38;p56"/>
          <p:cNvSpPr txBox="1">
            <a:spLocks noGrp="1"/>
          </p:cNvSpPr>
          <p:nvPr>
            <p:ph type="body" idx="2"/>
          </p:nvPr>
        </p:nvSpPr>
        <p:spPr>
          <a:xfrm>
            <a:off x="4677840" y="1229760"/>
            <a:ext cx="4157640" cy="159228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9" name="Google Shape;39;p56"/>
          <p:cNvSpPr txBox="1">
            <a:spLocks noGrp="1"/>
          </p:cNvSpPr>
          <p:nvPr>
            <p:ph type="body" idx="3"/>
          </p:nvPr>
        </p:nvSpPr>
        <p:spPr>
          <a:xfrm>
            <a:off x="4677840" y="2973600"/>
            <a:ext cx="4157640" cy="159228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2 Content over Content" type="twoObjOverTx">
  <p:cSld name="TWO_OBJECTS_OVER_TEXT">
    <p:spTree>
      <p:nvGrpSpPr>
        <p:cNvPr id="1" name="Shape 40"/>
        <p:cNvGrpSpPr/>
        <p:nvPr/>
      </p:nvGrpSpPr>
      <p:grpSpPr>
        <a:xfrm>
          <a:off x="0" y="0"/>
          <a:ext cx="0" cy="0"/>
          <a:chOff x="0" y="0"/>
          <a:chExt cx="0" cy="0"/>
        </a:xfrm>
      </p:grpSpPr>
      <p:sp>
        <p:nvSpPr>
          <p:cNvPr id="41" name="Google Shape;41;p57"/>
          <p:cNvSpPr txBox="1">
            <a:spLocks noGrp="1"/>
          </p:cNvSpPr>
          <p:nvPr>
            <p:ph type="title"/>
          </p:nvPr>
        </p:nvSpPr>
        <p:spPr>
          <a:xfrm>
            <a:off x="311760" y="410040"/>
            <a:ext cx="8520120" cy="60732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57"/>
          <p:cNvSpPr txBox="1">
            <a:spLocks noGrp="1"/>
          </p:cNvSpPr>
          <p:nvPr>
            <p:ph type="body" idx="1"/>
          </p:nvPr>
        </p:nvSpPr>
        <p:spPr>
          <a:xfrm>
            <a:off x="311760" y="1229760"/>
            <a:ext cx="4157640" cy="159228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43" name="Google Shape;43;p57"/>
          <p:cNvSpPr txBox="1">
            <a:spLocks noGrp="1"/>
          </p:cNvSpPr>
          <p:nvPr>
            <p:ph type="body" idx="2"/>
          </p:nvPr>
        </p:nvSpPr>
        <p:spPr>
          <a:xfrm>
            <a:off x="4677840" y="1229760"/>
            <a:ext cx="4157640" cy="159228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44" name="Google Shape;44;p57"/>
          <p:cNvSpPr txBox="1">
            <a:spLocks noGrp="1"/>
          </p:cNvSpPr>
          <p:nvPr>
            <p:ph type="body" idx="3"/>
          </p:nvPr>
        </p:nvSpPr>
        <p:spPr>
          <a:xfrm>
            <a:off x="311760" y="2973600"/>
            <a:ext cx="8520120" cy="159228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Content over Content" type="objOverTx">
  <p:cSld name="OBJECT_OVER_TEXT">
    <p:spTree>
      <p:nvGrpSpPr>
        <p:cNvPr id="1" name="Shape 45"/>
        <p:cNvGrpSpPr/>
        <p:nvPr/>
      </p:nvGrpSpPr>
      <p:grpSpPr>
        <a:xfrm>
          <a:off x="0" y="0"/>
          <a:ext cx="0" cy="0"/>
          <a:chOff x="0" y="0"/>
          <a:chExt cx="0" cy="0"/>
        </a:xfrm>
      </p:grpSpPr>
      <p:sp>
        <p:nvSpPr>
          <p:cNvPr id="46" name="Google Shape;46;p58"/>
          <p:cNvSpPr txBox="1">
            <a:spLocks noGrp="1"/>
          </p:cNvSpPr>
          <p:nvPr>
            <p:ph type="title"/>
          </p:nvPr>
        </p:nvSpPr>
        <p:spPr>
          <a:xfrm>
            <a:off x="311760" y="410040"/>
            <a:ext cx="8520120" cy="60732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58"/>
          <p:cNvSpPr txBox="1">
            <a:spLocks noGrp="1"/>
          </p:cNvSpPr>
          <p:nvPr>
            <p:ph type="body" idx="1"/>
          </p:nvPr>
        </p:nvSpPr>
        <p:spPr>
          <a:xfrm>
            <a:off x="311760" y="1229760"/>
            <a:ext cx="8520120" cy="159228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48" name="Google Shape;48;p58"/>
          <p:cNvSpPr txBox="1">
            <a:spLocks noGrp="1"/>
          </p:cNvSpPr>
          <p:nvPr>
            <p:ph type="body" idx="2"/>
          </p:nvPr>
        </p:nvSpPr>
        <p:spPr>
          <a:xfrm>
            <a:off x="311760" y="2973600"/>
            <a:ext cx="8520120" cy="159228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4 Content" type="fourObj">
  <p:cSld name="FOUR_OBJECTS">
    <p:spTree>
      <p:nvGrpSpPr>
        <p:cNvPr id="1" name="Shape 49"/>
        <p:cNvGrpSpPr/>
        <p:nvPr/>
      </p:nvGrpSpPr>
      <p:grpSpPr>
        <a:xfrm>
          <a:off x="0" y="0"/>
          <a:ext cx="0" cy="0"/>
          <a:chOff x="0" y="0"/>
          <a:chExt cx="0" cy="0"/>
        </a:xfrm>
      </p:grpSpPr>
      <p:sp>
        <p:nvSpPr>
          <p:cNvPr id="50" name="Google Shape;50;p59"/>
          <p:cNvSpPr txBox="1">
            <a:spLocks noGrp="1"/>
          </p:cNvSpPr>
          <p:nvPr>
            <p:ph type="title"/>
          </p:nvPr>
        </p:nvSpPr>
        <p:spPr>
          <a:xfrm>
            <a:off x="311760" y="410040"/>
            <a:ext cx="8520120" cy="60732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 name="Google Shape;51;p59"/>
          <p:cNvSpPr txBox="1">
            <a:spLocks noGrp="1"/>
          </p:cNvSpPr>
          <p:nvPr>
            <p:ph type="body" idx="1"/>
          </p:nvPr>
        </p:nvSpPr>
        <p:spPr>
          <a:xfrm>
            <a:off x="311760" y="1229760"/>
            <a:ext cx="4157640" cy="159228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52" name="Google Shape;52;p59"/>
          <p:cNvSpPr txBox="1">
            <a:spLocks noGrp="1"/>
          </p:cNvSpPr>
          <p:nvPr>
            <p:ph type="body" idx="2"/>
          </p:nvPr>
        </p:nvSpPr>
        <p:spPr>
          <a:xfrm>
            <a:off x="4677840" y="1229760"/>
            <a:ext cx="4157640" cy="159228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53" name="Google Shape;53;p59"/>
          <p:cNvSpPr txBox="1">
            <a:spLocks noGrp="1"/>
          </p:cNvSpPr>
          <p:nvPr>
            <p:ph type="body" idx="3"/>
          </p:nvPr>
        </p:nvSpPr>
        <p:spPr>
          <a:xfrm>
            <a:off x="311760" y="2973600"/>
            <a:ext cx="4157640" cy="159228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54" name="Google Shape;54;p59"/>
          <p:cNvSpPr txBox="1">
            <a:spLocks noGrp="1"/>
          </p:cNvSpPr>
          <p:nvPr>
            <p:ph type="body" idx="4"/>
          </p:nvPr>
        </p:nvSpPr>
        <p:spPr>
          <a:xfrm>
            <a:off x="4677840" y="2973600"/>
            <a:ext cx="4157640" cy="159228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6 Content">
  <p:cSld name="Title, 6 Content">
    <p:spTree>
      <p:nvGrpSpPr>
        <p:cNvPr id="1" name="Shape 55"/>
        <p:cNvGrpSpPr/>
        <p:nvPr/>
      </p:nvGrpSpPr>
      <p:grpSpPr>
        <a:xfrm>
          <a:off x="0" y="0"/>
          <a:ext cx="0" cy="0"/>
          <a:chOff x="0" y="0"/>
          <a:chExt cx="0" cy="0"/>
        </a:xfrm>
      </p:grpSpPr>
      <p:sp>
        <p:nvSpPr>
          <p:cNvPr id="56" name="Google Shape;56;p60"/>
          <p:cNvSpPr txBox="1">
            <a:spLocks noGrp="1"/>
          </p:cNvSpPr>
          <p:nvPr>
            <p:ph type="title"/>
          </p:nvPr>
        </p:nvSpPr>
        <p:spPr>
          <a:xfrm>
            <a:off x="311760" y="410040"/>
            <a:ext cx="8520120" cy="60732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60"/>
          <p:cNvSpPr txBox="1">
            <a:spLocks noGrp="1"/>
          </p:cNvSpPr>
          <p:nvPr>
            <p:ph type="body" idx="1"/>
          </p:nvPr>
        </p:nvSpPr>
        <p:spPr>
          <a:xfrm>
            <a:off x="311760" y="1229760"/>
            <a:ext cx="2743200" cy="159228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58" name="Google Shape;58;p60"/>
          <p:cNvSpPr txBox="1">
            <a:spLocks noGrp="1"/>
          </p:cNvSpPr>
          <p:nvPr>
            <p:ph type="body" idx="2"/>
          </p:nvPr>
        </p:nvSpPr>
        <p:spPr>
          <a:xfrm>
            <a:off x="3192480" y="1229760"/>
            <a:ext cx="2743200" cy="159228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59" name="Google Shape;59;p60"/>
          <p:cNvSpPr txBox="1">
            <a:spLocks noGrp="1"/>
          </p:cNvSpPr>
          <p:nvPr>
            <p:ph type="body" idx="3"/>
          </p:nvPr>
        </p:nvSpPr>
        <p:spPr>
          <a:xfrm>
            <a:off x="6073200" y="1229760"/>
            <a:ext cx="2743200" cy="159228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60" name="Google Shape;60;p60"/>
          <p:cNvSpPr txBox="1">
            <a:spLocks noGrp="1"/>
          </p:cNvSpPr>
          <p:nvPr>
            <p:ph type="body" idx="4"/>
          </p:nvPr>
        </p:nvSpPr>
        <p:spPr>
          <a:xfrm>
            <a:off x="311760" y="2973600"/>
            <a:ext cx="2743200" cy="159228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61" name="Google Shape;61;p60"/>
          <p:cNvSpPr txBox="1">
            <a:spLocks noGrp="1"/>
          </p:cNvSpPr>
          <p:nvPr>
            <p:ph type="body" idx="5"/>
          </p:nvPr>
        </p:nvSpPr>
        <p:spPr>
          <a:xfrm>
            <a:off x="3192480" y="2973600"/>
            <a:ext cx="2743200" cy="159228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62" name="Google Shape;62;p60"/>
          <p:cNvSpPr txBox="1">
            <a:spLocks noGrp="1"/>
          </p:cNvSpPr>
          <p:nvPr>
            <p:ph type="body" idx="6"/>
          </p:nvPr>
        </p:nvSpPr>
        <p:spPr>
          <a:xfrm>
            <a:off x="6073200" y="2973600"/>
            <a:ext cx="2743200" cy="159228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Content" type="obj">
  <p:cSld name="OBJECT">
    <p:spTree>
      <p:nvGrpSpPr>
        <p:cNvPr id="1" name="Shape 73"/>
        <p:cNvGrpSpPr/>
        <p:nvPr/>
      </p:nvGrpSpPr>
      <p:grpSpPr>
        <a:xfrm>
          <a:off x="0" y="0"/>
          <a:ext cx="0" cy="0"/>
          <a:chOff x="0" y="0"/>
          <a:chExt cx="0" cy="0"/>
        </a:xfrm>
      </p:grpSpPr>
      <p:sp>
        <p:nvSpPr>
          <p:cNvPr id="74" name="Google Shape;74;p49"/>
          <p:cNvSpPr txBox="1">
            <a:spLocks noGrp="1"/>
          </p:cNvSpPr>
          <p:nvPr>
            <p:ph type="title"/>
          </p:nvPr>
        </p:nvSpPr>
        <p:spPr>
          <a:xfrm>
            <a:off x="311760" y="410040"/>
            <a:ext cx="8520120" cy="60732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5" name="Google Shape;75;p49"/>
          <p:cNvSpPr txBox="1">
            <a:spLocks noGrp="1"/>
          </p:cNvSpPr>
          <p:nvPr>
            <p:ph type="body" idx="1"/>
          </p:nvPr>
        </p:nvSpPr>
        <p:spPr>
          <a:xfrm>
            <a:off x="311760" y="1229760"/>
            <a:ext cx="8520120" cy="33386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Blank Slide" type="blank">
  <p:cSld name="BLANK">
    <p:spTree>
      <p:nvGrpSpPr>
        <p:cNvPr id="1" name="Shape 76"/>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Slide" type="tx">
  <p:cSld name="TITLE_AND_BODY">
    <p:spTree>
      <p:nvGrpSpPr>
        <p:cNvPr id="1" name="Shape 77"/>
        <p:cNvGrpSpPr/>
        <p:nvPr/>
      </p:nvGrpSpPr>
      <p:grpSpPr>
        <a:xfrm>
          <a:off x="0" y="0"/>
          <a:ext cx="0" cy="0"/>
          <a:chOff x="0" y="0"/>
          <a:chExt cx="0" cy="0"/>
        </a:xfrm>
      </p:grpSpPr>
      <p:sp>
        <p:nvSpPr>
          <p:cNvPr id="78" name="Google Shape;78;p62"/>
          <p:cNvSpPr txBox="1">
            <a:spLocks noGrp="1"/>
          </p:cNvSpPr>
          <p:nvPr>
            <p:ph type="title"/>
          </p:nvPr>
        </p:nvSpPr>
        <p:spPr>
          <a:xfrm>
            <a:off x="311760" y="410040"/>
            <a:ext cx="8520120" cy="60732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62"/>
          <p:cNvSpPr txBox="1">
            <a:spLocks noGrp="1"/>
          </p:cNvSpPr>
          <p:nvPr>
            <p:ph type="subTitle" idx="1"/>
          </p:nvPr>
        </p:nvSpPr>
        <p:spPr>
          <a:xfrm>
            <a:off x="311760" y="1229760"/>
            <a:ext cx="8520120" cy="333864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2 Content" type="twoObj">
  <p:cSld name="TWO_OBJECTS">
    <p:spTree>
      <p:nvGrpSpPr>
        <p:cNvPr id="1" name="Shape 80"/>
        <p:cNvGrpSpPr/>
        <p:nvPr/>
      </p:nvGrpSpPr>
      <p:grpSpPr>
        <a:xfrm>
          <a:off x="0" y="0"/>
          <a:ext cx="0" cy="0"/>
          <a:chOff x="0" y="0"/>
          <a:chExt cx="0" cy="0"/>
        </a:xfrm>
      </p:grpSpPr>
      <p:sp>
        <p:nvSpPr>
          <p:cNvPr id="81" name="Google Shape;81;p63"/>
          <p:cNvSpPr txBox="1">
            <a:spLocks noGrp="1"/>
          </p:cNvSpPr>
          <p:nvPr>
            <p:ph type="title"/>
          </p:nvPr>
        </p:nvSpPr>
        <p:spPr>
          <a:xfrm>
            <a:off x="311760" y="410040"/>
            <a:ext cx="8520120" cy="60732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63"/>
          <p:cNvSpPr txBox="1">
            <a:spLocks noGrp="1"/>
          </p:cNvSpPr>
          <p:nvPr>
            <p:ph type="body" idx="1"/>
          </p:nvPr>
        </p:nvSpPr>
        <p:spPr>
          <a:xfrm>
            <a:off x="311760" y="1229760"/>
            <a:ext cx="4157640" cy="33386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83" name="Google Shape;83;p63"/>
          <p:cNvSpPr txBox="1">
            <a:spLocks noGrp="1"/>
          </p:cNvSpPr>
          <p:nvPr>
            <p:ph type="body" idx="2"/>
          </p:nvPr>
        </p:nvSpPr>
        <p:spPr>
          <a:xfrm>
            <a:off x="4677840" y="1229760"/>
            <a:ext cx="4157640" cy="33386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84"/>
        <p:cNvGrpSpPr/>
        <p:nvPr/>
      </p:nvGrpSpPr>
      <p:grpSpPr>
        <a:xfrm>
          <a:off x="0" y="0"/>
          <a:ext cx="0" cy="0"/>
          <a:chOff x="0" y="0"/>
          <a:chExt cx="0" cy="0"/>
        </a:xfrm>
      </p:grpSpPr>
      <p:sp>
        <p:nvSpPr>
          <p:cNvPr id="85" name="Google Shape;85;p64"/>
          <p:cNvSpPr txBox="1">
            <a:spLocks noGrp="1"/>
          </p:cNvSpPr>
          <p:nvPr>
            <p:ph type="title"/>
          </p:nvPr>
        </p:nvSpPr>
        <p:spPr>
          <a:xfrm>
            <a:off x="311760" y="410040"/>
            <a:ext cx="8520120" cy="60732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Centered Text" type="objOnly">
  <p:cSld name="OBJECT_ONLY">
    <p:spTree>
      <p:nvGrpSpPr>
        <p:cNvPr id="1" name="Shape 86"/>
        <p:cNvGrpSpPr/>
        <p:nvPr/>
      </p:nvGrpSpPr>
      <p:grpSpPr>
        <a:xfrm>
          <a:off x="0" y="0"/>
          <a:ext cx="0" cy="0"/>
          <a:chOff x="0" y="0"/>
          <a:chExt cx="0" cy="0"/>
        </a:xfrm>
      </p:grpSpPr>
      <p:sp>
        <p:nvSpPr>
          <p:cNvPr id="87" name="Google Shape;87;p65"/>
          <p:cNvSpPr txBox="1">
            <a:spLocks noGrp="1"/>
          </p:cNvSpPr>
          <p:nvPr>
            <p:ph type="subTitle" idx="1"/>
          </p:nvPr>
        </p:nvSpPr>
        <p:spPr>
          <a:xfrm>
            <a:off x="311760" y="410040"/>
            <a:ext cx="8520120" cy="281664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2 Content and Content" type="twoObjAndObj">
  <p:cSld name="TWO_OBJECTS_AND_OBJECT">
    <p:spTree>
      <p:nvGrpSpPr>
        <p:cNvPr id="1" name="Shape 88"/>
        <p:cNvGrpSpPr/>
        <p:nvPr/>
      </p:nvGrpSpPr>
      <p:grpSpPr>
        <a:xfrm>
          <a:off x="0" y="0"/>
          <a:ext cx="0" cy="0"/>
          <a:chOff x="0" y="0"/>
          <a:chExt cx="0" cy="0"/>
        </a:xfrm>
      </p:grpSpPr>
      <p:sp>
        <p:nvSpPr>
          <p:cNvPr id="89" name="Google Shape;89;p66"/>
          <p:cNvSpPr txBox="1">
            <a:spLocks noGrp="1"/>
          </p:cNvSpPr>
          <p:nvPr>
            <p:ph type="title"/>
          </p:nvPr>
        </p:nvSpPr>
        <p:spPr>
          <a:xfrm>
            <a:off x="311760" y="410040"/>
            <a:ext cx="8520120" cy="60732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0" name="Google Shape;90;p66"/>
          <p:cNvSpPr txBox="1">
            <a:spLocks noGrp="1"/>
          </p:cNvSpPr>
          <p:nvPr>
            <p:ph type="body" idx="1"/>
          </p:nvPr>
        </p:nvSpPr>
        <p:spPr>
          <a:xfrm>
            <a:off x="311760" y="1229760"/>
            <a:ext cx="4157640" cy="159228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91" name="Google Shape;91;p66"/>
          <p:cNvSpPr txBox="1">
            <a:spLocks noGrp="1"/>
          </p:cNvSpPr>
          <p:nvPr>
            <p:ph type="body" idx="2"/>
          </p:nvPr>
        </p:nvSpPr>
        <p:spPr>
          <a:xfrm>
            <a:off x="4677840" y="1229760"/>
            <a:ext cx="4157640" cy="33386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92" name="Google Shape;92;p66"/>
          <p:cNvSpPr txBox="1">
            <a:spLocks noGrp="1"/>
          </p:cNvSpPr>
          <p:nvPr>
            <p:ph type="body" idx="3"/>
          </p:nvPr>
        </p:nvSpPr>
        <p:spPr>
          <a:xfrm>
            <a:off x="311760" y="2973600"/>
            <a:ext cx="4157640" cy="159228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Content and 2 Content" type="objAndTwoObj">
  <p:cSld name="OBJECT_AND_TWO_OBJECTS">
    <p:spTree>
      <p:nvGrpSpPr>
        <p:cNvPr id="1" name="Shape 93"/>
        <p:cNvGrpSpPr/>
        <p:nvPr/>
      </p:nvGrpSpPr>
      <p:grpSpPr>
        <a:xfrm>
          <a:off x="0" y="0"/>
          <a:ext cx="0" cy="0"/>
          <a:chOff x="0" y="0"/>
          <a:chExt cx="0" cy="0"/>
        </a:xfrm>
      </p:grpSpPr>
      <p:sp>
        <p:nvSpPr>
          <p:cNvPr id="94" name="Google Shape;94;p67"/>
          <p:cNvSpPr txBox="1">
            <a:spLocks noGrp="1"/>
          </p:cNvSpPr>
          <p:nvPr>
            <p:ph type="title"/>
          </p:nvPr>
        </p:nvSpPr>
        <p:spPr>
          <a:xfrm>
            <a:off x="311760" y="410040"/>
            <a:ext cx="8520120" cy="60732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5" name="Google Shape;95;p67"/>
          <p:cNvSpPr txBox="1">
            <a:spLocks noGrp="1"/>
          </p:cNvSpPr>
          <p:nvPr>
            <p:ph type="body" idx="1"/>
          </p:nvPr>
        </p:nvSpPr>
        <p:spPr>
          <a:xfrm>
            <a:off x="311760" y="1229760"/>
            <a:ext cx="4157640" cy="33386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96" name="Google Shape;96;p67"/>
          <p:cNvSpPr txBox="1">
            <a:spLocks noGrp="1"/>
          </p:cNvSpPr>
          <p:nvPr>
            <p:ph type="body" idx="2"/>
          </p:nvPr>
        </p:nvSpPr>
        <p:spPr>
          <a:xfrm>
            <a:off x="4677840" y="1229760"/>
            <a:ext cx="4157640" cy="159228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97" name="Google Shape;97;p67"/>
          <p:cNvSpPr txBox="1">
            <a:spLocks noGrp="1"/>
          </p:cNvSpPr>
          <p:nvPr>
            <p:ph type="body" idx="3"/>
          </p:nvPr>
        </p:nvSpPr>
        <p:spPr>
          <a:xfrm>
            <a:off x="4677840" y="2973600"/>
            <a:ext cx="4157640" cy="159228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2 Content over Content" type="twoObjOverTx">
  <p:cSld name="TWO_OBJECTS_OVER_TEXT">
    <p:spTree>
      <p:nvGrpSpPr>
        <p:cNvPr id="1" name="Shape 98"/>
        <p:cNvGrpSpPr/>
        <p:nvPr/>
      </p:nvGrpSpPr>
      <p:grpSpPr>
        <a:xfrm>
          <a:off x="0" y="0"/>
          <a:ext cx="0" cy="0"/>
          <a:chOff x="0" y="0"/>
          <a:chExt cx="0" cy="0"/>
        </a:xfrm>
      </p:grpSpPr>
      <p:sp>
        <p:nvSpPr>
          <p:cNvPr id="99" name="Google Shape;99;p68"/>
          <p:cNvSpPr txBox="1">
            <a:spLocks noGrp="1"/>
          </p:cNvSpPr>
          <p:nvPr>
            <p:ph type="title"/>
          </p:nvPr>
        </p:nvSpPr>
        <p:spPr>
          <a:xfrm>
            <a:off x="311760" y="410040"/>
            <a:ext cx="8520120" cy="60732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0" name="Google Shape;100;p68"/>
          <p:cNvSpPr txBox="1">
            <a:spLocks noGrp="1"/>
          </p:cNvSpPr>
          <p:nvPr>
            <p:ph type="body" idx="1"/>
          </p:nvPr>
        </p:nvSpPr>
        <p:spPr>
          <a:xfrm>
            <a:off x="311760" y="1229760"/>
            <a:ext cx="4157640" cy="159228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01" name="Google Shape;101;p68"/>
          <p:cNvSpPr txBox="1">
            <a:spLocks noGrp="1"/>
          </p:cNvSpPr>
          <p:nvPr>
            <p:ph type="body" idx="2"/>
          </p:nvPr>
        </p:nvSpPr>
        <p:spPr>
          <a:xfrm>
            <a:off x="4677840" y="1229760"/>
            <a:ext cx="4157640" cy="159228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02" name="Google Shape;102;p68"/>
          <p:cNvSpPr txBox="1">
            <a:spLocks noGrp="1"/>
          </p:cNvSpPr>
          <p:nvPr>
            <p:ph type="body" idx="3"/>
          </p:nvPr>
        </p:nvSpPr>
        <p:spPr>
          <a:xfrm>
            <a:off x="311760" y="2973600"/>
            <a:ext cx="8520120" cy="159228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Content over Content" type="objOverTx">
  <p:cSld name="OBJECT_OVER_TEXT">
    <p:spTree>
      <p:nvGrpSpPr>
        <p:cNvPr id="1" name="Shape 103"/>
        <p:cNvGrpSpPr/>
        <p:nvPr/>
      </p:nvGrpSpPr>
      <p:grpSpPr>
        <a:xfrm>
          <a:off x="0" y="0"/>
          <a:ext cx="0" cy="0"/>
          <a:chOff x="0" y="0"/>
          <a:chExt cx="0" cy="0"/>
        </a:xfrm>
      </p:grpSpPr>
      <p:sp>
        <p:nvSpPr>
          <p:cNvPr id="104" name="Google Shape;104;p69"/>
          <p:cNvSpPr txBox="1">
            <a:spLocks noGrp="1"/>
          </p:cNvSpPr>
          <p:nvPr>
            <p:ph type="title"/>
          </p:nvPr>
        </p:nvSpPr>
        <p:spPr>
          <a:xfrm>
            <a:off x="311760" y="410040"/>
            <a:ext cx="8520120" cy="60732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5" name="Google Shape;105;p69"/>
          <p:cNvSpPr txBox="1">
            <a:spLocks noGrp="1"/>
          </p:cNvSpPr>
          <p:nvPr>
            <p:ph type="body" idx="1"/>
          </p:nvPr>
        </p:nvSpPr>
        <p:spPr>
          <a:xfrm>
            <a:off x="311760" y="1229760"/>
            <a:ext cx="8520120" cy="159228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06" name="Google Shape;106;p69"/>
          <p:cNvSpPr txBox="1">
            <a:spLocks noGrp="1"/>
          </p:cNvSpPr>
          <p:nvPr>
            <p:ph type="body" idx="2"/>
          </p:nvPr>
        </p:nvSpPr>
        <p:spPr>
          <a:xfrm>
            <a:off x="311760" y="2973600"/>
            <a:ext cx="8520120" cy="159228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4 Content" type="fourObj">
  <p:cSld name="FOUR_OBJECTS">
    <p:spTree>
      <p:nvGrpSpPr>
        <p:cNvPr id="1" name="Shape 107"/>
        <p:cNvGrpSpPr/>
        <p:nvPr/>
      </p:nvGrpSpPr>
      <p:grpSpPr>
        <a:xfrm>
          <a:off x="0" y="0"/>
          <a:ext cx="0" cy="0"/>
          <a:chOff x="0" y="0"/>
          <a:chExt cx="0" cy="0"/>
        </a:xfrm>
      </p:grpSpPr>
      <p:sp>
        <p:nvSpPr>
          <p:cNvPr id="108" name="Google Shape;108;p70"/>
          <p:cNvSpPr txBox="1">
            <a:spLocks noGrp="1"/>
          </p:cNvSpPr>
          <p:nvPr>
            <p:ph type="title"/>
          </p:nvPr>
        </p:nvSpPr>
        <p:spPr>
          <a:xfrm>
            <a:off x="311760" y="410040"/>
            <a:ext cx="8520120" cy="60732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9" name="Google Shape;109;p70"/>
          <p:cNvSpPr txBox="1">
            <a:spLocks noGrp="1"/>
          </p:cNvSpPr>
          <p:nvPr>
            <p:ph type="body" idx="1"/>
          </p:nvPr>
        </p:nvSpPr>
        <p:spPr>
          <a:xfrm>
            <a:off x="311760" y="1229760"/>
            <a:ext cx="4157640" cy="159228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10" name="Google Shape;110;p70"/>
          <p:cNvSpPr txBox="1">
            <a:spLocks noGrp="1"/>
          </p:cNvSpPr>
          <p:nvPr>
            <p:ph type="body" idx="2"/>
          </p:nvPr>
        </p:nvSpPr>
        <p:spPr>
          <a:xfrm>
            <a:off x="4677840" y="1229760"/>
            <a:ext cx="4157640" cy="159228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11" name="Google Shape;111;p70"/>
          <p:cNvSpPr txBox="1">
            <a:spLocks noGrp="1"/>
          </p:cNvSpPr>
          <p:nvPr>
            <p:ph type="body" idx="3"/>
          </p:nvPr>
        </p:nvSpPr>
        <p:spPr>
          <a:xfrm>
            <a:off x="311760" y="2973600"/>
            <a:ext cx="4157640" cy="159228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12" name="Google Shape;112;p70"/>
          <p:cNvSpPr txBox="1">
            <a:spLocks noGrp="1"/>
          </p:cNvSpPr>
          <p:nvPr>
            <p:ph type="body" idx="4"/>
          </p:nvPr>
        </p:nvSpPr>
        <p:spPr>
          <a:xfrm>
            <a:off x="4677840" y="2973600"/>
            <a:ext cx="4157640" cy="159228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6 Content">
  <p:cSld name="Title, 6 Content">
    <p:spTree>
      <p:nvGrpSpPr>
        <p:cNvPr id="1" name="Shape 113"/>
        <p:cNvGrpSpPr/>
        <p:nvPr/>
      </p:nvGrpSpPr>
      <p:grpSpPr>
        <a:xfrm>
          <a:off x="0" y="0"/>
          <a:ext cx="0" cy="0"/>
          <a:chOff x="0" y="0"/>
          <a:chExt cx="0" cy="0"/>
        </a:xfrm>
      </p:grpSpPr>
      <p:sp>
        <p:nvSpPr>
          <p:cNvPr id="114" name="Google Shape;114;p71"/>
          <p:cNvSpPr txBox="1">
            <a:spLocks noGrp="1"/>
          </p:cNvSpPr>
          <p:nvPr>
            <p:ph type="title"/>
          </p:nvPr>
        </p:nvSpPr>
        <p:spPr>
          <a:xfrm>
            <a:off x="311760" y="410040"/>
            <a:ext cx="8520120" cy="60732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5" name="Google Shape;115;p71"/>
          <p:cNvSpPr txBox="1">
            <a:spLocks noGrp="1"/>
          </p:cNvSpPr>
          <p:nvPr>
            <p:ph type="body" idx="1"/>
          </p:nvPr>
        </p:nvSpPr>
        <p:spPr>
          <a:xfrm>
            <a:off x="311760" y="1229760"/>
            <a:ext cx="2743200" cy="159228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16" name="Google Shape;116;p71"/>
          <p:cNvSpPr txBox="1">
            <a:spLocks noGrp="1"/>
          </p:cNvSpPr>
          <p:nvPr>
            <p:ph type="body" idx="2"/>
          </p:nvPr>
        </p:nvSpPr>
        <p:spPr>
          <a:xfrm>
            <a:off x="3192480" y="1229760"/>
            <a:ext cx="2743200" cy="159228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17" name="Google Shape;117;p71"/>
          <p:cNvSpPr txBox="1">
            <a:spLocks noGrp="1"/>
          </p:cNvSpPr>
          <p:nvPr>
            <p:ph type="body" idx="3"/>
          </p:nvPr>
        </p:nvSpPr>
        <p:spPr>
          <a:xfrm>
            <a:off x="6073200" y="1229760"/>
            <a:ext cx="2743200" cy="159228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18" name="Google Shape;118;p71"/>
          <p:cNvSpPr txBox="1">
            <a:spLocks noGrp="1"/>
          </p:cNvSpPr>
          <p:nvPr>
            <p:ph type="body" idx="4"/>
          </p:nvPr>
        </p:nvSpPr>
        <p:spPr>
          <a:xfrm>
            <a:off x="311760" y="2973600"/>
            <a:ext cx="2743200" cy="159228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19" name="Google Shape;119;p71"/>
          <p:cNvSpPr txBox="1">
            <a:spLocks noGrp="1"/>
          </p:cNvSpPr>
          <p:nvPr>
            <p:ph type="body" idx="5"/>
          </p:nvPr>
        </p:nvSpPr>
        <p:spPr>
          <a:xfrm>
            <a:off x="3192480" y="2973600"/>
            <a:ext cx="2743200" cy="159228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20" name="Google Shape;120;p71"/>
          <p:cNvSpPr txBox="1">
            <a:spLocks noGrp="1"/>
          </p:cNvSpPr>
          <p:nvPr>
            <p:ph type="body" idx="6"/>
          </p:nvPr>
        </p:nvSpPr>
        <p:spPr>
          <a:xfrm>
            <a:off x="6073200" y="2973600"/>
            <a:ext cx="2743200" cy="159228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125"/>
        <p:cNvGrpSpPr/>
        <p:nvPr/>
      </p:nvGrpSpPr>
      <p:grpSpPr>
        <a:xfrm>
          <a:off x="0" y="0"/>
          <a:ext cx="0" cy="0"/>
          <a:chOff x="0" y="0"/>
          <a:chExt cx="0" cy="0"/>
        </a:xfrm>
      </p:grpSpPr>
      <p:grpSp>
        <p:nvGrpSpPr>
          <p:cNvPr id="126" name="Google Shape;126;g21115aaa1d6_0_116"/>
          <p:cNvGrpSpPr/>
          <p:nvPr/>
        </p:nvGrpSpPr>
        <p:grpSpPr>
          <a:xfrm>
            <a:off x="6098378" y="5"/>
            <a:ext cx="3045625" cy="2030570"/>
            <a:chOff x="6098378" y="5"/>
            <a:chExt cx="3045625" cy="2030570"/>
          </a:xfrm>
        </p:grpSpPr>
        <p:sp>
          <p:nvSpPr>
            <p:cNvPr id="127" name="Google Shape;127;g21115aaa1d6_0_116"/>
            <p:cNvSpPr/>
            <p:nvPr/>
          </p:nvSpPr>
          <p:spPr>
            <a:xfrm>
              <a:off x="8128803" y="16"/>
              <a:ext cx="1015200" cy="10152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g21115aaa1d6_0_116"/>
            <p:cNvSpPr/>
            <p:nvPr/>
          </p:nvSpPr>
          <p:spPr>
            <a:xfrm flipH="1">
              <a:off x="7113463" y="5"/>
              <a:ext cx="1015200" cy="1015200"/>
            </a:xfrm>
            <a:prstGeom prst="rtTriangl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g21115aaa1d6_0_116"/>
            <p:cNvSpPr/>
            <p:nvPr/>
          </p:nvSpPr>
          <p:spPr>
            <a:xfrm rot="10800000" flipH="1">
              <a:off x="7113588" y="107"/>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g21115aaa1d6_0_116"/>
            <p:cNvSpPr/>
            <p:nvPr/>
          </p:nvSpPr>
          <p:spPr>
            <a:xfrm rot="10800000">
              <a:off x="6098378" y="97"/>
              <a:ext cx="1015200" cy="10152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31;g21115aaa1d6_0_116"/>
            <p:cNvSpPr/>
            <p:nvPr/>
          </p:nvSpPr>
          <p:spPr>
            <a:xfrm rot="10800000">
              <a:off x="8128789" y="1015375"/>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2" name="Google Shape;132;g21115aaa1d6_0_116"/>
          <p:cNvSpPr txBox="1">
            <a:spLocks noGrp="1"/>
          </p:cNvSpPr>
          <p:nvPr>
            <p:ph type="ctrTitle"/>
          </p:nvPr>
        </p:nvSpPr>
        <p:spPr>
          <a:xfrm>
            <a:off x="598100" y="1775222"/>
            <a:ext cx="8222100" cy="838800"/>
          </a:xfrm>
          <a:prstGeom prst="rect">
            <a:avLst/>
          </a:prstGeom>
        </p:spPr>
        <p:txBody>
          <a:bodyPr spcFirstLastPara="1" wrap="square" lIns="91425" tIns="91425" rIns="91425" bIns="91425" anchor="b" anchorCtr="0">
            <a:normAutofit/>
          </a:bodyPr>
          <a:lstStyle>
            <a:lvl1pPr lvl="0" rtl="0">
              <a:spcBef>
                <a:spcPts val="0"/>
              </a:spcBef>
              <a:spcAft>
                <a:spcPts val="0"/>
              </a:spcAft>
              <a:buClr>
                <a:schemeClr val="lt1"/>
              </a:buClr>
              <a:buSzPts val="4200"/>
              <a:buNone/>
              <a:defRPr sz="4200">
                <a:solidFill>
                  <a:schemeClr val="lt1"/>
                </a:solidFill>
              </a:defRPr>
            </a:lvl1pPr>
            <a:lvl2pPr lvl="1" rtl="0">
              <a:spcBef>
                <a:spcPts val="0"/>
              </a:spcBef>
              <a:spcAft>
                <a:spcPts val="0"/>
              </a:spcAft>
              <a:buClr>
                <a:schemeClr val="lt1"/>
              </a:buClr>
              <a:buSzPts val="4200"/>
              <a:buNone/>
              <a:defRPr sz="4200">
                <a:solidFill>
                  <a:schemeClr val="lt1"/>
                </a:solidFill>
              </a:defRPr>
            </a:lvl2pPr>
            <a:lvl3pPr lvl="2" rtl="0">
              <a:spcBef>
                <a:spcPts val="0"/>
              </a:spcBef>
              <a:spcAft>
                <a:spcPts val="0"/>
              </a:spcAft>
              <a:buClr>
                <a:schemeClr val="lt1"/>
              </a:buClr>
              <a:buSzPts val="4200"/>
              <a:buNone/>
              <a:defRPr sz="4200">
                <a:solidFill>
                  <a:schemeClr val="lt1"/>
                </a:solidFill>
              </a:defRPr>
            </a:lvl3pPr>
            <a:lvl4pPr lvl="3" rtl="0">
              <a:spcBef>
                <a:spcPts val="0"/>
              </a:spcBef>
              <a:spcAft>
                <a:spcPts val="0"/>
              </a:spcAft>
              <a:buClr>
                <a:schemeClr val="lt1"/>
              </a:buClr>
              <a:buSzPts val="4200"/>
              <a:buNone/>
              <a:defRPr sz="4200">
                <a:solidFill>
                  <a:schemeClr val="lt1"/>
                </a:solidFill>
              </a:defRPr>
            </a:lvl4pPr>
            <a:lvl5pPr lvl="4" rtl="0">
              <a:spcBef>
                <a:spcPts val="0"/>
              </a:spcBef>
              <a:spcAft>
                <a:spcPts val="0"/>
              </a:spcAft>
              <a:buClr>
                <a:schemeClr val="lt1"/>
              </a:buClr>
              <a:buSzPts val="4200"/>
              <a:buNone/>
              <a:defRPr sz="4200">
                <a:solidFill>
                  <a:schemeClr val="lt1"/>
                </a:solidFill>
              </a:defRPr>
            </a:lvl5pPr>
            <a:lvl6pPr lvl="5" rtl="0">
              <a:spcBef>
                <a:spcPts val="0"/>
              </a:spcBef>
              <a:spcAft>
                <a:spcPts val="0"/>
              </a:spcAft>
              <a:buClr>
                <a:schemeClr val="lt1"/>
              </a:buClr>
              <a:buSzPts val="4200"/>
              <a:buNone/>
              <a:defRPr sz="4200">
                <a:solidFill>
                  <a:schemeClr val="lt1"/>
                </a:solidFill>
              </a:defRPr>
            </a:lvl6pPr>
            <a:lvl7pPr lvl="6" rtl="0">
              <a:spcBef>
                <a:spcPts val="0"/>
              </a:spcBef>
              <a:spcAft>
                <a:spcPts val="0"/>
              </a:spcAft>
              <a:buClr>
                <a:schemeClr val="lt1"/>
              </a:buClr>
              <a:buSzPts val="4200"/>
              <a:buNone/>
              <a:defRPr sz="4200">
                <a:solidFill>
                  <a:schemeClr val="lt1"/>
                </a:solidFill>
              </a:defRPr>
            </a:lvl7pPr>
            <a:lvl8pPr lvl="7" rtl="0">
              <a:spcBef>
                <a:spcPts val="0"/>
              </a:spcBef>
              <a:spcAft>
                <a:spcPts val="0"/>
              </a:spcAft>
              <a:buClr>
                <a:schemeClr val="lt1"/>
              </a:buClr>
              <a:buSzPts val="4200"/>
              <a:buNone/>
              <a:defRPr sz="4200">
                <a:solidFill>
                  <a:schemeClr val="lt1"/>
                </a:solidFill>
              </a:defRPr>
            </a:lvl8pPr>
            <a:lvl9pPr lvl="8" rtl="0">
              <a:spcBef>
                <a:spcPts val="0"/>
              </a:spcBef>
              <a:spcAft>
                <a:spcPts val="0"/>
              </a:spcAft>
              <a:buClr>
                <a:schemeClr val="lt1"/>
              </a:buClr>
              <a:buSzPts val="4200"/>
              <a:buNone/>
              <a:defRPr sz="4200">
                <a:solidFill>
                  <a:schemeClr val="lt1"/>
                </a:solidFill>
              </a:defRPr>
            </a:lvl9pPr>
          </a:lstStyle>
          <a:p>
            <a:endParaRPr/>
          </a:p>
        </p:txBody>
      </p:sp>
      <p:sp>
        <p:nvSpPr>
          <p:cNvPr id="133" name="Google Shape;133;g21115aaa1d6_0_116"/>
          <p:cNvSpPr txBox="1">
            <a:spLocks noGrp="1"/>
          </p:cNvSpPr>
          <p:nvPr>
            <p:ph type="subTitle" idx="1"/>
          </p:nvPr>
        </p:nvSpPr>
        <p:spPr>
          <a:xfrm>
            <a:off x="598088" y="2715913"/>
            <a:ext cx="8222100" cy="432900"/>
          </a:xfrm>
          <a:prstGeom prst="rect">
            <a:avLst/>
          </a:prstGeom>
        </p:spPr>
        <p:txBody>
          <a:bodyPr spcFirstLastPara="1" wrap="square" lIns="91425" tIns="91425" rIns="91425" bIns="91425" anchor="t" anchorCtr="0">
            <a:normAutofit/>
          </a:bodyPr>
          <a:lstStyle>
            <a:lvl1pPr lvl="0" rtl="0">
              <a:lnSpc>
                <a:spcPct val="100000"/>
              </a:lnSpc>
              <a:spcBef>
                <a:spcPts val="0"/>
              </a:spcBef>
              <a:spcAft>
                <a:spcPts val="0"/>
              </a:spcAft>
              <a:buClr>
                <a:schemeClr val="lt1"/>
              </a:buClr>
              <a:buSzPts val="2100"/>
              <a:buNone/>
              <a:defRPr sz="2100">
                <a:solidFill>
                  <a:schemeClr val="lt1"/>
                </a:solidFill>
              </a:defRPr>
            </a:lvl1pPr>
            <a:lvl2pPr lvl="1" rtl="0">
              <a:lnSpc>
                <a:spcPct val="100000"/>
              </a:lnSpc>
              <a:spcBef>
                <a:spcPts val="0"/>
              </a:spcBef>
              <a:spcAft>
                <a:spcPts val="0"/>
              </a:spcAft>
              <a:buClr>
                <a:schemeClr val="lt1"/>
              </a:buClr>
              <a:buSzPts val="2100"/>
              <a:buNone/>
              <a:defRPr sz="2100">
                <a:solidFill>
                  <a:schemeClr val="lt1"/>
                </a:solidFill>
              </a:defRPr>
            </a:lvl2pPr>
            <a:lvl3pPr lvl="2" rtl="0">
              <a:lnSpc>
                <a:spcPct val="100000"/>
              </a:lnSpc>
              <a:spcBef>
                <a:spcPts val="0"/>
              </a:spcBef>
              <a:spcAft>
                <a:spcPts val="0"/>
              </a:spcAft>
              <a:buClr>
                <a:schemeClr val="lt1"/>
              </a:buClr>
              <a:buSzPts val="2100"/>
              <a:buNone/>
              <a:defRPr sz="2100">
                <a:solidFill>
                  <a:schemeClr val="lt1"/>
                </a:solidFill>
              </a:defRPr>
            </a:lvl3pPr>
            <a:lvl4pPr lvl="3" rtl="0">
              <a:lnSpc>
                <a:spcPct val="100000"/>
              </a:lnSpc>
              <a:spcBef>
                <a:spcPts val="0"/>
              </a:spcBef>
              <a:spcAft>
                <a:spcPts val="0"/>
              </a:spcAft>
              <a:buClr>
                <a:schemeClr val="lt1"/>
              </a:buClr>
              <a:buSzPts val="2100"/>
              <a:buNone/>
              <a:defRPr sz="2100">
                <a:solidFill>
                  <a:schemeClr val="lt1"/>
                </a:solidFill>
              </a:defRPr>
            </a:lvl4pPr>
            <a:lvl5pPr lvl="4" rtl="0">
              <a:lnSpc>
                <a:spcPct val="100000"/>
              </a:lnSpc>
              <a:spcBef>
                <a:spcPts val="0"/>
              </a:spcBef>
              <a:spcAft>
                <a:spcPts val="0"/>
              </a:spcAft>
              <a:buClr>
                <a:schemeClr val="lt1"/>
              </a:buClr>
              <a:buSzPts val="2100"/>
              <a:buNone/>
              <a:defRPr sz="2100">
                <a:solidFill>
                  <a:schemeClr val="lt1"/>
                </a:solidFill>
              </a:defRPr>
            </a:lvl5pPr>
            <a:lvl6pPr lvl="5" rtl="0">
              <a:lnSpc>
                <a:spcPct val="100000"/>
              </a:lnSpc>
              <a:spcBef>
                <a:spcPts val="0"/>
              </a:spcBef>
              <a:spcAft>
                <a:spcPts val="0"/>
              </a:spcAft>
              <a:buClr>
                <a:schemeClr val="lt1"/>
              </a:buClr>
              <a:buSzPts val="2100"/>
              <a:buNone/>
              <a:defRPr sz="2100">
                <a:solidFill>
                  <a:schemeClr val="lt1"/>
                </a:solidFill>
              </a:defRPr>
            </a:lvl6pPr>
            <a:lvl7pPr lvl="6" rtl="0">
              <a:lnSpc>
                <a:spcPct val="100000"/>
              </a:lnSpc>
              <a:spcBef>
                <a:spcPts val="0"/>
              </a:spcBef>
              <a:spcAft>
                <a:spcPts val="0"/>
              </a:spcAft>
              <a:buClr>
                <a:schemeClr val="lt1"/>
              </a:buClr>
              <a:buSzPts val="2100"/>
              <a:buNone/>
              <a:defRPr sz="2100">
                <a:solidFill>
                  <a:schemeClr val="lt1"/>
                </a:solidFill>
              </a:defRPr>
            </a:lvl7pPr>
            <a:lvl8pPr lvl="7" rtl="0">
              <a:lnSpc>
                <a:spcPct val="100000"/>
              </a:lnSpc>
              <a:spcBef>
                <a:spcPts val="0"/>
              </a:spcBef>
              <a:spcAft>
                <a:spcPts val="0"/>
              </a:spcAft>
              <a:buClr>
                <a:schemeClr val="lt1"/>
              </a:buClr>
              <a:buSzPts val="2100"/>
              <a:buNone/>
              <a:defRPr sz="2100">
                <a:solidFill>
                  <a:schemeClr val="lt1"/>
                </a:solidFill>
              </a:defRPr>
            </a:lvl8pPr>
            <a:lvl9pPr lvl="8" rtl="0">
              <a:lnSpc>
                <a:spcPct val="100000"/>
              </a:lnSpc>
              <a:spcBef>
                <a:spcPts val="0"/>
              </a:spcBef>
              <a:spcAft>
                <a:spcPts val="0"/>
              </a:spcAft>
              <a:buClr>
                <a:schemeClr val="lt1"/>
              </a:buClr>
              <a:buSzPts val="2100"/>
              <a:buNone/>
              <a:defRPr sz="2100">
                <a:solidFill>
                  <a:schemeClr val="lt1"/>
                </a:solidFill>
              </a:defRPr>
            </a:lvl9pPr>
          </a:lstStyle>
          <a:p>
            <a:endParaRPr/>
          </a:p>
        </p:txBody>
      </p:sp>
      <p:sp>
        <p:nvSpPr>
          <p:cNvPr id="134" name="Google Shape;134;g21115aaa1d6_0_116"/>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135"/>
        <p:cNvGrpSpPr/>
        <p:nvPr/>
      </p:nvGrpSpPr>
      <p:grpSpPr>
        <a:xfrm>
          <a:off x="0" y="0"/>
          <a:ext cx="0" cy="0"/>
          <a:chOff x="0" y="0"/>
          <a:chExt cx="0" cy="0"/>
        </a:xfrm>
      </p:grpSpPr>
      <p:grpSp>
        <p:nvGrpSpPr>
          <p:cNvPr id="136" name="Google Shape;136;g21115aaa1d6_0_126"/>
          <p:cNvGrpSpPr/>
          <p:nvPr/>
        </p:nvGrpSpPr>
        <p:grpSpPr>
          <a:xfrm>
            <a:off x="6098378" y="5"/>
            <a:ext cx="3045625" cy="2030570"/>
            <a:chOff x="6098378" y="5"/>
            <a:chExt cx="3045625" cy="2030570"/>
          </a:xfrm>
        </p:grpSpPr>
        <p:sp>
          <p:nvSpPr>
            <p:cNvPr id="137" name="Google Shape;137;g21115aaa1d6_0_126"/>
            <p:cNvSpPr/>
            <p:nvPr/>
          </p:nvSpPr>
          <p:spPr>
            <a:xfrm>
              <a:off x="8128803" y="16"/>
              <a:ext cx="1015200" cy="10152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g21115aaa1d6_0_126"/>
            <p:cNvSpPr/>
            <p:nvPr/>
          </p:nvSpPr>
          <p:spPr>
            <a:xfrm flipH="1">
              <a:off x="7113463" y="5"/>
              <a:ext cx="1015200" cy="1015200"/>
            </a:xfrm>
            <a:prstGeom prst="rtTriangl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g21115aaa1d6_0_126"/>
            <p:cNvSpPr/>
            <p:nvPr/>
          </p:nvSpPr>
          <p:spPr>
            <a:xfrm rot="10800000" flipH="1">
              <a:off x="7113588" y="107"/>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g21115aaa1d6_0_126"/>
            <p:cNvSpPr/>
            <p:nvPr/>
          </p:nvSpPr>
          <p:spPr>
            <a:xfrm rot="10800000">
              <a:off x="6098378" y="97"/>
              <a:ext cx="1015200" cy="10152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g21115aaa1d6_0_126"/>
            <p:cNvSpPr/>
            <p:nvPr/>
          </p:nvSpPr>
          <p:spPr>
            <a:xfrm rot="10800000">
              <a:off x="8128789" y="1015375"/>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2" name="Google Shape;142;g21115aaa1d6_0_126"/>
          <p:cNvSpPr txBox="1">
            <a:spLocks noGrp="1"/>
          </p:cNvSpPr>
          <p:nvPr>
            <p:ph type="title"/>
          </p:nvPr>
        </p:nvSpPr>
        <p:spPr>
          <a:xfrm>
            <a:off x="598100" y="2152347"/>
            <a:ext cx="8222100" cy="838800"/>
          </a:xfrm>
          <a:prstGeom prst="rect">
            <a:avLst/>
          </a:prstGeom>
        </p:spPr>
        <p:txBody>
          <a:bodyPr spcFirstLastPara="1" wrap="square" lIns="91425" tIns="91425" rIns="91425" bIns="91425" anchor="ctr" anchorCtr="0">
            <a:normAutofit/>
          </a:bodyPr>
          <a:lstStyle>
            <a:lvl1pPr lvl="0" rtl="0">
              <a:spcBef>
                <a:spcPts val="0"/>
              </a:spcBef>
              <a:spcAft>
                <a:spcPts val="0"/>
              </a:spcAft>
              <a:buClr>
                <a:schemeClr val="lt1"/>
              </a:buClr>
              <a:buSzPts val="4200"/>
              <a:buNone/>
              <a:defRPr sz="4200">
                <a:solidFill>
                  <a:schemeClr val="lt1"/>
                </a:solidFill>
              </a:defRPr>
            </a:lvl1pPr>
            <a:lvl2pPr lvl="1" rtl="0">
              <a:spcBef>
                <a:spcPts val="0"/>
              </a:spcBef>
              <a:spcAft>
                <a:spcPts val="0"/>
              </a:spcAft>
              <a:buClr>
                <a:schemeClr val="lt1"/>
              </a:buClr>
              <a:buSzPts val="4200"/>
              <a:buNone/>
              <a:defRPr sz="4200">
                <a:solidFill>
                  <a:schemeClr val="lt1"/>
                </a:solidFill>
              </a:defRPr>
            </a:lvl2pPr>
            <a:lvl3pPr lvl="2" rtl="0">
              <a:spcBef>
                <a:spcPts val="0"/>
              </a:spcBef>
              <a:spcAft>
                <a:spcPts val="0"/>
              </a:spcAft>
              <a:buClr>
                <a:schemeClr val="lt1"/>
              </a:buClr>
              <a:buSzPts val="4200"/>
              <a:buNone/>
              <a:defRPr sz="4200">
                <a:solidFill>
                  <a:schemeClr val="lt1"/>
                </a:solidFill>
              </a:defRPr>
            </a:lvl3pPr>
            <a:lvl4pPr lvl="3" rtl="0">
              <a:spcBef>
                <a:spcPts val="0"/>
              </a:spcBef>
              <a:spcAft>
                <a:spcPts val="0"/>
              </a:spcAft>
              <a:buClr>
                <a:schemeClr val="lt1"/>
              </a:buClr>
              <a:buSzPts val="4200"/>
              <a:buNone/>
              <a:defRPr sz="4200">
                <a:solidFill>
                  <a:schemeClr val="lt1"/>
                </a:solidFill>
              </a:defRPr>
            </a:lvl4pPr>
            <a:lvl5pPr lvl="4" rtl="0">
              <a:spcBef>
                <a:spcPts val="0"/>
              </a:spcBef>
              <a:spcAft>
                <a:spcPts val="0"/>
              </a:spcAft>
              <a:buClr>
                <a:schemeClr val="lt1"/>
              </a:buClr>
              <a:buSzPts val="4200"/>
              <a:buNone/>
              <a:defRPr sz="4200">
                <a:solidFill>
                  <a:schemeClr val="lt1"/>
                </a:solidFill>
              </a:defRPr>
            </a:lvl5pPr>
            <a:lvl6pPr lvl="5" rtl="0">
              <a:spcBef>
                <a:spcPts val="0"/>
              </a:spcBef>
              <a:spcAft>
                <a:spcPts val="0"/>
              </a:spcAft>
              <a:buClr>
                <a:schemeClr val="lt1"/>
              </a:buClr>
              <a:buSzPts val="4200"/>
              <a:buNone/>
              <a:defRPr sz="4200">
                <a:solidFill>
                  <a:schemeClr val="lt1"/>
                </a:solidFill>
              </a:defRPr>
            </a:lvl6pPr>
            <a:lvl7pPr lvl="6" rtl="0">
              <a:spcBef>
                <a:spcPts val="0"/>
              </a:spcBef>
              <a:spcAft>
                <a:spcPts val="0"/>
              </a:spcAft>
              <a:buClr>
                <a:schemeClr val="lt1"/>
              </a:buClr>
              <a:buSzPts val="4200"/>
              <a:buNone/>
              <a:defRPr sz="4200">
                <a:solidFill>
                  <a:schemeClr val="lt1"/>
                </a:solidFill>
              </a:defRPr>
            </a:lvl7pPr>
            <a:lvl8pPr lvl="7" rtl="0">
              <a:spcBef>
                <a:spcPts val="0"/>
              </a:spcBef>
              <a:spcAft>
                <a:spcPts val="0"/>
              </a:spcAft>
              <a:buClr>
                <a:schemeClr val="lt1"/>
              </a:buClr>
              <a:buSzPts val="4200"/>
              <a:buNone/>
              <a:defRPr sz="4200">
                <a:solidFill>
                  <a:schemeClr val="lt1"/>
                </a:solidFill>
              </a:defRPr>
            </a:lvl8pPr>
            <a:lvl9pPr lvl="8" rtl="0">
              <a:spcBef>
                <a:spcPts val="0"/>
              </a:spcBef>
              <a:spcAft>
                <a:spcPts val="0"/>
              </a:spcAft>
              <a:buClr>
                <a:schemeClr val="lt1"/>
              </a:buClr>
              <a:buSzPts val="4200"/>
              <a:buNone/>
              <a:defRPr sz="4200">
                <a:solidFill>
                  <a:schemeClr val="lt1"/>
                </a:solidFill>
              </a:defRPr>
            </a:lvl9pPr>
          </a:lstStyle>
          <a:p>
            <a:endParaRPr/>
          </a:p>
        </p:txBody>
      </p:sp>
      <p:sp>
        <p:nvSpPr>
          <p:cNvPr id="143" name="Google Shape;143;g21115aaa1d6_0_126"/>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44"/>
        <p:cNvGrpSpPr/>
        <p:nvPr/>
      </p:nvGrpSpPr>
      <p:grpSpPr>
        <a:xfrm>
          <a:off x="0" y="0"/>
          <a:ext cx="0" cy="0"/>
          <a:chOff x="0" y="0"/>
          <a:chExt cx="0" cy="0"/>
        </a:xfrm>
      </p:grpSpPr>
      <p:grpSp>
        <p:nvGrpSpPr>
          <p:cNvPr id="145" name="Google Shape;145;g21115aaa1d6_0_135"/>
          <p:cNvGrpSpPr/>
          <p:nvPr/>
        </p:nvGrpSpPr>
        <p:grpSpPr>
          <a:xfrm>
            <a:off x="0" y="3903669"/>
            <a:ext cx="9144000" cy="1239925"/>
            <a:chOff x="0" y="3903669"/>
            <a:chExt cx="9144000" cy="1239925"/>
          </a:xfrm>
        </p:grpSpPr>
        <p:sp>
          <p:nvSpPr>
            <p:cNvPr id="146" name="Google Shape;146;g21115aaa1d6_0_135"/>
            <p:cNvSpPr/>
            <p:nvPr/>
          </p:nvSpPr>
          <p:spPr>
            <a:xfrm>
              <a:off x="8154895" y="3903669"/>
              <a:ext cx="989100" cy="9879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g21115aaa1d6_0_135"/>
            <p:cNvSpPr/>
            <p:nvPr/>
          </p:nvSpPr>
          <p:spPr>
            <a:xfrm flipH="1">
              <a:off x="6181163" y="3903669"/>
              <a:ext cx="989100" cy="9879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8;g21115aaa1d6_0_135"/>
            <p:cNvSpPr/>
            <p:nvPr/>
          </p:nvSpPr>
          <p:spPr>
            <a:xfrm>
              <a:off x="7170274" y="3903669"/>
              <a:ext cx="989100" cy="9879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49;g21115aaa1d6_0_135"/>
            <p:cNvSpPr/>
            <p:nvPr/>
          </p:nvSpPr>
          <p:spPr>
            <a:xfrm rot="10800000">
              <a:off x="8154757" y="3903682"/>
              <a:ext cx="989100" cy="987900"/>
            </a:xfrm>
            <a:prstGeom prst="rtTriangl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g21115aaa1d6_0_135"/>
            <p:cNvSpPr/>
            <p:nvPr/>
          </p:nvSpPr>
          <p:spPr>
            <a:xfrm>
              <a:off x="0" y="4891594"/>
              <a:ext cx="9144000" cy="2520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1" name="Google Shape;151;g21115aaa1d6_0_135"/>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rm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52" name="Google Shape;152;g21115aaa1d6_0_135"/>
          <p:cNvSpPr txBox="1">
            <a:spLocks noGrp="1"/>
          </p:cNvSpPr>
          <p:nvPr>
            <p:ph type="body" idx="1"/>
          </p:nvPr>
        </p:nvSpPr>
        <p:spPr>
          <a:xfrm>
            <a:off x="311700" y="1229875"/>
            <a:ext cx="8520600" cy="3339000"/>
          </a:xfrm>
          <a:prstGeom prst="rect">
            <a:avLst/>
          </a:prstGeom>
        </p:spPr>
        <p:txBody>
          <a:bodyPr spcFirstLastPara="1" wrap="square" lIns="91425" tIns="91425" rIns="91425" bIns="91425" anchor="t" anchorCtr="0">
            <a:normAutofit/>
          </a:bodyPr>
          <a:lstStyle>
            <a:lvl1pPr marL="457200" lvl="0" indent="-342900" rtl="0">
              <a:spcBef>
                <a:spcPts val="0"/>
              </a:spcBef>
              <a:spcAft>
                <a:spcPts val="0"/>
              </a:spcAft>
              <a:buSzPts val="1800"/>
              <a:buChar char="●"/>
              <a:defRPr/>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
        <p:nvSpPr>
          <p:cNvPr id="153" name="Google Shape;153;g21115aaa1d6_0_135"/>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54"/>
        <p:cNvGrpSpPr/>
        <p:nvPr/>
      </p:nvGrpSpPr>
      <p:grpSpPr>
        <a:xfrm>
          <a:off x="0" y="0"/>
          <a:ext cx="0" cy="0"/>
          <a:chOff x="0" y="0"/>
          <a:chExt cx="0" cy="0"/>
        </a:xfrm>
      </p:grpSpPr>
      <p:sp>
        <p:nvSpPr>
          <p:cNvPr id="155" name="Google Shape;155;g21115aaa1d6_0_145"/>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rm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56" name="Google Shape;156;g21115aaa1d6_0_145"/>
          <p:cNvSpPr txBox="1">
            <a:spLocks noGrp="1"/>
          </p:cNvSpPr>
          <p:nvPr>
            <p:ph type="body" idx="1"/>
          </p:nvPr>
        </p:nvSpPr>
        <p:spPr>
          <a:xfrm>
            <a:off x="311700" y="1229975"/>
            <a:ext cx="3999900" cy="3339000"/>
          </a:xfrm>
          <a:prstGeom prst="rect">
            <a:avLst/>
          </a:prstGeom>
        </p:spPr>
        <p:txBody>
          <a:bodyPr spcFirstLastPara="1" wrap="square" lIns="91425" tIns="91425" rIns="91425" bIns="91425" anchor="t" anchorCtr="0">
            <a:normAutofit/>
          </a:bodyPr>
          <a:lstStyle>
            <a:lvl1pPr marL="457200" lvl="0" indent="-317500" rtl="0">
              <a:spcBef>
                <a:spcPts val="0"/>
              </a:spcBef>
              <a:spcAft>
                <a:spcPts val="0"/>
              </a:spcAft>
              <a:buSzPts val="1400"/>
              <a:buChar char="●"/>
              <a:defRPr sz="1400"/>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
        <p:nvSpPr>
          <p:cNvPr id="157" name="Google Shape;157;g21115aaa1d6_0_145"/>
          <p:cNvSpPr txBox="1">
            <a:spLocks noGrp="1"/>
          </p:cNvSpPr>
          <p:nvPr>
            <p:ph type="body" idx="2"/>
          </p:nvPr>
        </p:nvSpPr>
        <p:spPr>
          <a:xfrm>
            <a:off x="4832400" y="1229975"/>
            <a:ext cx="3999900" cy="3339000"/>
          </a:xfrm>
          <a:prstGeom prst="rect">
            <a:avLst/>
          </a:prstGeom>
        </p:spPr>
        <p:txBody>
          <a:bodyPr spcFirstLastPara="1" wrap="square" lIns="91425" tIns="91425" rIns="91425" bIns="91425" anchor="t" anchorCtr="0">
            <a:normAutofit/>
          </a:bodyPr>
          <a:lstStyle>
            <a:lvl1pPr marL="457200" lvl="0" indent="-317500" rtl="0">
              <a:spcBef>
                <a:spcPts val="0"/>
              </a:spcBef>
              <a:spcAft>
                <a:spcPts val="0"/>
              </a:spcAft>
              <a:buSzPts val="1400"/>
              <a:buChar char="●"/>
              <a:defRPr sz="1400"/>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
        <p:nvSpPr>
          <p:cNvPr id="158" name="Google Shape;158;g21115aaa1d6_0_145"/>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rtl="0">
              <a:buNone/>
              <a:defRPr>
                <a:solidFill>
                  <a:schemeClr val="dk2"/>
                </a:solidFill>
              </a:defRPr>
            </a:lvl1pPr>
            <a:lvl2pPr lvl="1" rtl="0">
              <a:buNone/>
              <a:defRPr>
                <a:solidFill>
                  <a:schemeClr val="dk2"/>
                </a:solidFill>
              </a:defRPr>
            </a:lvl2pPr>
            <a:lvl3pPr lvl="2" rtl="0">
              <a:buNone/>
              <a:defRPr>
                <a:solidFill>
                  <a:schemeClr val="dk2"/>
                </a:solidFill>
              </a:defRPr>
            </a:lvl3pPr>
            <a:lvl4pPr lvl="3" rtl="0">
              <a:buNone/>
              <a:defRPr>
                <a:solidFill>
                  <a:schemeClr val="dk2"/>
                </a:solidFill>
              </a:defRPr>
            </a:lvl4pPr>
            <a:lvl5pPr lvl="4" rtl="0">
              <a:buNone/>
              <a:defRPr>
                <a:solidFill>
                  <a:schemeClr val="dk2"/>
                </a:solidFill>
              </a:defRPr>
            </a:lvl5pPr>
            <a:lvl6pPr lvl="5" rtl="0">
              <a:buNone/>
              <a:defRPr>
                <a:solidFill>
                  <a:schemeClr val="dk2"/>
                </a:solidFill>
              </a:defRPr>
            </a:lvl6pPr>
            <a:lvl7pPr lvl="6" rtl="0">
              <a:buNone/>
              <a:defRPr>
                <a:solidFill>
                  <a:schemeClr val="dk2"/>
                </a:solidFill>
              </a:defRPr>
            </a:lvl7pPr>
            <a:lvl8pPr lvl="7" rtl="0">
              <a:buNone/>
              <a:defRPr>
                <a:solidFill>
                  <a:schemeClr val="dk2"/>
                </a:solidFill>
              </a:defRPr>
            </a:lvl8pPr>
            <a:lvl9pPr lvl="8" rtl="0">
              <a:buNone/>
              <a:defRPr>
                <a:solidFill>
                  <a:schemeClr val="dk2"/>
                </a:solidFil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59"/>
        <p:cNvGrpSpPr/>
        <p:nvPr/>
      </p:nvGrpSpPr>
      <p:grpSpPr>
        <a:xfrm>
          <a:off x="0" y="0"/>
          <a:ext cx="0" cy="0"/>
          <a:chOff x="0" y="0"/>
          <a:chExt cx="0" cy="0"/>
        </a:xfrm>
      </p:grpSpPr>
      <p:sp>
        <p:nvSpPr>
          <p:cNvPr id="160" name="Google Shape;160;g21115aaa1d6_0_150"/>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rm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61" name="Google Shape;161;g21115aaa1d6_0_150"/>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rtl="0">
              <a:buNone/>
              <a:defRPr>
                <a:solidFill>
                  <a:schemeClr val="dk2"/>
                </a:solidFill>
              </a:defRPr>
            </a:lvl1pPr>
            <a:lvl2pPr lvl="1" rtl="0">
              <a:buNone/>
              <a:defRPr>
                <a:solidFill>
                  <a:schemeClr val="dk2"/>
                </a:solidFill>
              </a:defRPr>
            </a:lvl2pPr>
            <a:lvl3pPr lvl="2" rtl="0">
              <a:buNone/>
              <a:defRPr>
                <a:solidFill>
                  <a:schemeClr val="dk2"/>
                </a:solidFill>
              </a:defRPr>
            </a:lvl3pPr>
            <a:lvl4pPr lvl="3" rtl="0">
              <a:buNone/>
              <a:defRPr>
                <a:solidFill>
                  <a:schemeClr val="dk2"/>
                </a:solidFill>
              </a:defRPr>
            </a:lvl4pPr>
            <a:lvl5pPr lvl="4" rtl="0">
              <a:buNone/>
              <a:defRPr>
                <a:solidFill>
                  <a:schemeClr val="dk2"/>
                </a:solidFill>
              </a:defRPr>
            </a:lvl5pPr>
            <a:lvl6pPr lvl="5" rtl="0">
              <a:buNone/>
              <a:defRPr>
                <a:solidFill>
                  <a:schemeClr val="dk2"/>
                </a:solidFill>
              </a:defRPr>
            </a:lvl6pPr>
            <a:lvl7pPr lvl="6" rtl="0">
              <a:buNone/>
              <a:defRPr>
                <a:solidFill>
                  <a:schemeClr val="dk2"/>
                </a:solidFill>
              </a:defRPr>
            </a:lvl7pPr>
            <a:lvl8pPr lvl="7" rtl="0">
              <a:buNone/>
              <a:defRPr>
                <a:solidFill>
                  <a:schemeClr val="dk2"/>
                </a:solidFill>
              </a:defRPr>
            </a:lvl8pPr>
            <a:lvl9pPr lvl="8" rtl="0">
              <a:buNone/>
              <a:defRPr>
                <a:solidFill>
                  <a:schemeClr val="dk2"/>
                </a:solidFil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62"/>
        <p:cNvGrpSpPr/>
        <p:nvPr/>
      </p:nvGrpSpPr>
      <p:grpSpPr>
        <a:xfrm>
          <a:off x="0" y="0"/>
          <a:ext cx="0" cy="0"/>
          <a:chOff x="0" y="0"/>
          <a:chExt cx="0" cy="0"/>
        </a:xfrm>
      </p:grpSpPr>
      <p:sp>
        <p:nvSpPr>
          <p:cNvPr id="163" name="Google Shape;163;g21115aaa1d6_0_153"/>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164" name="Google Shape;164;g21115aaa1d6_0_153"/>
          <p:cNvSpPr txBox="1">
            <a:spLocks noGrp="1"/>
          </p:cNvSpPr>
          <p:nvPr>
            <p:ph type="body" idx="1"/>
          </p:nvPr>
        </p:nvSpPr>
        <p:spPr>
          <a:xfrm>
            <a:off x="311700" y="1465804"/>
            <a:ext cx="2808000" cy="3103200"/>
          </a:xfrm>
          <a:prstGeom prst="rect">
            <a:avLst/>
          </a:prstGeom>
        </p:spPr>
        <p:txBody>
          <a:bodyPr spcFirstLastPara="1" wrap="square" lIns="91425" tIns="91425" rIns="91425" bIns="91425" anchor="t" anchorCtr="0">
            <a:normAutofit/>
          </a:bodyPr>
          <a:lstStyle>
            <a:lvl1pPr marL="457200" lvl="0" indent="-304800" rtl="0">
              <a:spcBef>
                <a:spcPts val="0"/>
              </a:spcBef>
              <a:spcAft>
                <a:spcPts val="0"/>
              </a:spcAft>
              <a:buSzPts val="1200"/>
              <a:buChar char="●"/>
              <a:defRPr sz="1200"/>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
        <p:nvSpPr>
          <p:cNvPr id="165" name="Google Shape;165;g21115aaa1d6_0_153"/>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rtl="0">
              <a:buNone/>
              <a:defRPr>
                <a:solidFill>
                  <a:schemeClr val="dk2"/>
                </a:solidFill>
              </a:defRPr>
            </a:lvl1pPr>
            <a:lvl2pPr lvl="1" rtl="0">
              <a:buNone/>
              <a:defRPr>
                <a:solidFill>
                  <a:schemeClr val="dk2"/>
                </a:solidFill>
              </a:defRPr>
            </a:lvl2pPr>
            <a:lvl3pPr lvl="2" rtl="0">
              <a:buNone/>
              <a:defRPr>
                <a:solidFill>
                  <a:schemeClr val="dk2"/>
                </a:solidFill>
              </a:defRPr>
            </a:lvl3pPr>
            <a:lvl4pPr lvl="3" rtl="0">
              <a:buNone/>
              <a:defRPr>
                <a:solidFill>
                  <a:schemeClr val="dk2"/>
                </a:solidFill>
              </a:defRPr>
            </a:lvl4pPr>
            <a:lvl5pPr lvl="4" rtl="0">
              <a:buNone/>
              <a:defRPr>
                <a:solidFill>
                  <a:schemeClr val="dk2"/>
                </a:solidFill>
              </a:defRPr>
            </a:lvl5pPr>
            <a:lvl6pPr lvl="5" rtl="0">
              <a:buNone/>
              <a:defRPr>
                <a:solidFill>
                  <a:schemeClr val="dk2"/>
                </a:solidFill>
              </a:defRPr>
            </a:lvl6pPr>
            <a:lvl7pPr lvl="6" rtl="0">
              <a:buNone/>
              <a:defRPr>
                <a:solidFill>
                  <a:schemeClr val="dk2"/>
                </a:solidFill>
              </a:defRPr>
            </a:lvl7pPr>
            <a:lvl8pPr lvl="7" rtl="0">
              <a:buNone/>
              <a:defRPr>
                <a:solidFill>
                  <a:schemeClr val="dk2"/>
                </a:solidFill>
              </a:defRPr>
            </a:lvl8pPr>
            <a:lvl9pPr lvl="8" rtl="0">
              <a:buNone/>
              <a:defRPr>
                <a:solidFill>
                  <a:schemeClr val="dk2"/>
                </a:solidFil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4"/>
        </a:solidFill>
        <a:effectLst/>
      </p:bgPr>
    </p:bg>
    <p:spTree>
      <p:nvGrpSpPr>
        <p:cNvPr id="1" name="Shape 166"/>
        <p:cNvGrpSpPr/>
        <p:nvPr/>
      </p:nvGrpSpPr>
      <p:grpSpPr>
        <a:xfrm>
          <a:off x="0" y="0"/>
          <a:ext cx="0" cy="0"/>
          <a:chOff x="0" y="0"/>
          <a:chExt cx="0" cy="0"/>
        </a:xfrm>
      </p:grpSpPr>
      <p:grpSp>
        <p:nvGrpSpPr>
          <p:cNvPr id="167" name="Google Shape;167;g21115aaa1d6_0_157"/>
          <p:cNvGrpSpPr/>
          <p:nvPr/>
        </p:nvGrpSpPr>
        <p:grpSpPr>
          <a:xfrm>
            <a:off x="6098378" y="5"/>
            <a:ext cx="3045625" cy="2030570"/>
            <a:chOff x="6098378" y="5"/>
            <a:chExt cx="3045625" cy="2030570"/>
          </a:xfrm>
        </p:grpSpPr>
        <p:sp>
          <p:nvSpPr>
            <p:cNvPr id="168" name="Google Shape;168;g21115aaa1d6_0_157"/>
            <p:cNvSpPr/>
            <p:nvPr/>
          </p:nvSpPr>
          <p:spPr>
            <a:xfrm>
              <a:off x="8128803" y="16"/>
              <a:ext cx="1015200" cy="1015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g21115aaa1d6_0_157"/>
            <p:cNvSpPr/>
            <p:nvPr/>
          </p:nvSpPr>
          <p:spPr>
            <a:xfrm flipH="1">
              <a:off x="7113463" y="5"/>
              <a:ext cx="1015200" cy="10152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g21115aaa1d6_0_157"/>
            <p:cNvSpPr/>
            <p:nvPr/>
          </p:nvSpPr>
          <p:spPr>
            <a:xfrm rot="10800000" flipH="1">
              <a:off x="7113588" y="107"/>
              <a:ext cx="1015200" cy="1015200"/>
            </a:xfrm>
            <a:prstGeom prst="rtTriangl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g21115aaa1d6_0_157"/>
            <p:cNvSpPr/>
            <p:nvPr/>
          </p:nvSpPr>
          <p:spPr>
            <a:xfrm rot="10800000">
              <a:off x="6098378" y="97"/>
              <a:ext cx="1015200" cy="10152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g21115aaa1d6_0_157"/>
            <p:cNvSpPr/>
            <p:nvPr/>
          </p:nvSpPr>
          <p:spPr>
            <a:xfrm rot="10800000">
              <a:off x="8128789" y="1015375"/>
              <a:ext cx="1015200" cy="10152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3" name="Google Shape;173;g21115aaa1d6_0_157"/>
          <p:cNvSpPr txBox="1">
            <a:spLocks noGrp="1"/>
          </p:cNvSpPr>
          <p:nvPr>
            <p:ph type="title"/>
          </p:nvPr>
        </p:nvSpPr>
        <p:spPr>
          <a:xfrm>
            <a:off x="490250" y="526350"/>
            <a:ext cx="5618700" cy="4090800"/>
          </a:xfrm>
          <a:prstGeom prst="rect">
            <a:avLst/>
          </a:prstGeom>
        </p:spPr>
        <p:txBody>
          <a:bodyPr spcFirstLastPara="1" wrap="square" lIns="91425" tIns="91425" rIns="91425" bIns="91425" anchor="ctr" anchorCtr="0">
            <a:normAutofit/>
          </a:bodyPr>
          <a:lstStyle>
            <a:lvl1pPr lvl="0" rtl="0">
              <a:spcBef>
                <a:spcPts val="0"/>
              </a:spcBef>
              <a:spcAft>
                <a:spcPts val="0"/>
              </a:spcAft>
              <a:buClr>
                <a:schemeClr val="lt1"/>
              </a:buClr>
              <a:buSzPts val="4800"/>
              <a:buNone/>
              <a:defRPr sz="4800">
                <a:solidFill>
                  <a:schemeClr val="lt1"/>
                </a:solidFill>
              </a:defRPr>
            </a:lvl1pPr>
            <a:lvl2pPr lvl="1" rtl="0">
              <a:spcBef>
                <a:spcPts val="0"/>
              </a:spcBef>
              <a:spcAft>
                <a:spcPts val="0"/>
              </a:spcAft>
              <a:buClr>
                <a:schemeClr val="lt1"/>
              </a:buClr>
              <a:buSzPts val="4800"/>
              <a:buNone/>
              <a:defRPr sz="4800">
                <a:solidFill>
                  <a:schemeClr val="lt1"/>
                </a:solidFill>
              </a:defRPr>
            </a:lvl2pPr>
            <a:lvl3pPr lvl="2" rtl="0">
              <a:spcBef>
                <a:spcPts val="0"/>
              </a:spcBef>
              <a:spcAft>
                <a:spcPts val="0"/>
              </a:spcAft>
              <a:buClr>
                <a:schemeClr val="lt1"/>
              </a:buClr>
              <a:buSzPts val="4800"/>
              <a:buNone/>
              <a:defRPr sz="4800">
                <a:solidFill>
                  <a:schemeClr val="lt1"/>
                </a:solidFill>
              </a:defRPr>
            </a:lvl3pPr>
            <a:lvl4pPr lvl="3" rtl="0">
              <a:spcBef>
                <a:spcPts val="0"/>
              </a:spcBef>
              <a:spcAft>
                <a:spcPts val="0"/>
              </a:spcAft>
              <a:buClr>
                <a:schemeClr val="lt1"/>
              </a:buClr>
              <a:buSzPts val="4800"/>
              <a:buNone/>
              <a:defRPr sz="4800">
                <a:solidFill>
                  <a:schemeClr val="lt1"/>
                </a:solidFill>
              </a:defRPr>
            </a:lvl4pPr>
            <a:lvl5pPr lvl="4" rtl="0">
              <a:spcBef>
                <a:spcPts val="0"/>
              </a:spcBef>
              <a:spcAft>
                <a:spcPts val="0"/>
              </a:spcAft>
              <a:buClr>
                <a:schemeClr val="lt1"/>
              </a:buClr>
              <a:buSzPts val="4800"/>
              <a:buNone/>
              <a:defRPr sz="4800">
                <a:solidFill>
                  <a:schemeClr val="lt1"/>
                </a:solidFill>
              </a:defRPr>
            </a:lvl5pPr>
            <a:lvl6pPr lvl="5" rtl="0">
              <a:spcBef>
                <a:spcPts val="0"/>
              </a:spcBef>
              <a:spcAft>
                <a:spcPts val="0"/>
              </a:spcAft>
              <a:buClr>
                <a:schemeClr val="lt1"/>
              </a:buClr>
              <a:buSzPts val="4800"/>
              <a:buNone/>
              <a:defRPr sz="4800">
                <a:solidFill>
                  <a:schemeClr val="lt1"/>
                </a:solidFill>
              </a:defRPr>
            </a:lvl6pPr>
            <a:lvl7pPr lvl="6" rtl="0">
              <a:spcBef>
                <a:spcPts val="0"/>
              </a:spcBef>
              <a:spcAft>
                <a:spcPts val="0"/>
              </a:spcAft>
              <a:buClr>
                <a:schemeClr val="lt1"/>
              </a:buClr>
              <a:buSzPts val="4800"/>
              <a:buNone/>
              <a:defRPr sz="4800">
                <a:solidFill>
                  <a:schemeClr val="lt1"/>
                </a:solidFill>
              </a:defRPr>
            </a:lvl7pPr>
            <a:lvl8pPr lvl="7" rtl="0">
              <a:spcBef>
                <a:spcPts val="0"/>
              </a:spcBef>
              <a:spcAft>
                <a:spcPts val="0"/>
              </a:spcAft>
              <a:buClr>
                <a:schemeClr val="lt1"/>
              </a:buClr>
              <a:buSzPts val="4800"/>
              <a:buNone/>
              <a:defRPr sz="4800">
                <a:solidFill>
                  <a:schemeClr val="lt1"/>
                </a:solidFill>
              </a:defRPr>
            </a:lvl8pPr>
            <a:lvl9pPr lvl="8" rtl="0">
              <a:spcBef>
                <a:spcPts val="0"/>
              </a:spcBef>
              <a:spcAft>
                <a:spcPts val="0"/>
              </a:spcAft>
              <a:buClr>
                <a:schemeClr val="lt1"/>
              </a:buClr>
              <a:buSzPts val="4800"/>
              <a:buNone/>
              <a:defRPr sz="4800">
                <a:solidFill>
                  <a:schemeClr val="lt1"/>
                </a:solidFill>
              </a:defRPr>
            </a:lvl9pPr>
          </a:lstStyle>
          <a:p>
            <a:endParaRPr/>
          </a:p>
        </p:txBody>
      </p:sp>
      <p:sp>
        <p:nvSpPr>
          <p:cNvPr id="174" name="Google Shape;174;g21115aaa1d6_0_157"/>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75"/>
        <p:cNvGrpSpPr/>
        <p:nvPr/>
      </p:nvGrpSpPr>
      <p:grpSpPr>
        <a:xfrm>
          <a:off x="0" y="0"/>
          <a:ext cx="0" cy="0"/>
          <a:chOff x="0" y="0"/>
          <a:chExt cx="0" cy="0"/>
        </a:xfrm>
      </p:grpSpPr>
      <p:sp>
        <p:nvSpPr>
          <p:cNvPr id="176" name="Google Shape;176;g21115aaa1d6_0_166"/>
          <p:cNvSpPr/>
          <p:nvPr/>
        </p:nvSpPr>
        <p:spPr>
          <a:xfrm>
            <a:off x="4572000" y="-175"/>
            <a:ext cx="4572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77" name="Google Shape;177;g21115aaa1d6_0_166"/>
          <p:cNvCxnSpPr/>
          <p:nvPr/>
        </p:nvCxnSpPr>
        <p:spPr>
          <a:xfrm>
            <a:off x="5029675" y="4495500"/>
            <a:ext cx="468300" cy="0"/>
          </a:xfrm>
          <a:prstGeom prst="straightConnector1">
            <a:avLst/>
          </a:prstGeom>
          <a:noFill/>
          <a:ln w="19050" cap="flat" cmpd="sng">
            <a:solidFill>
              <a:schemeClr val="lt1"/>
            </a:solidFill>
            <a:prstDash val="solid"/>
            <a:round/>
            <a:headEnd type="none" w="sm" len="sm"/>
            <a:tailEnd type="none" w="sm" len="sm"/>
          </a:ln>
        </p:spPr>
      </p:cxnSp>
      <p:sp>
        <p:nvSpPr>
          <p:cNvPr id="178" name="Google Shape;178;g21115aaa1d6_0_166"/>
          <p:cNvSpPr txBox="1">
            <a:spLocks noGrp="1"/>
          </p:cNvSpPr>
          <p:nvPr>
            <p:ph type="title"/>
          </p:nvPr>
        </p:nvSpPr>
        <p:spPr>
          <a:xfrm>
            <a:off x="265500" y="1151100"/>
            <a:ext cx="4045200" cy="1564500"/>
          </a:xfrm>
          <a:prstGeom prst="rect">
            <a:avLst/>
          </a:prstGeom>
        </p:spPr>
        <p:txBody>
          <a:bodyPr spcFirstLastPara="1" wrap="square" lIns="91425" tIns="91425" rIns="91425" bIns="91425" anchor="b" anchorCtr="0">
            <a:normAutofit/>
          </a:bodyPr>
          <a:lstStyle>
            <a:lvl1pPr lvl="0" algn="ctr" rtl="0">
              <a:spcBef>
                <a:spcPts val="0"/>
              </a:spcBef>
              <a:spcAft>
                <a:spcPts val="0"/>
              </a:spcAft>
              <a:buSzPts val="4200"/>
              <a:buNone/>
              <a:defRPr sz="4200"/>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endParaRPr/>
          </a:p>
        </p:txBody>
      </p:sp>
      <p:sp>
        <p:nvSpPr>
          <p:cNvPr id="179" name="Google Shape;179;g21115aaa1d6_0_166"/>
          <p:cNvSpPr txBox="1">
            <a:spLocks noGrp="1"/>
          </p:cNvSpPr>
          <p:nvPr>
            <p:ph type="subTitle" idx="1"/>
          </p:nvPr>
        </p:nvSpPr>
        <p:spPr>
          <a:xfrm>
            <a:off x="265500" y="2769001"/>
            <a:ext cx="4045200" cy="1269300"/>
          </a:xfrm>
          <a:prstGeom prst="rect">
            <a:avLst/>
          </a:prstGeom>
        </p:spPr>
        <p:txBody>
          <a:bodyPr spcFirstLastPara="1" wrap="square" lIns="91425" tIns="91425" rIns="91425" bIns="91425" anchor="t" anchorCtr="0">
            <a:normAutofit/>
          </a:bodyPr>
          <a:lstStyle>
            <a:lvl1pPr lvl="0" algn="ctr" rtl="0">
              <a:lnSpc>
                <a:spcPct val="100000"/>
              </a:lnSpc>
              <a:spcBef>
                <a:spcPts val="0"/>
              </a:spcBef>
              <a:spcAft>
                <a:spcPts val="0"/>
              </a:spcAft>
              <a:buSzPts val="2100"/>
              <a:buNone/>
              <a:defRPr sz="2100"/>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180" name="Google Shape;180;g21115aaa1d6_0_166"/>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rmAutofit/>
          </a:bodyPr>
          <a:lstStyle>
            <a:lvl1pPr marL="457200" lvl="0" indent="-342900" rtl="0">
              <a:spcBef>
                <a:spcPts val="0"/>
              </a:spcBef>
              <a:spcAft>
                <a:spcPts val="0"/>
              </a:spcAft>
              <a:buClr>
                <a:schemeClr val="lt1"/>
              </a:buClr>
              <a:buSzPts val="1800"/>
              <a:buChar char="●"/>
              <a:defRPr>
                <a:solidFill>
                  <a:schemeClr val="lt1"/>
                </a:solidFill>
              </a:defRPr>
            </a:lvl1pPr>
            <a:lvl2pPr marL="914400" lvl="1" indent="-317500" rtl="0">
              <a:spcBef>
                <a:spcPts val="0"/>
              </a:spcBef>
              <a:spcAft>
                <a:spcPts val="0"/>
              </a:spcAft>
              <a:buClr>
                <a:schemeClr val="lt1"/>
              </a:buClr>
              <a:buSzPts val="1400"/>
              <a:buChar char="○"/>
              <a:defRPr>
                <a:solidFill>
                  <a:schemeClr val="lt1"/>
                </a:solidFill>
              </a:defRPr>
            </a:lvl2pPr>
            <a:lvl3pPr marL="1371600" lvl="2" indent="-317500" rtl="0">
              <a:spcBef>
                <a:spcPts val="0"/>
              </a:spcBef>
              <a:spcAft>
                <a:spcPts val="0"/>
              </a:spcAft>
              <a:buClr>
                <a:schemeClr val="lt1"/>
              </a:buClr>
              <a:buSzPts val="1400"/>
              <a:buChar char="■"/>
              <a:defRPr>
                <a:solidFill>
                  <a:schemeClr val="lt1"/>
                </a:solidFill>
              </a:defRPr>
            </a:lvl3pPr>
            <a:lvl4pPr marL="1828800" lvl="3" indent="-317500" rtl="0">
              <a:spcBef>
                <a:spcPts val="0"/>
              </a:spcBef>
              <a:spcAft>
                <a:spcPts val="0"/>
              </a:spcAft>
              <a:buClr>
                <a:schemeClr val="lt1"/>
              </a:buClr>
              <a:buSzPts val="1400"/>
              <a:buChar char="●"/>
              <a:defRPr>
                <a:solidFill>
                  <a:schemeClr val="lt1"/>
                </a:solidFill>
              </a:defRPr>
            </a:lvl4pPr>
            <a:lvl5pPr marL="2286000" lvl="4" indent="-317500" rtl="0">
              <a:spcBef>
                <a:spcPts val="0"/>
              </a:spcBef>
              <a:spcAft>
                <a:spcPts val="0"/>
              </a:spcAft>
              <a:buClr>
                <a:schemeClr val="lt1"/>
              </a:buClr>
              <a:buSzPts val="1400"/>
              <a:buChar char="○"/>
              <a:defRPr>
                <a:solidFill>
                  <a:schemeClr val="lt1"/>
                </a:solidFill>
              </a:defRPr>
            </a:lvl5pPr>
            <a:lvl6pPr marL="2743200" lvl="5" indent="-317500" rtl="0">
              <a:spcBef>
                <a:spcPts val="0"/>
              </a:spcBef>
              <a:spcAft>
                <a:spcPts val="0"/>
              </a:spcAft>
              <a:buClr>
                <a:schemeClr val="lt1"/>
              </a:buClr>
              <a:buSzPts val="1400"/>
              <a:buChar char="■"/>
              <a:defRPr>
                <a:solidFill>
                  <a:schemeClr val="lt1"/>
                </a:solidFill>
              </a:defRPr>
            </a:lvl6pPr>
            <a:lvl7pPr marL="3200400" lvl="6" indent="-317500" rtl="0">
              <a:spcBef>
                <a:spcPts val="0"/>
              </a:spcBef>
              <a:spcAft>
                <a:spcPts val="0"/>
              </a:spcAft>
              <a:buClr>
                <a:schemeClr val="lt1"/>
              </a:buClr>
              <a:buSzPts val="1400"/>
              <a:buChar char="●"/>
              <a:defRPr>
                <a:solidFill>
                  <a:schemeClr val="lt1"/>
                </a:solidFill>
              </a:defRPr>
            </a:lvl7pPr>
            <a:lvl8pPr marL="3657600" lvl="7" indent="-317500" rtl="0">
              <a:spcBef>
                <a:spcPts val="0"/>
              </a:spcBef>
              <a:spcAft>
                <a:spcPts val="0"/>
              </a:spcAft>
              <a:buClr>
                <a:schemeClr val="lt1"/>
              </a:buClr>
              <a:buSzPts val="1400"/>
              <a:buChar char="○"/>
              <a:defRPr>
                <a:solidFill>
                  <a:schemeClr val="lt1"/>
                </a:solidFill>
              </a:defRPr>
            </a:lvl8pPr>
            <a:lvl9pPr marL="4114800" lvl="8" indent="-317500" rtl="0">
              <a:spcBef>
                <a:spcPts val="0"/>
              </a:spcBef>
              <a:spcAft>
                <a:spcPts val="0"/>
              </a:spcAft>
              <a:buClr>
                <a:schemeClr val="lt1"/>
              </a:buClr>
              <a:buSzPts val="1400"/>
              <a:buChar char="■"/>
              <a:defRPr>
                <a:solidFill>
                  <a:schemeClr val="lt1"/>
                </a:solidFill>
              </a:defRPr>
            </a:lvl9pPr>
          </a:lstStyle>
          <a:p>
            <a:endParaRPr/>
          </a:p>
        </p:txBody>
      </p:sp>
      <p:sp>
        <p:nvSpPr>
          <p:cNvPr id="181" name="Google Shape;181;g21115aaa1d6_0_166"/>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82"/>
        <p:cNvGrpSpPr/>
        <p:nvPr/>
      </p:nvGrpSpPr>
      <p:grpSpPr>
        <a:xfrm>
          <a:off x="0" y="0"/>
          <a:ext cx="0" cy="0"/>
          <a:chOff x="0" y="0"/>
          <a:chExt cx="0" cy="0"/>
        </a:xfrm>
      </p:grpSpPr>
      <p:sp>
        <p:nvSpPr>
          <p:cNvPr id="183" name="Google Shape;183;g21115aaa1d6_0_173"/>
          <p:cNvSpPr txBox="1">
            <a:spLocks noGrp="1"/>
          </p:cNvSpPr>
          <p:nvPr>
            <p:ph type="body" idx="1"/>
          </p:nvPr>
        </p:nvSpPr>
        <p:spPr>
          <a:xfrm>
            <a:off x="319500" y="4230575"/>
            <a:ext cx="5998800" cy="598800"/>
          </a:xfrm>
          <a:prstGeom prst="rect">
            <a:avLst/>
          </a:prstGeom>
        </p:spPr>
        <p:txBody>
          <a:bodyPr spcFirstLastPara="1" wrap="square" lIns="91425" tIns="91425" rIns="91425" bIns="91425" anchor="ctr" anchorCtr="0">
            <a:normAutofit/>
          </a:bodyPr>
          <a:lstStyle>
            <a:lvl1pPr marL="457200" lvl="0" indent="-228600" rtl="0">
              <a:lnSpc>
                <a:spcPct val="100000"/>
              </a:lnSpc>
              <a:spcBef>
                <a:spcPts val="0"/>
              </a:spcBef>
              <a:spcAft>
                <a:spcPts val="0"/>
              </a:spcAft>
              <a:buSzPts val="1800"/>
              <a:buNone/>
              <a:defRPr/>
            </a:lvl1pPr>
          </a:lstStyle>
          <a:p>
            <a:endParaRPr/>
          </a:p>
        </p:txBody>
      </p:sp>
      <p:sp>
        <p:nvSpPr>
          <p:cNvPr id="184" name="Google Shape;184;g21115aaa1d6_0_173"/>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rtl="0">
              <a:buNone/>
              <a:defRPr>
                <a:solidFill>
                  <a:schemeClr val="dk2"/>
                </a:solidFill>
              </a:defRPr>
            </a:lvl1pPr>
            <a:lvl2pPr lvl="1" rtl="0">
              <a:buNone/>
              <a:defRPr>
                <a:solidFill>
                  <a:schemeClr val="dk2"/>
                </a:solidFill>
              </a:defRPr>
            </a:lvl2pPr>
            <a:lvl3pPr lvl="2" rtl="0">
              <a:buNone/>
              <a:defRPr>
                <a:solidFill>
                  <a:schemeClr val="dk2"/>
                </a:solidFill>
              </a:defRPr>
            </a:lvl3pPr>
            <a:lvl4pPr lvl="3" rtl="0">
              <a:buNone/>
              <a:defRPr>
                <a:solidFill>
                  <a:schemeClr val="dk2"/>
                </a:solidFill>
              </a:defRPr>
            </a:lvl4pPr>
            <a:lvl5pPr lvl="4" rtl="0">
              <a:buNone/>
              <a:defRPr>
                <a:solidFill>
                  <a:schemeClr val="dk2"/>
                </a:solidFill>
              </a:defRPr>
            </a:lvl5pPr>
            <a:lvl6pPr lvl="5" rtl="0">
              <a:buNone/>
              <a:defRPr>
                <a:solidFill>
                  <a:schemeClr val="dk2"/>
                </a:solidFill>
              </a:defRPr>
            </a:lvl6pPr>
            <a:lvl7pPr lvl="6" rtl="0">
              <a:buNone/>
              <a:defRPr>
                <a:solidFill>
                  <a:schemeClr val="dk2"/>
                </a:solidFill>
              </a:defRPr>
            </a:lvl7pPr>
            <a:lvl8pPr lvl="7" rtl="0">
              <a:buNone/>
              <a:defRPr>
                <a:solidFill>
                  <a:schemeClr val="dk2"/>
                </a:solidFill>
              </a:defRPr>
            </a:lvl8pPr>
            <a:lvl9pPr lvl="8" rtl="0">
              <a:buNone/>
              <a:defRPr>
                <a:solidFill>
                  <a:schemeClr val="dk2"/>
                </a:solidFil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185"/>
        <p:cNvGrpSpPr/>
        <p:nvPr/>
      </p:nvGrpSpPr>
      <p:grpSpPr>
        <a:xfrm>
          <a:off x="0" y="0"/>
          <a:ext cx="0" cy="0"/>
          <a:chOff x="0" y="0"/>
          <a:chExt cx="0" cy="0"/>
        </a:xfrm>
      </p:grpSpPr>
      <p:grpSp>
        <p:nvGrpSpPr>
          <p:cNvPr id="186" name="Google Shape;186;g21115aaa1d6_0_176"/>
          <p:cNvGrpSpPr/>
          <p:nvPr/>
        </p:nvGrpSpPr>
        <p:grpSpPr>
          <a:xfrm>
            <a:off x="6098378" y="5"/>
            <a:ext cx="3045625" cy="2030570"/>
            <a:chOff x="6098378" y="5"/>
            <a:chExt cx="3045625" cy="2030570"/>
          </a:xfrm>
        </p:grpSpPr>
        <p:sp>
          <p:nvSpPr>
            <p:cNvPr id="187" name="Google Shape;187;g21115aaa1d6_0_176"/>
            <p:cNvSpPr/>
            <p:nvPr/>
          </p:nvSpPr>
          <p:spPr>
            <a:xfrm>
              <a:off x="8128803" y="16"/>
              <a:ext cx="1015200" cy="10152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g21115aaa1d6_0_176"/>
            <p:cNvSpPr/>
            <p:nvPr/>
          </p:nvSpPr>
          <p:spPr>
            <a:xfrm flipH="1">
              <a:off x="7113463" y="5"/>
              <a:ext cx="1015200" cy="1015200"/>
            </a:xfrm>
            <a:prstGeom prst="rtTriangl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89;g21115aaa1d6_0_176"/>
            <p:cNvSpPr/>
            <p:nvPr/>
          </p:nvSpPr>
          <p:spPr>
            <a:xfrm rot="10800000" flipH="1">
              <a:off x="7113588" y="107"/>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g21115aaa1d6_0_176"/>
            <p:cNvSpPr/>
            <p:nvPr/>
          </p:nvSpPr>
          <p:spPr>
            <a:xfrm rot="10800000">
              <a:off x="6098378" y="97"/>
              <a:ext cx="1015200" cy="10152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g21115aaa1d6_0_176"/>
            <p:cNvSpPr/>
            <p:nvPr/>
          </p:nvSpPr>
          <p:spPr>
            <a:xfrm rot="10800000">
              <a:off x="8128789" y="1015375"/>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92" name="Google Shape;192;g21115aaa1d6_0_176"/>
          <p:cNvSpPr txBox="1">
            <a:spLocks noGrp="1"/>
          </p:cNvSpPr>
          <p:nvPr>
            <p:ph type="title" hasCustomPrompt="1"/>
          </p:nvPr>
        </p:nvSpPr>
        <p:spPr>
          <a:xfrm>
            <a:off x="311700" y="1256050"/>
            <a:ext cx="8520600" cy="2030700"/>
          </a:xfrm>
          <a:prstGeom prst="rect">
            <a:avLst/>
          </a:prstGeom>
        </p:spPr>
        <p:txBody>
          <a:bodyPr spcFirstLastPara="1" wrap="square" lIns="91425" tIns="91425" rIns="91425" bIns="91425" anchor="b" anchorCtr="0">
            <a:normAutofit/>
          </a:bodyPr>
          <a:lstStyle>
            <a:lvl1pPr lvl="0" algn="ctr" rtl="0">
              <a:spcBef>
                <a:spcPts val="0"/>
              </a:spcBef>
              <a:spcAft>
                <a:spcPts val="0"/>
              </a:spcAft>
              <a:buClr>
                <a:schemeClr val="lt1"/>
              </a:buClr>
              <a:buSzPts val="12000"/>
              <a:buNone/>
              <a:defRPr sz="12000">
                <a:solidFill>
                  <a:schemeClr val="lt1"/>
                </a:solidFill>
              </a:defRPr>
            </a:lvl1pPr>
            <a:lvl2pPr lvl="1" algn="ctr" rtl="0">
              <a:spcBef>
                <a:spcPts val="0"/>
              </a:spcBef>
              <a:spcAft>
                <a:spcPts val="0"/>
              </a:spcAft>
              <a:buClr>
                <a:schemeClr val="lt1"/>
              </a:buClr>
              <a:buSzPts val="12000"/>
              <a:buNone/>
              <a:defRPr sz="12000">
                <a:solidFill>
                  <a:schemeClr val="lt1"/>
                </a:solidFill>
              </a:defRPr>
            </a:lvl2pPr>
            <a:lvl3pPr lvl="2" algn="ctr" rtl="0">
              <a:spcBef>
                <a:spcPts val="0"/>
              </a:spcBef>
              <a:spcAft>
                <a:spcPts val="0"/>
              </a:spcAft>
              <a:buClr>
                <a:schemeClr val="lt1"/>
              </a:buClr>
              <a:buSzPts val="12000"/>
              <a:buNone/>
              <a:defRPr sz="12000">
                <a:solidFill>
                  <a:schemeClr val="lt1"/>
                </a:solidFill>
              </a:defRPr>
            </a:lvl3pPr>
            <a:lvl4pPr lvl="3" algn="ctr" rtl="0">
              <a:spcBef>
                <a:spcPts val="0"/>
              </a:spcBef>
              <a:spcAft>
                <a:spcPts val="0"/>
              </a:spcAft>
              <a:buClr>
                <a:schemeClr val="lt1"/>
              </a:buClr>
              <a:buSzPts val="12000"/>
              <a:buNone/>
              <a:defRPr sz="12000">
                <a:solidFill>
                  <a:schemeClr val="lt1"/>
                </a:solidFill>
              </a:defRPr>
            </a:lvl4pPr>
            <a:lvl5pPr lvl="4" algn="ctr" rtl="0">
              <a:spcBef>
                <a:spcPts val="0"/>
              </a:spcBef>
              <a:spcAft>
                <a:spcPts val="0"/>
              </a:spcAft>
              <a:buClr>
                <a:schemeClr val="lt1"/>
              </a:buClr>
              <a:buSzPts val="12000"/>
              <a:buNone/>
              <a:defRPr sz="12000">
                <a:solidFill>
                  <a:schemeClr val="lt1"/>
                </a:solidFill>
              </a:defRPr>
            </a:lvl5pPr>
            <a:lvl6pPr lvl="5" algn="ctr" rtl="0">
              <a:spcBef>
                <a:spcPts val="0"/>
              </a:spcBef>
              <a:spcAft>
                <a:spcPts val="0"/>
              </a:spcAft>
              <a:buClr>
                <a:schemeClr val="lt1"/>
              </a:buClr>
              <a:buSzPts val="12000"/>
              <a:buNone/>
              <a:defRPr sz="12000">
                <a:solidFill>
                  <a:schemeClr val="lt1"/>
                </a:solidFill>
              </a:defRPr>
            </a:lvl6pPr>
            <a:lvl7pPr lvl="6" algn="ctr" rtl="0">
              <a:spcBef>
                <a:spcPts val="0"/>
              </a:spcBef>
              <a:spcAft>
                <a:spcPts val="0"/>
              </a:spcAft>
              <a:buClr>
                <a:schemeClr val="lt1"/>
              </a:buClr>
              <a:buSzPts val="12000"/>
              <a:buNone/>
              <a:defRPr sz="12000">
                <a:solidFill>
                  <a:schemeClr val="lt1"/>
                </a:solidFill>
              </a:defRPr>
            </a:lvl7pPr>
            <a:lvl8pPr lvl="7" algn="ctr" rtl="0">
              <a:spcBef>
                <a:spcPts val="0"/>
              </a:spcBef>
              <a:spcAft>
                <a:spcPts val="0"/>
              </a:spcAft>
              <a:buClr>
                <a:schemeClr val="lt1"/>
              </a:buClr>
              <a:buSzPts val="12000"/>
              <a:buNone/>
              <a:defRPr sz="12000">
                <a:solidFill>
                  <a:schemeClr val="lt1"/>
                </a:solidFill>
              </a:defRPr>
            </a:lvl8pPr>
            <a:lvl9pPr lvl="8" algn="ctr" rtl="0">
              <a:spcBef>
                <a:spcPts val="0"/>
              </a:spcBef>
              <a:spcAft>
                <a:spcPts val="0"/>
              </a:spcAft>
              <a:buClr>
                <a:schemeClr val="lt1"/>
              </a:buClr>
              <a:buSzPts val="12000"/>
              <a:buNone/>
              <a:defRPr sz="12000">
                <a:solidFill>
                  <a:schemeClr val="lt1"/>
                </a:solidFill>
              </a:defRPr>
            </a:lvl9pPr>
          </a:lstStyle>
          <a:p>
            <a:r>
              <a:t>xx%</a:t>
            </a:r>
          </a:p>
        </p:txBody>
      </p:sp>
      <p:sp>
        <p:nvSpPr>
          <p:cNvPr id="193" name="Google Shape;193;g21115aaa1d6_0_176"/>
          <p:cNvSpPr txBox="1">
            <a:spLocks noGrp="1"/>
          </p:cNvSpPr>
          <p:nvPr>
            <p:ph type="body" idx="1"/>
          </p:nvPr>
        </p:nvSpPr>
        <p:spPr>
          <a:xfrm>
            <a:off x="311700" y="3369225"/>
            <a:ext cx="8520600" cy="1281900"/>
          </a:xfrm>
          <a:prstGeom prst="rect">
            <a:avLst/>
          </a:prstGeom>
        </p:spPr>
        <p:txBody>
          <a:bodyPr spcFirstLastPara="1" wrap="square" lIns="91425" tIns="91425" rIns="91425" bIns="91425" anchor="t" anchorCtr="0">
            <a:normAutofit/>
          </a:bodyPr>
          <a:lstStyle>
            <a:lvl1pPr marL="457200" lvl="0" indent="-342900" algn="ctr" rtl="0">
              <a:spcBef>
                <a:spcPts val="0"/>
              </a:spcBef>
              <a:spcAft>
                <a:spcPts val="0"/>
              </a:spcAft>
              <a:buClr>
                <a:schemeClr val="lt1"/>
              </a:buClr>
              <a:buSzPts val="1800"/>
              <a:buChar char="●"/>
              <a:defRPr>
                <a:solidFill>
                  <a:schemeClr val="lt1"/>
                </a:solidFill>
              </a:defRPr>
            </a:lvl1pPr>
            <a:lvl2pPr marL="914400" lvl="1" indent="-317500" algn="ctr" rtl="0">
              <a:spcBef>
                <a:spcPts val="0"/>
              </a:spcBef>
              <a:spcAft>
                <a:spcPts val="0"/>
              </a:spcAft>
              <a:buClr>
                <a:schemeClr val="lt1"/>
              </a:buClr>
              <a:buSzPts val="1400"/>
              <a:buChar char="○"/>
              <a:defRPr>
                <a:solidFill>
                  <a:schemeClr val="lt1"/>
                </a:solidFill>
              </a:defRPr>
            </a:lvl2pPr>
            <a:lvl3pPr marL="1371600" lvl="2" indent="-317500" algn="ctr" rtl="0">
              <a:spcBef>
                <a:spcPts val="0"/>
              </a:spcBef>
              <a:spcAft>
                <a:spcPts val="0"/>
              </a:spcAft>
              <a:buClr>
                <a:schemeClr val="lt1"/>
              </a:buClr>
              <a:buSzPts val="1400"/>
              <a:buChar char="■"/>
              <a:defRPr>
                <a:solidFill>
                  <a:schemeClr val="lt1"/>
                </a:solidFill>
              </a:defRPr>
            </a:lvl3pPr>
            <a:lvl4pPr marL="1828800" lvl="3" indent="-317500" algn="ctr" rtl="0">
              <a:spcBef>
                <a:spcPts val="0"/>
              </a:spcBef>
              <a:spcAft>
                <a:spcPts val="0"/>
              </a:spcAft>
              <a:buClr>
                <a:schemeClr val="lt1"/>
              </a:buClr>
              <a:buSzPts val="1400"/>
              <a:buChar char="●"/>
              <a:defRPr>
                <a:solidFill>
                  <a:schemeClr val="lt1"/>
                </a:solidFill>
              </a:defRPr>
            </a:lvl4pPr>
            <a:lvl5pPr marL="2286000" lvl="4" indent="-317500" algn="ctr" rtl="0">
              <a:spcBef>
                <a:spcPts val="0"/>
              </a:spcBef>
              <a:spcAft>
                <a:spcPts val="0"/>
              </a:spcAft>
              <a:buClr>
                <a:schemeClr val="lt1"/>
              </a:buClr>
              <a:buSzPts val="1400"/>
              <a:buChar char="○"/>
              <a:defRPr>
                <a:solidFill>
                  <a:schemeClr val="lt1"/>
                </a:solidFill>
              </a:defRPr>
            </a:lvl5pPr>
            <a:lvl6pPr marL="2743200" lvl="5" indent="-317500" algn="ctr" rtl="0">
              <a:spcBef>
                <a:spcPts val="0"/>
              </a:spcBef>
              <a:spcAft>
                <a:spcPts val="0"/>
              </a:spcAft>
              <a:buClr>
                <a:schemeClr val="lt1"/>
              </a:buClr>
              <a:buSzPts val="1400"/>
              <a:buChar char="■"/>
              <a:defRPr>
                <a:solidFill>
                  <a:schemeClr val="lt1"/>
                </a:solidFill>
              </a:defRPr>
            </a:lvl6pPr>
            <a:lvl7pPr marL="3200400" lvl="6" indent="-317500" algn="ctr" rtl="0">
              <a:spcBef>
                <a:spcPts val="0"/>
              </a:spcBef>
              <a:spcAft>
                <a:spcPts val="0"/>
              </a:spcAft>
              <a:buClr>
                <a:schemeClr val="lt1"/>
              </a:buClr>
              <a:buSzPts val="1400"/>
              <a:buChar char="●"/>
              <a:defRPr>
                <a:solidFill>
                  <a:schemeClr val="lt1"/>
                </a:solidFill>
              </a:defRPr>
            </a:lvl7pPr>
            <a:lvl8pPr marL="3657600" lvl="7" indent="-317500" algn="ctr" rtl="0">
              <a:spcBef>
                <a:spcPts val="0"/>
              </a:spcBef>
              <a:spcAft>
                <a:spcPts val="0"/>
              </a:spcAft>
              <a:buClr>
                <a:schemeClr val="lt1"/>
              </a:buClr>
              <a:buSzPts val="1400"/>
              <a:buChar char="○"/>
              <a:defRPr>
                <a:solidFill>
                  <a:schemeClr val="lt1"/>
                </a:solidFill>
              </a:defRPr>
            </a:lvl8pPr>
            <a:lvl9pPr marL="4114800" lvl="8" indent="-317500" algn="ctr" rtl="0">
              <a:spcBef>
                <a:spcPts val="0"/>
              </a:spcBef>
              <a:spcAft>
                <a:spcPts val="0"/>
              </a:spcAft>
              <a:buClr>
                <a:schemeClr val="lt1"/>
              </a:buClr>
              <a:buSzPts val="1400"/>
              <a:buChar char="■"/>
              <a:defRPr>
                <a:solidFill>
                  <a:schemeClr val="lt1"/>
                </a:solidFill>
              </a:defRPr>
            </a:lvl9pPr>
          </a:lstStyle>
          <a:p>
            <a:endParaRPr/>
          </a:p>
        </p:txBody>
      </p:sp>
      <p:sp>
        <p:nvSpPr>
          <p:cNvPr id="194" name="Google Shape;194;g21115aaa1d6_0_176"/>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95"/>
        <p:cNvGrpSpPr/>
        <p:nvPr/>
      </p:nvGrpSpPr>
      <p:grpSpPr>
        <a:xfrm>
          <a:off x="0" y="0"/>
          <a:ext cx="0" cy="0"/>
          <a:chOff x="0" y="0"/>
          <a:chExt cx="0" cy="0"/>
        </a:xfrm>
      </p:grpSpPr>
      <p:sp>
        <p:nvSpPr>
          <p:cNvPr id="196" name="Google Shape;196;g21115aaa1d6_0_186"/>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rtl="0">
              <a:buNone/>
              <a:defRPr>
                <a:solidFill>
                  <a:schemeClr val="dk2"/>
                </a:solidFill>
              </a:defRPr>
            </a:lvl1pPr>
            <a:lvl2pPr lvl="1" rtl="0">
              <a:buNone/>
              <a:defRPr>
                <a:solidFill>
                  <a:schemeClr val="dk2"/>
                </a:solidFill>
              </a:defRPr>
            </a:lvl2pPr>
            <a:lvl3pPr lvl="2" rtl="0">
              <a:buNone/>
              <a:defRPr>
                <a:solidFill>
                  <a:schemeClr val="dk2"/>
                </a:solidFill>
              </a:defRPr>
            </a:lvl3pPr>
            <a:lvl4pPr lvl="3" rtl="0">
              <a:buNone/>
              <a:defRPr>
                <a:solidFill>
                  <a:schemeClr val="dk2"/>
                </a:solidFill>
              </a:defRPr>
            </a:lvl4pPr>
            <a:lvl5pPr lvl="4" rtl="0">
              <a:buNone/>
              <a:defRPr>
                <a:solidFill>
                  <a:schemeClr val="dk2"/>
                </a:solidFill>
              </a:defRPr>
            </a:lvl5pPr>
            <a:lvl6pPr lvl="5" rtl="0">
              <a:buNone/>
              <a:defRPr>
                <a:solidFill>
                  <a:schemeClr val="dk2"/>
                </a:solidFill>
              </a:defRPr>
            </a:lvl6pPr>
            <a:lvl7pPr lvl="6" rtl="0">
              <a:buNone/>
              <a:defRPr>
                <a:solidFill>
                  <a:schemeClr val="dk2"/>
                </a:solidFill>
              </a:defRPr>
            </a:lvl7pPr>
            <a:lvl8pPr lvl="7" rtl="0">
              <a:buNone/>
              <a:defRPr>
                <a:solidFill>
                  <a:schemeClr val="dk2"/>
                </a:solidFill>
              </a:defRPr>
            </a:lvl8pPr>
            <a:lvl9pPr lvl="8" rtl="0">
              <a:buNone/>
              <a:defRPr>
                <a:solidFill>
                  <a:schemeClr val="dk2"/>
                </a:solidFil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theme" Target="../theme/theme3.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2A3990"/>
        </a:solidFill>
        <a:effectLst/>
      </p:bgPr>
    </p:bg>
    <p:spTree>
      <p:nvGrpSpPr>
        <p:cNvPr id="1" name="Shape 5"/>
        <p:cNvGrpSpPr/>
        <p:nvPr/>
      </p:nvGrpSpPr>
      <p:grpSpPr>
        <a:xfrm>
          <a:off x="0" y="0"/>
          <a:ext cx="0" cy="0"/>
          <a:chOff x="0" y="0"/>
          <a:chExt cx="0" cy="0"/>
        </a:xfrm>
      </p:grpSpPr>
      <p:grpSp>
        <p:nvGrpSpPr>
          <p:cNvPr id="6" name="Google Shape;6;p46"/>
          <p:cNvGrpSpPr/>
          <p:nvPr/>
        </p:nvGrpSpPr>
        <p:grpSpPr>
          <a:xfrm>
            <a:off x="6098760" y="0"/>
            <a:ext cx="3045240" cy="2030040"/>
            <a:chOff x="6098760" y="0"/>
            <a:chExt cx="3045240" cy="2030040"/>
          </a:xfrm>
        </p:grpSpPr>
        <p:sp>
          <p:nvSpPr>
            <p:cNvPr id="7" name="Google Shape;7;p46"/>
            <p:cNvSpPr/>
            <p:nvPr/>
          </p:nvSpPr>
          <p:spPr>
            <a:xfrm>
              <a:off x="8128800" y="0"/>
              <a:ext cx="1014840" cy="101484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8;p46"/>
            <p:cNvSpPr/>
            <p:nvPr/>
          </p:nvSpPr>
          <p:spPr>
            <a:xfrm flipH="1">
              <a:off x="7112880" y="0"/>
              <a:ext cx="1014840" cy="1014840"/>
            </a:xfrm>
            <a:prstGeom prst="rtTriangl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9;p46"/>
            <p:cNvSpPr/>
            <p:nvPr/>
          </p:nvSpPr>
          <p:spPr>
            <a:xfrm rot="10800000" flipH="1">
              <a:off x="7113240" y="360"/>
              <a:ext cx="1014840" cy="101484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0;p46"/>
            <p:cNvSpPr/>
            <p:nvPr/>
          </p:nvSpPr>
          <p:spPr>
            <a:xfrm rot="10800000">
              <a:off x="6098760" y="0"/>
              <a:ext cx="1014840" cy="101484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46"/>
            <p:cNvSpPr/>
            <p:nvPr/>
          </p:nvSpPr>
          <p:spPr>
            <a:xfrm rot="10800000">
              <a:off x="8129160" y="1015200"/>
              <a:ext cx="1014840" cy="101484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 name="Google Shape;12;p46"/>
          <p:cNvSpPr txBox="1">
            <a:spLocks noGrp="1"/>
          </p:cNvSpPr>
          <p:nvPr>
            <p:ph type="title"/>
          </p:nvPr>
        </p:nvSpPr>
        <p:spPr>
          <a:xfrm>
            <a:off x="597960" y="1775160"/>
            <a:ext cx="8221680" cy="838440"/>
          </a:xfrm>
          <a:prstGeom prst="rect">
            <a:avLst/>
          </a:prstGeom>
          <a:noFill/>
          <a:ln>
            <a:noFill/>
          </a:ln>
        </p:spPr>
        <p:txBody>
          <a:bodyPr spcFirstLastPara="1" wrap="square" lIns="91425" tIns="91425" rIns="91425" bIns="91425" anchor="b" anchorCtr="0">
            <a:normAutofit/>
          </a:bodyPr>
          <a:lstStyle>
            <a:lvl1pPr marR="0" lvl="0" algn="l" rtl="0">
              <a:spcBef>
                <a:spcPts val="0"/>
              </a:spcBef>
              <a:spcAft>
                <a:spcPts val="0"/>
              </a:spcAft>
              <a:buSzPts val="1400"/>
              <a:buNone/>
              <a:defRPr sz="1800" b="0" i="0" u="none" strike="noStrike" cap="none"/>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a:endParaRPr/>
          </a:p>
        </p:txBody>
      </p:sp>
      <p:sp>
        <p:nvSpPr>
          <p:cNvPr id="13" name="Google Shape;13;p46"/>
          <p:cNvSpPr txBox="1">
            <a:spLocks noGrp="1"/>
          </p:cNvSpPr>
          <p:nvPr>
            <p:ph type="sldNum" idx="12"/>
          </p:nvPr>
        </p:nvSpPr>
        <p:spPr>
          <a:xfrm>
            <a:off x="8460360" y="4651200"/>
            <a:ext cx="548280" cy="39312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buNone/>
              <a:defRPr sz="1000" b="0" i="0" u="none" strike="noStrike" cap="none">
                <a:solidFill>
                  <a:srgbClr val="FFFFFF"/>
                </a:solidFill>
                <a:latin typeface="Roboto"/>
                <a:ea typeface="Roboto"/>
                <a:cs typeface="Roboto"/>
                <a:sym typeface="Roboto"/>
              </a:defRPr>
            </a:lvl1pPr>
            <a:lvl2pPr marL="0" marR="0" lvl="1" indent="0" algn="r" rtl="0">
              <a:lnSpc>
                <a:spcPct val="100000"/>
              </a:lnSpc>
              <a:spcBef>
                <a:spcPts val="0"/>
              </a:spcBef>
              <a:buNone/>
              <a:defRPr sz="1000" b="0" i="0" u="none" strike="noStrike" cap="none">
                <a:solidFill>
                  <a:srgbClr val="FFFFFF"/>
                </a:solidFill>
                <a:latin typeface="Roboto"/>
                <a:ea typeface="Roboto"/>
                <a:cs typeface="Roboto"/>
                <a:sym typeface="Roboto"/>
              </a:defRPr>
            </a:lvl2pPr>
            <a:lvl3pPr marL="0" marR="0" lvl="2" indent="0" algn="r" rtl="0">
              <a:lnSpc>
                <a:spcPct val="100000"/>
              </a:lnSpc>
              <a:spcBef>
                <a:spcPts val="0"/>
              </a:spcBef>
              <a:buNone/>
              <a:defRPr sz="1000" b="0" i="0" u="none" strike="noStrike" cap="none">
                <a:solidFill>
                  <a:srgbClr val="FFFFFF"/>
                </a:solidFill>
                <a:latin typeface="Roboto"/>
                <a:ea typeface="Roboto"/>
                <a:cs typeface="Roboto"/>
                <a:sym typeface="Roboto"/>
              </a:defRPr>
            </a:lvl3pPr>
            <a:lvl4pPr marL="0" marR="0" lvl="3" indent="0" algn="r" rtl="0">
              <a:lnSpc>
                <a:spcPct val="100000"/>
              </a:lnSpc>
              <a:spcBef>
                <a:spcPts val="0"/>
              </a:spcBef>
              <a:buNone/>
              <a:defRPr sz="1000" b="0" i="0" u="none" strike="noStrike" cap="none">
                <a:solidFill>
                  <a:srgbClr val="FFFFFF"/>
                </a:solidFill>
                <a:latin typeface="Roboto"/>
                <a:ea typeface="Roboto"/>
                <a:cs typeface="Roboto"/>
                <a:sym typeface="Roboto"/>
              </a:defRPr>
            </a:lvl4pPr>
            <a:lvl5pPr marL="0" marR="0" lvl="4" indent="0" algn="r" rtl="0">
              <a:lnSpc>
                <a:spcPct val="100000"/>
              </a:lnSpc>
              <a:spcBef>
                <a:spcPts val="0"/>
              </a:spcBef>
              <a:buNone/>
              <a:defRPr sz="1000" b="0" i="0" u="none" strike="noStrike" cap="none">
                <a:solidFill>
                  <a:srgbClr val="FFFFFF"/>
                </a:solidFill>
                <a:latin typeface="Roboto"/>
                <a:ea typeface="Roboto"/>
                <a:cs typeface="Roboto"/>
                <a:sym typeface="Roboto"/>
              </a:defRPr>
            </a:lvl5pPr>
            <a:lvl6pPr marL="0" marR="0" lvl="5" indent="0" algn="r" rtl="0">
              <a:lnSpc>
                <a:spcPct val="100000"/>
              </a:lnSpc>
              <a:spcBef>
                <a:spcPts val="0"/>
              </a:spcBef>
              <a:buNone/>
              <a:defRPr sz="1000" b="0" i="0" u="none" strike="noStrike" cap="none">
                <a:solidFill>
                  <a:srgbClr val="FFFFFF"/>
                </a:solidFill>
                <a:latin typeface="Roboto"/>
                <a:ea typeface="Roboto"/>
                <a:cs typeface="Roboto"/>
                <a:sym typeface="Roboto"/>
              </a:defRPr>
            </a:lvl6pPr>
            <a:lvl7pPr marL="0" marR="0" lvl="6" indent="0" algn="r" rtl="0">
              <a:lnSpc>
                <a:spcPct val="100000"/>
              </a:lnSpc>
              <a:spcBef>
                <a:spcPts val="0"/>
              </a:spcBef>
              <a:buNone/>
              <a:defRPr sz="1000" b="0" i="0" u="none" strike="noStrike" cap="none">
                <a:solidFill>
                  <a:srgbClr val="FFFFFF"/>
                </a:solidFill>
                <a:latin typeface="Roboto"/>
                <a:ea typeface="Roboto"/>
                <a:cs typeface="Roboto"/>
                <a:sym typeface="Roboto"/>
              </a:defRPr>
            </a:lvl7pPr>
            <a:lvl8pPr marL="0" marR="0" lvl="7" indent="0" algn="r" rtl="0">
              <a:lnSpc>
                <a:spcPct val="100000"/>
              </a:lnSpc>
              <a:spcBef>
                <a:spcPts val="0"/>
              </a:spcBef>
              <a:buNone/>
              <a:defRPr sz="1000" b="0" i="0" u="none" strike="noStrike" cap="none">
                <a:solidFill>
                  <a:srgbClr val="FFFFFF"/>
                </a:solidFill>
                <a:latin typeface="Roboto"/>
                <a:ea typeface="Roboto"/>
                <a:cs typeface="Roboto"/>
                <a:sym typeface="Roboto"/>
              </a:defRPr>
            </a:lvl8pPr>
            <a:lvl9pPr marL="0" marR="0" lvl="8" indent="0" algn="r" rtl="0">
              <a:lnSpc>
                <a:spcPct val="100000"/>
              </a:lnSpc>
              <a:spcBef>
                <a:spcPts val="0"/>
              </a:spcBef>
              <a:buNone/>
              <a:defRPr sz="1000" b="0" i="0" u="none" strike="noStrike" cap="none">
                <a:solidFill>
                  <a:srgbClr val="FFFFFF"/>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GB"/>
              <a:t>‹#›</a:t>
            </a:fld>
            <a:endParaRPr>
              <a:solidFill>
                <a:srgbClr val="000000"/>
              </a:solidFill>
              <a:latin typeface="Times New Roman"/>
              <a:ea typeface="Times New Roman"/>
              <a:cs typeface="Times New Roman"/>
              <a:sym typeface="Times New Roman"/>
            </a:endParaRPr>
          </a:p>
        </p:txBody>
      </p:sp>
      <p:sp>
        <p:nvSpPr>
          <p:cNvPr id="14" name="Google Shape;14;p46"/>
          <p:cNvSpPr txBox="1">
            <a:spLocks noGrp="1"/>
          </p:cNvSpPr>
          <p:nvPr>
            <p:ph type="body" idx="1"/>
          </p:nvPr>
        </p:nvSpPr>
        <p:spPr>
          <a:xfrm>
            <a:off x="457200" y="1203480"/>
            <a:ext cx="8229240" cy="2982960"/>
          </a:xfrm>
          <a:prstGeom prst="rect">
            <a:avLst/>
          </a:prstGeom>
          <a:noFill/>
          <a:ln>
            <a:noFill/>
          </a:ln>
        </p:spPr>
        <p:txBody>
          <a:bodyPr spcFirstLastPara="1" wrap="square" lIns="0" tIns="0" rIns="0" bIns="0" anchor="t" anchorCtr="0">
            <a:normAutofit/>
          </a:bodyPr>
          <a:lstStyle>
            <a:lvl1pPr marL="457200" marR="0" lvl="0" indent="-228600" algn="l" rtl="0">
              <a:spcBef>
                <a:spcPts val="0"/>
              </a:spcBef>
              <a:spcAft>
                <a:spcPts val="0"/>
              </a:spcAft>
              <a:buSzPts val="1400"/>
              <a:buNone/>
              <a:defRPr sz="1800" b="0" i="0" u="none" strike="noStrike" cap="none"/>
            </a:lvl1pPr>
            <a:lvl2pPr marL="914400" marR="0" lvl="1" indent="-228600" algn="l" rtl="0">
              <a:spcBef>
                <a:spcPts val="0"/>
              </a:spcBef>
              <a:spcAft>
                <a:spcPts val="0"/>
              </a:spcAft>
              <a:buSzPts val="1400"/>
              <a:buNone/>
              <a:defRPr sz="1800" b="0" i="0" u="none" strike="noStrike" cap="none"/>
            </a:lvl2pPr>
            <a:lvl3pPr marL="1371600" marR="0" lvl="2" indent="-228600" algn="l" rtl="0">
              <a:spcBef>
                <a:spcPts val="0"/>
              </a:spcBef>
              <a:spcAft>
                <a:spcPts val="0"/>
              </a:spcAft>
              <a:buSzPts val="1400"/>
              <a:buNone/>
              <a:defRPr sz="1800" b="0" i="0" u="none" strike="noStrike" cap="none"/>
            </a:lvl3pPr>
            <a:lvl4pPr marL="1828800" marR="0" lvl="3" indent="-228600" algn="l" rtl="0">
              <a:spcBef>
                <a:spcPts val="0"/>
              </a:spcBef>
              <a:spcAft>
                <a:spcPts val="0"/>
              </a:spcAft>
              <a:buSzPts val="1400"/>
              <a:buNone/>
              <a:defRPr sz="1800" b="0" i="0" u="none" strike="noStrike" cap="none"/>
            </a:lvl4pPr>
            <a:lvl5pPr marL="2286000" marR="0" lvl="4" indent="-228600" algn="l" rtl="0">
              <a:spcBef>
                <a:spcPts val="0"/>
              </a:spcBef>
              <a:spcAft>
                <a:spcPts val="0"/>
              </a:spcAft>
              <a:buSzPts val="1400"/>
              <a:buNone/>
              <a:defRPr sz="1800" b="0" i="0" u="none" strike="noStrike" cap="none"/>
            </a:lvl5pPr>
            <a:lvl6pPr marL="2743200" marR="0" lvl="5" indent="-228600" algn="l" rtl="0">
              <a:spcBef>
                <a:spcPts val="0"/>
              </a:spcBef>
              <a:spcAft>
                <a:spcPts val="0"/>
              </a:spcAft>
              <a:buSzPts val="1400"/>
              <a:buNone/>
              <a:defRPr sz="1800" b="0" i="0" u="none" strike="noStrike" cap="none"/>
            </a:lvl6pPr>
            <a:lvl7pPr marL="3200400" marR="0" lvl="6" indent="-228600" algn="l" rtl="0">
              <a:spcBef>
                <a:spcPts val="0"/>
              </a:spcBef>
              <a:spcAft>
                <a:spcPts val="0"/>
              </a:spcAft>
              <a:buSzPts val="1400"/>
              <a:buNone/>
              <a:defRPr sz="1800" b="0" i="0" u="none" strike="noStrike" cap="none"/>
            </a:lvl7pPr>
            <a:lvl8pPr marL="3657600" marR="0" lvl="7" indent="-228600" algn="l" rtl="0">
              <a:spcBef>
                <a:spcPts val="0"/>
              </a:spcBef>
              <a:spcAft>
                <a:spcPts val="0"/>
              </a:spcAft>
              <a:buSzPts val="1400"/>
              <a:buNone/>
              <a:defRPr sz="1800" b="0" i="0" u="none" strike="noStrike" cap="none"/>
            </a:lvl8pPr>
            <a:lvl9pPr marL="4114800" marR="0" lvl="8" indent="-228600" algn="l" rtl="0">
              <a:spcBef>
                <a:spcPts val="0"/>
              </a:spcBef>
              <a:spcAft>
                <a:spcPts val="0"/>
              </a:spcAft>
              <a:buSzPts val="1400"/>
              <a:buNone/>
              <a:defRPr sz="1800" b="0" i="0" u="none" strike="noStrike" cap="none"/>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63"/>
        <p:cNvGrpSpPr/>
        <p:nvPr/>
      </p:nvGrpSpPr>
      <p:grpSpPr>
        <a:xfrm>
          <a:off x="0" y="0"/>
          <a:ext cx="0" cy="0"/>
          <a:chOff x="0" y="0"/>
          <a:chExt cx="0" cy="0"/>
        </a:xfrm>
      </p:grpSpPr>
      <p:grpSp>
        <p:nvGrpSpPr>
          <p:cNvPr id="64" name="Google Shape;64;p48"/>
          <p:cNvGrpSpPr/>
          <p:nvPr/>
        </p:nvGrpSpPr>
        <p:grpSpPr>
          <a:xfrm>
            <a:off x="0" y="3903840"/>
            <a:ext cx="9144000" cy="1239480"/>
            <a:chOff x="0" y="3903840"/>
            <a:chExt cx="9144000" cy="1239480"/>
          </a:xfrm>
        </p:grpSpPr>
        <p:sp>
          <p:nvSpPr>
            <p:cNvPr id="65" name="Google Shape;65;p48"/>
            <p:cNvSpPr/>
            <p:nvPr/>
          </p:nvSpPr>
          <p:spPr>
            <a:xfrm>
              <a:off x="8154720" y="3903840"/>
              <a:ext cx="988920" cy="98748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48"/>
            <p:cNvSpPr/>
            <p:nvPr/>
          </p:nvSpPr>
          <p:spPr>
            <a:xfrm flipH="1">
              <a:off x="6180480" y="3903840"/>
              <a:ext cx="988920" cy="98748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48"/>
            <p:cNvSpPr/>
            <p:nvPr/>
          </p:nvSpPr>
          <p:spPr>
            <a:xfrm>
              <a:off x="7170120" y="3903840"/>
              <a:ext cx="988920" cy="98748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48"/>
            <p:cNvSpPr/>
            <p:nvPr/>
          </p:nvSpPr>
          <p:spPr>
            <a:xfrm rot="10800000">
              <a:off x="8155080" y="3904200"/>
              <a:ext cx="988920" cy="987480"/>
            </a:xfrm>
            <a:prstGeom prst="rtTriangl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48"/>
            <p:cNvSpPr/>
            <p:nvPr/>
          </p:nvSpPr>
          <p:spPr>
            <a:xfrm>
              <a:off x="0" y="4891680"/>
              <a:ext cx="9143640" cy="25164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0" name="Google Shape;70;p48"/>
          <p:cNvSpPr txBox="1">
            <a:spLocks noGrp="1"/>
          </p:cNvSpPr>
          <p:nvPr>
            <p:ph type="title"/>
          </p:nvPr>
        </p:nvSpPr>
        <p:spPr>
          <a:xfrm>
            <a:off x="311760" y="410040"/>
            <a:ext cx="8520120" cy="607320"/>
          </a:xfrm>
          <a:prstGeom prst="rect">
            <a:avLst/>
          </a:prstGeom>
          <a:noFill/>
          <a:ln>
            <a:noFill/>
          </a:ln>
        </p:spPr>
        <p:txBody>
          <a:bodyPr spcFirstLastPara="1" wrap="square" lIns="91425" tIns="91425" rIns="91425" bIns="91425" anchor="t" anchorCtr="0">
            <a:normAutofit/>
          </a:bodyPr>
          <a:lstStyle>
            <a:lvl1pPr marR="0" lvl="0" algn="l" rtl="0">
              <a:spcBef>
                <a:spcPts val="0"/>
              </a:spcBef>
              <a:spcAft>
                <a:spcPts val="0"/>
              </a:spcAft>
              <a:buSzPts val="1400"/>
              <a:buNone/>
              <a:defRPr sz="1800" b="0" i="0" u="none" strike="noStrike" cap="none"/>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a:endParaRPr/>
          </a:p>
        </p:txBody>
      </p:sp>
      <p:sp>
        <p:nvSpPr>
          <p:cNvPr id="71" name="Google Shape;71;p48"/>
          <p:cNvSpPr txBox="1">
            <a:spLocks noGrp="1"/>
          </p:cNvSpPr>
          <p:nvPr>
            <p:ph type="body" idx="1"/>
          </p:nvPr>
        </p:nvSpPr>
        <p:spPr>
          <a:xfrm>
            <a:off x="311760" y="1229760"/>
            <a:ext cx="8520120" cy="3338640"/>
          </a:xfrm>
          <a:prstGeom prst="rect">
            <a:avLst/>
          </a:prstGeom>
          <a:noFill/>
          <a:ln>
            <a:noFill/>
          </a:ln>
        </p:spPr>
        <p:txBody>
          <a:bodyPr spcFirstLastPara="1" wrap="square" lIns="91425" tIns="91425" rIns="91425" bIns="91425" anchor="t" anchorCtr="0">
            <a:normAutofit/>
          </a:bodyPr>
          <a:lstStyle>
            <a:lvl1pPr marL="457200" marR="0" lvl="0" indent="-228600" algn="l" rtl="0">
              <a:spcBef>
                <a:spcPts val="0"/>
              </a:spcBef>
              <a:spcAft>
                <a:spcPts val="0"/>
              </a:spcAft>
              <a:buSzPts val="1400"/>
              <a:buNone/>
              <a:defRPr sz="1800" b="0" i="0" u="none" strike="noStrike" cap="none"/>
            </a:lvl1pPr>
            <a:lvl2pPr marL="914400" marR="0" lvl="1" indent="-228600" algn="l" rtl="0">
              <a:spcBef>
                <a:spcPts val="0"/>
              </a:spcBef>
              <a:spcAft>
                <a:spcPts val="0"/>
              </a:spcAft>
              <a:buSzPts val="1400"/>
              <a:buNone/>
              <a:defRPr sz="1800" b="0" i="0" u="none" strike="noStrike" cap="none"/>
            </a:lvl2pPr>
            <a:lvl3pPr marL="1371600" marR="0" lvl="2" indent="-228600" algn="l" rtl="0">
              <a:spcBef>
                <a:spcPts val="0"/>
              </a:spcBef>
              <a:spcAft>
                <a:spcPts val="0"/>
              </a:spcAft>
              <a:buSzPts val="1400"/>
              <a:buNone/>
              <a:defRPr sz="1800" b="0" i="0" u="none" strike="noStrike" cap="none"/>
            </a:lvl3pPr>
            <a:lvl4pPr marL="1828800" marR="0" lvl="3" indent="-228600" algn="l" rtl="0">
              <a:spcBef>
                <a:spcPts val="0"/>
              </a:spcBef>
              <a:spcAft>
                <a:spcPts val="0"/>
              </a:spcAft>
              <a:buSzPts val="1400"/>
              <a:buNone/>
              <a:defRPr sz="1800" b="0" i="0" u="none" strike="noStrike" cap="none"/>
            </a:lvl4pPr>
            <a:lvl5pPr marL="2286000" marR="0" lvl="4" indent="-228600" algn="l" rtl="0">
              <a:spcBef>
                <a:spcPts val="0"/>
              </a:spcBef>
              <a:spcAft>
                <a:spcPts val="0"/>
              </a:spcAft>
              <a:buSzPts val="1400"/>
              <a:buNone/>
              <a:defRPr sz="1800" b="0" i="0" u="none" strike="noStrike" cap="none"/>
            </a:lvl5pPr>
            <a:lvl6pPr marL="2743200" marR="0" lvl="5" indent="-228600" algn="l" rtl="0">
              <a:spcBef>
                <a:spcPts val="0"/>
              </a:spcBef>
              <a:spcAft>
                <a:spcPts val="0"/>
              </a:spcAft>
              <a:buSzPts val="1400"/>
              <a:buNone/>
              <a:defRPr sz="1800" b="0" i="0" u="none" strike="noStrike" cap="none"/>
            </a:lvl6pPr>
            <a:lvl7pPr marL="3200400" marR="0" lvl="6" indent="-228600" algn="l" rtl="0">
              <a:spcBef>
                <a:spcPts val="0"/>
              </a:spcBef>
              <a:spcAft>
                <a:spcPts val="0"/>
              </a:spcAft>
              <a:buSzPts val="1400"/>
              <a:buNone/>
              <a:defRPr sz="1800" b="0" i="0" u="none" strike="noStrike" cap="none"/>
            </a:lvl7pPr>
            <a:lvl8pPr marL="3657600" marR="0" lvl="7" indent="-228600" algn="l" rtl="0">
              <a:spcBef>
                <a:spcPts val="0"/>
              </a:spcBef>
              <a:spcAft>
                <a:spcPts val="0"/>
              </a:spcAft>
              <a:buSzPts val="1400"/>
              <a:buNone/>
              <a:defRPr sz="1800" b="0" i="0" u="none" strike="noStrike" cap="none"/>
            </a:lvl8pPr>
            <a:lvl9pPr marL="4114800" marR="0" lvl="8" indent="-228600" algn="l" rtl="0">
              <a:spcBef>
                <a:spcPts val="0"/>
              </a:spcBef>
              <a:spcAft>
                <a:spcPts val="0"/>
              </a:spcAft>
              <a:buSzPts val="1400"/>
              <a:buNone/>
              <a:defRPr sz="1800" b="0" i="0" u="none" strike="noStrike" cap="none"/>
            </a:lvl9pPr>
          </a:lstStyle>
          <a:p>
            <a:endParaRPr/>
          </a:p>
        </p:txBody>
      </p:sp>
      <p:sp>
        <p:nvSpPr>
          <p:cNvPr id="72" name="Google Shape;72;p48"/>
          <p:cNvSpPr txBox="1">
            <a:spLocks noGrp="1"/>
          </p:cNvSpPr>
          <p:nvPr>
            <p:ph type="sldNum" idx="12"/>
          </p:nvPr>
        </p:nvSpPr>
        <p:spPr>
          <a:xfrm>
            <a:off x="8460360" y="4651200"/>
            <a:ext cx="548280" cy="39312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buNone/>
              <a:defRPr sz="1000" b="0" i="0" u="none" strike="noStrike" cap="none">
                <a:solidFill>
                  <a:srgbClr val="FFFFFF"/>
                </a:solidFill>
                <a:latin typeface="Roboto"/>
                <a:ea typeface="Roboto"/>
                <a:cs typeface="Roboto"/>
                <a:sym typeface="Roboto"/>
              </a:defRPr>
            </a:lvl1pPr>
            <a:lvl2pPr marL="0" marR="0" lvl="1" indent="0" algn="r" rtl="0">
              <a:lnSpc>
                <a:spcPct val="100000"/>
              </a:lnSpc>
              <a:spcBef>
                <a:spcPts val="0"/>
              </a:spcBef>
              <a:buNone/>
              <a:defRPr sz="1000" b="0" i="0" u="none" strike="noStrike" cap="none">
                <a:solidFill>
                  <a:srgbClr val="FFFFFF"/>
                </a:solidFill>
                <a:latin typeface="Roboto"/>
                <a:ea typeface="Roboto"/>
                <a:cs typeface="Roboto"/>
                <a:sym typeface="Roboto"/>
              </a:defRPr>
            </a:lvl2pPr>
            <a:lvl3pPr marL="0" marR="0" lvl="2" indent="0" algn="r" rtl="0">
              <a:lnSpc>
                <a:spcPct val="100000"/>
              </a:lnSpc>
              <a:spcBef>
                <a:spcPts val="0"/>
              </a:spcBef>
              <a:buNone/>
              <a:defRPr sz="1000" b="0" i="0" u="none" strike="noStrike" cap="none">
                <a:solidFill>
                  <a:srgbClr val="FFFFFF"/>
                </a:solidFill>
                <a:latin typeface="Roboto"/>
                <a:ea typeface="Roboto"/>
                <a:cs typeface="Roboto"/>
                <a:sym typeface="Roboto"/>
              </a:defRPr>
            </a:lvl3pPr>
            <a:lvl4pPr marL="0" marR="0" lvl="3" indent="0" algn="r" rtl="0">
              <a:lnSpc>
                <a:spcPct val="100000"/>
              </a:lnSpc>
              <a:spcBef>
                <a:spcPts val="0"/>
              </a:spcBef>
              <a:buNone/>
              <a:defRPr sz="1000" b="0" i="0" u="none" strike="noStrike" cap="none">
                <a:solidFill>
                  <a:srgbClr val="FFFFFF"/>
                </a:solidFill>
                <a:latin typeface="Roboto"/>
                <a:ea typeface="Roboto"/>
                <a:cs typeface="Roboto"/>
                <a:sym typeface="Roboto"/>
              </a:defRPr>
            </a:lvl4pPr>
            <a:lvl5pPr marL="0" marR="0" lvl="4" indent="0" algn="r" rtl="0">
              <a:lnSpc>
                <a:spcPct val="100000"/>
              </a:lnSpc>
              <a:spcBef>
                <a:spcPts val="0"/>
              </a:spcBef>
              <a:buNone/>
              <a:defRPr sz="1000" b="0" i="0" u="none" strike="noStrike" cap="none">
                <a:solidFill>
                  <a:srgbClr val="FFFFFF"/>
                </a:solidFill>
                <a:latin typeface="Roboto"/>
                <a:ea typeface="Roboto"/>
                <a:cs typeface="Roboto"/>
                <a:sym typeface="Roboto"/>
              </a:defRPr>
            </a:lvl5pPr>
            <a:lvl6pPr marL="0" marR="0" lvl="5" indent="0" algn="r" rtl="0">
              <a:lnSpc>
                <a:spcPct val="100000"/>
              </a:lnSpc>
              <a:spcBef>
                <a:spcPts val="0"/>
              </a:spcBef>
              <a:buNone/>
              <a:defRPr sz="1000" b="0" i="0" u="none" strike="noStrike" cap="none">
                <a:solidFill>
                  <a:srgbClr val="FFFFFF"/>
                </a:solidFill>
                <a:latin typeface="Roboto"/>
                <a:ea typeface="Roboto"/>
                <a:cs typeface="Roboto"/>
                <a:sym typeface="Roboto"/>
              </a:defRPr>
            </a:lvl6pPr>
            <a:lvl7pPr marL="0" marR="0" lvl="6" indent="0" algn="r" rtl="0">
              <a:lnSpc>
                <a:spcPct val="100000"/>
              </a:lnSpc>
              <a:spcBef>
                <a:spcPts val="0"/>
              </a:spcBef>
              <a:buNone/>
              <a:defRPr sz="1000" b="0" i="0" u="none" strike="noStrike" cap="none">
                <a:solidFill>
                  <a:srgbClr val="FFFFFF"/>
                </a:solidFill>
                <a:latin typeface="Roboto"/>
                <a:ea typeface="Roboto"/>
                <a:cs typeface="Roboto"/>
                <a:sym typeface="Roboto"/>
              </a:defRPr>
            </a:lvl7pPr>
            <a:lvl8pPr marL="0" marR="0" lvl="7" indent="0" algn="r" rtl="0">
              <a:lnSpc>
                <a:spcPct val="100000"/>
              </a:lnSpc>
              <a:spcBef>
                <a:spcPts val="0"/>
              </a:spcBef>
              <a:buNone/>
              <a:defRPr sz="1000" b="0" i="0" u="none" strike="noStrike" cap="none">
                <a:solidFill>
                  <a:srgbClr val="FFFFFF"/>
                </a:solidFill>
                <a:latin typeface="Roboto"/>
                <a:ea typeface="Roboto"/>
                <a:cs typeface="Roboto"/>
                <a:sym typeface="Roboto"/>
              </a:defRPr>
            </a:lvl8pPr>
            <a:lvl9pPr marL="0" marR="0" lvl="8" indent="0" algn="r" rtl="0">
              <a:lnSpc>
                <a:spcPct val="100000"/>
              </a:lnSpc>
              <a:spcBef>
                <a:spcPts val="0"/>
              </a:spcBef>
              <a:buNone/>
              <a:defRPr sz="1000" b="0" i="0" u="none" strike="noStrike" cap="none">
                <a:solidFill>
                  <a:srgbClr val="FFFFFF"/>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GB"/>
              <a:t>‹#›</a:t>
            </a:fld>
            <a:endParaRPr>
              <a:solidFill>
                <a:srgbClr val="000000"/>
              </a:solidFill>
              <a:latin typeface="Times New Roman"/>
              <a:ea typeface="Times New Roman"/>
              <a:cs typeface="Times New Roman"/>
              <a:sym typeface="Times New Roman"/>
            </a:endParaRPr>
          </a:p>
        </p:txBody>
      </p:sp>
    </p:spTree>
  </p:cSld>
  <p:clrMap bg1="lt1" tx1="dk1" bg2="dk2" tx2="lt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name="geometric">
    <p:bg>
      <p:bgPr>
        <a:solidFill>
          <a:schemeClr val="lt1"/>
        </a:solidFill>
        <a:effectLst/>
      </p:bgPr>
    </p:bg>
    <p:spTree>
      <p:nvGrpSpPr>
        <p:cNvPr id="1" name="Shape 121"/>
        <p:cNvGrpSpPr/>
        <p:nvPr/>
      </p:nvGrpSpPr>
      <p:grpSpPr>
        <a:xfrm>
          <a:off x="0" y="0"/>
          <a:ext cx="0" cy="0"/>
          <a:chOff x="0" y="0"/>
          <a:chExt cx="0" cy="0"/>
        </a:xfrm>
      </p:grpSpPr>
      <p:sp>
        <p:nvSpPr>
          <p:cNvPr id="122" name="Google Shape;122;g21115aaa1d6_0_112"/>
          <p:cNvSpPr txBox="1">
            <a:spLocks noGrp="1"/>
          </p:cNvSpPr>
          <p:nvPr>
            <p:ph type="title"/>
          </p:nvPr>
        </p:nvSpPr>
        <p:spPr>
          <a:xfrm>
            <a:off x="311700" y="410000"/>
            <a:ext cx="8520600" cy="607800"/>
          </a:xfrm>
          <a:prstGeom prst="rect">
            <a:avLst/>
          </a:prstGeom>
          <a:noFill/>
          <a:ln>
            <a:noFill/>
          </a:ln>
        </p:spPr>
        <p:txBody>
          <a:bodyPr spcFirstLastPara="1" wrap="square" lIns="91425" tIns="91425" rIns="91425" bIns="91425" anchor="t" anchorCtr="0">
            <a:normAutofit/>
          </a:bodyPr>
          <a:lstStyle>
            <a:lvl1pPr lvl="0" rtl="0">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1pPr>
            <a:lvl2pPr lvl="1" rtl="0">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2pPr>
            <a:lvl3pPr lvl="2" rtl="0">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3pPr>
            <a:lvl4pPr lvl="3" rtl="0">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4pPr>
            <a:lvl5pPr lvl="4" rtl="0">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5pPr>
            <a:lvl6pPr lvl="5" rtl="0">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6pPr>
            <a:lvl7pPr lvl="6" rtl="0">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7pPr>
            <a:lvl8pPr lvl="7" rtl="0">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8pPr>
            <a:lvl9pPr lvl="8" rtl="0">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9pPr>
          </a:lstStyle>
          <a:p>
            <a:endParaRPr/>
          </a:p>
        </p:txBody>
      </p:sp>
      <p:sp>
        <p:nvSpPr>
          <p:cNvPr id="123" name="Google Shape;123;g21115aaa1d6_0_112"/>
          <p:cNvSpPr txBox="1">
            <a:spLocks noGrp="1"/>
          </p:cNvSpPr>
          <p:nvPr>
            <p:ph type="body" idx="1"/>
          </p:nvPr>
        </p:nvSpPr>
        <p:spPr>
          <a:xfrm>
            <a:off x="311700" y="1229875"/>
            <a:ext cx="8520600" cy="3339000"/>
          </a:xfrm>
          <a:prstGeom prst="rect">
            <a:avLst/>
          </a:prstGeom>
          <a:noFill/>
          <a:ln>
            <a:noFill/>
          </a:ln>
        </p:spPr>
        <p:txBody>
          <a:bodyPr spcFirstLastPara="1" wrap="square" lIns="91425" tIns="91425" rIns="91425" bIns="91425" anchor="t" anchorCtr="0">
            <a:normAutofit/>
          </a:bodyPr>
          <a:lstStyle>
            <a:lvl1pPr marL="457200" lvl="0" indent="-342900" rtl="0">
              <a:lnSpc>
                <a:spcPct val="115000"/>
              </a:lnSpc>
              <a:spcBef>
                <a:spcPts val="0"/>
              </a:spcBef>
              <a:spcAft>
                <a:spcPts val="0"/>
              </a:spcAft>
              <a:buClr>
                <a:schemeClr val="dk2"/>
              </a:buClr>
              <a:buSzPts val="1800"/>
              <a:buFont typeface="Roboto"/>
              <a:buChar char="●"/>
              <a:defRPr sz="1800">
                <a:solidFill>
                  <a:schemeClr val="dk2"/>
                </a:solidFill>
                <a:latin typeface="Roboto"/>
                <a:ea typeface="Roboto"/>
                <a:cs typeface="Roboto"/>
                <a:sym typeface="Roboto"/>
              </a:defRPr>
            </a:lvl1pPr>
            <a:lvl2pPr marL="914400" lvl="1" indent="-317500" rtl="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2pPr>
            <a:lvl3pPr marL="1371600" lvl="2" indent="-317500" rtl="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3pPr>
            <a:lvl4pPr marL="1828800" lvl="3" indent="-317500" rtl="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4pPr>
            <a:lvl5pPr marL="2286000" lvl="4" indent="-317500" rtl="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5pPr>
            <a:lvl6pPr marL="2743200" lvl="5" indent="-317500" rtl="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6pPr>
            <a:lvl7pPr marL="3200400" lvl="6" indent="-317500" rtl="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7pPr>
            <a:lvl8pPr marL="3657600" lvl="7" indent="-317500" rtl="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8pPr>
            <a:lvl9pPr marL="4114800" lvl="8" indent="-317500" rtl="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9pPr>
          </a:lstStyle>
          <a:p>
            <a:endParaRPr/>
          </a:p>
        </p:txBody>
      </p:sp>
      <p:sp>
        <p:nvSpPr>
          <p:cNvPr id="124" name="Google Shape;124;g21115aaa1d6_0_112"/>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lvl="0" algn="r" rtl="0">
              <a:buNone/>
              <a:defRPr sz="1000">
                <a:solidFill>
                  <a:schemeClr val="lt1"/>
                </a:solidFill>
                <a:latin typeface="Roboto"/>
                <a:ea typeface="Roboto"/>
                <a:cs typeface="Roboto"/>
                <a:sym typeface="Roboto"/>
              </a:defRPr>
            </a:lvl1pPr>
            <a:lvl2pPr lvl="1" algn="r" rtl="0">
              <a:buNone/>
              <a:defRPr sz="1000">
                <a:solidFill>
                  <a:schemeClr val="lt1"/>
                </a:solidFill>
                <a:latin typeface="Roboto"/>
                <a:ea typeface="Roboto"/>
                <a:cs typeface="Roboto"/>
                <a:sym typeface="Roboto"/>
              </a:defRPr>
            </a:lvl2pPr>
            <a:lvl3pPr lvl="2" algn="r" rtl="0">
              <a:buNone/>
              <a:defRPr sz="1000">
                <a:solidFill>
                  <a:schemeClr val="lt1"/>
                </a:solidFill>
                <a:latin typeface="Roboto"/>
                <a:ea typeface="Roboto"/>
                <a:cs typeface="Roboto"/>
                <a:sym typeface="Roboto"/>
              </a:defRPr>
            </a:lvl3pPr>
            <a:lvl4pPr lvl="3" algn="r" rtl="0">
              <a:buNone/>
              <a:defRPr sz="1000">
                <a:solidFill>
                  <a:schemeClr val="lt1"/>
                </a:solidFill>
                <a:latin typeface="Roboto"/>
                <a:ea typeface="Roboto"/>
                <a:cs typeface="Roboto"/>
                <a:sym typeface="Roboto"/>
              </a:defRPr>
            </a:lvl4pPr>
            <a:lvl5pPr lvl="4" algn="r" rtl="0">
              <a:buNone/>
              <a:defRPr sz="1000">
                <a:solidFill>
                  <a:schemeClr val="lt1"/>
                </a:solidFill>
                <a:latin typeface="Roboto"/>
                <a:ea typeface="Roboto"/>
                <a:cs typeface="Roboto"/>
                <a:sym typeface="Roboto"/>
              </a:defRPr>
            </a:lvl5pPr>
            <a:lvl6pPr lvl="5" algn="r" rtl="0">
              <a:buNone/>
              <a:defRPr sz="1000">
                <a:solidFill>
                  <a:schemeClr val="lt1"/>
                </a:solidFill>
                <a:latin typeface="Roboto"/>
                <a:ea typeface="Roboto"/>
                <a:cs typeface="Roboto"/>
                <a:sym typeface="Roboto"/>
              </a:defRPr>
            </a:lvl6pPr>
            <a:lvl7pPr lvl="6" algn="r" rtl="0">
              <a:buNone/>
              <a:defRPr sz="1000">
                <a:solidFill>
                  <a:schemeClr val="lt1"/>
                </a:solidFill>
                <a:latin typeface="Roboto"/>
                <a:ea typeface="Roboto"/>
                <a:cs typeface="Roboto"/>
                <a:sym typeface="Roboto"/>
              </a:defRPr>
            </a:lvl7pPr>
            <a:lvl8pPr lvl="7" algn="r" rtl="0">
              <a:buNone/>
              <a:defRPr sz="1000">
                <a:solidFill>
                  <a:schemeClr val="lt1"/>
                </a:solidFill>
                <a:latin typeface="Roboto"/>
                <a:ea typeface="Roboto"/>
                <a:cs typeface="Roboto"/>
                <a:sym typeface="Roboto"/>
              </a:defRPr>
            </a:lvl8pPr>
            <a:lvl9pPr lvl="8" algn="r" rtl="0">
              <a:buNone/>
              <a:defRPr sz="1000">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2.xml"/><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3.xml"/><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6.xml"/><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3" Type="http://schemas.openxmlformats.org/officeDocument/2006/relationships/hyperlink" Target="https://www.scribbr.com/methodology/simple-random-sampling/" TargetMode="External"/><Relationship Id="rId2" Type="http://schemas.openxmlformats.org/officeDocument/2006/relationships/notesSlide" Target="../notesSlides/notesSlide48.xml"/><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9.xml"/><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3" Type="http://schemas.openxmlformats.org/officeDocument/2006/relationships/hyperlink" Target="https://www.scribbr.com/methodology/systematic-sampling/" TargetMode="External"/><Relationship Id="rId2" Type="http://schemas.openxmlformats.org/officeDocument/2006/relationships/notesSlide" Target="../notesSlides/notesSlide50.xml"/><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1.xml"/><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3" Type="http://schemas.openxmlformats.org/officeDocument/2006/relationships/hyperlink" Target="https://www.scribbr.com/methodology/stratified-sampling/" TargetMode="External"/><Relationship Id="rId2" Type="http://schemas.openxmlformats.org/officeDocument/2006/relationships/notesSlide" Target="../notesSlides/notesSlide52.xml"/><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3" Type="http://schemas.openxmlformats.org/officeDocument/2006/relationships/hyperlink" Target="https://www.scribbr.com/methodology/stratified-sampling/" TargetMode="External"/><Relationship Id="rId2" Type="http://schemas.openxmlformats.org/officeDocument/2006/relationships/notesSlide" Target="../notesSlides/notesSlide53.xml"/><Relationship Id="rId1" Type="http://schemas.openxmlformats.org/officeDocument/2006/relationships/slideLayout" Target="../slideLayouts/slideLayout13.xml"/><Relationship Id="rId4" Type="http://schemas.openxmlformats.org/officeDocument/2006/relationships/hyperlink" Target="https://www.scribbr.com/methodology/systematic-sampling/" TargetMode="External"/></Relationships>
</file>

<file path=ppt/slides/_rels/slide54.xml.rels><?xml version="1.0" encoding="UTF-8" standalone="yes"?>
<Relationships xmlns="http://schemas.openxmlformats.org/package/2006/relationships"><Relationship Id="rId3" Type="http://schemas.openxmlformats.org/officeDocument/2006/relationships/hyperlink" Target="https://www.scribbr.com/methodology/cluster-sampling/" TargetMode="External"/><Relationship Id="rId2" Type="http://schemas.openxmlformats.org/officeDocument/2006/relationships/notesSlide" Target="../notesSlides/notesSlide54.xml"/><Relationship Id="rId1" Type="http://schemas.openxmlformats.org/officeDocument/2006/relationships/slideLayout" Target="../slideLayouts/slideLayout13.xml"/><Relationship Id="rId4" Type="http://schemas.openxmlformats.org/officeDocument/2006/relationships/hyperlink" Target="https://www.scribbr.com/methodology/multistage-sampling/" TargetMode="External"/></Relationships>
</file>

<file path=ppt/slides/_rels/slide55.xml.rels><?xml version="1.0" encoding="UTF-8" standalone="yes"?>
<Relationships xmlns="http://schemas.openxmlformats.org/package/2006/relationships"><Relationship Id="rId3" Type="http://schemas.openxmlformats.org/officeDocument/2006/relationships/hyperlink" Target="https://www.scribbr.com/methodology/cluster-sampling/" TargetMode="External"/><Relationship Id="rId2" Type="http://schemas.openxmlformats.org/officeDocument/2006/relationships/notesSlide" Target="../notesSlides/notesSlide55.xml"/><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6.xml"/><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8.xml"/><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9.xml"/><Relationship Id="rId1" Type="http://schemas.openxmlformats.org/officeDocument/2006/relationships/slideLayout" Target="../slideLayouts/slideLayout13.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3.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3.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3.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3.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3.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3.xml"/></Relationships>
</file>

<file path=ppt/slides/_rels/slide6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6.xml"/><Relationship Id="rId1" Type="http://schemas.openxmlformats.org/officeDocument/2006/relationships/slideLayout" Target="../slideLayouts/slideLayout13.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3.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3.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3.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3.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3.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3.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3.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13.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3.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3.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13.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13.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13.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13.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13.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13.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13.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13.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13.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13.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13.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13.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13.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13.xml"/></Relationships>
</file>

<file path=ppt/slides/_rels/slide9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1.xml"/><Relationship Id="rId1" Type="http://schemas.openxmlformats.org/officeDocument/2006/relationships/slideLayout" Target="../slideLayouts/slideLayout2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Google Shape;201;p1"/>
          <p:cNvSpPr txBox="1"/>
          <p:nvPr/>
        </p:nvSpPr>
        <p:spPr>
          <a:xfrm>
            <a:off x="597960" y="1775160"/>
            <a:ext cx="8221680" cy="838440"/>
          </a:xfrm>
          <a:prstGeom prst="rect">
            <a:avLst/>
          </a:prstGeom>
          <a:noFill/>
          <a:ln>
            <a:noFill/>
          </a:ln>
        </p:spPr>
        <p:txBody>
          <a:bodyPr spcFirstLastPara="1" wrap="square" lIns="91425" tIns="91425" rIns="91425" bIns="91425" anchor="b" anchorCtr="0">
            <a:normAutofit/>
          </a:bodyPr>
          <a:lstStyle/>
          <a:p>
            <a:pPr marL="0" marR="0" lvl="0" indent="0" algn="ctr" rtl="0">
              <a:lnSpc>
                <a:spcPct val="100000"/>
              </a:lnSpc>
              <a:spcBef>
                <a:spcPts val="0"/>
              </a:spcBef>
              <a:spcAft>
                <a:spcPts val="0"/>
              </a:spcAft>
              <a:buNone/>
            </a:pPr>
            <a:r>
              <a:rPr lang="en-GB" sz="4200" b="0" i="0" u="none" strike="noStrike" cap="none">
                <a:solidFill>
                  <a:srgbClr val="FFFFFF"/>
                </a:solidFill>
                <a:latin typeface="Roboto"/>
                <a:ea typeface="Roboto"/>
                <a:cs typeface="Roboto"/>
                <a:sym typeface="Roboto"/>
              </a:rPr>
              <a:t>Research Design &amp; Methods</a:t>
            </a:r>
            <a:endParaRPr sz="4200" b="0" i="0" u="none" strike="noStrike" cap="none">
              <a:solidFill>
                <a:srgbClr val="000000"/>
              </a:solidFill>
              <a:latin typeface="Arial"/>
              <a:ea typeface="Arial"/>
              <a:cs typeface="Arial"/>
              <a:sym typeface="Arial"/>
            </a:endParaRPr>
          </a:p>
        </p:txBody>
      </p:sp>
      <p:sp>
        <p:nvSpPr>
          <p:cNvPr id="202" name="Google Shape;202;p1"/>
          <p:cNvSpPr txBox="1"/>
          <p:nvPr/>
        </p:nvSpPr>
        <p:spPr>
          <a:xfrm>
            <a:off x="597960" y="2571840"/>
            <a:ext cx="8221680" cy="432720"/>
          </a:xfrm>
          <a:prstGeom prst="rect">
            <a:avLst/>
          </a:prstGeom>
          <a:noFill/>
          <a:ln>
            <a:noFill/>
          </a:ln>
        </p:spPr>
        <p:txBody>
          <a:bodyPr spcFirstLastPara="1" wrap="square" lIns="91425" tIns="91425" rIns="91425" bIns="91425" anchor="t" anchorCtr="0">
            <a:noAutofit/>
          </a:bodyPr>
          <a:lstStyle/>
          <a:p>
            <a:pPr marL="0" marR="0" lvl="0" indent="0" algn="ctr" rtl="0">
              <a:lnSpc>
                <a:spcPct val="80000"/>
              </a:lnSpc>
              <a:spcBef>
                <a:spcPts val="0"/>
              </a:spcBef>
              <a:spcAft>
                <a:spcPts val="0"/>
              </a:spcAft>
              <a:buNone/>
            </a:pPr>
            <a:r>
              <a:rPr lang="en-GB" sz="2740" b="1" i="0" u="none" strike="noStrike" cap="none">
                <a:solidFill>
                  <a:srgbClr val="FFFFFF"/>
                </a:solidFill>
                <a:latin typeface="Roboto"/>
                <a:ea typeface="Roboto"/>
                <a:cs typeface="Roboto"/>
                <a:sym typeface="Roboto"/>
              </a:rPr>
              <a:t>Unit 3</a:t>
            </a:r>
            <a:endParaRPr sz="2740" b="0" i="0" u="none" strike="noStrike" cap="none">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06"/>
        <p:cNvGrpSpPr/>
        <p:nvPr/>
      </p:nvGrpSpPr>
      <p:grpSpPr>
        <a:xfrm>
          <a:off x="0" y="0"/>
          <a:ext cx="0" cy="0"/>
          <a:chOff x="0" y="0"/>
          <a:chExt cx="0" cy="0"/>
        </a:xfrm>
      </p:grpSpPr>
      <p:sp>
        <p:nvSpPr>
          <p:cNvPr id="207" name="Google Shape;207;p2"/>
          <p:cNvSpPr txBox="1"/>
          <p:nvPr/>
        </p:nvSpPr>
        <p:spPr>
          <a:xfrm>
            <a:off x="311760" y="410040"/>
            <a:ext cx="8520120" cy="607320"/>
          </a:xfrm>
          <a:prstGeom prst="rect">
            <a:avLst/>
          </a:prstGeom>
          <a:noFill/>
          <a:ln>
            <a:noFill/>
          </a:ln>
        </p:spPr>
        <p:txBody>
          <a:bodyPr spcFirstLastPara="1" wrap="square" lIns="91425" tIns="91425" rIns="91425" bIns="91425" anchor="t" anchorCtr="0">
            <a:normAutofit fontScale="98500"/>
          </a:bodyPr>
          <a:lstStyle/>
          <a:p>
            <a:pPr marL="0" marR="0" lvl="0" indent="0" algn="l" rtl="0">
              <a:spcBef>
                <a:spcPts val="0"/>
              </a:spcBef>
              <a:spcAft>
                <a:spcPts val="0"/>
              </a:spcAft>
              <a:buNone/>
            </a:pPr>
            <a:endParaRPr sz="1400" b="0" strike="noStrike">
              <a:solidFill>
                <a:srgbClr val="000000"/>
              </a:solidFill>
              <a:latin typeface="Arial"/>
              <a:ea typeface="Arial"/>
              <a:cs typeface="Arial"/>
              <a:sym typeface="Arial"/>
            </a:endParaRPr>
          </a:p>
        </p:txBody>
      </p:sp>
      <p:sp>
        <p:nvSpPr>
          <p:cNvPr id="208" name="Google Shape;208;p2"/>
          <p:cNvSpPr txBox="1"/>
          <p:nvPr/>
        </p:nvSpPr>
        <p:spPr>
          <a:xfrm>
            <a:off x="311760" y="1229760"/>
            <a:ext cx="8520120" cy="3338640"/>
          </a:xfrm>
          <a:prstGeom prst="rect">
            <a:avLst/>
          </a:prstGeom>
          <a:noFill/>
          <a:ln>
            <a:noFill/>
          </a:ln>
        </p:spPr>
        <p:txBody>
          <a:bodyPr spcFirstLastPara="1" wrap="square" lIns="91425" tIns="91425" rIns="91425" bIns="91425" anchor="t" anchorCtr="0">
            <a:normAutofit/>
          </a:bodyPr>
          <a:lstStyle/>
          <a:p>
            <a:pPr marL="0" marR="0" lvl="0" indent="0" algn="l" rtl="0">
              <a:spcBef>
                <a:spcPts val="0"/>
              </a:spcBef>
              <a:spcAft>
                <a:spcPts val="0"/>
              </a:spcAft>
              <a:buNone/>
            </a:pPr>
            <a:endParaRPr sz="1400" b="0" strike="noStrike">
              <a:solidFill>
                <a:srgbClr val="000000"/>
              </a:solidFill>
              <a:latin typeface="Arial"/>
              <a:ea typeface="Arial"/>
              <a:cs typeface="Arial"/>
              <a:sym typeface="Arial"/>
            </a:endParaRPr>
          </a:p>
        </p:txBody>
      </p:sp>
      <p:pic>
        <p:nvPicPr>
          <p:cNvPr id="209" name="Google Shape;209;p2"/>
          <p:cNvPicPr preferRelativeResize="0"/>
          <p:nvPr/>
        </p:nvPicPr>
        <p:blipFill rotWithShape="1">
          <a:blip r:embed="rId3">
            <a:alphaModFix/>
          </a:blip>
          <a:srcRect/>
          <a:stretch/>
        </p:blipFill>
        <p:spPr>
          <a:xfrm>
            <a:off x="311760" y="447840"/>
            <a:ext cx="8520120" cy="424764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p3"/>
          <p:cNvSpPr txBox="1"/>
          <p:nvPr/>
        </p:nvSpPr>
        <p:spPr>
          <a:xfrm>
            <a:off x="311760" y="410040"/>
            <a:ext cx="8520120" cy="607320"/>
          </a:xfrm>
          <a:prstGeom prst="rect">
            <a:avLst/>
          </a:prstGeom>
          <a:noFill/>
          <a:ln>
            <a:noFill/>
          </a:ln>
        </p:spPr>
        <p:txBody>
          <a:bodyPr spcFirstLastPara="1" wrap="square" lIns="91425" tIns="91425" rIns="91425" bIns="91425" anchor="t" anchorCtr="0">
            <a:normAutofit fontScale="98500" lnSpcReduction="10000"/>
          </a:bodyPr>
          <a:lstStyle/>
          <a:p>
            <a:pPr marL="0" marR="0" lvl="0" indent="0" algn="l" rtl="0">
              <a:lnSpc>
                <a:spcPct val="100000"/>
              </a:lnSpc>
              <a:spcBef>
                <a:spcPts val="0"/>
              </a:spcBef>
              <a:spcAft>
                <a:spcPts val="0"/>
              </a:spcAft>
              <a:buNone/>
            </a:pPr>
            <a:r>
              <a:rPr lang="en-GB" sz="3000" b="0" strike="noStrike">
                <a:solidFill>
                  <a:srgbClr val="2A3990"/>
                </a:solidFill>
                <a:latin typeface="Roboto"/>
                <a:ea typeface="Roboto"/>
                <a:cs typeface="Roboto"/>
                <a:sym typeface="Roboto"/>
              </a:rPr>
              <a:t>Research Design</a:t>
            </a:r>
            <a:endParaRPr sz="3000" b="0" strike="noStrike">
              <a:solidFill>
                <a:srgbClr val="000000"/>
              </a:solidFill>
              <a:latin typeface="Arial"/>
              <a:ea typeface="Arial"/>
              <a:cs typeface="Arial"/>
              <a:sym typeface="Arial"/>
            </a:endParaRPr>
          </a:p>
        </p:txBody>
      </p:sp>
      <p:sp>
        <p:nvSpPr>
          <p:cNvPr id="215" name="Google Shape;215;p3"/>
          <p:cNvSpPr txBox="1"/>
          <p:nvPr/>
        </p:nvSpPr>
        <p:spPr>
          <a:xfrm>
            <a:off x="311760" y="1017720"/>
            <a:ext cx="8520120" cy="3550680"/>
          </a:xfrm>
          <a:prstGeom prst="rect">
            <a:avLst/>
          </a:prstGeom>
          <a:noFill/>
          <a:ln>
            <a:noFill/>
          </a:ln>
        </p:spPr>
        <p:txBody>
          <a:bodyPr spcFirstLastPara="1" wrap="square" lIns="91425" tIns="91425" rIns="91425" bIns="91425" anchor="t" anchorCtr="0">
            <a:normAutofit fontScale="92500"/>
          </a:bodyPr>
          <a:lstStyle/>
          <a:p>
            <a:pPr marL="457200" marR="0" lvl="0" indent="-370800" algn="just" rtl="0">
              <a:lnSpc>
                <a:spcPct val="115000"/>
              </a:lnSpc>
              <a:spcBef>
                <a:spcPts val="0"/>
              </a:spcBef>
              <a:spcAft>
                <a:spcPts val="0"/>
              </a:spcAft>
              <a:buClr>
                <a:srgbClr val="434343"/>
              </a:buClr>
              <a:buSzPct val="100000"/>
              <a:buFont typeface="Roboto"/>
              <a:buChar char="●"/>
            </a:pPr>
            <a:r>
              <a:rPr lang="en-GB" sz="2250" b="0" strike="noStrike">
                <a:solidFill>
                  <a:srgbClr val="434343"/>
                </a:solidFill>
                <a:latin typeface="Roboto"/>
                <a:ea typeface="Roboto"/>
                <a:cs typeface="Roboto"/>
                <a:sym typeface="Roboto"/>
              </a:rPr>
              <a:t>The formidable problem that follows the task of defining the research problem is the preparation of the design of the research project, popularly known as the “research design”. </a:t>
            </a:r>
            <a:endParaRPr sz="2250" b="0" strike="noStrike">
              <a:solidFill>
                <a:srgbClr val="000000"/>
              </a:solidFill>
              <a:latin typeface="Arial"/>
              <a:ea typeface="Arial"/>
              <a:cs typeface="Arial"/>
              <a:sym typeface="Arial"/>
            </a:endParaRPr>
          </a:p>
          <a:p>
            <a:pPr marL="457200" marR="0" lvl="0" indent="-370800" algn="just" rtl="0">
              <a:lnSpc>
                <a:spcPct val="115000"/>
              </a:lnSpc>
              <a:spcBef>
                <a:spcPts val="0"/>
              </a:spcBef>
              <a:spcAft>
                <a:spcPts val="0"/>
              </a:spcAft>
              <a:buClr>
                <a:srgbClr val="434343"/>
              </a:buClr>
              <a:buSzPct val="100000"/>
              <a:buFont typeface="Roboto"/>
              <a:buChar char="●"/>
            </a:pPr>
            <a:r>
              <a:rPr lang="en-GB" sz="2250" b="0" strike="noStrike">
                <a:solidFill>
                  <a:srgbClr val="434343"/>
                </a:solidFill>
                <a:latin typeface="Roboto"/>
                <a:ea typeface="Roboto"/>
                <a:cs typeface="Roboto"/>
                <a:sym typeface="Roboto"/>
              </a:rPr>
              <a:t>Decisions regarding </a:t>
            </a:r>
            <a:r>
              <a:rPr lang="en-GB" sz="2250" b="0" strike="noStrike">
                <a:solidFill>
                  <a:srgbClr val="9C254D"/>
                </a:solidFill>
                <a:latin typeface="Roboto"/>
                <a:ea typeface="Roboto"/>
                <a:cs typeface="Roboto"/>
                <a:sym typeface="Roboto"/>
              </a:rPr>
              <a:t>what, where, when, how much, by what means</a:t>
            </a:r>
            <a:r>
              <a:rPr lang="en-GB" sz="2250" b="0" strike="noStrike">
                <a:solidFill>
                  <a:srgbClr val="434343"/>
                </a:solidFill>
                <a:latin typeface="Roboto"/>
                <a:ea typeface="Roboto"/>
                <a:cs typeface="Roboto"/>
                <a:sym typeface="Roboto"/>
              </a:rPr>
              <a:t> concerning an inquiry or a research study constitute a research design. </a:t>
            </a:r>
            <a:endParaRPr sz="2250" b="0" strike="noStrike">
              <a:solidFill>
                <a:srgbClr val="000000"/>
              </a:solidFill>
              <a:latin typeface="Arial"/>
              <a:ea typeface="Arial"/>
              <a:cs typeface="Arial"/>
              <a:sym typeface="Arial"/>
            </a:endParaRPr>
          </a:p>
          <a:p>
            <a:pPr marL="457200" marR="0" lvl="0" indent="-370800" algn="just" rtl="0">
              <a:lnSpc>
                <a:spcPct val="115000"/>
              </a:lnSpc>
              <a:spcBef>
                <a:spcPts val="0"/>
              </a:spcBef>
              <a:spcAft>
                <a:spcPts val="0"/>
              </a:spcAft>
              <a:buClr>
                <a:srgbClr val="434343"/>
              </a:buClr>
              <a:buSzPct val="100000"/>
              <a:buFont typeface="Roboto"/>
              <a:buChar char="●"/>
            </a:pPr>
            <a:r>
              <a:rPr lang="en-GB" sz="2250" b="0" strike="noStrike">
                <a:solidFill>
                  <a:srgbClr val="434343"/>
                </a:solidFill>
                <a:latin typeface="Roboto"/>
                <a:ea typeface="Roboto"/>
                <a:cs typeface="Roboto"/>
                <a:sym typeface="Roboto"/>
              </a:rPr>
              <a:t>“</a:t>
            </a:r>
            <a:r>
              <a:rPr lang="en-GB" sz="2250" b="0" strike="noStrike">
                <a:solidFill>
                  <a:srgbClr val="9C254D"/>
                </a:solidFill>
                <a:latin typeface="Roboto"/>
                <a:ea typeface="Roboto"/>
                <a:cs typeface="Roboto"/>
                <a:sym typeface="Roboto"/>
              </a:rPr>
              <a:t>A research design is the arrangement of conditions for collection and analysis of data in a manner that aims to combine relevance to the research purpose with economy in procedure.</a:t>
            </a:r>
            <a:r>
              <a:rPr lang="en-GB" sz="2250" b="0" strike="noStrike">
                <a:solidFill>
                  <a:srgbClr val="434343"/>
                </a:solidFill>
                <a:latin typeface="Roboto"/>
                <a:ea typeface="Roboto"/>
                <a:cs typeface="Roboto"/>
                <a:sym typeface="Roboto"/>
              </a:rPr>
              <a:t>”</a:t>
            </a:r>
            <a:endParaRPr sz="2250" b="0"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sp>
        <p:nvSpPr>
          <p:cNvPr id="220" name="Google Shape;220;p4"/>
          <p:cNvSpPr txBox="1"/>
          <p:nvPr/>
        </p:nvSpPr>
        <p:spPr>
          <a:xfrm>
            <a:off x="311760" y="410040"/>
            <a:ext cx="8520120" cy="607320"/>
          </a:xfrm>
          <a:prstGeom prst="rect">
            <a:avLst/>
          </a:prstGeom>
          <a:noFill/>
          <a:ln>
            <a:noFill/>
          </a:ln>
        </p:spPr>
        <p:txBody>
          <a:bodyPr spcFirstLastPara="1" wrap="square" lIns="91425" tIns="91425" rIns="91425" bIns="91425" anchor="t" anchorCtr="0">
            <a:normAutofit fontScale="47000" lnSpcReduction="10000"/>
          </a:bodyPr>
          <a:lstStyle/>
          <a:p>
            <a:pPr marL="0" marR="0" lvl="0" indent="0" algn="l" rtl="0">
              <a:lnSpc>
                <a:spcPct val="100000"/>
              </a:lnSpc>
              <a:spcBef>
                <a:spcPts val="0"/>
              </a:spcBef>
              <a:spcAft>
                <a:spcPts val="0"/>
              </a:spcAft>
              <a:buNone/>
            </a:pPr>
            <a:r>
              <a:rPr lang="en-GB" sz="3000" b="0" strike="noStrike">
                <a:solidFill>
                  <a:srgbClr val="2A3990"/>
                </a:solidFill>
                <a:latin typeface="Roboto"/>
                <a:ea typeface="Roboto"/>
                <a:cs typeface="Roboto"/>
                <a:sym typeface="Roboto"/>
              </a:rPr>
              <a:t>Research Design</a:t>
            </a:r>
            <a:br>
              <a:rPr lang="en-GB" sz="1800"/>
            </a:br>
            <a:endParaRPr sz="3000" b="0" strike="noStrike">
              <a:solidFill>
                <a:srgbClr val="000000"/>
              </a:solidFill>
              <a:latin typeface="Arial"/>
              <a:ea typeface="Arial"/>
              <a:cs typeface="Arial"/>
              <a:sym typeface="Arial"/>
            </a:endParaRPr>
          </a:p>
        </p:txBody>
      </p:sp>
      <p:sp>
        <p:nvSpPr>
          <p:cNvPr id="221" name="Google Shape;221;p4"/>
          <p:cNvSpPr txBox="1"/>
          <p:nvPr/>
        </p:nvSpPr>
        <p:spPr>
          <a:xfrm>
            <a:off x="311760" y="1229760"/>
            <a:ext cx="8520120" cy="3338640"/>
          </a:xfrm>
          <a:prstGeom prst="rect">
            <a:avLst/>
          </a:prstGeom>
          <a:noFill/>
          <a:ln>
            <a:noFill/>
          </a:ln>
        </p:spPr>
        <p:txBody>
          <a:bodyPr spcFirstLastPara="1" wrap="square" lIns="91425" tIns="91425" rIns="91425" bIns="91425" anchor="t" anchorCtr="0">
            <a:normAutofit/>
          </a:bodyPr>
          <a:lstStyle/>
          <a:p>
            <a:pPr marL="457200" marR="0" lvl="0" indent="-367920" algn="just" rtl="0">
              <a:lnSpc>
                <a:spcPct val="115000"/>
              </a:lnSpc>
              <a:spcBef>
                <a:spcPts val="0"/>
              </a:spcBef>
              <a:spcAft>
                <a:spcPts val="0"/>
              </a:spcAft>
              <a:buClr>
                <a:srgbClr val="434343"/>
              </a:buClr>
              <a:buSzPts val="2200"/>
              <a:buFont typeface="Roboto"/>
              <a:buChar char="●"/>
            </a:pPr>
            <a:r>
              <a:rPr lang="en-GB" sz="2200" b="0" strike="noStrike">
                <a:solidFill>
                  <a:srgbClr val="434343"/>
                </a:solidFill>
                <a:latin typeface="Roboto"/>
                <a:ea typeface="Roboto"/>
                <a:cs typeface="Roboto"/>
                <a:sym typeface="Roboto"/>
              </a:rPr>
              <a:t>The research design is the conceptual structure within which research is conducted; it constitutes the blueprint for the collection, measurement and analysis of data. </a:t>
            </a:r>
            <a:endParaRPr sz="2200" b="0" strike="noStrike">
              <a:solidFill>
                <a:srgbClr val="000000"/>
              </a:solidFill>
              <a:latin typeface="Arial"/>
              <a:ea typeface="Arial"/>
              <a:cs typeface="Arial"/>
              <a:sym typeface="Arial"/>
            </a:endParaRPr>
          </a:p>
          <a:p>
            <a:pPr marL="457200" marR="0" lvl="0" indent="-367920" algn="just" rtl="0">
              <a:lnSpc>
                <a:spcPct val="115000"/>
              </a:lnSpc>
              <a:spcBef>
                <a:spcPts val="0"/>
              </a:spcBef>
              <a:spcAft>
                <a:spcPts val="0"/>
              </a:spcAft>
              <a:buClr>
                <a:srgbClr val="434343"/>
              </a:buClr>
              <a:buSzPts val="2200"/>
              <a:buFont typeface="Roboto"/>
              <a:buChar char="●"/>
            </a:pPr>
            <a:r>
              <a:rPr lang="en-GB" sz="2200" b="0" strike="noStrike">
                <a:solidFill>
                  <a:srgbClr val="434343"/>
                </a:solidFill>
                <a:latin typeface="Roboto"/>
                <a:ea typeface="Roboto"/>
                <a:cs typeface="Roboto"/>
                <a:sym typeface="Roboto"/>
              </a:rPr>
              <a:t>As such the design includes an outline of what the researcher will do from writing the hypothesis and its operational implications to the final analysis of data.</a:t>
            </a:r>
            <a:endParaRPr sz="2200" b="0" strike="noStrike">
              <a:solidFill>
                <a:srgbClr val="000000"/>
              </a:solidFill>
              <a:latin typeface="Arial"/>
              <a:ea typeface="Arial"/>
              <a:cs typeface="Arial"/>
              <a:sym typeface="Arial"/>
            </a:endParaRPr>
          </a:p>
          <a:p>
            <a:pPr marL="0" marR="0" lvl="0" indent="0" algn="l" rtl="0">
              <a:lnSpc>
                <a:spcPct val="115000"/>
              </a:lnSpc>
              <a:spcBef>
                <a:spcPts val="1199"/>
              </a:spcBef>
              <a:spcAft>
                <a:spcPts val="0"/>
              </a:spcAft>
              <a:buNone/>
            </a:pPr>
            <a:endParaRPr sz="2200" b="0"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25"/>
        <p:cNvGrpSpPr/>
        <p:nvPr/>
      </p:nvGrpSpPr>
      <p:grpSpPr>
        <a:xfrm>
          <a:off x="0" y="0"/>
          <a:ext cx="0" cy="0"/>
          <a:chOff x="0" y="0"/>
          <a:chExt cx="0" cy="0"/>
        </a:xfrm>
      </p:grpSpPr>
      <p:sp>
        <p:nvSpPr>
          <p:cNvPr id="226" name="Google Shape;226;p5"/>
          <p:cNvSpPr txBox="1"/>
          <p:nvPr/>
        </p:nvSpPr>
        <p:spPr>
          <a:xfrm>
            <a:off x="311760" y="410040"/>
            <a:ext cx="8520120" cy="607320"/>
          </a:xfrm>
          <a:prstGeom prst="rect">
            <a:avLst/>
          </a:prstGeom>
          <a:noFill/>
          <a:ln>
            <a:noFill/>
          </a:ln>
        </p:spPr>
        <p:txBody>
          <a:bodyPr spcFirstLastPara="1" wrap="square" lIns="91425" tIns="91425" rIns="91425" bIns="91425" anchor="t" anchorCtr="0">
            <a:normAutofit fontScale="98500"/>
          </a:bodyPr>
          <a:lstStyle/>
          <a:p>
            <a:pPr marL="0" marR="0" lvl="0" indent="0" algn="l" rtl="0">
              <a:spcBef>
                <a:spcPts val="0"/>
              </a:spcBef>
              <a:spcAft>
                <a:spcPts val="0"/>
              </a:spcAft>
              <a:buNone/>
            </a:pPr>
            <a:endParaRPr sz="1400" b="0" strike="noStrike">
              <a:solidFill>
                <a:srgbClr val="000000"/>
              </a:solidFill>
              <a:latin typeface="Arial"/>
              <a:ea typeface="Arial"/>
              <a:cs typeface="Arial"/>
              <a:sym typeface="Arial"/>
            </a:endParaRPr>
          </a:p>
        </p:txBody>
      </p:sp>
      <p:sp>
        <p:nvSpPr>
          <p:cNvPr id="227" name="Google Shape;227;p5"/>
          <p:cNvSpPr txBox="1"/>
          <p:nvPr/>
        </p:nvSpPr>
        <p:spPr>
          <a:xfrm>
            <a:off x="311760" y="1229760"/>
            <a:ext cx="8520120" cy="3338640"/>
          </a:xfrm>
          <a:prstGeom prst="rect">
            <a:avLst/>
          </a:prstGeom>
          <a:noFill/>
          <a:ln>
            <a:noFill/>
          </a:ln>
        </p:spPr>
        <p:txBody>
          <a:bodyPr spcFirstLastPara="1" wrap="square" lIns="91425" tIns="91425" rIns="91425" bIns="91425" anchor="t" anchorCtr="0">
            <a:normAutofit/>
          </a:bodyPr>
          <a:lstStyle/>
          <a:p>
            <a:pPr marL="0" marR="0" lvl="0" indent="0" algn="l" rtl="0">
              <a:spcBef>
                <a:spcPts val="0"/>
              </a:spcBef>
              <a:spcAft>
                <a:spcPts val="0"/>
              </a:spcAft>
              <a:buNone/>
            </a:pPr>
            <a:endParaRPr sz="1400" b="0" strike="noStrike">
              <a:solidFill>
                <a:srgbClr val="000000"/>
              </a:solidFill>
              <a:latin typeface="Arial"/>
              <a:ea typeface="Arial"/>
              <a:cs typeface="Arial"/>
              <a:sym typeface="Arial"/>
            </a:endParaRPr>
          </a:p>
        </p:txBody>
      </p:sp>
      <p:pic>
        <p:nvPicPr>
          <p:cNvPr id="228" name="Google Shape;228;p5"/>
          <p:cNvPicPr preferRelativeResize="0"/>
          <p:nvPr/>
        </p:nvPicPr>
        <p:blipFill rotWithShape="1">
          <a:blip r:embed="rId3">
            <a:alphaModFix/>
          </a:blip>
          <a:srcRect/>
          <a:stretch/>
        </p:blipFill>
        <p:spPr>
          <a:xfrm>
            <a:off x="311760" y="171360"/>
            <a:ext cx="8520120" cy="480024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6"/>
          <p:cNvSpPr txBox="1"/>
          <p:nvPr/>
        </p:nvSpPr>
        <p:spPr>
          <a:xfrm>
            <a:off x="311760" y="410040"/>
            <a:ext cx="8520120" cy="607320"/>
          </a:xfrm>
          <a:prstGeom prst="rect">
            <a:avLst/>
          </a:prstGeom>
          <a:noFill/>
          <a:ln>
            <a:noFill/>
          </a:ln>
        </p:spPr>
        <p:txBody>
          <a:bodyPr spcFirstLastPara="1" wrap="square" lIns="91425" tIns="91425" rIns="91425" bIns="91425" anchor="t" anchorCtr="0">
            <a:normAutofit fontScale="98500"/>
          </a:bodyPr>
          <a:lstStyle/>
          <a:p>
            <a:pPr marL="0" marR="0" lvl="0" indent="0" algn="l" rtl="0">
              <a:spcBef>
                <a:spcPts val="0"/>
              </a:spcBef>
              <a:spcAft>
                <a:spcPts val="0"/>
              </a:spcAft>
              <a:buNone/>
            </a:pPr>
            <a:endParaRPr sz="1400" b="0" strike="noStrike">
              <a:solidFill>
                <a:srgbClr val="000000"/>
              </a:solidFill>
              <a:latin typeface="Arial"/>
              <a:ea typeface="Arial"/>
              <a:cs typeface="Arial"/>
              <a:sym typeface="Arial"/>
            </a:endParaRPr>
          </a:p>
        </p:txBody>
      </p:sp>
      <p:sp>
        <p:nvSpPr>
          <p:cNvPr id="234" name="Google Shape;234;p6"/>
          <p:cNvSpPr txBox="1"/>
          <p:nvPr/>
        </p:nvSpPr>
        <p:spPr>
          <a:xfrm>
            <a:off x="311760" y="410040"/>
            <a:ext cx="8520120" cy="4158720"/>
          </a:xfrm>
          <a:prstGeom prst="rect">
            <a:avLst/>
          </a:prstGeom>
          <a:noFill/>
          <a:ln>
            <a:noFill/>
          </a:ln>
        </p:spPr>
        <p:txBody>
          <a:bodyPr spcFirstLastPara="1" wrap="square" lIns="91425" tIns="91425" rIns="91425" bIns="91425" anchor="t" anchorCtr="0">
            <a:normAutofit fontScale="90000"/>
          </a:bodyPr>
          <a:lstStyle/>
          <a:p>
            <a:pPr marL="0" marR="0" lvl="0" indent="0" algn="just" rtl="0">
              <a:lnSpc>
                <a:spcPct val="115000"/>
              </a:lnSpc>
              <a:spcBef>
                <a:spcPts val="0"/>
              </a:spcBef>
              <a:spcAft>
                <a:spcPts val="0"/>
              </a:spcAft>
              <a:buNone/>
            </a:pPr>
            <a:r>
              <a:rPr lang="en-GB" sz="2040" b="0" strike="noStrike" dirty="0">
                <a:solidFill>
                  <a:srgbClr val="434343"/>
                </a:solidFill>
                <a:latin typeface="Roboto"/>
                <a:ea typeface="Roboto"/>
                <a:cs typeface="Roboto"/>
                <a:sym typeface="Roboto"/>
              </a:rPr>
              <a:t>The overall research </a:t>
            </a:r>
            <a:r>
              <a:rPr lang="en-GB" sz="2040" b="0" strike="noStrike">
                <a:solidFill>
                  <a:srgbClr val="434343"/>
                </a:solidFill>
                <a:latin typeface="Roboto"/>
                <a:ea typeface="Roboto"/>
                <a:cs typeface="Roboto"/>
                <a:sym typeface="Roboto"/>
              </a:rPr>
              <a:t>design  </a:t>
            </a:r>
            <a:r>
              <a:rPr lang="en-GB" sz="2040" b="0" strike="noStrike" dirty="0">
                <a:solidFill>
                  <a:srgbClr val="434343"/>
                </a:solidFill>
                <a:latin typeface="Roboto"/>
                <a:ea typeface="Roboto"/>
                <a:cs typeface="Roboto"/>
                <a:sym typeface="Roboto"/>
              </a:rPr>
              <a:t>can be divided into the following parts:</a:t>
            </a:r>
            <a:endParaRPr sz="2040" b="0" strike="noStrike" dirty="0">
              <a:solidFill>
                <a:srgbClr val="000000"/>
              </a:solidFill>
              <a:latin typeface="Arial"/>
              <a:ea typeface="Arial"/>
              <a:cs typeface="Arial"/>
              <a:sym typeface="Arial"/>
            </a:endParaRPr>
          </a:p>
          <a:p>
            <a:pPr marL="0" marR="0" lvl="0" indent="0" algn="just" rtl="0">
              <a:lnSpc>
                <a:spcPct val="115000"/>
              </a:lnSpc>
              <a:spcBef>
                <a:spcPts val="1199"/>
              </a:spcBef>
              <a:spcAft>
                <a:spcPts val="0"/>
              </a:spcAft>
              <a:buNone/>
            </a:pPr>
            <a:r>
              <a:rPr lang="en-GB" sz="2040" b="0" strike="noStrike" dirty="0">
                <a:solidFill>
                  <a:srgbClr val="434343"/>
                </a:solidFill>
                <a:latin typeface="Roboto"/>
                <a:ea typeface="Roboto"/>
                <a:cs typeface="Roboto"/>
                <a:sym typeface="Roboto"/>
              </a:rPr>
              <a:t>(a) the </a:t>
            </a:r>
            <a:r>
              <a:rPr lang="en-GB" sz="2040" b="0" strike="noStrike" dirty="0">
                <a:solidFill>
                  <a:srgbClr val="9C254D"/>
                </a:solidFill>
                <a:latin typeface="Roboto"/>
                <a:ea typeface="Roboto"/>
                <a:cs typeface="Roboto"/>
                <a:sym typeface="Roboto"/>
              </a:rPr>
              <a:t>sampling design</a:t>
            </a:r>
            <a:r>
              <a:rPr lang="en-GB" sz="2040" b="0" strike="noStrike" dirty="0">
                <a:solidFill>
                  <a:srgbClr val="434343"/>
                </a:solidFill>
                <a:latin typeface="Roboto"/>
                <a:ea typeface="Roboto"/>
                <a:cs typeface="Roboto"/>
                <a:sym typeface="Roboto"/>
              </a:rPr>
              <a:t> which deals with the method of </a:t>
            </a:r>
            <a:r>
              <a:rPr lang="en-GB" sz="2040" b="0" strike="noStrike" dirty="0">
                <a:solidFill>
                  <a:srgbClr val="9C254D"/>
                </a:solidFill>
                <a:latin typeface="Roboto"/>
                <a:ea typeface="Roboto"/>
                <a:cs typeface="Roboto"/>
                <a:sym typeface="Roboto"/>
              </a:rPr>
              <a:t>selecting items to be observed</a:t>
            </a:r>
            <a:r>
              <a:rPr lang="en-GB" sz="2040" b="0" strike="noStrike" dirty="0">
                <a:solidFill>
                  <a:srgbClr val="434343"/>
                </a:solidFill>
                <a:latin typeface="Roboto"/>
                <a:ea typeface="Roboto"/>
                <a:cs typeface="Roboto"/>
                <a:sym typeface="Roboto"/>
              </a:rPr>
              <a:t> for they given study;</a:t>
            </a:r>
            <a:endParaRPr sz="2040" b="0" strike="noStrike" dirty="0">
              <a:solidFill>
                <a:srgbClr val="000000"/>
              </a:solidFill>
              <a:latin typeface="Arial"/>
              <a:ea typeface="Arial"/>
              <a:cs typeface="Arial"/>
              <a:sym typeface="Arial"/>
            </a:endParaRPr>
          </a:p>
          <a:p>
            <a:pPr marL="0" marR="0" lvl="0" indent="0" algn="just" rtl="0">
              <a:lnSpc>
                <a:spcPct val="115000"/>
              </a:lnSpc>
              <a:spcBef>
                <a:spcPts val="1199"/>
              </a:spcBef>
              <a:spcAft>
                <a:spcPts val="0"/>
              </a:spcAft>
              <a:buNone/>
            </a:pPr>
            <a:r>
              <a:rPr lang="en-GB" sz="2040" b="0" strike="noStrike" dirty="0">
                <a:solidFill>
                  <a:srgbClr val="434343"/>
                </a:solidFill>
                <a:latin typeface="Roboto"/>
                <a:ea typeface="Roboto"/>
                <a:cs typeface="Roboto"/>
                <a:sym typeface="Roboto"/>
              </a:rPr>
              <a:t>(b) the </a:t>
            </a:r>
            <a:r>
              <a:rPr lang="en-GB" sz="2040" b="0" strike="noStrike" dirty="0">
                <a:solidFill>
                  <a:srgbClr val="9C254D"/>
                </a:solidFill>
                <a:latin typeface="Roboto"/>
                <a:ea typeface="Roboto"/>
                <a:cs typeface="Roboto"/>
                <a:sym typeface="Roboto"/>
              </a:rPr>
              <a:t>observational design </a:t>
            </a:r>
            <a:r>
              <a:rPr lang="en-GB" sz="2040" b="0" strike="noStrike" dirty="0">
                <a:solidFill>
                  <a:srgbClr val="434343"/>
                </a:solidFill>
                <a:latin typeface="Roboto"/>
                <a:ea typeface="Roboto"/>
                <a:cs typeface="Roboto"/>
                <a:sym typeface="Roboto"/>
              </a:rPr>
              <a:t>which relates to the c</a:t>
            </a:r>
            <a:r>
              <a:rPr lang="en-GB" sz="2040" b="0" strike="noStrike" dirty="0">
                <a:solidFill>
                  <a:srgbClr val="9C254D"/>
                </a:solidFill>
                <a:latin typeface="Roboto"/>
                <a:ea typeface="Roboto"/>
                <a:cs typeface="Roboto"/>
                <a:sym typeface="Roboto"/>
              </a:rPr>
              <a:t>onditions under which the observations are to be made;</a:t>
            </a:r>
            <a:endParaRPr sz="2040" b="0" strike="noStrike" dirty="0">
              <a:solidFill>
                <a:srgbClr val="000000"/>
              </a:solidFill>
              <a:latin typeface="Arial"/>
              <a:ea typeface="Arial"/>
              <a:cs typeface="Arial"/>
              <a:sym typeface="Arial"/>
            </a:endParaRPr>
          </a:p>
          <a:p>
            <a:pPr marL="0" marR="0" lvl="0" indent="0" algn="just" rtl="0">
              <a:lnSpc>
                <a:spcPct val="115000"/>
              </a:lnSpc>
              <a:spcBef>
                <a:spcPts val="1199"/>
              </a:spcBef>
              <a:spcAft>
                <a:spcPts val="0"/>
              </a:spcAft>
              <a:buNone/>
            </a:pPr>
            <a:r>
              <a:rPr lang="en-GB" sz="2040" b="0" strike="noStrike" dirty="0">
                <a:solidFill>
                  <a:srgbClr val="434343"/>
                </a:solidFill>
                <a:latin typeface="Roboto"/>
                <a:ea typeface="Roboto"/>
                <a:cs typeface="Roboto"/>
                <a:sym typeface="Roboto"/>
              </a:rPr>
              <a:t>(c) the </a:t>
            </a:r>
            <a:r>
              <a:rPr lang="en-GB" sz="2040" b="0" strike="noStrike" dirty="0">
                <a:solidFill>
                  <a:srgbClr val="9C254D"/>
                </a:solidFill>
                <a:latin typeface="Roboto"/>
                <a:ea typeface="Roboto"/>
                <a:cs typeface="Roboto"/>
                <a:sym typeface="Roboto"/>
              </a:rPr>
              <a:t>statistical design</a:t>
            </a:r>
            <a:r>
              <a:rPr lang="en-GB" sz="2040" b="0" strike="noStrike" dirty="0">
                <a:solidFill>
                  <a:srgbClr val="434343"/>
                </a:solidFill>
                <a:latin typeface="Roboto"/>
                <a:ea typeface="Roboto"/>
                <a:cs typeface="Roboto"/>
                <a:sym typeface="Roboto"/>
              </a:rPr>
              <a:t> which concerns with the </a:t>
            </a:r>
            <a:r>
              <a:rPr lang="en-GB" sz="2040" b="0" strike="noStrike" dirty="0">
                <a:solidFill>
                  <a:srgbClr val="9C254D"/>
                </a:solidFill>
                <a:latin typeface="Roboto"/>
                <a:ea typeface="Roboto"/>
                <a:cs typeface="Roboto"/>
                <a:sym typeface="Roboto"/>
              </a:rPr>
              <a:t>question of how many items are to be observed and how the information and data gathered are to be analysed</a:t>
            </a:r>
            <a:r>
              <a:rPr lang="en-GB" sz="2040" b="0" strike="noStrike" dirty="0">
                <a:solidFill>
                  <a:srgbClr val="434343"/>
                </a:solidFill>
                <a:latin typeface="Roboto"/>
                <a:ea typeface="Roboto"/>
                <a:cs typeface="Roboto"/>
                <a:sym typeface="Roboto"/>
              </a:rPr>
              <a:t>; and</a:t>
            </a:r>
            <a:endParaRPr sz="2040" b="0" strike="noStrike" dirty="0">
              <a:solidFill>
                <a:srgbClr val="000000"/>
              </a:solidFill>
              <a:latin typeface="Arial"/>
              <a:ea typeface="Arial"/>
              <a:cs typeface="Arial"/>
              <a:sym typeface="Arial"/>
            </a:endParaRPr>
          </a:p>
          <a:p>
            <a:pPr marL="0" marR="0" lvl="0" indent="0" algn="just" rtl="0">
              <a:lnSpc>
                <a:spcPct val="115000"/>
              </a:lnSpc>
              <a:spcBef>
                <a:spcPts val="1199"/>
              </a:spcBef>
              <a:spcAft>
                <a:spcPts val="0"/>
              </a:spcAft>
              <a:buNone/>
            </a:pPr>
            <a:r>
              <a:rPr lang="en-GB" sz="2040" b="0" strike="noStrike" dirty="0">
                <a:solidFill>
                  <a:srgbClr val="434343"/>
                </a:solidFill>
                <a:latin typeface="Roboto"/>
                <a:ea typeface="Roboto"/>
                <a:cs typeface="Roboto"/>
                <a:sym typeface="Roboto"/>
              </a:rPr>
              <a:t>(d) the </a:t>
            </a:r>
            <a:r>
              <a:rPr lang="en-GB" sz="2040" b="0" strike="noStrike" dirty="0">
                <a:solidFill>
                  <a:srgbClr val="9C254D"/>
                </a:solidFill>
                <a:latin typeface="Roboto"/>
                <a:ea typeface="Roboto"/>
                <a:cs typeface="Roboto"/>
                <a:sym typeface="Roboto"/>
              </a:rPr>
              <a:t>operational design</a:t>
            </a:r>
            <a:r>
              <a:rPr lang="en-GB" sz="2040" b="0" strike="noStrike" dirty="0">
                <a:solidFill>
                  <a:srgbClr val="434343"/>
                </a:solidFill>
                <a:latin typeface="Roboto"/>
                <a:ea typeface="Roboto"/>
                <a:cs typeface="Roboto"/>
                <a:sym typeface="Roboto"/>
              </a:rPr>
              <a:t> which deals with the t</a:t>
            </a:r>
            <a:r>
              <a:rPr lang="en-GB" sz="2040" b="0" strike="noStrike" dirty="0">
                <a:solidFill>
                  <a:srgbClr val="9C254D"/>
                </a:solidFill>
                <a:latin typeface="Roboto"/>
                <a:ea typeface="Roboto"/>
                <a:cs typeface="Roboto"/>
                <a:sym typeface="Roboto"/>
              </a:rPr>
              <a:t>echniques by which the procedures specified in the sampling, statistical and observational designs can be carried out.</a:t>
            </a:r>
            <a:endParaRPr sz="2040" b="0" strike="noStrike" dirty="0">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sp>
        <p:nvSpPr>
          <p:cNvPr id="239" name="Google Shape;239;p7"/>
          <p:cNvSpPr txBox="1"/>
          <p:nvPr/>
        </p:nvSpPr>
        <p:spPr>
          <a:xfrm>
            <a:off x="311760" y="410040"/>
            <a:ext cx="8520120" cy="607320"/>
          </a:xfrm>
          <a:prstGeom prst="rect">
            <a:avLst/>
          </a:prstGeom>
          <a:noFill/>
          <a:ln>
            <a:noFill/>
          </a:ln>
        </p:spPr>
        <p:txBody>
          <a:bodyPr spcFirstLastPara="1" wrap="square" lIns="91425" tIns="91425" rIns="91425" bIns="91425" anchor="t" anchorCtr="0">
            <a:normAutofit fontScale="98500"/>
          </a:bodyPr>
          <a:lstStyle/>
          <a:p>
            <a:pPr marL="0" marR="0" lvl="0" indent="0" algn="l" rtl="0">
              <a:spcBef>
                <a:spcPts val="0"/>
              </a:spcBef>
              <a:spcAft>
                <a:spcPts val="0"/>
              </a:spcAft>
              <a:buNone/>
            </a:pPr>
            <a:endParaRPr sz="1400" b="0" strike="noStrike">
              <a:solidFill>
                <a:srgbClr val="000000"/>
              </a:solidFill>
              <a:latin typeface="Arial"/>
              <a:ea typeface="Arial"/>
              <a:cs typeface="Arial"/>
              <a:sym typeface="Arial"/>
            </a:endParaRPr>
          </a:p>
        </p:txBody>
      </p:sp>
      <p:sp>
        <p:nvSpPr>
          <p:cNvPr id="240" name="Google Shape;240;p7"/>
          <p:cNvSpPr txBox="1"/>
          <p:nvPr/>
        </p:nvSpPr>
        <p:spPr>
          <a:xfrm>
            <a:off x="311760" y="540000"/>
            <a:ext cx="8520120" cy="4028400"/>
          </a:xfrm>
          <a:prstGeom prst="rect">
            <a:avLst/>
          </a:prstGeom>
          <a:noFill/>
          <a:ln>
            <a:noFill/>
          </a:ln>
        </p:spPr>
        <p:txBody>
          <a:bodyPr spcFirstLastPara="1" wrap="square" lIns="91425" tIns="91425" rIns="91425" bIns="91425" anchor="t" anchorCtr="0">
            <a:normAutofit/>
          </a:bodyPr>
          <a:lstStyle/>
          <a:p>
            <a:pPr marL="457200" marR="0" lvl="0" indent="-361440" algn="just" rtl="0">
              <a:lnSpc>
                <a:spcPct val="115000"/>
              </a:lnSpc>
              <a:spcBef>
                <a:spcPts val="0"/>
              </a:spcBef>
              <a:spcAft>
                <a:spcPts val="0"/>
              </a:spcAft>
              <a:buClr>
                <a:srgbClr val="434343"/>
              </a:buClr>
              <a:buSzPts val="2100"/>
              <a:buFont typeface="Roboto"/>
              <a:buChar char="●"/>
            </a:pPr>
            <a:r>
              <a:rPr lang="en-GB" sz="2100" b="0" strike="noStrike" dirty="0">
                <a:solidFill>
                  <a:srgbClr val="434343"/>
                </a:solidFill>
                <a:latin typeface="Roboto"/>
                <a:ea typeface="Roboto"/>
                <a:cs typeface="Roboto"/>
                <a:sym typeface="Roboto"/>
              </a:rPr>
              <a:t>The  important features of a research design are:</a:t>
            </a:r>
            <a:endParaRPr sz="2100" b="0" strike="noStrike" dirty="0">
              <a:solidFill>
                <a:srgbClr val="000000"/>
              </a:solidFill>
              <a:latin typeface="Arial"/>
              <a:ea typeface="Arial"/>
              <a:cs typeface="Arial"/>
              <a:sym typeface="Arial"/>
            </a:endParaRPr>
          </a:p>
          <a:p>
            <a:pPr marL="0" marR="0" lvl="0" indent="0" algn="just" rtl="0">
              <a:lnSpc>
                <a:spcPct val="115000"/>
              </a:lnSpc>
              <a:spcBef>
                <a:spcPts val="1199"/>
              </a:spcBef>
              <a:spcAft>
                <a:spcPts val="0"/>
              </a:spcAft>
              <a:buNone/>
            </a:pPr>
            <a:r>
              <a:rPr lang="en-GB" sz="2100" b="0" strike="noStrike" dirty="0">
                <a:solidFill>
                  <a:srgbClr val="434343"/>
                </a:solidFill>
                <a:latin typeface="Roboto"/>
                <a:ea typeface="Roboto"/>
                <a:cs typeface="Roboto"/>
                <a:sym typeface="Roboto"/>
              </a:rPr>
              <a:t>(</a:t>
            </a:r>
            <a:r>
              <a:rPr lang="en-GB" sz="2100" b="0" strike="noStrike" dirty="0" err="1">
                <a:solidFill>
                  <a:srgbClr val="434343"/>
                </a:solidFill>
                <a:latin typeface="Roboto"/>
                <a:ea typeface="Roboto"/>
                <a:cs typeface="Roboto"/>
                <a:sym typeface="Roboto"/>
              </a:rPr>
              <a:t>i</a:t>
            </a:r>
            <a:r>
              <a:rPr lang="en-GB" sz="2100" b="0" strike="noStrike" dirty="0">
                <a:solidFill>
                  <a:srgbClr val="434343"/>
                </a:solidFill>
                <a:latin typeface="Roboto"/>
                <a:ea typeface="Roboto"/>
                <a:cs typeface="Roboto"/>
                <a:sym typeface="Roboto"/>
              </a:rPr>
              <a:t>) It is a plan that specifies the sources and types of information relevant to the research problem.</a:t>
            </a:r>
            <a:endParaRPr sz="2100" b="0" strike="noStrike" dirty="0">
              <a:solidFill>
                <a:srgbClr val="000000"/>
              </a:solidFill>
              <a:latin typeface="Arial"/>
              <a:ea typeface="Arial"/>
              <a:cs typeface="Arial"/>
              <a:sym typeface="Arial"/>
            </a:endParaRPr>
          </a:p>
          <a:p>
            <a:pPr marL="0" marR="0" lvl="0" indent="0" algn="just" rtl="0">
              <a:lnSpc>
                <a:spcPct val="115000"/>
              </a:lnSpc>
              <a:spcBef>
                <a:spcPts val="1199"/>
              </a:spcBef>
              <a:spcAft>
                <a:spcPts val="0"/>
              </a:spcAft>
              <a:buNone/>
            </a:pPr>
            <a:r>
              <a:rPr lang="en-GB" sz="2100" b="0" strike="noStrike" dirty="0">
                <a:solidFill>
                  <a:srgbClr val="434343"/>
                </a:solidFill>
                <a:latin typeface="Roboto"/>
                <a:ea typeface="Roboto"/>
                <a:cs typeface="Roboto"/>
                <a:sym typeface="Roboto"/>
              </a:rPr>
              <a:t>(ii) It is a strategy specifying which approach will be used for gathering and analysing the data.</a:t>
            </a:r>
            <a:endParaRPr sz="2100" b="0" strike="noStrike" dirty="0">
              <a:solidFill>
                <a:srgbClr val="000000"/>
              </a:solidFill>
              <a:latin typeface="Arial"/>
              <a:ea typeface="Arial"/>
              <a:cs typeface="Arial"/>
              <a:sym typeface="Arial"/>
            </a:endParaRPr>
          </a:p>
          <a:p>
            <a:pPr marL="0" marR="0" lvl="0" indent="0" algn="just" rtl="0">
              <a:lnSpc>
                <a:spcPct val="115000"/>
              </a:lnSpc>
              <a:spcBef>
                <a:spcPts val="1199"/>
              </a:spcBef>
              <a:spcAft>
                <a:spcPts val="0"/>
              </a:spcAft>
              <a:buNone/>
            </a:pPr>
            <a:r>
              <a:rPr lang="en-GB" sz="2100" b="0" strike="noStrike" dirty="0">
                <a:solidFill>
                  <a:srgbClr val="434343"/>
                </a:solidFill>
                <a:latin typeface="Roboto"/>
                <a:ea typeface="Roboto"/>
                <a:cs typeface="Roboto"/>
                <a:sym typeface="Roboto"/>
              </a:rPr>
              <a:t>(iii) It also includes the time and cost budgets since most studies are done under these two constraints.</a:t>
            </a:r>
            <a:endParaRPr sz="2100" b="0" strike="noStrike" dirty="0">
              <a:solidFill>
                <a:srgbClr val="000000"/>
              </a:solidFill>
              <a:latin typeface="Arial"/>
              <a:ea typeface="Arial"/>
              <a:cs typeface="Arial"/>
              <a:sym typeface="Arial"/>
            </a:endParaRPr>
          </a:p>
          <a:p>
            <a:pPr marL="0" marR="0" lvl="0" indent="0" algn="l" rtl="0">
              <a:lnSpc>
                <a:spcPct val="115000"/>
              </a:lnSpc>
              <a:spcBef>
                <a:spcPts val="1199"/>
              </a:spcBef>
              <a:spcAft>
                <a:spcPts val="0"/>
              </a:spcAft>
              <a:buNone/>
            </a:pPr>
            <a:endParaRPr sz="2100" b="0" strike="noStrike" dirty="0">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44"/>
        <p:cNvGrpSpPr/>
        <p:nvPr/>
      </p:nvGrpSpPr>
      <p:grpSpPr>
        <a:xfrm>
          <a:off x="0" y="0"/>
          <a:ext cx="0" cy="0"/>
          <a:chOff x="0" y="0"/>
          <a:chExt cx="0" cy="0"/>
        </a:xfrm>
      </p:grpSpPr>
      <p:sp>
        <p:nvSpPr>
          <p:cNvPr id="245" name="Google Shape;245;p8"/>
          <p:cNvSpPr txBox="1"/>
          <p:nvPr/>
        </p:nvSpPr>
        <p:spPr>
          <a:xfrm>
            <a:off x="311760" y="410040"/>
            <a:ext cx="8520120" cy="607320"/>
          </a:xfrm>
          <a:prstGeom prst="rect">
            <a:avLst/>
          </a:prstGeom>
          <a:noFill/>
          <a:ln>
            <a:noFill/>
          </a:ln>
        </p:spPr>
        <p:txBody>
          <a:bodyPr spcFirstLastPara="1" wrap="square" lIns="91425" tIns="91425" rIns="91425" bIns="91425" anchor="t" anchorCtr="0">
            <a:normAutofit fontScale="98500" lnSpcReduction="10000"/>
          </a:bodyPr>
          <a:lstStyle/>
          <a:p>
            <a:pPr marL="0" marR="0" lvl="0" indent="0" algn="l" rtl="0">
              <a:lnSpc>
                <a:spcPct val="100000"/>
              </a:lnSpc>
              <a:spcBef>
                <a:spcPts val="0"/>
              </a:spcBef>
              <a:spcAft>
                <a:spcPts val="0"/>
              </a:spcAft>
              <a:buNone/>
            </a:pPr>
            <a:r>
              <a:rPr lang="en-GB" sz="3000" b="0" strike="noStrike">
                <a:solidFill>
                  <a:srgbClr val="2A3990"/>
                </a:solidFill>
                <a:latin typeface="Roboto"/>
                <a:ea typeface="Roboto"/>
                <a:cs typeface="Roboto"/>
                <a:sym typeface="Roboto"/>
              </a:rPr>
              <a:t>Research Design- basic principles</a:t>
            </a:r>
            <a:endParaRPr sz="3000" b="0" strike="noStrike">
              <a:solidFill>
                <a:srgbClr val="000000"/>
              </a:solidFill>
              <a:latin typeface="Arial"/>
              <a:ea typeface="Arial"/>
              <a:cs typeface="Arial"/>
              <a:sym typeface="Arial"/>
            </a:endParaRPr>
          </a:p>
        </p:txBody>
      </p:sp>
      <p:sp>
        <p:nvSpPr>
          <p:cNvPr id="246" name="Google Shape;246;p8"/>
          <p:cNvSpPr txBox="1"/>
          <p:nvPr/>
        </p:nvSpPr>
        <p:spPr>
          <a:xfrm>
            <a:off x="311760" y="1229760"/>
            <a:ext cx="8520120" cy="3338640"/>
          </a:xfrm>
          <a:prstGeom prst="rect">
            <a:avLst/>
          </a:prstGeom>
          <a:noFill/>
          <a:ln>
            <a:noFill/>
          </a:ln>
        </p:spPr>
        <p:txBody>
          <a:bodyPr spcFirstLastPara="1" wrap="square" lIns="91425" tIns="91425" rIns="91425" bIns="91425" anchor="t" anchorCtr="0">
            <a:normAutofit/>
          </a:bodyPr>
          <a:lstStyle/>
          <a:p>
            <a:pPr marL="0" marR="0" lvl="0" indent="0" algn="l" rtl="0">
              <a:spcBef>
                <a:spcPts val="0"/>
              </a:spcBef>
              <a:spcAft>
                <a:spcPts val="0"/>
              </a:spcAft>
              <a:buNone/>
            </a:pPr>
            <a:endParaRPr sz="1400" b="0" strike="noStrike">
              <a:solidFill>
                <a:srgbClr val="000000"/>
              </a:solidFill>
              <a:latin typeface="Arial"/>
              <a:ea typeface="Arial"/>
              <a:cs typeface="Arial"/>
              <a:sym typeface="Arial"/>
            </a:endParaRPr>
          </a:p>
        </p:txBody>
      </p:sp>
      <p:pic>
        <p:nvPicPr>
          <p:cNvPr id="247" name="Google Shape;247;p8"/>
          <p:cNvPicPr preferRelativeResize="0"/>
          <p:nvPr/>
        </p:nvPicPr>
        <p:blipFill rotWithShape="1">
          <a:blip r:embed="rId3">
            <a:alphaModFix/>
          </a:blip>
          <a:srcRect/>
          <a:stretch/>
        </p:blipFill>
        <p:spPr>
          <a:xfrm>
            <a:off x="474130" y="1017360"/>
            <a:ext cx="8520120" cy="28800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51"/>
        <p:cNvGrpSpPr/>
        <p:nvPr/>
      </p:nvGrpSpPr>
      <p:grpSpPr>
        <a:xfrm>
          <a:off x="0" y="0"/>
          <a:ext cx="0" cy="0"/>
          <a:chOff x="0" y="0"/>
          <a:chExt cx="0" cy="0"/>
        </a:xfrm>
      </p:grpSpPr>
      <p:sp>
        <p:nvSpPr>
          <p:cNvPr id="252" name="Google Shape;252;p9"/>
          <p:cNvSpPr txBox="1"/>
          <p:nvPr/>
        </p:nvSpPr>
        <p:spPr>
          <a:xfrm>
            <a:off x="311760" y="410040"/>
            <a:ext cx="8520120" cy="607320"/>
          </a:xfrm>
          <a:prstGeom prst="rect">
            <a:avLst/>
          </a:prstGeom>
          <a:noFill/>
          <a:ln>
            <a:noFill/>
          </a:ln>
        </p:spPr>
        <p:txBody>
          <a:bodyPr spcFirstLastPara="1" wrap="square" lIns="91425" tIns="91425" rIns="91425" bIns="91425" anchor="t" anchorCtr="0">
            <a:normAutofit fontScale="98500" lnSpcReduction="10000"/>
          </a:bodyPr>
          <a:lstStyle/>
          <a:p>
            <a:pPr marL="0" marR="0" lvl="0" indent="0" algn="l" rtl="0">
              <a:lnSpc>
                <a:spcPct val="100000"/>
              </a:lnSpc>
              <a:spcBef>
                <a:spcPts val="0"/>
              </a:spcBef>
              <a:spcAft>
                <a:spcPts val="0"/>
              </a:spcAft>
              <a:buNone/>
            </a:pPr>
            <a:r>
              <a:rPr lang="en-GB" sz="3000" b="0" strike="noStrike">
                <a:solidFill>
                  <a:srgbClr val="2A3990"/>
                </a:solidFill>
                <a:latin typeface="Roboto"/>
                <a:ea typeface="Roboto"/>
                <a:cs typeface="Roboto"/>
                <a:sym typeface="Roboto"/>
              </a:rPr>
              <a:t>contd…</a:t>
            </a:r>
            <a:endParaRPr sz="3000" b="0" strike="noStrike">
              <a:solidFill>
                <a:srgbClr val="000000"/>
              </a:solidFill>
              <a:latin typeface="Arial"/>
              <a:ea typeface="Arial"/>
              <a:cs typeface="Arial"/>
              <a:sym typeface="Arial"/>
            </a:endParaRPr>
          </a:p>
        </p:txBody>
      </p:sp>
      <p:sp>
        <p:nvSpPr>
          <p:cNvPr id="253" name="Google Shape;253;p9"/>
          <p:cNvSpPr txBox="1"/>
          <p:nvPr/>
        </p:nvSpPr>
        <p:spPr>
          <a:xfrm>
            <a:off x="311760" y="1229760"/>
            <a:ext cx="8520120" cy="3338640"/>
          </a:xfrm>
          <a:prstGeom prst="rect">
            <a:avLst/>
          </a:prstGeom>
          <a:noFill/>
          <a:ln>
            <a:noFill/>
          </a:ln>
        </p:spPr>
        <p:txBody>
          <a:bodyPr spcFirstLastPara="1" wrap="square" lIns="91425" tIns="91425" rIns="91425" bIns="91425" anchor="t" anchorCtr="0">
            <a:normAutofit/>
          </a:bodyPr>
          <a:lstStyle/>
          <a:p>
            <a:pPr marL="0" marR="0" lvl="0" indent="0" algn="l" rtl="0">
              <a:spcBef>
                <a:spcPts val="0"/>
              </a:spcBef>
              <a:spcAft>
                <a:spcPts val="0"/>
              </a:spcAft>
              <a:buNone/>
            </a:pPr>
            <a:endParaRPr sz="1400" b="0" strike="noStrike">
              <a:solidFill>
                <a:srgbClr val="000000"/>
              </a:solidFill>
              <a:latin typeface="Arial"/>
              <a:ea typeface="Arial"/>
              <a:cs typeface="Arial"/>
              <a:sym typeface="Arial"/>
            </a:endParaRPr>
          </a:p>
        </p:txBody>
      </p:sp>
      <p:pic>
        <p:nvPicPr>
          <p:cNvPr id="254" name="Google Shape;254;p9"/>
          <p:cNvPicPr preferRelativeResize="0"/>
          <p:nvPr/>
        </p:nvPicPr>
        <p:blipFill rotWithShape="1">
          <a:blip r:embed="rId3">
            <a:alphaModFix/>
          </a:blip>
          <a:srcRect/>
          <a:stretch/>
        </p:blipFill>
        <p:spPr>
          <a:xfrm>
            <a:off x="311760" y="1229760"/>
            <a:ext cx="8520120" cy="273888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sp>
        <p:nvSpPr>
          <p:cNvPr id="259" name="Google Shape;259;p10"/>
          <p:cNvSpPr txBox="1"/>
          <p:nvPr/>
        </p:nvSpPr>
        <p:spPr>
          <a:xfrm>
            <a:off x="311760" y="410040"/>
            <a:ext cx="8520120" cy="607320"/>
          </a:xfrm>
          <a:prstGeom prst="rect">
            <a:avLst/>
          </a:prstGeom>
          <a:noFill/>
          <a:ln>
            <a:noFill/>
          </a:ln>
        </p:spPr>
        <p:txBody>
          <a:bodyPr spcFirstLastPara="1" wrap="square" lIns="91425" tIns="91425" rIns="91425" bIns="91425" anchor="t" anchorCtr="0">
            <a:normAutofit fontScale="98500" lnSpcReduction="10000"/>
          </a:bodyPr>
          <a:lstStyle/>
          <a:p>
            <a:pPr marL="0" marR="0" lvl="0" indent="0" algn="l" rtl="0">
              <a:lnSpc>
                <a:spcPct val="100000"/>
              </a:lnSpc>
              <a:spcBef>
                <a:spcPts val="0"/>
              </a:spcBef>
              <a:spcAft>
                <a:spcPts val="0"/>
              </a:spcAft>
              <a:buNone/>
            </a:pPr>
            <a:r>
              <a:rPr lang="en-GB" sz="3000" b="0" strike="noStrike">
                <a:solidFill>
                  <a:srgbClr val="2A3990"/>
                </a:solidFill>
                <a:latin typeface="Roboto"/>
                <a:ea typeface="Roboto"/>
                <a:cs typeface="Roboto"/>
                <a:sym typeface="Roboto"/>
              </a:rPr>
              <a:t>contd…</a:t>
            </a:r>
            <a:endParaRPr sz="3000" b="0" strike="noStrike">
              <a:solidFill>
                <a:srgbClr val="000000"/>
              </a:solidFill>
              <a:latin typeface="Arial"/>
              <a:ea typeface="Arial"/>
              <a:cs typeface="Arial"/>
              <a:sym typeface="Arial"/>
            </a:endParaRPr>
          </a:p>
        </p:txBody>
      </p:sp>
      <p:sp>
        <p:nvSpPr>
          <p:cNvPr id="260" name="Google Shape;260;p10"/>
          <p:cNvSpPr txBox="1"/>
          <p:nvPr/>
        </p:nvSpPr>
        <p:spPr>
          <a:xfrm>
            <a:off x="311760" y="1229760"/>
            <a:ext cx="8520120" cy="3338640"/>
          </a:xfrm>
          <a:prstGeom prst="rect">
            <a:avLst/>
          </a:prstGeom>
          <a:noFill/>
          <a:ln>
            <a:noFill/>
          </a:ln>
        </p:spPr>
        <p:txBody>
          <a:bodyPr spcFirstLastPara="1" wrap="square" lIns="91425" tIns="91425" rIns="91425" bIns="91425" anchor="t" anchorCtr="0">
            <a:normAutofit/>
          </a:bodyPr>
          <a:lstStyle/>
          <a:p>
            <a:pPr marL="0" marR="0" lvl="0" indent="0" algn="l" rtl="0">
              <a:spcBef>
                <a:spcPts val="0"/>
              </a:spcBef>
              <a:spcAft>
                <a:spcPts val="0"/>
              </a:spcAft>
              <a:buNone/>
            </a:pPr>
            <a:endParaRPr sz="1400" b="0" strike="noStrike">
              <a:solidFill>
                <a:srgbClr val="000000"/>
              </a:solidFill>
              <a:latin typeface="Arial"/>
              <a:ea typeface="Arial"/>
              <a:cs typeface="Arial"/>
              <a:sym typeface="Arial"/>
            </a:endParaRPr>
          </a:p>
        </p:txBody>
      </p:sp>
      <p:pic>
        <p:nvPicPr>
          <p:cNvPr id="261" name="Google Shape;261;p10"/>
          <p:cNvPicPr preferRelativeResize="0"/>
          <p:nvPr/>
        </p:nvPicPr>
        <p:blipFill rotWithShape="1">
          <a:blip r:embed="rId3">
            <a:alphaModFix/>
          </a:blip>
          <a:srcRect/>
          <a:stretch/>
        </p:blipFill>
        <p:spPr>
          <a:xfrm>
            <a:off x="311760" y="1229760"/>
            <a:ext cx="8520120" cy="134136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65"/>
        <p:cNvGrpSpPr/>
        <p:nvPr/>
      </p:nvGrpSpPr>
      <p:grpSpPr>
        <a:xfrm>
          <a:off x="0" y="0"/>
          <a:ext cx="0" cy="0"/>
          <a:chOff x="0" y="0"/>
          <a:chExt cx="0" cy="0"/>
        </a:xfrm>
      </p:grpSpPr>
      <p:sp>
        <p:nvSpPr>
          <p:cNvPr id="266" name="Google Shape;266;p11"/>
          <p:cNvSpPr txBox="1"/>
          <p:nvPr/>
        </p:nvSpPr>
        <p:spPr>
          <a:xfrm>
            <a:off x="311760" y="410040"/>
            <a:ext cx="8520120" cy="607320"/>
          </a:xfrm>
          <a:prstGeom prst="rect">
            <a:avLst/>
          </a:prstGeom>
          <a:noFill/>
          <a:ln>
            <a:noFill/>
          </a:ln>
        </p:spPr>
        <p:txBody>
          <a:bodyPr spcFirstLastPara="1" wrap="square" lIns="91425" tIns="91425" rIns="91425" bIns="91425" anchor="t" anchorCtr="0">
            <a:normAutofit fontScale="98500" lnSpcReduction="10000"/>
          </a:bodyPr>
          <a:lstStyle/>
          <a:p>
            <a:pPr marL="0" marR="0" lvl="0" indent="0" algn="l" rtl="0">
              <a:lnSpc>
                <a:spcPct val="100000"/>
              </a:lnSpc>
              <a:spcBef>
                <a:spcPts val="0"/>
              </a:spcBef>
              <a:spcAft>
                <a:spcPts val="0"/>
              </a:spcAft>
              <a:buNone/>
            </a:pPr>
            <a:r>
              <a:rPr lang="en-GB" sz="3000" b="0" strike="noStrike">
                <a:solidFill>
                  <a:srgbClr val="2A3990"/>
                </a:solidFill>
                <a:latin typeface="Roboto"/>
                <a:ea typeface="Roboto"/>
                <a:cs typeface="Roboto"/>
                <a:sym typeface="Roboto"/>
              </a:rPr>
              <a:t>NEED FOR RESEARCH DESIGN</a:t>
            </a:r>
            <a:endParaRPr sz="3000" b="0" strike="noStrike">
              <a:solidFill>
                <a:srgbClr val="000000"/>
              </a:solidFill>
              <a:latin typeface="Arial"/>
              <a:ea typeface="Arial"/>
              <a:cs typeface="Arial"/>
              <a:sym typeface="Arial"/>
            </a:endParaRPr>
          </a:p>
        </p:txBody>
      </p:sp>
      <p:sp>
        <p:nvSpPr>
          <p:cNvPr id="267" name="Google Shape;267;p11"/>
          <p:cNvSpPr txBox="1"/>
          <p:nvPr/>
        </p:nvSpPr>
        <p:spPr>
          <a:xfrm>
            <a:off x="311760" y="1017720"/>
            <a:ext cx="8520120" cy="3550680"/>
          </a:xfrm>
          <a:prstGeom prst="rect">
            <a:avLst/>
          </a:prstGeom>
          <a:noFill/>
          <a:ln>
            <a:noFill/>
          </a:ln>
        </p:spPr>
        <p:txBody>
          <a:bodyPr spcFirstLastPara="1" wrap="square" lIns="91425" tIns="91425" rIns="91425" bIns="91425" anchor="t" anchorCtr="0">
            <a:normAutofit/>
          </a:bodyPr>
          <a:lstStyle/>
          <a:p>
            <a:pPr marL="457200" marR="0" lvl="0" indent="-356400" algn="just" rtl="0">
              <a:lnSpc>
                <a:spcPct val="115000"/>
              </a:lnSpc>
              <a:spcBef>
                <a:spcPts val="0"/>
              </a:spcBef>
              <a:spcAft>
                <a:spcPts val="0"/>
              </a:spcAft>
              <a:buClr>
                <a:srgbClr val="434343"/>
              </a:buClr>
              <a:buSzPts val="2020"/>
              <a:buFont typeface="Roboto"/>
              <a:buChar char="●"/>
            </a:pPr>
            <a:r>
              <a:rPr lang="en-GB" sz="2020" b="0" strike="noStrike">
                <a:solidFill>
                  <a:srgbClr val="434343"/>
                </a:solidFill>
                <a:latin typeface="Roboto"/>
                <a:ea typeface="Roboto"/>
                <a:cs typeface="Roboto"/>
                <a:sym typeface="Roboto"/>
              </a:rPr>
              <a:t>Research design is needed because it </a:t>
            </a:r>
            <a:r>
              <a:rPr lang="en-GB" sz="2020" b="0" strike="noStrike">
                <a:solidFill>
                  <a:srgbClr val="9C254D"/>
                </a:solidFill>
                <a:latin typeface="Roboto"/>
                <a:ea typeface="Roboto"/>
                <a:cs typeface="Roboto"/>
                <a:sym typeface="Roboto"/>
              </a:rPr>
              <a:t>facilitates the smooth sailing of the various research operations,</a:t>
            </a:r>
            <a:r>
              <a:rPr lang="en-GB" sz="2020" b="0" strike="noStrike">
                <a:solidFill>
                  <a:srgbClr val="434343"/>
                </a:solidFill>
                <a:latin typeface="Roboto"/>
                <a:ea typeface="Roboto"/>
                <a:cs typeface="Roboto"/>
                <a:sym typeface="Roboto"/>
              </a:rPr>
              <a:t> thereby making research as efficient as possible yielding maximal information with minimal expenditure of effort, time and money.</a:t>
            </a:r>
            <a:endParaRPr sz="2020" b="0" strike="noStrike">
              <a:solidFill>
                <a:srgbClr val="000000"/>
              </a:solidFill>
              <a:latin typeface="Arial"/>
              <a:ea typeface="Arial"/>
              <a:cs typeface="Arial"/>
              <a:sym typeface="Arial"/>
            </a:endParaRPr>
          </a:p>
          <a:p>
            <a:pPr marL="457200" marR="0" lvl="0" indent="-356400" algn="just" rtl="0">
              <a:lnSpc>
                <a:spcPct val="115000"/>
              </a:lnSpc>
              <a:spcBef>
                <a:spcPts val="0"/>
              </a:spcBef>
              <a:spcAft>
                <a:spcPts val="0"/>
              </a:spcAft>
              <a:buClr>
                <a:srgbClr val="434343"/>
              </a:buClr>
              <a:buSzPts val="2020"/>
              <a:buFont typeface="Roboto"/>
              <a:buChar char="●"/>
            </a:pPr>
            <a:r>
              <a:rPr lang="en-GB" sz="2020" b="0" strike="noStrike">
                <a:solidFill>
                  <a:srgbClr val="434343"/>
                </a:solidFill>
                <a:latin typeface="Roboto"/>
                <a:ea typeface="Roboto"/>
                <a:cs typeface="Roboto"/>
                <a:sym typeface="Roboto"/>
              </a:rPr>
              <a:t>We need a </a:t>
            </a:r>
            <a:r>
              <a:rPr lang="en-GB" sz="2020" b="0" strike="noStrike">
                <a:solidFill>
                  <a:srgbClr val="9C254D"/>
                </a:solidFill>
                <a:latin typeface="Roboto"/>
                <a:ea typeface="Roboto"/>
                <a:cs typeface="Roboto"/>
                <a:sym typeface="Roboto"/>
              </a:rPr>
              <a:t>research design or a plan in advance of data collection and analysis f</a:t>
            </a:r>
            <a:r>
              <a:rPr lang="en-GB" sz="2020" b="0" strike="noStrike">
                <a:solidFill>
                  <a:srgbClr val="434343"/>
                </a:solidFill>
                <a:latin typeface="Roboto"/>
                <a:ea typeface="Roboto"/>
                <a:cs typeface="Roboto"/>
                <a:sym typeface="Roboto"/>
              </a:rPr>
              <a:t>or our research project. </a:t>
            </a:r>
            <a:endParaRPr sz="2020" b="0" strike="noStrike">
              <a:solidFill>
                <a:srgbClr val="000000"/>
              </a:solidFill>
              <a:latin typeface="Arial"/>
              <a:ea typeface="Arial"/>
              <a:cs typeface="Arial"/>
              <a:sym typeface="Arial"/>
            </a:endParaRPr>
          </a:p>
          <a:p>
            <a:pPr marL="457200" marR="0" lvl="0" indent="-340200" algn="just" rtl="0">
              <a:lnSpc>
                <a:spcPct val="115000"/>
              </a:lnSpc>
              <a:spcBef>
                <a:spcPts val="0"/>
              </a:spcBef>
              <a:spcAft>
                <a:spcPts val="0"/>
              </a:spcAft>
              <a:buClr>
                <a:srgbClr val="434343"/>
              </a:buClr>
              <a:buSzPts val="1770"/>
              <a:buFont typeface="Roboto"/>
              <a:buChar char="●"/>
            </a:pPr>
            <a:r>
              <a:rPr lang="en-GB" sz="1770" b="0" strike="noStrike">
                <a:solidFill>
                  <a:srgbClr val="434343"/>
                </a:solidFill>
                <a:latin typeface="Roboto"/>
                <a:ea typeface="Roboto"/>
                <a:cs typeface="Roboto"/>
                <a:sym typeface="Roboto"/>
              </a:rPr>
              <a:t>Preparation of the research design should be d</a:t>
            </a:r>
            <a:r>
              <a:rPr lang="en-GB" sz="1770" b="0" strike="noStrike">
                <a:solidFill>
                  <a:srgbClr val="9C254D"/>
                </a:solidFill>
                <a:latin typeface="Roboto"/>
                <a:ea typeface="Roboto"/>
                <a:cs typeface="Roboto"/>
                <a:sym typeface="Roboto"/>
              </a:rPr>
              <a:t>one with great care as any error in it may upset the entire project.</a:t>
            </a:r>
            <a:endParaRPr sz="1770" b="0"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p12"/>
          <p:cNvSpPr txBox="1"/>
          <p:nvPr/>
        </p:nvSpPr>
        <p:spPr>
          <a:xfrm>
            <a:off x="311760" y="410040"/>
            <a:ext cx="8520120" cy="607320"/>
          </a:xfrm>
          <a:prstGeom prst="rect">
            <a:avLst/>
          </a:prstGeom>
          <a:noFill/>
          <a:ln>
            <a:noFill/>
          </a:ln>
        </p:spPr>
        <p:txBody>
          <a:bodyPr spcFirstLastPara="1" wrap="square" lIns="91425" tIns="91425" rIns="91425" bIns="91425" anchor="t" anchorCtr="0">
            <a:normAutofit fontScale="98500" lnSpcReduction="10000"/>
          </a:bodyPr>
          <a:lstStyle/>
          <a:p>
            <a:pPr marL="0" marR="0" lvl="0" indent="0" algn="l" rtl="0">
              <a:lnSpc>
                <a:spcPct val="100000"/>
              </a:lnSpc>
              <a:spcBef>
                <a:spcPts val="0"/>
              </a:spcBef>
              <a:spcAft>
                <a:spcPts val="0"/>
              </a:spcAft>
              <a:buNone/>
            </a:pPr>
            <a:r>
              <a:rPr lang="en-GB" sz="3000" b="0" strike="noStrike">
                <a:solidFill>
                  <a:srgbClr val="2A3990"/>
                </a:solidFill>
                <a:latin typeface="Roboto"/>
                <a:ea typeface="Roboto"/>
                <a:cs typeface="Roboto"/>
                <a:sym typeface="Roboto"/>
              </a:rPr>
              <a:t>contd…</a:t>
            </a:r>
            <a:endParaRPr sz="3000" b="0" strike="noStrike">
              <a:solidFill>
                <a:srgbClr val="000000"/>
              </a:solidFill>
              <a:latin typeface="Arial"/>
              <a:ea typeface="Arial"/>
              <a:cs typeface="Arial"/>
              <a:sym typeface="Arial"/>
            </a:endParaRPr>
          </a:p>
        </p:txBody>
      </p:sp>
      <p:sp>
        <p:nvSpPr>
          <p:cNvPr id="273" name="Google Shape;273;p12"/>
          <p:cNvSpPr txBox="1"/>
          <p:nvPr/>
        </p:nvSpPr>
        <p:spPr>
          <a:xfrm>
            <a:off x="311760" y="1017720"/>
            <a:ext cx="8520120" cy="3550680"/>
          </a:xfrm>
          <a:prstGeom prst="rect">
            <a:avLst/>
          </a:prstGeom>
          <a:noFill/>
          <a:ln>
            <a:noFill/>
          </a:ln>
        </p:spPr>
        <p:txBody>
          <a:bodyPr spcFirstLastPara="1" wrap="square" lIns="91425" tIns="91425" rIns="91425" bIns="91425" anchor="t" anchorCtr="0">
            <a:noAutofit/>
          </a:bodyPr>
          <a:lstStyle/>
          <a:p>
            <a:pPr marL="457200" marR="0" lvl="0" indent="-340200" algn="just" rtl="0">
              <a:lnSpc>
                <a:spcPct val="115000"/>
              </a:lnSpc>
              <a:spcBef>
                <a:spcPts val="0"/>
              </a:spcBef>
              <a:spcAft>
                <a:spcPts val="0"/>
              </a:spcAft>
              <a:buClr>
                <a:srgbClr val="434343"/>
              </a:buClr>
              <a:buSzPts val="1770"/>
              <a:buFont typeface="Roboto"/>
              <a:buChar char="●"/>
            </a:pPr>
            <a:r>
              <a:rPr lang="en-GB" sz="1770" b="0" strike="noStrike">
                <a:solidFill>
                  <a:srgbClr val="434343"/>
                </a:solidFill>
                <a:latin typeface="Roboto"/>
                <a:ea typeface="Roboto"/>
                <a:cs typeface="Roboto"/>
                <a:sym typeface="Roboto"/>
              </a:rPr>
              <a:t>The design helps the researcher to organize his ideas in a form whereby it will be possible for him to look for flaws and inadequacies. </a:t>
            </a:r>
            <a:endParaRPr sz="1770" b="0" strike="noStrike">
              <a:solidFill>
                <a:srgbClr val="000000"/>
              </a:solidFill>
              <a:latin typeface="Arial"/>
              <a:ea typeface="Arial"/>
              <a:cs typeface="Arial"/>
              <a:sym typeface="Arial"/>
            </a:endParaRPr>
          </a:p>
          <a:p>
            <a:pPr marL="457200" marR="0" lvl="0" indent="-340200" algn="just" rtl="0">
              <a:lnSpc>
                <a:spcPct val="115000"/>
              </a:lnSpc>
              <a:spcBef>
                <a:spcPts val="0"/>
              </a:spcBef>
              <a:spcAft>
                <a:spcPts val="0"/>
              </a:spcAft>
              <a:buClr>
                <a:srgbClr val="434343"/>
              </a:buClr>
              <a:buSzPts val="1770"/>
              <a:buFont typeface="Roboto"/>
              <a:buChar char="●"/>
            </a:pPr>
            <a:r>
              <a:rPr lang="en-GB" sz="1770" b="0" strike="noStrike">
                <a:solidFill>
                  <a:srgbClr val="434343"/>
                </a:solidFill>
                <a:latin typeface="Roboto"/>
                <a:ea typeface="Roboto"/>
                <a:cs typeface="Roboto"/>
                <a:sym typeface="Roboto"/>
              </a:rPr>
              <a:t>Such a design c</a:t>
            </a:r>
            <a:r>
              <a:rPr lang="en-GB" sz="1770" b="0" strike="noStrike">
                <a:solidFill>
                  <a:srgbClr val="9C254D"/>
                </a:solidFill>
                <a:latin typeface="Roboto"/>
                <a:ea typeface="Roboto"/>
                <a:cs typeface="Roboto"/>
                <a:sym typeface="Roboto"/>
              </a:rPr>
              <a:t>an even be given to others for their comments and critical evaluation. </a:t>
            </a:r>
            <a:endParaRPr sz="1770" b="0" strike="noStrike">
              <a:solidFill>
                <a:srgbClr val="000000"/>
              </a:solidFill>
              <a:latin typeface="Arial"/>
              <a:ea typeface="Arial"/>
              <a:cs typeface="Arial"/>
              <a:sym typeface="Arial"/>
            </a:endParaRPr>
          </a:p>
          <a:p>
            <a:pPr marL="457200" marR="0" lvl="0" indent="-340200" algn="just" rtl="0">
              <a:lnSpc>
                <a:spcPct val="115000"/>
              </a:lnSpc>
              <a:spcBef>
                <a:spcPts val="0"/>
              </a:spcBef>
              <a:spcAft>
                <a:spcPts val="0"/>
              </a:spcAft>
              <a:buClr>
                <a:srgbClr val="434343"/>
              </a:buClr>
              <a:buSzPts val="1770"/>
              <a:buFont typeface="Roboto"/>
              <a:buChar char="●"/>
            </a:pPr>
            <a:r>
              <a:rPr lang="en-GB" sz="1770" b="0" strike="noStrike">
                <a:solidFill>
                  <a:srgbClr val="434343"/>
                </a:solidFill>
                <a:latin typeface="Roboto"/>
                <a:ea typeface="Roboto"/>
                <a:cs typeface="Roboto"/>
                <a:sym typeface="Roboto"/>
              </a:rPr>
              <a:t>In the absence of such a course of action, it will be difficult for the critic to provide a comprehensive review of the proposed study.</a:t>
            </a:r>
            <a:endParaRPr sz="1770" b="0"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p13"/>
          <p:cNvSpPr txBox="1"/>
          <p:nvPr/>
        </p:nvSpPr>
        <p:spPr>
          <a:xfrm>
            <a:off x="311760" y="410040"/>
            <a:ext cx="8520120" cy="607320"/>
          </a:xfrm>
          <a:prstGeom prst="rect">
            <a:avLst/>
          </a:prstGeom>
          <a:noFill/>
          <a:ln>
            <a:noFill/>
          </a:ln>
        </p:spPr>
        <p:txBody>
          <a:bodyPr spcFirstLastPara="1" wrap="square" lIns="91425" tIns="91425" rIns="91425" bIns="91425" anchor="t" anchorCtr="0">
            <a:normAutofit fontScale="98500" lnSpcReduction="10000"/>
          </a:bodyPr>
          <a:lstStyle/>
          <a:p>
            <a:pPr marL="0" marR="0" lvl="0" indent="0" algn="l" rtl="0">
              <a:lnSpc>
                <a:spcPct val="100000"/>
              </a:lnSpc>
              <a:spcBef>
                <a:spcPts val="0"/>
              </a:spcBef>
              <a:spcAft>
                <a:spcPts val="0"/>
              </a:spcAft>
              <a:buNone/>
            </a:pPr>
            <a:r>
              <a:rPr lang="en-GB" sz="3000" b="0" strike="noStrike">
                <a:solidFill>
                  <a:srgbClr val="2A3990"/>
                </a:solidFill>
                <a:latin typeface="Roboto"/>
                <a:ea typeface="Roboto"/>
                <a:cs typeface="Roboto"/>
                <a:sym typeface="Roboto"/>
              </a:rPr>
              <a:t>FEATURES OF A GOOD DESIGN</a:t>
            </a:r>
            <a:endParaRPr sz="3000" b="0" strike="noStrike">
              <a:solidFill>
                <a:srgbClr val="000000"/>
              </a:solidFill>
              <a:latin typeface="Arial"/>
              <a:ea typeface="Arial"/>
              <a:cs typeface="Arial"/>
              <a:sym typeface="Arial"/>
            </a:endParaRPr>
          </a:p>
        </p:txBody>
      </p:sp>
      <p:sp>
        <p:nvSpPr>
          <p:cNvPr id="279" name="Google Shape;279;p13"/>
          <p:cNvSpPr txBox="1"/>
          <p:nvPr/>
        </p:nvSpPr>
        <p:spPr>
          <a:xfrm>
            <a:off x="311760" y="882720"/>
            <a:ext cx="8520120" cy="3780720"/>
          </a:xfrm>
          <a:prstGeom prst="rect">
            <a:avLst/>
          </a:prstGeom>
          <a:noFill/>
          <a:ln>
            <a:noFill/>
          </a:ln>
        </p:spPr>
        <p:txBody>
          <a:bodyPr spcFirstLastPara="1" wrap="square" lIns="91425" tIns="91425" rIns="91425" bIns="91425" anchor="t" anchorCtr="0">
            <a:noAutofit/>
          </a:bodyPr>
          <a:lstStyle/>
          <a:p>
            <a:pPr marL="457200" marR="0" lvl="0" indent="-348840" algn="just" rtl="0">
              <a:lnSpc>
                <a:spcPct val="115000"/>
              </a:lnSpc>
              <a:spcBef>
                <a:spcPts val="0"/>
              </a:spcBef>
              <a:spcAft>
                <a:spcPts val="0"/>
              </a:spcAft>
              <a:buClr>
                <a:srgbClr val="434343"/>
              </a:buClr>
              <a:buSzPts val="1900"/>
              <a:buFont typeface="Roboto"/>
              <a:buChar char="●"/>
            </a:pPr>
            <a:r>
              <a:rPr lang="en-GB" sz="1900" b="0" strike="noStrike">
                <a:solidFill>
                  <a:srgbClr val="434343"/>
                </a:solidFill>
                <a:latin typeface="Roboto"/>
                <a:ea typeface="Roboto"/>
                <a:cs typeface="Roboto"/>
                <a:sym typeface="Roboto"/>
              </a:rPr>
              <a:t>Generally, the design which </a:t>
            </a:r>
            <a:r>
              <a:rPr lang="en-GB" sz="1900" b="0" strike="noStrike">
                <a:solidFill>
                  <a:srgbClr val="9C254D"/>
                </a:solidFill>
                <a:latin typeface="Roboto"/>
                <a:ea typeface="Roboto"/>
                <a:cs typeface="Roboto"/>
                <a:sym typeface="Roboto"/>
              </a:rPr>
              <a:t>minimises bias and maximises the reliability of the data collected and analysed</a:t>
            </a:r>
            <a:r>
              <a:rPr lang="en-GB" sz="1900" b="0" strike="noStrike">
                <a:solidFill>
                  <a:srgbClr val="434343"/>
                </a:solidFill>
                <a:latin typeface="Roboto"/>
                <a:ea typeface="Roboto"/>
                <a:cs typeface="Roboto"/>
                <a:sym typeface="Roboto"/>
              </a:rPr>
              <a:t> is considered a </a:t>
            </a:r>
            <a:r>
              <a:rPr lang="en-GB" sz="1900" b="0" strike="noStrike">
                <a:solidFill>
                  <a:srgbClr val="9C254D"/>
                </a:solidFill>
                <a:latin typeface="Roboto"/>
                <a:ea typeface="Roboto"/>
                <a:cs typeface="Roboto"/>
                <a:sym typeface="Roboto"/>
              </a:rPr>
              <a:t>good design</a:t>
            </a:r>
            <a:r>
              <a:rPr lang="en-GB" sz="1900" b="0" strike="noStrike">
                <a:solidFill>
                  <a:srgbClr val="434343"/>
                </a:solidFill>
                <a:latin typeface="Roboto"/>
                <a:ea typeface="Roboto"/>
                <a:cs typeface="Roboto"/>
                <a:sym typeface="Roboto"/>
              </a:rPr>
              <a:t>. </a:t>
            </a:r>
            <a:endParaRPr sz="1900" b="0" strike="noStrike">
              <a:solidFill>
                <a:srgbClr val="000000"/>
              </a:solidFill>
              <a:latin typeface="Arial"/>
              <a:ea typeface="Arial"/>
              <a:cs typeface="Arial"/>
              <a:sym typeface="Arial"/>
            </a:endParaRPr>
          </a:p>
          <a:p>
            <a:pPr marL="457200" marR="0" lvl="0" indent="-348840" algn="just" rtl="0">
              <a:lnSpc>
                <a:spcPct val="115000"/>
              </a:lnSpc>
              <a:spcBef>
                <a:spcPts val="0"/>
              </a:spcBef>
              <a:spcAft>
                <a:spcPts val="0"/>
              </a:spcAft>
              <a:buClr>
                <a:srgbClr val="434343"/>
              </a:buClr>
              <a:buSzPts val="1900"/>
              <a:buFont typeface="Roboto"/>
              <a:buChar char="●"/>
            </a:pPr>
            <a:r>
              <a:rPr lang="en-GB" sz="1900" b="0" strike="noStrike">
                <a:solidFill>
                  <a:srgbClr val="434343"/>
                </a:solidFill>
                <a:latin typeface="Roboto"/>
                <a:ea typeface="Roboto"/>
                <a:cs typeface="Roboto"/>
                <a:sym typeface="Roboto"/>
              </a:rPr>
              <a:t>The design which gives </a:t>
            </a:r>
            <a:r>
              <a:rPr lang="en-GB" sz="1900" b="0" strike="noStrike">
                <a:solidFill>
                  <a:srgbClr val="9C254D"/>
                </a:solidFill>
                <a:latin typeface="Roboto"/>
                <a:ea typeface="Roboto"/>
                <a:cs typeface="Roboto"/>
                <a:sym typeface="Roboto"/>
              </a:rPr>
              <a:t>the smallest experimental error</a:t>
            </a:r>
            <a:r>
              <a:rPr lang="en-GB" sz="1900" b="0" strike="noStrike">
                <a:solidFill>
                  <a:srgbClr val="434343"/>
                </a:solidFill>
                <a:latin typeface="Roboto"/>
                <a:ea typeface="Roboto"/>
                <a:cs typeface="Roboto"/>
                <a:sym typeface="Roboto"/>
              </a:rPr>
              <a:t> is supposed to be the best design in many investigations. </a:t>
            </a:r>
            <a:endParaRPr sz="1900" b="0" strike="noStrike">
              <a:solidFill>
                <a:srgbClr val="000000"/>
              </a:solidFill>
              <a:latin typeface="Arial"/>
              <a:ea typeface="Arial"/>
              <a:cs typeface="Arial"/>
              <a:sym typeface="Arial"/>
            </a:endParaRPr>
          </a:p>
          <a:p>
            <a:pPr marL="457200" marR="0" lvl="0" indent="-348840" algn="just" rtl="0">
              <a:lnSpc>
                <a:spcPct val="115000"/>
              </a:lnSpc>
              <a:spcBef>
                <a:spcPts val="0"/>
              </a:spcBef>
              <a:spcAft>
                <a:spcPts val="0"/>
              </a:spcAft>
              <a:buClr>
                <a:srgbClr val="434343"/>
              </a:buClr>
              <a:buSzPts val="1900"/>
              <a:buFont typeface="Roboto"/>
              <a:buChar char="●"/>
            </a:pPr>
            <a:r>
              <a:rPr lang="en-GB" sz="1900" b="0" strike="noStrike">
                <a:solidFill>
                  <a:srgbClr val="434343"/>
                </a:solidFill>
                <a:latin typeface="Roboto"/>
                <a:ea typeface="Roboto"/>
                <a:cs typeface="Roboto"/>
                <a:sym typeface="Roboto"/>
              </a:rPr>
              <a:t>Similarly, a design which yields </a:t>
            </a:r>
            <a:r>
              <a:rPr lang="en-GB" sz="1900" b="0" strike="noStrike">
                <a:solidFill>
                  <a:srgbClr val="9C254D"/>
                </a:solidFill>
                <a:latin typeface="Roboto"/>
                <a:ea typeface="Roboto"/>
                <a:cs typeface="Roboto"/>
                <a:sym typeface="Roboto"/>
              </a:rPr>
              <a:t>maximal information</a:t>
            </a:r>
            <a:r>
              <a:rPr lang="en-GB" sz="1900" b="0" strike="noStrike">
                <a:solidFill>
                  <a:srgbClr val="434343"/>
                </a:solidFill>
                <a:latin typeface="Roboto"/>
                <a:ea typeface="Roboto"/>
                <a:cs typeface="Roboto"/>
                <a:sym typeface="Roboto"/>
              </a:rPr>
              <a:t> and provides an opportunity for considering many different aspects of a problem is considered most appropriate and efficient design in respect of many research problems. </a:t>
            </a:r>
            <a:endParaRPr sz="1900" b="0" strike="noStrike">
              <a:solidFill>
                <a:srgbClr val="000000"/>
              </a:solidFill>
              <a:latin typeface="Arial"/>
              <a:ea typeface="Arial"/>
              <a:cs typeface="Arial"/>
              <a:sym typeface="Arial"/>
            </a:endParaRPr>
          </a:p>
          <a:p>
            <a:pPr marL="457200" marR="0" lvl="0" indent="-348840" algn="just" rtl="0">
              <a:lnSpc>
                <a:spcPct val="115000"/>
              </a:lnSpc>
              <a:spcBef>
                <a:spcPts val="0"/>
              </a:spcBef>
              <a:spcAft>
                <a:spcPts val="0"/>
              </a:spcAft>
              <a:buClr>
                <a:srgbClr val="434343"/>
              </a:buClr>
              <a:buSzPts val="1900"/>
              <a:buFont typeface="Roboto"/>
              <a:buChar char="●"/>
            </a:pPr>
            <a:r>
              <a:rPr lang="en-GB" sz="1900" b="0" strike="noStrike">
                <a:solidFill>
                  <a:srgbClr val="434343"/>
                </a:solidFill>
                <a:latin typeface="Roboto"/>
                <a:ea typeface="Roboto"/>
                <a:cs typeface="Roboto"/>
                <a:sym typeface="Roboto"/>
              </a:rPr>
              <a:t>Thus, the question of good design is related to the purpose or objective of the research problem and also with the nature of the problem to be studied.</a:t>
            </a:r>
            <a:endParaRPr sz="1900" b="0" strike="noStrik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83"/>
        <p:cNvGrpSpPr/>
        <p:nvPr/>
      </p:nvGrpSpPr>
      <p:grpSpPr>
        <a:xfrm>
          <a:off x="0" y="0"/>
          <a:ext cx="0" cy="0"/>
          <a:chOff x="0" y="0"/>
          <a:chExt cx="0" cy="0"/>
        </a:xfrm>
      </p:grpSpPr>
      <p:sp>
        <p:nvSpPr>
          <p:cNvPr id="284" name="Google Shape;284;p14"/>
          <p:cNvSpPr txBox="1"/>
          <p:nvPr/>
        </p:nvSpPr>
        <p:spPr>
          <a:xfrm>
            <a:off x="311760" y="410040"/>
            <a:ext cx="8520120" cy="607320"/>
          </a:xfrm>
          <a:prstGeom prst="rect">
            <a:avLst/>
          </a:prstGeom>
          <a:noFill/>
          <a:ln>
            <a:noFill/>
          </a:ln>
        </p:spPr>
        <p:txBody>
          <a:bodyPr spcFirstLastPara="1" wrap="square" lIns="91425" tIns="91425" rIns="91425" bIns="91425" anchor="t" anchorCtr="0">
            <a:normAutofit fontScale="98500" lnSpcReduction="10000"/>
          </a:bodyPr>
          <a:lstStyle/>
          <a:p>
            <a:pPr marL="0" marR="0" lvl="0" indent="0" algn="l" rtl="0">
              <a:lnSpc>
                <a:spcPct val="100000"/>
              </a:lnSpc>
              <a:spcBef>
                <a:spcPts val="0"/>
              </a:spcBef>
              <a:spcAft>
                <a:spcPts val="0"/>
              </a:spcAft>
              <a:buNone/>
            </a:pPr>
            <a:r>
              <a:rPr lang="en-GB" sz="3000" b="0" strike="noStrike">
                <a:solidFill>
                  <a:srgbClr val="2A3990"/>
                </a:solidFill>
                <a:latin typeface="Roboto"/>
                <a:ea typeface="Roboto"/>
                <a:cs typeface="Roboto"/>
                <a:sym typeface="Roboto"/>
              </a:rPr>
              <a:t>contd…</a:t>
            </a:r>
            <a:endParaRPr sz="3000" b="0" strike="noStrike">
              <a:solidFill>
                <a:srgbClr val="000000"/>
              </a:solidFill>
              <a:latin typeface="Arial"/>
              <a:ea typeface="Arial"/>
              <a:cs typeface="Arial"/>
              <a:sym typeface="Arial"/>
            </a:endParaRPr>
          </a:p>
        </p:txBody>
      </p:sp>
      <p:sp>
        <p:nvSpPr>
          <p:cNvPr id="285" name="Google Shape;285;p14"/>
          <p:cNvSpPr txBox="1"/>
          <p:nvPr/>
        </p:nvSpPr>
        <p:spPr>
          <a:xfrm>
            <a:off x="311760" y="1229760"/>
            <a:ext cx="8520120" cy="3338640"/>
          </a:xfrm>
          <a:prstGeom prst="rect">
            <a:avLst/>
          </a:prstGeom>
          <a:noFill/>
          <a:ln>
            <a:noFill/>
          </a:ln>
        </p:spPr>
        <p:txBody>
          <a:bodyPr spcFirstLastPara="1" wrap="square" lIns="91425" tIns="91425" rIns="91425" bIns="91425" anchor="t" anchorCtr="0">
            <a:normAutofit fontScale="97500"/>
          </a:bodyPr>
          <a:lstStyle/>
          <a:p>
            <a:pPr marL="0" marR="0" lvl="0" indent="0" algn="just" rtl="0">
              <a:lnSpc>
                <a:spcPct val="115000"/>
              </a:lnSpc>
              <a:spcBef>
                <a:spcPts val="0"/>
              </a:spcBef>
              <a:spcAft>
                <a:spcPts val="0"/>
              </a:spcAft>
              <a:buNone/>
            </a:pPr>
            <a:r>
              <a:rPr lang="en-GB" sz="2100" b="0" strike="noStrike">
                <a:solidFill>
                  <a:srgbClr val="434343"/>
                </a:solidFill>
                <a:latin typeface="Roboto"/>
                <a:ea typeface="Roboto"/>
                <a:cs typeface="Roboto"/>
                <a:sym typeface="Roboto"/>
              </a:rPr>
              <a:t>A research design appropriate for a particular research problem, usually involves the consideration of the following factors:</a:t>
            </a:r>
            <a:endParaRPr sz="2100" b="0" strike="noStrike">
              <a:solidFill>
                <a:srgbClr val="000000"/>
              </a:solidFill>
              <a:latin typeface="Arial"/>
              <a:ea typeface="Arial"/>
              <a:cs typeface="Arial"/>
              <a:sym typeface="Arial"/>
            </a:endParaRPr>
          </a:p>
          <a:p>
            <a:pPr marL="457200" marR="0" lvl="0" indent="-361440" algn="just" rtl="0">
              <a:lnSpc>
                <a:spcPct val="115000"/>
              </a:lnSpc>
              <a:spcBef>
                <a:spcPts val="1199"/>
              </a:spcBef>
              <a:spcAft>
                <a:spcPts val="0"/>
              </a:spcAft>
              <a:buClr>
                <a:srgbClr val="434343"/>
              </a:buClr>
              <a:buSzPct val="100000"/>
              <a:buFont typeface="Roboto"/>
              <a:buAutoNum type="arabicPeriod"/>
            </a:pPr>
            <a:r>
              <a:rPr lang="en-GB" sz="2100" b="0" strike="noStrike">
                <a:solidFill>
                  <a:srgbClr val="434343"/>
                </a:solidFill>
                <a:latin typeface="Roboto"/>
                <a:ea typeface="Roboto"/>
                <a:cs typeface="Roboto"/>
                <a:sym typeface="Roboto"/>
              </a:rPr>
              <a:t>the means of obtaining information;</a:t>
            </a:r>
            <a:endParaRPr sz="2100" b="0" strike="noStrike">
              <a:solidFill>
                <a:srgbClr val="000000"/>
              </a:solidFill>
              <a:latin typeface="Arial"/>
              <a:ea typeface="Arial"/>
              <a:cs typeface="Arial"/>
              <a:sym typeface="Arial"/>
            </a:endParaRPr>
          </a:p>
          <a:p>
            <a:pPr marL="457200" marR="0" lvl="0" indent="-361440" algn="just" rtl="0">
              <a:lnSpc>
                <a:spcPct val="115000"/>
              </a:lnSpc>
              <a:spcBef>
                <a:spcPts val="0"/>
              </a:spcBef>
              <a:spcAft>
                <a:spcPts val="0"/>
              </a:spcAft>
              <a:buClr>
                <a:srgbClr val="434343"/>
              </a:buClr>
              <a:buSzPct val="100000"/>
              <a:buFont typeface="Roboto"/>
              <a:buAutoNum type="arabicPeriod"/>
            </a:pPr>
            <a:r>
              <a:rPr lang="en-GB" sz="2100" b="0" strike="noStrike">
                <a:solidFill>
                  <a:srgbClr val="434343"/>
                </a:solidFill>
                <a:latin typeface="Roboto"/>
                <a:ea typeface="Roboto"/>
                <a:cs typeface="Roboto"/>
                <a:sym typeface="Roboto"/>
              </a:rPr>
              <a:t>the availability and skills of the researcher and his staff, if any;</a:t>
            </a:r>
            <a:endParaRPr sz="2100" b="0" strike="noStrike">
              <a:solidFill>
                <a:srgbClr val="000000"/>
              </a:solidFill>
              <a:latin typeface="Arial"/>
              <a:ea typeface="Arial"/>
              <a:cs typeface="Arial"/>
              <a:sym typeface="Arial"/>
            </a:endParaRPr>
          </a:p>
          <a:p>
            <a:pPr marL="457200" marR="0" lvl="0" indent="-361440" algn="just" rtl="0">
              <a:lnSpc>
                <a:spcPct val="115000"/>
              </a:lnSpc>
              <a:spcBef>
                <a:spcPts val="0"/>
              </a:spcBef>
              <a:spcAft>
                <a:spcPts val="0"/>
              </a:spcAft>
              <a:buClr>
                <a:srgbClr val="434343"/>
              </a:buClr>
              <a:buSzPct val="100000"/>
              <a:buFont typeface="Roboto"/>
              <a:buAutoNum type="arabicPeriod"/>
            </a:pPr>
            <a:r>
              <a:rPr lang="en-GB" sz="2100" b="0" strike="noStrike">
                <a:solidFill>
                  <a:srgbClr val="434343"/>
                </a:solidFill>
                <a:latin typeface="Roboto"/>
                <a:ea typeface="Roboto"/>
                <a:cs typeface="Roboto"/>
                <a:sym typeface="Roboto"/>
              </a:rPr>
              <a:t>the objective of the problem to be studied;</a:t>
            </a:r>
            <a:endParaRPr sz="2100" b="0" strike="noStrike">
              <a:solidFill>
                <a:srgbClr val="000000"/>
              </a:solidFill>
              <a:latin typeface="Arial"/>
              <a:ea typeface="Arial"/>
              <a:cs typeface="Arial"/>
              <a:sym typeface="Arial"/>
            </a:endParaRPr>
          </a:p>
          <a:p>
            <a:pPr marL="457200" marR="0" lvl="0" indent="-361440" algn="just" rtl="0">
              <a:lnSpc>
                <a:spcPct val="115000"/>
              </a:lnSpc>
              <a:spcBef>
                <a:spcPts val="0"/>
              </a:spcBef>
              <a:spcAft>
                <a:spcPts val="0"/>
              </a:spcAft>
              <a:buClr>
                <a:srgbClr val="434343"/>
              </a:buClr>
              <a:buSzPct val="100000"/>
              <a:buFont typeface="Roboto"/>
              <a:buAutoNum type="arabicPeriod"/>
            </a:pPr>
            <a:r>
              <a:rPr lang="en-GB" sz="2100" b="0" strike="noStrike">
                <a:solidFill>
                  <a:srgbClr val="434343"/>
                </a:solidFill>
                <a:latin typeface="Roboto"/>
                <a:ea typeface="Roboto"/>
                <a:cs typeface="Roboto"/>
                <a:sym typeface="Roboto"/>
              </a:rPr>
              <a:t>the nature of the problem to be studied; and</a:t>
            </a:r>
            <a:endParaRPr sz="2100" b="0" strike="noStrike">
              <a:solidFill>
                <a:srgbClr val="000000"/>
              </a:solidFill>
              <a:latin typeface="Arial"/>
              <a:ea typeface="Arial"/>
              <a:cs typeface="Arial"/>
              <a:sym typeface="Arial"/>
            </a:endParaRPr>
          </a:p>
          <a:p>
            <a:pPr marL="457200" marR="0" lvl="0" indent="-361440" algn="just" rtl="0">
              <a:lnSpc>
                <a:spcPct val="115000"/>
              </a:lnSpc>
              <a:spcBef>
                <a:spcPts val="0"/>
              </a:spcBef>
              <a:spcAft>
                <a:spcPts val="0"/>
              </a:spcAft>
              <a:buClr>
                <a:srgbClr val="434343"/>
              </a:buClr>
              <a:buSzPct val="100000"/>
              <a:buFont typeface="Roboto"/>
              <a:buAutoNum type="arabicPeriod"/>
            </a:pPr>
            <a:r>
              <a:rPr lang="en-GB" sz="2100" b="0" strike="noStrike">
                <a:solidFill>
                  <a:srgbClr val="434343"/>
                </a:solidFill>
                <a:latin typeface="Roboto"/>
                <a:ea typeface="Roboto"/>
                <a:cs typeface="Roboto"/>
                <a:sym typeface="Roboto"/>
              </a:rPr>
              <a:t>the availability of time and money for the research work.</a:t>
            </a:r>
            <a:endParaRPr sz="2100" b="0" strike="noStrike">
              <a:solidFill>
                <a:srgbClr val="000000"/>
              </a:solidFill>
              <a:latin typeface="Arial"/>
              <a:ea typeface="Arial"/>
              <a:cs typeface="Arial"/>
              <a:sym typeface="Arial"/>
            </a:endParaRPr>
          </a:p>
          <a:p>
            <a:pPr marL="0" marR="0" lvl="0" indent="0" algn="l" rtl="0">
              <a:lnSpc>
                <a:spcPct val="115000"/>
              </a:lnSpc>
              <a:spcBef>
                <a:spcPts val="1199"/>
              </a:spcBef>
              <a:spcAft>
                <a:spcPts val="0"/>
              </a:spcAft>
              <a:buNone/>
            </a:pPr>
            <a:endParaRPr sz="2100" b="0" strike="noStrike">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15"/>
          <p:cNvSpPr txBox="1"/>
          <p:nvPr/>
        </p:nvSpPr>
        <p:spPr>
          <a:xfrm>
            <a:off x="311760" y="93960"/>
            <a:ext cx="8520120" cy="846360"/>
          </a:xfrm>
          <a:prstGeom prst="rect">
            <a:avLst/>
          </a:prstGeom>
          <a:noFill/>
          <a:ln>
            <a:noFill/>
          </a:ln>
        </p:spPr>
        <p:txBody>
          <a:bodyPr spcFirstLastPara="1" wrap="square" lIns="91425" tIns="91425" rIns="91425" bIns="91425" anchor="t" anchorCtr="0">
            <a:normAutofit fontScale="91500"/>
          </a:bodyPr>
          <a:lstStyle/>
          <a:p>
            <a:pPr marL="0" marR="0" lvl="0" indent="0" algn="l" rtl="0">
              <a:lnSpc>
                <a:spcPct val="100000"/>
              </a:lnSpc>
              <a:spcBef>
                <a:spcPts val="0"/>
              </a:spcBef>
              <a:spcAft>
                <a:spcPts val="0"/>
              </a:spcAft>
              <a:buNone/>
            </a:pPr>
            <a:r>
              <a:rPr lang="en-GB" sz="2500" b="0" strike="noStrike">
                <a:solidFill>
                  <a:srgbClr val="2A3990"/>
                </a:solidFill>
                <a:latin typeface="Roboto"/>
                <a:ea typeface="Roboto"/>
                <a:cs typeface="Roboto"/>
                <a:sym typeface="Roboto"/>
              </a:rPr>
              <a:t>IMPORTANT CONCEPTS RELATING TO RESEARCH DESIGN</a:t>
            </a:r>
            <a:endParaRPr sz="2500" b="0" strike="noStrike">
              <a:solidFill>
                <a:srgbClr val="000000"/>
              </a:solidFill>
              <a:latin typeface="Arial"/>
              <a:ea typeface="Arial"/>
              <a:cs typeface="Arial"/>
              <a:sym typeface="Arial"/>
            </a:endParaRPr>
          </a:p>
        </p:txBody>
      </p:sp>
      <p:sp>
        <p:nvSpPr>
          <p:cNvPr id="291" name="Google Shape;291;p15"/>
          <p:cNvSpPr txBox="1"/>
          <p:nvPr/>
        </p:nvSpPr>
        <p:spPr>
          <a:xfrm>
            <a:off x="311760" y="786960"/>
            <a:ext cx="8520120" cy="3781800"/>
          </a:xfrm>
          <a:prstGeom prst="rect">
            <a:avLst/>
          </a:prstGeom>
          <a:noFill/>
          <a:ln>
            <a:noFill/>
          </a:ln>
        </p:spPr>
        <p:txBody>
          <a:bodyPr spcFirstLastPara="1" wrap="square" lIns="91425" tIns="91425" rIns="91425" bIns="91425" anchor="t" anchorCtr="0">
            <a:normAutofit fontScale="84500" lnSpcReduction="10000"/>
          </a:bodyPr>
          <a:lstStyle/>
          <a:p>
            <a:pPr marL="0" marR="0" lvl="0" indent="0" algn="l" rtl="0">
              <a:lnSpc>
                <a:spcPct val="115000"/>
              </a:lnSpc>
              <a:spcBef>
                <a:spcPts val="0"/>
              </a:spcBef>
              <a:spcAft>
                <a:spcPts val="0"/>
              </a:spcAft>
              <a:buNone/>
            </a:pPr>
            <a:r>
              <a:rPr lang="en-GB" sz="2090" b="0" strike="noStrike" dirty="0">
                <a:solidFill>
                  <a:srgbClr val="9C254D"/>
                </a:solidFill>
                <a:latin typeface="Roboto"/>
                <a:ea typeface="Roboto"/>
                <a:cs typeface="Roboto"/>
                <a:sym typeface="Roboto"/>
              </a:rPr>
              <a:t>1. Dependent and independent variables: </a:t>
            </a:r>
            <a:endParaRPr sz="2090" b="0" strike="noStrike" dirty="0">
              <a:solidFill>
                <a:srgbClr val="000000"/>
              </a:solidFill>
              <a:latin typeface="Arial"/>
              <a:ea typeface="Arial"/>
              <a:cs typeface="Arial"/>
              <a:sym typeface="Arial"/>
            </a:endParaRPr>
          </a:p>
          <a:p>
            <a:pPr marL="457200" marR="0" lvl="0" indent="-340939" algn="just" rtl="0">
              <a:lnSpc>
                <a:spcPct val="115000"/>
              </a:lnSpc>
              <a:spcBef>
                <a:spcPts val="1199"/>
              </a:spcBef>
              <a:spcAft>
                <a:spcPts val="0"/>
              </a:spcAft>
              <a:buClr>
                <a:srgbClr val="434343"/>
              </a:buClr>
              <a:buSzPct val="100000"/>
              <a:buFont typeface="Roboto"/>
              <a:buChar char="●"/>
            </a:pPr>
            <a:r>
              <a:rPr lang="en-GB" sz="2090" b="0" strike="noStrike" dirty="0">
                <a:solidFill>
                  <a:srgbClr val="434343"/>
                </a:solidFill>
                <a:latin typeface="Roboto"/>
                <a:ea typeface="Roboto"/>
                <a:cs typeface="Roboto"/>
                <a:sym typeface="Roboto"/>
              </a:rPr>
              <a:t>A concept which can take on different quantitative values is called a variable. (Ex:  concepts like weight, height, income)</a:t>
            </a:r>
            <a:endParaRPr sz="2090" b="0" strike="noStrike" dirty="0">
              <a:solidFill>
                <a:srgbClr val="000000"/>
              </a:solidFill>
              <a:latin typeface="Arial"/>
              <a:ea typeface="Arial"/>
              <a:cs typeface="Arial"/>
              <a:sym typeface="Arial"/>
            </a:endParaRPr>
          </a:p>
          <a:p>
            <a:pPr marL="457200" marR="0" lvl="0" indent="-340939" algn="just" rtl="0">
              <a:lnSpc>
                <a:spcPct val="115000"/>
              </a:lnSpc>
              <a:spcBef>
                <a:spcPts val="0"/>
              </a:spcBef>
              <a:spcAft>
                <a:spcPts val="0"/>
              </a:spcAft>
              <a:buClr>
                <a:srgbClr val="434343"/>
              </a:buClr>
              <a:buSzPct val="100000"/>
              <a:buFont typeface="Roboto"/>
              <a:buChar char="●"/>
            </a:pPr>
            <a:r>
              <a:rPr lang="en-GB" sz="2090" b="0" strike="noStrike" dirty="0">
                <a:solidFill>
                  <a:srgbClr val="434343"/>
                </a:solidFill>
                <a:latin typeface="Roboto"/>
                <a:ea typeface="Roboto"/>
                <a:cs typeface="Roboto"/>
                <a:sym typeface="Roboto"/>
              </a:rPr>
              <a:t>Qualitative phenomena (or the attributes) are also quantified on the basis of the presence or absence of the concerning attribute(s). Phenomena which can take on quantitatively different values even in decimal points are called ‘continuous variables’. (Ex: Age)</a:t>
            </a:r>
            <a:endParaRPr sz="2090" b="0" strike="noStrike" dirty="0">
              <a:solidFill>
                <a:srgbClr val="000000"/>
              </a:solidFill>
              <a:latin typeface="Arial"/>
              <a:ea typeface="Arial"/>
              <a:cs typeface="Arial"/>
              <a:sym typeface="Arial"/>
            </a:endParaRPr>
          </a:p>
          <a:p>
            <a:pPr marL="457200" marR="0" lvl="0" indent="-340939" algn="just" rtl="0">
              <a:lnSpc>
                <a:spcPct val="115000"/>
              </a:lnSpc>
              <a:spcBef>
                <a:spcPts val="0"/>
              </a:spcBef>
              <a:spcAft>
                <a:spcPts val="0"/>
              </a:spcAft>
              <a:buClr>
                <a:srgbClr val="434343"/>
              </a:buClr>
              <a:buSzPct val="100000"/>
              <a:buFont typeface="Roboto"/>
              <a:buChar char="●"/>
            </a:pPr>
            <a:r>
              <a:rPr lang="en-GB" sz="2090" b="0" strike="noStrike" dirty="0">
                <a:solidFill>
                  <a:srgbClr val="434343"/>
                </a:solidFill>
                <a:latin typeface="Roboto"/>
                <a:ea typeface="Roboto"/>
                <a:cs typeface="Roboto"/>
                <a:sym typeface="Roboto"/>
              </a:rPr>
              <a:t>But all variables are not continuous. If they can only be expressed in integer values, they are non-continuous variables or in statistical language ‘discrete variables’.</a:t>
            </a:r>
            <a:endParaRPr sz="2090" b="0" strike="noStrike" dirty="0">
              <a:solidFill>
                <a:srgbClr val="000000"/>
              </a:solidFill>
              <a:latin typeface="Arial"/>
              <a:ea typeface="Arial"/>
              <a:cs typeface="Arial"/>
              <a:sym typeface="Arial"/>
            </a:endParaRPr>
          </a:p>
          <a:p>
            <a:pPr marL="457200" marR="0" lvl="0" indent="-340939" algn="just" rtl="0">
              <a:lnSpc>
                <a:spcPct val="115000"/>
              </a:lnSpc>
              <a:spcBef>
                <a:spcPts val="0"/>
              </a:spcBef>
              <a:spcAft>
                <a:spcPts val="0"/>
              </a:spcAft>
              <a:buClr>
                <a:srgbClr val="434343"/>
              </a:buClr>
              <a:buSzPct val="100000"/>
              <a:buFont typeface="Roboto"/>
              <a:buChar char="●"/>
            </a:pPr>
            <a:r>
              <a:rPr lang="en-GB" sz="2090" b="0" strike="noStrike" dirty="0">
                <a:solidFill>
                  <a:srgbClr val="434343"/>
                </a:solidFill>
                <a:latin typeface="Roboto"/>
                <a:ea typeface="Roboto"/>
                <a:cs typeface="Roboto"/>
                <a:sym typeface="Roboto"/>
              </a:rPr>
              <a:t>If one variable depends upon or is a consequence of the other variable, it is termed as a dependent variable, and the variable that is antecedent to the dependent variable is termed as an independent variable.</a:t>
            </a:r>
            <a:endParaRPr sz="2090" b="0" strike="noStrike" dirty="0">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95"/>
        <p:cNvGrpSpPr/>
        <p:nvPr/>
      </p:nvGrpSpPr>
      <p:grpSpPr>
        <a:xfrm>
          <a:off x="0" y="0"/>
          <a:ext cx="0" cy="0"/>
          <a:chOff x="0" y="0"/>
          <a:chExt cx="0" cy="0"/>
        </a:xfrm>
      </p:grpSpPr>
      <p:sp>
        <p:nvSpPr>
          <p:cNvPr id="296" name="Google Shape;296;p16"/>
          <p:cNvSpPr txBox="1"/>
          <p:nvPr/>
        </p:nvSpPr>
        <p:spPr>
          <a:xfrm>
            <a:off x="311760" y="410040"/>
            <a:ext cx="8520120" cy="607320"/>
          </a:xfrm>
          <a:prstGeom prst="rect">
            <a:avLst/>
          </a:prstGeom>
          <a:noFill/>
          <a:ln>
            <a:noFill/>
          </a:ln>
        </p:spPr>
        <p:txBody>
          <a:bodyPr spcFirstLastPara="1" wrap="square" lIns="91425" tIns="91425" rIns="91425" bIns="91425" anchor="t" anchorCtr="0">
            <a:normAutofit fontScale="98500"/>
          </a:bodyPr>
          <a:lstStyle/>
          <a:p>
            <a:pPr marL="0" marR="0" lvl="0" indent="0" algn="l" rtl="0">
              <a:spcBef>
                <a:spcPts val="0"/>
              </a:spcBef>
              <a:spcAft>
                <a:spcPts val="0"/>
              </a:spcAft>
              <a:buNone/>
            </a:pPr>
            <a:endParaRPr sz="1400" b="0" strike="noStrike">
              <a:solidFill>
                <a:srgbClr val="000000"/>
              </a:solidFill>
              <a:latin typeface="Arial"/>
              <a:ea typeface="Arial"/>
              <a:cs typeface="Arial"/>
              <a:sym typeface="Arial"/>
            </a:endParaRPr>
          </a:p>
        </p:txBody>
      </p:sp>
      <p:sp>
        <p:nvSpPr>
          <p:cNvPr id="297" name="Google Shape;297;p16"/>
          <p:cNvSpPr txBox="1"/>
          <p:nvPr/>
        </p:nvSpPr>
        <p:spPr>
          <a:xfrm>
            <a:off x="311760" y="1229760"/>
            <a:ext cx="8520120" cy="3338640"/>
          </a:xfrm>
          <a:prstGeom prst="rect">
            <a:avLst/>
          </a:prstGeom>
          <a:noFill/>
          <a:ln>
            <a:noFill/>
          </a:ln>
        </p:spPr>
        <p:txBody>
          <a:bodyPr spcFirstLastPara="1" wrap="square" lIns="91425" tIns="91425" rIns="91425" bIns="91425" anchor="t" anchorCtr="0">
            <a:normAutofit/>
          </a:bodyPr>
          <a:lstStyle/>
          <a:p>
            <a:pPr marL="0" marR="0" lvl="0" indent="0" algn="l" rtl="0">
              <a:spcBef>
                <a:spcPts val="0"/>
              </a:spcBef>
              <a:spcAft>
                <a:spcPts val="0"/>
              </a:spcAft>
              <a:buNone/>
            </a:pPr>
            <a:endParaRPr sz="1400" b="0" strike="noStrike">
              <a:solidFill>
                <a:srgbClr val="000000"/>
              </a:solidFill>
              <a:latin typeface="Arial"/>
              <a:ea typeface="Arial"/>
              <a:cs typeface="Arial"/>
              <a:sym typeface="Arial"/>
            </a:endParaRPr>
          </a:p>
        </p:txBody>
      </p:sp>
      <p:pic>
        <p:nvPicPr>
          <p:cNvPr id="298" name="Google Shape;298;p16"/>
          <p:cNvPicPr preferRelativeResize="0"/>
          <p:nvPr/>
        </p:nvPicPr>
        <p:blipFill rotWithShape="1">
          <a:blip r:embed="rId3">
            <a:alphaModFix/>
          </a:blip>
          <a:srcRect/>
          <a:stretch/>
        </p:blipFill>
        <p:spPr>
          <a:xfrm>
            <a:off x="311760" y="0"/>
            <a:ext cx="8631360" cy="514332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02"/>
        <p:cNvGrpSpPr/>
        <p:nvPr/>
      </p:nvGrpSpPr>
      <p:grpSpPr>
        <a:xfrm>
          <a:off x="0" y="0"/>
          <a:ext cx="0" cy="0"/>
          <a:chOff x="0" y="0"/>
          <a:chExt cx="0" cy="0"/>
        </a:xfrm>
      </p:grpSpPr>
      <p:sp>
        <p:nvSpPr>
          <p:cNvPr id="303" name="Google Shape;303;p17"/>
          <p:cNvSpPr txBox="1"/>
          <p:nvPr/>
        </p:nvSpPr>
        <p:spPr>
          <a:xfrm>
            <a:off x="311760" y="410040"/>
            <a:ext cx="8520120" cy="607320"/>
          </a:xfrm>
          <a:prstGeom prst="rect">
            <a:avLst/>
          </a:prstGeom>
          <a:noFill/>
          <a:ln>
            <a:noFill/>
          </a:ln>
        </p:spPr>
        <p:txBody>
          <a:bodyPr spcFirstLastPara="1" wrap="square" lIns="91425" tIns="91425" rIns="91425" bIns="91425" anchor="t" anchorCtr="0">
            <a:normAutofit fontScale="98500" lnSpcReduction="10000"/>
          </a:bodyPr>
          <a:lstStyle/>
          <a:p>
            <a:pPr marL="0" marR="0" lvl="0" indent="0" algn="l" rtl="0">
              <a:lnSpc>
                <a:spcPct val="100000"/>
              </a:lnSpc>
              <a:spcBef>
                <a:spcPts val="0"/>
              </a:spcBef>
              <a:spcAft>
                <a:spcPts val="0"/>
              </a:spcAft>
              <a:buNone/>
            </a:pPr>
            <a:r>
              <a:rPr lang="en-GB" sz="3000" b="0" strike="noStrike">
                <a:solidFill>
                  <a:srgbClr val="2A3990"/>
                </a:solidFill>
                <a:latin typeface="Roboto"/>
                <a:ea typeface="Roboto"/>
                <a:cs typeface="Roboto"/>
                <a:sym typeface="Roboto"/>
              </a:rPr>
              <a:t>contd…</a:t>
            </a:r>
            <a:endParaRPr sz="3000" b="0" strike="noStrike">
              <a:solidFill>
                <a:srgbClr val="000000"/>
              </a:solidFill>
              <a:latin typeface="Arial"/>
              <a:ea typeface="Arial"/>
              <a:cs typeface="Arial"/>
              <a:sym typeface="Arial"/>
            </a:endParaRPr>
          </a:p>
        </p:txBody>
      </p:sp>
      <p:sp>
        <p:nvSpPr>
          <p:cNvPr id="304" name="Google Shape;304;p17"/>
          <p:cNvSpPr txBox="1"/>
          <p:nvPr/>
        </p:nvSpPr>
        <p:spPr>
          <a:xfrm>
            <a:off x="311760" y="1229760"/>
            <a:ext cx="8520120" cy="3338640"/>
          </a:xfrm>
          <a:prstGeom prst="rect">
            <a:avLst/>
          </a:prstGeom>
          <a:noFill/>
          <a:ln>
            <a:noFill/>
          </a:ln>
        </p:spPr>
        <p:txBody>
          <a:bodyPr spcFirstLastPara="1" wrap="square" lIns="91425" tIns="91425" rIns="91425" bIns="91425" anchor="t" anchorCtr="0">
            <a:normAutofit fontScale="98000" lnSpcReduction="10000"/>
          </a:bodyPr>
          <a:lstStyle/>
          <a:p>
            <a:pPr marL="0" marR="0" lvl="0" indent="0" algn="l" rtl="0">
              <a:lnSpc>
                <a:spcPct val="115000"/>
              </a:lnSpc>
              <a:spcBef>
                <a:spcPts val="0"/>
              </a:spcBef>
              <a:spcAft>
                <a:spcPts val="0"/>
              </a:spcAft>
              <a:buNone/>
            </a:pPr>
            <a:r>
              <a:rPr lang="en-GB" sz="1910" b="0" strike="noStrike" dirty="0">
                <a:solidFill>
                  <a:srgbClr val="9C254D"/>
                </a:solidFill>
                <a:latin typeface="Roboto"/>
                <a:ea typeface="Roboto"/>
                <a:cs typeface="Roboto"/>
                <a:sym typeface="Roboto"/>
              </a:rPr>
              <a:t>2. Extraneous variable: </a:t>
            </a:r>
            <a:endParaRPr sz="1910" b="0" strike="noStrike" dirty="0">
              <a:solidFill>
                <a:srgbClr val="000000"/>
              </a:solidFill>
              <a:latin typeface="Arial"/>
              <a:ea typeface="Arial"/>
              <a:cs typeface="Arial"/>
              <a:sym typeface="Arial"/>
            </a:endParaRPr>
          </a:p>
          <a:p>
            <a:pPr marL="457200" marR="0" lvl="0" indent="-355699" algn="just" rtl="0">
              <a:lnSpc>
                <a:spcPct val="115000"/>
              </a:lnSpc>
              <a:spcBef>
                <a:spcPts val="1199"/>
              </a:spcBef>
              <a:spcAft>
                <a:spcPts val="0"/>
              </a:spcAft>
              <a:buClr>
                <a:srgbClr val="434343"/>
              </a:buClr>
              <a:buSzPct val="100000"/>
              <a:buFont typeface="Roboto"/>
              <a:buChar char="●"/>
            </a:pPr>
            <a:r>
              <a:rPr lang="en-GB" sz="2010" b="0" strike="noStrike" dirty="0">
                <a:solidFill>
                  <a:srgbClr val="434343"/>
                </a:solidFill>
                <a:latin typeface="Roboto"/>
                <a:ea typeface="Roboto"/>
                <a:cs typeface="Roboto"/>
                <a:sym typeface="Roboto"/>
              </a:rPr>
              <a:t>Independent variables that are not related to the purpose of the study, but may affect the dependent variable are termed as extraneous variables.</a:t>
            </a:r>
            <a:endParaRPr sz="2010" b="0" strike="noStrike" dirty="0">
              <a:solidFill>
                <a:srgbClr val="000000"/>
              </a:solidFill>
              <a:latin typeface="Arial"/>
              <a:ea typeface="Arial"/>
              <a:cs typeface="Arial"/>
              <a:sym typeface="Arial"/>
            </a:endParaRPr>
          </a:p>
          <a:p>
            <a:pPr marL="457200" marR="0" lvl="0" indent="-355699" algn="just" rtl="0">
              <a:lnSpc>
                <a:spcPct val="115000"/>
              </a:lnSpc>
              <a:spcBef>
                <a:spcPts val="0"/>
              </a:spcBef>
              <a:spcAft>
                <a:spcPts val="0"/>
              </a:spcAft>
              <a:buClr>
                <a:srgbClr val="434343"/>
              </a:buClr>
              <a:buSzPct val="100000"/>
              <a:buFont typeface="Roboto"/>
              <a:buChar char="●"/>
            </a:pPr>
            <a:r>
              <a:rPr lang="en-GB" sz="2010" b="0" strike="noStrike" dirty="0">
                <a:solidFill>
                  <a:srgbClr val="434343"/>
                </a:solidFill>
                <a:latin typeface="Roboto"/>
                <a:ea typeface="Roboto"/>
                <a:cs typeface="Roboto"/>
                <a:sym typeface="Roboto"/>
              </a:rPr>
              <a:t>Whatever effect is noticed on dependent variable as a result of extraneous variable(s) is technically described as an ‘experimental error’. </a:t>
            </a:r>
            <a:endParaRPr sz="2010" b="0" strike="noStrike" dirty="0">
              <a:solidFill>
                <a:srgbClr val="000000"/>
              </a:solidFill>
              <a:latin typeface="Arial"/>
              <a:ea typeface="Arial"/>
              <a:cs typeface="Arial"/>
              <a:sym typeface="Arial"/>
            </a:endParaRPr>
          </a:p>
          <a:p>
            <a:pPr marL="457200" marR="0" lvl="0" indent="-355699" algn="just" rtl="0">
              <a:lnSpc>
                <a:spcPct val="115000"/>
              </a:lnSpc>
              <a:spcBef>
                <a:spcPts val="0"/>
              </a:spcBef>
              <a:spcAft>
                <a:spcPts val="0"/>
              </a:spcAft>
              <a:buClr>
                <a:srgbClr val="434343"/>
              </a:buClr>
              <a:buSzPct val="100000"/>
              <a:buFont typeface="Roboto"/>
              <a:buChar char="●"/>
            </a:pPr>
            <a:r>
              <a:rPr lang="en-GB" sz="2010" b="0" strike="noStrike" dirty="0">
                <a:solidFill>
                  <a:srgbClr val="434343"/>
                </a:solidFill>
                <a:latin typeface="Roboto"/>
                <a:ea typeface="Roboto"/>
                <a:cs typeface="Roboto"/>
                <a:sym typeface="Roboto"/>
              </a:rPr>
              <a:t>Ex: test the hypothesis that there is a relationship between children’s gains in social studies achievement and their self-concepts.</a:t>
            </a:r>
            <a:endParaRPr sz="2010" b="0" strike="noStrike" dirty="0">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18"/>
          <p:cNvSpPr txBox="1"/>
          <p:nvPr/>
        </p:nvSpPr>
        <p:spPr>
          <a:xfrm>
            <a:off x="311760" y="410040"/>
            <a:ext cx="8520120" cy="607320"/>
          </a:xfrm>
          <a:prstGeom prst="rect">
            <a:avLst/>
          </a:prstGeom>
          <a:noFill/>
          <a:ln>
            <a:noFill/>
          </a:ln>
        </p:spPr>
        <p:txBody>
          <a:bodyPr spcFirstLastPara="1" wrap="square" lIns="91425" tIns="91425" rIns="91425" bIns="91425" anchor="t" anchorCtr="0">
            <a:normAutofit fontScale="98500" lnSpcReduction="10000"/>
          </a:bodyPr>
          <a:lstStyle/>
          <a:p>
            <a:pPr marL="0" marR="0" lvl="0" indent="0" algn="l" rtl="0">
              <a:lnSpc>
                <a:spcPct val="100000"/>
              </a:lnSpc>
              <a:spcBef>
                <a:spcPts val="0"/>
              </a:spcBef>
              <a:spcAft>
                <a:spcPts val="0"/>
              </a:spcAft>
              <a:buNone/>
            </a:pPr>
            <a:r>
              <a:rPr lang="en-GB" sz="3000" b="0" strike="noStrike">
                <a:solidFill>
                  <a:srgbClr val="2A3990"/>
                </a:solidFill>
                <a:latin typeface="Roboto"/>
                <a:ea typeface="Roboto"/>
                <a:cs typeface="Roboto"/>
                <a:sym typeface="Roboto"/>
              </a:rPr>
              <a:t>contd…</a:t>
            </a:r>
            <a:endParaRPr sz="3000" b="0" strike="noStrike">
              <a:solidFill>
                <a:srgbClr val="000000"/>
              </a:solidFill>
              <a:latin typeface="Arial"/>
              <a:ea typeface="Arial"/>
              <a:cs typeface="Arial"/>
              <a:sym typeface="Arial"/>
            </a:endParaRPr>
          </a:p>
        </p:txBody>
      </p:sp>
      <p:sp>
        <p:nvSpPr>
          <p:cNvPr id="310" name="Google Shape;310;p18"/>
          <p:cNvSpPr txBox="1"/>
          <p:nvPr/>
        </p:nvSpPr>
        <p:spPr>
          <a:xfrm>
            <a:off x="311760" y="1229760"/>
            <a:ext cx="8520120" cy="3338640"/>
          </a:xfrm>
          <a:prstGeom prst="rect">
            <a:avLst/>
          </a:prstGeom>
          <a:noFill/>
          <a:ln>
            <a:noFill/>
          </a:ln>
        </p:spPr>
        <p:txBody>
          <a:bodyPr spcFirstLastPara="1" wrap="square" lIns="91425" tIns="91425" rIns="91425" bIns="91425" anchor="t" anchorCtr="0">
            <a:normAutofit/>
          </a:bodyPr>
          <a:lstStyle/>
          <a:p>
            <a:pPr marL="0" marR="0" lvl="0" indent="0" algn="l" rtl="0">
              <a:lnSpc>
                <a:spcPct val="115000"/>
              </a:lnSpc>
              <a:spcBef>
                <a:spcPts val="0"/>
              </a:spcBef>
              <a:spcAft>
                <a:spcPts val="0"/>
              </a:spcAft>
              <a:buNone/>
            </a:pPr>
            <a:r>
              <a:rPr lang="en-GB" sz="1800" b="0" strike="noStrike" dirty="0">
                <a:solidFill>
                  <a:srgbClr val="9C254D"/>
                </a:solidFill>
                <a:latin typeface="Roboto"/>
                <a:ea typeface="Roboto"/>
                <a:cs typeface="Roboto"/>
                <a:sym typeface="Roboto"/>
              </a:rPr>
              <a:t>3. Control: </a:t>
            </a:r>
            <a:endParaRPr sz="1800" b="0" strike="noStrike" dirty="0">
              <a:solidFill>
                <a:srgbClr val="000000"/>
              </a:solidFill>
              <a:latin typeface="Arial"/>
              <a:ea typeface="Arial"/>
              <a:cs typeface="Arial"/>
              <a:sym typeface="Arial"/>
            </a:endParaRPr>
          </a:p>
          <a:p>
            <a:pPr marL="457200" marR="0" lvl="0" indent="-342720" algn="just" rtl="0">
              <a:lnSpc>
                <a:spcPct val="115000"/>
              </a:lnSpc>
              <a:spcBef>
                <a:spcPts val="1199"/>
              </a:spcBef>
              <a:spcAft>
                <a:spcPts val="0"/>
              </a:spcAft>
              <a:buClr>
                <a:srgbClr val="434343"/>
              </a:buClr>
              <a:buSzPts val="1800"/>
              <a:buFont typeface="Roboto"/>
              <a:buChar char="●"/>
            </a:pPr>
            <a:r>
              <a:rPr lang="en-GB" sz="1800" b="0" strike="noStrike" dirty="0">
                <a:solidFill>
                  <a:srgbClr val="434343"/>
                </a:solidFill>
                <a:latin typeface="Roboto"/>
                <a:ea typeface="Roboto"/>
                <a:cs typeface="Roboto"/>
                <a:sym typeface="Roboto"/>
              </a:rPr>
              <a:t>One important characteristic of a good research design is to minimise the influence or effect of extraneous variable(s). </a:t>
            </a:r>
            <a:endParaRPr sz="1800" b="0" strike="noStrike" dirty="0">
              <a:solidFill>
                <a:srgbClr val="000000"/>
              </a:solidFill>
              <a:latin typeface="Arial"/>
              <a:ea typeface="Arial"/>
              <a:cs typeface="Arial"/>
              <a:sym typeface="Arial"/>
            </a:endParaRPr>
          </a:p>
          <a:p>
            <a:pPr marL="457200" marR="0" lvl="0" indent="0" algn="just" rtl="0">
              <a:lnSpc>
                <a:spcPct val="115000"/>
              </a:lnSpc>
              <a:spcBef>
                <a:spcPts val="1199"/>
              </a:spcBef>
              <a:spcAft>
                <a:spcPts val="0"/>
              </a:spcAft>
              <a:buNone/>
            </a:pPr>
            <a:endParaRPr sz="1800" b="0" strike="noStrike" dirty="0">
              <a:solidFill>
                <a:srgbClr val="000000"/>
              </a:solidFill>
              <a:latin typeface="Arial"/>
              <a:ea typeface="Arial"/>
              <a:cs typeface="Arial"/>
              <a:sym typeface="Arial"/>
            </a:endParaRPr>
          </a:p>
          <a:p>
            <a:pPr marL="457200" marR="0" lvl="0" indent="-342720" algn="just" rtl="0">
              <a:lnSpc>
                <a:spcPct val="115000"/>
              </a:lnSpc>
              <a:spcBef>
                <a:spcPts val="1199"/>
              </a:spcBef>
              <a:spcAft>
                <a:spcPts val="0"/>
              </a:spcAft>
              <a:buClr>
                <a:srgbClr val="434343"/>
              </a:buClr>
              <a:buSzPts val="1800"/>
              <a:buFont typeface="Roboto"/>
              <a:buChar char="●"/>
            </a:pPr>
            <a:r>
              <a:rPr lang="en-GB" sz="1800" b="0" strike="noStrike" dirty="0">
                <a:solidFill>
                  <a:srgbClr val="434343"/>
                </a:solidFill>
                <a:latin typeface="Roboto"/>
                <a:ea typeface="Roboto"/>
                <a:cs typeface="Roboto"/>
                <a:sym typeface="Roboto"/>
              </a:rPr>
              <a:t>The technical term ‘control’ is used when we design the study minimising the effects of extraneous independent variables. In experimental researches, the term ‘control’ is used to refer to restrain experimental conditions.</a:t>
            </a:r>
            <a:endParaRPr sz="1800" b="0" strike="noStrike" dirty="0">
              <a:solidFill>
                <a:srgbClr val="000000"/>
              </a:solidFill>
              <a:latin typeface="Arial"/>
              <a:ea typeface="Arial"/>
              <a:cs typeface="Arial"/>
              <a:sym typeface="Arial"/>
            </a:endParaRPr>
          </a:p>
          <a:p>
            <a:pPr marL="0" marR="0" lvl="0" indent="0" algn="l" rtl="0">
              <a:lnSpc>
                <a:spcPct val="115000"/>
              </a:lnSpc>
              <a:spcBef>
                <a:spcPts val="1199"/>
              </a:spcBef>
              <a:spcAft>
                <a:spcPts val="0"/>
              </a:spcAft>
              <a:buNone/>
            </a:pPr>
            <a:endParaRPr sz="1800" b="0" strike="noStrike" dirty="0">
              <a:solidFill>
                <a:srgbClr val="000000"/>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5" name="Google Shape;315;p19"/>
          <p:cNvSpPr txBox="1"/>
          <p:nvPr/>
        </p:nvSpPr>
        <p:spPr>
          <a:xfrm>
            <a:off x="311760" y="410040"/>
            <a:ext cx="8520120" cy="607320"/>
          </a:xfrm>
          <a:prstGeom prst="rect">
            <a:avLst/>
          </a:prstGeom>
          <a:noFill/>
          <a:ln>
            <a:noFill/>
          </a:ln>
        </p:spPr>
        <p:txBody>
          <a:bodyPr spcFirstLastPara="1" wrap="square" lIns="91425" tIns="91425" rIns="91425" bIns="91425" anchor="t" anchorCtr="0">
            <a:normAutofit fontScale="98500"/>
          </a:bodyPr>
          <a:lstStyle/>
          <a:p>
            <a:pPr marL="0" marR="0" lvl="0" indent="0" algn="l" rtl="0">
              <a:spcBef>
                <a:spcPts val="0"/>
              </a:spcBef>
              <a:spcAft>
                <a:spcPts val="0"/>
              </a:spcAft>
              <a:buNone/>
            </a:pPr>
            <a:endParaRPr sz="1400" b="0" strike="noStrike">
              <a:solidFill>
                <a:srgbClr val="000000"/>
              </a:solidFill>
              <a:latin typeface="Arial"/>
              <a:ea typeface="Arial"/>
              <a:cs typeface="Arial"/>
              <a:sym typeface="Arial"/>
            </a:endParaRPr>
          </a:p>
        </p:txBody>
      </p:sp>
      <p:sp>
        <p:nvSpPr>
          <p:cNvPr id="316" name="Google Shape;316;p19"/>
          <p:cNvSpPr txBox="1"/>
          <p:nvPr/>
        </p:nvSpPr>
        <p:spPr>
          <a:xfrm>
            <a:off x="311760" y="410040"/>
            <a:ext cx="8520120" cy="4158720"/>
          </a:xfrm>
          <a:prstGeom prst="rect">
            <a:avLst/>
          </a:prstGeom>
          <a:noFill/>
          <a:ln>
            <a:noFill/>
          </a:ln>
        </p:spPr>
        <p:txBody>
          <a:bodyPr spcFirstLastPara="1" wrap="square" lIns="91425" tIns="91425" rIns="91425" bIns="91425" anchor="t" anchorCtr="0">
            <a:normAutofit/>
          </a:bodyPr>
          <a:lstStyle/>
          <a:p>
            <a:pPr marL="0" marR="0" lvl="0" indent="0" algn="just" rtl="0">
              <a:lnSpc>
                <a:spcPct val="115000"/>
              </a:lnSpc>
              <a:spcBef>
                <a:spcPts val="0"/>
              </a:spcBef>
              <a:spcAft>
                <a:spcPts val="0"/>
              </a:spcAft>
              <a:buNone/>
            </a:pPr>
            <a:r>
              <a:rPr lang="en-GB" sz="2000" b="0" strike="noStrike" dirty="0">
                <a:solidFill>
                  <a:srgbClr val="9C254D"/>
                </a:solidFill>
                <a:latin typeface="Roboto"/>
                <a:ea typeface="Roboto"/>
                <a:cs typeface="Roboto"/>
                <a:sym typeface="Roboto"/>
              </a:rPr>
              <a:t>4. Confounded relationship: </a:t>
            </a:r>
            <a:endParaRPr sz="2000" b="0" strike="noStrike" dirty="0">
              <a:solidFill>
                <a:srgbClr val="000000"/>
              </a:solidFill>
              <a:latin typeface="Arial"/>
              <a:ea typeface="Arial"/>
              <a:cs typeface="Arial"/>
              <a:sym typeface="Arial"/>
            </a:endParaRPr>
          </a:p>
          <a:p>
            <a:pPr marL="457200" marR="0" lvl="0" indent="-355320" algn="just" rtl="0">
              <a:lnSpc>
                <a:spcPct val="115000"/>
              </a:lnSpc>
              <a:spcBef>
                <a:spcPts val="1199"/>
              </a:spcBef>
              <a:spcAft>
                <a:spcPts val="0"/>
              </a:spcAft>
              <a:buClr>
                <a:srgbClr val="434343"/>
              </a:buClr>
              <a:buSzPts val="2000"/>
              <a:buFont typeface="Roboto"/>
              <a:buChar char="●"/>
            </a:pPr>
            <a:r>
              <a:rPr lang="en-GB" sz="2000" b="0" strike="noStrike" dirty="0">
                <a:solidFill>
                  <a:srgbClr val="434343"/>
                </a:solidFill>
                <a:latin typeface="Roboto"/>
                <a:ea typeface="Roboto"/>
                <a:cs typeface="Roboto"/>
                <a:sym typeface="Roboto"/>
              </a:rPr>
              <a:t>When the dependent variable is not free from the influence of extraneous variable(s), the relationship between the dependent and independent variables is said to be confounded by an extraneous variable(s).</a:t>
            </a:r>
            <a:endParaRPr sz="2000" b="0" strike="noStrike" dirty="0">
              <a:solidFill>
                <a:srgbClr val="000000"/>
              </a:solidFill>
              <a:latin typeface="Arial"/>
              <a:ea typeface="Arial"/>
              <a:cs typeface="Arial"/>
              <a:sym typeface="Arial"/>
            </a:endParaRPr>
          </a:p>
          <a:p>
            <a:pPr marL="0" marR="0" lvl="0" indent="0" algn="l" rtl="0">
              <a:lnSpc>
                <a:spcPct val="115000"/>
              </a:lnSpc>
              <a:spcBef>
                <a:spcPts val="1199"/>
              </a:spcBef>
              <a:spcAft>
                <a:spcPts val="0"/>
              </a:spcAft>
              <a:buNone/>
            </a:pPr>
            <a:endParaRPr sz="2000" b="0" strike="noStrike" dirty="0">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20"/>
        <p:cNvGrpSpPr/>
        <p:nvPr/>
      </p:nvGrpSpPr>
      <p:grpSpPr>
        <a:xfrm>
          <a:off x="0" y="0"/>
          <a:ext cx="0" cy="0"/>
          <a:chOff x="0" y="0"/>
          <a:chExt cx="0" cy="0"/>
        </a:xfrm>
      </p:grpSpPr>
      <p:sp>
        <p:nvSpPr>
          <p:cNvPr id="321" name="Google Shape;321;p20"/>
          <p:cNvSpPr txBox="1"/>
          <p:nvPr/>
        </p:nvSpPr>
        <p:spPr>
          <a:xfrm>
            <a:off x="311760" y="410040"/>
            <a:ext cx="8520120" cy="607320"/>
          </a:xfrm>
          <a:prstGeom prst="rect">
            <a:avLst/>
          </a:prstGeom>
          <a:noFill/>
          <a:ln>
            <a:noFill/>
          </a:ln>
        </p:spPr>
        <p:txBody>
          <a:bodyPr spcFirstLastPara="1" wrap="square" lIns="91425" tIns="91425" rIns="91425" bIns="91425" anchor="t" anchorCtr="0">
            <a:normAutofit fontScale="98500"/>
          </a:bodyPr>
          <a:lstStyle/>
          <a:p>
            <a:pPr marL="0" marR="0" lvl="0" indent="0" algn="l" rtl="0">
              <a:spcBef>
                <a:spcPts val="0"/>
              </a:spcBef>
              <a:spcAft>
                <a:spcPts val="0"/>
              </a:spcAft>
              <a:buNone/>
            </a:pPr>
            <a:endParaRPr sz="1400" b="0" strike="noStrike">
              <a:solidFill>
                <a:srgbClr val="000000"/>
              </a:solidFill>
              <a:latin typeface="Arial"/>
              <a:ea typeface="Arial"/>
              <a:cs typeface="Arial"/>
              <a:sym typeface="Arial"/>
            </a:endParaRPr>
          </a:p>
        </p:txBody>
      </p:sp>
      <p:sp>
        <p:nvSpPr>
          <p:cNvPr id="322" name="Google Shape;322;p20"/>
          <p:cNvSpPr txBox="1"/>
          <p:nvPr/>
        </p:nvSpPr>
        <p:spPr>
          <a:xfrm>
            <a:off x="311760" y="1229760"/>
            <a:ext cx="8520120" cy="3338640"/>
          </a:xfrm>
          <a:prstGeom prst="rect">
            <a:avLst/>
          </a:prstGeom>
          <a:noFill/>
          <a:ln>
            <a:noFill/>
          </a:ln>
        </p:spPr>
        <p:txBody>
          <a:bodyPr spcFirstLastPara="1" wrap="square" lIns="91425" tIns="91425" rIns="91425" bIns="91425" anchor="t" anchorCtr="0">
            <a:normAutofit/>
          </a:bodyPr>
          <a:lstStyle/>
          <a:p>
            <a:pPr marL="0" marR="0" lvl="0" indent="0" algn="l" rtl="0">
              <a:spcBef>
                <a:spcPts val="0"/>
              </a:spcBef>
              <a:spcAft>
                <a:spcPts val="0"/>
              </a:spcAft>
              <a:buNone/>
            </a:pPr>
            <a:endParaRPr sz="1400" b="0" strike="noStrike">
              <a:solidFill>
                <a:srgbClr val="000000"/>
              </a:solidFill>
              <a:latin typeface="Arial"/>
              <a:ea typeface="Arial"/>
              <a:cs typeface="Arial"/>
              <a:sym typeface="Arial"/>
            </a:endParaRPr>
          </a:p>
        </p:txBody>
      </p:sp>
      <p:pic>
        <p:nvPicPr>
          <p:cNvPr id="323" name="Google Shape;323;p20"/>
          <p:cNvPicPr preferRelativeResize="0"/>
          <p:nvPr/>
        </p:nvPicPr>
        <p:blipFill rotWithShape="1">
          <a:blip r:embed="rId3">
            <a:alphaModFix/>
          </a:blip>
          <a:srcRect/>
          <a:stretch/>
        </p:blipFill>
        <p:spPr>
          <a:xfrm>
            <a:off x="311760" y="0"/>
            <a:ext cx="8520120" cy="514332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328" name="Google Shape;328;p21"/>
          <p:cNvSpPr txBox="1"/>
          <p:nvPr/>
        </p:nvSpPr>
        <p:spPr>
          <a:xfrm>
            <a:off x="311760" y="410040"/>
            <a:ext cx="8520120" cy="607320"/>
          </a:xfrm>
          <a:prstGeom prst="rect">
            <a:avLst/>
          </a:prstGeom>
          <a:noFill/>
          <a:ln>
            <a:noFill/>
          </a:ln>
        </p:spPr>
        <p:txBody>
          <a:bodyPr spcFirstLastPara="1" wrap="square" lIns="91425" tIns="91425" rIns="91425" bIns="91425" anchor="t" anchorCtr="0">
            <a:normAutofit fontScale="98500"/>
          </a:bodyPr>
          <a:lstStyle/>
          <a:p>
            <a:pPr marL="0" marR="0" lvl="0" indent="0" algn="l" rtl="0">
              <a:spcBef>
                <a:spcPts val="0"/>
              </a:spcBef>
              <a:spcAft>
                <a:spcPts val="0"/>
              </a:spcAft>
              <a:buNone/>
            </a:pPr>
            <a:endParaRPr sz="1400" b="0" strike="noStrike">
              <a:solidFill>
                <a:srgbClr val="000000"/>
              </a:solidFill>
              <a:latin typeface="Arial"/>
              <a:ea typeface="Arial"/>
              <a:cs typeface="Arial"/>
              <a:sym typeface="Arial"/>
            </a:endParaRPr>
          </a:p>
        </p:txBody>
      </p:sp>
      <p:sp>
        <p:nvSpPr>
          <p:cNvPr id="329" name="Google Shape;329;p21"/>
          <p:cNvSpPr txBox="1"/>
          <p:nvPr/>
        </p:nvSpPr>
        <p:spPr>
          <a:xfrm>
            <a:off x="311760" y="410040"/>
            <a:ext cx="8520120" cy="4158720"/>
          </a:xfrm>
          <a:prstGeom prst="rect">
            <a:avLst/>
          </a:prstGeom>
          <a:noFill/>
          <a:ln>
            <a:noFill/>
          </a:ln>
        </p:spPr>
        <p:txBody>
          <a:bodyPr spcFirstLastPara="1" wrap="square" lIns="91425" tIns="91425" rIns="91425" bIns="91425" anchor="t" anchorCtr="0">
            <a:normAutofit/>
          </a:bodyPr>
          <a:lstStyle/>
          <a:p>
            <a:pPr marL="0" marR="0" lvl="0" indent="0" algn="l" rtl="0">
              <a:lnSpc>
                <a:spcPct val="115000"/>
              </a:lnSpc>
              <a:spcBef>
                <a:spcPts val="0"/>
              </a:spcBef>
              <a:spcAft>
                <a:spcPts val="0"/>
              </a:spcAft>
              <a:buNone/>
            </a:pPr>
            <a:r>
              <a:rPr lang="en-GB" sz="1800" b="0" strike="noStrike" dirty="0">
                <a:solidFill>
                  <a:srgbClr val="9C254D"/>
                </a:solidFill>
                <a:latin typeface="Roboto"/>
                <a:ea typeface="Roboto"/>
                <a:cs typeface="Roboto"/>
                <a:sym typeface="Roboto"/>
              </a:rPr>
              <a:t>5. Research hypothesis: </a:t>
            </a:r>
            <a:endParaRPr sz="1800" b="0" strike="noStrike" dirty="0">
              <a:solidFill>
                <a:srgbClr val="000000"/>
              </a:solidFill>
              <a:latin typeface="Arial"/>
              <a:ea typeface="Arial"/>
              <a:cs typeface="Arial"/>
              <a:sym typeface="Arial"/>
            </a:endParaRPr>
          </a:p>
          <a:p>
            <a:pPr marL="457200" marR="0" lvl="0" indent="-342720" algn="just" rtl="0">
              <a:lnSpc>
                <a:spcPct val="115000"/>
              </a:lnSpc>
              <a:spcBef>
                <a:spcPts val="1199"/>
              </a:spcBef>
              <a:spcAft>
                <a:spcPts val="0"/>
              </a:spcAft>
              <a:buClr>
                <a:srgbClr val="434343"/>
              </a:buClr>
              <a:buSzPts val="1800"/>
              <a:buFont typeface="Roboto"/>
              <a:buChar char="●"/>
            </a:pPr>
            <a:r>
              <a:rPr lang="en-GB" sz="1800" b="0" strike="noStrike" dirty="0">
                <a:solidFill>
                  <a:srgbClr val="434343"/>
                </a:solidFill>
                <a:latin typeface="Roboto"/>
                <a:ea typeface="Roboto"/>
                <a:cs typeface="Roboto"/>
                <a:sym typeface="Roboto"/>
              </a:rPr>
              <a:t>When a </a:t>
            </a:r>
            <a:r>
              <a:rPr lang="en-GB" sz="1800" b="0" strike="noStrike" dirty="0">
                <a:solidFill>
                  <a:srgbClr val="D23369"/>
                </a:solidFill>
                <a:latin typeface="Roboto"/>
                <a:ea typeface="Roboto"/>
                <a:cs typeface="Roboto"/>
                <a:sym typeface="Roboto"/>
              </a:rPr>
              <a:t>prediction or a hypothesised relationship </a:t>
            </a:r>
            <a:r>
              <a:rPr lang="en-GB" sz="1800" b="0" strike="noStrike" dirty="0">
                <a:solidFill>
                  <a:srgbClr val="434343"/>
                </a:solidFill>
                <a:latin typeface="Roboto"/>
                <a:ea typeface="Roboto"/>
                <a:cs typeface="Roboto"/>
                <a:sym typeface="Roboto"/>
              </a:rPr>
              <a:t>is to be </a:t>
            </a:r>
            <a:r>
              <a:rPr lang="en-GB" sz="1800" b="0" strike="noStrike" dirty="0">
                <a:solidFill>
                  <a:srgbClr val="D23369"/>
                </a:solidFill>
                <a:latin typeface="Roboto"/>
                <a:ea typeface="Roboto"/>
                <a:cs typeface="Roboto"/>
                <a:sym typeface="Roboto"/>
              </a:rPr>
              <a:t>tested by scientific methods</a:t>
            </a:r>
            <a:r>
              <a:rPr lang="en-GB" sz="1800" b="0" strike="noStrike" dirty="0">
                <a:solidFill>
                  <a:srgbClr val="434343"/>
                </a:solidFill>
                <a:latin typeface="Roboto"/>
                <a:ea typeface="Roboto"/>
                <a:cs typeface="Roboto"/>
                <a:sym typeface="Roboto"/>
              </a:rPr>
              <a:t>, it is termed as </a:t>
            </a:r>
            <a:r>
              <a:rPr lang="en-GB" sz="1800" b="0" strike="noStrike" dirty="0">
                <a:solidFill>
                  <a:srgbClr val="D23369"/>
                </a:solidFill>
                <a:latin typeface="Roboto"/>
                <a:ea typeface="Roboto"/>
                <a:cs typeface="Roboto"/>
                <a:sym typeface="Roboto"/>
              </a:rPr>
              <a:t>research hypothesis. </a:t>
            </a:r>
            <a:endParaRPr sz="1800" b="0" strike="noStrike" dirty="0">
              <a:solidFill>
                <a:srgbClr val="000000"/>
              </a:solidFill>
              <a:latin typeface="Arial"/>
              <a:ea typeface="Arial"/>
              <a:cs typeface="Arial"/>
              <a:sym typeface="Arial"/>
            </a:endParaRPr>
          </a:p>
          <a:p>
            <a:pPr marL="457200" marR="0" lvl="0" indent="-342720" algn="just" rtl="0">
              <a:lnSpc>
                <a:spcPct val="115000"/>
              </a:lnSpc>
              <a:spcBef>
                <a:spcPts val="0"/>
              </a:spcBef>
              <a:spcAft>
                <a:spcPts val="0"/>
              </a:spcAft>
              <a:buClr>
                <a:srgbClr val="434343"/>
              </a:buClr>
              <a:buSzPts val="1800"/>
              <a:buFont typeface="Roboto"/>
              <a:buChar char="●"/>
            </a:pPr>
            <a:r>
              <a:rPr lang="en-GB" sz="1800" b="0" strike="noStrike" dirty="0">
                <a:solidFill>
                  <a:srgbClr val="434343"/>
                </a:solidFill>
                <a:latin typeface="Roboto"/>
                <a:ea typeface="Roboto"/>
                <a:cs typeface="Roboto"/>
                <a:sym typeface="Roboto"/>
              </a:rPr>
              <a:t>The research hypothesis is a predictive statement that relates an independent variable to a dependent variable. </a:t>
            </a:r>
            <a:endParaRPr sz="1800" b="0" strike="noStrike" dirty="0">
              <a:solidFill>
                <a:srgbClr val="000000"/>
              </a:solidFill>
              <a:latin typeface="Arial"/>
              <a:ea typeface="Arial"/>
              <a:cs typeface="Arial"/>
              <a:sym typeface="Arial"/>
            </a:endParaRPr>
          </a:p>
          <a:p>
            <a:pPr marL="457200" marR="0" lvl="0" indent="-342720" algn="just" rtl="0">
              <a:lnSpc>
                <a:spcPct val="115000"/>
              </a:lnSpc>
              <a:spcBef>
                <a:spcPts val="0"/>
              </a:spcBef>
              <a:spcAft>
                <a:spcPts val="0"/>
              </a:spcAft>
              <a:buClr>
                <a:srgbClr val="434343"/>
              </a:buClr>
              <a:buSzPts val="1800"/>
              <a:buFont typeface="Roboto"/>
              <a:buChar char="●"/>
            </a:pPr>
            <a:r>
              <a:rPr lang="en-GB" sz="1800" b="0" strike="noStrike" dirty="0">
                <a:solidFill>
                  <a:srgbClr val="434343"/>
                </a:solidFill>
                <a:latin typeface="Roboto"/>
                <a:ea typeface="Roboto"/>
                <a:cs typeface="Roboto"/>
                <a:sym typeface="Roboto"/>
              </a:rPr>
              <a:t>Usually a research hypothesis must contain, at least, one independent and one dependent variable. </a:t>
            </a:r>
            <a:endParaRPr sz="1800" b="0" strike="noStrike" dirty="0">
              <a:solidFill>
                <a:srgbClr val="000000"/>
              </a:solidFill>
              <a:latin typeface="Arial"/>
              <a:ea typeface="Arial"/>
              <a:cs typeface="Arial"/>
              <a:sym typeface="Arial"/>
            </a:endParaRPr>
          </a:p>
          <a:p>
            <a:pPr marL="457200" marR="0" lvl="0" indent="-342720" algn="just" rtl="0">
              <a:lnSpc>
                <a:spcPct val="115000"/>
              </a:lnSpc>
              <a:spcBef>
                <a:spcPts val="0"/>
              </a:spcBef>
              <a:spcAft>
                <a:spcPts val="0"/>
              </a:spcAft>
              <a:buClr>
                <a:srgbClr val="434343"/>
              </a:buClr>
              <a:buSzPts val="1800"/>
              <a:buFont typeface="Roboto"/>
              <a:buChar char="●"/>
            </a:pPr>
            <a:r>
              <a:rPr lang="en-GB" sz="1800" b="0" strike="noStrike" dirty="0">
                <a:solidFill>
                  <a:srgbClr val="434343"/>
                </a:solidFill>
                <a:latin typeface="Roboto"/>
                <a:ea typeface="Roboto"/>
                <a:cs typeface="Roboto"/>
                <a:sym typeface="Roboto"/>
              </a:rPr>
              <a:t>Predictive statements which are not to be objectively verified or the relationships that are assumed but not to be tested, are not termed research hypotheses.</a:t>
            </a:r>
            <a:endParaRPr sz="1800" b="0" strike="noStrike" dirty="0">
              <a:solidFill>
                <a:srgbClr val="000000"/>
              </a:solidFill>
              <a:latin typeface="Arial"/>
              <a:ea typeface="Arial"/>
              <a:cs typeface="Arial"/>
              <a:sym typeface="Arial"/>
            </a:endParaRPr>
          </a:p>
          <a:p>
            <a:pPr marL="457200" marR="0" lvl="0" indent="-342720" algn="just" rtl="0">
              <a:lnSpc>
                <a:spcPct val="115000"/>
              </a:lnSpc>
              <a:spcBef>
                <a:spcPts val="0"/>
              </a:spcBef>
              <a:spcAft>
                <a:spcPts val="0"/>
              </a:spcAft>
              <a:buClr>
                <a:srgbClr val="434343"/>
              </a:buClr>
              <a:buSzPts val="1800"/>
              <a:buFont typeface="Roboto"/>
              <a:buChar char="●"/>
            </a:pPr>
            <a:r>
              <a:rPr lang="en-GB" sz="1800" b="0" strike="noStrike" dirty="0">
                <a:solidFill>
                  <a:srgbClr val="434343"/>
                </a:solidFill>
                <a:latin typeface="Roboto"/>
                <a:ea typeface="Roboto"/>
                <a:cs typeface="Roboto"/>
                <a:sym typeface="Roboto"/>
              </a:rPr>
              <a:t>Ex: </a:t>
            </a:r>
            <a:r>
              <a:rPr lang="en-GB" sz="1700" b="1" strike="noStrike" dirty="0">
                <a:solidFill>
                  <a:srgbClr val="14182C"/>
                </a:solidFill>
                <a:highlight>
                  <a:srgbClr val="FFFFFF"/>
                </a:highlight>
                <a:latin typeface="Arial"/>
                <a:ea typeface="Arial"/>
                <a:cs typeface="Arial"/>
                <a:sym typeface="Arial"/>
              </a:rPr>
              <a:t>“Smoking is a prominent cause of lung cancer." The dependent variable, lung cancer, is dependent on the independent variable, smoking.</a:t>
            </a:r>
            <a:endParaRPr sz="1700" b="0" strike="noStrike" dirty="0">
              <a:solidFill>
                <a:srgbClr val="000000"/>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33"/>
        <p:cNvGrpSpPr/>
        <p:nvPr/>
      </p:nvGrpSpPr>
      <p:grpSpPr>
        <a:xfrm>
          <a:off x="0" y="0"/>
          <a:ext cx="0" cy="0"/>
          <a:chOff x="0" y="0"/>
          <a:chExt cx="0" cy="0"/>
        </a:xfrm>
      </p:grpSpPr>
      <p:sp>
        <p:nvSpPr>
          <p:cNvPr id="334" name="Google Shape;334;p22"/>
          <p:cNvSpPr txBox="1"/>
          <p:nvPr/>
        </p:nvSpPr>
        <p:spPr>
          <a:xfrm>
            <a:off x="311760" y="410040"/>
            <a:ext cx="8520120" cy="607320"/>
          </a:xfrm>
          <a:prstGeom prst="rect">
            <a:avLst/>
          </a:prstGeom>
          <a:noFill/>
          <a:ln>
            <a:noFill/>
          </a:ln>
        </p:spPr>
        <p:txBody>
          <a:bodyPr spcFirstLastPara="1" wrap="square" lIns="91425" tIns="91425" rIns="91425" bIns="91425" anchor="t" anchorCtr="0">
            <a:normAutofit fontScale="98500"/>
          </a:bodyPr>
          <a:lstStyle/>
          <a:p>
            <a:pPr marL="0" marR="0" lvl="0" indent="0" algn="l" rtl="0">
              <a:spcBef>
                <a:spcPts val="0"/>
              </a:spcBef>
              <a:spcAft>
                <a:spcPts val="0"/>
              </a:spcAft>
              <a:buNone/>
            </a:pPr>
            <a:endParaRPr sz="1400" b="0" strike="noStrike">
              <a:solidFill>
                <a:srgbClr val="000000"/>
              </a:solidFill>
              <a:latin typeface="Arial"/>
              <a:ea typeface="Arial"/>
              <a:cs typeface="Arial"/>
              <a:sym typeface="Arial"/>
            </a:endParaRPr>
          </a:p>
        </p:txBody>
      </p:sp>
      <p:sp>
        <p:nvSpPr>
          <p:cNvPr id="335" name="Google Shape;335;p22"/>
          <p:cNvSpPr txBox="1"/>
          <p:nvPr/>
        </p:nvSpPr>
        <p:spPr>
          <a:xfrm>
            <a:off x="311760" y="486360"/>
            <a:ext cx="8520120" cy="4158720"/>
          </a:xfrm>
          <a:prstGeom prst="rect">
            <a:avLst/>
          </a:prstGeom>
          <a:noFill/>
          <a:ln>
            <a:noFill/>
          </a:ln>
        </p:spPr>
        <p:txBody>
          <a:bodyPr spcFirstLastPara="1" wrap="square" lIns="91425" tIns="91425" rIns="91425" bIns="91425" anchor="t" anchorCtr="0">
            <a:normAutofit/>
          </a:bodyPr>
          <a:lstStyle/>
          <a:p>
            <a:pPr marL="0" marR="0" lvl="0" indent="0" algn="l" rtl="0">
              <a:lnSpc>
                <a:spcPct val="115000"/>
              </a:lnSpc>
              <a:spcBef>
                <a:spcPts val="0"/>
              </a:spcBef>
              <a:spcAft>
                <a:spcPts val="0"/>
              </a:spcAft>
              <a:buNone/>
            </a:pPr>
            <a:r>
              <a:rPr lang="en-GB" sz="1800" b="0" strike="noStrike" dirty="0">
                <a:solidFill>
                  <a:srgbClr val="9C254D"/>
                </a:solidFill>
                <a:latin typeface="Roboto"/>
                <a:ea typeface="Roboto"/>
                <a:cs typeface="Roboto"/>
                <a:sym typeface="Roboto"/>
              </a:rPr>
              <a:t>6. Experimental and non-experimental hypothesis-testing research: </a:t>
            </a:r>
            <a:endParaRPr sz="1800" b="0" strike="noStrike" dirty="0">
              <a:solidFill>
                <a:srgbClr val="000000"/>
              </a:solidFill>
              <a:latin typeface="Arial"/>
              <a:ea typeface="Arial"/>
              <a:cs typeface="Arial"/>
              <a:sym typeface="Arial"/>
            </a:endParaRPr>
          </a:p>
          <a:p>
            <a:pPr marL="457200" marR="0" lvl="0" indent="-342720" algn="just" rtl="0">
              <a:lnSpc>
                <a:spcPct val="115000"/>
              </a:lnSpc>
              <a:spcBef>
                <a:spcPts val="1199"/>
              </a:spcBef>
              <a:spcAft>
                <a:spcPts val="0"/>
              </a:spcAft>
              <a:buClr>
                <a:srgbClr val="434343"/>
              </a:buClr>
              <a:buSzPts val="1800"/>
              <a:buFont typeface="Roboto"/>
              <a:buChar char="●"/>
            </a:pPr>
            <a:r>
              <a:rPr lang="en-GB" sz="1800" b="0" strike="noStrike" dirty="0">
                <a:solidFill>
                  <a:srgbClr val="434343"/>
                </a:solidFill>
                <a:latin typeface="Roboto"/>
                <a:ea typeface="Roboto"/>
                <a:cs typeface="Roboto"/>
                <a:sym typeface="Roboto"/>
              </a:rPr>
              <a:t>When the purpose of research is to test a research hypothesis, it is termed as hypothesis-testing research..</a:t>
            </a:r>
            <a:endParaRPr sz="1800" b="0" strike="noStrike" dirty="0">
              <a:solidFill>
                <a:srgbClr val="000000"/>
              </a:solidFill>
              <a:latin typeface="Arial"/>
              <a:ea typeface="Arial"/>
              <a:cs typeface="Arial"/>
              <a:sym typeface="Arial"/>
            </a:endParaRPr>
          </a:p>
          <a:p>
            <a:pPr marL="457200" marR="0" lvl="0" indent="-342720" algn="just" rtl="0">
              <a:lnSpc>
                <a:spcPct val="115000"/>
              </a:lnSpc>
              <a:spcBef>
                <a:spcPts val="0"/>
              </a:spcBef>
              <a:spcAft>
                <a:spcPts val="0"/>
              </a:spcAft>
              <a:buClr>
                <a:srgbClr val="434343"/>
              </a:buClr>
              <a:buSzPts val="1800"/>
              <a:buFont typeface="Roboto"/>
              <a:buChar char="●"/>
            </a:pPr>
            <a:r>
              <a:rPr lang="en-GB" sz="1800" b="0" strike="noStrike" dirty="0">
                <a:solidFill>
                  <a:srgbClr val="434343"/>
                </a:solidFill>
                <a:latin typeface="Roboto"/>
                <a:ea typeface="Roboto"/>
                <a:cs typeface="Roboto"/>
                <a:sym typeface="Roboto"/>
              </a:rPr>
              <a:t>Research in which the independent variable is manipulated is termed ‘experimental hypothesis-testing research’ and a research in which an independent variable is not manipulated is called ‘non-experimental hypothesis-testing research’.</a:t>
            </a:r>
            <a:endParaRPr sz="1800" b="0" strike="noStrike" dirty="0">
              <a:solidFill>
                <a:srgbClr val="000000"/>
              </a:solidFill>
              <a:latin typeface="Arial"/>
              <a:ea typeface="Arial"/>
              <a:cs typeface="Arial"/>
              <a:sym typeface="Arial"/>
            </a:endParaRPr>
          </a:p>
          <a:p>
            <a:pPr marL="457200" marR="0" lvl="0" indent="-342720" algn="just" rtl="0">
              <a:lnSpc>
                <a:spcPct val="115000"/>
              </a:lnSpc>
              <a:spcBef>
                <a:spcPts val="0"/>
              </a:spcBef>
              <a:spcAft>
                <a:spcPts val="0"/>
              </a:spcAft>
              <a:buClr>
                <a:srgbClr val="434343"/>
              </a:buClr>
              <a:buSzPts val="1800"/>
              <a:buFont typeface="Roboto"/>
              <a:buChar char="●"/>
            </a:pPr>
            <a:r>
              <a:rPr lang="en-GB" sz="1800" b="0" strike="noStrike" dirty="0">
                <a:solidFill>
                  <a:srgbClr val="434343"/>
                </a:solidFill>
                <a:latin typeface="Roboto"/>
                <a:ea typeface="Roboto"/>
                <a:cs typeface="Roboto"/>
                <a:sym typeface="Roboto"/>
              </a:rPr>
              <a:t>Ex: </a:t>
            </a:r>
            <a:r>
              <a:rPr lang="en-GB" sz="1500" b="1" strike="noStrike" dirty="0">
                <a:solidFill>
                  <a:srgbClr val="202124"/>
                </a:solidFill>
                <a:highlight>
                  <a:srgbClr val="FFFFFF"/>
                </a:highlight>
                <a:latin typeface="Arial"/>
                <a:ea typeface="Arial"/>
                <a:cs typeface="Arial"/>
                <a:sym typeface="Arial"/>
              </a:rPr>
              <a:t>"If I do not study, then I will fail the test."</a:t>
            </a:r>
            <a:endParaRPr sz="1500" b="0" strike="noStrike" dirty="0">
              <a:solidFill>
                <a:srgbClr val="000000"/>
              </a:solidFill>
              <a:latin typeface="Arial"/>
              <a:ea typeface="Arial"/>
              <a:cs typeface="Arial"/>
              <a:sym typeface="Arial"/>
            </a:endParaRPr>
          </a:p>
          <a:p>
            <a:pPr marL="0" marR="0" lvl="0" indent="0" algn="l" rtl="0">
              <a:lnSpc>
                <a:spcPct val="115000"/>
              </a:lnSpc>
              <a:spcBef>
                <a:spcPts val="1199"/>
              </a:spcBef>
              <a:spcAft>
                <a:spcPts val="0"/>
              </a:spcAft>
              <a:buNone/>
            </a:pPr>
            <a:endParaRPr sz="1500" b="0" strike="noStrike" dirty="0">
              <a:solidFill>
                <a:srgbClr val="000000"/>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39"/>
        <p:cNvGrpSpPr/>
        <p:nvPr/>
      </p:nvGrpSpPr>
      <p:grpSpPr>
        <a:xfrm>
          <a:off x="0" y="0"/>
          <a:ext cx="0" cy="0"/>
          <a:chOff x="0" y="0"/>
          <a:chExt cx="0" cy="0"/>
        </a:xfrm>
      </p:grpSpPr>
      <p:sp>
        <p:nvSpPr>
          <p:cNvPr id="340" name="Google Shape;340;p23"/>
          <p:cNvSpPr txBox="1"/>
          <p:nvPr/>
        </p:nvSpPr>
        <p:spPr>
          <a:xfrm>
            <a:off x="311760" y="410040"/>
            <a:ext cx="8520120" cy="607320"/>
          </a:xfrm>
          <a:prstGeom prst="rect">
            <a:avLst/>
          </a:prstGeom>
          <a:noFill/>
          <a:ln>
            <a:noFill/>
          </a:ln>
        </p:spPr>
        <p:txBody>
          <a:bodyPr spcFirstLastPara="1" wrap="square" lIns="91425" tIns="91425" rIns="91425" bIns="91425" anchor="t" anchorCtr="0">
            <a:normAutofit fontScale="98500"/>
          </a:bodyPr>
          <a:lstStyle/>
          <a:p>
            <a:pPr marL="0" marR="0" lvl="0" indent="0" algn="l" rtl="0">
              <a:spcBef>
                <a:spcPts val="0"/>
              </a:spcBef>
              <a:spcAft>
                <a:spcPts val="0"/>
              </a:spcAft>
              <a:buNone/>
            </a:pPr>
            <a:endParaRPr sz="1400" b="0" strike="noStrike">
              <a:solidFill>
                <a:srgbClr val="000000"/>
              </a:solidFill>
              <a:latin typeface="Arial"/>
              <a:ea typeface="Arial"/>
              <a:cs typeface="Arial"/>
              <a:sym typeface="Arial"/>
            </a:endParaRPr>
          </a:p>
        </p:txBody>
      </p:sp>
      <p:sp>
        <p:nvSpPr>
          <p:cNvPr id="341" name="Google Shape;341;p23"/>
          <p:cNvSpPr txBox="1"/>
          <p:nvPr/>
        </p:nvSpPr>
        <p:spPr>
          <a:xfrm>
            <a:off x="311760" y="1229760"/>
            <a:ext cx="8520120" cy="3338640"/>
          </a:xfrm>
          <a:prstGeom prst="rect">
            <a:avLst/>
          </a:prstGeom>
          <a:noFill/>
          <a:ln>
            <a:noFill/>
          </a:ln>
        </p:spPr>
        <p:txBody>
          <a:bodyPr spcFirstLastPara="1" wrap="square" lIns="91425" tIns="91425" rIns="91425" bIns="91425" anchor="t" anchorCtr="0">
            <a:normAutofit/>
          </a:bodyPr>
          <a:lstStyle/>
          <a:p>
            <a:pPr marL="0" marR="0" lvl="0" indent="0" algn="just" rtl="0">
              <a:lnSpc>
                <a:spcPct val="115000"/>
              </a:lnSpc>
              <a:spcBef>
                <a:spcPts val="0"/>
              </a:spcBef>
              <a:spcAft>
                <a:spcPts val="0"/>
              </a:spcAft>
              <a:buNone/>
            </a:pPr>
            <a:r>
              <a:rPr lang="en-GB" sz="1800" b="0" strike="noStrike" dirty="0">
                <a:solidFill>
                  <a:srgbClr val="9C254D"/>
                </a:solidFill>
                <a:latin typeface="Roboto"/>
                <a:ea typeface="Roboto"/>
                <a:cs typeface="Roboto"/>
                <a:sym typeface="Roboto"/>
              </a:rPr>
              <a:t>7. Experimental and control groups: </a:t>
            </a:r>
            <a:endParaRPr sz="1800" b="0" strike="noStrike" dirty="0">
              <a:solidFill>
                <a:srgbClr val="000000"/>
              </a:solidFill>
              <a:latin typeface="Arial"/>
              <a:ea typeface="Arial"/>
              <a:cs typeface="Arial"/>
              <a:sym typeface="Arial"/>
            </a:endParaRPr>
          </a:p>
          <a:p>
            <a:pPr marL="457200" marR="0" lvl="0" indent="-342720" algn="just" rtl="0">
              <a:lnSpc>
                <a:spcPct val="115000"/>
              </a:lnSpc>
              <a:spcBef>
                <a:spcPts val="1199"/>
              </a:spcBef>
              <a:spcAft>
                <a:spcPts val="0"/>
              </a:spcAft>
              <a:buClr>
                <a:srgbClr val="434343"/>
              </a:buClr>
              <a:buSzPts val="1800"/>
              <a:buFont typeface="Roboto"/>
              <a:buChar char="●"/>
            </a:pPr>
            <a:r>
              <a:rPr lang="en-GB" sz="1800" b="0" strike="noStrike" dirty="0">
                <a:solidFill>
                  <a:srgbClr val="434343"/>
                </a:solidFill>
                <a:latin typeface="Roboto"/>
                <a:ea typeface="Roboto"/>
                <a:cs typeface="Roboto"/>
                <a:sym typeface="Roboto"/>
              </a:rPr>
              <a:t>In an experimental hypothesis-testing research when a group is exposed to usual conditions, it is termed a ‘control group’, but when the group is exposed to some novel or special condition, it is termed an ‘experimental group’.</a:t>
            </a:r>
            <a:endParaRPr sz="1800" b="0" strike="noStrike" dirty="0">
              <a:solidFill>
                <a:srgbClr val="000000"/>
              </a:solidFill>
              <a:latin typeface="Arial"/>
              <a:ea typeface="Arial"/>
              <a:cs typeface="Arial"/>
              <a:sym typeface="Arial"/>
            </a:endParaRPr>
          </a:p>
          <a:p>
            <a:pPr marL="0" marR="0" lvl="0" indent="0" algn="l" rtl="0">
              <a:lnSpc>
                <a:spcPct val="115000"/>
              </a:lnSpc>
              <a:spcBef>
                <a:spcPts val="1199"/>
              </a:spcBef>
              <a:spcAft>
                <a:spcPts val="0"/>
              </a:spcAft>
              <a:buNone/>
            </a:pPr>
            <a:endParaRPr sz="1800" b="0" strike="noStrike" dirty="0">
              <a:solidFill>
                <a:srgbClr val="000000"/>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45"/>
        <p:cNvGrpSpPr/>
        <p:nvPr/>
      </p:nvGrpSpPr>
      <p:grpSpPr>
        <a:xfrm>
          <a:off x="0" y="0"/>
          <a:ext cx="0" cy="0"/>
          <a:chOff x="0" y="0"/>
          <a:chExt cx="0" cy="0"/>
        </a:xfrm>
      </p:grpSpPr>
      <p:sp>
        <p:nvSpPr>
          <p:cNvPr id="346" name="Google Shape;346;p24"/>
          <p:cNvSpPr txBox="1"/>
          <p:nvPr/>
        </p:nvSpPr>
        <p:spPr>
          <a:xfrm>
            <a:off x="311760" y="410040"/>
            <a:ext cx="8520120" cy="607320"/>
          </a:xfrm>
          <a:prstGeom prst="rect">
            <a:avLst/>
          </a:prstGeom>
          <a:noFill/>
          <a:ln>
            <a:noFill/>
          </a:ln>
        </p:spPr>
        <p:txBody>
          <a:bodyPr spcFirstLastPara="1" wrap="square" lIns="91425" tIns="91425" rIns="91425" bIns="91425" anchor="t" anchorCtr="0">
            <a:normAutofit fontScale="98500"/>
          </a:bodyPr>
          <a:lstStyle/>
          <a:p>
            <a:pPr marL="0" marR="0" lvl="0" indent="0" algn="l" rtl="0">
              <a:spcBef>
                <a:spcPts val="0"/>
              </a:spcBef>
              <a:spcAft>
                <a:spcPts val="0"/>
              </a:spcAft>
              <a:buNone/>
            </a:pPr>
            <a:endParaRPr sz="1400" b="0" strike="noStrike">
              <a:solidFill>
                <a:srgbClr val="000000"/>
              </a:solidFill>
              <a:latin typeface="Arial"/>
              <a:ea typeface="Arial"/>
              <a:cs typeface="Arial"/>
              <a:sym typeface="Arial"/>
            </a:endParaRPr>
          </a:p>
        </p:txBody>
      </p:sp>
      <p:sp>
        <p:nvSpPr>
          <p:cNvPr id="347" name="Google Shape;347;p24"/>
          <p:cNvSpPr txBox="1"/>
          <p:nvPr/>
        </p:nvSpPr>
        <p:spPr>
          <a:xfrm>
            <a:off x="311760" y="1229760"/>
            <a:ext cx="8520120" cy="3338640"/>
          </a:xfrm>
          <a:prstGeom prst="rect">
            <a:avLst/>
          </a:prstGeom>
          <a:noFill/>
          <a:ln>
            <a:noFill/>
          </a:ln>
        </p:spPr>
        <p:txBody>
          <a:bodyPr spcFirstLastPara="1" wrap="square" lIns="91425" tIns="91425" rIns="91425" bIns="91425" anchor="t" anchorCtr="0">
            <a:normAutofit/>
          </a:bodyPr>
          <a:lstStyle/>
          <a:p>
            <a:pPr marL="0" marR="0" lvl="0" indent="0" algn="l" rtl="0">
              <a:lnSpc>
                <a:spcPct val="115000"/>
              </a:lnSpc>
              <a:spcBef>
                <a:spcPts val="0"/>
              </a:spcBef>
              <a:spcAft>
                <a:spcPts val="0"/>
              </a:spcAft>
              <a:buNone/>
            </a:pPr>
            <a:r>
              <a:rPr lang="en-GB" sz="1800" b="0" strike="noStrike" dirty="0">
                <a:solidFill>
                  <a:srgbClr val="9C254D"/>
                </a:solidFill>
                <a:latin typeface="Roboto"/>
                <a:ea typeface="Roboto"/>
                <a:cs typeface="Roboto"/>
                <a:sym typeface="Roboto"/>
              </a:rPr>
              <a:t>8. Treatments: </a:t>
            </a:r>
            <a:endParaRPr sz="1800" b="0" strike="noStrike" dirty="0">
              <a:solidFill>
                <a:srgbClr val="000000"/>
              </a:solidFill>
              <a:latin typeface="Arial"/>
              <a:ea typeface="Arial"/>
              <a:cs typeface="Arial"/>
              <a:sym typeface="Arial"/>
            </a:endParaRPr>
          </a:p>
          <a:p>
            <a:pPr marL="457200" marR="0" lvl="0" indent="-342720" algn="just" rtl="0">
              <a:lnSpc>
                <a:spcPct val="115000"/>
              </a:lnSpc>
              <a:spcBef>
                <a:spcPts val="1199"/>
              </a:spcBef>
              <a:spcAft>
                <a:spcPts val="0"/>
              </a:spcAft>
              <a:buClr>
                <a:srgbClr val="434343"/>
              </a:buClr>
              <a:buSzPts val="1800"/>
              <a:buFont typeface="Roboto"/>
              <a:buChar char="●"/>
            </a:pPr>
            <a:r>
              <a:rPr lang="en-GB" sz="1800" b="0" strike="noStrike" dirty="0">
                <a:solidFill>
                  <a:srgbClr val="434343"/>
                </a:solidFill>
                <a:latin typeface="Roboto"/>
                <a:ea typeface="Roboto"/>
                <a:cs typeface="Roboto"/>
                <a:sym typeface="Roboto"/>
              </a:rPr>
              <a:t>The different conditions under which experimental and control groups are put are usually referred to as ‘treatments’.</a:t>
            </a:r>
            <a:endParaRPr sz="1800" b="0" strike="noStrike" dirty="0">
              <a:solidFill>
                <a:srgbClr val="000000"/>
              </a:solidFill>
              <a:latin typeface="Arial"/>
              <a:ea typeface="Arial"/>
              <a:cs typeface="Arial"/>
              <a:sym typeface="Arial"/>
            </a:endParaRPr>
          </a:p>
          <a:p>
            <a:pPr marL="457200" marR="0" lvl="0" indent="-342720" algn="just" rtl="0">
              <a:lnSpc>
                <a:spcPct val="115000"/>
              </a:lnSpc>
              <a:spcBef>
                <a:spcPts val="0"/>
              </a:spcBef>
              <a:spcAft>
                <a:spcPts val="0"/>
              </a:spcAft>
              <a:buClr>
                <a:srgbClr val="434343"/>
              </a:buClr>
              <a:buSzPts val="1800"/>
              <a:buFont typeface="Roboto"/>
              <a:buChar char="●"/>
            </a:pPr>
            <a:r>
              <a:rPr lang="en-GB" sz="1800" b="0" strike="noStrike" dirty="0">
                <a:solidFill>
                  <a:srgbClr val="434343"/>
                </a:solidFill>
                <a:latin typeface="Roboto"/>
                <a:ea typeface="Roboto"/>
                <a:cs typeface="Roboto"/>
                <a:sym typeface="Roboto"/>
              </a:rPr>
              <a:t>Ex: </a:t>
            </a:r>
            <a:r>
              <a:rPr lang="en-GB" sz="1600" b="1" strike="noStrike" dirty="0">
                <a:solidFill>
                  <a:srgbClr val="212529"/>
                </a:solidFill>
                <a:highlight>
                  <a:srgbClr val="FFFFFF"/>
                </a:highlight>
                <a:latin typeface="Arial"/>
                <a:ea typeface="Arial"/>
                <a:cs typeface="Arial"/>
                <a:sym typeface="Arial"/>
              </a:rPr>
              <a:t>a medical doctor can prescribe three different types of drugs to three different groups of patients respectively to see the effectiveness of each drug. </a:t>
            </a:r>
            <a:endParaRPr sz="1600" b="0" strike="noStrike" dirty="0">
              <a:solidFill>
                <a:srgbClr val="000000"/>
              </a:solidFill>
              <a:latin typeface="Arial"/>
              <a:ea typeface="Arial"/>
              <a:cs typeface="Arial"/>
              <a:sym typeface="Arial"/>
            </a:endParaRPr>
          </a:p>
          <a:p>
            <a:pPr marL="457200" marR="0" lvl="0" indent="-329760" algn="just" rtl="0">
              <a:lnSpc>
                <a:spcPct val="115000"/>
              </a:lnSpc>
              <a:spcBef>
                <a:spcPts val="0"/>
              </a:spcBef>
              <a:spcAft>
                <a:spcPts val="0"/>
              </a:spcAft>
              <a:buClr>
                <a:srgbClr val="212529"/>
              </a:buClr>
              <a:buSzPts val="1600"/>
              <a:buFont typeface="Arial"/>
              <a:buChar char="●"/>
            </a:pPr>
            <a:r>
              <a:rPr lang="en-GB" sz="1600" b="1" strike="noStrike" dirty="0">
                <a:solidFill>
                  <a:srgbClr val="212529"/>
                </a:solidFill>
                <a:highlight>
                  <a:srgbClr val="FFFFFF"/>
                </a:highlight>
                <a:latin typeface="Arial"/>
                <a:ea typeface="Arial"/>
                <a:cs typeface="Arial"/>
                <a:sym typeface="Arial"/>
              </a:rPr>
              <a:t>Ex: A teacher, A farmer etc.</a:t>
            </a:r>
            <a:endParaRPr sz="1600" b="0" strike="noStrike" dirty="0">
              <a:solidFill>
                <a:srgbClr val="000000"/>
              </a:solidFill>
              <a:latin typeface="Arial"/>
              <a:ea typeface="Arial"/>
              <a:cs typeface="Arial"/>
              <a:sym typeface="Arial"/>
            </a:endParaRPr>
          </a:p>
          <a:p>
            <a:pPr marL="0" marR="0" lvl="0" indent="0" algn="l" rtl="0">
              <a:lnSpc>
                <a:spcPct val="115000"/>
              </a:lnSpc>
              <a:spcBef>
                <a:spcPts val="1199"/>
              </a:spcBef>
              <a:spcAft>
                <a:spcPts val="0"/>
              </a:spcAft>
              <a:buNone/>
            </a:pPr>
            <a:endParaRPr sz="1600" b="0" strike="noStrike" dirty="0">
              <a:solidFill>
                <a:srgbClr val="000000"/>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51"/>
        <p:cNvGrpSpPr/>
        <p:nvPr/>
      </p:nvGrpSpPr>
      <p:grpSpPr>
        <a:xfrm>
          <a:off x="0" y="0"/>
          <a:ext cx="0" cy="0"/>
          <a:chOff x="0" y="0"/>
          <a:chExt cx="0" cy="0"/>
        </a:xfrm>
      </p:grpSpPr>
      <p:sp>
        <p:nvSpPr>
          <p:cNvPr id="352" name="Google Shape;352;p25"/>
          <p:cNvSpPr txBox="1"/>
          <p:nvPr/>
        </p:nvSpPr>
        <p:spPr>
          <a:xfrm>
            <a:off x="311760" y="410040"/>
            <a:ext cx="8520120" cy="607320"/>
          </a:xfrm>
          <a:prstGeom prst="rect">
            <a:avLst/>
          </a:prstGeom>
          <a:noFill/>
          <a:ln>
            <a:noFill/>
          </a:ln>
        </p:spPr>
        <p:txBody>
          <a:bodyPr spcFirstLastPara="1" wrap="square" lIns="91425" tIns="91425" rIns="91425" bIns="91425" anchor="t" anchorCtr="0">
            <a:normAutofit fontScale="98500"/>
          </a:bodyPr>
          <a:lstStyle/>
          <a:p>
            <a:pPr marL="0" marR="0" lvl="0" indent="0" algn="l" rtl="0">
              <a:spcBef>
                <a:spcPts val="0"/>
              </a:spcBef>
              <a:spcAft>
                <a:spcPts val="0"/>
              </a:spcAft>
              <a:buNone/>
            </a:pPr>
            <a:endParaRPr sz="1400" b="0" strike="noStrike">
              <a:solidFill>
                <a:srgbClr val="000000"/>
              </a:solidFill>
              <a:latin typeface="Arial"/>
              <a:ea typeface="Arial"/>
              <a:cs typeface="Arial"/>
              <a:sym typeface="Arial"/>
            </a:endParaRPr>
          </a:p>
        </p:txBody>
      </p:sp>
      <p:sp>
        <p:nvSpPr>
          <p:cNvPr id="353" name="Google Shape;353;p25"/>
          <p:cNvSpPr txBox="1"/>
          <p:nvPr/>
        </p:nvSpPr>
        <p:spPr>
          <a:xfrm>
            <a:off x="311760" y="410040"/>
            <a:ext cx="8520120" cy="4158720"/>
          </a:xfrm>
          <a:prstGeom prst="rect">
            <a:avLst/>
          </a:prstGeom>
          <a:noFill/>
          <a:ln>
            <a:noFill/>
          </a:ln>
        </p:spPr>
        <p:txBody>
          <a:bodyPr spcFirstLastPara="1" wrap="square" lIns="91425" tIns="91425" rIns="91425" bIns="91425" anchor="t" anchorCtr="0">
            <a:normAutofit/>
          </a:bodyPr>
          <a:lstStyle/>
          <a:p>
            <a:pPr marL="0" marR="0" lvl="0" indent="0" algn="just" rtl="0">
              <a:lnSpc>
                <a:spcPct val="115000"/>
              </a:lnSpc>
              <a:spcBef>
                <a:spcPts val="0"/>
              </a:spcBef>
              <a:spcAft>
                <a:spcPts val="0"/>
              </a:spcAft>
              <a:buNone/>
            </a:pPr>
            <a:r>
              <a:rPr lang="en-GB" sz="2320" b="0" strike="noStrike" dirty="0">
                <a:solidFill>
                  <a:srgbClr val="9C254D"/>
                </a:solidFill>
                <a:latin typeface="Roboto"/>
                <a:ea typeface="Roboto"/>
                <a:cs typeface="Roboto"/>
                <a:sym typeface="Roboto"/>
              </a:rPr>
              <a:t>9. Experiment: </a:t>
            </a:r>
            <a:endParaRPr sz="2320" b="0" strike="noStrike" dirty="0">
              <a:solidFill>
                <a:srgbClr val="000000"/>
              </a:solidFill>
              <a:latin typeface="Arial"/>
              <a:ea typeface="Arial"/>
              <a:cs typeface="Arial"/>
              <a:sym typeface="Arial"/>
            </a:endParaRPr>
          </a:p>
          <a:p>
            <a:pPr marL="457200" marR="0" lvl="0" indent="-342720" algn="just" rtl="0">
              <a:lnSpc>
                <a:spcPct val="115000"/>
              </a:lnSpc>
              <a:spcBef>
                <a:spcPts val="1199"/>
              </a:spcBef>
              <a:spcAft>
                <a:spcPts val="0"/>
              </a:spcAft>
              <a:buClr>
                <a:srgbClr val="434343"/>
              </a:buClr>
              <a:buSzPts val="1800"/>
              <a:buFont typeface="Roboto"/>
              <a:buChar char="●"/>
            </a:pPr>
            <a:r>
              <a:rPr lang="en-GB" sz="1800" b="0" strike="noStrike" dirty="0">
                <a:solidFill>
                  <a:srgbClr val="434343"/>
                </a:solidFill>
                <a:latin typeface="Roboto"/>
                <a:ea typeface="Roboto"/>
                <a:cs typeface="Roboto"/>
                <a:sym typeface="Roboto"/>
              </a:rPr>
              <a:t>The </a:t>
            </a:r>
            <a:r>
              <a:rPr lang="en-GB" sz="1800" b="0" strike="noStrike" dirty="0">
                <a:solidFill>
                  <a:srgbClr val="9C254D"/>
                </a:solidFill>
                <a:latin typeface="Roboto"/>
                <a:ea typeface="Roboto"/>
                <a:cs typeface="Roboto"/>
                <a:sym typeface="Roboto"/>
              </a:rPr>
              <a:t>process of examining the truth of a statistical hypothesis, relating to some research problem, is known as an experiment.</a:t>
            </a:r>
            <a:r>
              <a:rPr lang="en-GB" sz="1800" b="0" strike="noStrike" dirty="0">
                <a:solidFill>
                  <a:srgbClr val="434343"/>
                </a:solidFill>
                <a:latin typeface="Roboto"/>
                <a:ea typeface="Roboto"/>
                <a:cs typeface="Roboto"/>
                <a:sym typeface="Roboto"/>
              </a:rPr>
              <a:t> </a:t>
            </a:r>
            <a:endParaRPr sz="1800" b="0" strike="noStrike" dirty="0">
              <a:solidFill>
                <a:srgbClr val="000000"/>
              </a:solidFill>
              <a:latin typeface="Arial"/>
              <a:ea typeface="Arial"/>
              <a:cs typeface="Arial"/>
              <a:sym typeface="Arial"/>
            </a:endParaRPr>
          </a:p>
          <a:p>
            <a:pPr marL="457200" marR="0" lvl="0" indent="-342720" algn="just" rtl="0">
              <a:lnSpc>
                <a:spcPct val="115000"/>
              </a:lnSpc>
              <a:spcBef>
                <a:spcPts val="0"/>
              </a:spcBef>
              <a:spcAft>
                <a:spcPts val="0"/>
              </a:spcAft>
              <a:buClr>
                <a:srgbClr val="434343"/>
              </a:buClr>
              <a:buSzPts val="1800"/>
              <a:buFont typeface="Roboto"/>
              <a:buChar char="●"/>
            </a:pPr>
            <a:r>
              <a:rPr lang="en-GB" sz="1800" b="0" strike="noStrike" dirty="0">
                <a:solidFill>
                  <a:srgbClr val="434343"/>
                </a:solidFill>
                <a:latin typeface="Roboto"/>
                <a:ea typeface="Roboto"/>
                <a:cs typeface="Roboto"/>
                <a:sym typeface="Roboto"/>
              </a:rPr>
              <a:t>For example, we can </a:t>
            </a:r>
            <a:r>
              <a:rPr lang="en-GB" sz="1800" b="0" strike="noStrike" dirty="0">
                <a:solidFill>
                  <a:srgbClr val="9C254D"/>
                </a:solidFill>
                <a:latin typeface="Roboto"/>
                <a:ea typeface="Roboto"/>
                <a:cs typeface="Roboto"/>
                <a:sym typeface="Roboto"/>
              </a:rPr>
              <a:t>conduct an experiment to examine the usefulness of a certain newly developed drug</a:t>
            </a:r>
            <a:r>
              <a:rPr lang="en-GB" sz="1800" b="0" strike="noStrike" dirty="0">
                <a:solidFill>
                  <a:srgbClr val="434343"/>
                </a:solidFill>
                <a:latin typeface="Roboto"/>
                <a:ea typeface="Roboto"/>
                <a:cs typeface="Roboto"/>
                <a:sym typeface="Roboto"/>
              </a:rPr>
              <a:t>. </a:t>
            </a:r>
            <a:endParaRPr sz="1800" b="0" strike="noStrike" dirty="0">
              <a:solidFill>
                <a:srgbClr val="000000"/>
              </a:solidFill>
              <a:latin typeface="Arial"/>
              <a:ea typeface="Arial"/>
              <a:cs typeface="Arial"/>
              <a:sym typeface="Arial"/>
            </a:endParaRPr>
          </a:p>
          <a:p>
            <a:pPr marL="457200" marR="0" lvl="0" indent="-342720" algn="just" rtl="0">
              <a:lnSpc>
                <a:spcPct val="115000"/>
              </a:lnSpc>
              <a:spcBef>
                <a:spcPts val="0"/>
              </a:spcBef>
              <a:spcAft>
                <a:spcPts val="0"/>
              </a:spcAft>
              <a:buClr>
                <a:srgbClr val="434343"/>
              </a:buClr>
              <a:buSzPts val="1800"/>
              <a:buFont typeface="Roboto"/>
              <a:buChar char="●"/>
            </a:pPr>
            <a:r>
              <a:rPr lang="en-GB" sz="1800" b="0" strike="noStrike" dirty="0">
                <a:solidFill>
                  <a:srgbClr val="434343"/>
                </a:solidFill>
                <a:latin typeface="Roboto"/>
                <a:ea typeface="Roboto"/>
                <a:cs typeface="Roboto"/>
                <a:sym typeface="Roboto"/>
              </a:rPr>
              <a:t>Experiments can be of two types viz., </a:t>
            </a:r>
            <a:r>
              <a:rPr lang="en-GB" sz="1800" b="0" strike="noStrike" dirty="0">
                <a:solidFill>
                  <a:srgbClr val="9C254D"/>
                </a:solidFill>
                <a:latin typeface="Roboto"/>
                <a:ea typeface="Roboto"/>
                <a:cs typeface="Roboto"/>
                <a:sym typeface="Roboto"/>
              </a:rPr>
              <a:t>absolute experiment and comparative experiment.</a:t>
            </a:r>
            <a:r>
              <a:rPr lang="en-GB" sz="1800" b="0" strike="noStrike" dirty="0">
                <a:solidFill>
                  <a:srgbClr val="434343"/>
                </a:solidFill>
                <a:latin typeface="Roboto"/>
                <a:ea typeface="Roboto"/>
                <a:cs typeface="Roboto"/>
                <a:sym typeface="Roboto"/>
              </a:rPr>
              <a:t> If we want to determine the impact of a fertilizer on the yield of a crop, it is a case of absolute experiment; but if we want to determine the impact of one fertilizer as compared to the impact of some other fertilizer, our experiment then will be termed as a comparative experiment. Often, we undertake comparative experiments when we talk of designs of experiments.</a:t>
            </a:r>
            <a:endParaRPr sz="1800" b="0" strike="noStrike" dirty="0">
              <a:solidFill>
                <a:srgbClr val="000000"/>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57"/>
        <p:cNvGrpSpPr/>
        <p:nvPr/>
      </p:nvGrpSpPr>
      <p:grpSpPr>
        <a:xfrm>
          <a:off x="0" y="0"/>
          <a:ext cx="0" cy="0"/>
          <a:chOff x="0" y="0"/>
          <a:chExt cx="0" cy="0"/>
        </a:xfrm>
      </p:grpSpPr>
      <p:sp>
        <p:nvSpPr>
          <p:cNvPr id="358" name="Google Shape;358;p26"/>
          <p:cNvSpPr txBox="1"/>
          <p:nvPr/>
        </p:nvSpPr>
        <p:spPr>
          <a:xfrm>
            <a:off x="311760" y="410040"/>
            <a:ext cx="8520120" cy="607320"/>
          </a:xfrm>
          <a:prstGeom prst="rect">
            <a:avLst/>
          </a:prstGeom>
          <a:noFill/>
          <a:ln>
            <a:noFill/>
          </a:ln>
        </p:spPr>
        <p:txBody>
          <a:bodyPr spcFirstLastPara="1" wrap="square" lIns="91425" tIns="91425" rIns="91425" bIns="91425" anchor="t" anchorCtr="0">
            <a:normAutofit fontScale="98500"/>
          </a:bodyPr>
          <a:lstStyle/>
          <a:p>
            <a:pPr marL="0" marR="0" lvl="0" indent="0" algn="l" rtl="0">
              <a:spcBef>
                <a:spcPts val="0"/>
              </a:spcBef>
              <a:spcAft>
                <a:spcPts val="0"/>
              </a:spcAft>
              <a:buNone/>
            </a:pPr>
            <a:endParaRPr sz="1400" b="0" strike="noStrike">
              <a:solidFill>
                <a:srgbClr val="000000"/>
              </a:solidFill>
              <a:latin typeface="Arial"/>
              <a:ea typeface="Arial"/>
              <a:cs typeface="Arial"/>
              <a:sym typeface="Arial"/>
            </a:endParaRPr>
          </a:p>
        </p:txBody>
      </p:sp>
      <p:sp>
        <p:nvSpPr>
          <p:cNvPr id="359" name="Google Shape;359;p26"/>
          <p:cNvSpPr txBox="1"/>
          <p:nvPr/>
        </p:nvSpPr>
        <p:spPr>
          <a:xfrm>
            <a:off x="311760" y="1229760"/>
            <a:ext cx="8520120" cy="3338640"/>
          </a:xfrm>
          <a:prstGeom prst="rect">
            <a:avLst/>
          </a:prstGeom>
          <a:noFill/>
          <a:ln>
            <a:noFill/>
          </a:ln>
        </p:spPr>
        <p:txBody>
          <a:bodyPr spcFirstLastPara="1" wrap="square" lIns="91425" tIns="91425" rIns="91425" bIns="91425" anchor="t" anchorCtr="0">
            <a:normAutofit/>
          </a:bodyPr>
          <a:lstStyle/>
          <a:p>
            <a:pPr marL="0" marR="0" lvl="0" indent="0" algn="just" rtl="0">
              <a:lnSpc>
                <a:spcPct val="115000"/>
              </a:lnSpc>
              <a:spcBef>
                <a:spcPts val="0"/>
              </a:spcBef>
              <a:spcAft>
                <a:spcPts val="0"/>
              </a:spcAft>
              <a:buNone/>
            </a:pPr>
            <a:r>
              <a:rPr lang="en-GB" sz="1800" b="0" strike="noStrike" dirty="0">
                <a:solidFill>
                  <a:srgbClr val="9C254D"/>
                </a:solidFill>
                <a:latin typeface="Roboto"/>
                <a:ea typeface="Roboto"/>
                <a:cs typeface="Roboto"/>
                <a:sym typeface="Roboto"/>
              </a:rPr>
              <a:t>10. Experimental unit(s): </a:t>
            </a:r>
            <a:endParaRPr sz="1800" b="0" strike="noStrike" dirty="0">
              <a:solidFill>
                <a:srgbClr val="000000"/>
              </a:solidFill>
              <a:latin typeface="Arial"/>
              <a:ea typeface="Arial"/>
              <a:cs typeface="Arial"/>
              <a:sym typeface="Arial"/>
            </a:endParaRPr>
          </a:p>
          <a:p>
            <a:pPr marL="457200" marR="0" lvl="0" indent="-342720" algn="just" rtl="0">
              <a:lnSpc>
                <a:spcPct val="115000"/>
              </a:lnSpc>
              <a:spcBef>
                <a:spcPts val="1199"/>
              </a:spcBef>
              <a:spcAft>
                <a:spcPts val="0"/>
              </a:spcAft>
              <a:buClr>
                <a:srgbClr val="434343"/>
              </a:buClr>
              <a:buSzPts val="1800"/>
              <a:buFont typeface="Roboto"/>
              <a:buChar char="●"/>
            </a:pPr>
            <a:r>
              <a:rPr lang="en-GB" sz="1800" b="0" strike="noStrike" dirty="0">
                <a:solidFill>
                  <a:srgbClr val="434343"/>
                </a:solidFill>
                <a:latin typeface="Roboto"/>
                <a:ea typeface="Roboto"/>
                <a:cs typeface="Roboto"/>
                <a:sym typeface="Roboto"/>
              </a:rPr>
              <a:t>The predetermined plots or the blocks, where different treatments are used, are known as experimental units. Such experimental units must be selected (defined) very carefully.</a:t>
            </a:r>
            <a:endParaRPr sz="1800" b="0" strike="noStrike" dirty="0">
              <a:solidFill>
                <a:srgbClr val="000000"/>
              </a:solidFill>
              <a:latin typeface="Arial"/>
              <a:ea typeface="Arial"/>
              <a:cs typeface="Arial"/>
              <a:sym typeface="Arial"/>
            </a:endParaRPr>
          </a:p>
          <a:p>
            <a:pPr marL="0" marR="0" lvl="0" indent="0" algn="l" rtl="0">
              <a:lnSpc>
                <a:spcPct val="115000"/>
              </a:lnSpc>
              <a:spcBef>
                <a:spcPts val="1199"/>
              </a:spcBef>
              <a:spcAft>
                <a:spcPts val="0"/>
              </a:spcAft>
              <a:buNone/>
            </a:pPr>
            <a:endParaRPr sz="1800" b="0" strike="noStrike" dirty="0">
              <a:solidFill>
                <a:srgbClr val="000000"/>
              </a:solidFill>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63"/>
        <p:cNvGrpSpPr/>
        <p:nvPr/>
      </p:nvGrpSpPr>
      <p:grpSpPr>
        <a:xfrm>
          <a:off x="0" y="0"/>
          <a:ext cx="0" cy="0"/>
          <a:chOff x="0" y="0"/>
          <a:chExt cx="0" cy="0"/>
        </a:xfrm>
      </p:grpSpPr>
      <p:sp>
        <p:nvSpPr>
          <p:cNvPr id="364" name="Google Shape;364;p27"/>
          <p:cNvSpPr txBox="1"/>
          <p:nvPr/>
        </p:nvSpPr>
        <p:spPr>
          <a:xfrm>
            <a:off x="311760" y="410040"/>
            <a:ext cx="8520120" cy="607320"/>
          </a:xfrm>
          <a:prstGeom prst="rect">
            <a:avLst/>
          </a:prstGeom>
          <a:noFill/>
          <a:ln>
            <a:noFill/>
          </a:ln>
        </p:spPr>
        <p:txBody>
          <a:bodyPr spcFirstLastPara="1" wrap="square" lIns="91425" tIns="91425" rIns="91425" bIns="91425" anchor="t" anchorCtr="0">
            <a:normAutofit fontScale="32000" lnSpcReduction="20000"/>
          </a:bodyPr>
          <a:lstStyle/>
          <a:p>
            <a:pPr marL="0" marR="0" lvl="0" indent="0" algn="l" rtl="0">
              <a:lnSpc>
                <a:spcPct val="100000"/>
              </a:lnSpc>
              <a:spcBef>
                <a:spcPts val="0"/>
              </a:spcBef>
              <a:spcAft>
                <a:spcPts val="0"/>
              </a:spcAft>
              <a:buNone/>
            </a:pPr>
            <a:r>
              <a:rPr lang="en-GB" sz="7500" b="0" strike="noStrike">
                <a:solidFill>
                  <a:srgbClr val="2A3990"/>
                </a:solidFill>
                <a:latin typeface="Roboto"/>
                <a:ea typeface="Roboto"/>
                <a:cs typeface="Roboto"/>
                <a:sym typeface="Roboto"/>
              </a:rPr>
              <a:t>SAMPLE DESIGN</a:t>
            </a:r>
            <a:br>
              <a:rPr lang="en-GB" sz="1800"/>
            </a:br>
            <a:endParaRPr sz="3000" b="0" strike="noStrike">
              <a:solidFill>
                <a:srgbClr val="000000"/>
              </a:solidFill>
              <a:latin typeface="Arial"/>
              <a:ea typeface="Arial"/>
              <a:cs typeface="Arial"/>
              <a:sym typeface="Arial"/>
            </a:endParaRPr>
          </a:p>
        </p:txBody>
      </p:sp>
      <p:sp>
        <p:nvSpPr>
          <p:cNvPr id="365" name="Google Shape;365;p27"/>
          <p:cNvSpPr txBox="1"/>
          <p:nvPr/>
        </p:nvSpPr>
        <p:spPr>
          <a:xfrm>
            <a:off x="311760" y="1229760"/>
            <a:ext cx="8520120" cy="3338640"/>
          </a:xfrm>
          <a:prstGeom prst="rect">
            <a:avLst/>
          </a:prstGeom>
          <a:noFill/>
          <a:ln>
            <a:noFill/>
          </a:ln>
        </p:spPr>
        <p:txBody>
          <a:bodyPr spcFirstLastPara="1" wrap="square" lIns="91425" tIns="91425" rIns="91425" bIns="91425" anchor="t" anchorCtr="0">
            <a:normAutofit/>
          </a:bodyPr>
          <a:lstStyle/>
          <a:p>
            <a:pPr marL="114480" marR="0" lvl="0" indent="0" algn="l" rtl="0">
              <a:lnSpc>
                <a:spcPct val="115000"/>
              </a:lnSpc>
              <a:spcBef>
                <a:spcPts val="0"/>
              </a:spcBef>
              <a:spcAft>
                <a:spcPts val="0"/>
              </a:spcAft>
              <a:buNone/>
            </a:pPr>
            <a:r>
              <a:rPr lang="en-GB" sz="1800" b="0" strike="noStrike">
                <a:solidFill>
                  <a:srgbClr val="D23369"/>
                </a:solidFill>
                <a:latin typeface="Arial"/>
                <a:ea typeface="Arial"/>
                <a:cs typeface="Arial"/>
                <a:sym typeface="Arial"/>
              </a:rPr>
              <a:t>CENSUS AND SAMPLE SURVEY</a:t>
            </a:r>
            <a:endParaRPr sz="1800" b="0" strike="noStrike">
              <a:solidFill>
                <a:srgbClr val="000000"/>
              </a:solidFill>
              <a:latin typeface="Arial"/>
              <a:ea typeface="Arial"/>
              <a:cs typeface="Arial"/>
              <a:sym typeface="Arial"/>
            </a:endParaRPr>
          </a:p>
          <a:p>
            <a:pPr marL="457200" marR="0" lvl="0" indent="-342720" algn="l" rtl="0">
              <a:lnSpc>
                <a:spcPct val="115000"/>
              </a:lnSpc>
              <a:spcBef>
                <a:spcPts val="0"/>
              </a:spcBef>
              <a:spcAft>
                <a:spcPts val="0"/>
              </a:spcAft>
              <a:buClr>
                <a:srgbClr val="434343"/>
              </a:buClr>
              <a:buSzPts val="1800"/>
              <a:buFont typeface="Roboto"/>
              <a:buChar char="●"/>
            </a:pPr>
            <a:r>
              <a:rPr lang="en-GB" sz="1800" b="0" strike="noStrike">
                <a:solidFill>
                  <a:srgbClr val="000000"/>
                </a:solidFill>
                <a:latin typeface="Times New Roman"/>
                <a:ea typeface="Times New Roman"/>
                <a:cs typeface="Times New Roman"/>
                <a:sym typeface="Times New Roman"/>
              </a:rPr>
              <a:t>All items in any field of inquiry constitute a ‘Universe’ or ‘Population.’ A complete enumeration of all items in the ‘population’ is known as a census inquiry.</a:t>
            </a:r>
            <a:endParaRPr sz="1800" b="0" strike="noStrike">
              <a:solidFill>
                <a:srgbClr val="000000"/>
              </a:solidFill>
              <a:latin typeface="Arial"/>
              <a:ea typeface="Arial"/>
              <a:cs typeface="Arial"/>
              <a:sym typeface="Arial"/>
            </a:endParaRPr>
          </a:p>
          <a:p>
            <a:pPr marL="457200" marR="0" lvl="0" indent="-342720" algn="l" rtl="0">
              <a:lnSpc>
                <a:spcPct val="115000"/>
              </a:lnSpc>
              <a:spcBef>
                <a:spcPts val="0"/>
              </a:spcBef>
              <a:spcAft>
                <a:spcPts val="0"/>
              </a:spcAft>
              <a:buClr>
                <a:srgbClr val="434343"/>
              </a:buClr>
              <a:buSzPts val="1800"/>
              <a:buFont typeface="Roboto"/>
              <a:buChar char="●"/>
            </a:pPr>
            <a:r>
              <a:rPr lang="en-GB" sz="1800" b="0" strike="noStrike">
                <a:solidFill>
                  <a:srgbClr val="434343"/>
                </a:solidFill>
                <a:latin typeface="Times New Roman"/>
                <a:ea typeface="Times New Roman"/>
                <a:cs typeface="Times New Roman"/>
                <a:sym typeface="Times New Roman"/>
              </a:rPr>
              <a:t>When field studies are undertaken in practical life, considerations of time and cost almost invariably lead to a selection of respondents i.e., selection of only a few items. </a:t>
            </a:r>
            <a:endParaRPr sz="1800" b="0" strike="noStrike">
              <a:solidFill>
                <a:srgbClr val="000000"/>
              </a:solidFill>
              <a:latin typeface="Arial"/>
              <a:ea typeface="Arial"/>
              <a:cs typeface="Arial"/>
              <a:sym typeface="Arial"/>
            </a:endParaRPr>
          </a:p>
          <a:p>
            <a:pPr marL="457200" marR="0" lvl="0" indent="-342720" algn="l" rtl="0">
              <a:lnSpc>
                <a:spcPct val="115000"/>
              </a:lnSpc>
              <a:spcBef>
                <a:spcPts val="0"/>
              </a:spcBef>
              <a:spcAft>
                <a:spcPts val="0"/>
              </a:spcAft>
              <a:buClr>
                <a:srgbClr val="434343"/>
              </a:buClr>
              <a:buSzPts val="1800"/>
              <a:buFont typeface="Roboto"/>
              <a:buChar char="●"/>
            </a:pPr>
            <a:r>
              <a:rPr lang="en-GB" sz="1800" b="0" strike="noStrike">
                <a:solidFill>
                  <a:srgbClr val="434343"/>
                </a:solidFill>
                <a:latin typeface="Times New Roman"/>
                <a:ea typeface="Times New Roman"/>
                <a:cs typeface="Times New Roman"/>
                <a:sym typeface="Times New Roman"/>
              </a:rPr>
              <a:t>The respondents selected should be as representative of the total population as possible in order to produce a miniature cross-section. </a:t>
            </a:r>
            <a:endParaRPr sz="1800" b="0" strike="noStrike">
              <a:solidFill>
                <a:srgbClr val="000000"/>
              </a:solidFill>
              <a:latin typeface="Arial"/>
              <a:ea typeface="Arial"/>
              <a:cs typeface="Arial"/>
              <a:sym typeface="Arial"/>
            </a:endParaRPr>
          </a:p>
          <a:p>
            <a:pPr marL="457200" marR="0" lvl="0" indent="-342720" algn="l" rtl="0">
              <a:lnSpc>
                <a:spcPct val="115000"/>
              </a:lnSpc>
              <a:spcBef>
                <a:spcPts val="0"/>
              </a:spcBef>
              <a:spcAft>
                <a:spcPts val="0"/>
              </a:spcAft>
              <a:buClr>
                <a:srgbClr val="434343"/>
              </a:buClr>
              <a:buSzPts val="1800"/>
              <a:buFont typeface="Roboto"/>
              <a:buChar char="●"/>
            </a:pPr>
            <a:r>
              <a:rPr lang="en-GB" sz="1800" b="0" strike="noStrike">
                <a:solidFill>
                  <a:srgbClr val="434343"/>
                </a:solidFill>
                <a:latin typeface="Times New Roman"/>
                <a:ea typeface="Times New Roman"/>
                <a:cs typeface="Times New Roman"/>
                <a:sym typeface="Times New Roman"/>
              </a:rPr>
              <a:t>The selected respondents constitute what is technically called a </a:t>
            </a:r>
            <a:r>
              <a:rPr lang="en-GB" sz="1800" b="0" strike="noStrike">
                <a:solidFill>
                  <a:srgbClr val="D23369"/>
                </a:solidFill>
                <a:latin typeface="Times New Roman"/>
                <a:ea typeface="Times New Roman"/>
                <a:cs typeface="Times New Roman"/>
                <a:sym typeface="Times New Roman"/>
              </a:rPr>
              <a:t>‘sample</a:t>
            </a:r>
            <a:r>
              <a:rPr lang="en-GB" sz="1800" b="0" strike="noStrike">
                <a:solidFill>
                  <a:srgbClr val="434343"/>
                </a:solidFill>
                <a:latin typeface="Times New Roman"/>
                <a:ea typeface="Times New Roman"/>
                <a:cs typeface="Times New Roman"/>
                <a:sym typeface="Times New Roman"/>
              </a:rPr>
              <a:t>’ and the selection process is called </a:t>
            </a:r>
            <a:r>
              <a:rPr lang="en-GB" sz="1800" b="0" strike="noStrike">
                <a:solidFill>
                  <a:srgbClr val="D23369"/>
                </a:solidFill>
                <a:latin typeface="Times New Roman"/>
                <a:ea typeface="Times New Roman"/>
                <a:cs typeface="Times New Roman"/>
                <a:sym typeface="Times New Roman"/>
              </a:rPr>
              <a:t>‘sampling technique</a:t>
            </a:r>
            <a:r>
              <a:rPr lang="en-GB" sz="1800" b="0" strike="noStrike">
                <a:solidFill>
                  <a:srgbClr val="434343"/>
                </a:solidFill>
                <a:latin typeface="Times New Roman"/>
                <a:ea typeface="Times New Roman"/>
                <a:cs typeface="Times New Roman"/>
                <a:sym typeface="Times New Roman"/>
              </a:rPr>
              <a:t>.’ The survey so conducted is known as </a:t>
            </a:r>
            <a:r>
              <a:rPr lang="en-GB" sz="1800" b="0" strike="noStrike">
                <a:solidFill>
                  <a:srgbClr val="D23369"/>
                </a:solidFill>
                <a:latin typeface="Times New Roman"/>
                <a:ea typeface="Times New Roman"/>
                <a:cs typeface="Times New Roman"/>
                <a:sym typeface="Times New Roman"/>
              </a:rPr>
              <a:t>‘sample survey’.</a:t>
            </a:r>
            <a:endParaRPr sz="1800" b="0" strike="noStrike">
              <a:solidFill>
                <a:srgbClr val="000000"/>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69"/>
        <p:cNvGrpSpPr/>
        <p:nvPr/>
      </p:nvGrpSpPr>
      <p:grpSpPr>
        <a:xfrm>
          <a:off x="0" y="0"/>
          <a:ext cx="0" cy="0"/>
          <a:chOff x="0" y="0"/>
          <a:chExt cx="0" cy="0"/>
        </a:xfrm>
      </p:grpSpPr>
      <p:sp>
        <p:nvSpPr>
          <p:cNvPr id="370" name="Google Shape;370;g1e8a5d14dff_0_12"/>
          <p:cNvSpPr txBox="1">
            <a:spLocks noGrp="1"/>
          </p:cNvSpPr>
          <p:nvPr>
            <p:ph type="title"/>
          </p:nvPr>
        </p:nvSpPr>
        <p:spPr>
          <a:xfrm>
            <a:off x="311760" y="410040"/>
            <a:ext cx="8520000" cy="6072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71" name="Google Shape;371;g1e8a5d14dff_0_12"/>
          <p:cNvSpPr txBox="1">
            <a:spLocks noGrp="1"/>
          </p:cNvSpPr>
          <p:nvPr>
            <p:ph type="body" idx="1"/>
          </p:nvPr>
        </p:nvSpPr>
        <p:spPr>
          <a:xfrm>
            <a:off x="311760" y="1229760"/>
            <a:ext cx="8520000" cy="3338700"/>
          </a:xfrm>
          <a:prstGeom prst="rect">
            <a:avLst/>
          </a:prstGeom>
        </p:spPr>
        <p:txBody>
          <a:bodyPr spcFirstLastPara="1" wrap="square" lIns="0" tIns="0" rIns="0" bIns="0" anchor="t" anchorCtr="0">
            <a:normAutofit/>
          </a:bodyPr>
          <a:lstStyle/>
          <a:p>
            <a:pPr marL="0" lvl="0" indent="0" algn="l" rtl="0">
              <a:spcBef>
                <a:spcPts val="0"/>
              </a:spcBef>
              <a:spcAft>
                <a:spcPts val="0"/>
              </a:spcAft>
              <a:buNone/>
            </a:pPr>
            <a:endParaRPr/>
          </a:p>
        </p:txBody>
      </p:sp>
      <p:pic>
        <p:nvPicPr>
          <p:cNvPr id="372" name="Google Shape;372;g1e8a5d14dff_0_12"/>
          <p:cNvPicPr preferRelativeResize="0"/>
          <p:nvPr/>
        </p:nvPicPr>
        <p:blipFill>
          <a:blip r:embed="rId3">
            <a:alphaModFix/>
          </a:blip>
          <a:stretch>
            <a:fillRect/>
          </a:stretch>
        </p:blipFill>
        <p:spPr>
          <a:xfrm>
            <a:off x="311750" y="410050"/>
            <a:ext cx="8520001" cy="397145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76"/>
        <p:cNvGrpSpPr/>
        <p:nvPr/>
      </p:nvGrpSpPr>
      <p:grpSpPr>
        <a:xfrm>
          <a:off x="0" y="0"/>
          <a:ext cx="0" cy="0"/>
          <a:chOff x="0" y="0"/>
          <a:chExt cx="0" cy="0"/>
        </a:xfrm>
      </p:grpSpPr>
      <p:sp>
        <p:nvSpPr>
          <p:cNvPr id="377" name="Google Shape;377;p28"/>
          <p:cNvSpPr txBox="1"/>
          <p:nvPr/>
        </p:nvSpPr>
        <p:spPr>
          <a:xfrm>
            <a:off x="311760" y="410040"/>
            <a:ext cx="8520120" cy="607320"/>
          </a:xfrm>
          <a:prstGeom prst="rect">
            <a:avLst/>
          </a:prstGeom>
          <a:noFill/>
          <a:ln>
            <a:noFill/>
          </a:ln>
        </p:spPr>
        <p:txBody>
          <a:bodyPr spcFirstLastPara="1" wrap="square" lIns="91425" tIns="91425" rIns="91425" bIns="91425" anchor="t" anchorCtr="0">
            <a:normAutofit fontScale="98500" lnSpcReduction="10000"/>
          </a:bodyPr>
          <a:lstStyle/>
          <a:p>
            <a:pPr marL="0" marR="0" lvl="0" indent="0" algn="l" rtl="0">
              <a:lnSpc>
                <a:spcPct val="100000"/>
              </a:lnSpc>
              <a:spcBef>
                <a:spcPts val="0"/>
              </a:spcBef>
              <a:spcAft>
                <a:spcPts val="0"/>
              </a:spcAft>
              <a:buNone/>
            </a:pPr>
            <a:r>
              <a:rPr lang="en-GB" sz="3000" b="0" strike="noStrike">
                <a:solidFill>
                  <a:srgbClr val="2A3990"/>
                </a:solidFill>
                <a:latin typeface="Roboto"/>
                <a:ea typeface="Roboto"/>
                <a:cs typeface="Roboto"/>
                <a:sym typeface="Roboto"/>
              </a:rPr>
              <a:t>SAMPLE DESIGN</a:t>
            </a:r>
            <a:endParaRPr sz="3000" b="0" strike="noStrike">
              <a:solidFill>
                <a:srgbClr val="000000"/>
              </a:solidFill>
              <a:latin typeface="Arial"/>
              <a:ea typeface="Arial"/>
              <a:cs typeface="Arial"/>
              <a:sym typeface="Arial"/>
            </a:endParaRPr>
          </a:p>
        </p:txBody>
      </p:sp>
      <p:sp>
        <p:nvSpPr>
          <p:cNvPr id="378" name="Google Shape;378;p28"/>
          <p:cNvSpPr txBox="1"/>
          <p:nvPr/>
        </p:nvSpPr>
        <p:spPr>
          <a:xfrm>
            <a:off x="311760" y="1229760"/>
            <a:ext cx="8520120" cy="3338640"/>
          </a:xfrm>
          <a:prstGeom prst="rect">
            <a:avLst/>
          </a:prstGeom>
          <a:noFill/>
          <a:ln>
            <a:noFill/>
          </a:ln>
        </p:spPr>
        <p:txBody>
          <a:bodyPr spcFirstLastPara="1" wrap="square" lIns="91425" tIns="91425" rIns="91425" bIns="91425" anchor="t" anchorCtr="0">
            <a:normAutofit/>
          </a:bodyPr>
          <a:lstStyle/>
          <a:p>
            <a:pPr marL="457200" marR="0" lvl="0" indent="-342720" algn="just" rtl="0">
              <a:lnSpc>
                <a:spcPct val="115000"/>
              </a:lnSpc>
              <a:spcBef>
                <a:spcPts val="0"/>
              </a:spcBef>
              <a:spcAft>
                <a:spcPts val="0"/>
              </a:spcAft>
              <a:buClr>
                <a:srgbClr val="434343"/>
              </a:buClr>
              <a:buSzPts val="2400"/>
              <a:buFont typeface="Roboto"/>
              <a:buChar char="●"/>
            </a:pPr>
            <a:r>
              <a:rPr lang="en-GB" sz="2400" b="0" strike="noStrike">
                <a:solidFill>
                  <a:srgbClr val="434343"/>
                </a:solidFill>
                <a:latin typeface="Times New Roman"/>
                <a:ea typeface="Times New Roman"/>
                <a:cs typeface="Times New Roman"/>
                <a:sym typeface="Times New Roman"/>
              </a:rPr>
              <a:t>A sample design is a definite plan for obtaining a sample from a given population. </a:t>
            </a:r>
            <a:endParaRPr sz="2400" b="0" strike="noStrike">
              <a:solidFill>
                <a:srgbClr val="000000"/>
              </a:solidFill>
              <a:latin typeface="Arial"/>
              <a:ea typeface="Arial"/>
              <a:cs typeface="Arial"/>
              <a:sym typeface="Arial"/>
            </a:endParaRPr>
          </a:p>
          <a:p>
            <a:pPr marL="457200" marR="0" lvl="0" indent="-342720" algn="just" rtl="0">
              <a:lnSpc>
                <a:spcPct val="115000"/>
              </a:lnSpc>
              <a:spcBef>
                <a:spcPts val="0"/>
              </a:spcBef>
              <a:spcAft>
                <a:spcPts val="0"/>
              </a:spcAft>
              <a:buClr>
                <a:srgbClr val="434343"/>
              </a:buClr>
              <a:buSzPts val="2400"/>
              <a:buFont typeface="Roboto"/>
              <a:buChar char="●"/>
            </a:pPr>
            <a:r>
              <a:rPr lang="en-GB" sz="2400" b="0" strike="noStrike">
                <a:solidFill>
                  <a:srgbClr val="434343"/>
                </a:solidFill>
                <a:latin typeface="Times New Roman"/>
                <a:ea typeface="Times New Roman"/>
                <a:cs typeface="Times New Roman"/>
                <a:sym typeface="Times New Roman"/>
              </a:rPr>
              <a:t>It refers to the technique or the procedure the researcher would adopt in selecting items for the sample. </a:t>
            </a:r>
            <a:endParaRPr sz="2400" b="0" strike="noStrike">
              <a:solidFill>
                <a:srgbClr val="000000"/>
              </a:solidFill>
              <a:latin typeface="Arial"/>
              <a:ea typeface="Arial"/>
              <a:cs typeface="Arial"/>
              <a:sym typeface="Arial"/>
            </a:endParaRPr>
          </a:p>
          <a:p>
            <a:pPr marL="114480" marR="0" lvl="0" indent="0" algn="just" rtl="0">
              <a:lnSpc>
                <a:spcPct val="115000"/>
              </a:lnSpc>
              <a:spcBef>
                <a:spcPts val="0"/>
              </a:spcBef>
              <a:spcAft>
                <a:spcPts val="0"/>
              </a:spcAft>
              <a:buNone/>
            </a:pPr>
            <a:endParaRPr sz="2400" b="0" strike="noStrike">
              <a:solidFill>
                <a:srgbClr val="000000"/>
              </a:solidFill>
              <a:latin typeface="Arial"/>
              <a:ea typeface="Arial"/>
              <a:cs typeface="Arial"/>
              <a:sym typeface="Arial"/>
            </a:endParaRPr>
          </a:p>
          <a:p>
            <a:pPr marL="457200" marR="0" lvl="0" indent="-342720" algn="just" rtl="0">
              <a:lnSpc>
                <a:spcPct val="115000"/>
              </a:lnSpc>
              <a:spcBef>
                <a:spcPts val="0"/>
              </a:spcBef>
              <a:spcAft>
                <a:spcPts val="0"/>
              </a:spcAft>
              <a:buClr>
                <a:srgbClr val="434343"/>
              </a:buClr>
              <a:buSzPts val="2400"/>
              <a:buFont typeface="Roboto"/>
              <a:buChar char="●"/>
            </a:pPr>
            <a:r>
              <a:rPr lang="en-GB" sz="2400" b="0" strike="noStrike">
                <a:solidFill>
                  <a:srgbClr val="434343"/>
                </a:solidFill>
                <a:latin typeface="Times New Roman"/>
                <a:ea typeface="Times New Roman"/>
                <a:cs typeface="Times New Roman"/>
                <a:sym typeface="Times New Roman"/>
              </a:rPr>
              <a:t>Sample design is determined before data are collected.</a:t>
            </a:r>
            <a:endParaRPr sz="2400" b="0" strike="noStrike">
              <a:solidFill>
                <a:srgbClr val="000000"/>
              </a:solidFill>
              <a:latin typeface="Arial"/>
              <a:ea typeface="Arial"/>
              <a:cs typeface="Arial"/>
              <a:sym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82"/>
        <p:cNvGrpSpPr/>
        <p:nvPr/>
      </p:nvGrpSpPr>
      <p:grpSpPr>
        <a:xfrm>
          <a:off x="0" y="0"/>
          <a:ext cx="0" cy="0"/>
          <a:chOff x="0" y="0"/>
          <a:chExt cx="0" cy="0"/>
        </a:xfrm>
      </p:grpSpPr>
      <p:sp>
        <p:nvSpPr>
          <p:cNvPr id="383" name="Google Shape;383;p29"/>
          <p:cNvSpPr txBox="1"/>
          <p:nvPr/>
        </p:nvSpPr>
        <p:spPr>
          <a:xfrm>
            <a:off x="311760" y="410040"/>
            <a:ext cx="8520120" cy="607320"/>
          </a:xfrm>
          <a:prstGeom prst="rect">
            <a:avLst/>
          </a:prstGeom>
          <a:noFill/>
          <a:ln>
            <a:noFill/>
          </a:ln>
        </p:spPr>
        <p:txBody>
          <a:bodyPr spcFirstLastPara="1" wrap="square" lIns="91425" tIns="91425" rIns="91425" bIns="91425" anchor="t" anchorCtr="0">
            <a:normAutofit fontScale="98500" lnSpcReduction="10000"/>
          </a:bodyPr>
          <a:lstStyle/>
          <a:p>
            <a:pPr marL="0" marR="0" lvl="0" indent="0" algn="l" rtl="0">
              <a:lnSpc>
                <a:spcPct val="100000"/>
              </a:lnSpc>
              <a:spcBef>
                <a:spcPts val="0"/>
              </a:spcBef>
              <a:spcAft>
                <a:spcPts val="0"/>
              </a:spcAft>
              <a:buNone/>
            </a:pPr>
            <a:r>
              <a:rPr lang="en-GB" sz="3000" b="0" strike="noStrike">
                <a:solidFill>
                  <a:srgbClr val="2A3990"/>
                </a:solidFill>
                <a:latin typeface="Roboto"/>
                <a:ea typeface="Roboto"/>
                <a:cs typeface="Roboto"/>
                <a:sym typeface="Roboto"/>
              </a:rPr>
              <a:t>STEPS IN SAMPLE DESIGN</a:t>
            </a:r>
            <a:endParaRPr sz="3000" b="0" strike="noStrike">
              <a:solidFill>
                <a:srgbClr val="000000"/>
              </a:solidFill>
              <a:latin typeface="Arial"/>
              <a:ea typeface="Arial"/>
              <a:cs typeface="Arial"/>
              <a:sym typeface="Arial"/>
            </a:endParaRPr>
          </a:p>
        </p:txBody>
      </p:sp>
      <p:sp>
        <p:nvSpPr>
          <p:cNvPr id="384" name="Google Shape;384;p29"/>
          <p:cNvSpPr txBox="1"/>
          <p:nvPr/>
        </p:nvSpPr>
        <p:spPr>
          <a:xfrm>
            <a:off x="311760" y="1229760"/>
            <a:ext cx="8520120" cy="3338640"/>
          </a:xfrm>
          <a:prstGeom prst="rect">
            <a:avLst/>
          </a:prstGeom>
          <a:noFill/>
          <a:ln>
            <a:noFill/>
          </a:ln>
        </p:spPr>
        <p:txBody>
          <a:bodyPr spcFirstLastPara="1" wrap="square" lIns="91425" tIns="91425" rIns="91425" bIns="91425" anchor="t" anchorCtr="0">
            <a:normAutofit/>
          </a:bodyPr>
          <a:lstStyle/>
          <a:p>
            <a:pPr marL="343080" marR="0" lvl="0" indent="-342720" algn="l" rtl="0">
              <a:lnSpc>
                <a:spcPct val="115000"/>
              </a:lnSpc>
              <a:spcBef>
                <a:spcPts val="0"/>
              </a:spcBef>
              <a:spcAft>
                <a:spcPts val="0"/>
              </a:spcAft>
              <a:buClr>
                <a:srgbClr val="434343"/>
              </a:buClr>
              <a:buSzPts val="1800"/>
              <a:buFont typeface="Roboto"/>
              <a:buAutoNum type="arabicPeriod"/>
            </a:pPr>
            <a:r>
              <a:rPr lang="en-GB" sz="1800" b="0" strike="noStrike" dirty="0">
                <a:solidFill>
                  <a:srgbClr val="D23369"/>
                </a:solidFill>
                <a:latin typeface="Roboto"/>
                <a:ea typeface="Roboto"/>
                <a:cs typeface="Roboto"/>
                <a:sym typeface="Roboto"/>
              </a:rPr>
              <a:t>Objective:</a:t>
            </a:r>
            <a:endParaRPr sz="1800" b="0" strike="noStrike" dirty="0">
              <a:solidFill>
                <a:srgbClr val="000000"/>
              </a:solidFill>
              <a:latin typeface="Arial"/>
              <a:ea typeface="Arial"/>
              <a:cs typeface="Arial"/>
              <a:sym typeface="Arial"/>
            </a:endParaRPr>
          </a:p>
          <a:p>
            <a:pPr marL="285840" marR="0" lvl="0" indent="-285480" algn="just" rtl="0">
              <a:lnSpc>
                <a:spcPct val="115000"/>
              </a:lnSpc>
              <a:spcBef>
                <a:spcPts val="1199"/>
              </a:spcBef>
              <a:spcAft>
                <a:spcPts val="0"/>
              </a:spcAft>
              <a:buClr>
                <a:srgbClr val="434343"/>
              </a:buClr>
              <a:buSzPts val="1800"/>
              <a:buFont typeface="Roboto"/>
              <a:buChar char="●"/>
            </a:pPr>
            <a:r>
              <a:rPr lang="en-GB" sz="1800" b="0" strike="noStrike" dirty="0">
                <a:solidFill>
                  <a:srgbClr val="434343"/>
                </a:solidFill>
                <a:latin typeface="Roboto"/>
                <a:ea typeface="Roboto"/>
                <a:cs typeface="Roboto"/>
                <a:sym typeface="Roboto"/>
              </a:rPr>
              <a:t>This is the first step in sampling design where-in the objectives of survey should be clear.</a:t>
            </a:r>
            <a:endParaRPr sz="1800" b="0" strike="noStrike" dirty="0">
              <a:solidFill>
                <a:srgbClr val="000000"/>
              </a:solidFill>
              <a:latin typeface="Arial"/>
              <a:ea typeface="Arial"/>
              <a:cs typeface="Arial"/>
              <a:sym typeface="Arial"/>
            </a:endParaRPr>
          </a:p>
          <a:p>
            <a:pPr marL="285840" marR="0" lvl="0" indent="-285480" algn="just" rtl="0">
              <a:lnSpc>
                <a:spcPct val="115000"/>
              </a:lnSpc>
              <a:spcBef>
                <a:spcPts val="1199"/>
              </a:spcBef>
              <a:spcAft>
                <a:spcPts val="0"/>
              </a:spcAft>
              <a:buClr>
                <a:srgbClr val="434343"/>
              </a:buClr>
              <a:buSzPts val="1800"/>
              <a:buFont typeface="Roboto"/>
              <a:buChar char="●"/>
            </a:pPr>
            <a:r>
              <a:rPr lang="en-GB" sz="1800" b="0" strike="noStrike" dirty="0">
                <a:solidFill>
                  <a:srgbClr val="434343"/>
                </a:solidFill>
                <a:latin typeface="Roboto"/>
                <a:ea typeface="Roboto"/>
                <a:cs typeface="Roboto"/>
                <a:sym typeface="Roboto"/>
              </a:rPr>
              <a:t>The researchers of the survey should confirm that the objectives are in accordance with respect to money, manpower and time limitations available for survey.</a:t>
            </a:r>
            <a:endParaRPr sz="1800" b="0" strike="noStrike" dirty="0">
              <a:solidFill>
                <a:srgbClr val="000000"/>
              </a:solidFill>
              <a:latin typeface="Arial"/>
              <a:ea typeface="Arial"/>
              <a:cs typeface="Arial"/>
              <a:sym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88"/>
        <p:cNvGrpSpPr/>
        <p:nvPr/>
      </p:nvGrpSpPr>
      <p:grpSpPr>
        <a:xfrm>
          <a:off x="0" y="0"/>
          <a:ext cx="0" cy="0"/>
          <a:chOff x="0" y="0"/>
          <a:chExt cx="0" cy="0"/>
        </a:xfrm>
      </p:grpSpPr>
      <p:sp>
        <p:nvSpPr>
          <p:cNvPr id="389" name="Google Shape;389;p30"/>
          <p:cNvSpPr txBox="1"/>
          <p:nvPr/>
        </p:nvSpPr>
        <p:spPr>
          <a:xfrm>
            <a:off x="311760" y="410040"/>
            <a:ext cx="8520120" cy="607320"/>
          </a:xfrm>
          <a:prstGeom prst="rect">
            <a:avLst/>
          </a:prstGeom>
          <a:noFill/>
          <a:ln>
            <a:noFill/>
          </a:ln>
        </p:spPr>
        <p:txBody>
          <a:bodyPr spcFirstLastPara="1" wrap="square" lIns="91425" tIns="91425" rIns="91425" bIns="91425" anchor="t" anchorCtr="0">
            <a:normAutofit fontScale="98500" lnSpcReduction="10000"/>
          </a:bodyPr>
          <a:lstStyle/>
          <a:p>
            <a:pPr marL="0" marR="0" lvl="0" indent="0" algn="l" rtl="0">
              <a:lnSpc>
                <a:spcPct val="100000"/>
              </a:lnSpc>
              <a:spcBef>
                <a:spcPts val="0"/>
              </a:spcBef>
              <a:spcAft>
                <a:spcPts val="0"/>
              </a:spcAft>
              <a:buNone/>
            </a:pPr>
            <a:r>
              <a:rPr lang="en-GB" sz="3000" b="0" strike="noStrike">
                <a:solidFill>
                  <a:srgbClr val="2A3990"/>
                </a:solidFill>
                <a:latin typeface="Roboto"/>
                <a:ea typeface="Roboto"/>
                <a:cs typeface="Roboto"/>
                <a:sym typeface="Roboto"/>
              </a:rPr>
              <a:t>STEPS IN SAMPLE DESIGN</a:t>
            </a:r>
            <a:endParaRPr sz="3000" b="0" strike="noStrike">
              <a:solidFill>
                <a:srgbClr val="000000"/>
              </a:solidFill>
              <a:latin typeface="Arial"/>
              <a:ea typeface="Arial"/>
              <a:cs typeface="Arial"/>
              <a:sym typeface="Arial"/>
            </a:endParaRPr>
          </a:p>
        </p:txBody>
      </p:sp>
      <p:sp>
        <p:nvSpPr>
          <p:cNvPr id="390" name="Google Shape;390;p30"/>
          <p:cNvSpPr txBox="1"/>
          <p:nvPr/>
        </p:nvSpPr>
        <p:spPr>
          <a:xfrm>
            <a:off x="311760" y="1265760"/>
            <a:ext cx="8520120" cy="3338640"/>
          </a:xfrm>
          <a:prstGeom prst="rect">
            <a:avLst/>
          </a:prstGeom>
          <a:noFill/>
          <a:ln>
            <a:noFill/>
          </a:ln>
        </p:spPr>
        <p:txBody>
          <a:bodyPr spcFirstLastPara="1" wrap="square" lIns="91425" tIns="91425" rIns="91425" bIns="91425" anchor="t" anchorCtr="0">
            <a:noAutofit/>
          </a:bodyPr>
          <a:lstStyle/>
          <a:p>
            <a:pPr marL="114480" marR="0" lvl="0" indent="0" algn="l" rtl="0">
              <a:lnSpc>
                <a:spcPct val="115000"/>
              </a:lnSpc>
              <a:spcBef>
                <a:spcPts val="0"/>
              </a:spcBef>
              <a:spcAft>
                <a:spcPts val="0"/>
              </a:spcAft>
              <a:buNone/>
            </a:pPr>
            <a:r>
              <a:rPr lang="en-GB" sz="1800" b="0" strike="noStrike" dirty="0">
                <a:solidFill>
                  <a:srgbClr val="D23369"/>
                </a:solidFill>
                <a:latin typeface="Roboto"/>
                <a:ea typeface="Roboto"/>
                <a:cs typeface="Roboto"/>
                <a:sym typeface="Roboto"/>
              </a:rPr>
              <a:t>2. Population:</a:t>
            </a:r>
            <a:endParaRPr sz="1800" b="0" strike="noStrike" dirty="0">
              <a:solidFill>
                <a:srgbClr val="000000"/>
              </a:solidFill>
              <a:latin typeface="Arial"/>
              <a:ea typeface="Arial"/>
              <a:cs typeface="Arial"/>
              <a:sym typeface="Arial"/>
            </a:endParaRPr>
          </a:p>
          <a:p>
            <a:pPr marL="457200" marR="0" lvl="0" indent="-342720" algn="just" rtl="0">
              <a:lnSpc>
                <a:spcPct val="115000"/>
              </a:lnSpc>
              <a:spcBef>
                <a:spcPts val="0"/>
              </a:spcBef>
              <a:spcAft>
                <a:spcPts val="0"/>
              </a:spcAft>
              <a:buClr>
                <a:srgbClr val="434343"/>
              </a:buClr>
              <a:buSzPts val="1800"/>
              <a:buFont typeface="Roboto"/>
              <a:buChar char="●"/>
            </a:pPr>
            <a:r>
              <a:rPr lang="en-GB" sz="1800" b="0" strike="noStrike" dirty="0">
                <a:solidFill>
                  <a:srgbClr val="434343"/>
                </a:solidFill>
                <a:latin typeface="Roboto"/>
                <a:ea typeface="Roboto"/>
                <a:cs typeface="Roboto"/>
                <a:sym typeface="Roboto"/>
              </a:rPr>
              <a:t>In order to meet the objectives of the study, what should be the population?</a:t>
            </a:r>
            <a:endParaRPr sz="1800" b="0" strike="noStrike" dirty="0">
              <a:solidFill>
                <a:srgbClr val="000000"/>
              </a:solidFill>
              <a:latin typeface="Arial"/>
              <a:ea typeface="Arial"/>
              <a:cs typeface="Arial"/>
              <a:sym typeface="Arial"/>
            </a:endParaRPr>
          </a:p>
          <a:p>
            <a:pPr marL="0" marR="0" lvl="0" indent="0" algn="just" rtl="0">
              <a:lnSpc>
                <a:spcPct val="115000"/>
              </a:lnSpc>
              <a:spcBef>
                <a:spcPts val="0"/>
              </a:spcBef>
              <a:spcAft>
                <a:spcPts val="0"/>
              </a:spcAft>
              <a:buNone/>
            </a:pPr>
            <a:endParaRPr sz="1800" b="0" strike="noStrike" dirty="0">
              <a:solidFill>
                <a:srgbClr val="000000"/>
              </a:solidFill>
              <a:latin typeface="Arial"/>
              <a:ea typeface="Arial"/>
              <a:cs typeface="Arial"/>
              <a:sym typeface="Arial"/>
            </a:endParaRPr>
          </a:p>
          <a:p>
            <a:pPr marL="457200" marR="0" lvl="0" indent="-342720" algn="just" rtl="0">
              <a:lnSpc>
                <a:spcPct val="115000"/>
              </a:lnSpc>
              <a:spcBef>
                <a:spcPts val="0"/>
              </a:spcBef>
              <a:spcAft>
                <a:spcPts val="0"/>
              </a:spcAft>
              <a:buClr>
                <a:srgbClr val="434343"/>
              </a:buClr>
              <a:buSzPts val="1800"/>
              <a:buFont typeface="Roboto"/>
              <a:buChar char="●"/>
            </a:pPr>
            <a:r>
              <a:rPr lang="en-GB" sz="1800" b="0" strike="noStrike" dirty="0">
                <a:solidFill>
                  <a:srgbClr val="434343"/>
                </a:solidFill>
                <a:latin typeface="Roboto"/>
                <a:ea typeface="Roboto"/>
                <a:cs typeface="Roboto"/>
                <a:sym typeface="Roboto"/>
              </a:rPr>
              <a:t>This question should be answered in the second step. The population should be clearly defined.</a:t>
            </a:r>
            <a:endParaRPr sz="1800" b="0" strike="noStrike" dirty="0">
              <a:solidFill>
                <a:srgbClr val="000000"/>
              </a:solidFill>
              <a:latin typeface="Arial"/>
              <a:ea typeface="Arial"/>
              <a:cs typeface="Arial"/>
              <a:sym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94"/>
        <p:cNvGrpSpPr/>
        <p:nvPr/>
      </p:nvGrpSpPr>
      <p:grpSpPr>
        <a:xfrm>
          <a:off x="0" y="0"/>
          <a:ext cx="0" cy="0"/>
          <a:chOff x="0" y="0"/>
          <a:chExt cx="0" cy="0"/>
        </a:xfrm>
      </p:grpSpPr>
      <p:sp>
        <p:nvSpPr>
          <p:cNvPr id="395" name="Google Shape;395;p31"/>
          <p:cNvSpPr txBox="1"/>
          <p:nvPr/>
        </p:nvSpPr>
        <p:spPr>
          <a:xfrm>
            <a:off x="311760" y="410040"/>
            <a:ext cx="8520120" cy="607320"/>
          </a:xfrm>
          <a:prstGeom prst="rect">
            <a:avLst/>
          </a:prstGeom>
          <a:noFill/>
          <a:ln>
            <a:noFill/>
          </a:ln>
        </p:spPr>
        <p:txBody>
          <a:bodyPr spcFirstLastPara="1" wrap="square" lIns="91425" tIns="91425" rIns="91425" bIns="91425" anchor="t" anchorCtr="0">
            <a:normAutofit fontScale="98500" lnSpcReduction="10000"/>
          </a:bodyPr>
          <a:lstStyle/>
          <a:p>
            <a:pPr marL="0" marR="0" lvl="0" indent="0" algn="l" rtl="0">
              <a:lnSpc>
                <a:spcPct val="100000"/>
              </a:lnSpc>
              <a:spcBef>
                <a:spcPts val="0"/>
              </a:spcBef>
              <a:spcAft>
                <a:spcPts val="0"/>
              </a:spcAft>
              <a:buNone/>
            </a:pPr>
            <a:r>
              <a:rPr lang="en-GB" sz="3000" b="0" strike="noStrike">
                <a:solidFill>
                  <a:srgbClr val="2A3990"/>
                </a:solidFill>
                <a:latin typeface="Roboto"/>
                <a:ea typeface="Roboto"/>
                <a:cs typeface="Roboto"/>
                <a:sym typeface="Roboto"/>
              </a:rPr>
              <a:t>STEPS IN SAMPLE DESIGN</a:t>
            </a:r>
            <a:endParaRPr sz="3000" b="0" strike="noStrike">
              <a:solidFill>
                <a:srgbClr val="000000"/>
              </a:solidFill>
              <a:latin typeface="Arial"/>
              <a:ea typeface="Arial"/>
              <a:cs typeface="Arial"/>
              <a:sym typeface="Arial"/>
            </a:endParaRPr>
          </a:p>
        </p:txBody>
      </p:sp>
      <p:sp>
        <p:nvSpPr>
          <p:cNvPr id="396" name="Google Shape;396;p31"/>
          <p:cNvSpPr txBox="1"/>
          <p:nvPr/>
        </p:nvSpPr>
        <p:spPr>
          <a:xfrm>
            <a:off x="311760" y="1229760"/>
            <a:ext cx="8520120" cy="3338640"/>
          </a:xfrm>
          <a:prstGeom prst="rect">
            <a:avLst/>
          </a:prstGeom>
          <a:noFill/>
          <a:ln>
            <a:noFill/>
          </a:ln>
        </p:spPr>
        <p:txBody>
          <a:bodyPr spcFirstLastPara="1" wrap="square" lIns="91425" tIns="91425" rIns="91425" bIns="91425" anchor="t" anchorCtr="0">
            <a:noAutofit/>
          </a:bodyPr>
          <a:lstStyle/>
          <a:p>
            <a:pPr marL="114480" marR="0" lvl="0" indent="0" algn="l" rtl="0">
              <a:lnSpc>
                <a:spcPct val="115000"/>
              </a:lnSpc>
              <a:spcBef>
                <a:spcPts val="0"/>
              </a:spcBef>
              <a:spcAft>
                <a:spcPts val="0"/>
              </a:spcAft>
              <a:buNone/>
            </a:pPr>
            <a:r>
              <a:rPr lang="en-GB" sz="1800" b="0" strike="noStrike" dirty="0">
                <a:solidFill>
                  <a:srgbClr val="D23369"/>
                </a:solidFill>
                <a:latin typeface="Roboto"/>
                <a:ea typeface="Roboto"/>
                <a:cs typeface="Roboto"/>
                <a:sym typeface="Roboto"/>
              </a:rPr>
              <a:t>3. Sampling Units &amp; Frame:</a:t>
            </a:r>
            <a:endParaRPr sz="1800" b="0" strike="noStrike" dirty="0">
              <a:solidFill>
                <a:srgbClr val="000000"/>
              </a:solidFill>
              <a:latin typeface="Arial"/>
              <a:ea typeface="Arial"/>
              <a:cs typeface="Arial"/>
              <a:sym typeface="Arial"/>
            </a:endParaRPr>
          </a:p>
          <a:p>
            <a:pPr marL="457200" marR="0" lvl="0" indent="-342720" algn="just" rtl="0">
              <a:lnSpc>
                <a:spcPct val="115000"/>
              </a:lnSpc>
              <a:spcBef>
                <a:spcPts val="0"/>
              </a:spcBef>
              <a:spcAft>
                <a:spcPts val="0"/>
              </a:spcAft>
              <a:buClr>
                <a:srgbClr val="434343"/>
              </a:buClr>
              <a:buSzPts val="1800"/>
              <a:buFont typeface="Roboto"/>
              <a:buChar char="●"/>
            </a:pPr>
            <a:r>
              <a:rPr lang="en-GB" sz="1800" b="0" strike="noStrike" dirty="0">
                <a:solidFill>
                  <a:srgbClr val="434343"/>
                </a:solidFill>
                <a:latin typeface="Times New Roman"/>
                <a:ea typeface="Times New Roman"/>
                <a:cs typeface="Times New Roman"/>
                <a:sym typeface="Times New Roman"/>
              </a:rPr>
              <a:t>A decision has to be taken concerning a sampling unit before selecting sample. </a:t>
            </a:r>
            <a:endParaRPr sz="1800" b="0" strike="noStrike" dirty="0">
              <a:solidFill>
                <a:srgbClr val="000000"/>
              </a:solidFill>
              <a:latin typeface="Arial"/>
              <a:ea typeface="Arial"/>
              <a:cs typeface="Arial"/>
              <a:sym typeface="Arial"/>
            </a:endParaRPr>
          </a:p>
          <a:p>
            <a:pPr marL="457200" marR="0" lvl="0" indent="-342720" algn="just" rtl="0">
              <a:lnSpc>
                <a:spcPct val="115000"/>
              </a:lnSpc>
              <a:spcBef>
                <a:spcPts val="0"/>
              </a:spcBef>
              <a:spcAft>
                <a:spcPts val="0"/>
              </a:spcAft>
              <a:buClr>
                <a:srgbClr val="434343"/>
              </a:buClr>
              <a:buSzPts val="1800"/>
              <a:buFont typeface="Roboto"/>
              <a:buChar char="●"/>
            </a:pPr>
            <a:r>
              <a:rPr lang="en-GB" sz="1800" b="0" strike="noStrike" dirty="0">
                <a:solidFill>
                  <a:srgbClr val="434343"/>
                </a:solidFill>
                <a:latin typeface="Times New Roman"/>
                <a:ea typeface="Times New Roman"/>
                <a:cs typeface="Times New Roman"/>
                <a:sym typeface="Times New Roman"/>
              </a:rPr>
              <a:t>Sampling unit may be a geographical one such as state, district, village, etc., or a construction unit such as house, flat, etc., or it may be a social unit such as family, club, school, etc., or it may be an individual.</a:t>
            </a:r>
            <a:endParaRPr sz="1800" b="0" strike="noStrike" dirty="0">
              <a:solidFill>
                <a:srgbClr val="000000"/>
              </a:solidFill>
              <a:latin typeface="Arial"/>
              <a:ea typeface="Arial"/>
              <a:cs typeface="Arial"/>
              <a:sym typeface="Arial"/>
            </a:endParaRPr>
          </a:p>
          <a:p>
            <a:pPr marL="457200" marR="0" lvl="0" indent="-342720" algn="just" rtl="0">
              <a:lnSpc>
                <a:spcPct val="115000"/>
              </a:lnSpc>
              <a:spcBef>
                <a:spcPts val="0"/>
              </a:spcBef>
              <a:spcAft>
                <a:spcPts val="0"/>
              </a:spcAft>
              <a:buClr>
                <a:srgbClr val="434343"/>
              </a:buClr>
              <a:buSzPts val="1800"/>
              <a:buFont typeface="Roboto"/>
              <a:buChar char="●"/>
            </a:pPr>
            <a:r>
              <a:rPr lang="en-GB" sz="1800" b="0" strike="noStrike" dirty="0">
                <a:solidFill>
                  <a:srgbClr val="434343"/>
                </a:solidFill>
                <a:latin typeface="Times New Roman"/>
                <a:ea typeface="Times New Roman"/>
                <a:cs typeface="Times New Roman"/>
                <a:sym typeface="Times New Roman"/>
              </a:rPr>
              <a:t> The researcher will have to decide one or more of such units that he has to select for his study.</a:t>
            </a:r>
            <a:endParaRPr sz="1800" b="0" strike="noStrike" dirty="0">
              <a:solidFill>
                <a:srgbClr val="000000"/>
              </a:solidFill>
              <a:latin typeface="Arial"/>
              <a:ea typeface="Arial"/>
              <a:cs typeface="Arial"/>
              <a:sym typeface="Arial"/>
            </a:endParaRPr>
          </a:p>
          <a:p>
            <a:pPr marL="457200" marR="0" lvl="0" indent="-342720" algn="just" rtl="0">
              <a:lnSpc>
                <a:spcPct val="115000"/>
              </a:lnSpc>
              <a:spcBef>
                <a:spcPts val="0"/>
              </a:spcBef>
              <a:spcAft>
                <a:spcPts val="0"/>
              </a:spcAft>
              <a:buClr>
                <a:srgbClr val="434343"/>
              </a:buClr>
              <a:buSzPts val="1800"/>
              <a:buFont typeface="Roboto"/>
              <a:buChar char="●"/>
            </a:pPr>
            <a:r>
              <a:rPr lang="en-GB" sz="1800" b="0" strike="noStrike" dirty="0">
                <a:solidFill>
                  <a:srgbClr val="434343"/>
                </a:solidFill>
                <a:latin typeface="Times New Roman"/>
                <a:ea typeface="Times New Roman"/>
                <a:cs typeface="Times New Roman"/>
                <a:sym typeface="Times New Roman"/>
              </a:rPr>
              <a:t>The list of sampling units is called </a:t>
            </a:r>
            <a:r>
              <a:rPr lang="en-GB" sz="1800" b="0" strike="noStrike" dirty="0">
                <a:solidFill>
                  <a:srgbClr val="D23369"/>
                </a:solidFill>
                <a:latin typeface="Times New Roman"/>
                <a:ea typeface="Times New Roman"/>
                <a:cs typeface="Times New Roman"/>
                <a:sym typeface="Times New Roman"/>
              </a:rPr>
              <a:t>a ‘frame’ or ‘sampling frame’.</a:t>
            </a:r>
            <a:endParaRPr sz="1800" b="0" strike="noStrike" dirty="0">
              <a:solidFill>
                <a:srgbClr val="000000"/>
              </a:solidFill>
              <a:latin typeface="Arial"/>
              <a:ea typeface="Arial"/>
              <a:cs typeface="Arial"/>
              <a:sym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400"/>
        <p:cNvGrpSpPr/>
        <p:nvPr/>
      </p:nvGrpSpPr>
      <p:grpSpPr>
        <a:xfrm>
          <a:off x="0" y="0"/>
          <a:ext cx="0" cy="0"/>
          <a:chOff x="0" y="0"/>
          <a:chExt cx="0" cy="0"/>
        </a:xfrm>
      </p:grpSpPr>
      <p:sp>
        <p:nvSpPr>
          <p:cNvPr id="401" name="Google Shape;401;p32"/>
          <p:cNvSpPr txBox="1"/>
          <p:nvPr/>
        </p:nvSpPr>
        <p:spPr>
          <a:xfrm>
            <a:off x="311760" y="410040"/>
            <a:ext cx="8520120" cy="607320"/>
          </a:xfrm>
          <a:prstGeom prst="rect">
            <a:avLst/>
          </a:prstGeom>
          <a:noFill/>
          <a:ln>
            <a:noFill/>
          </a:ln>
        </p:spPr>
        <p:txBody>
          <a:bodyPr spcFirstLastPara="1" wrap="square" lIns="91425" tIns="91425" rIns="91425" bIns="91425" anchor="t" anchorCtr="0">
            <a:normAutofit fontScale="98500" lnSpcReduction="10000"/>
          </a:bodyPr>
          <a:lstStyle/>
          <a:p>
            <a:pPr marL="0" marR="0" lvl="0" indent="0" algn="l" rtl="0">
              <a:lnSpc>
                <a:spcPct val="100000"/>
              </a:lnSpc>
              <a:spcBef>
                <a:spcPts val="0"/>
              </a:spcBef>
              <a:spcAft>
                <a:spcPts val="0"/>
              </a:spcAft>
              <a:buNone/>
            </a:pPr>
            <a:r>
              <a:rPr lang="en-GB" sz="3000" b="0" strike="noStrike">
                <a:solidFill>
                  <a:srgbClr val="2A3990"/>
                </a:solidFill>
                <a:latin typeface="Roboto"/>
                <a:ea typeface="Roboto"/>
                <a:cs typeface="Roboto"/>
                <a:sym typeface="Roboto"/>
              </a:rPr>
              <a:t>STEPS IN SAMPLE DESIGN</a:t>
            </a:r>
            <a:endParaRPr sz="3000" b="0" strike="noStrike">
              <a:solidFill>
                <a:srgbClr val="000000"/>
              </a:solidFill>
              <a:latin typeface="Arial"/>
              <a:ea typeface="Arial"/>
              <a:cs typeface="Arial"/>
              <a:sym typeface="Arial"/>
            </a:endParaRPr>
          </a:p>
        </p:txBody>
      </p:sp>
      <p:sp>
        <p:nvSpPr>
          <p:cNvPr id="402" name="Google Shape;402;p32"/>
          <p:cNvSpPr txBox="1"/>
          <p:nvPr/>
        </p:nvSpPr>
        <p:spPr>
          <a:xfrm>
            <a:off x="311760" y="891720"/>
            <a:ext cx="8520120" cy="3841200"/>
          </a:xfrm>
          <a:prstGeom prst="rect">
            <a:avLst/>
          </a:prstGeom>
          <a:noFill/>
          <a:ln>
            <a:noFill/>
          </a:ln>
        </p:spPr>
        <p:txBody>
          <a:bodyPr spcFirstLastPara="1" wrap="square" lIns="91425" tIns="91425" rIns="91425" bIns="91425" anchor="t" anchorCtr="0">
            <a:normAutofit/>
          </a:bodyPr>
          <a:lstStyle/>
          <a:p>
            <a:pPr marL="114480" marR="0" lvl="0" indent="0" algn="l" rtl="0">
              <a:lnSpc>
                <a:spcPct val="115000"/>
              </a:lnSpc>
              <a:spcBef>
                <a:spcPts val="0"/>
              </a:spcBef>
              <a:spcAft>
                <a:spcPts val="0"/>
              </a:spcAft>
              <a:buNone/>
            </a:pPr>
            <a:r>
              <a:rPr lang="en-GB" sz="1800" b="0" strike="noStrike" dirty="0">
                <a:solidFill>
                  <a:srgbClr val="D23369"/>
                </a:solidFill>
                <a:latin typeface="Roboto"/>
                <a:ea typeface="Roboto"/>
                <a:cs typeface="Roboto"/>
                <a:sym typeface="Roboto"/>
              </a:rPr>
              <a:t>4. Size of sample:</a:t>
            </a:r>
            <a:endParaRPr sz="1800" b="0" strike="noStrike" dirty="0">
              <a:solidFill>
                <a:srgbClr val="000000"/>
              </a:solidFill>
              <a:latin typeface="Arial"/>
              <a:ea typeface="Arial"/>
              <a:cs typeface="Arial"/>
              <a:sym typeface="Arial"/>
            </a:endParaRPr>
          </a:p>
          <a:p>
            <a:pPr marL="457200" marR="0" lvl="0" indent="-342720" algn="just" rtl="0">
              <a:lnSpc>
                <a:spcPct val="115000"/>
              </a:lnSpc>
              <a:spcBef>
                <a:spcPts val="0"/>
              </a:spcBef>
              <a:spcAft>
                <a:spcPts val="0"/>
              </a:spcAft>
              <a:buClr>
                <a:srgbClr val="434343"/>
              </a:buClr>
              <a:buSzPts val="1900"/>
              <a:buFont typeface="Roboto"/>
              <a:buChar char="●"/>
            </a:pPr>
            <a:r>
              <a:rPr lang="en-GB" sz="1900" b="0" strike="noStrike" dirty="0">
                <a:solidFill>
                  <a:srgbClr val="434343"/>
                </a:solidFill>
                <a:latin typeface="Times New Roman"/>
                <a:ea typeface="Times New Roman"/>
                <a:cs typeface="Times New Roman"/>
                <a:sym typeface="Times New Roman"/>
              </a:rPr>
              <a:t>This refers to the </a:t>
            </a:r>
            <a:r>
              <a:rPr lang="en-GB" sz="1900" b="0" strike="noStrike" dirty="0">
                <a:solidFill>
                  <a:srgbClr val="D23369"/>
                </a:solidFill>
                <a:latin typeface="Times New Roman"/>
                <a:ea typeface="Times New Roman"/>
                <a:cs typeface="Times New Roman"/>
                <a:sym typeface="Times New Roman"/>
              </a:rPr>
              <a:t>number of items to be selected from the universe</a:t>
            </a:r>
            <a:r>
              <a:rPr lang="en-GB" sz="1900" b="0" strike="noStrike" dirty="0">
                <a:solidFill>
                  <a:srgbClr val="434343"/>
                </a:solidFill>
                <a:latin typeface="Times New Roman"/>
                <a:ea typeface="Times New Roman"/>
                <a:cs typeface="Times New Roman"/>
                <a:sym typeface="Times New Roman"/>
              </a:rPr>
              <a:t> to constitute a sample. This a </a:t>
            </a:r>
            <a:r>
              <a:rPr lang="en-GB" sz="1900" b="0" strike="noStrike" dirty="0">
                <a:solidFill>
                  <a:srgbClr val="D23369"/>
                </a:solidFill>
                <a:latin typeface="Times New Roman"/>
                <a:ea typeface="Times New Roman"/>
                <a:cs typeface="Times New Roman"/>
                <a:sym typeface="Times New Roman"/>
              </a:rPr>
              <a:t>major problem before a researcher. </a:t>
            </a:r>
            <a:endParaRPr sz="1900" b="0" strike="noStrike" dirty="0">
              <a:solidFill>
                <a:srgbClr val="000000"/>
              </a:solidFill>
              <a:latin typeface="Arial"/>
              <a:ea typeface="Arial"/>
              <a:cs typeface="Arial"/>
              <a:sym typeface="Arial"/>
            </a:endParaRPr>
          </a:p>
          <a:p>
            <a:pPr marL="457200" marR="0" lvl="0" indent="-342720" algn="just" rtl="0">
              <a:lnSpc>
                <a:spcPct val="115000"/>
              </a:lnSpc>
              <a:spcBef>
                <a:spcPts val="0"/>
              </a:spcBef>
              <a:spcAft>
                <a:spcPts val="0"/>
              </a:spcAft>
              <a:buClr>
                <a:srgbClr val="434343"/>
              </a:buClr>
              <a:buSzPts val="1900"/>
              <a:buFont typeface="Roboto"/>
              <a:buChar char="●"/>
            </a:pPr>
            <a:r>
              <a:rPr lang="en-GB" sz="1900" b="0" strike="noStrike" dirty="0">
                <a:solidFill>
                  <a:srgbClr val="434343"/>
                </a:solidFill>
                <a:latin typeface="Times New Roman"/>
                <a:ea typeface="Times New Roman"/>
                <a:cs typeface="Times New Roman"/>
                <a:sym typeface="Times New Roman"/>
              </a:rPr>
              <a:t>The </a:t>
            </a:r>
            <a:r>
              <a:rPr lang="en-GB" sz="1900" b="0" strike="noStrike" dirty="0">
                <a:solidFill>
                  <a:srgbClr val="D23369"/>
                </a:solidFill>
                <a:latin typeface="Times New Roman"/>
                <a:ea typeface="Times New Roman"/>
                <a:cs typeface="Times New Roman"/>
                <a:sym typeface="Times New Roman"/>
              </a:rPr>
              <a:t>size of sample </a:t>
            </a:r>
            <a:r>
              <a:rPr lang="en-GB" sz="1900" b="0" strike="noStrike" dirty="0">
                <a:solidFill>
                  <a:srgbClr val="434343"/>
                </a:solidFill>
                <a:latin typeface="Times New Roman"/>
                <a:ea typeface="Times New Roman"/>
                <a:cs typeface="Times New Roman"/>
                <a:sym typeface="Times New Roman"/>
              </a:rPr>
              <a:t>should neither be excessively large, nor too small. It should be </a:t>
            </a:r>
            <a:r>
              <a:rPr lang="en-GB" sz="1900" b="0" strike="noStrike" dirty="0">
                <a:solidFill>
                  <a:srgbClr val="D23369"/>
                </a:solidFill>
                <a:latin typeface="Times New Roman"/>
                <a:ea typeface="Times New Roman"/>
                <a:cs typeface="Times New Roman"/>
                <a:sym typeface="Times New Roman"/>
              </a:rPr>
              <a:t>optimum</a:t>
            </a:r>
            <a:r>
              <a:rPr lang="en-GB" sz="1900" b="0" strike="noStrike" dirty="0">
                <a:solidFill>
                  <a:srgbClr val="434343"/>
                </a:solidFill>
                <a:latin typeface="Times New Roman"/>
                <a:ea typeface="Times New Roman"/>
                <a:cs typeface="Times New Roman"/>
                <a:sym typeface="Times New Roman"/>
              </a:rPr>
              <a:t>. </a:t>
            </a:r>
            <a:endParaRPr sz="1900" b="0" strike="noStrike" dirty="0">
              <a:solidFill>
                <a:srgbClr val="000000"/>
              </a:solidFill>
              <a:latin typeface="Arial"/>
              <a:ea typeface="Arial"/>
              <a:cs typeface="Arial"/>
              <a:sym typeface="Arial"/>
            </a:endParaRPr>
          </a:p>
          <a:p>
            <a:pPr marL="457200" marR="0" lvl="0" indent="-342720" algn="just" rtl="0">
              <a:lnSpc>
                <a:spcPct val="115000"/>
              </a:lnSpc>
              <a:spcBef>
                <a:spcPts val="0"/>
              </a:spcBef>
              <a:spcAft>
                <a:spcPts val="0"/>
              </a:spcAft>
              <a:buClr>
                <a:srgbClr val="434343"/>
              </a:buClr>
              <a:buSzPts val="1900"/>
              <a:buFont typeface="Roboto"/>
              <a:buChar char="●"/>
            </a:pPr>
            <a:r>
              <a:rPr lang="en-GB" sz="1900" b="0" strike="noStrike" dirty="0">
                <a:solidFill>
                  <a:srgbClr val="434343"/>
                </a:solidFill>
                <a:latin typeface="Times New Roman"/>
                <a:ea typeface="Times New Roman"/>
                <a:cs typeface="Times New Roman"/>
                <a:sym typeface="Times New Roman"/>
              </a:rPr>
              <a:t>An optimum sample is one which </a:t>
            </a:r>
            <a:r>
              <a:rPr lang="en-GB" sz="1900" b="0" strike="noStrike" dirty="0" err="1">
                <a:solidFill>
                  <a:srgbClr val="434343"/>
                </a:solidFill>
                <a:latin typeface="Times New Roman"/>
                <a:ea typeface="Times New Roman"/>
                <a:cs typeface="Times New Roman"/>
                <a:sym typeface="Times New Roman"/>
              </a:rPr>
              <a:t>fulfills</a:t>
            </a:r>
            <a:r>
              <a:rPr lang="en-GB" sz="1900" b="0" strike="noStrike" dirty="0">
                <a:solidFill>
                  <a:srgbClr val="434343"/>
                </a:solidFill>
                <a:latin typeface="Times New Roman"/>
                <a:ea typeface="Times New Roman"/>
                <a:cs typeface="Times New Roman"/>
                <a:sym typeface="Times New Roman"/>
              </a:rPr>
              <a:t> the requirements of efficiency, representativeness, reliability and flexibility.</a:t>
            </a:r>
            <a:endParaRPr sz="1900" b="0" strike="noStrike" dirty="0">
              <a:solidFill>
                <a:srgbClr val="000000"/>
              </a:solidFill>
              <a:latin typeface="Arial"/>
              <a:ea typeface="Arial"/>
              <a:cs typeface="Arial"/>
              <a:sym typeface="Arial"/>
            </a:endParaRPr>
          </a:p>
          <a:p>
            <a:pPr marL="457200" marR="0" lvl="0" indent="-342720" algn="just" rtl="0">
              <a:lnSpc>
                <a:spcPct val="115000"/>
              </a:lnSpc>
              <a:spcBef>
                <a:spcPts val="0"/>
              </a:spcBef>
              <a:spcAft>
                <a:spcPts val="0"/>
              </a:spcAft>
              <a:buClr>
                <a:srgbClr val="434343"/>
              </a:buClr>
              <a:buSzPts val="1900"/>
              <a:buFont typeface="Roboto"/>
              <a:buChar char="●"/>
            </a:pPr>
            <a:r>
              <a:rPr lang="en-GB" sz="1900" b="0" strike="noStrike" dirty="0">
                <a:solidFill>
                  <a:srgbClr val="434343"/>
                </a:solidFill>
                <a:latin typeface="Times New Roman"/>
                <a:ea typeface="Times New Roman"/>
                <a:cs typeface="Times New Roman"/>
                <a:sym typeface="Times New Roman"/>
              </a:rPr>
              <a:t>The parameters of interest in a research study must be kept in view, while deciding the size of the sample.</a:t>
            </a:r>
            <a:endParaRPr sz="1900" b="0" strike="noStrike" dirty="0">
              <a:solidFill>
                <a:srgbClr val="000000"/>
              </a:solidFill>
              <a:latin typeface="Arial"/>
              <a:ea typeface="Arial"/>
              <a:cs typeface="Arial"/>
              <a:sym typeface="Arial"/>
            </a:endParaRPr>
          </a:p>
          <a:p>
            <a:pPr marL="457200" marR="0" lvl="0" indent="-342720" algn="just" rtl="0">
              <a:lnSpc>
                <a:spcPct val="115000"/>
              </a:lnSpc>
              <a:spcBef>
                <a:spcPts val="0"/>
              </a:spcBef>
              <a:spcAft>
                <a:spcPts val="0"/>
              </a:spcAft>
              <a:buClr>
                <a:srgbClr val="434343"/>
              </a:buClr>
              <a:buSzPts val="1900"/>
              <a:buFont typeface="Roboto"/>
              <a:buChar char="●"/>
            </a:pPr>
            <a:r>
              <a:rPr lang="en-GB" sz="1900" b="0" strike="noStrike" dirty="0">
                <a:solidFill>
                  <a:srgbClr val="D23369"/>
                </a:solidFill>
                <a:latin typeface="Times New Roman"/>
                <a:ea typeface="Times New Roman"/>
                <a:cs typeface="Times New Roman"/>
                <a:sym typeface="Times New Roman"/>
              </a:rPr>
              <a:t>Costs</a:t>
            </a:r>
            <a:r>
              <a:rPr lang="en-GB" sz="1900" b="0" strike="noStrike" dirty="0">
                <a:solidFill>
                  <a:srgbClr val="434343"/>
                </a:solidFill>
                <a:latin typeface="Times New Roman"/>
                <a:ea typeface="Times New Roman"/>
                <a:cs typeface="Times New Roman"/>
                <a:sym typeface="Times New Roman"/>
              </a:rPr>
              <a:t> too dictate the size of sample that we can draw. As such, budgetary constraint must  be taken into consideration when we decide the sample size.</a:t>
            </a:r>
            <a:endParaRPr sz="1900" b="0" strike="noStrike" dirty="0">
              <a:solidFill>
                <a:srgbClr val="000000"/>
              </a:solidFill>
              <a:latin typeface="Arial"/>
              <a:ea typeface="Arial"/>
              <a:cs typeface="Arial"/>
              <a:sym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406"/>
        <p:cNvGrpSpPr/>
        <p:nvPr/>
      </p:nvGrpSpPr>
      <p:grpSpPr>
        <a:xfrm>
          <a:off x="0" y="0"/>
          <a:ext cx="0" cy="0"/>
          <a:chOff x="0" y="0"/>
          <a:chExt cx="0" cy="0"/>
        </a:xfrm>
      </p:grpSpPr>
      <p:sp>
        <p:nvSpPr>
          <p:cNvPr id="407" name="Google Shape;407;p33"/>
          <p:cNvSpPr txBox="1"/>
          <p:nvPr/>
        </p:nvSpPr>
        <p:spPr>
          <a:xfrm>
            <a:off x="311760" y="410040"/>
            <a:ext cx="8520120" cy="607320"/>
          </a:xfrm>
          <a:prstGeom prst="rect">
            <a:avLst/>
          </a:prstGeom>
          <a:noFill/>
          <a:ln>
            <a:noFill/>
          </a:ln>
        </p:spPr>
        <p:txBody>
          <a:bodyPr spcFirstLastPara="1" wrap="square" lIns="91425" tIns="91425" rIns="91425" bIns="91425" anchor="t" anchorCtr="0">
            <a:normAutofit fontScale="98500" lnSpcReduction="10000"/>
          </a:bodyPr>
          <a:lstStyle/>
          <a:p>
            <a:pPr marL="0" marR="0" lvl="0" indent="0" algn="l" rtl="0">
              <a:lnSpc>
                <a:spcPct val="100000"/>
              </a:lnSpc>
              <a:spcBef>
                <a:spcPts val="0"/>
              </a:spcBef>
              <a:spcAft>
                <a:spcPts val="0"/>
              </a:spcAft>
              <a:buNone/>
            </a:pPr>
            <a:r>
              <a:rPr lang="en-GB" sz="3000" b="0" strike="noStrike">
                <a:solidFill>
                  <a:srgbClr val="2A3990"/>
                </a:solidFill>
                <a:latin typeface="Roboto"/>
                <a:ea typeface="Roboto"/>
                <a:cs typeface="Roboto"/>
                <a:sym typeface="Roboto"/>
              </a:rPr>
              <a:t>STEPS IN SAMPLE DESIGN</a:t>
            </a:r>
            <a:endParaRPr sz="3000" b="0" strike="noStrike">
              <a:solidFill>
                <a:srgbClr val="000000"/>
              </a:solidFill>
              <a:latin typeface="Arial"/>
              <a:ea typeface="Arial"/>
              <a:cs typeface="Arial"/>
              <a:sym typeface="Arial"/>
            </a:endParaRPr>
          </a:p>
        </p:txBody>
      </p:sp>
      <p:sp>
        <p:nvSpPr>
          <p:cNvPr id="408" name="Google Shape;408;p33"/>
          <p:cNvSpPr txBox="1"/>
          <p:nvPr/>
        </p:nvSpPr>
        <p:spPr>
          <a:xfrm>
            <a:off x="311760" y="1229760"/>
            <a:ext cx="8520120" cy="3503160"/>
          </a:xfrm>
          <a:prstGeom prst="rect">
            <a:avLst/>
          </a:prstGeom>
          <a:noFill/>
          <a:ln>
            <a:noFill/>
          </a:ln>
        </p:spPr>
        <p:txBody>
          <a:bodyPr spcFirstLastPara="1" wrap="square" lIns="91425" tIns="91425" rIns="91425" bIns="91425" anchor="t" anchorCtr="0">
            <a:normAutofit lnSpcReduction="10000"/>
          </a:bodyPr>
          <a:lstStyle/>
          <a:p>
            <a:pPr marL="114480" marR="0" lvl="0" indent="0" algn="just" rtl="0">
              <a:lnSpc>
                <a:spcPct val="115000"/>
              </a:lnSpc>
              <a:spcBef>
                <a:spcPts val="0"/>
              </a:spcBef>
              <a:spcAft>
                <a:spcPts val="0"/>
              </a:spcAft>
              <a:buNone/>
            </a:pPr>
            <a:r>
              <a:rPr lang="en-GB" sz="1800" b="0" strike="noStrike" dirty="0">
                <a:solidFill>
                  <a:srgbClr val="D23369"/>
                </a:solidFill>
                <a:latin typeface="Roboto"/>
                <a:ea typeface="Roboto"/>
                <a:cs typeface="Roboto"/>
                <a:sym typeface="Roboto"/>
              </a:rPr>
              <a:t>5. Parameters of interest:</a:t>
            </a:r>
            <a:endParaRPr sz="1800" b="0" strike="noStrike" dirty="0">
              <a:solidFill>
                <a:srgbClr val="000000"/>
              </a:solidFill>
              <a:latin typeface="Arial"/>
              <a:ea typeface="Arial"/>
              <a:cs typeface="Arial"/>
              <a:sym typeface="Arial"/>
            </a:endParaRPr>
          </a:p>
          <a:p>
            <a:pPr marL="457200" marR="0" lvl="0" indent="-342720" algn="just" rtl="0">
              <a:lnSpc>
                <a:spcPct val="115000"/>
              </a:lnSpc>
              <a:spcBef>
                <a:spcPts val="0"/>
              </a:spcBef>
              <a:spcAft>
                <a:spcPts val="0"/>
              </a:spcAft>
              <a:buClr>
                <a:srgbClr val="434343"/>
              </a:buClr>
              <a:buSzPts val="1800"/>
              <a:buFont typeface="Roboto"/>
              <a:buChar char="●"/>
            </a:pPr>
            <a:r>
              <a:rPr lang="en-GB" sz="1800" b="0" strike="noStrike" dirty="0">
                <a:solidFill>
                  <a:srgbClr val="434343"/>
                </a:solidFill>
                <a:latin typeface="Roboto"/>
                <a:ea typeface="Roboto"/>
                <a:cs typeface="Roboto"/>
                <a:sym typeface="Roboto"/>
              </a:rPr>
              <a:t>Statistical constants of the population are called as parameters.</a:t>
            </a:r>
            <a:endParaRPr sz="1800" b="0" strike="noStrike" dirty="0">
              <a:solidFill>
                <a:srgbClr val="000000"/>
              </a:solidFill>
              <a:latin typeface="Arial"/>
              <a:ea typeface="Arial"/>
              <a:cs typeface="Arial"/>
              <a:sym typeface="Arial"/>
            </a:endParaRPr>
          </a:p>
          <a:p>
            <a:pPr marL="457200" marR="0" lvl="0" indent="-342720" algn="just" rtl="0">
              <a:lnSpc>
                <a:spcPct val="115000"/>
              </a:lnSpc>
              <a:spcBef>
                <a:spcPts val="0"/>
              </a:spcBef>
              <a:spcAft>
                <a:spcPts val="0"/>
              </a:spcAft>
              <a:buClr>
                <a:srgbClr val="434343"/>
              </a:buClr>
              <a:buSzPts val="1800"/>
              <a:buFont typeface="Roboto"/>
              <a:buChar char="●"/>
            </a:pPr>
            <a:r>
              <a:rPr lang="en-GB" sz="1800" b="0" strike="noStrike" dirty="0">
                <a:solidFill>
                  <a:srgbClr val="434343"/>
                </a:solidFill>
                <a:latin typeface="Roboto"/>
                <a:ea typeface="Roboto"/>
                <a:cs typeface="Roboto"/>
                <a:sym typeface="Roboto"/>
              </a:rPr>
              <a:t>Ex: Population mean, Population proportion.</a:t>
            </a:r>
            <a:endParaRPr sz="1800" b="0" strike="noStrike" dirty="0">
              <a:solidFill>
                <a:srgbClr val="000000"/>
              </a:solidFill>
              <a:latin typeface="Arial"/>
              <a:ea typeface="Arial"/>
              <a:cs typeface="Arial"/>
              <a:sym typeface="Arial"/>
            </a:endParaRPr>
          </a:p>
          <a:p>
            <a:pPr marL="457200" marR="0" lvl="0" indent="-342720" algn="just" rtl="0">
              <a:lnSpc>
                <a:spcPct val="115000"/>
              </a:lnSpc>
              <a:spcBef>
                <a:spcPts val="0"/>
              </a:spcBef>
              <a:spcAft>
                <a:spcPts val="0"/>
              </a:spcAft>
              <a:buClr>
                <a:srgbClr val="434343"/>
              </a:buClr>
              <a:buSzPts val="1800"/>
              <a:buFont typeface="Roboto"/>
              <a:buChar char="●"/>
            </a:pPr>
            <a:r>
              <a:rPr lang="en-GB" sz="1800" b="0" strike="noStrike" dirty="0">
                <a:solidFill>
                  <a:srgbClr val="434343"/>
                </a:solidFill>
                <a:latin typeface="Roboto"/>
                <a:ea typeface="Roboto"/>
                <a:cs typeface="Roboto"/>
                <a:sym typeface="Roboto"/>
              </a:rPr>
              <a:t>When we do census survey we get the actual value of parameters.</a:t>
            </a:r>
            <a:endParaRPr sz="1800" b="0" strike="noStrike" dirty="0">
              <a:solidFill>
                <a:srgbClr val="000000"/>
              </a:solidFill>
              <a:latin typeface="Arial"/>
              <a:ea typeface="Arial"/>
              <a:cs typeface="Arial"/>
              <a:sym typeface="Arial"/>
            </a:endParaRPr>
          </a:p>
          <a:p>
            <a:pPr marL="457200" marR="0" lvl="0" indent="-342720" algn="just" rtl="0">
              <a:lnSpc>
                <a:spcPct val="115000"/>
              </a:lnSpc>
              <a:spcBef>
                <a:spcPts val="0"/>
              </a:spcBef>
              <a:spcAft>
                <a:spcPts val="0"/>
              </a:spcAft>
              <a:buClr>
                <a:srgbClr val="434343"/>
              </a:buClr>
              <a:buSzPts val="1800"/>
              <a:buFont typeface="Roboto"/>
              <a:buChar char="●"/>
            </a:pPr>
            <a:r>
              <a:rPr lang="en-GB" sz="1800" b="0" strike="noStrike" dirty="0">
                <a:solidFill>
                  <a:srgbClr val="434343"/>
                </a:solidFill>
                <a:latin typeface="Roboto"/>
                <a:ea typeface="Roboto"/>
                <a:cs typeface="Roboto"/>
                <a:sym typeface="Roboto"/>
              </a:rPr>
              <a:t>When we do sample survey we get estimates of unknown population parameters in place of their actual values.</a:t>
            </a:r>
            <a:endParaRPr sz="1800" b="0" strike="noStrike" dirty="0">
              <a:solidFill>
                <a:srgbClr val="000000"/>
              </a:solidFill>
              <a:latin typeface="Arial"/>
              <a:ea typeface="Arial"/>
              <a:cs typeface="Arial"/>
              <a:sym typeface="Arial"/>
            </a:endParaRPr>
          </a:p>
          <a:p>
            <a:pPr marL="457200" marR="0" lvl="0" indent="-342720" algn="just" rtl="0">
              <a:lnSpc>
                <a:spcPct val="115000"/>
              </a:lnSpc>
              <a:spcBef>
                <a:spcPts val="0"/>
              </a:spcBef>
              <a:spcAft>
                <a:spcPts val="0"/>
              </a:spcAft>
              <a:buClr>
                <a:srgbClr val="434343"/>
              </a:buClr>
              <a:buSzPts val="1800"/>
              <a:buFont typeface="Roboto"/>
              <a:buChar char="●"/>
            </a:pPr>
            <a:r>
              <a:rPr lang="en-GB" sz="1800" b="0" strike="noStrike" dirty="0">
                <a:solidFill>
                  <a:srgbClr val="434343"/>
                </a:solidFill>
                <a:latin typeface="Times New Roman"/>
                <a:ea typeface="Times New Roman"/>
                <a:cs typeface="Times New Roman"/>
                <a:sym typeface="Times New Roman"/>
              </a:rPr>
              <a:t>In determining the sample design, one must consider the question of the specific population parameters which are of interest. </a:t>
            </a:r>
            <a:endParaRPr sz="1800" b="0" strike="noStrike" dirty="0">
              <a:solidFill>
                <a:srgbClr val="000000"/>
              </a:solidFill>
              <a:latin typeface="Arial"/>
              <a:ea typeface="Arial"/>
              <a:cs typeface="Arial"/>
              <a:sym typeface="Arial"/>
            </a:endParaRPr>
          </a:p>
          <a:p>
            <a:pPr marL="457200" marR="0" lvl="0" indent="-342720" algn="just" rtl="0">
              <a:lnSpc>
                <a:spcPct val="115000"/>
              </a:lnSpc>
              <a:spcBef>
                <a:spcPts val="0"/>
              </a:spcBef>
              <a:spcAft>
                <a:spcPts val="0"/>
              </a:spcAft>
              <a:buClr>
                <a:srgbClr val="434343"/>
              </a:buClr>
              <a:buSzPts val="1800"/>
              <a:buFont typeface="Roboto"/>
              <a:buChar char="●"/>
            </a:pPr>
            <a:r>
              <a:rPr lang="en-GB" sz="1800" b="0" strike="noStrike" dirty="0">
                <a:solidFill>
                  <a:srgbClr val="434343"/>
                </a:solidFill>
                <a:latin typeface="Times New Roman"/>
                <a:ea typeface="Times New Roman"/>
                <a:cs typeface="Times New Roman"/>
                <a:sym typeface="Times New Roman"/>
              </a:rPr>
              <a:t>For instance, we may be interested in estimating the proportion of persons with some characteristic in the population, or we may be interested in knowing some average or the other measure concerning the population.</a:t>
            </a:r>
            <a:endParaRPr sz="1800" b="0" strike="noStrike" dirty="0">
              <a:solidFill>
                <a:srgbClr val="000000"/>
              </a:solidFill>
              <a:latin typeface="Arial"/>
              <a:ea typeface="Arial"/>
              <a:cs typeface="Arial"/>
              <a:sym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412"/>
        <p:cNvGrpSpPr/>
        <p:nvPr/>
      </p:nvGrpSpPr>
      <p:grpSpPr>
        <a:xfrm>
          <a:off x="0" y="0"/>
          <a:ext cx="0" cy="0"/>
          <a:chOff x="0" y="0"/>
          <a:chExt cx="0" cy="0"/>
        </a:xfrm>
      </p:grpSpPr>
      <p:sp>
        <p:nvSpPr>
          <p:cNvPr id="413" name="Google Shape;413;p34"/>
          <p:cNvSpPr txBox="1"/>
          <p:nvPr/>
        </p:nvSpPr>
        <p:spPr>
          <a:xfrm>
            <a:off x="311760" y="410040"/>
            <a:ext cx="8520120" cy="607320"/>
          </a:xfrm>
          <a:prstGeom prst="rect">
            <a:avLst/>
          </a:prstGeom>
          <a:noFill/>
          <a:ln>
            <a:noFill/>
          </a:ln>
        </p:spPr>
        <p:txBody>
          <a:bodyPr spcFirstLastPara="1" wrap="square" lIns="91425" tIns="91425" rIns="91425" bIns="91425" anchor="t" anchorCtr="0">
            <a:normAutofit fontScale="98500" lnSpcReduction="10000"/>
          </a:bodyPr>
          <a:lstStyle/>
          <a:p>
            <a:pPr marL="0" marR="0" lvl="0" indent="0" algn="l" rtl="0">
              <a:lnSpc>
                <a:spcPct val="100000"/>
              </a:lnSpc>
              <a:spcBef>
                <a:spcPts val="0"/>
              </a:spcBef>
              <a:spcAft>
                <a:spcPts val="0"/>
              </a:spcAft>
              <a:buNone/>
            </a:pPr>
            <a:r>
              <a:rPr lang="en-GB" sz="3000" b="0" strike="noStrike">
                <a:solidFill>
                  <a:srgbClr val="2A3990"/>
                </a:solidFill>
                <a:latin typeface="Roboto"/>
                <a:ea typeface="Roboto"/>
                <a:cs typeface="Roboto"/>
                <a:sym typeface="Roboto"/>
              </a:rPr>
              <a:t>STEPS IN SAMPLE DESIGN</a:t>
            </a:r>
            <a:endParaRPr sz="3000" b="0" strike="noStrike">
              <a:solidFill>
                <a:srgbClr val="000000"/>
              </a:solidFill>
              <a:latin typeface="Arial"/>
              <a:ea typeface="Arial"/>
              <a:cs typeface="Arial"/>
              <a:sym typeface="Arial"/>
            </a:endParaRPr>
          </a:p>
        </p:txBody>
      </p:sp>
      <p:sp>
        <p:nvSpPr>
          <p:cNvPr id="414" name="Google Shape;414;p34"/>
          <p:cNvSpPr txBox="1"/>
          <p:nvPr/>
        </p:nvSpPr>
        <p:spPr>
          <a:xfrm>
            <a:off x="311760" y="1229760"/>
            <a:ext cx="8520120" cy="3338640"/>
          </a:xfrm>
          <a:prstGeom prst="rect">
            <a:avLst/>
          </a:prstGeom>
          <a:noFill/>
          <a:ln>
            <a:noFill/>
          </a:ln>
        </p:spPr>
        <p:txBody>
          <a:bodyPr spcFirstLastPara="1" wrap="square" lIns="91425" tIns="91425" rIns="91425" bIns="91425" anchor="t" anchorCtr="0">
            <a:noAutofit/>
          </a:bodyPr>
          <a:lstStyle/>
          <a:p>
            <a:pPr marL="114480" marR="0" lvl="0" indent="0" algn="just" rtl="0">
              <a:lnSpc>
                <a:spcPct val="115000"/>
              </a:lnSpc>
              <a:spcBef>
                <a:spcPts val="0"/>
              </a:spcBef>
              <a:spcAft>
                <a:spcPts val="0"/>
              </a:spcAft>
              <a:buNone/>
            </a:pPr>
            <a:r>
              <a:rPr lang="en-GB" sz="1800" b="0" strike="noStrike" dirty="0">
                <a:solidFill>
                  <a:srgbClr val="434343"/>
                </a:solidFill>
                <a:latin typeface="Roboto"/>
                <a:ea typeface="Roboto"/>
                <a:cs typeface="Roboto"/>
                <a:sym typeface="Roboto"/>
              </a:rPr>
              <a:t>6. </a:t>
            </a:r>
            <a:r>
              <a:rPr lang="en-GB" sz="1800" b="0" strike="noStrike" dirty="0">
                <a:solidFill>
                  <a:srgbClr val="9C254D"/>
                </a:solidFill>
                <a:latin typeface="Roboto"/>
                <a:ea typeface="Roboto"/>
                <a:cs typeface="Roboto"/>
                <a:sym typeface="Roboto"/>
              </a:rPr>
              <a:t>Data Collection:</a:t>
            </a:r>
            <a:endParaRPr sz="1800" b="0" strike="noStrike" dirty="0">
              <a:solidFill>
                <a:srgbClr val="000000"/>
              </a:solidFill>
              <a:latin typeface="Arial"/>
              <a:ea typeface="Arial"/>
              <a:cs typeface="Arial"/>
              <a:sym typeface="Arial"/>
            </a:endParaRPr>
          </a:p>
          <a:p>
            <a:pPr marL="114480" marR="0" lvl="0" indent="0" algn="just" rtl="0">
              <a:lnSpc>
                <a:spcPct val="115000"/>
              </a:lnSpc>
              <a:spcBef>
                <a:spcPts val="0"/>
              </a:spcBef>
              <a:spcAft>
                <a:spcPts val="0"/>
              </a:spcAft>
              <a:buNone/>
            </a:pPr>
            <a:endParaRPr sz="1800" b="0" strike="noStrike" dirty="0">
              <a:solidFill>
                <a:srgbClr val="000000"/>
              </a:solidFill>
              <a:latin typeface="Arial"/>
              <a:ea typeface="Arial"/>
              <a:cs typeface="Arial"/>
              <a:sym typeface="Arial"/>
            </a:endParaRPr>
          </a:p>
          <a:p>
            <a:pPr marL="457200" marR="0" lvl="0" indent="-342720" algn="just" rtl="0">
              <a:lnSpc>
                <a:spcPct val="115000"/>
              </a:lnSpc>
              <a:spcBef>
                <a:spcPts val="0"/>
              </a:spcBef>
              <a:spcAft>
                <a:spcPts val="0"/>
              </a:spcAft>
              <a:buClr>
                <a:srgbClr val="434343"/>
              </a:buClr>
              <a:buSzPts val="1800"/>
              <a:buFont typeface="Roboto"/>
              <a:buChar char="●"/>
            </a:pPr>
            <a:r>
              <a:rPr lang="en-GB" sz="1800" b="0" strike="noStrike" dirty="0">
                <a:solidFill>
                  <a:srgbClr val="434343"/>
                </a:solidFill>
                <a:latin typeface="Roboto"/>
                <a:ea typeface="Roboto"/>
                <a:cs typeface="Roboto"/>
                <a:sym typeface="Roboto"/>
              </a:rPr>
              <a:t>No irrelevant information should be collected and no essential information should be discarded.</a:t>
            </a:r>
            <a:endParaRPr sz="1800" b="0" strike="noStrike" dirty="0">
              <a:solidFill>
                <a:srgbClr val="000000"/>
              </a:solidFill>
              <a:latin typeface="Arial"/>
              <a:ea typeface="Arial"/>
              <a:cs typeface="Arial"/>
              <a:sym typeface="Arial"/>
            </a:endParaRPr>
          </a:p>
          <a:p>
            <a:pPr marL="114480" marR="0" lvl="0" indent="0" algn="just" rtl="0">
              <a:lnSpc>
                <a:spcPct val="115000"/>
              </a:lnSpc>
              <a:spcBef>
                <a:spcPts val="0"/>
              </a:spcBef>
              <a:spcAft>
                <a:spcPts val="0"/>
              </a:spcAft>
              <a:buNone/>
            </a:pPr>
            <a:endParaRPr sz="1800" b="0" strike="noStrike" dirty="0">
              <a:solidFill>
                <a:srgbClr val="000000"/>
              </a:solidFill>
              <a:latin typeface="Arial"/>
              <a:ea typeface="Arial"/>
              <a:cs typeface="Arial"/>
              <a:sym typeface="Arial"/>
            </a:endParaRPr>
          </a:p>
          <a:p>
            <a:pPr marL="457200" marR="0" lvl="0" indent="-342720" algn="just" rtl="0">
              <a:lnSpc>
                <a:spcPct val="115000"/>
              </a:lnSpc>
              <a:spcBef>
                <a:spcPts val="0"/>
              </a:spcBef>
              <a:spcAft>
                <a:spcPts val="0"/>
              </a:spcAft>
              <a:buClr>
                <a:srgbClr val="434343"/>
              </a:buClr>
              <a:buSzPts val="1800"/>
              <a:buFont typeface="Roboto"/>
              <a:buChar char="●"/>
            </a:pPr>
            <a:r>
              <a:rPr lang="en-GB" sz="1800" b="0" strike="noStrike" dirty="0">
                <a:solidFill>
                  <a:srgbClr val="434343"/>
                </a:solidFill>
                <a:latin typeface="Roboto"/>
                <a:ea typeface="Roboto"/>
                <a:cs typeface="Roboto"/>
                <a:sym typeface="Roboto"/>
              </a:rPr>
              <a:t>The objective of the survey has be very clear in the mind of the researcher.</a:t>
            </a:r>
            <a:endParaRPr sz="1800" b="0" strike="noStrike" dirty="0">
              <a:solidFill>
                <a:srgbClr val="000000"/>
              </a:solidFill>
              <a:latin typeface="Arial"/>
              <a:ea typeface="Arial"/>
              <a:cs typeface="Arial"/>
              <a:sym typeface="Aria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418"/>
        <p:cNvGrpSpPr/>
        <p:nvPr/>
      </p:nvGrpSpPr>
      <p:grpSpPr>
        <a:xfrm>
          <a:off x="0" y="0"/>
          <a:ext cx="0" cy="0"/>
          <a:chOff x="0" y="0"/>
          <a:chExt cx="0" cy="0"/>
        </a:xfrm>
      </p:grpSpPr>
      <p:sp>
        <p:nvSpPr>
          <p:cNvPr id="419" name="Google Shape;419;p35"/>
          <p:cNvSpPr txBox="1"/>
          <p:nvPr/>
        </p:nvSpPr>
        <p:spPr>
          <a:xfrm>
            <a:off x="311760" y="410040"/>
            <a:ext cx="8520120" cy="607320"/>
          </a:xfrm>
          <a:prstGeom prst="rect">
            <a:avLst/>
          </a:prstGeom>
          <a:noFill/>
          <a:ln>
            <a:noFill/>
          </a:ln>
        </p:spPr>
        <p:txBody>
          <a:bodyPr spcFirstLastPara="1" wrap="square" lIns="91425" tIns="91425" rIns="91425" bIns="91425" anchor="t" anchorCtr="0">
            <a:normAutofit fontScale="98500" lnSpcReduction="10000"/>
          </a:bodyPr>
          <a:lstStyle/>
          <a:p>
            <a:pPr marL="0" marR="0" lvl="0" indent="0" algn="l" rtl="0">
              <a:lnSpc>
                <a:spcPct val="100000"/>
              </a:lnSpc>
              <a:spcBef>
                <a:spcPts val="0"/>
              </a:spcBef>
              <a:spcAft>
                <a:spcPts val="0"/>
              </a:spcAft>
              <a:buNone/>
            </a:pPr>
            <a:r>
              <a:rPr lang="en-GB" sz="3000" b="0" strike="noStrike">
                <a:solidFill>
                  <a:srgbClr val="2A3990"/>
                </a:solidFill>
                <a:latin typeface="Roboto"/>
                <a:ea typeface="Roboto"/>
                <a:cs typeface="Roboto"/>
                <a:sym typeface="Roboto"/>
              </a:rPr>
              <a:t>STEPS IN SAMPLE DESIGN</a:t>
            </a:r>
            <a:endParaRPr sz="3000" b="0" strike="noStrike">
              <a:solidFill>
                <a:srgbClr val="000000"/>
              </a:solidFill>
              <a:latin typeface="Arial"/>
              <a:ea typeface="Arial"/>
              <a:cs typeface="Arial"/>
              <a:sym typeface="Arial"/>
            </a:endParaRPr>
          </a:p>
        </p:txBody>
      </p:sp>
      <p:sp>
        <p:nvSpPr>
          <p:cNvPr id="420" name="Google Shape;420;p35"/>
          <p:cNvSpPr txBox="1"/>
          <p:nvPr/>
        </p:nvSpPr>
        <p:spPr>
          <a:xfrm>
            <a:off x="311760" y="1229760"/>
            <a:ext cx="8520120" cy="3338640"/>
          </a:xfrm>
          <a:prstGeom prst="rect">
            <a:avLst/>
          </a:prstGeom>
          <a:noFill/>
          <a:ln>
            <a:noFill/>
          </a:ln>
        </p:spPr>
        <p:txBody>
          <a:bodyPr spcFirstLastPara="1" wrap="square" lIns="91425" tIns="91425" rIns="91425" bIns="91425" anchor="t" anchorCtr="0">
            <a:noAutofit/>
          </a:bodyPr>
          <a:lstStyle/>
          <a:p>
            <a:pPr marL="114480" marR="0" lvl="0" indent="0" algn="just" rtl="0">
              <a:lnSpc>
                <a:spcPct val="115000"/>
              </a:lnSpc>
              <a:spcBef>
                <a:spcPts val="0"/>
              </a:spcBef>
              <a:spcAft>
                <a:spcPts val="0"/>
              </a:spcAft>
              <a:buNone/>
            </a:pPr>
            <a:r>
              <a:rPr lang="en-GB" sz="1800" b="0" strike="noStrike" dirty="0">
                <a:solidFill>
                  <a:srgbClr val="434343"/>
                </a:solidFill>
                <a:latin typeface="Roboto"/>
                <a:ea typeface="Roboto"/>
                <a:cs typeface="Roboto"/>
                <a:sym typeface="Roboto"/>
              </a:rPr>
              <a:t>7. </a:t>
            </a:r>
            <a:r>
              <a:rPr lang="en-GB" sz="1800" b="0" strike="noStrike" dirty="0">
                <a:solidFill>
                  <a:srgbClr val="9C254D"/>
                </a:solidFill>
                <a:latin typeface="Roboto"/>
                <a:ea typeface="Roboto"/>
                <a:cs typeface="Roboto"/>
                <a:sym typeface="Roboto"/>
              </a:rPr>
              <a:t>Non – respondents:</a:t>
            </a:r>
            <a:endParaRPr sz="1800" b="0" strike="noStrike" dirty="0">
              <a:solidFill>
                <a:srgbClr val="000000"/>
              </a:solidFill>
              <a:latin typeface="Arial"/>
              <a:ea typeface="Arial"/>
              <a:cs typeface="Arial"/>
              <a:sym typeface="Arial"/>
            </a:endParaRPr>
          </a:p>
          <a:p>
            <a:pPr marL="114480" marR="0" lvl="0" indent="0" algn="just" rtl="0">
              <a:lnSpc>
                <a:spcPct val="115000"/>
              </a:lnSpc>
              <a:spcBef>
                <a:spcPts val="0"/>
              </a:spcBef>
              <a:spcAft>
                <a:spcPts val="0"/>
              </a:spcAft>
              <a:buNone/>
            </a:pPr>
            <a:endParaRPr sz="1800" b="0" strike="noStrike" dirty="0">
              <a:solidFill>
                <a:srgbClr val="000000"/>
              </a:solidFill>
              <a:latin typeface="Arial"/>
              <a:ea typeface="Arial"/>
              <a:cs typeface="Arial"/>
              <a:sym typeface="Arial"/>
            </a:endParaRPr>
          </a:p>
          <a:p>
            <a:pPr marL="457200" marR="0" lvl="0" indent="-342720" algn="just" rtl="0">
              <a:lnSpc>
                <a:spcPct val="115000"/>
              </a:lnSpc>
              <a:spcBef>
                <a:spcPts val="0"/>
              </a:spcBef>
              <a:spcAft>
                <a:spcPts val="0"/>
              </a:spcAft>
              <a:buClr>
                <a:srgbClr val="434343"/>
              </a:buClr>
              <a:buSzPts val="1800"/>
              <a:buFont typeface="Roboto"/>
              <a:buChar char="●"/>
            </a:pPr>
            <a:r>
              <a:rPr lang="en-GB" sz="1800" b="0" strike="noStrike" dirty="0">
                <a:solidFill>
                  <a:srgbClr val="434343"/>
                </a:solidFill>
                <a:latin typeface="Roboto"/>
                <a:ea typeface="Roboto"/>
                <a:cs typeface="Roboto"/>
                <a:sym typeface="Roboto"/>
              </a:rPr>
              <a:t>Sometimes data may not be collected for all the sampled units. This non-respondents tends to change the results.</a:t>
            </a:r>
            <a:endParaRPr sz="1800" b="0" strike="noStrike" dirty="0">
              <a:solidFill>
                <a:srgbClr val="000000"/>
              </a:solidFill>
              <a:latin typeface="Arial"/>
              <a:ea typeface="Arial"/>
              <a:cs typeface="Arial"/>
              <a:sym typeface="Arial"/>
            </a:endParaRPr>
          </a:p>
          <a:p>
            <a:pPr marL="0" marR="0" lvl="0" indent="0" algn="just" rtl="0">
              <a:lnSpc>
                <a:spcPct val="115000"/>
              </a:lnSpc>
              <a:spcBef>
                <a:spcPts val="0"/>
              </a:spcBef>
              <a:spcAft>
                <a:spcPts val="0"/>
              </a:spcAft>
              <a:buNone/>
            </a:pPr>
            <a:endParaRPr sz="1800" b="0" strike="noStrike" dirty="0">
              <a:solidFill>
                <a:srgbClr val="000000"/>
              </a:solidFill>
              <a:latin typeface="Arial"/>
              <a:ea typeface="Arial"/>
              <a:cs typeface="Arial"/>
              <a:sym typeface="Arial"/>
            </a:endParaRPr>
          </a:p>
          <a:p>
            <a:pPr marL="457200" marR="0" lvl="0" indent="-342720" algn="just" rtl="0">
              <a:lnSpc>
                <a:spcPct val="115000"/>
              </a:lnSpc>
              <a:spcBef>
                <a:spcPts val="0"/>
              </a:spcBef>
              <a:spcAft>
                <a:spcPts val="0"/>
              </a:spcAft>
              <a:buClr>
                <a:srgbClr val="434343"/>
              </a:buClr>
              <a:buSzPts val="1800"/>
              <a:buFont typeface="Roboto"/>
              <a:buChar char="●"/>
            </a:pPr>
            <a:r>
              <a:rPr lang="en-GB" sz="1800" b="0" strike="noStrike" dirty="0">
                <a:solidFill>
                  <a:srgbClr val="434343"/>
                </a:solidFill>
                <a:latin typeface="Roboto"/>
                <a:ea typeface="Roboto"/>
                <a:cs typeface="Roboto"/>
                <a:sym typeface="Roboto"/>
              </a:rPr>
              <a:t>The reason for non-respondents must be recorded and handled carefully by the investigator.</a:t>
            </a:r>
            <a:endParaRPr sz="1800" b="0" strike="noStrike" dirty="0">
              <a:solidFill>
                <a:srgbClr val="000000"/>
              </a:solidFill>
              <a:latin typeface="Arial"/>
              <a:ea typeface="Arial"/>
              <a:cs typeface="Arial"/>
              <a:sym typeface="Arial"/>
            </a:endParaRPr>
          </a:p>
          <a:p>
            <a:pPr marL="114480" marR="0" lvl="0" indent="0" algn="just" rtl="0">
              <a:lnSpc>
                <a:spcPct val="115000"/>
              </a:lnSpc>
              <a:spcBef>
                <a:spcPts val="0"/>
              </a:spcBef>
              <a:spcAft>
                <a:spcPts val="0"/>
              </a:spcAft>
              <a:buNone/>
            </a:pPr>
            <a:endParaRPr sz="1800" b="0" strike="noStrike" dirty="0">
              <a:solidFill>
                <a:srgbClr val="000000"/>
              </a:solidFill>
              <a:latin typeface="Arial"/>
              <a:ea typeface="Arial"/>
              <a:cs typeface="Arial"/>
              <a:sym typeface="Aria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424"/>
        <p:cNvGrpSpPr/>
        <p:nvPr/>
      </p:nvGrpSpPr>
      <p:grpSpPr>
        <a:xfrm>
          <a:off x="0" y="0"/>
          <a:ext cx="0" cy="0"/>
          <a:chOff x="0" y="0"/>
          <a:chExt cx="0" cy="0"/>
        </a:xfrm>
      </p:grpSpPr>
      <p:sp>
        <p:nvSpPr>
          <p:cNvPr id="425" name="Google Shape;425;p36"/>
          <p:cNvSpPr txBox="1"/>
          <p:nvPr/>
        </p:nvSpPr>
        <p:spPr>
          <a:xfrm>
            <a:off x="311760" y="410040"/>
            <a:ext cx="8520120" cy="607320"/>
          </a:xfrm>
          <a:prstGeom prst="rect">
            <a:avLst/>
          </a:prstGeom>
          <a:noFill/>
          <a:ln>
            <a:noFill/>
          </a:ln>
        </p:spPr>
        <p:txBody>
          <a:bodyPr spcFirstLastPara="1" wrap="square" lIns="91425" tIns="91425" rIns="91425" bIns="91425" anchor="t" anchorCtr="0">
            <a:normAutofit fontScale="98500" lnSpcReduction="10000"/>
          </a:bodyPr>
          <a:lstStyle/>
          <a:p>
            <a:pPr marL="0" marR="0" lvl="0" indent="0" algn="l" rtl="0">
              <a:lnSpc>
                <a:spcPct val="100000"/>
              </a:lnSpc>
              <a:spcBef>
                <a:spcPts val="0"/>
              </a:spcBef>
              <a:spcAft>
                <a:spcPts val="0"/>
              </a:spcAft>
              <a:buNone/>
            </a:pPr>
            <a:r>
              <a:rPr lang="en-GB" sz="3000" b="0" strike="noStrike">
                <a:solidFill>
                  <a:srgbClr val="2A3990"/>
                </a:solidFill>
                <a:latin typeface="Roboto"/>
                <a:ea typeface="Roboto"/>
                <a:cs typeface="Roboto"/>
                <a:sym typeface="Roboto"/>
              </a:rPr>
              <a:t>STEPS IN SAMPLE DESIGN</a:t>
            </a:r>
            <a:endParaRPr sz="3000" b="0" strike="noStrike">
              <a:solidFill>
                <a:srgbClr val="000000"/>
              </a:solidFill>
              <a:latin typeface="Arial"/>
              <a:ea typeface="Arial"/>
              <a:cs typeface="Arial"/>
              <a:sym typeface="Arial"/>
            </a:endParaRPr>
          </a:p>
        </p:txBody>
      </p:sp>
      <p:sp>
        <p:nvSpPr>
          <p:cNvPr id="426" name="Google Shape;426;p36"/>
          <p:cNvSpPr txBox="1"/>
          <p:nvPr/>
        </p:nvSpPr>
        <p:spPr>
          <a:xfrm>
            <a:off x="311760" y="1229760"/>
            <a:ext cx="8520120" cy="3338640"/>
          </a:xfrm>
          <a:prstGeom prst="rect">
            <a:avLst/>
          </a:prstGeom>
          <a:noFill/>
          <a:ln>
            <a:noFill/>
          </a:ln>
        </p:spPr>
        <p:txBody>
          <a:bodyPr spcFirstLastPara="1" wrap="square" lIns="91425" tIns="91425" rIns="91425" bIns="91425" anchor="t" anchorCtr="0">
            <a:noAutofit/>
          </a:bodyPr>
          <a:lstStyle/>
          <a:p>
            <a:pPr marL="114480" marR="0" lvl="0" indent="0" algn="just" rtl="0">
              <a:lnSpc>
                <a:spcPct val="115000"/>
              </a:lnSpc>
              <a:spcBef>
                <a:spcPts val="0"/>
              </a:spcBef>
              <a:spcAft>
                <a:spcPts val="0"/>
              </a:spcAft>
              <a:buNone/>
            </a:pPr>
            <a:r>
              <a:rPr lang="en-GB" sz="1800" b="0" strike="noStrike" dirty="0">
                <a:solidFill>
                  <a:srgbClr val="434343"/>
                </a:solidFill>
                <a:latin typeface="Roboto"/>
                <a:ea typeface="Roboto"/>
                <a:cs typeface="Roboto"/>
                <a:sym typeface="Roboto"/>
              </a:rPr>
              <a:t>8.</a:t>
            </a:r>
            <a:r>
              <a:rPr lang="en-GB" sz="1800" b="0" strike="noStrike" dirty="0">
                <a:solidFill>
                  <a:srgbClr val="9C254D"/>
                </a:solidFill>
                <a:latin typeface="Roboto"/>
                <a:ea typeface="Roboto"/>
                <a:cs typeface="Roboto"/>
                <a:sym typeface="Roboto"/>
              </a:rPr>
              <a:t> Selection of proper sampling design:</a:t>
            </a:r>
            <a:endParaRPr sz="1800" b="0" strike="noStrike" dirty="0">
              <a:solidFill>
                <a:srgbClr val="000000"/>
              </a:solidFill>
              <a:latin typeface="Arial"/>
              <a:ea typeface="Arial"/>
              <a:cs typeface="Arial"/>
              <a:sym typeface="Arial"/>
            </a:endParaRPr>
          </a:p>
          <a:p>
            <a:pPr marL="114480" marR="0" lvl="0" indent="0" algn="just" rtl="0">
              <a:lnSpc>
                <a:spcPct val="115000"/>
              </a:lnSpc>
              <a:spcBef>
                <a:spcPts val="0"/>
              </a:spcBef>
              <a:spcAft>
                <a:spcPts val="0"/>
              </a:spcAft>
              <a:buNone/>
            </a:pPr>
            <a:endParaRPr sz="1800" b="0" strike="noStrike" dirty="0">
              <a:solidFill>
                <a:srgbClr val="000000"/>
              </a:solidFill>
              <a:latin typeface="Arial"/>
              <a:ea typeface="Arial"/>
              <a:cs typeface="Arial"/>
              <a:sym typeface="Arial"/>
            </a:endParaRPr>
          </a:p>
          <a:p>
            <a:pPr marL="457200" marR="0" lvl="0" indent="-342720" algn="just" rtl="0">
              <a:lnSpc>
                <a:spcPct val="115000"/>
              </a:lnSpc>
              <a:spcBef>
                <a:spcPts val="0"/>
              </a:spcBef>
              <a:spcAft>
                <a:spcPts val="0"/>
              </a:spcAft>
              <a:buClr>
                <a:srgbClr val="434343"/>
              </a:buClr>
              <a:buSzPts val="1800"/>
              <a:buFont typeface="Roboto"/>
              <a:buChar char="●"/>
            </a:pPr>
            <a:r>
              <a:rPr lang="en-GB" sz="1800" b="0" strike="noStrike" dirty="0">
                <a:solidFill>
                  <a:srgbClr val="434343"/>
                </a:solidFill>
                <a:latin typeface="Times New Roman"/>
                <a:ea typeface="Times New Roman"/>
                <a:cs typeface="Times New Roman"/>
                <a:sym typeface="Times New Roman"/>
              </a:rPr>
              <a:t>The researcher must decide the type of sample he will use i.e., he must decide about the technique to be used in selecting the items for the sample.</a:t>
            </a:r>
            <a:endParaRPr sz="1800" b="0" strike="noStrike" dirty="0">
              <a:solidFill>
                <a:srgbClr val="000000"/>
              </a:solidFill>
              <a:latin typeface="Arial"/>
              <a:ea typeface="Arial"/>
              <a:cs typeface="Arial"/>
              <a:sym typeface="Arial"/>
            </a:endParaRPr>
          </a:p>
          <a:p>
            <a:pPr marL="457200" marR="0" lvl="0" indent="-342720" algn="just" rtl="0">
              <a:lnSpc>
                <a:spcPct val="115000"/>
              </a:lnSpc>
              <a:spcBef>
                <a:spcPts val="0"/>
              </a:spcBef>
              <a:spcAft>
                <a:spcPts val="0"/>
              </a:spcAft>
              <a:buClr>
                <a:srgbClr val="434343"/>
              </a:buClr>
              <a:buSzPts val="1800"/>
              <a:buFont typeface="Roboto"/>
              <a:buChar char="●"/>
            </a:pPr>
            <a:r>
              <a:rPr lang="en-GB" sz="1800" b="0" strike="noStrike" dirty="0">
                <a:solidFill>
                  <a:srgbClr val="434343"/>
                </a:solidFill>
                <a:latin typeface="Times New Roman"/>
                <a:ea typeface="Times New Roman"/>
                <a:cs typeface="Times New Roman"/>
                <a:sym typeface="Times New Roman"/>
              </a:rPr>
              <a:t> In fact, this technique or procedure stands for the sample design itself. </a:t>
            </a:r>
            <a:endParaRPr sz="1800" b="0" strike="noStrike" dirty="0">
              <a:solidFill>
                <a:srgbClr val="000000"/>
              </a:solidFill>
              <a:latin typeface="Arial"/>
              <a:ea typeface="Arial"/>
              <a:cs typeface="Arial"/>
              <a:sym typeface="Arial"/>
            </a:endParaRPr>
          </a:p>
          <a:p>
            <a:pPr marL="457200" marR="0" lvl="0" indent="-342720" algn="just" rtl="0">
              <a:lnSpc>
                <a:spcPct val="115000"/>
              </a:lnSpc>
              <a:spcBef>
                <a:spcPts val="0"/>
              </a:spcBef>
              <a:spcAft>
                <a:spcPts val="0"/>
              </a:spcAft>
              <a:buClr>
                <a:srgbClr val="434343"/>
              </a:buClr>
              <a:buSzPts val="1800"/>
              <a:buFont typeface="Roboto"/>
              <a:buChar char="●"/>
            </a:pPr>
            <a:r>
              <a:rPr lang="en-GB" sz="1800" b="0" strike="noStrike" dirty="0">
                <a:solidFill>
                  <a:srgbClr val="434343"/>
                </a:solidFill>
                <a:latin typeface="Times New Roman"/>
                <a:ea typeface="Times New Roman"/>
                <a:cs typeface="Times New Roman"/>
                <a:sym typeface="Times New Roman"/>
              </a:rPr>
              <a:t>There are several sample designs out of which the researcher must choose one for his study.</a:t>
            </a:r>
            <a:endParaRPr sz="1800" b="0" strike="noStrike" dirty="0">
              <a:solidFill>
                <a:srgbClr val="000000"/>
              </a:solidFill>
              <a:latin typeface="Arial"/>
              <a:ea typeface="Arial"/>
              <a:cs typeface="Arial"/>
              <a:sym typeface="Arial"/>
            </a:endParaRPr>
          </a:p>
          <a:p>
            <a:pPr marL="457200" marR="0" lvl="0" indent="-342720" algn="just" rtl="0">
              <a:lnSpc>
                <a:spcPct val="115000"/>
              </a:lnSpc>
              <a:spcBef>
                <a:spcPts val="0"/>
              </a:spcBef>
              <a:spcAft>
                <a:spcPts val="0"/>
              </a:spcAft>
              <a:buClr>
                <a:srgbClr val="434343"/>
              </a:buClr>
              <a:buSzPts val="1800"/>
              <a:buFont typeface="Roboto"/>
              <a:buChar char="●"/>
            </a:pPr>
            <a:r>
              <a:rPr lang="en-GB" sz="1800" b="0" strike="noStrike" dirty="0">
                <a:solidFill>
                  <a:srgbClr val="434343"/>
                </a:solidFill>
                <a:latin typeface="Times New Roman"/>
                <a:ea typeface="Times New Roman"/>
                <a:cs typeface="Times New Roman"/>
                <a:sym typeface="Times New Roman"/>
              </a:rPr>
              <a:t> Obviously, he must select that design which, for a given sample size and for a given cost, has a smaller sampling error.</a:t>
            </a:r>
            <a:endParaRPr sz="1800" b="0" strike="noStrike" dirty="0">
              <a:solidFill>
                <a:srgbClr val="000000"/>
              </a:solidFill>
              <a:latin typeface="Arial"/>
              <a:ea typeface="Arial"/>
              <a:cs typeface="Arial"/>
              <a:sym typeface="Aria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430"/>
        <p:cNvGrpSpPr/>
        <p:nvPr/>
      </p:nvGrpSpPr>
      <p:grpSpPr>
        <a:xfrm>
          <a:off x="0" y="0"/>
          <a:ext cx="0" cy="0"/>
          <a:chOff x="0" y="0"/>
          <a:chExt cx="0" cy="0"/>
        </a:xfrm>
      </p:grpSpPr>
      <p:sp>
        <p:nvSpPr>
          <p:cNvPr id="431" name="Google Shape;431;p37"/>
          <p:cNvSpPr txBox="1"/>
          <p:nvPr/>
        </p:nvSpPr>
        <p:spPr>
          <a:xfrm>
            <a:off x="311760" y="410040"/>
            <a:ext cx="8520120" cy="607320"/>
          </a:xfrm>
          <a:prstGeom prst="rect">
            <a:avLst/>
          </a:prstGeom>
          <a:noFill/>
          <a:ln>
            <a:noFill/>
          </a:ln>
        </p:spPr>
        <p:txBody>
          <a:bodyPr spcFirstLastPara="1" wrap="square" lIns="91425" tIns="91425" rIns="91425" bIns="91425" anchor="t" anchorCtr="0">
            <a:normAutofit fontScale="98500" lnSpcReduction="10000"/>
          </a:bodyPr>
          <a:lstStyle/>
          <a:p>
            <a:pPr marL="0" marR="0" lvl="0" indent="0" algn="l" rtl="0">
              <a:lnSpc>
                <a:spcPct val="100000"/>
              </a:lnSpc>
              <a:spcBef>
                <a:spcPts val="0"/>
              </a:spcBef>
              <a:spcAft>
                <a:spcPts val="0"/>
              </a:spcAft>
              <a:buNone/>
            </a:pPr>
            <a:r>
              <a:rPr lang="en-GB" sz="3000" b="0" strike="noStrike">
                <a:solidFill>
                  <a:srgbClr val="2A3990"/>
                </a:solidFill>
                <a:latin typeface="Roboto"/>
                <a:ea typeface="Roboto"/>
                <a:cs typeface="Roboto"/>
                <a:sym typeface="Roboto"/>
              </a:rPr>
              <a:t>STEPS IN SAMPLE DESIGN</a:t>
            </a:r>
            <a:endParaRPr sz="3000" b="0" strike="noStrike">
              <a:solidFill>
                <a:srgbClr val="000000"/>
              </a:solidFill>
              <a:latin typeface="Arial"/>
              <a:ea typeface="Arial"/>
              <a:cs typeface="Arial"/>
              <a:sym typeface="Arial"/>
            </a:endParaRPr>
          </a:p>
        </p:txBody>
      </p:sp>
      <p:sp>
        <p:nvSpPr>
          <p:cNvPr id="432" name="Google Shape;432;p37"/>
          <p:cNvSpPr txBox="1"/>
          <p:nvPr/>
        </p:nvSpPr>
        <p:spPr>
          <a:xfrm>
            <a:off x="311760" y="1229760"/>
            <a:ext cx="8520120" cy="3338640"/>
          </a:xfrm>
          <a:prstGeom prst="rect">
            <a:avLst/>
          </a:prstGeom>
          <a:noFill/>
          <a:ln>
            <a:noFill/>
          </a:ln>
        </p:spPr>
        <p:txBody>
          <a:bodyPr spcFirstLastPara="1" wrap="square" lIns="91425" tIns="91425" rIns="91425" bIns="91425" anchor="t" anchorCtr="0">
            <a:noAutofit/>
          </a:bodyPr>
          <a:lstStyle/>
          <a:p>
            <a:pPr marL="114480" marR="0" lvl="0" indent="0" algn="just" rtl="0">
              <a:lnSpc>
                <a:spcPct val="115000"/>
              </a:lnSpc>
              <a:spcBef>
                <a:spcPts val="0"/>
              </a:spcBef>
              <a:spcAft>
                <a:spcPts val="0"/>
              </a:spcAft>
              <a:buNone/>
            </a:pPr>
            <a:r>
              <a:rPr lang="en-GB" sz="1800" b="0" strike="noStrike" dirty="0">
                <a:solidFill>
                  <a:srgbClr val="434343"/>
                </a:solidFill>
                <a:latin typeface="Roboto"/>
                <a:ea typeface="Roboto"/>
                <a:cs typeface="Roboto"/>
                <a:sym typeface="Roboto"/>
              </a:rPr>
              <a:t>9. </a:t>
            </a:r>
            <a:r>
              <a:rPr lang="en-GB" sz="1800" b="0" strike="noStrike" dirty="0">
                <a:solidFill>
                  <a:srgbClr val="9C254D"/>
                </a:solidFill>
                <a:latin typeface="Roboto"/>
                <a:ea typeface="Roboto"/>
                <a:cs typeface="Roboto"/>
                <a:sym typeface="Roboto"/>
              </a:rPr>
              <a:t>Organizing field work:</a:t>
            </a:r>
            <a:endParaRPr sz="1800" b="0" strike="noStrike" dirty="0">
              <a:solidFill>
                <a:srgbClr val="000000"/>
              </a:solidFill>
              <a:latin typeface="Arial"/>
              <a:ea typeface="Arial"/>
              <a:cs typeface="Arial"/>
              <a:sym typeface="Arial"/>
            </a:endParaRPr>
          </a:p>
          <a:p>
            <a:pPr marL="114480" marR="0" lvl="0" indent="0" algn="just" rtl="0">
              <a:lnSpc>
                <a:spcPct val="115000"/>
              </a:lnSpc>
              <a:spcBef>
                <a:spcPts val="0"/>
              </a:spcBef>
              <a:spcAft>
                <a:spcPts val="0"/>
              </a:spcAft>
              <a:buNone/>
            </a:pPr>
            <a:endParaRPr sz="1800" b="0" strike="noStrike" dirty="0">
              <a:solidFill>
                <a:srgbClr val="000000"/>
              </a:solidFill>
              <a:latin typeface="Arial"/>
              <a:ea typeface="Arial"/>
              <a:cs typeface="Arial"/>
              <a:sym typeface="Arial"/>
            </a:endParaRPr>
          </a:p>
          <a:p>
            <a:pPr marL="457200" marR="0" lvl="0" indent="-342720" algn="just" rtl="0">
              <a:lnSpc>
                <a:spcPct val="115000"/>
              </a:lnSpc>
              <a:spcBef>
                <a:spcPts val="0"/>
              </a:spcBef>
              <a:spcAft>
                <a:spcPts val="0"/>
              </a:spcAft>
              <a:buClr>
                <a:srgbClr val="434343"/>
              </a:buClr>
              <a:buSzPts val="1800"/>
              <a:buFont typeface="Roboto"/>
              <a:buChar char="●"/>
            </a:pPr>
            <a:r>
              <a:rPr lang="en-GB" sz="1800" b="0" strike="noStrike" dirty="0">
                <a:solidFill>
                  <a:srgbClr val="434343"/>
                </a:solidFill>
                <a:latin typeface="Roboto"/>
                <a:ea typeface="Roboto"/>
                <a:cs typeface="Roboto"/>
                <a:sym typeface="Roboto"/>
              </a:rPr>
              <a:t>The success of a survey depends on the reliable filed work.</a:t>
            </a:r>
            <a:endParaRPr sz="1800" b="0" strike="noStrike" dirty="0">
              <a:solidFill>
                <a:srgbClr val="000000"/>
              </a:solidFill>
              <a:latin typeface="Arial"/>
              <a:ea typeface="Arial"/>
              <a:cs typeface="Arial"/>
              <a:sym typeface="Arial"/>
            </a:endParaRPr>
          </a:p>
          <a:p>
            <a:pPr marL="0" marR="0" lvl="0" indent="0" algn="just" rtl="0">
              <a:lnSpc>
                <a:spcPct val="115000"/>
              </a:lnSpc>
              <a:spcBef>
                <a:spcPts val="0"/>
              </a:spcBef>
              <a:spcAft>
                <a:spcPts val="0"/>
              </a:spcAft>
              <a:buNone/>
            </a:pPr>
            <a:endParaRPr sz="1800" b="0" strike="noStrike" dirty="0">
              <a:solidFill>
                <a:srgbClr val="000000"/>
              </a:solidFill>
              <a:latin typeface="Arial"/>
              <a:ea typeface="Arial"/>
              <a:cs typeface="Arial"/>
              <a:sym typeface="Arial"/>
            </a:endParaRPr>
          </a:p>
          <a:p>
            <a:pPr marL="114480" marR="0" lvl="0" indent="0" algn="just" rtl="0">
              <a:lnSpc>
                <a:spcPct val="115000"/>
              </a:lnSpc>
              <a:spcBef>
                <a:spcPts val="0"/>
              </a:spcBef>
              <a:spcAft>
                <a:spcPts val="0"/>
              </a:spcAft>
              <a:buNone/>
            </a:pPr>
            <a:endParaRPr sz="1800" b="0" strike="noStrike" dirty="0">
              <a:solidFill>
                <a:srgbClr val="000000"/>
              </a:solidFill>
              <a:latin typeface="Arial"/>
              <a:ea typeface="Arial"/>
              <a:cs typeface="Arial"/>
              <a:sym typeface="Arial"/>
            </a:endParaRPr>
          </a:p>
          <a:p>
            <a:pPr marL="457200" marR="0" lvl="0" indent="-342720" algn="just" rtl="0">
              <a:lnSpc>
                <a:spcPct val="115000"/>
              </a:lnSpc>
              <a:spcBef>
                <a:spcPts val="0"/>
              </a:spcBef>
              <a:spcAft>
                <a:spcPts val="0"/>
              </a:spcAft>
              <a:buClr>
                <a:srgbClr val="434343"/>
              </a:buClr>
              <a:buSzPts val="1800"/>
              <a:buFont typeface="Roboto"/>
              <a:buChar char="●"/>
            </a:pPr>
            <a:r>
              <a:rPr lang="en-GB" sz="1800" b="0" strike="noStrike" dirty="0">
                <a:solidFill>
                  <a:srgbClr val="434343"/>
                </a:solidFill>
                <a:latin typeface="Roboto"/>
                <a:ea typeface="Roboto"/>
                <a:cs typeface="Roboto"/>
                <a:sym typeface="Roboto"/>
              </a:rPr>
              <a:t>There should be efficient supervisory staff and trained personnel's for the field work. </a:t>
            </a:r>
            <a:endParaRPr sz="1800" b="0" strike="noStrike" dirty="0">
              <a:solidFill>
                <a:srgbClr val="000000"/>
              </a:solidFill>
              <a:latin typeface="Arial"/>
              <a:ea typeface="Arial"/>
              <a:cs typeface="Arial"/>
              <a:sym typeface="Arial"/>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436"/>
        <p:cNvGrpSpPr/>
        <p:nvPr/>
      </p:nvGrpSpPr>
      <p:grpSpPr>
        <a:xfrm>
          <a:off x="0" y="0"/>
          <a:ext cx="0" cy="0"/>
          <a:chOff x="0" y="0"/>
          <a:chExt cx="0" cy="0"/>
        </a:xfrm>
      </p:grpSpPr>
      <p:sp>
        <p:nvSpPr>
          <p:cNvPr id="437" name="Google Shape;437;p38"/>
          <p:cNvSpPr txBox="1"/>
          <p:nvPr/>
        </p:nvSpPr>
        <p:spPr>
          <a:xfrm>
            <a:off x="311760" y="410040"/>
            <a:ext cx="8520120" cy="607320"/>
          </a:xfrm>
          <a:prstGeom prst="rect">
            <a:avLst/>
          </a:prstGeom>
          <a:noFill/>
          <a:ln>
            <a:noFill/>
          </a:ln>
        </p:spPr>
        <p:txBody>
          <a:bodyPr spcFirstLastPara="1" wrap="square" lIns="91425" tIns="91425" rIns="91425" bIns="91425" anchor="t" anchorCtr="0">
            <a:normAutofit fontScale="98500" lnSpcReduction="10000"/>
          </a:bodyPr>
          <a:lstStyle/>
          <a:p>
            <a:pPr marL="0" marR="0" lvl="0" indent="0" algn="l" rtl="0">
              <a:lnSpc>
                <a:spcPct val="100000"/>
              </a:lnSpc>
              <a:spcBef>
                <a:spcPts val="0"/>
              </a:spcBef>
              <a:spcAft>
                <a:spcPts val="0"/>
              </a:spcAft>
              <a:buNone/>
            </a:pPr>
            <a:r>
              <a:rPr lang="en-GB" sz="3000" b="0" strike="noStrike">
                <a:solidFill>
                  <a:srgbClr val="2A3990"/>
                </a:solidFill>
                <a:latin typeface="Roboto"/>
                <a:ea typeface="Roboto"/>
                <a:cs typeface="Roboto"/>
                <a:sym typeface="Roboto"/>
              </a:rPr>
              <a:t>STEPS IN SAMPLE DESIGN</a:t>
            </a:r>
            <a:endParaRPr sz="3000" b="0" strike="noStrike">
              <a:solidFill>
                <a:srgbClr val="000000"/>
              </a:solidFill>
              <a:latin typeface="Arial"/>
              <a:ea typeface="Arial"/>
              <a:cs typeface="Arial"/>
              <a:sym typeface="Arial"/>
            </a:endParaRPr>
          </a:p>
        </p:txBody>
      </p:sp>
      <p:sp>
        <p:nvSpPr>
          <p:cNvPr id="438" name="Google Shape;438;p38"/>
          <p:cNvSpPr txBox="1"/>
          <p:nvPr/>
        </p:nvSpPr>
        <p:spPr>
          <a:xfrm>
            <a:off x="311760" y="1229760"/>
            <a:ext cx="8520120" cy="3338640"/>
          </a:xfrm>
          <a:prstGeom prst="rect">
            <a:avLst/>
          </a:prstGeom>
          <a:noFill/>
          <a:ln>
            <a:noFill/>
          </a:ln>
        </p:spPr>
        <p:txBody>
          <a:bodyPr spcFirstLastPara="1" wrap="square" lIns="91425" tIns="91425" rIns="91425" bIns="91425" anchor="t" anchorCtr="0">
            <a:noAutofit/>
          </a:bodyPr>
          <a:lstStyle/>
          <a:p>
            <a:pPr marL="114480" marR="0" lvl="0" indent="0" algn="just" rtl="0">
              <a:lnSpc>
                <a:spcPct val="115000"/>
              </a:lnSpc>
              <a:spcBef>
                <a:spcPts val="0"/>
              </a:spcBef>
              <a:spcAft>
                <a:spcPts val="0"/>
              </a:spcAft>
              <a:buNone/>
            </a:pPr>
            <a:r>
              <a:rPr lang="en-GB" sz="1800" b="0" strike="noStrike" dirty="0">
                <a:solidFill>
                  <a:srgbClr val="434343"/>
                </a:solidFill>
                <a:latin typeface="Roboto"/>
                <a:ea typeface="Roboto"/>
                <a:cs typeface="Roboto"/>
                <a:sym typeface="Roboto"/>
              </a:rPr>
              <a:t>10. </a:t>
            </a:r>
            <a:r>
              <a:rPr lang="en-GB" sz="1800" b="0" strike="noStrike" dirty="0">
                <a:solidFill>
                  <a:srgbClr val="9C254D"/>
                </a:solidFill>
                <a:latin typeface="Roboto"/>
                <a:ea typeface="Roboto"/>
                <a:cs typeface="Roboto"/>
                <a:sym typeface="Roboto"/>
              </a:rPr>
              <a:t>Pilot survey:</a:t>
            </a:r>
            <a:endParaRPr sz="1800" b="0" strike="noStrike" dirty="0">
              <a:solidFill>
                <a:srgbClr val="000000"/>
              </a:solidFill>
              <a:latin typeface="Arial"/>
              <a:ea typeface="Arial"/>
              <a:cs typeface="Arial"/>
              <a:sym typeface="Arial"/>
            </a:endParaRPr>
          </a:p>
          <a:p>
            <a:pPr marL="114480" marR="0" lvl="0" indent="0" algn="just" rtl="0">
              <a:lnSpc>
                <a:spcPct val="115000"/>
              </a:lnSpc>
              <a:spcBef>
                <a:spcPts val="0"/>
              </a:spcBef>
              <a:spcAft>
                <a:spcPts val="0"/>
              </a:spcAft>
              <a:buNone/>
            </a:pPr>
            <a:endParaRPr sz="1800" b="0" strike="noStrike" dirty="0">
              <a:solidFill>
                <a:srgbClr val="000000"/>
              </a:solidFill>
              <a:latin typeface="Arial"/>
              <a:ea typeface="Arial"/>
              <a:cs typeface="Arial"/>
              <a:sym typeface="Arial"/>
            </a:endParaRPr>
          </a:p>
          <a:p>
            <a:pPr marL="457200" marR="0" lvl="0" indent="-342720" algn="just" rtl="0">
              <a:lnSpc>
                <a:spcPct val="115000"/>
              </a:lnSpc>
              <a:spcBef>
                <a:spcPts val="0"/>
              </a:spcBef>
              <a:spcAft>
                <a:spcPts val="0"/>
              </a:spcAft>
              <a:buClr>
                <a:srgbClr val="434343"/>
              </a:buClr>
              <a:buSzPts val="1800"/>
              <a:buFont typeface="Roboto"/>
              <a:buChar char="●"/>
            </a:pPr>
            <a:r>
              <a:rPr lang="en-GB" sz="1800" b="0" strike="noStrike" dirty="0">
                <a:solidFill>
                  <a:srgbClr val="434343"/>
                </a:solidFill>
                <a:latin typeface="Roboto"/>
                <a:ea typeface="Roboto"/>
                <a:cs typeface="Roboto"/>
                <a:sym typeface="Roboto"/>
              </a:rPr>
              <a:t>It is always helpful to try out the research design on a small scale before going to the field. This is called ‘pilot survey’ or ‘</a:t>
            </a:r>
            <a:r>
              <a:rPr lang="en-GB" sz="1800" b="0" strike="noStrike" dirty="0" err="1">
                <a:solidFill>
                  <a:srgbClr val="434343"/>
                </a:solidFill>
                <a:latin typeface="Roboto"/>
                <a:ea typeface="Roboto"/>
                <a:cs typeface="Roboto"/>
                <a:sym typeface="Roboto"/>
              </a:rPr>
              <a:t>pretest</a:t>
            </a:r>
            <a:r>
              <a:rPr lang="en-GB" sz="1800" b="0" strike="noStrike" dirty="0">
                <a:solidFill>
                  <a:srgbClr val="434343"/>
                </a:solidFill>
                <a:latin typeface="Roboto"/>
                <a:ea typeface="Roboto"/>
                <a:cs typeface="Roboto"/>
                <a:sym typeface="Roboto"/>
              </a:rPr>
              <a:t>’.</a:t>
            </a:r>
            <a:endParaRPr sz="1800" b="0" strike="noStrike" dirty="0">
              <a:solidFill>
                <a:srgbClr val="000000"/>
              </a:solidFill>
              <a:latin typeface="Arial"/>
              <a:ea typeface="Arial"/>
              <a:cs typeface="Arial"/>
              <a:sym typeface="Arial"/>
            </a:endParaRPr>
          </a:p>
          <a:p>
            <a:pPr marL="0" marR="0" lvl="0" indent="0" algn="just" rtl="0">
              <a:lnSpc>
                <a:spcPct val="115000"/>
              </a:lnSpc>
              <a:spcBef>
                <a:spcPts val="0"/>
              </a:spcBef>
              <a:spcAft>
                <a:spcPts val="0"/>
              </a:spcAft>
              <a:buNone/>
            </a:pPr>
            <a:endParaRPr sz="1800" b="0" strike="noStrike" dirty="0">
              <a:solidFill>
                <a:srgbClr val="000000"/>
              </a:solidFill>
              <a:latin typeface="Arial"/>
              <a:ea typeface="Arial"/>
              <a:cs typeface="Arial"/>
              <a:sym typeface="Arial"/>
            </a:endParaRPr>
          </a:p>
          <a:p>
            <a:pPr marL="457200" marR="0" lvl="0" indent="-342720" algn="just" rtl="0">
              <a:lnSpc>
                <a:spcPct val="115000"/>
              </a:lnSpc>
              <a:spcBef>
                <a:spcPts val="0"/>
              </a:spcBef>
              <a:spcAft>
                <a:spcPts val="0"/>
              </a:spcAft>
              <a:buClr>
                <a:srgbClr val="434343"/>
              </a:buClr>
              <a:buSzPts val="1800"/>
              <a:buFont typeface="Roboto"/>
              <a:buChar char="●"/>
            </a:pPr>
            <a:r>
              <a:rPr lang="en-GB" sz="1800" b="0" strike="noStrike" dirty="0">
                <a:solidFill>
                  <a:srgbClr val="434343"/>
                </a:solidFill>
                <a:latin typeface="Roboto"/>
                <a:ea typeface="Roboto"/>
                <a:cs typeface="Roboto"/>
                <a:sym typeface="Roboto"/>
              </a:rPr>
              <a:t>It might also give the better idea of the practical problems and troubles.</a:t>
            </a:r>
            <a:endParaRPr sz="1800" b="0" strike="noStrike" dirty="0">
              <a:solidFill>
                <a:srgbClr val="000000"/>
              </a:solidFill>
              <a:latin typeface="Arial"/>
              <a:ea typeface="Arial"/>
              <a:cs typeface="Arial"/>
              <a:sym typeface="Arial"/>
            </a:endParaRPr>
          </a:p>
          <a:p>
            <a:pPr marL="0" marR="0" lvl="0" indent="0" algn="just" rtl="0">
              <a:lnSpc>
                <a:spcPct val="115000"/>
              </a:lnSpc>
              <a:spcBef>
                <a:spcPts val="0"/>
              </a:spcBef>
              <a:spcAft>
                <a:spcPts val="0"/>
              </a:spcAft>
              <a:buNone/>
            </a:pPr>
            <a:endParaRPr sz="1800" b="0" strike="noStrike" dirty="0">
              <a:solidFill>
                <a:srgbClr val="000000"/>
              </a:solidFill>
              <a:latin typeface="Arial"/>
              <a:ea typeface="Arial"/>
              <a:cs typeface="Arial"/>
              <a:sym typeface="Arial"/>
            </a:endParaRPr>
          </a:p>
          <a:p>
            <a:pPr marL="457200" marR="0" lvl="0" indent="-342720" algn="just" rtl="0">
              <a:lnSpc>
                <a:spcPct val="115000"/>
              </a:lnSpc>
              <a:spcBef>
                <a:spcPts val="0"/>
              </a:spcBef>
              <a:spcAft>
                <a:spcPts val="0"/>
              </a:spcAft>
              <a:buClr>
                <a:srgbClr val="434343"/>
              </a:buClr>
              <a:buSzPts val="1800"/>
              <a:buFont typeface="Roboto"/>
              <a:buChar char="●"/>
            </a:pPr>
            <a:r>
              <a:rPr lang="en-GB" sz="1800" b="0" strike="noStrike" dirty="0">
                <a:solidFill>
                  <a:srgbClr val="434343"/>
                </a:solidFill>
                <a:latin typeface="Roboto"/>
                <a:ea typeface="Roboto"/>
                <a:cs typeface="Roboto"/>
                <a:sym typeface="Roboto"/>
              </a:rPr>
              <a:t>Ex: Mock tests</a:t>
            </a:r>
            <a:endParaRPr sz="1800" b="0" strike="noStrike" dirty="0">
              <a:solidFill>
                <a:srgbClr val="000000"/>
              </a:solidFill>
              <a:latin typeface="Arial"/>
              <a:ea typeface="Arial"/>
              <a:cs typeface="Arial"/>
              <a:sym typeface="Arial"/>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442"/>
        <p:cNvGrpSpPr/>
        <p:nvPr/>
      </p:nvGrpSpPr>
      <p:grpSpPr>
        <a:xfrm>
          <a:off x="0" y="0"/>
          <a:ext cx="0" cy="0"/>
          <a:chOff x="0" y="0"/>
          <a:chExt cx="0" cy="0"/>
        </a:xfrm>
      </p:grpSpPr>
      <p:sp>
        <p:nvSpPr>
          <p:cNvPr id="443" name="Google Shape;443;p39"/>
          <p:cNvSpPr txBox="1"/>
          <p:nvPr/>
        </p:nvSpPr>
        <p:spPr>
          <a:xfrm>
            <a:off x="311760" y="410040"/>
            <a:ext cx="8520120" cy="607320"/>
          </a:xfrm>
          <a:prstGeom prst="rect">
            <a:avLst/>
          </a:prstGeom>
          <a:noFill/>
          <a:ln>
            <a:noFill/>
          </a:ln>
        </p:spPr>
        <p:txBody>
          <a:bodyPr spcFirstLastPara="1" wrap="square" lIns="91425" tIns="91425" rIns="91425" bIns="91425" anchor="t" anchorCtr="0">
            <a:normAutofit fontScale="98500" lnSpcReduction="10000"/>
          </a:bodyPr>
          <a:lstStyle/>
          <a:p>
            <a:pPr marL="0" marR="0" lvl="0" indent="0" algn="l" rtl="0">
              <a:lnSpc>
                <a:spcPct val="100000"/>
              </a:lnSpc>
              <a:spcBef>
                <a:spcPts val="0"/>
              </a:spcBef>
              <a:spcAft>
                <a:spcPts val="0"/>
              </a:spcAft>
              <a:buNone/>
            </a:pPr>
            <a:r>
              <a:rPr lang="en-GB" sz="3000" b="0" strike="noStrike">
                <a:solidFill>
                  <a:srgbClr val="2A3990"/>
                </a:solidFill>
                <a:latin typeface="Roboto"/>
                <a:ea typeface="Roboto"/>
                <a:cs typeface="Roboto"/>
                <a:sym typeface="Roboto"/>
              </a:rPr>
              <a:t>STEPS IN SAMPLE DESIGN</a:t>
            </a:r>
            <a:endParaRPr sz="3000" b="0" strike="noStrike">
              <a:solidFill>
                <a:srgbClr val="000000"/>
              </a:solidFill>
              <a:latin typeface="Arial"/>
              <a:ea typeface="Arial"/>
              <a:cs typeface="Arial"/>
              <a:sym typeface="Arial"/>
            </a:endParaRPr>
          </a:p>
        </p:txBody>
      </p:sp>
      <p:sp>
        <p:nvSpPr>
          <p:cNvPr id="444" name="Google Shape;444;p39"/>
          <p:cNvSpPr txBox="1"/>
          <p:nvPr/>
        </p:nvSpPr>
        <p:spPr>
          <a:xfrm>
            <a:off x="311760" y="1229760"/>
            <a:ext cx="8520120" cy="3338640"/>
          </a:xfrm>
          <a:prstGeom prst="rect">
            <a:avLst/>
          </a:prstGeom>
          <a:noFill/>
          <a:ln>
            <a:noFill/>
          </a:ln>
        </p:spPr>
        <p:txBody>
          <a:bodyPr spcFirstLastPara="1" wrap="square" lIns="91425" tIns="91425" rIns="91425" bIns="91425" anchor="t" anchorCtr="0">
            <a:noAutofit/>
          </a:bodyPr>
          <a:lstStyle/>
          <a:p>
            <a:pPr marL="114480" marR="0" lvl="0" indent="0" algn="just" rtl="0">
              <a:lnSpc>
                <a:spcPct val="115000"/>
              </a:lnSpc>
              <a:spcBef>
                <a:spcPts val="0"/>
              </a:spcBef>
              <a:spcAft>
                <a:spcPts val="0"/>
              </a:spcAft>
              <a:buNone/>
            </a:pPr>
            <a:r>
              <a:rPr lang="en-GB" sz="1800" b="0" strike="noStrike">
                <a:solidFill>
                  <a:srgbClr val="434343"/>
                </a:solidFill>
                <a:latin typeface="Roboto"/>
                <a:ea typeface="Roboto"/>
                <a:cs typeface="Roboto"/>
                <a:sym typeface="Roboto"/>
              </a:rPr>
              <a:t>11</a:t>
            </a:r>
            <a:r>
              <a:rPr lang="en-GB" sz="1800" b="0" strike="noStrike">
                <a:solidFill>
                  <a:srgbClr val="9C254D"/>
                </a:solidFill>
                <a:latin typeface="Roboto"/>
                <a:ea typeface="Roboto"/>
                <a:cs typeface="Roboto"/>
                <a:sym typeface="Roboto"/>
              </a:rPr>
              <a:t>. Budgetary constraints:</a:t>
            </a:r>
            <a:endParaRPr sz="1800" b="0" strike="noStrike">
              <a:solidFill>
                <a:srgbClr val="000000"/>
              </a:solidFill>
              <a:latin typeface="Arial"/>
              <a:ea typeface="Arial"/>
              <a:cs typeface="Arial"/>
              <a:sym typeface="Arial"/>
            </a:endParaRPr>
          </a:p>
          <a:p>
            <a:pPr marL="114480" marR="0" lvl="0" indent="0" algn="just" rtl="0">
              <a:lnSpc>
                <a:spcPct val="115000"/>
              </a:lnSpc>
              <a:spcBef>
                <a:spcPts val="0"/>
              </a:spcBef>
              <a:spcAft>
                <a:spcPts val="0"/>
              </a:spcAft>
              <a:buNone/>
            </a:pPr>
            <a:endParaRPr sz="1800" b="0" strike="noStrike">
              <a:solidFill>
                <a:srgbClr val="000000"/>
              </a:solidFill>
              <a:latin typeface="Arial"/>
              <a:ea typeface="Arial"/>
              <a:cs typeface="Arial"/>
              <a:sym typeface="Arial"/>
            </a:endParaRPr>
          </a:p>
          <a:p>
            <a:pPr marL="457200" marR="0" lvl="0" indent="-342720" algn="just" rtl="0">
              <a:lnSpc>
                <a:spcPct val="115000"/>
              </a:lnSpc>
              <a:spcBef>
                <a:spcPts val="0"/>
              </a:spcBef>
              <a:spcAft>
                <a:spcPts val="0"/>
              </a:spcAft>
              <a:buClr>
                <a:srgbClr val="434343"/>
              </a:buClr>
              <a:buSzPts val="1800"/>
              <a:buFont typeface="Roboto"/>
              <a:buChar char="●"/>
            </a:pPr>
            <a:r>
              <a:rPr lang="en-GB" sz="1800" b="0" strike="noStrike">
                <a:solidFill>
                  <a:srgbClr val="434343"/>
                </a:solidFill>
                <a:latin typeface="Times New Roman"/>
                <a:ea typeface="Times New Roman"/>
                <a:cs typeface="Times New Roman"/>
                <a:sym typeface="Times New Roman"/>
              </a:rPr>
              <a:t>Cost considerations, from practical point of view, have a major impact upon decisions relating to not only the size of the sample but also to the type of sample. </a:t>
            </a:r>
            <a:endParaRPr sz="1800" b="0" strike="noStrike">
              <a:solidFill>
                <a:srgbClr val="000000"/>
              </a:solidFill>
              <a:latin typeface="Arial"/>
              <a:ea typeface="Arial"/>
              <a:cs typeface="Arial"/>
              <a:sym typeface="Arial"/>
            </a:endParaRPr>
          </a:p>
          <a:p>
            <a:pPr marL="0" marR="0" lvl="0" indent="0" algn="just" rtl="0">
              <a:lnSpc>
                <a:spcPct val="115000"/>
              </a:lnSpc>
              <a:spcBef>
                <a:spcPts val="0"/>
              </a:spcBef>
              <a:spcAft>
                <a:spcPts val="0"/>
              </a:spcAft>
              <a:buNone/>
            </a:pPr>
            <a:endParaRPr sz="1800" b="0" strike="noStrike">
              <a:solidFill>
                <a:srgbClr val="000000"/>
              </a:solidFill>
              <a:latin typeface="Arial"/>
              <a:ea typeface="Arial"/>
              <a:cs typeface="Arial"/>
              <a:sym typeface="Arial"/>
            </a:endParaRPr>
          </a:p>
          <a:p>
            <a:pPr marL="457200" marR="0" lvl="0" indent="-342720" algn="just" rtl="0">
              <a:lnSpc>
                <a:spcPct val="115000"/>
              </a:lnSpc>
              <a:spcBef>
                <a:spcPts val="0"/>
              </a:spcBef>
              <a:spcAft>
                <a:spcPts val="0"/>
              </a:spcAft>
              <a:buClr>
                <a:srgbClr val="434343"/>
              </a:buClr>
              <a:buSzPts val="1800"/>
              <a:buFont typeface="Roboto"/>
              <a:buChar char="●"/>
            </a:pPr>
            <a:r>
              <a:rPr lang="en-GB" sz="1800" b="0" strike="noStrike">
                <a:solidFill>
                  <a:srgbClr val="434343"/>
                </a:solidFill>
                <a:latin typeface="Times New Roman"/>
                <a:ea typeface="Times New Roman"/>
                <a:cs typeface="Times New Roman"/>
                <a:sym typeface="Times New Roman"/>
              </a:rPr>
              <a:t>This fact can even lead to the use of a non-probability sample.</a:t>
            </a:r>
            <a:endParaRPr sz="1800" b="0" strike="noStrike">
              <a:solidFill>
                <a:srgbClr val="000000"/>
              </a:solidFill>
              <a:latin typeface="Arial"/>
              <a:ea typeface="Arial"/>
              <a:cs typeface="Arial"/>
              <a:sym typeface="Arial"/>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448"/>
        <p:cNvGrpSpPr/>
        <p:nvPr/>
      </p:nvGrpSpPr>
      <p:grpSpPr>
        <a:xfrm>
          <a:off x="0" y="0"/>
          <a:ext cx="0" cy="0"/>
          <a:chOff x="0" y="0"/>
          <a:chExt cx="0" cy="0"/>
        </a:xfrm>
      </p:grpSpPr>
      <p:sp>
        <p:nvSpPr>
          <p:cNvPr id="449" name="Google Shape;449;p41"/>
          <p:cNvSpPr txBox="1"/>
          <p:nvPr/>
        </p:nvSpPr>
        <p:spPr>
          <a:xfrm>
            <a:off x="311760" y="410040"/>
            <a:ext cx="8520120" cy="607320"/>
          </a:xfrm>
          <a:prstGeom prst="rect">
            <a:avLst/>
          </a:prstGeom>
          <a:noFill/>
          <a:ln>
            <a:noFill/>
          </a:ln>
        </p:spPr>
        <p:txBody>
          <a:bodyPr spcFirstLastPara="1" wrap="square" lIns="91425" tIns="91425" rIns="91425" bIns="91425" anchor="t" anchorCtr="0">
            <a:normAutofit lnSpcReduction="10000"/>
          </a:bodyPr>
          <a:lstStyle/>
          <a:p>
            <a:pPr marL="0" marR="0" lvl="0" indent="0" algn="l" rtl="0">
              <a:lnSpc>
                <a:spcPct val="100000"/>
              </a:lnSpc>
              <a:spcBef>
                <a:spcPts val="0"/>
              </a:spcBef>
              <a:spcAft>
                <a:spcPts val="0"/>
              </a:spcAft>
              <a:buNone/>
            </a:pPr>
            <a:r>
              <a:rPr lang="en-GB" sz="3000">
                <a:solidFill>
                  <a:srgbClr val="2A3990"/>
                </a:solidFill>
                <a:latin typeface="Roboto"/>
                <a:ea typeface="Roboto"/>
                <a:cs typeface="Roboto"/>
                <a:sym typeface="Roboto"/>
              </a:rPr>
              <a:t>CHARACTERISTICS OF A GOOD SAMPLE DESIGN</a:t>
            </a:r>
            <a:endParaRPr sz="3000" b="0" strike="noStrike">
              <a:solidFill>
                <a:srgbClr val="000000"/>
              </a:solidFill>
              <a:latin typeface="Arial"/>
              <a:ea typeface="Arial"/>
              <a:cs typeface="Arial"/>
              <a:sym typeface="Arial"/>
            </a:endParaRPr>
          </a:p>
        </p:txBody>
      </p:sp>
      <p:sp>
        <p:nvSpPr>
          <p:cNvPr id="450" name="Google Shape;450;p41"/>
          <p:cNvSpPr txBox="1"/>
          <p:nvPr/>
        </p:nvSpPr>
        <p:spPr>
          <a:xfrm>
            <a:off x="311750" y="940425"/>
            <a:ext cx="8520000" cy="3819000"/>
          </a:xfrm>
          <a:prstGeom prst="rect">
            <a:avLst/>
          </a:prstGeom>
          <a:noFill/>
          <a:ln>
            <a:noFill/>
          </a:ln>
        </p:spPr>
        <p:txBody>
          <a:bodyPr spcFirstLastPara="1" wrap="square" lIns="91425" tIns="91425" rIns="91425" bIns="91425" anchor="t" anchorCtr="0">
            <a:noAutofit/>
          </a:bodyPr>
          <a:lstStyle/>
          <a:p>
            <a:pPr marL="457200" lvl="0" indent="-361950" algn="l" rtl="0">
              <a:lnSpc>
                <a:spcPct val="115000"/>
              </a:lnSpc>
              <a:spcBef>
                <a:spcPts val="0"/>
              </a:spcBef>
              <a:spcAft>
                <a:spcPts val="0"/>
              </a:spcAft>
              <a:buClr>
                <a:schemeClr val="dk2"/>
              </a:buClr>
              <a:buSzPts val="2100"/>
              <a:buFont typeface="Roboto"/>
              <a:buChar char="●"/>
            </a:pPr>
            <a:r>
              <a:rPr lang="en-GB" sz="2100">
                <a:solidFill>
                  <a:schemeClr val="dk2"/>
                </a:solidFill>
                <a:latin typeface="Roboto"/>
                <a:ea typeface="Roboto"/>
                <a:cs typeface="Roboto"/>
                <a:sym typeface="Roboto"/>
              </a:rPr>
              <a:t>Sample design must result in a </a:t>
            </a:r>
            <a:r>
              <a:rPr lang="en-GB" sz="2100">
                <a:solidFill>
                  <a:schemeClr val="accent3"/>
                </a:solidFill>
                <a:latin typeface="Roboto"/>
                <a:ea typeface="Roboto"/>
                <a:cs typeface="Roboto"/>
                <a:sym typeface="Roboto"/>
              </a:rPr>
              <a:t>truly representative sample.</a:t>
            </a:r>
            <a:endParaRPr sz="2100">
              <a:solidFill>
                <a:schemeClr val="accent3"/>
              </a:solidFill>
            </a:endParaRPr>
          </a:p>
          <a:p>
            <a:pPr marL="457200" lvl="0" indent="-361950" algn="l" rtl="0">
              <a:lnSpc>
                <a:spcPct val="115000"/>
              </a:lnSpc>
              <a:spcBef>
                <a:spcPts val="0"/>
              </a:spcBef>
              <a:spcAft>
                <a:spcPts val="0"/>
              </a:spcAft>
              <a:buClr>
                <a:schemeClr val="dk2"/>
              </a:buClr>
              <a:buSzPts val="2100"/>
              <a:buFont typeface="Roboto"/>
              <a:buChar char="●"/>
            </a:pPr>
            <a:r>
              <a:rPr lang="en-GB" sz="2100">
                <a:solidFill>
                  <a:schemeClr val="dk2"/>
                </a:solidFill>
                <a:latin typeface="Roboto"/>
                <a:ea typeface="Roboto"/>
                <a:cs typeface="Roboto"/>
                <a:sym typeface="Roboto"/>
              </a:rPr>
              <a:t>Sample design must be such which results in a s</a:t>
            </a:r>
            <a:r>
              <a:rPr lang="en-GB" sz="2100">
                <a:solidFill>
                  <a:schemeClr val="accent3"/>
                </a:solidFill>
                <a:latin typeface="Roboto"/>
                <a:ea typeface="Roboto"/>
                <a:cs typeface="Roboto"/>
                <a:sym typeface="Roboto"/>
              </a:rPr>
              <a:t>mall sampling error/ free from error.</a:t>
            </a:r>
            <a:endParaRPr sz="2100">
              <a:solidFill>
                <a:schemeClr val="accent3"/>
              </a:solidFill>
            </a:endParaRPr>
          </a:p>
          <a:p>
            <a:pPr marL="457200" lvl="0" indent="-361950" algn="l" rtl="0">
              <a:lnSpc>
                <a:spcPct val="115000"/>
              </a:lnSpc>
              <a:spcBef>
                <a:spcPts val="0"/>
              </a:spcBef>
              <a:spcAft>
                <a:spcPts val="0"/>
              </a:spcAft>
              <a:buClr>
                <a:schemeClr val="dk2"/>
              </a:buClr>
              <a:buSzPts val="2100"/>
              <a:buFont typeface="Roboto"/>
              <a:buChar char="●"/>
            </a:pPr>
            <a:r>
              <a:rPr lang="en-GB" sz="2100">
                <a:solidFill>
                  <a:schemeClr val="dk2"/>
                </a:solidFill>
                <a:latin typeface="Roboto"/>
                <a:ea typeface="Roboto"/>
                <a:cs typeface="Roboto"/>
                <a:sym typeface="Roboto"/>
              </a:rPr>
              <a:t>Sample design must be </a:t>
            </a:r>
            <a:r>
              <a:rPr lang="en-GB" sz="2100">
                <a:solidFill>
                  <a:schemeClr val="accent3"/>
                </a:solidFill>
                <a:latin typeface="Roboto"/>
                <a:ea typeface="Roboto"/>
                <a:cs typeface="Roboto"/>
                <a:sym typeface="Roboto"/>
              </a:rPr>
              <a:t>viable in the context of funds</a:t>
            </a:r>
            <a:r>
              <a:rPr lang="en-GB" sz="2100">
                <a:solidFill>
                  <a:schemeClr val="dk2"/>
                </a:solidFill>
                <a:latin typeface="Roboto"/>
                <a:ea typeface="Roboto"/>
                <a:cs typeface="Roboto"/>
                <a:sym typeface="Roboto"/>
              </a:rPr>
              <a:t> available for the research study.</a:t>
            </a:r>
            <a:endParaRPr sz="2100">
              <a:solidFill>
                <a:schemeClr val="dk1"/>
              </a:solidFill>
            </a:endParaRPr>
          </a:p>
          <a:p>
            <a:pPr marL="457200" lvl="0" indent="-361950" algn="l" rtl="0">
              <a:lnSpc>
                <a:spcPct val="115000"/>
              </a:lnSpc>
              <a:spcBef>
                <a:spcPts val="0"/>
              </a:spcBef>
              <a:spcAft>
                <a:spcPts val="0"/>
              </a:spcAft>
              <a:buClr>
                <a:schemeClr val="dk2"/>
              </a:buClr>
              <a:buSzPts val="2100"/>
              <a:buFont typeface="Roboto"/>
              <a:buChar char="●"/>
            </a:pPr>
            <a:r>
              <a:rPr lang="en-GB" sz="2100">
                <a:solidFill>
                  <a:schemeClr val="dk2"/>
                </a:solidFill>
                <a:latin typeface="Roboto"/>
                <a:ea typeface="Roboto"/>
                <a:cs typeface="Roboto"/>
                <a:sym typeface="Roboto"/>
              </a:rPr>
              <a:t>Sample design must be such so that systematic bias can be controlled in a better way.</a:t>
            </a:r>
            <a:endParaRPr sz="2100">
              <a:solidFill>
                <a:schemeClr val="dk1"/>
              </a:solidFill>
            </a:endParaRPr>
          </a:p>
          <a:p>
            <a:pPr marL="457200" lvl="0" indent="-361950" algn="l" rtl="0">
              <a:lnSpc>
                <a:spcPct val="115000"/>
              </a:lnSpc>
              <a:spcBef>
                <a:spcPts val="0"/>
              </a:spcBef>
              <a:spcAft>
                <a:spcPts val="0"/>
              </a:spcAft>
              <a:buClr>
                <a:schemeClr val="dk2"/>
              </a:buClr>
              <a:buSzPts val="2100"/>
              <a:buFont typeface="Roboto"/>
              <a:buChar char="●"/>
            </a:pPr>
            <a:r>
              <a:rPr lang="en-GB" sz="2100">
                <a:solidFill>
                  <a:schemeClr val="dk2"/>
                </a:solidFill>
                <a:latin typeface="Roboto"/>
                <a:ea typeface="Roboto"/>
                <a:cs typeface="Roboto"/>
                <a:sym typeface="Roboto"/>
              </a:rPr>
              <a:t>Sample should be such that the results of the sample </a:t>
            </a:r>
            <a:r>
              <a:rPr lang="en-GB" sz="2100">
                <a:solidFill>
                  <a:schemeClr val="accent3"/>
                </a:solidFill>
                <a:latin typeface="Roboto"/>
                <a:ea typeface="Roboto"/>
                <a:cs typeface="Roboto"/>
                <a:sym typeface="Roboto"/>
              </a:rPr>
              <a:t>study can be applied, in general, for</a:t>
            </a:r>
            <a:r>
              <a:rPr lang="en-GB" sz="2100">
                <a:solidFill>
                  <a:schemeClr val="accent3"/>
                </a:solidFill>
              </a:rPr>
              <a:t> </a:t>
            </a:r>
            <a:r>
              <a:rPr lang="en-GB" sz="2100">
                <a:solidFill>
                  <a:schemeClr val="accent3"/>
                </a:solidFill>
                <a:latin typeface="Roboto"/>
                <a:ea typeface="Roboto"/>
                <a:cs typeface="Roboto"/>
                <a:sym typeface="Roboto"/>
              </a:rPr>
              <a:t>the universe</a:t>
            </a:r>
            <a:r>
              <a:rPr lang="en-GB" sz="2100">
                <a:solidFill>
                  <a:schemeClr val="dk2"/>
                </a:solidFill>
                <a:latin typeface="Roboto"/>
                <a:ea typeface="Roboto"/>
                <a:cs typeface="Roboto"/>
                <a:sym typeface="Roboto"/>
              </a:rPr>
              <a:t> with a reasonable level of confidence.</a:t>
            </a:r>
            <a:endParaRPr sz="2100">
              <a:solidFill>
                <a:schemeClr val="dk1"/>
              </a:solidFill>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454"/>
        <p:cNvGrpSpPr/>
        <p:nvPr/>
      </p:nvGrpSpPr>
      <p:grpSpPr>
        <a:xfrm>
          <a:off x="0" y="0"/>
          <a:ext cx="0" cy="0"/>
          <a:chOff x="0" y="0"/>
          <a:chExt cx="0" cy="0"/>
        </a:xfrm>
      </p:grpSpPr>
      <p:sp>
        <p:nvSpPr>
          <p:cNvPr id="455" name="Google Shape;455;g1e8a5d14dff_0_82"/>
          <p:cNvSpPr txBox="1">
            <a:spLocks noGrp="1"/>
          </p:cNvSpPr>
          <p:nvPr>
            <p:ph type="title"/>
          </p:nvPr>
        </p:nvSpPr>
        <p:spPr>
          <a:xfrm>
            <a:off x="311760" y="410040"/>
            <a:ext cx="8520000" cy="6072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56" name="Google Shape;456;g1e8a5d14dff_0_82"/>
          <p:cNvSpPr txBox="1">
            <a:spLocks noGrp="1"/>
          </p:cNvSpPr>
          <p:nvPr>
            <p:ph type="body" idx="1"/>
          </p:nvPr>
        </p:nvSpPr>
        <p:spPr>
          <a:xfrm>
            <a:off x="311760" y="1229760"/>
            <a:ext cx="8520000" cy="3338700"/>
          </a:xfrm>
          <a:prstGeom prst="rect">
            <a:avLst/>
          </a:prstGeom>
        </p:spPr>
        <p:txBody>
          <a:bodyPr spcFirstLastPara="1" wrap="square" lIns="0" tIns="0" rIns="0" bIns="0" anchor="t" anchorCtr="0">
            <a:normAutofit/>
          </a:bodyPr>
          <a:lstStyle/>
          <a:p>
            <a:pPr marL="0" lvl="0" indent="0" algn="l" rtl="0">
              <a:spcBef>
                <a:spcPts val="0"/>
              </a:spcBef>
              <a:spcAft>
                <a:spcPts val="0"/>
              </a:spcAft>
              <a:buNone/>
            </a:pPr>
            <a:endParaRPr/>
          </a:p>
        </p:txBody>
      </p:sp>
      <p:pic>
        <p:nvPicPr>
          <p:cNvPr id="457" name="Google Shape;457;g1e8a5d14dff_0_82"/>
          <p:cNvPicPr preferRelativeResize="0"/>
          <p:nvPr/>
        </p:nvPicPr>
        <p:blipFill>
          <a:blip r:embed="rId3">
            <a:alphaModFix/>
          </a:blip>
          <a:stretch>
            <a:fillRect/>
          </a:stretch>
        </p:blipFill>
        <p:spPr>
          <a:xfrm>
            <a:off x="311750" y="410050"/>
            <a:ext cx="8520000" cy="4158400"/>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461"/>
        <p:cNvGrpSpPr/>
        <p:nvPr/>
      </p:nvGrpSpPr>
      <p:grpSpPr>
        <a:xfrm>
          <a:off x="0" y="0"/>
          <a:ext cx="0" cy="0"/>
          <a:chOff x="0" y="0"/>
          <a:chExt cx="0" cy="0"/>
        </a:xfrm>
      </p:grpSpPr>
      <p:sp>
        <p:nvSpPr>
          <p:cNvPr id="462" name="Google Shape;462;g1e8a5d14dff_0_5"/>
          <p:cNvSpPr txBox="1"/>
          <p:nvPr/>
        </p:nvSpPr>
        <p:spPr>
          <a:xfrm>
            <a:off x="311760" y="410040"/>
            <a:ext cx="8520000" cy="607200"/>
          </a:xfrm>
          <a:prstGeom prst="rect">
            <a:avLst/>
          </a:prstGeom>
          <a:noFill/>
          <a:ln>
            <a:noFill/>
          </a:ln>
        </p:spPr>
        <p:txBody>
          <a:bodyPr spcFirstLastPara="1" wrap="square" lIns="91425" tIns="91425" rIns="91425" bIns="91425" anchor="t" anchorCtr="0">
            <a:normAutofit lnSpcReduction="10000"/>
          </a:bodyPr>
          <a:lstStyle/>
          <a:p>
            <a:pPr marL="0" marR="0" lvl="0" indent="0" algn="l" rtl="0">
              <a:lnSpc>
                <a:spcPct val="100000"/>
              </a:lnSpc>
              <a:spcBef>
                <a:spcPts val="0"/>
              </a:spcBef>
              <a:spcAft>
                <a:spcPts val="0"/>
              </a:spcAft>
              <a:buNone/>
            </a:pPr>
            <a:r>
              <a:rPr lang="en-GB" sz="3000" b="0" strike="noStrike">
                <a:solidFill>
                  <a:srgbClr val="2A3990"/>
                </a:solidFill>
                <a:latin typeface="Roboto"/>
                <a:ea typeface="Roboto"/>
                <a:cs typeface="Roboto"/>
                <a:sym typeface="Roboto"/>
              </a:rPr>
              <a:t>TYPES OF SAMPLE DESIGNS</a:t>
            </a:r>
            <a:endParaRPr sz="3000" b="0" strike="noStrike">
              <a:solidFill>
                <a:srgbClr val="000000"/>
              </a:solidFill>
              <a:latin typeface="Arial"/>
              <a:ea typeface="Arial"/>
              <a:cs typeface="Arial"/>
              <a:sym typeface="Arial"/>
            </a:endParaRPr>
          </a:p>
        </p:txBody>
      </p:sp>
      <p:sp>
        <p:nvSpPr>
          <p:cNvPr id="463" name="Google Shape;463;g1e8a5d14dff_0_5"/>
          <p:cNvSpPr txBox="1"/>
          <p:nvPr/>
        </p:nvSpPr>
        <p:spPr>
          <a:xfrm>
            <a:off x="311760" y="1229760"/>
            <a:ext cx="8520000" cy="3338700"/>
          </a:xfrm>
          <a:prstGeom prst="rect">
            <a:avLst/>
          </a:prstGeom>
          <a:noFill/>
          <a:ln>
            <a:noFill/>
          </a:ln>
        </p:spPr>
        <p:txBody>
          <a:bodyPr spcFirstLastPara="1" wrap="square" lIns="91425" tIns="91425" rIns="91425" bIns="91425" anchor="t" anchorCtr="0">
            <a:normAutofit/>
          </a:bodyPr>
          <a:lstStyle/>
          <a:p>
            <a:pPr marL="0" marR="0" lvl="0" indent="0" algn="l" rtl="0">
              <a:spcBef>
                <a:spcPts val="0"/>
              </a:spcBef>
              <a:spcAft>
                <a:spcPts val="0"/>
              </a:spcAft>
              <a:buNone/>
            </a:pPr>
            <a:endParaRPr sz="1400" b="0" strike="noStrike">
              <a:solidFill>
                <a:srgbClr val="000000"/>
              </a:solidFill>
              <a:latin typeface="Arial"/>
              <a:ea typeface="Arial"/>
              <a:cs typeface="Arial"/>
              <a:sym typeface="Arial"/>
            </a:endParaRPr>
          </a:p>
        </p:txBody>
      </p:sp>
      <p:pic>
        <p:nvPicPr>
          <p:cNvPr id="464" name="Google Shape;464;g1e8a5d14dff_0_5"/>
          <p:cNvPicPr preferRelativeResize="0"/>
          <p:nvPr/>
        </p:nvPicPr>
        <p:blipFill>
          <a:blip r:embed="rId3">
            <a:alphaModFix/>
          </a:blip>
          <a:stretch>
            <a:fillRect/>
          </a:stretch>
        </p:blipFill>
        <p:spPr>
          <a:xfrm>
            <a:off x="460600" y="1017250"/>
            <a:ext cx="8214250" cy="3551200"/>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468"/>
        <p:cNvGrpSpPr/>
        <p:nvPr/>
      </p:nvGrpSpPr>
      <p:grpSpPr>
        <a:xfrm>
          <a:off x="0" y="0"/>
          <a:ext cx="0" cy="0"/>
          <a:chOff x="0" y="0"/>
          <a:chExt cx="0" cy="0"/>
        </a:xfrm>
      </p:grpSpPr>
      <p:sp>
        <p:nvSpPr>
          <p:cNvPr id="469" name="Google Shape;469;p42"/>
          <p:cNvSpPr txBox="1"/>
          <p:nvPr/>
        </p:nvSpPr>
        <p:spPr>
          <a:xfrm>
            <a:off x="311760" y="410040"/>
            <a:ext cx="8520120" cy="607320"/>
          </a:xfrm>
          <a:prstGeom prst="rect">
            <a:avLst/>
          </a:prstGeom>
          <a:noFill/>
          <a:ln>
            <a:noFill/>
          </a:ln>
        </p:spPr>
        <p:txBody>
          <a:bodyPr spcFirstLastPara="1" wrap="square" lIns="91425" tIns="91425" rIns="91425" bIns="91425" anchor="t" anchorCtr="0">
            <a:normAutofit fontScale="98500" lnSpcReduction="10000"/>
          </a:bodyPr>
          <a:lstStyle/>
          <a:p>
            <a:pPr marL="0" marR="0" lvl="0" indent="0" algn="l" rtl="0">
              <a:lnSpc>
                <a:spcPct val="100000"/>
              </a:lnSpc>
              <a:spcBef>
                <a:spcPts val="0"/>
              </a:spcBef>
              <a:spcAft>
                <a:spcPts val="0"/>
              </a:spcAft>
              <a:buNone/>
            </a:pPr>
            <a:r>
              <a:rPr lang="en-GB" sz="3000" b="0" strike="noStrike">
                <a:solidFill>
                  <a:srgbClr val="2A3990"/>
                </a:solidFill>
                <a:latin typeface="Roboto"/>
                <a:ea typeface="Roboto"/>
                <a:cs typeface="Roboto"/>
                <a:sym typeface="Roboto"/>
              </a:rPr>
              <a:t>Non- probability Sampling</a:t>
            </a:r>
            <a:endParaRPr sz="3000" b="0" strike="noStrike">
              <a:solidFill>
                <a:srgbClr val="000000"/>
              </a:solidFill>
              <a:latin typeface="Arial"/>
              <a:ea typeface="Arial"/>
              <a:cs typeface="Arial"/>
              <a:sym typeface="Arial"/>
            </a:endParaRPr>
          </a:p>
        </p:txBody>
      </p:sp>
      <p:sp>
        <p:nvSpPr>
          <p:cNvPr id="470" name="Google Shape;470;p42"/>
          <p:cNvSpPr txBox="1"/>
          <p:nvPr/>
        </p:nvSpPr>
        <p:spPr>
          <a:xfrm>
            <a:off x="311760" y="1017720"/>
            <a:ext cx="8520120" cy="3632760"/>
          </a:xfrm>
          <a:prstGeom prst="rect">
            <a:avLst/>
          </a:prstGeom>
          <a:noFill/>
          <a:ln>
            <a:noFill/>
          </a:ln>
        </p:spPr>
        <p:txBody>
          <a:bodyPr spcFirstLastPara="1" wrap="square" lIns="91425" tIns="91425" rIns="91425" bIns="91425" anchor="t" anchorCtr="0">
            <a:normAutofit fontScale="97000" lnSpcReduction="10000"/>
          </a:bodyPr>
          <a:lstStyle/>
          <a:p>
            <a:pPr marL="457200" marR="0" lvl="0" indent="-342720" algn="just" rtl="0">
              <a:lnSpc>
                <a:spcPct val="115000"/>
              </a:lnSpc>
              <a:spcBef>
                <a:spcPts val="0"/>
              </a:spcBef>
              <a:spcAft>
                <a:spcPts val="0"/>
              </a:spcAft>
              <a:buClr>
                <a:srgbClr val="434343"/>
              </a:buClr>
              <a:buSzPct val="100000"/>
              <a:buFont typeface="Roboto"/>
              <a:buChar char="●"/>
            </a:pPr>
            <a:r>
              <a:rPr lang="en-GB" sz="1800" b="0" strike="noStrike">
                <a:solidFill>
                  <a:srgbClr val="434343"/>
                </a:solidFill>
                <a:latin typeface="Times New Roman"/>
                <a:ea typeface="Times New Roman"/>
                <a:cs typeface="Times New Roman"/>
                <a:sym typeface="Times New Roman"/>
              </a:rPr>
              <a:t>Non-probability sampling is that sampling procedure which does not afford any basis for estimating the probability that each item in the population has of being included in the sample. </a:t>
            </a:r>
            <a:endParaRPr sz="1800" b="0" strike="noStrike">
              <a:solidFill>
                <a:srgbClr val="000000"/>
              </a:solidFill>
              <a:latin typeface="Arial"/>
              <a:ea typeface="Arial"/>
              <a:cs typeface="Arial"/>
              <a:sym typeface="Arial"/>
            </a:endParaRPr>
          </a:p>
          <a:p>
            <a:pPr marL="457200" marR="0" lvl="0" indent="-342720" algn="just" rtl="0">
              <a:lnSpc>
                <a:spcPct val="115000"/>
              </a:lnSpc>
              <a:spcBef>
                <a:spcPts val="0"/>
              </a:spcBef>
              <a:spcAft>
                <a:spcPts val="0"/>
              </a:spcAft>
              <a:buClr>
                <a:srgbClr val="434343"/>
              </a:buClr>
              <a:buSzPct val="100000"/>
              <a:buFont typeface="Roboto"/>
              <a:buChar char="●"/>
            </a:pPr>
            <a:r>
              <a:rPr lang="en-GB" sz="1800" b="0" strike="noStrike">
                <a:solidFill>
                  <a:srgbClr val="434343"/>
                </a:solidFill>
                <a:latin typeface="Times New Roman"/>
                <a:ea typeface="Times New Roman"/>
                <a:cs typeface="Times New Roman"/>
                <a:sym typeface="Times New Roman"/>
              </a:rPr>
              <a:t>Non-probability sampling is also known by different names such as deliberate sampling, purposive sampling and judgement sampling. </a:t>
            </a:r>
            <a:endParaRPr sz="1800" b="0" strike="noStrike">
              <a:solidFill>
                <a:srgbClr val="000000"/>
              </a:solidFill>
              <a:latin typeface="Arial"/>
              <a:ea typeface="Arial"/>
              <a:cs typeface="Arial"/>
              <a:sym typeface="Arial"/>
            </a:endParaRPr>
          </a:p>
          <a:p>
            <a:pPr marL="457200" marR="0" lvl="0" indent="-342720" algn="just" rtl="0">
              <a:lnSpc>
                <a:spcPct val="115000"/>
              </a:lnSpc>
              <a:spcBef>
                <a:spcPts val="0"/>
              </a:spcBef>
              <a:spcAft>
                <a:spcPts val="0"/>
              </a:spcAft>
              <a:buClr>
                <a:srgbClr val="434343"/>
              </a:buClr>
              <a:buSzPct val="100000"/>
              <a:buFont typeface="Roboto"/>
              <a:buChar char="●"/>
            </a:pPr>
            <a:r>
              <a:rPr lang="en-GB" sz="1800" b="0" strike="noStrike">
                <a:solidFill>
                  <a:srgbClr val="434343"/>
                </a:solidFill>
                <a:latin typeface="Times New Roman"/>
                <a:ea typeface="Times New Roman"/>
                <a:cs typeface="Times New Roman"/>
                <a:sym typeface="Times New Roman"/>
              </a:rPr>
              <a:t>In this type of sampling, i</a:t>
            </a:r>
            <a:r>
              <a:rPr lang="en-GB" sz="1800" b="0" strike="noStrike">
                <a:solidFill>
                  <a:schemeClr val="accent3"/>
                </a:solidFill>
                <a:latin typeface="Times New Roman"/>
                <a:ea typeface="Times New Roman"/>
                <a:cs typeface="Times New Roman"/>
                <a:sym typeface="Times New Roman"/>
              </a:rPr>
              <a:t>tems for the sample are selected deliberately by the researcher;</a:t>
            </a:r>
            <a:r>
              <a:rPr lang="en-GB" sz="1800" b="0" strike="noStrike">
                <a:solidFill>
                  <a:srgbClr val="434343"/>
                </a:solidFill>
                <a:latin typeface="Times New Roman"/>
                <a:ea typeface="Times New Roman"/>
                <a:cs typeface="Times New Roman"/>
                <a:sym typeface="Times New Roman"/>
              </a:rPr>
              <a:t> </a:t>
            </a:r>
            <a:r>
              <a:rPr lang="en-GB" sz="1800" b="0" strike="noStrike">
                <a:solidFill>
                  <a:schemeClr val="accent3"/>
                </a:solidFill>
                <a:latin typeface="Times New Roman"/>
                <a:ea typeface="Times New Roman"/>
                <a:cs typeface="Times New Roman"/>
                <a:sym typeface="Times New Roman"/>
              </a:rPr>
              <a:t>his choice concerning the items remains supreme</a:t>
            </a:r>
            <a:r>
              <a:rPr lang="en-GB" sz="1800" b="0" strike="noStrike">
                <a:solidFill>
                  <a:srgbClr val="434343"/>
                </a:solidFill>
                <a:latin typeface="Times New Roman"/>
                <a:ea typeface="Times New Roman"/>
                <a:cs typeface="Times New Roman"/>
                <a:sym typeface="Times New Roman"/>
              </a:rPr>
              <a:t>.</a:t>
            </a:r>
            <a:endParaRPr sz="1800" b="0" strike="noStrike">
              <a:solidFill>
                <a:srgbClr val="000000"/>
              </a:solidFill>
              <a:latin typeface="Arial"/>
              <a:ea typeface="Arial"/>
              <a:cs typeface="Arial"/>
              <a:sym typeface="Arial"/>
            </a:endParaRPr>
          </a:p>
          <a:p>
            <a:pPr marL="457200" marR="0" lvl="0" indent="-342720" algn="l" rtl="0">
              <a:lnSpc>
                <a:spcPct val="115000"/>
              </a:lnSpc>
              <a:spcBef>
                <a:spcPts val="0"/>
              </a:spcBef>
              <a:spcAft>
                <a:spcPts val="0"/>
              </a:spcAft>
              <a:buClr>
                <a:srgbClr val="434343"/>
              </a:buClr>
              <a:buSzPct val="100000"/>
              <a:buFont typeface="Roboto"/>
              <a:buChar char="●"/>
            </a:pPr>
            <a:r>
              <a:rPr lang="en-GB" sz="1800" b="0" strike="noStrike">
                <a:solidFill>
                  <a:srgbClr val="434343"/>
                </a:solidFill>
                <a:latin typeface="Times New Roman"/>
                <a:ea typeface="Times New Roman"/>
                <a:cs typeface="Times New Roman"/>
                <a:sym typeface="Times New Roman"/>
              </a:rPr>
              <a:t>Ex: if economic conditions of people living in a state are to be studied, a few towns and villages may be purposively selected for intensive study on the principle that they can be representative of the entire state. </a:t>
            </a:r>
            <a:endParaRPr sz="1800" b="0" strike="noStrike">
              <a:solidFill>
                <a:srgbClr val="000000"/>
              </a:solidFill>
              <a:latin typeface="Arial"/>
              <a:ea typeface="Arial"/>
              <a:cs typeface="Arial"/>
              <a:sym typeface="Arial"/>
            </a:endParaRPr>
          </a:p>
          <a:p>
            <a:pPr marL="457200" marR="0" lvl="0" indent="-342720" algn="l" rtl="0">
              <a:lnSpc>
                <a:spcPct val="115000"/>
              </a:lnSpc>
              <a:spcBef>
                <a:spcPts val="0"/>
              </a:spcBef>
              <a:spcAft>
                <a:spcPts val="0"/>
              </a:spcAft>
              <a:buClr>
                <a:srgbClr val="434343"/>
              </a:buClr>
              <a:buSzPct val="100000"/>
              <a:buFont typeface="Roboto"/>
              <a:buChar char="●"/>
            </a:pPr>
            <a:r>
              <a:rPr lang="en-GB" sz="1800" b="0" strike="noStrike">
                <a:solidFill>
                  <a:srgbClr val="434343"/>
                </a:solidFill>
                <a:latin typeface="Times New Roman"/>
                <a:ea typeface="Times New Roman"/>
                <a:cs typeface="Times New Roman"/>
                <a:sym typeface="Times New Roman"/>
              </a:rPr>
              <a:t>Thus, the </a:t>
            </a:r>
            <a:r>
              <a:rPr lang="en-GB" sz="1800" b="0" strike="noStrike">
                <a:solidFill>
                  <a:schemeClr val="accent3"/>
                </a:solidFill>
                <a:latin typeface="Times New Roman"/>
                <a:ea typeface="Times New Roman"/>
                <a:cs typeface="Times New Roman"/>
                <a:sym typeface="Times New Roman"/>
              </a:rPr>
              <a:t>judgement of the organizers of the study plays an important </a:t>
            </a:r>
            <a:r>
              <a:rPr lang="en-GB" sz="1800" b="0" strike="noStrike">
                <a:solidFill>
                  <a:srgbClr val="434343"/>
                </a:solidFill>
                <a:latin typeface="Times New Roman"/>
                <a:ea typeface="Times New Roman"/>
                <a:cs typeface="Times New Roman"/>
                <a:sym typeface="Times New Roman"/>
              </a:rPr>
              <a:t>part in this sampling design.</a:t>
            </a:r>
            <a:endParaRPr sz="1800" b="0" strike="noStrike">
              <a:solidFill>
                <a:srgbClr val="000000"/>
              </a:solidFill>
              <a:latin typeface="Arial"/>
              <a:ea typeface="Arial"/>
              <a:cs typeface="Arial"/>
              <a:sym typeface="Arial"/>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474"/>
        <p:cNvGrpSpPr/>
        <p:nvPr/>
      </p:nvGrpSpPr>
      <p:grpSpPr>
        <a:xfrm>
          <a:off x="0" y="0"/>
          <a:ext cx="0" cy="0"/>
          <a:chOff x="0" y="0"/>
          <a:chExt cx="0" cy="0"/>
        </a:xfrm>
      </p:grpSpPr>
      <p:sp>
        <p:nvSpPr>
          <p:cNvPr id="475" name="Google Shape;475;p43"/>
          <p:cNvSpPr txBox="1"/>
          <p:nvPr/>
        </p:nvSpPr>
        <p:spPr>
          <a:xfrm>
            <a:off x="311760" y="410040"/>
            <a:ext cx="8520120" cy="607320"/>
          </a:xfrm>
          <a:prstGeom prst="rect">
            <a:avLst/>
          </a:prstGeom>
          <a:noFill/>
          <a:ln>
            <a:noFill/>
          </a:ln>
        </p:spPr>
        <p:txBody>
          <a:bodyPr spcFirstLastPara="1" wrap="square" lIns="91425" tIns="91425" rIns="91425" bIns="91425" anchor="t" anchorCtr="0">
            <a:normAutofit fontScale="98500" lnSpcReduction="10000"/>
          </a:bodyPr>
          <a:lstStyle/>
          <a:p>
            <a:pPr marL="0" marR="0" lvl="0" indent="0" algn="l" rtl="0">
              <a:lnSpc>
                <a:spcPct val="100000"/>
              </a:lnSpc>
              <a:spcBef>
                <a:spcPts val="0"/>
              </a:spcBef>
              <a:spcAft>
                <a:spcPts val="0"/>
              </a:spcAft>
              <a:buNone/>
            </a:pPr>
            <a:r>
              <a:rPr lang="en-GB" sz="3000" b="0" strike="noStrike">
                <a:solidFill>
                  <a:srgbClr val="2A3990"/>
                </a:solidFill>
                <a:latin typeface="Roboto"/>
                <a:ea typeface="Roboto"/>
                <a:cs typeface="Roboto"/>
                <a:sym typeface="Roboto"/>
              </a:rPr>
              <a:t>Non- probability Sampling</a:t>
            </a:r>
            <a:endParaRPr sz="3000" b="0" strike="noStrike">
              <a:solidFill>
                <a:srgbClr val="000000"/>
              </a:solidFill>
              <a:latin typeface="Arial"/>
              <a:ea typeface="Arial"/>
              <a:cs typeface="Arial"/>
              <a:sym typeface="Arial"/>
            </a:endParaRPr>
          </a:p>
        </p:txBody>
      </p:sp>
      <p:sp>
        <p:nvSpPr>
          <p:cNvPr id="476" name="Google Shape;476;p43"/>
          <p:cNvSpPr txBox="1"/>
          <p:nvPr/>
        </p:nvSpPr>
        <p:spPr>
          <a:xfrm>
            <a:off x="311760" y="1017720"/>
            <a:ext cx="8520120" cy="3632760"/>
          </a:xfrm>
          <a:prstGeom prst="rect">
            <a:avLst/>
          </a:prstGeom>
          <a:noFill/>
          <a:ln>
            <a:noFill/>
          </a:ln>
        </p:spPr>
        <p:txBody>
          <a:bodyPr spcFirstLastPara="1" wrap="square" lIns="91425" tIns="91425" rIns="91425" bIns="91425" anchor="t" anchorCtr="0">
            <a:normAutofit/>
          </a:bodyPr>
          <a:lstStyle/>
          <a:p>
            <a:pPr marL="457200" marR="0" lvl="0" indent="-361770" algn="just" rtl="0">
              <a:lnSpc>
                <a:spcPct val="115000"/>
              </a:lnSpc>
              <a:spcBef>
                <a:spcPts val="0"/>
              </a:spcBef>
              <a:spcAft>
                <a:spcPts val="0"/>
              </a:spcAft>
              <a:buClr>
                <a:srgbClr val="434343"/>
              </a:buClr>
              <a:buSzPts val="2100"/>
              <a:buFont typeface="Roboto"/>
              <a:buChar char="●"/>
            </a:pPr>
            <a:r>
              <a:rPr lang="en-GB" sz="2100" b="0" i="1" strike="noStrike">
                <a:solidFill>
                  <a:srgbClr val="434343"/>
                </a:solidFill>
                <a:latin typeface="Times New Roman"/>
                <a:ea typeface="Times New Roman"/>
                <a:cs typeface="Times New Roman"/>
                <a:sym typeface="Times New Roman"/>
              </a:rPr>
              <a:t>Example: Quota sampling </a:t>
            </a:r>
            <a:r>
              <a:rPr lang="en-GB" sz="2100" b="0" strike="noStrike">
                <a:solidFill>
                  <a:srgbClr val="434343"/>
                </a:solidFill>
                <a:latin typeface="Times New Roman"/>
                <a:ea typeface="Times New Roman"/>
                <a:cs typeface="Times New Roman"/>
                <a:sym typeface="Times New Roman"/>
              </a:rPr>
              <a:t>is also an example of non-probability sampling. </a:t>
            </a:r>
            <a:endParaRPr sz="2100" b="0" strike="noStrike">
              <a:solidFill>
                <a:srgbClr val="000000"/>
              </a:solidFill>
              <a:latin typeface="Arial"/>
              <a:ea typeface="Arial"/>
              <a:cs typeface="Arial"/>
              <a:sym typeface="Arial"/>
            </a:endParaRPr>
          </a:p>
          <a:p>
            <a:pPr marL="457200" marR="0" lvl="0" indent="-361770" algn="just" rtl="0">
              <a:lnSpc>
                <a:spcPct val="115000"/>
              </a:lnSpc>
              <a:spcBef>
                <a:spcPts val="0"/>
              </a:spcBef>
              <a:spcAft>
                <a:spcPts val="0"/>
              </a:spcAft>
              <a:buClr>
                <a:srgbClr val="434343"/>
              </a:buClr>
              <a:buSzPts val="2100"/>
              <a:buFont typeface="Roboto"/>
              <a:buChar char="●"/>
            </a:pPr>
            <a:r>
              <a:rPr lang="en-GB" sz="2100" b="0" strike="noStrike">
                <a:solidFill>
                  <a:srgbClr val="434343"/>
                </a:solidFill>
                <a:latin typeface="Times New Roman"/>
                <a:ea typeface="Times New Roman"/>
                <a:cs typeface="Times New Roman"/>
                <a:sym typeface="Times New Roman"/>
              </a:rPr>
              <a:t>Under quota sampling the interviewers are simply given quotas to be filled from the different strata, with some restrictions on how they are to be filled. </a:t>
            </a:r>
            <a:endParaRPr sz="2100" b="0" strike="noStrike">
              <a:solidFill>
                <a:srgbClr val="000000"/>
              </a:solidFill>
              <a:latin typeface="Arial"/>
              <a:ea typeface="Arial"/>
              <a:cs typeface="Arial"/>
              <a:sym typeface="Arial"/>
            </a:endParaRPr>
          </a:p>
          <a:p>
            <a:pPr marL="457200" marR="0" lvl="0" indent="-361769" algn="just" rtl="0">
              <a:lnSpc>
                <a:spcPct val="115000"/>
              </a:lnSpc>
              <a:spcBef>
                <a:spcPts val="0"/>
              </a:spcBef>
              <a:spcAft>
                <a:spcPts val="0"/>
              </a:spcAft>
              <a:buClr>
                <a:srgbClr val="434343"/>
              </a:buClr>
              <a:buSzPts val="2100"/>
              <a:buFont typeface="Roboto"/>
              <a:buChar char="●"/>
            </a:pPr>
            <a:r>
              <a:rPr lang="en-GB" sz="2100" b="0" strike="noStrike">
                <a:solidFill>
                  <a:srgbClr val="434343"/>
                </a:solidFill>
                <a:latin typeface="Times New Roman"/>
                <a:ea typeface="Times New Roman"/>
                <a:cs typeface="Times New Roman"/>
                <a:sym typeface="Times New Roman"/>
              </a:rPr>
              <a:t>In other words, the actual selection of the items for the sample is left to the interviewer’s discretion. This type of sampling is very convenient</a:t>
            </a:r>
            <a:r>
              <a:rPr lang="en-GB" sz="2100"/>
              <a:t> </a:t>
            </a:r>
            <a:r>
              <a:rPr lang="en-GB" sz="2100" b="0" strike="noStrike">
                <a:solidFill>
                  <a:srgbClr val="434343"/>
                </a:solidFill>
                <a:latin typeface="Times New Roman"/>
                <a:ea typeface="Times New Roman"/>
                <a:cs typeface="Times New Roman"/>
                <a:sym typeface="Times New Roman"/>
              </a:rPr>
              <a:t>and is relatively inexpensive. </a:t>
            </a:r>
            <a:endParaRPr sz="2100" b="0" strike="noStrike">
              <a:solidFill>
                <a:srgbClr val="000000"/>
              </a:solidFill>
              <a:latin typeface="Arial"/>
              <a:ea typeface="Arial"/>
              <a:cs typeface="Arial"/>
              <a:sym typeface="Arial"/>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480"/>
        <p:cNvGrpSpPr/>
        <p:nvPr/>
      </p:nvGrpSpPr>
      <p:grpSpPr>
        <a:xfrm>
          <a:off x="0" y="0"/>
          <a:ext cx="0" cy="0"/>
          <a:chOff x="0" y="0"/>
          <a:chExt cx="0" cy="0"/>
        </a:xfrm>
      </p:grpSpPr>
      <p:sp>
        <p:nvSpPr>
          <p:cNvPr id="481" name="Google Shape;481;g1e8a5d14dff_0_18"/>
          <p:cNvSpPr txBox="1">
            <a:spLocks noGrp="1"/>
          </p:cNvSpPr>
          <p:nvPr>
            <p:ph type="title"/>
          </p:nvPr>
        </p:nvSpPr>
        <p:spPr>
          <a:xfrm>
            <a:off x="311760" y="410040"/>
            <a:ext cx="8520000" cy="6072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82" name="Google Shape;482;g1e8a5d14dff_0_18"/>
          <p:cNvSpPr txBox="1">
            <a:spLocks noGrp="1"/>
          </p:cNvSpPr>
          <p:nvPr>
            <p:ph type="body" idx="1"/>
          </p:nvPr>
        </p:nvSpPr>
        <p:spPr>
          <a:xfrm>
            <a:off x="311760" y="1229760"/>
            <a:ext cx="8520000" cy="3338700"/>
          </a:xfrm>
          <a:prstGeom prst="rect">
            <a:avLst/>
          </a:prstGeom>
        </p:spPr>
        <p:txBody>
          <a:bodyPr spcFirstLastPara="1" wrap="square" lIns="0" tIns="0" rIns="0" bIns="0" anchor="t" anchorCtr="0">
            <a:normAutofit/>
          </a:bodyPr>
          <a:lstStyle/>
          <a:p>
            <a:pPr marL="0" lvl="0" indent="0" algn="l" rtl="0">
              <a:spcBef>
                <a:spcPts val="0"/>
              </a:spcBef>
              <a:spcAft>
                <a:spcPts val="0"/>
              </a:spcAft>
              <a:buNone/>
            </a:pPr>
            <a:endParaRPr/>
          </a:p>
        </p:txBody>
      </p:sp>
      <p:pic>
        <p:nvPicPr>
          <p:cNvPr id="483" name="Google Shape;483;g1e8a5d14dff_0_18"/>
          <p:cNvPicPr preferRelativeResize="0"/>
          <p:nvPr/>
        </p:nvPicPr>
        <p:blipFill>
          <a:blip r:embed="rId3">
            <a:alphaModFix/>
          </a:blip>
          <a:stretch>
            <a:fillRect/>
          </a:stretch>
        </p:blipFill>
        <p:spPr>
          <a:xfrm>
            <a:off x="311750" y="410050"/>
            <a:ext cx="8520000" cy="4266725"/>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487"/>
        <p:cNvGrpSpPr/>
        <p:nvPr/>
      </p:nvGrpSpPr>
      <p:grpSpPr>
        <a:xfrm>
          <a:off x="0" y="0"/>
          <a:ext cx="0" cy="0"/>
          <a:chOff x="0" y="0"/>
          <a:chExt cx="0" cy="0"/>
        </a:xfrm>
      </p:grpSpPr>
      <p:sp>
        <p:nvSpPr>
          <p:cNvPr id="488" name="Google Shape;488;p44"/>
          <p:cNvSpPr txBox="1"/>
          <p:nvPr/>
        </p:nvSpPr>
        <p:spPr>
          <a:xfrm>
            <a:off x="311760" y="410040"/>
            <a:ext cx="8520120" cy="607320"/>
          </a:xfrm>
          <a:prstGeom prst="rect">
            <a:avLst/>
          </a:prstGeom>
          <a:noFill/>
          <a:ln>
            <a:noFill/>
          </a:ln>
        </p:spPr>
        <p:txBody>
          <a:bodyPr spcFirstLastPara="1" wrap="square" lIns="91425" tIns="91425" rIns="91425" bIns="91425" anchor="t" anchorCtr="0">
            <a:normAutofit fontScale="98500" lnSpcReduction="10000"/>
          </a:bodyPr>
          <a:lstStyle/>
          <a:p>
            <a:pPr marL="0" marR="0" lvl="0" indent="0" algn="l" rtl="0">
              <a:lnSpc>
                <a:spcPct val="100000"/>
              </a:lnSpc>
              <a:spcBef>
                <a:spcPts val="0"/>
              </a:spcBef>
              <a:spcAft>
                <a:spcPts val="0"/>
              </a:spcAft>
              <a:buNone/>
            </a:pPr>
            <a:r>
              <a:rPr lang="en-GB" sz="3000" b="0" strike="noStrike">
                <a:solidFill>
                  <a:srgbClr val="2A3990"/>
                </a:solidFill>
                <a:latin typeface="Roboto"/>
                <a:ea typeface="Roboto"/>
                <a:cs typeface="Roboto"/>
                <a:sym typeface="Roboto"/>
              </a:rPr>
              <a:t>Probability Sampling</a:t>
            </a:r>
            <a:endParaRPr sz="3000" b="0" strike="noStrike">
              <a:solidFill>
                <a:srgbClr val="000000"/>
              </a:solidFill>
              <a:latin typeface="Arial"/>
              <a:ea typeface="Arial"/>
              <a:cs typeface="Arial"/>
              <a:sym typeface="Arial"/>
            </a:endParaRPr>
          </a:p>
        </p:txBody>
      </p:sp>
      <p:sp>
        <p:nvSpPr>
          <p:cNvPr id="489" name="Google Shape;489;p44"/>
          <p:cNvSpPr txBox="1"/>
          <p:nvPr/>
        </p:nvSpPr>
        <p:spPr>
          <a:xfrm>
            <a:off x="311750" y="1017350"/>
            <a:ext cx="8520000" cy="3723000"/>
          </a:xfrm>
          <a:prstGeom prst="rect">
            <a:avLst/>
          </a:prstGeom>
          <a:noFill/>
          <a:ln>
            <a:noFill/>
          </a:ln>
        </p:spPr>
        <p:txBody>
          <a:bodyPr spcFirstLastPara="1" wrap="square" lIns="91425" tIns="91425" rIns="91425" bIns="91425" anchor="t" anchorCtr="0">
            <a:normAutofit/>
          </a:bodyPr>
          <a:lstStyle/>
          <a:p>
            <a:pPr marL="457200" marR="0" lvl="0" indent="-355420" algn="just" rtl="0">
              <a:lnSpc>
                <a:spcPct val="115000"/>
              </a:lnSpc>
              <a:spcBef>
                <a:spcPts val="0"/>
              </a:spcBef>
              <a:spcAft>
                <a:spcPts val="0"/>
              </a:spcAft>
              <a:buClr>
                <a:srgbClr val="434343"/>
              </a:buClr>
              <a:buSzPts val="2000"/>
              <a:buFont typeface="Roboto"/>
              <a:buChar char="●"/>
            </a:pPr>
            <a:r>
              <a:rPr lang="en-GB" sz="2000" b="0" strike="noStrike">
                <a:solidFill>
                  <a:srgbClr val="434343"/>
                </a:solidFill>
                <a:latin typeface="Times New Roman"/>
                <a:ea typeface="Times New Roman"/>
                <a:cs typeface="Times New Roman"/>
                <a:sym typeface="Times New Roman"/>
              </a:rPr>
              <a:t>Probability sampling is also known as ‘random sampling’ or ‘chance sampling’. </a:t>
            </a:r>
            <a:endParaRPr sz="2000" b="0" strike="noStrike">
              <a:solidFill>
                <a:srgbClr val="000000"/>
              </a:solidFill>
              <a:latin typeface="Arial"/>
              <a:ea typeface="Arial"/>
              <a:cs typeface="Arial"/>
              <a:sym typeface="Arial"/>
            </a:endParaRPr>
          </a:p>
          <a:p>
            <a:pPr marL="457200" marR="0" lvl="0" indent="-355420" algn="just" rtl="0">
              <a:lnSpc>
                <a:spcPct val="115000"/>
              </a:lnSpc>
              <a:spcBef>
                <a:spcPts val="0"/>
              </a:spcBef>
              <a:spcAft>
                <a:spcPts val="0"/>
              </a:spcAft>
              <a:buClr>
                <a:srgbClr val="434343"/>
              </a:buClr>
              <a:buSzPts val="2000"/>
              <a:buFont typeface="Roboto"/>
              <a:buChar char="●"/>
            </a:pPr>
            <a:r>
              <a:rPr lang="en-GB" sz="2000" b="0" strike="noStrike">
                <a:solidFill>
                  <a:srgbClr val="434343"/>
                </a:solidFill>
                <a:latin typeface="Times New Roman"/>
                <a:ea typeface="Times New Roman"/>
                <a:cs typeface="Times New Roman"/>
                <a:sym typeface="Times New Roman"/>
              </a:rPr>
              <a:t>Under this sampling design, e</a:t>
            </a:r>
            <a:r>
              <a:rPr lang="en-GB" sz="2000" b="0" strike="noStrike">
                <a:solidFill>
                  <a:schemeClr val="accent3"/>
                </a:solidFill>
                <a:latin typeface="Times New Roman"/>
                <a:ea typeface="Times New Roman"/>
                <a:cs typeface="Times New Roman"/>
                <a:sym typeface="Times New Roman"/>
              </a:rPr>
              <a:t>very item of the universe has an equal chance of inclusion</a:t>
            </a:r>
            <a:r>
              <a:rPr lang="en-GB" sz="2000" b="0" strike="noStrike">
                <a:solidFill>
                  <a:srgbClr val="434343"/>
                </a:solidFill>
                <a:latin typeface="Times New Roman"/>
                <a:ea typeface="Times New Roman"/>
                <a:cs typeface="Times New Roman"/>
                <a:sym typeface="Times New Roman"/>
              </a:rPr>
              <a:t> in the sample.</a:t>
            </a:r>
            <a:endParaRPr sz="2000" b="0" strike="noStrike">
              <a:solidFill>
                <a:srgbClr val="000000"/>
              </a:solidFill>
              <a:latin typeface="Arial"/>
              <a:ea typeface="Arial"/>
              <a:cs typeface="Arial"/>
              <a:sym typeface="Arial"/>
            </a:endParaRPr>
          </a:p>
          <a:p>
            <a:pPr marL="457200" marR="0" lvl="0" indent="-355420" algn="just" rtl="0">
              <a:lnSpc>
                <a:spcPct val="115000"/>
              </a:lnSpc>
              <a:spcBef>
                <a:spcPts val="0"/>
              </a:spcBef>
              <a:spcAft>
                <a:spcPts val="0"/>
              </a:spcAft>
              <a:buClr>
                <a:srgbClr val="434343"/>
              </a:buClr>
              <a:buSzPts val="2000"/>
              <a:buFont typeface="Roboto"/>
              <a:buChar char="●"/>
            </a:pPr>
            <a:r>
              <a:rPr lang="en-GB" sz="2000" b="0" strike="noStrike">
                <a:solidFill>
                  <a:srgbClr val="434343"/>
                </a:solidFill>
                <a:latin typeface="Times New Roman"/>
                <a:ea typeface="Times New Roman"/>
                <a:cs typeface="Times New Roman"/>
                <a:sym typeface="Times New Roman"/>
              </a:rPr>
              <a:t>Ex:, a lottery method/ Lucky draw</a:t>
            </a:r>
            <a:endParaRPr sz="2000" b="0" strike="noStrike">
              <a:solidFill>
                <a:srgbClr val="000000"/>
              </a:solidFill>
              <a:latin typeface="Arial"/>
              <a:ea typeface="Arial"/>
              <a:cs typeface="Arial"/>
              <a:sym typeface="Arial"/>
            </a:endParaRPr>
          </a:p>
          <a:p>
            <a:pPr marL="457200" marR="0" lvl="0" indent="-355420" algn="just" rtl="0">
              <a:lnSpc>
                <a:spcPct val="115000"/>
              </a:lnSpc>
              <a:spcBef>
                <a:spcPts val="0"/>
              </a:spcBef>
              <a:spcAft>
                <a:spcPts val="0"/>
              </a:spcAft>
              <a:buClr>
                <a:srgbClr val="434343"/>
              </a:buClr>
              <a:buSzPts val="2000"/>
              <a:buFont typeface="Roboto"/>
              <a:buChar char="●"/>
            </a:pPr>
            <a:r>
              <a:rPr lang="en-GB" sz="2000" b="0" strike="noStrike">
                <a:solidFill>
                  <a:srgbClr val="434343"/>
                </a:solidFill>
                <a:latin typeface="Times New Roman"/>
                <a:ea typeface="Times New Roman"/>
                <a:cs typeface="Times New Roman"/>
                <a:sym typeface="Times New Roman"/>
              </a:rPr>
              <a:t> Random sampling ensures the law of Statistical Regularity which states that if on an average the sample chosen is a random one, the sample will have the same composition and characteristics as the universe. </a:t>
            </a:r>
            <a:endParaRPr sz="2000" b="0" strike="noStrike">
              <a:solidFill>
                <a:srgbClr val="000000"/>
              </a:solidFill>
              <a:latin typeface="Arial"/>
              <a:ea typeface="Arial"/>
              <a:cs typeface="Arial"/>
              <a:sym typeface="Arial"/>
            </a:endParaRPr>
          </a:p>
          <a:p>
            <a:pPr marL="457200" marR="0" lvl="0" indent="-355420" algn="just" rtl="0">
              <a:lnSpc>
                <a:spcPct val="115000"/>
              </a:lnSpc>
              <a:spcBef>
                <a:spcPts val="0"/>
              </a:spcBef>
              <a:spcAft>
                <a:spcPts val="0"/>
              </a:spcAft>
              <a:buClr>
                <a:srgbClr val="434343"/>
              </a:buClr>
              <a:buSzPts val="2000"/>
              <a:buFont typeface="Roboto"/>
              <a:buChar char="●"/>
            </a:pPr>
            <a:r>
              <a:rPr lang="en-GB" sz="2000" b="0" strike="noStrike">
                <a:solidFill>
                  <a:srgbClr val="434343"/>
                </a:solidFill>
                <a:latin typeface="Times New Roman"/>
                <a:ea typeface="Times New Roman"/>
                <a:cs typeface="Times New Roman"/>
                <a:sym typeface="Times New Roman"/>
              </a:rPr>
              <a:t>This is the reason why random sampling is considered as the best technique of selecting a representative sample.</a:t>
            </a:r>
            <a:endParaRPr sz="2000" b="0" strike="noStrike">
              <a:solidFill>
                <a:srgbClr val="000000"/>
              </a:solidFill>
              <a:latin typeface="Arial"/>
              <a:ea typeface="Arial"/>
              <a:cs typeface="Arial"/>
              <a:sym typeface="Arial"/>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493"/>
        <p:cNvGrpSpPr/>
        <p:nvPr/>
      </p:nvGrpSpPr>
      <p:grpSpPr>
        <a:xfrm>
          <a:off x="0" y="0"/>
          <a:ext cx="0" cy="0"/>
          <a:chOff x="0" y="0"/>
          <a:chExt cx="0" cy="0"/>
        </a:xfrm>
      </p:grpSpPr>
      <p:sp>
        <p:nvSpPr>
          <p:cNvPr id="494" name="Google Shape;494;g1e8a5d14dff_0_24"/>
          <p:cNvSpPr txBox="1">
            <a:spLocks noGrp="1"/>
          </p:cNvSpPr>
          <p:nvPr>
            <p:ph type="title"/>
          </p:nvPr>
        </p:nvSpPr>
        <p:spPr>
          <a:xfrm>
            <a:off x="311750" y="249501"/>
            <a:ext cx="8520000" cy="575700"/>
          </a:xfrm>
          <a:prstGeom prst="rect">
            <a:avLst/>
          </a:prstGeom>
        </p:spPr>
        <p:txBody>
          <a:bodyPr spcFirstLastPara="1" wrap="square" lIns="0" tIns="0" rIns="0" bIns="0" anchor="ctr" anchorCtr="0">
            <a:noAutofit/>
          </a:bodyPr>
          <a:lstStyle/>
          <a:p>
            <a:pPr marL="0" lvl="0" indent="0" algn="l" rtl="0">
              <a:lnSpc>
                <a:spcPct val="110000"/>
              </a:lnSpc>
              <a:spcBef>
                <a:spcPts val="1300"/>
              </a:spcBef>
              <a:spcAft>
                <a:spcPts val="0"/>
              </a:spcAft>
              <a:buClr>
                <a:schemeClr val="dk1"/>
              </a:buClr>
              <a:buSzPts val="1100"/>
              <a:buFont typeface="Arial"/>
              <a:buNone/>
            </a:pPr>
            <a:r>
              <a:rPr lang="en-GB" sz="2800" b="1">
                <a:solidFill>
                  <a:srgbClr val="1F80E8"/>
                </a:solidFill>
                <a:uFill>
                  <a:noFill/>
                </a:uFill>
                <a:hlinkClick r:id="rId3">
                  <a:extLst>
                    <a:ext uri="{A12FA001-AC4F-418D-AE19-62706E023703}">
                      <ahyp:hlinkClr xmlns:ahyp="http://schemas.microsoft.com/office/drawing/2018/hyperlinkcolor" val="tx"/>
                    </a:ext>
                  </a:extLst>
                </a:hlinkClick>
              </a:rPr>
              <a:t>Simple random sampling</a:t>
            </a:r>
            <a:endParaRPr sz="2800" b="1">
              <a:solidFill>
                <a:srgbClr val="1F80E8"/>
              </a:solidFill>
            </a:endParaRPr>
          </a:p>
          <a:p>
            <a:pPr marL="0" lvl="0" indent="0" algn="l" rtl="0">
              <a:spcBef>
                <a:spcPts val="700"/>
              </a:spcBef>
              <a:spcAft>
                <a:spcPts val="0"/>
              </a:spcAft>
              <a:buNone/>
            </a:pPr>
            <a:endParaRPr/>
          </a:p>
        </p:txBody>
      </p:sp>
      <p:sp>
        <p:nvSpPr>
          <p:cNvPr id="495" name="Google Shape;495;g1e8a5d14dff_0_24"/>
          <p:cNvSpPr txBox="1">
            <a:spLocks noGrp="1"/>
          </p:cNvSpPr>
          <p:nvPr>
            <p:ph type="body" idx="1"/>
          </p:nvPr>
        </p:nvSpPr>
        <p:spPr>
          <a:xfrm>
            <a:off x="311750" y="652523"/>
            <a:ext cx="8520000" cy="3915900"/>
          </a:xfrm>
          <a:prstGeom prst="rect">
            <a:avLst/>
          </a:prstGeom>
        </p:spPr>
        <p:txBody>
          <a:bodyPr spcFirstLastPara="1" wrap="square" lIns="0" tIns="0" rIns="0" bIns="0" anchor="t" anchorCtr="0">
            <a:noAutofit/>
          </a:bodyPr>
          <a:lstStyle/>
          <a:p>
            <a:pPr marL="457200" lvl="0" indent="-349250" algn="just" rtl="0">
              <a:lnSpc>
                <a:spcPct val="180000"/>
              </a:lnSpc>
              <a:spcBef>
                <a:spcPts val="0"/>
              </a:spcBef>
              <a:spcAft>
                <a:spcPts val="0"/>
              </a:spcAft>
              <a:buClr>
                <a:srgbClr val="0D405F"/>
              </a:buClr>
              <a:buSzPts val="1900"/>
              <a:buChar char="●"/>
            </a:pPr>
            <a:r>
              <a:rPr lang="en-GB" sz="1900">
                <a:solidFill>
                  <a:srgbClr val="0D405F"/>
                </a:solidFill>
              </a:rPr>
              <a:t>In a simple random sample, </a:t>
            </a:r>
            <a:r>
              <a:rPr lang="en-GB" sz="1900">
                <a:solidFill>
                  <a:schemeClr val="accent3"/>
                </a:solidFill>
              </a:rPr>
              <a:t>every member of the population has an equal chance of being selected</a:t>
            </a:r>
            <a:r>
              <a:rPr lang="en-GB" sz="1900">
                <a:solidFill>
                  <a:srgbClr val="0D405F"/>
                </a:solidFill>
              </a:rPr>
              <a:t>. Your </a:t>
            </a:r>
            <a:r>
              <a:rPr lang="en-GB" sz="1900">
                <a:solidFill>
                  <a:schemeClr val="accent3"/>
                </a:solidFill>
              </a:rPr>
              <a:t>sampling frame should include the whole population.</a:t>
            </a:r>
            <a:endParaRPr sz="1900">
              <a:solidFill>
                <a:schemeClr val="accent3"/>
              </a:solidFill>
            </a:endParaRPr>
          </a:p>
          <a:p>
            <a:pPr marL="457200" lvl="0" indent="-349250" algn="just" rtl="0">
              <a:lnSpc>
                <a:spcPct val="180000"/>
              </a:lnSpc>
              <a:spcBef>
                <a:spcPts val="0"/>
              </a:spcBef>
              <a:spcAft>
                <a:spcPts val="0"/>
              </a:spcAft>
              <a:buClr>
                <a:srgbClr val="0D405F"/>
              </a:buClr>
              <a:buSzPts val="1900"/>
              <a:buChar char="●"/>
            </a:pPr>
            <a:r>
              <a:rPr lang="en-GB" sz="1900">
                <a:solidFill>
                  <a:srgbClr val="0D405F"/>
                </a:solidFill>
              </a:rPr>
              <a:t>To conduct this type of sampling, you can use tools like random number generators or other techniques that are based entirely on chance.</a:t>
            </a:r>
            <a:endParaRPr sz="1900">
              <a:solidFill>
                <a:srgbClr val="0D405F"/>
              </a:solidFill>
            </a:endParaRPr>
          </a:p>
          <a:p>
            <a:pPr marL="457200" lvl="0" indent="-349250" algn="just" rtl="0">
              <a:spcBef>
                <a:spcPts val="0"/>
              </a:spcBef>
              <a:spcAft>
                <a:spcPts val="0"/>
              </a:spcAft>
              <a:buClr>
                <a:srgbClr val="274E13"/>
              </a:buClr>
              <a:buSzPts val="1900"/>
              <a:buChar char="●"/>
            </a:pPr>
            <a:r>
              <a:rPr lang="en-GB" sz="1900">
                <a:solidFill>
                  <a:srgbClr val="274E13"/>
                </a:solidFill>
                <a:highlight>
                  <a:srgbClr val="F9F9FB"/>
                </a:highlight>
              </a:rPr>
              <a:t>Ex: You want to select a simple random sample of 1000 employees of a social media marketing company. You assign a number to every employee in the company database from 1 to 1000, and use a random number generator to select 100 numbers.</a:t>
            </a:r>
            <a:endParaRPr sz="1900">
              <a:solidFill>
                <a:srgbClr val="274E13"/>
              </a:solidFill>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499"/>
        <p:cNvGrpSpPr/>
        <p:nvPr/>
      </p:nvGrpSpPr>
      <p:grpSpPr>
        <a:xfrm>
          <a:off x="0" y="0"/>
          <a:ext cx="0" cy="0"/>
          <a:chOff x="0" y="0"/>
          <a:chExt cx="0" cy="0"/>
        </a:xfrm>
      </p:grpSpPr>
      <p:sp>
        <p:nvSpPr>
          <p:cNvPr id="500" name="Google Shape;500;g1e8a5d14dff_0_64"/>
          <p:cNvSpPr txBox="1">
            <a:spLocks noGrp="1"/>
          </p:cNvSpPr>
          <p:nvPr>
            <p:ph type="title"/>
          </p:nvPr>
        </p:nvSpPr>
        <p:spPr>
          <a:xfrm>
            <a:off x="311760" y="410040"/>
            <a:ext cx="8520000" cy="6072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01" name="Google Shape;501;g1e8a5d14dff_0_64"/>
          <p:cNvSpPr txBox="1">
            <a:spLocks noGrp="1"/>
          </p:cNvSpPr>
          <p:nvPr>
            <p:ph type="body" idx="1"/>
          </p:nvPr>
        </p:nvSpPr>
        <p:spPr>
          <a:xfrm>
            <a:off x="311760" y="1229760"/>
            <a:ext cx="8520000" cy="3338700"/>
          </a:xfrm>
          <a:prstGeom prst="rect">
            <a:avLst/>
          </a:prstGeom>
        </p:spPr>
        <p:txBody>
          <a:bodyPr spcFirstLastPara="1" wrap="square" lIns="0" tIns="0" rIns="0" bIns="0" anchor="t" anchorCtr="0">
            <a:normAutofit/>
          </a:bodyPr>
          <a:lstStyle/>
          <a:p>
            <a:pPr marL="0" lvl="0" indent="0" algn="l" rtl="0">
              <a:spcBef>
                <a:spcPts val="0"/>
              </a:spcBef>
              <a:spcAft>
                <a:spcPts val="0"/>
              </a:spcAft>
              <a:buNone/>
            </a:pPr>
            <a:endParaRPr/>
          </a:p>
        </p:txBody>
      </p:sp>
      <p:pic>
        <p:nvPicPr>
          <p:cNvPr id="502" name="Google Shape;502;g1e8a5d14dff_0_64"/>
          <p:cNvPicPr preferRelativeResize="0"/>
          <p:nvPr/>
        </p:nvPicPr>
        <p:blipFill>
          <a:blip r:embed="rId3">
            <a:alphaModFix/>
          </a:blip>
          <a:stretch>
            <a:fillRect/>
          </a:stretch>
        </p:blipFill>
        <p:spPr>
          <a:xfrm>
            <a:off x="1036375" y="410050"/>
            <a:ext cx="4859600" cy="41584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02"/>
                                        </p:tgtEl>
                                        <p:attrNameLst>
                                          <p:attrName>style.visibility</p:attrName>
                                        </p:attrNameLst>
                                      </p:cBhvr>
                                      <p:to>
                                        <p:strVal val="visible"/>
                                      </p:to>
                                    </p:set>
                                    <p:animEffect transition="in" filter="fade">
                                      <p:cBhvr>
                                        <p:cTn id="7" dur="1000"/>
                                        <p:tgtEl>
                                          <p:spTgt spid="5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506"/>
        <p:cNvGrpSpPr/>
        <p:nvPr/>
      </p:nvGrpSpPr>
      <p:grpSpPr>
        <a:xfrm>
          <a:off x="0" y="0"/>
          <a:ext cx="0" cy="0"/>
          <a:chOff x="0" y="0"/>
          <a:chExt cx="0" cy="0"/>
        </a:xfrm>
      </p:grpSpPr>
      <p:sp>
        <p:nvSpPr>
          <p:cNvPr id="507" name="Google Shape;507;g1e8a5d14dff_0_31"/>
          <p:cNvSpPr txBox="1">
            <a:spLocks noGrp="1"/>
          </p:cNvSpPr>
          <p:nvPr>
            <p:ph type="title"/>
          </p:nvPr>
        </p:nvSpPr>
        <p:spPr>
          <a:xfrm>
            <a:off x="311750" y="153527"/>
            <a:ext cx="8520000" cy="498900"/>
          </a:xfrm>
          <a:prstGeom prst="rect">
            <a:avLst/>
          </a:prstGeom>
        </p:spPr>
        <p:txBody>
          <a:bodyPr spcFirstLastPara="1" wrap="square" lIns="0" tIns="0" rIns="0" bIns="0" anchor="ctr" anchorCtr="0">
            <a:noAutofit/>
          </a:bodyPr>
          <a:lstStyle/>
          <a:p>
            <a:pPr marL="0" lvl="0" indent="0" algn="l" rtl="0">
              <a:lnSpc>
                <a:spcPct val="110000"/>
              </a:lnSpc>
              <a:spcBef>
                <a:spcPts val="1300"/>
              </a:spcBef>
              <a:spcAft>
                <a:spcPts val="0"/>
              </a:spcAft>
              <a:buNone/>
            </a:pPr>
            <a:r>
              <a:rPr lang="en-GB" sz="3000" b="1">
                <a:solidFill>
                  <a:srgbClr val="1B2B68"/>
                </a:solidFill>
              </a:rPr>
              <a:t> </a:t>
            </a:r>
            <a:endParaRPr sz="3000" b="1">
              <a:solidFill>
                <a:srgbClr val="1B2B68"/>
              </a:solidFill>
            </a:endParaRPr>
          </a:p>
          <a:p>
            <a:pPr marL="0" lvl="0" indent="0" algn="l" rtl="0">
              <a:lnSpc>
                <a:spcPct val="110000"/>
              </a:lnSpc>
              <a:spcBef>
                <a:spcPts val="1300"/>
              </a:spcBef>
              <a:spcAft>
                <a:spcPts val="0"/>
              </a:spcAft>
              <a:buClr>
                <a:schemeClr val="dk1"/>
              </a:buClr>
              <a:buSzPts val="1100"/>
              <a:buFont typeface="Arial"/>
              <a:buNone/>
            </a:pPr>
            <a:r>
              <a:rPr lang="en-GB" sz="3000" b="1">
                <a:solidFill>
                  <a:srgbClr val="1F80E8"/>
                </a:solidFill>
                <a:uFill>
                  <a:noFill/>
                </a:uFill>
                <a:hlinkClick r:id="rId3">
                  <a:extLst>
                    <a:ext uri="{A12FA001-AC4F-418D-AE19-62706E023703}">
                      <ahyp:hlinkClr xmlns:ahyp="http://schemas.microsoft.com/office/drawing/2018/hyperlinkcolor" val="tx"/>
                    </a:ext>
                  </a:extLst>
                </a:hlinkClick>
              </a:rPr>
              <a:t>Systematic sampling</a:t>
            </a:r>
            <a:endParaRPr sz="3000" b="1">
              <a:solidFill>
                <a:srgbClr val="1F80E8"/>
              </a:solidFill>
            </a:endParaRPr>
          </a:p>
          <a:p>
            <a:pPr marL="0" lvl="0" indent="0" algn="just" rtl="0">
              <a:lnSpc>
                <a:spcPct val="180000"/>
              </a:lnSpc>
              <a:spcBef>
                <a:spcPts val="700"/>
              </a:spcBef>
              <a:spcAft>
                <a:spcPts val="1200"/>
              </a:spcAft>
              <a:buNone/>
            </a:pPr>
            <a:endParaRPr sz="3000">
              <a:solidFill>
                <a:srgbClr val="0D405F"/>
              </a:solidFill>
            </a:endParaRPr>
          </a:p>
        </p:txBody>
      </p:sp>
      <p:sp>
        <p:nvSpPr>
          <p:cNvPr id="508" name="Google Shape;508;g1e8a5d14dff_0_31"/>
          <p:cNvSpPr txBox="1">
            <a:spLocks noGrp="1"/>
          </p:cNvSpPr>
          <p:nvPr>
            <p:ph type="body" idx="1"/>
          </p:nvPr>
        </p:nvSpPr>
        <p:spPr>
          <a:xfrm>
            <a:off x="311750" y="729300"/>
            <a:ext cx="8520000" cy="4045800"/>
          </a:xfrm>
          <a:prstGeom prst="rect">
            <a:avLst/>
          </a:prstGeom>
        </p:spPr>
        <p:txBody>
          <a:bodyPr spcFirstLastPara="1" wrap="square" lIns="0" tIns="0" rIns="0" bIns="0" anchor="t" anchorCtr="0">
            <a:noAutofit/>
          </a:bodyPr>
          <a:lstStyle/>
          <a:p>
            <a:pPr marL="457200" lvl="0" indent="-330200" algn="just" rtl="0">
              <a:lnSpc>
                <a:spcPct val="180000"/>
              </a:lnSpc>
              <a:spcBef>
                <a:spcPts val="0"/>
              </a:spcBef>
              <a:spcAft>
                <a:spcPts val="0"/>
              </a:spcAft>
              <a:buClr>
                <a:srgbClr val="0D405F"/>
              </a:buClr>
              <a:buSzPts val="1600"/>
              <a:buChar char="●"/>
            </a:pPr>
            <a:r>
              <a:rPr lang="en-GB" sz="2000">
                <a:solidFill>
                  <a:srgbClr val="0D405F"/>
                </a:solidFill>
              </a:rPr>
              <a:t>Systematic sampling is similar to simple random sampling, but it is usually slightly easier to conduct. </a:t>
            </a:r>
            <a:endParaRPr sz="2000">
              <a:solidFill>
                <a:srgbClr val="0D405F"/>
              </a:solidFill>
            </a:endParaRPr>
          </a:p>
          <a:p>
            <a:pPr marL="457200" lvl="0" indent="-330200" algn="just" rtl="0">
              <a:lnSpc>
                <a:spcPct val="180000"/>
              </a:lnSpc>
              <a:spcBef>
                <a:spcPts val="0"/>
              </a:spcBef>
              <a:spcAft>
                <a:spcPts val="0"/>
              </a:spcAft>
              <a:buClr>
                <a:srgbClr val="0D405F"/>
              </a:buClr>
              <a:buSzPts val="1600"/>
              <a:buChar char="●"/>
            </a:pPr>
            <a:r>
              <a:rPr lang="en-GB" sz="2000">
                <a:solidFill>
                  <a:srgbClr val="0D405F"/>
                </a:solidFill>
              </a:rPr>
              <a:t>Every member of the population is listed with a number, but instead of randomly generating numbers, individuals are chosen at regular intervals.</a:t>
            </a:r>
            <a:endParaRPr sz="2000">
              <a:solidFill>
                <a:srgbClr val="0D405F"/>
              </a:solidFill>
            </a:endParaRPr>
          </a:p>
          <a:p>
            <a:pPr marL="457200" lvl="0" indent="-330200" algn="just" rtl="0">
              <a:spcBef>
                <a:spcPts val="0"/>
              </a:spcBef>
              <a:spcAft>
                <a:spcPts val="0"/>
              </a:spcAft>
              <a:buSzPts val="1600"/>
              <a:buChar char="●"/>
            </a:pPr>
            <a:r>
              <a:rPr lang="en-GB" sz="2000">
                <a:solidFill>
                  <a:srgbClr val="707DA7"/>
                </a:solidFill>
                <a:highlight>
                  <a:srgbClr val="F9F9FB"/>
                </a:highlight>
              </a:rPr>
              <a:t>Example: </a:t>
            </a:r>
            <a:r>
              <a:rPr lang="en-GB" sz="2000">
                <a:solidFill>
                  <a:srgbClr val="0D405F"/>
                </a:solidFill>
                <a:highlight>
                  <a:srgbClr val="F9F9FB"/>
                </a:highlight>
              </a:rPr>
              <a:t>All employees of the company are listed in alphabetical order. From the first 10 numbers, you randomly select a starting point: number 6. From number 6 onwards, every 10th person on the list is selected (6, 16, 26, 36, and so on), and you end up with a sample of 100 people.</a:t>
            </a:r>
            <a:endParaRPr sz="200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512"/>
        <p:cNvGrpSpPr/>
        <p:nvPr/>
      </p:nvGrpSpPr>
      <p:grpSpPr>
        <a:xfrm>
          <a:off x="0" y="0"/>
          <a:ext cx="0" cy="0"/>
          <a:chOff x="0" y="0"/>
          <a:chExt cx="0" cy="0"/>
        </a:xfrm>
      </p:grpSpPr>
      <p:sp>
        <p:nvSpPr>
          <p:cNvPr id="513" name="Google Shape;513;g1e8a5d14dff_0_70"/>
          <p:cNvSpPr txBox="1">
            <a:spLocks noGrp="1"/>
          </p:cNvSpPr>
          <p:nvPr>
            <p:ph type="title"/>
          </p:nvPr>
        </p:nvSpPr>
        <p:spPr>
          <a:xfrm>
            <a:off x="311760" y="410040"/>
            <a:ext cx="8520000" cy="6072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14" name="Google Shape;514;g1e8a5d14dff_0_70"/>
          <p:cNvSpPr txBox="1">
            <a:spLocks noGrp="1"/>
          </p:cNvSpPr>
          <p:nvPr>
            <p:ph type="body" idx="1"/>
          </p:nvPr>
        </p:nvSpPr>
        <p:spPr>
          <a:xfrm>
            <a:off x="311760" y="1229760"/>
            <a:ext cx="8520000" cy="3338700"/>
          </a:xfrm>
          <a:prstGeom prst="rect">
            <a:avLst/>
          </a:prstGeom>
        </p:spPr>
        <p:txBody>
          <a:bodyPr spcFirstLastPara="1" wrap="square" lIns="0" tIns="0" rIns="0" bIns="0" anchor="t" anchorCtr="0">
            <a:normAutofit/>
          </a:bodyPr>
          <a:lstStyle/>
          <a:p>
            <a:pPr marL="0" lvl="0" indent="0" algn="l" rtl="0">
              <a:spcBef>
                <a:spcPts val="0"/>
              </a:spcBef>
              <a:spcAft>
                <a:spcPts val="0"/>
              </a:spcAft>
              <a:buNone/>
            </a:pPr>
            <a:endParaRPr/>
          </a:p>
        </p:txBody>
      </p:sp>
      <p:pic>
        <p:nvPicPr>
          <p:cNvPr id="515" name="Google Shape;515;g1e8a5d14dff_0_70"/>
          <p:cNvPicPr preferRelativeResize="0"/>
          <p:nvPr/>
        </p:nvPicPr>
        <p:blipFill>
          <a:blip r:embed="rId3">
            <a:alphaModFix/>
          </a:blip>
          <a:stretch>
            <a:fillRect/>
          </a:stretch>
        </p:blipFill>
        <p:spPr>
          <a:xfrm>
            <a:off x="2514050" y="511700"/>
            <a:ext cx="4293900" cy="405675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15"/>
                                        </p:tgtEl>
                                        <p:attrNameLst>
                                          <p:attrName>style.visibility</p:attrName>
                                        </p:attrNameLst>
                                      </p:cBhvr>
                                      <p:to>
                                        <p:strVal val="visible"/>
                                      </p:to>
                                    </p:set>
                                    <p:animEffect transition="in" filter="fade">
                                      <p:cBhvr>
                                        <p:cTn id="7" dur="1000"/>
                                        <p:tgtEl>
                                          <p:spTgt spid="5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519"/>
        <p:cNvGrpSpPr/>
        <p:nvPr/>
      </p:nvGrpSpPr>
      <p:grpSpPr>
        <a:xfrm>
          <a:off x="0" y="0"/>
          <a:ext cx="0" cy="0"/>
          <a:chOff x="0" y="0"/>
          <a:chExt cx="0" cy="0"/>
        </a:xfrm>
      </p:grpSpPr>
      <p:sp>
        <p:nvSpPr>
          <p:cNvPr id="520" name="Google Shape;520;g1e8a5d14dff_0_38"/>
          <p:cNvSpPr txBox="1">
            <a:spLocks noGrp="1"/>
          </p:cNvSpPr>
          <p:nvPr>
            <p:ph type="title"/>
          </p:nvPr>
        </p:nvSpPr>
        <p:spPr>
          <a:xfrm>
            <a:off x="311750" y="191929"/>
            <a:ext cx="8520000" cy="825300"/>
          </a:xfrm>
          <a:prstGeom prst="rect">
            <a:avLst/>
          </a:prstGeom>
        </p:spPr>
        <p:txBody>
          <a:bodyPr spcFirstLastPara="1" wrap="square" lIns="0" tIns="0" rIns="0" bIns="0" anchor="ctr" anchorCtr="0">
            <a:noAutofit/>
          </a:bodyPr>
          <a:lstStyle/>
          <a:p>
            <a:pPr marL="0" lvl="0" indent="0" algn="l" rtl="0">
              <a:lnSpc>
                <a:spcPct val="110000"/>
              </a:lnSpc>
              <a:spcBef>
                <a:spcPts val="1300"/>
              </a:spcBef>
              <a:spcAft>
                <a:spcPts val="0"/>
              </a:spcAft>
              <a:buNone/>
            </a:pPr>
            <a:r>
              <a:rPr lang="en-GB" sz="3000" b="1">
                <a:solidFill>
                  <a:srgbClr val="1B2B68"/>
                </a:solidFill>
              </a:rPr>
              <a:t> </a:t>
            </a:r>
            <a:endParaRPr sz="3000" b="1">
              <a:solidFill>
                <a:srgbClr val="1B2B68"/>
              </a:solidFill>
            </a:endParaRPr>
          </a:p>
          <a:p>
            <a:pPr marL="0" lvl="0" indent="0" algn="l" rtl="0">
              <a:lnSpc>
                <a:spcPct val="110000"/>
              </a:lnSpc>
              <a:spcBef>
                <a:spcPts val="1300"/>
              </a:spcBef>
              <a:spcAft>
                <a:spcPts val="0"/>
              </a:spcAft>
              <a:buClr>
                <a:schemeClr val="dk1"/>
              </a:buClr>
              <a:buSzPts val="1100"/>
              <a:buFont typeface="Arial"/>
              <a:buNone/>
            </a:pPr>
            <a:r>
              <a:rPr lang="en-GB" sz="3000" b="1">
                <a:solidFill>
                  <a:srgbClr val="1F80E8"/>
                </a:solidFill>
                <a:uFill>
                  <a:noFill/>
                </a:uFill>
                <a:hlinkClick r:id="rId3">
                  <a:extLst>
                    <a:ext uri="{A12FA001-AC4F-418D-AE19-62706E023703}">
                      <ahyp:hlinkClr xmlns:ahyp="http://schemas.microsoft.com/office/drawing/2018/hyperlinkcolor" val="tx"/>
                    </a:ext>
                  </a:extLst>
                </a:hlinkClick>
              </a:rPr>
              <a:t>Stratified sampling</a:t>
            </a:r>
            <a:endParaRPr sz="3000" b="1">
              <a:solidFill>
                <a:srgbClr val="1F80E8"/>
              </a:solidFill>
            </a:endParaRPr>
          </a:p>
          <a:p>
            <a:pPr marL="0" lvl="0" indent="0" algn="l" rtl="0">
              <a:spcBef>
                <a:spcPts val="700"/>
              </a:spcBef>
              <a:spcAft>
                <a:spcPts val="0"/>
              </a:spcAft>
              <a:buNone/>
            </a:pPr>
            <a:endParaRPr sz="3000"/>
          </a:p>
        </p:txBody>
      </p:sp>
      <p:sp>
        <p:nvSpPr>
          <p:cNvPr id="521" name="Google Shape;521;g1e8a5d14dff_0_38"/>
          <p:cNvSpPr txBox="1">
            <a:spLocks noGrp="1"/>
          </p:cNvSpPr>
          <p:nvPr>
            <p:ph type="body" idx="1"/>
          </p:nvPr>
        </p:nvSpPr>
        <p:spPr>
          <a:xfrm>
            <a:off x="311760" y="1229760"/>
            <a:ext cx="8520000" cy="3338700"/>
          </a:xfrm>
          <a:prstGeom prst="rect">
            <a:avLst/>
          </a:prstGeom>
        </p:spPr>
        <p:txBody>
          <a:bodyPr spcFirstLastPara="1" wrap="square" lIns="0" tIns="0" rIns="0" bIns="0" anchor="t" anchorCtr="0">
            <a:noAutofit/>
          </a:bodyPr>
          <a:lstStyle/>
          <a:p>
            <a:pPr marL="457200" lvl="0" indent="-349250" algn="just" rtl="0">
              <a:lnSpc>
                <a:spcPct val="180000"/>
              </a:lnSpc>
              <a:spcBef>
                <a:spcPts val="0"/>
              </a:spcBef>
              <a:spcAft>
                <a:spcPts val="0"/>
              </a:spcAft>
              <a:buClr>
                <a:srgbClr val="0D405F"/>
              </a:buClr>
              <a:buSzPts val="1900"/>
              <a:buChar char="●"/>
            </a:pPr>
            <a:r>
              <a:rPr lang="en-GB" sz="1900">
                <a:solidFill>
                  <a:srgbClr val="0D405F"/>
                </a:solidFill>
              </a:rPr>
              <a:t>Stratified sampling involves </a:t>
            </a:r>
            <a:r>
              <a:rPr lang="en-GB" sz="1900">
                <a:solidFill>
                  <a:schemeClr val="accent3"/>
                </a:solidFill>
              </a:rPr>
              <a:t>dividing the population into subpopulations that may differ</a:t>
            </a:r>
            <a:r>
              <a:rPr lang="en-GB" sz="1900">
                <a:solidFill>
                  <a:srgbClr val="0D405F"/>
                </a:solidFill>
              </a:rPr>
              <a:t> in important ways. </a:t>
            </a:r>
            <a:endParaRPr sz="1900">
              <a:solidFill>
                <a:srgbClr val="0D405F"/>
              </a:solidFill>
            </a:endParaRPr>
          </a:p>
          <a:p>
            <a:pPr marL="457200" lvl="0" indent="-349250" algn="just" rtl="0">
              <a:lnSpc>
                <a:spcPct val="180000"/>
              </a:lnSpc>
              <a:spcBef>
                <a:spcPts val="0"/>
              </a:spcBef>
              <a:spcAft>
                <a:spcPts val="0"/>
              </a:spcAft>
              <a:buClr>
                <a:srgbClr val="0D405F"/>
              </a:buClr>
              <a:buSzPts val="1900"/>
              <a:buChar char="●"/>
            </a:pPr>
            <a:r>
              <a:rPr lang="en-GB" sz="1900">
                <a:solidFill>
                  <a:srgbClr val="0D405F"/>
                </a:solidFill>
              </a:rPr>
              <a:t>To use this sampling method, you divide the population into subgroups (called strata) based on the relevant characteristic (e.g., gender identity, age range, income bracket, job role).</a:t>
            </a:r>
            <a:endParaRPr sz="1900">
              <a:solidFill>
                <a:srgbClr val="0D405F"/>
              </a:solidFill>
            </a:endParaRPr>
          </a:p>
          <a:p>
            <a:pPr marL="457200" lvl="0" indent="0" algn="just" rtl="0">
              <a:spcBef>
                <a:spcPts val="1200"/>
              </a:spcBef>
              <a:spcAft>
                <a:spcPts val="0"/>
              </a:spcAft>
              <a:buNone/>
            </a:pPr>
            <a:endParaRPr sz="190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525"/>
        <p:cNvGrpSpPr/>
        <p:nvPr/>
      </p:nvGrpSpPr>
      <p:grpSpPr>
        <a:xfrm>
          <a:off x="0" y="0"/>
          <a:ext cx="0" cy="0"/>
          <a:chOff x="0" y="0"/>
          <a:chExt cx="0" cy="0"/>
        </a:xfrm>
      </p:grpSpPr>
      <p:sp>
        <p:nvSpPr>
          <p:cNvPr id="526" name="Google Shape;526;g1e8a5d14dff_0_45"/>
          <p:cNvSpPr txBox="1">
            <a:spLocks noGrp="1"/>
          </p:cNvSpPr>
          <p:nvPr>
            <p:ph type="title"/>
          </p:nvPr>
        </p:nvSpPr>
        <p:spPr>
          <a:xfrm>
            <a:off x="311750" y="191929"/>
            <a:ext cx="8520000" cy="825300"/>
          </a:xfrm>
          <a:prstGeom prst="rect">
            <a:avLst/>
          </a:prstGeom>
        </p:spPr>
        <p:txBody>
          <a:bodyPr spcFirstLastPara="1" wrap="square" lIns="0" tIns="0" rIns="0" bIns="0" anchor="ctr" anchorCtr="0">
            <a:noAutofit/>
          </a:bodyPr>
          <a:lstStyle/>
          <a:p>
            <a:pPr marL="0" lvl="0" indent="0" algn="l" rtl="0">
              <a:lnSpc>
                <a:spcPct val="110000"/>
              </a:lnSpc>
              <a:spcBef>
                <a:spcPts val="1300"/>
              </a:spcBef>
              <a:spcAft>
                <a:spcPts val="0"/>
              </a:spcAft>
              <a:buNone/>
            </a:pPr>
            <a:r>
              <a:rPr lang="en-GB" sz="3000" b="1">
                <a:solidFill>
                  <a:srgbClr val="1B2B68"/>
                </a:solidFill>
              </a:rPr>
              <a:t> </a:t>
            </a:r>
            <a:endParaRPr sz="3000" b="1">
              <a:solidFill>
                <a:srgbClr val="1B2B68"/>
              </a:solidFill>
            </a:endParaRPr>
          </a:p>
          <a:p>
            <a:pPr marL="0" lvl="0" indent="0" algn="l" rtl="0">
              <a:lnSpc>
                <a:spcPct val="110000"/>
              </a:lnSpc>
              <a:spcBef>
                <a:spcPts val="1300"/>
              </a:spcBef>
              <a:spcAft>
                <a:spcPts val="0"/>
              </a:spcAft>
              <a:buNone/>
            </a:pPr>
            <a:r>
              <a:rPr lang="en-GB" sz="3000" b="1">
                <a:solidFill>
                  <a:srgbClr val="1F80E8"/>
                </a:solidFill>
                <a:uFill>
                  <a:noFill/>
                </a:uFill>
                <a:hlinkClick r:id="rId3">
                  <a:extLst>
                    <a:ext uri="{A12FA001-AC4F-418D-AE19-62706E023703}">
                      <ahyp:hlinkClr xmlns:ahyp="http://schemas.microsoft.com/office/drawing/2018/hyperlinkcolor" val="tx"/>
                    </a:ext>
                  </a:extLst>
                </a:hlinkClick>
              </a:rPr>
              <a:t>Stratified sampling</a:t>
            </a:r>
            <a:endParaRPr sz="3000" b="1">
              <a:solidFill>
                <a:srgbClr val="1F80E8"/>
              </a:solidFill>
            </a:endParaRPr>
          </a:p>
          <a:p>
            <a:pPr marL="0" lvl="0" indent="0" algn="l" rtl="0">
              <a:spcBef>
                <a:spcPts val="700"/>
              </a:spcBef>
              <a:spcAft>
                <a:spcPts val="0"/>
              </a:spcAft>
              <a:buNone/>
            </a:pPr>
            <a:endParaRPr sz="3000"/>
          </a:p>
        </p:txBody>
      </p:sp>
      <p:sp>
        <p:nvSpPr>
          <p:cNvPr id="527" name="Google Shape;527;g1e8a5d14dff_0_45"/>
          <p:cNvSpPr txBox="1">
            <a:spLocks noGrp="1"/>
          </p:cNvSpPr>
          <p:nvPr>
            <p:ph type="body" idx="1"/>
          </p:nvPr>
        </p:nvSpPr>
        <p:spPr>
          <a:xfrm>
            <a:off x="311750" y="878999"/>
            <a:ext cx="8520000" cy="3689400"/>
          </a:xfrm>
          <a:prstGeom prst="rect">
            <a:avLst/>
          </a:prstGeom>
        </p:spPr>
        <p:txBody>
          <a:bodyPr spcFirstLastPara="1" wrap="square" lIns="0" tIns="0" rIns="0" bIns="0" anchor="t" anchorCtr="0">
            <a:noAutofit/>
          </a:bodyPr>
          <a:lstStyle/>
          <a:p>
            <a:pPr marL="457200" lvl="0" indent="-342900" algn="just" rtl="0">
              <a:lnSpc>
                <a:spcPct val="180000"/>
              </a:lnSpc>
              <a:spcBef>
                <a:spcPts val="0"/>
              </a:spcBef>
              <a:spcAft>
                <a:spcPts val="0"/>
              </a:spcAft>
              <a:buClr>
                <a:srgbClr val="0D405F"/>
              </a:buClr>
              <a:buSzPts val="1800"/>
              <a:buChar char="●"/>
            </a:pPr>
            <a:r>
              <a:rPr lang="en-GB">
                <a:solidFill>
                  <a:srgbClr val="0D405F"/>
                </a:solidFill>
              </a:rPr>
              <a:t>Based on the overall proportions of the population, you calculate how many people should be sampled from each subgroup. Then you use random or </a:t>
            </a:r>
            <a:r>
              <a:rPr lang="en-GB">
                <a:solidFill>
                  <a:srgbClr val="1F80E8"/>
                </a:solidFill>
                <a:uFill>
                  <a:noFill/>
                </a:uFill>
                <a:hlinkClick r:id="rId4">
                  <a:extLst>
                    <a:ext uri="{A12FA001-AC4F-418D-AE19-62706E023703}">
                      <ahyp:hlinkClr xmlns:ahyp="http://schemas.microsoft.com/office/drawing/2018/hyperlinkcolor" val="tx"/>
                    </a:ext>
                  </a:extLst>
                </a:hlinkClick>
              </a:rPr>
              <a:t>systematic sampling</a:t>
            </a:r>
            <a:r>
              <a:rPr lang="en-GB">
                <a:solidFill>
                  <a:srgbClr val="0D405F"/>
                </a:solidFill>
              </a:rPr>
              <a:t> to select a sample from each subgroup.</a:t>
            </a:r>
            <a:endParaRPr>
              <a:solidFill>
                <a:srgbClr val="0D405F"/>
              </a:solidFill>
            </a:endParaRPr>
          </a:p>
          <a:p>
            <a:pPr marL="457200" lvl="0" indent="-342900" algn="just" rtl="0">
              <a:lnSpc>
                <a:spcPct val="180000"/>
              </a:lnSpc>
              <a:spcBef>
                <a:spcPts val="0"/>
              </a:spcBef>
              <a:spcAft>
                <a:spcPts val="0"/>
              </a:spcAft>
              <a:buClr>
                <a:srgbClr val="0D405F"/>
              </a:buClr>
              <a:buSzPts val="1800"/>
              <a:buChar char="●"/>
            </a:pPr>
            <a:r>
              <a:rPr lang="en-GB">
                <a:solidFill>
                  <a:srgbClr val="707DA7"/>
                </a:solidFill>
                <a:highlight>
                  <a:srgbClr val="F9F9FB"/>
                </a:highlight>
              </a:rPr>
              <a:t>Ex: </a:t>
            </a:r>
            <a:r>
              <a:rPr lang="en-GB">
                <a:solidFill>
                  <a:srgbClr val="0D405F"/>
                </a:solidFill>
                <a:highlight>
                  <a:srgbClr val="F9F9FB"/>
                </a:highlight>
              </a:rPr>
              <a:t>The company has 800 female employees and 200 male employees. You want to ensure that the sample reflects the gender balance of the company, so you sort the population into two strata based on gender. Then you use random sampling on each group, selecting 80 women and 20 men, which gives you a representative sample of 100 people.</a:t>
            </a:r>
            <a:endParaRPr>
              <a:solidFill>
                <a:srgbClr val="0D405F"/>
              </a:solidFill>
            </a:endParaRPr>
          </a:p>
          <a:p>
            <a:pPr marL="457200" lvl="0" indent="-342900" algn="just" rtl="0">
              <a:spcBef>
                <a:spcPts val="0"/>
              </a:spcBef>
              <a:spcAft>
                <a:spcPts val="0"/>
              </a:spcAft>
              <a:buSzPts val="1800"/>
              <a:buChar char="●"/>
            </a:pPr>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531"/>
        <p:cNvGrpSpPr/>
        <p:nvPr/>
      </p:nvGrpSpPr>
      <p:grpSpPr>
        <a:xfrm>
          <a:off x="0" y="0"/>
          <a:ext cx="0" cy="0"/>
          <a:chOff x="0" y="0"/>
          <a:chExt cx="0" cy="0"/>
        </a:xfrm>
      </p:grpSpPr>
      <p:sp>
        <p:nvSpPr>
          <p:cNvPr id="532" name="Google Shape;532;g1e8a5d14dff_0_51"/>
          <p:cNvSpPr txBox="1">
            <a:spLocks noGrp="1"/>
          </p:cNvSpPr>
          <p:nvPr>
            <p:ph type="title"/>
          </p:nvPr>
        </p:nvSpPr>
        <p:spPr>
          <a:xfrm>
            <a:off x="311760" y="410040"/>
            <a:ext cx="8520000" cy="607200"/>
          </a:xfrm>
          <a:prstGeom prst="rect">
            <a:avLst/>
          </a:prstGeom>
        </p:spPr>
        <p:txBody>
          <a:bodyPr spcFirstLastPara="1" wrap="square" lIns="0" tIns="0" rIns="0" bIns="0" anchor="ctr" anchorCtr="0">
            <a:noAutofit/>
          </a:bodyPr>
          <a:lstStyle/>
          <a:p>
            <a:pPr marL="0" lvl="0" indent="0" algn="l" rtl="0">
              <a:lnSpc>
                <a:spcPct val="110000"/>
              </a:lnSpc>
              <a:spcBef>
                <a:spcPts val="1300"/>
              </a:spcBef>
              <a:spcAft>
                <a:spcPts val="0"/>
              </a:spcAft>
              <a:buClr>
                <a:schemeClr val="dk1"/>
              </a:buClr>
              <a:buSzPts val="1100"/>
              <a:buFont typeface="Arial"/>
              <a:buNone/>
            </a:pPr>
            <a:r>
              <a:rPr lang="en-GB" sz="3000" b="1">
                <a:solidFill>
                  <a:schemeClr val="accent2"/>
                </a:solidFill>
              </a:rPr>
              <a:t> </a:t>
            </a:r>
            <a:r>
              <a:rPr lang="en-GB" sz="3000" b="1">
                <a:solidFill>
                  <a:schemeClr val="accent2"/>
                </a:solidFill>
                <a:uFill>
                  <a:noFill/>
                </a:uFill>
                <a:hlinkClick r:id="rId3">
                  <a:extLst>
                    <a:ext uri="{A12FA001-AC4F-418D-AE19-62706E023703}">
                      <ahyp:hlinkClr xmlns:ahyp="http://schemas.microsoft.com/office/drawing/2018/hyperlinkcolor" val="tx"/>
                    </a:ext>
                  </a:extLst>
                </a:hlinkClick>
              </a:rPr>
              <a:t>Cluster sampling</a:t>
            </a:r>
            <a:endParaRPr sz="3000" b="1">
              <a:solidFill>
                <a:schemeClr val="accent2"/>
              </a:solidFill>
            </a:endParaRPr>
          </a:p>
          <a:p>
            <a:pPr marL="0" lvl="0" indent="0" algn="l" rtl="0">
              <a:spcBef>
                <a:spcPts val="700"/>
              </a:spcBef>
              <a:spcAft>
                <a:spcPts val="0"/>
              </a:spcAft>
              <a:buNone/>
            </a:pPr>
            <a:endParaRPr/>
          </a:p>
        </p:txBody>
      </p:sp>
      <p:sp>
        <p:nvSpPr>
          <p:cNvPr id="533" name="Google Shape;533;g1e8a5d14dff_0_51"/>
          <p:cNvSpPr txBox="1">
            <a:spLocks noGrp="1"/>
          </p:cNvSpPr>
          <p:nvPr>
            <p:ph type="body" idx="1"/>
          </p:nvPr>
        </p:nvSpPr>
        <p:spPr>
          <a:xfrm>
            <a:off x="311750" y="806074"/>
            <a:ext cx="8520000" cy="3762300"/>
          </a:xfrm>
          <a:prstGeom prst="rect">
            <a:avLst/>
          </a:prstGeom>
        </p:spPr>
        <p:txBody>
          <a:bodyPr spcFirstLastPara="1" wrap="square" lIns="0" tIns="0" rIns="0" bIns="0" anchor="t" anchorCtr="0">
            <a:noAutofit/>
          </a:bodyPr>
          <a:lstStyle/>
          <a:p>
            <a:pPr marL="457200" lvl="0" indent="-317500" algn="just" rtl="0">
              <a:lnSpc>
                <a:spcPct val="180000"/>
              </a:lnSpc>
              <a:spcBef>
                <a:spcPts val="0"/>
              </a:spcBef>
              <a:spcAft>
                <a:spcPts val="0"/>
              </a:spcAft>
              <a:buClr>
                <a:srgbClr val="0D405F"/>
              </a:buClr>
              <a:buSzPts val="1400"/>
              <a:buChar char="●"/>
            </a:pPr>
            <a:r>
              <a:rPr lang="en-GB">
                <a:solidFill>
                  <a:srgbClr val="0D405F"/>
                </a:solidFill>
              </a:rPr>
              <a:t>Cluster sampling also </a:t>
            </a:r>
            <a:r>
              <a:rPr lang="en-GB">
                <a:solidFill>
                  <a:schemeClr val="accent3"/>
                </a:solidFill>
              </a:rPr>
              <a:t>involves dividing the population into subgroups, but each subgroup should have similar characteristics to the whole sample.</a:t>
            </a:r>
            <a:r>
              <a:rPr lang="en-GB">
                <a:solidFill>
                  <a:srgbClr val="0D405F"/>
                </a:solidFill>
              </a:rPr>
              <a:t> Instead of sampling individuals from each subgroup, you randomly select entire subgroups.</a:t>
            </a:r>
            <a:endParaRPr>
              <a:solidFill>
                <a:srgbClr val="0D405F"/>
              </a:solidFill>
            </a:endParaRPr>
          </a:p>
          <a:p>
            <a:pPr marL="457200" lvl="0" indent="-317500" algn="just" rtl="0">
              <a:lnSpc>
                <a:spcPct val="180000"/>
              </a:lnSpc>
              <a:spcBef>
                <a:spcPts val="0"/>
              </a:spcBef>
              <a:spcAft>
                <a:spcPts val="0"/>
              </a:spcAft>
              <a:buSzPts val="1400"/>
              <a:buChar char="●"/>
            </a:pPr>
            <a:r>
              <a:rPr lang="en-GB">
                <a:solidFill>
                  <a:srgbClr val="0D405F"/>
                </a:solidFill>
              </a:rPr>
              <a:t>If it is practically possible, you might include every individual from each sampled cluster. If the clusters themselves are large, you can also sample individuals from within each cluster using one of the techniques above. This is called </a:t>
            </a:r>
            <a:r>
              <a:rPr lang="en-GB">
                <a:solidFill>
                  <a:srgbClr val="1F80E8"/>
                </a:solidFill>
                <a:uFill>
                  <a:noFill/>
                </a:uFill>
                <a:hlinkClick r:id="rId4">
                  <a:extLst>
                    <a:ext uri="{A12FA001-AC4F-418D-AE19-62706E023703}">
                      <ahyp:hlinkClr xmlns:ahyp="http://schemas.microsoft.com/office/drawing/2018/hyperlinkcolor" val="tx"/>
                    </a:ext>
                  </a:extLst>
                </a:hlinkClick>
              </a:rPr>
              <a:t>multistage sampling</a:t>
            </a:r>
            <a:r>
              <a:rPr lang="en-GB">
                <a:solidFill>
                  <a:srgbClr val="0D405F"/>
                </a:solidFill>
              </a:rPr>
              <a:t>.</a:t>
            </a:r>
            <a:endParaRPr>
              <a:solidFill>
                <a:srgbClr val="0D405F"/>
              </a:solidFill>
            </a:endParaRPr>
          </a:p>
          <a:p>
            <a:pPr marL="457200" lvl="0" indent="-317500" algn="just" rtl="0">
              <a:spcBef>
                <a:spcPts val="0"/>
              </a:spcBef>
              <a:spcAft>
                <a:spcPts val="0"/>
              </a:spcAft>
              <a:buSzPts val="1400"/>
              <a:buChar char="●"/>
            </a:pPr>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537"/>
        <p:cNvGrpSpPr/>
        <p:nvPr/>
      </p:nvGrpSpPr>
      <p:grpSpPr>
        <a:xfrm>
          <a:off x="0" y="0"/>
          <a:ext cx="0" cy="0"/>
          <a:chOff x="0" y="0"/>
          <a:chExt cx="0" cy="0"/>
        </a:xfrm>
      </p:grpSpPr>
      <p:sp>
        <p:nvSpPr>
          <p:cNvPr id="538" name="Google Shape;538;g1e8a5d14dff_0_58"/>
          <p:cNvSpPr txBox="1">
            <a:spLocks noGrp="1"/>
          </p:cNvSpPr>
          <p:nvPr>
            <p:ph type="title"/>
          </p:nvPr>
        </p:nvSpPr>
        <p:spPr>
          <a:xfrm>
            <a:off x="311760" y="410040"/>
            <a:ext cx="8520000" cy="607200"/>
          </a:xfrm>
          <a:prstGeom prst="rect">
            <a:avLst/>
          </a:prstGeom>
        </p:spPr>
        <p:txBody>
          <a:bodyPr spcFirstLastPara="1" wrap="square" lIns="0" tIns="0" rIns="0" bIns="0" anchor="ctr" anchorCtr="0">
            <a:noAutofit/>
          </a:bodyPr>
          <a:lstStyle/>
          <a:p>
            <a:pPr marL="0" lvl="0" indent="0" algn="l" rtl="0">
              <a:lnSpc>
                <a:spcPct val="110000"/>
              </a:lnSpc>
              <a:spcBef>
                <a:spcPts val="1300"/>
              </a:spcBef>
              <a:spcAft>
                <a:spcPts val="0"/>
              </a:spcAft>
              <a:buNone/>
            </a:pPr>
            <a:r>
              <a:rPr lang="en-GB" sz="3000" b="1">
                <a:solidFill>
                  <a:schemeClr val="accent2"/>
                </a:solidFill>
              </a:rPr>
              <a:t> </a:t>
            </a:r>
            <a:r>
              <a:rPr lang="en-GB" sz="3000" b="1">
                <a:solidFill>
                  <a:schemeClr val="accent2"/>
                </a:solidFill>
                <a:uFill>
                  <a:noFill/>
                </a:uFill>
                <a:hlinkClick r:id="rId3">
                  <a:extLst>
                    <a:ext uri="{A12FA001-AC4F-418D-AE19-62706E023703}">
                      <ahyp:hlinkClr xmlns:ahyp="http://schemas.microsoft.com/office/drawing/2018/hyperlinkcolor" val="tx"/>
                    </a:ext>
                  </a:extLst>
                </a:hlinkClick>
              </a:rPr>
              <a:t>Cluster sampling</a:t>
            </a:r>
            <a:endParaRPr sz="3000" b="1">
              <a:solidFill>
                <a:schemeClr val="accent2"/>
              </a:solidFill>
            </a:endParaRPr>
          </a:p>
          <a:p>
            <a:pPr marL="0" lvl="0" indent="0" algn="l" rtl="0">
              <a:spcBef>
                <a:spcPts val="700"/>
              </a:spcBef>
              <a:spcAft>
                <a:spcPts val="0"/>
              </a:spcAft>
              <a:buNone/>
            </a:pPr>
            <a:endParaRPr/>
          </a:p>
        </p:txBody>
      </p:sp>
      <p:sp>
        <p:nvSpPr>
          <p:cNvPr id="539" name="Google Shape;539;g1e8a5d14dff_0_58"/>
          <p:cNvSpPr txBox="1">
            <a:spLocks noGrp="1"/>
          </p:cNvSpPr>
          <p:nvPr>
            <p:ph type="body" idx="1"/>
          </p:nvPr>
        </p:nvSpPr>
        <p:spPr>
          <a:xfrm>
            <a:off x="311750" y="806074"/>
            <a:ext cx="8520000" cy="3762300"/>
          </a:xfrm>
          <a:prstGeom prst="rect">
            <a:avLst/>
          </a:prstGeom>
        </p:spPr>
        <p:txBody>
          <a:bodyPr spcFirstLastPara="1" wrap="square" lIns="0" tIns="0" rIns="0" bIns="0" anchor="t" anchorCtr="0">
            <a:noAutofit/>
          </a:bodyPr>
          <a:lstStyle/>
          <a:p>
            <a:pPr marL="457200" lvl="0" indent="-355600" algn="just" rtl="0">
              <a:lnSpc>
                <a:spcPct val="180000"/>
              </a:lnSpc>
              <a:spcBef>
                <a:spcPts val="0"/>
              </a:spcBef>
              <a:spcAft>
                <a:spcPts val="0"/>
              </a:spcAft>
              <a:buSzPts val="2000"/>
              <a:buChar char="●"/>
            </a:pPr>
            <a:r>
              <a:rPr lang="en-GB" sz="2000">
                <a:solidFill>
                  <a:srgbClr val="0D405F"/>
                </a:solidFill>
              </a:rPr>
              <a:t>This method is g</a:t>
            </a:r>
            <a:r>
              <a:rPr lang="en-GB" sz="2000">
                <a:solidFill>
                  <a:schemeClr val="accent3"/>
                </a:solidFill>
              </a:rPr>
              <a:t>ood for dealing with large and dispersed populations, </a:t>
            </a:r>
            <a:endParaRPr sz="2000">
              <a:solidFill>
                <a:srgbClr val="0D405F"/>
              </a:solidFill>
            </a:endParaRPr>
          </a:p>
          <a:p>
            <a:pPr marL="457200" lvl="0" indent="-355600" algn="just" rtl="0">
              <a:lnSpc>
                <a:spcPct val="180000"/>
              </a:lnSpc>
              <a:spcBef>
                <a:spcPts val="0"/>
              </a:spcBef>
              <a:spcAft>
                <a:spcPts val="0"/>
              </a:spcAft>
              <a:buSzPts val="2000"/>
              <a:buChar char="●"/>
            </a:pPr>
            <a:r>
              <a:rPr lang="en-GB" sz="2000">
                <a:solidFill>
                  <a:srgbClr val="0D405F"/>
                </a:solidFill>
              </a:rPr>
              <a:t>It’s difficult to guarantee that the sampled clusters are really representative of the whole population.</a:t>
            </a:r>
            <a:endParaRPr sz="2000">
              <a:solidFill>
                <a:srgbClr val="0D405F"/>
              </a:solidFill>
            </a:endParaRPr>
          </a:p>
          <a:p>
            <a:pPr marL="457200" lvl="0" indent="-355600" algn="just" rtl="0">
              <a:spcBef>
                <a:spcPts val="0"/>
              </a:spcBef>
              <a:spcAft>
                <a:spcPts val="0"/>
              </a:spcAft>
              <a:buSzPts val="2000"/>
              <a:buChar char="●"/>
            </a:pPr>
            <a:r>
              <a:rPr lang="en-GB" sz="2000">
                <a:solidFill>
                  <a:srgbClr val="707DA7"/>
                </a:solidFill>
                <a:highlight>
                  <a:srgbClr val="F9F9FB"/>
                </a:highlight>
              </a:rPr>
              <a:t>Ex: </a:t>
            </a:r>
            <a:r>
              <a:rPr lang="en-GB" sz="2000">
                <a:solidFill>
                  <a:srgbClr val="0D405F"/>
                </a:solidFill>
                <a:highlight>
                  <a:srgbClr val="F9F9FB"/>
                </a:highlight>
              </a:rPr>
              <a:t>The company has offices in 10 cities across the country (all with roughly the same number of employees in similar roles). You don’t have the capacity to travel to every office to collect your data, so you use random sampling to select 3 offices – these are your clusters.</a:t>
            </a:r>
            <a:endParaRPr sz="2000">
              <a:solidFill>
                <a:srgbClr val="0D405F"/>
              </a:solidFill>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543"/>
        <p:cNvGrpSpPr/>
        <p:nvPr/>
      </p:nvGrpSpPr>
      <p:grpSpPr>
        <a:xfrm>
          <a:off x="0" y="0"/>
          <a:ext cx="0" cy="0"/>
          <a:chOff x="0" y="0"/>
          <a:chExt cx="0" cy="0"/>
        </a:xfrm>
      </p:grpSpPr>
      <p:sp>
        <p:nvSpPr>
          <p:cNvPr id="544" name="Google Shape;544;g1e8a5d14dff_0_76"/>
          <p:cNvSpPr txBox="1">
            <a:spLocks noGrp="1"/>
          </p:cNvSpPr>
          <p:nvPr>
            <p:ph type="title"/>
          </p:nvPr>
        </p:nvSpPr>
        <p:spPr>
          <a:xfrm>
            <a:off x="311760" y="410040"/>
            <a:ext cx="8520000" cy="6072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45" name="Google Shape;545;g1e8a5d14dff_0_76"/>
          <p:cNvSpPr txBox="1">
            <a:spLocks noGrp="1"/>
          </p:cNvSpPr>
          <p:nvPr>
            <p:ph type="body" idx="1"/>
          </p:nvPr>
        </p:nvSpPr>
        <p:spPr>
          <a:xfrm>
            <a:off x="311760" y="1229760"/>
            <a:ext cx="8520000" cy="3338700"/>
          </a:xfrm>
          <a:prstGeom prst="rect">
            <a:avLst/>
          </a:prstGeom>
        </p:spPr>
        <p:txBody>
          <a:bodyPr spcFirstLastPara="1" wrap="square" lIns="0" tIns="0" rIns="0" bIns="0" anchor="t" anchorCtr="0">
            <a:normAutofit/>
          </a:bodyPr>
          <a:lstStyle/>
          <a:p>
            <a:pPr marL="0" lvl="0" indent="0" algn="l" rtl="0">
              <a:spcBef>
                <a:spcPts val="0"/>
              </a:spcBef>
              <a:spcAft>
                <a:spcPts val="0"/>
              </a:spcAft>
              <a:buNone/>
            </a:pPr>
            <a:endParaRPr/>
          </a:p>
        </p:txBody>
      </p:sp>
      <p:pic>
        <p:nvPicPr>
          <p:cNvPr id="546" name="Google Shape;546;g1e8a5d14dff_0_76"/>
          <p:cNvPicPr preferRelativeResize="0"/>
          <p:nvPr/>
        </p:nvPicPr>
        <p:blipFill>
          <a:blip r:embed="rId3">
            <a:alphaModFix/>
          </a:blip>
          <a:stretch>
            <a:fillRect/>
          </a:stretch>
        </p:blipFill>
        <p:spPr>
          <a:xfrm>
            <a:off x="311750" y="410050"/>
            <a:ext cx="8519999" cy="30523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46"/>
                                        </p:tgtEl>
                                        <p:attrNameLst>
                                          <p:attrName>style.visibility</p:attrName>
                                        </p:attrNameLst>
                                      </p:cBhvr>
                                      <p:to>
                                        <p:strVal val="visible"/>
                                      </p:to>
                                    </p:set>
                                    <p:animEffect transition="in" filter="fade">
                                      <p:cBhvr>
                                        <p:cTn id="7" dur="1000"/>
                                        <p:tgtEl>
                                          <p:spTgt spid="5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550"/>
        <p:cNvGrpSpPr/>
        <p:nvPr/>
      </p:nvGrpSpPr>
      <p:grpSpPr>
        <a:xfrm>
          <a:off x="0" y="0"/>
          <a:ext cx="0" cy="0"/>
          <a:chOff x="0" y="0"/>
          <a:chExt cx="0" cy="0"/>
        </a:xfrm>
      </p:grpSpPr>
      <p:sp>
        <p:nvSpPr>
          <p:cNvPr id="551" name="Google Shape;551;p45"/>
          <p:cNvSpPr txBox="1"/>
          <p:nvPr/>
        </p:nvSpPr>
        <p:spPr>
          <a:xfrm>
            <a:off x="311760" y="410040"/>
            <a:ext cx="8520120" cy="607320"/>
          </a:xfrm>
          <a:prstGeom prst="rect">
            <a:avLst/>
          </a:prstGeom>
          <a:noFill/>
          <a:ln>
            <a:noFill/>
          </a:ln>
        </p:spPr>
        <p:txBody>
          <a:bodyPr spcFirstLastPara="1" wrap="square" lIns="91425" tIns="91425" rIns="91425" bIns="91425" anchor="t" anchorCtr="0">
            <a:normAutofit fontScale="98500" lnSpcReduction="10000"/>
          </a:bodyPr>
          <a:lstStyle/>
          <a:p>
            <a:pPr marL="0" marR="0" lvl="0" indent="0" algn="l" rtl="0">
              <a:lnSpc>
                <a:spcPct val="100000"/>
              </a:lnSpc>
              <a:spcBef>
                <a:spcPts val="0"/>
              </a:spcBef>
              <a:spcAft>
                <a:spcPts val="0"/>
              </a:spcAft>
              <a:buNone/>
            </a:pPr>
            <a:r>
              <a:rPr lang="en-GB" sz="3000" b="0" strike="noStrike">
                <a:solidFill>
                  <a:srgbClr val="2A3990"/>
                </a:solidFill>
                <a:latin typeface="Roboto"/>
                <a:ea typeface="Roboto"/>
                <a:cs typeface="Roboto"/>
                <a:sym typeface="Roboto"/>
              </a:rPr>
              <a:t>MEASUREMENT AND SCALING TECHNIQUES</a:t>
            </a:r>
            <a:endParaRPr sz="3000" b="0" strike="noStrike">
              <a:solidFill>
                <a:srgbClr val="000000"/>
              </a:solidFill>
              <a:latin typeface="Arial"/>
              <a:ea typeface="Arial"/>
              <a:cs typeface="Arial"/>
              <a:sym typeface="Arial"/>
            </a:endParaRPr>
          </a:p>
        </p:txBody>
      </p:sp>
      <p:sp>
        <p:nvSpPr>
          <p:cNvPr id="552" name="Google Shape;552;p45"/>
          <p:cNvSpPr txBox="1"/>
          <p:nvPr/>
        </p:nvSpPr>
        <p:spPr>
          <a:xfrm>
            <a:off x="311760" y="1229760"/>
            <a:ext cx="8520120" cy="3338640"/>
          </a:xfrm>
          <a:prstGeom prst="rect">
            <a:avLst/>
          </a:prstGeom>
          <a:noFill/>
          <a:ln>
            <a:noFill/>
          </a:ln>
        </p:spPr>
        <p:txBody>
          <a:bodyPr spcFirstLastPara="1" wrap="square" lIns="91425" tIns="91425" rIns="91425" bIns="91425" anchor="t" anchorCtr="0">
            <a:noAutofit/>
          </a:bodyPr>
          <a:lstStyle/>
          <a:p>
            <a:pPr marL="457200" marR="0" lvl="0" indent="-342720" algn="l" rtl="0">
              <a:lnSpc>
                <a:spcPct val="115000"/>
              </a:lnSpc>
              <a:spcBef>
                <a:spcPts val="0"/>
              </a:spcBef>
              <a:spcAft>
                <a:spcPts val="0"/>
              </a:spcAft>
              <a:buClr>
                <a:srgbClr val="434343"/>
              </a:buClr>
              <a:buSzPts val="1800"/>
              <a:buFont typeface="Roboto"/>
              <a:buChar char="●"/>
            </a:pPr>
            <a:r>
              <a:rPr lang="en-GB" sz="1800" b="0" strike="noStrike">
                <a:solidFill>
                  <a:srgbClr val="434343"/>
                </a:solidFill>
                <a:latin typeface="Times New Roman"/>
                <a:ea typeface="Times New Roman"/>
                <a:cs typeface="Times New Roman"/>
                <a:sym typeface="Times New Roman"/>
              </a:rPr>
              <a:t>Technically speaking, measurement is a process of mapping aspects of a domain onto other aspects of a range according to some rule of correspondence.</a:t>
            </a:r>
            <a:endParaRPr sz="1800" b="0" strike="noStrike">
              <a:solidFill>
                <a:srgbClr val="000000"/>
              </a:solidFill>
              <a:latin typeface="Arial"/>
              <a:ea typeface="Arial"/>
              <a:cs typeface="Arial"/>
              <a:sym typeface="Arial"/>
            </a:endParaRPr>
          </a:p>
          <a:p>
            <a:pPr marL="457200" marR="0" lvl="0" indent="-342720" algn="l" rtl="0">
              <a:lnSpc>
                <a:spcPct val="115000"/>
              </a:lnSpc>
              <a:spcBef>
                <a:spcPts val="0"/>
              </a:spcBef>
              <a:spcAft>
                <a:spcPts val="0"/>
              </a:spcAft>
              <a:buClr>
                <a:srgbClr val="434343"/>
              </a:buClr>
              <a:buSzPts val="1800"/>
              <a:buFont typeface="Roboto"/>
              <a:buChar char="●"/>
            </a:pPr>
            <a:r>
              <a:rPr lang="en-GB" sz="1800" b="0" strike="noStrike">
                <a:solidFill>
                  <a:srgbClr val="434343"/>
                </a:solidFill>
                <a:latin typeface="Times New Roman"/>
                <a:ea typeface="Times New Roman"/>
                <a:cs typeface="Times New Roman"/>
                <a:sym typeface="Times New Roman"/>
              </a:rPr>
              <a:t> In measuring, we devise some form of scale in the range and then transform or map the properties of objects from the domain onto this scale.</a:t>
            </a:r>
            <a:endParaRPr sz="1800" b="0" strike="noStrike">
              <a:solidFill>
                <a:srgbClr val="000000"/>
              </a:solidFill>
              <a:latin typeface="Arial"/>
              <a:ea typeface="Arial"/>
              <a:cs typeface="Arial"/>
              <a:sym typeface="Arial"/>
            </a:endParaRPr>
          </a:p>
          <a:p>
            <a:pPr marL="114480" marR="0" lvl="0" indent="0" algn="l" rtl="0">
              <a:lnSpc>
                <a:spcPct val="115000"/>
              </a:lnSpc>
              <a:spcBef>
                <a:spcPts val="0"/>
              </a:spcBef>
              <a:spcAft>
                <a:spcPts val="0"/>
              </a:spcAft>
              <a:buNone/>
            </a:pPr>
            <a:r>
              <a:rPr lang="en-GB" sz="1800" b="0" strike="noStrike">
                <a:solidFill>
                  <a:srgbClr val="434343"/>
                </a:solidFill>
                <a:latin typeface="Times New Roman"/>
                <a:ea typeface="Times New Roman"/>
                <a:cs typeface="Times New Roman"/>
                <a:sym typeface="Times New Roman"/>
              </a:rPr>
              <a:t>Types of Data</a:t>
            </a:r>
            <a:endParaRPr sz="1800" b="0" strike="noStrike">
              <a:solidFill>
                <a:srgbClr val="000000"/>
              </a:solidFill>
              <a:latin typeface="Arial"/>
              <a:ea typeface="Arial"/>
              <a:cs typeface="Arial"/>
              <a:sym typeface="Arial"/>
            </a:endParaRPr>
          </a:p>
          <a:p>
            <a:pPr marL="457200" marR="0" lvl="0" indent="-342720" algn="l" rtl="0">
              <a:lnSpc>
                <a:spcPct val="115000"/>
              </a:lnSpc>
              <a:spcBef>
                <a:spcPts val="0"/>
              </a:spcBef>
              <a:spcAft>
                <a:spcPts val="0"/>
              </a:spcAft>
              <a:buClr>
                <a:srgbClr val="434343"/>
              </a:buClr>
              <a:buSzPts val="1800"/>
              <a:buFont typeface="Arial"/>
              <a:buAutoNum type="arabicPeriod"/>
            </a:pPr>
            <a:r>
              <a:rPr lang="en-GB" sz="1800" b="0" strike="noStrike">
                <a:solidFill>
                  <a:srgbClr val="434343"/>
                </a:solidFill>
                <a:latin typeface="Times New Roman"/>
                <a:ea typeface="Times New Roman"/>
                <a:cs typeface="Times New Roman"/>
                <a:sym typeface="Times New Roman"/>
              </a:rPr>
              <a:t>Nominal</a:t>
            </a:r>
            <a:endParaRPr sz="1800" b="0" strike="noStrike">
              <a:solidFill>
                <a:srgbClr val="000000"/>
              </a:solidFill>
              <a:latin typeface="Arial"/>
              <a:ea typeface="Arial"/>
              <a:cs typeface="Arial"/>
              <a:sym typeface="Arial"/>
            </a:endParaRPr>
          </a:p>
          <a:p>
            <a:pPr marL="457200" marR="0" lvl="0" indent="-342720" algn="l" rtl="0">
              <a:lnSpc>
                <a:spcPct val="115000"/>
              </a:lnSpc>
              <a:spcBef>
                <a:spcPts val="0"/>
              </a:spcBef>
              <a:spcAft>
                <a:spcPts val="0"/>
              </a:spcAft>
              <a:buClr>
                <a:srgbClr val="434343"/>
              </a:buClr>
              <a:buSzPts val="1800"/>
              <a:buFont typeface="Arial"/>
              <a:buAutoNum type="arabicPeriod"/>
            </a:pPr>
            <a:r>
              <a:rPr lang="en-GB" sz="1800" b="0" strike="noStrike">
                <a:solidFill>
                  <a:srgbClr val="434343"/>
                </a:solidFill>
                <a:latin typeface="Times New Roman"/>
                <a:ea typeface="Times New Roman"/>
                <a:cs typeface="Times New Roman"/>
                <a:sym typeface="Times New Roman"/>
              </a:rPr>
              <a:t>Ordinal</a:t>
            </a:r>
            <a:endParaRPr sz="1800" b="0" strike="noStrike">
              <a:solidFill>
                <a:srgbClr val="000000"/>
              </a:solidFill>
              <a:latin typeface="Arial"/>
              <a:ea typeface="Arial"/>
              <a:cs typeface="Arial"/>
              <a:sym typeface="Arial"/>
            </a:endParaRPr>
          </a:p>
          <a:p>
            <a:pPr marL="457200" marR="0" lvl="0" indent="-342720" algn="l" rtl="0">
              <a:lnSpc>
                <a:spcPct val="115000"/>
              </a:lnSpc>
              <a:spcBef>
                <a:spcPts val="0"/>
              </a:spcBef>
              <a:spcAft>
                <a:spcPts val="0"/>
              </a:spcAft>
              <a:buClr>
                <a:srgbClr val="434343"/>
              </a:buClr>
              <a:buSzPts val="1800"/>
              <a:buFont typeface="Arial"/>
              <a:buAutoNum type="arabicPeriod"/>
            </a:pPr>
            <a:r>
              <a:rPr lang="en-GB" sz="1800" b="0" strike="noStrike">
                <a:solidFill>
                  <a:srgbClr val="434343"/>
                </a:solidFill>
                <a:latin typeface="Times New Roman"/>
                <a:ea typeface="Times New Roman"/>
                <a:cs typeface="Times New Roman"/>
                <a:sym typeface="Times New Roman"/>
              </a:rPr>
              <a:t>Interval </a:t>
            </a:r>
            <a:endParaRPr sz="1800" b="0" strike="noStrike">
              <a:solidFill>
                <a:srgbClr val="000000"/>
              </a:solidFill>
              <a:latin typeface="Arial"/>
              <a:ea typeface="Arial"/>
              <a:cs typeface="Arial"/>
              <a:sym typeface="Arial"/>
            </a:endParaRPr>
          </a:p>
          <a:p>
            <a:pPr marL="457200" marR="0" lvl="0" indent="-342720" algn="l" rtl="0">
              <a:lnSpc>
                <a:spcPct val="115000"/>
              </a:lnSpc>
              <a:spcBef>
                <a:spcPts val="0"/>
              </a:spcBef>
              <a:spcAft>
                <a:spcPts val="0"/>
              </a:spcAft>
              <a:buClr>
                <a:srgbClr val="434343"/>
              </a:buClr>
              <a:buSzPts val="1800"/>
              <a:buFont typeface="Arial"/>
              <a:buAutoNum type="arabicPeriod"/>
            </a:pPr>
            <a:r>
              <a:rPr lang="en-GB" sz="1800" b="0" strike="noStrike">
                <a:solidFill>
                  <a:srgbClr val="434343"/>
                </a:solidFill>
                <a:latin typeface="Times New Roman"/>
                <a:ea typeface="Times New Roman"/>
                <a:cs typeface="Times New Roman"/>
                <a:sym typeface="Times New Roman"/>
              </a:rPr>
              <a:t>Ratio </a:t>
            </a:r>
            <a:endParaRPr sz="1800" b="0" strike="noStrike">
              <a:solidFill>
                <a:srgbClr val="000000"/>
              </a:solidFill>
              <a:latin typeface="Arial"/>
              <a:ea typeface="Arial"/>
              <a:cs typeface="Arial"/>
              <a:sym typeface="Arial"/>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556"/>
        <p:cNvGrpSpPr/>
        <p:nvPr/>
      </p:nvGrpSpPr>
      <p:grpSpPr>
        <a:xfrm>
          <a:off x="0" y="0"/>
          <a:ext cx="0" cy="0"/>
          <a:chOff x="0" y="0"/>
          <a:chExt cx="0" cy="0"/>
        </a:xfrm>
      </p:grpSpPr>
      <p:sp>
        <p:nvSpPr>
          <p:cNvPr id="557" name="Google Shape;557;g1fdf17ce282_0_0"/>
          <p:cNvSpPr txBox="1">
            <a:spLocks noGrp="1"/>
          </p:cNvSpPr>
          <p:nvPr>
            <p:ph type="title"/>
          </p:nvPr>
        </p:nvSpPr>
        <p:spPr>
          <a:xfrm>
            <a:off x="311760" y="410040"/>
            <a:ext cx="8520000" cy="6072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58" name="Google Shape;558;g1fdf17ce282_0_0"/>
          <p:cNvSpPr txBox="1">
            <a:spLocks noGrp="1"/>
          </p:cNvSpPr>
          <p:nvPr>
            <p:ph type="body" idx="1"/>
          </p:nvPr>
        </p:nvSpPr>
        <p:spPr>
          <a:xfrm>
            <a:off x="311760" y="1229760"/>
            <a:ext cx="8520000" cy="3338700"/>
          </a:xfrm>
          <a:prstGeom prst="rect">
            <a:avLst/>
          </a:prstGeom>
        </p:spPr>
        <p:txBody>
          <a:bodyPr spcFirstLastPara="1" wrap="square" lIns="0" tIns="0" rIns="0" bIns="0" anchor="t" anchorCtr="0">
            <a:normAutofit/>
          </a:bodyPr>
          <a:lstStyle/>
          <a:p>
            <a:pPr marL="0" lvl="0" indent="0" algn="l" rtl="0">
              <a:spcBef>
                <a:spcPts val="0"/>
              </a:spcBef>
              <a:spcAft>
                <a:spcPts val="0"/>
              </a:spcAft>
              <a:buNone/>
            </a:pPr>
            <a:endParaRPr/>
          </a:p>
        </p:txBody>
      </p:sp>
      <p:pic>
        <p:nvPicPr>
          <p:cNvPr id="559" name="Google Shape;559;g1fdf17ce282_0_0"/>
          <p:cNvPicPr preferRelativeResize="0"/>
          <p:nvPr/>
        </p:nvPicPr>
        <p:blipFill>
          <a:blip r:embed="rId3">
            <a:alphaModFix/>
          </a:blip>
          <a:stretch>
            <a:fillRect/>
          </a:stretch>
        </p:blipFill>
        <p:spPr>
          <a:xfrm>
            <a:off x="0" y="179070"/>
            <a:ext cx="9144000" cy="4785360"/>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563"/>
        <p:cNvGrpSpPr/>
        <p:nvPr/>
      </p:nvGrpSpPr>
      <p:grpSpPr>
        <a:xfrm>
          <a:off x="0" y="0"/>
          <a:ext cx="0" cy="0"/>
          <a:chOff x="0" y="0"/>
          <a:chExt cx="0" cy="0"/>
        </a:xfrm>
      </p:grpSpPr>
      <p:sp>
        <p:nvSpPr>
          <p:cNvPr id="564" name="Google Shape;564;g1f331929e45_0_0"/>
          <p:cNvSpPr txBox="1">
            <a:spLocks noGrp="1"/>
          </p:cNvSpPr>
          <p:nvPr>
            <p:ph type="title"/>
          </p:nvPr>
        </p:nvSpPr>
        <p:spPr>
          <a:xfrm>
            <a:off x="311760" y="410040"/>
            <a:ext cx="8520000" cy="6072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65" name="Google Shape;565;g1f331929e45_0_0"/>
          <p:cNvSpPr txBox="1">
            <a:spLocks noGrp="1"/>
          </p:cNvSpPr>
          <p:nvPr>
            <p:ph type="body" idx="1"/>
          </p:nvPr>
        </p:nvSpPr>
        <p:spPr>
          <a:xfrm>
            <a:off x="312010" y="1229760"/>
            <a:ext cx="8520000" cy="3338700"/>
          </a:xfrm>
          <a:prstGeom prst="rect">
            <a:avLst/>
          </a:prstGeom>
        </p:spPr>
        <p:txBody>
          <a:bodyPr spcFirstLastPara="1" wrap="square" lIns="0" tIns="0" rIns="0" bIns="0" anchor="t" anchorCtr="0">
            <a:normAutofit/>
          </a:bodyPr>
          <a:lstStyle/>
          <a:p>
            <a:pPr marL="0" lvl="0" indent="0" algn="l" rtl="0">
              <a:spcBef>
                <a:spcPts val="0"/>
              </a:spcBef>
              <a:spcAft>
                <a:spcPts val="0"/>
              </a:spcAft>
              <a:buNone/>
            </a:pPr>
            <a:endParaRPr/>
          </a:p>
        </p:txBody>
      </p:sp>
      <p:pic>
        <p:nvPicPr>
          <p:cNvPr id="566" name="Google Shape;566;g1f331929e45_0_0"/>
          <p:cNvPicPr preferRelativeResize="0"/>
          <p:nvPr/>
        </p:nvPicPr>
        <p:blipFill>
          <a:blip r:embed="rId3">
            <a:alphaModFix/>
          </a:blip>
          <a:stretch>
            <a:fillRect/>
          </a:stretch>
        </p:blipFill>
        <p:spPr>
          <a:xfrm>
            <a:off x="311750" y="0"/>
            <a:ext cx="8650999" cy="4568450"/>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570"/>
        <p:cNvGrpSpPr/>
        <p:nvPr/>
      </p:nvGrpSpPr>
      <p:grpSpPr>
        <a:xfrm>
          <a:off x="0" y="0"/>
          <a:ext cx="0" cy="0"/>
          <a:chOff x="0" y="0"/>
          <a:chExt cx="0" cy="0"/>
        </a:xfrm>
      </p:grpSpPr>
      <p:sp>
        <p:nvSpPr>
          <p:cNvPr id="571" name="Google Shape;571;g1fdf17ce282_0_19"/>
          <p:cNvSpPr txBox="1">
            <a:spLocks noGrp="1"/>
          </p:cNvSpPr>
          <p:nvPr>
            <p:ph type="title"/>
          </p:nvPr>
        </p:nvSpPr>
        <p:spPr>
          <a:xfrm>
            <a:off x="311760" y="410040"/>
            <a:ext cx="8520000" cy="607200"/>
          </a:xfrm>
          <a:prstGeom prst="rect">
            <a:avLst/>
          </a:prstGeom>
        </p:spPr>
        <p:txBody>
          <a:bodyPr spcFirstLastPara="1" wrap="square" lIns="0" tIns="0" rIns="0" bIns="0" anchor="ctr" anchorCtr="0">
            <a:noAutofit/>
          </a:bodyPr>
          <a:lstStyle/>
          <a:p>
            <a:pPr marL="0" lvl="0" indent="0" algn="l" rtl="0">
              <a:spcBef>
                <a:spcPts val="0"/>
              </a:spcBef>
              <a:spcAft>
                <a:spcPts val="0"/>
              </a:spcAft>
              <a:buClr>
                <a:schemeClr val="dk1"/>
              </a:buClr>
              <a:buFont typeface="Arial"/>
              <a:buNone/>
            </a:pPr>
            <a:r>
              <a:rPr lang="en-GB" sz="3000">
                <a:solidFill>
                  <a:srgbClr val="2A3990"/>
                </a:solidFill>
                <a:latin typeface="Roboto"/>
                <a:ea typeface="Roboto"/>
                <a:cs typeface="Roboto"/>
                <a:sym typeface="Roboto"/>
              </a:rPr>
              <a:t>Nominal Scale</a:t>
            </a:r>
            <a:endParaRPr/>
          </a:p>
        </p:txBody>
      </p:sp>
      <p:sp>
        <p:nvSpPr>
          <p:cNvPr id="572" name="Google Shape;572;g1fdf17ce282_0_19"/>
          <p:cNvSpPr txBox="1">
            <a:spLocks noGrp="1"/>
          </p:cNvSpPr>
          <p:nvPr>
            <p:ph type="body" idx="1"/>
          </p:nvPr>
        </p:nvSpPr>
        <p:spPr>
          <a:xfrm>
            <a:off x="311750" y="892475"/>
            <a:ext cx="8520000" cy="3828300"/>
          </a:xfrm>
          <a:prstGeom prst="rect">
            <a:avLst/>
          </a:prstGeom>
        </p:spPr>
        <p:txBody>
          <a:bodyPr spcFirstLastPara="1" wrap="square" lIns="0" tIns="0" rIns="0" bIns="0" anchor="t" anchorCtr="0">
            <a:noAutofit/>
          </a:bodyPr>
          <a:lstStyle/>
          <a:p>
            <a:pPr marL="457200" lvl="0" indent="-361950" algn="just" rtl="0">
              <a:lnSpc>
                <a:spcPct val="115000"/>
              </a:lnSpc>
              <a:spcBef>
                <a:spcPts val="0"/>
              </a:spcBef>
              <a:spcAft>
                <a:spcPts val="0"/>
              </a:spcAft>
              <a:buClr>
                <a:schemeClr val="dk1"/>
              </a:buClr>
              <a:buSzPts val="2100"/>
              <a:buChar char="●"/>
            </a:pPr>
            <a:r>
              <a:rPr lang="en-GB" sz="2100">
                <a:solidFill>
                  <a:schemeClr val="dk1"/>
                </a:solidFill>
              </a:rPr>
              <a:t>Nominal scale is simply a system of assigning number symbols to events in order to label them</a:t>
            </a:r>
            <a:endParaRPr sz="2100">
              <a:solidFill>
                <a:schemeClr val="dk1"/>
              </a:solidFill>
            </a:endParaRPr>
          </a:p>
          <a:p>
            <a:pPr marL="457200" lvl="0" indent="-361950" algn="just" rtl="0">
              <a:spcBef>
                <a:spcPts val="0"/>
              </a:spcBef>
              <a:spcAft>
                <a:spcPts val="0"/>
              </a:spcAft>
              <a:buSzPts val="2100"/>
              <a:buChar char="●"/>
            </a:pPr>
            <a:r>
              <a:rPr lang="en-GB" sz="2100"/>
              <a:t>Nominal scale is the least powerful level of measurement. It indicates no order or distance relationship and has no arithmetic origin. </a:t>
            </a:r>
            <a:endParaRPr sz="2100"/>
          </a:p>
          <a:p>
            <a:pPr marL="457200" lvl="0" indent="-361950" algn="just" rtl="0">
              <a:spcBef>
                <a:spcPts val="0"/>
              </a:spcBef>
              <a:spcAft>
                <a:spcPts val="0"/>
              </a:spcAft>
              <a:buSzPts val="2100"/>
              <a:buChar char="●"/>
            </a:pPr>
            <a:r>
              <a:rPr lang="en-GB" sz="2100"/>
              <a:t>A nominal scale simply describes differences between things by assigning them to categories. Nominal data are, thus, counted data. The scale wastes any information that we may have about varying degrees of attitude, skills, understandings, etc. </a:t>
            </a:r>
            <a:endParaRPr sz="2100"/>
          </a:p>
          <a:p>
            <a:pPr marL="457200" lvl="0" indent="-361950" algn="just" rtl="0">
              <a:spcBef>
                <a:spcPts val="0"/>
              </a:spcBef>
              <a:spcAft>
                <a:spcPts val="0"/>
              </a:spcAft>
              <a:buSzPts val="2100"/>
              <a:buChar char="●"/>
            </a:pPr>
            <a:r>
              <a:rPr lang="en-GB" sz="2100"/>
              <a:t>In spite of all this, nominal scales are still very useful and are widely used in surveys and other ex-post-facto research when data are being classified by major sub-groups of the population.</a:t>
            </a:r>
            <a:endParaRPr sz="210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576"/>
        <p:cNvGrpSpPr/>
        <p:nvPr/>
      </p:nvGrpSpPr>
      <p:grpSpPr>
        <a:xfrm>
          <a:off x="0" y="0"/>
          <a:ext cx="0" cy="0"/>
          <a:chOff x="0" y="0"/>
          <a:chExt cx="0" cy="0"/>
        </a:xfrm>
      </p:grpSpPr>
      <p:sp>
        <p:nvSpPr>
          <p:cNvPr id="577" name="Google Shape;577;g1fdf17ce282_0_30"/>
          <p:cNvSpPr txBox="1">
            <a:spLocks noGrp="1"/>
          </p:cNvSpPr>
          <p:nvPr>
            <p:ph type="title"/>
          </p:nvPr>
        </p:nvSpPr>
        <p:spPr>
          <a:xfrm>
            <a:off x="311760" y="410040"/>
            <a:ext cx="8520000" cy="6072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GB" sz="3000">
                <a:solidFill>
                  <a:srgbClr val="2A3990"/>
                </a:solidFill>
                <a:latin typeface="Roboto"/>
                <a:ea typeface="Roboto"/>
                <a:cs typeface="Roboto"/>
                <a:sym typeface="Roboto"/>
              </a:rPr>
              <a:t>Ordinal Scale</a:t>
            </a:r>
            <a:endParaRPr/>
          </a:p>
        </p:txBody>
      </p:sp>
      <p:sp>
        <p:nvSpPr>
          <p:cNvPr id="578" name="Google Shape;578;g1fdf17ce282_0_30"/>
          <p:cNvSpPr txBox="1">
            <a:spLocks noGrp="1"/>
          </p:cNvSpPr>
          <p:nvPr>
            <p:ph type="body" idx="1"/>
          </p:nvPr>
        </p:nvSpPr>
        <p:spPr>
          <a:xfrm>
            <a:off x="311750" y="892475"/>
            <a:ext cx="8520000" cy="3828300"/>
          </a:xfrm>
          <a:prstGeom prst="rect">
            <a:avLst/>
          </a:prstGeom>
        </p:spPr>
        <p:txBody>
          <a:bodyPr spcFirstLastPara="1" wrap="square" lIns="0" tIns="0" rIns="0" bIns="0" anchor="t" anchorCtr="0">
            <a:noAutofit/>
          </a:bodyPr>
          <a:lstStyle/>
          <a:p>
            <a:pPr marL="457200" lvl="0" indent="-355600" algn="just" rtl="0">
              <a:spcBef>
                <a:spcPts val="0"/>
              </a:spcBef>
              <a:spcAft>
                <a:spcPts val="0"/>
              </a:spcAft>
              <a:buSzPts val="2000"/>
              <a:buChar char="●"/>
            </a:pPr>
            <a:r>
              <a:rPr lang="en-GB" sz="2000"/>
              <a:t>The ordinal scale places events in order, but there is no attempt to make the intervals of the scale equal in terms of some rule.</a:t>
            </a:r>
            <a:endParaRPr sz="2000"/>
          </a:p>
          <a:p>
            <a:pPr marL="457200" lvl="0" indent="-355600" algn="just" rtl="0">
              <a:spcBef>
                <a:spcPts val="0"/>
              </a:spcBef>
              <a:spcAft>
                <a:spcPts val="0"/>
              </a:spcAft>
              <a:buSzPts val="2000"/>
              <a:buChar char="●"/>
            </a:pPr>
            <a:r>
              <a:rPr lang="en-GB" sz="2000"/>
              <a:t>if Ram’s position in his class is 10 and Mohan’s position is 40, it cannot be said that Ram’s position is four times as good as that of Mohan. The statement would make no sense at all.</a:t>
            </a:r>
            <a:endParaRPr sz="2000"/>
          </a:p>
          <a:p>
            <a:pPr marL="457200" lvl="0" indent="-355600" algn="just" rtl="0">
              <a:spcBef>
                <a:spcPts val="0"/>
              </a:spcBef>
              <a:spcAft>
                <a:spcPts val="0"/>
              </a:spcAft>
              <a:buSzPts val="2000"/>
              <a:buChar char="●"/>
            </a:pPr>
            <a:r>
              <a:rPr lang="en-GB" sz="2000"/>
              <a:t>Ordinal scales only permit the ranking of items from highest to lowest.</a:t>
            </a:r>
            <a:endParaRPr sz="2000"/>
          </a:p>
          <a:p>
            <a:pPr marL="457200" lvl="0" indent="-355600" algn="just" rtl="0">
              <a:spcBef>
                <a:spcPts val="0"/>
              </a:spcBef>
              <a:spcAft>
                <a:spcPts val="0"/>
              </a:spcAft>
              <a:buSzPts val="2000"/>
              <a:buChar char="●"/>
            </a:pPr>
            <a:r>
              <a:rPr lang="en-GB" sz="2000"/>
              <a:t>The use of an ordinal scale implies a statement of ‘greater than’ or ‘less than’ without our being able to state how much greater or less</a:t>
            </a:r>
            <a:endParaRPr sz="2000"/>
          </a:p>
          <a:p>
            <a:pPr marL="457200" lvl="0" indent="-355600" algn="just" rtl="0">
              <a:spcBef>
                <a:spcPts val="0"/>
              </a:spcBef>
              <a:spcAft>
                <a:spcPts val="0"/>
              </a:spcAft>
              <a:buSzPts val="2000"/>
              <a:buChar char="●"/>
            </a:pPr>
            <a:r>
              <a:rPr lang="en-GB" sz="2000"/>
              <a:t>Since the numbers of this scale have only a rank meaning, the appropriate measure of central tendency</a:t>
            </a:r>
            <a:endParaRPr sz="2000"/>
          </a:p>
          <a:p>
            <a:pPr marL="457200" lvl="0" indent="-355600" algn="just" rtl="0">
              <a:spcBef>
                <a:spcPts val="0"/>
              </a:spcBef>
              <a:spcAft>
                <a:spcPts val="0"/>
              </a:spcAft>
              <a:buSzPts val="2000"/>
              <a:buChar char="●"/>
            </a:pPr>
            <a:r>
              <a:rPr lang="en-GB" sz="2000"/>
              <a:t>is the median. A percentile or quartile measure is used for measuring dispersion. Correlations are restricted to various rank order methods</a:t>
            </a:r>
            <a:endParaRPr sz="2000"/>
          </a:p>
          <a:p>
            <a:pPr marL="457200" lvl="0" indent="0" algn="just" rtl="0">
              <a:spcBef>
                <a:spcPts val="0"/>
              </a:spcBef>
              <a:spcAft>
                <a:spcPts val="0"/>
              </a:spcAft>
              <a:buNone/>
            </a:pPr>
            <a:endParaRPr sz="210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582"/>
        <p:cNvGrpSpPr/>
        <p:nvPr/>
      </p:nvGrpSpPr>
      <p:grpSpPr>
        <a:xfrm>
          <a:off x="0" y="0"/>
          <a:ext cx="0" cy="0"/>
          <a:chOff x="0" y="0"/>
          <a:chExt cx="0" cy="0"/>
        </a:xfrm>
      </p:grpSpPr>
      <p:sp>
        <p:nvSpPr>
          <p:cNvPr id="583" name="Google Shape;583;g1fdf17ce282_0_35"/>
          <p:cNvSpPr txBox="1">
            <a:spLocks noGrp="1"/>
          </p:cNvSpPr>
          <p:nvPr>
            <p:ph type="title"/>
          </p:nvPr>
        </p:nvSpPr>
        <p:spPr>
          <a:xfrm>
            <a:off x="311760" y="410040"/>
            <a:ext cx="8520000" cy="6072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GB" sz="3000">
                <a:solidFill>
                  <a:srgbClr val="2A3990"/>
                </a:solidFill>
                <a:latin typeface="Roboto"/>
                <a:ea typeface="Roboto"/>
                <a:cs typeface="Roboto"/>
                <a:sym typeface="Roboto"/>
              </a:rPr>
              <a:t>Interval Scale</a:t>
            </a:r>
            <a:endParaRPr/>
          </a:p>
        </p:txBody>
      </p:sp>
      <p:sp>
        <p:nvSpPr>
          <p:cNvPr id="584" name="Google Shape;584;g1fdf17ce282_0_35"/>
          <p:cNvSpPr txBox="1">
            <a:spLocks noGrp="1"/>
          </p:cNvSpPr>
          <p:nvPr>
            <p:ph type="body" idx="1"/>
          </p:nvPr>
        </p:nvSpPr>
        <p:spPr>
          <a:xfrm>
            <a:off x="311750" y="892475"/>
            <a:ext cx="8520000" cy="3828300"/>
          </a:xfrm>
          <a:prstGeom prst="rect">
            <a:avLst/>
          </a:prstGeom>
        </p:spPr>
        <p:txBody>
          <a:bodyPr spcFirstLastPara="1" wrap="square" lIns="0" tIns="0" rIns="0" bIns="0" anchor="t" anchorCtr="0">
            <a:noAutofit/>
          </a:bodyPr>
          <a:lstStyle/>
          <a:p>
            <a:pPr marL="457200" lvl="0" indent="-361950" algn="just" rtl="0">
              <a:spcBef>
                <a:spcPts val="0"/>
              </a:spcBef>
              <a:spcAft>
                <a:spcPts val="0"/>
              </a:spcAft>
              <a:buSzPts val="2100"/>
              <a:buChar char="●"/>
            </a:pPr>
            <a:r>
              <a:rPr lang="en-GB" sz="2100"/>
              <a:t>The intervals are adjusted in terms of some rule that has been established as a basis for making the units equal. </a:t>
            </a:r>
            <a:endParaRPr sz="2100"/>
          </a:p>
          <a:p>
            <a:pPr marL="457200" lvl="0" indent="-361950" algn="just" rtl="0">
              <a:spcBef>
                <a:spcPts val="0"/>
              </a:spcBef>
              <a:spcAft>
                <a:spcPts val="0"/>
              </a:spcAft>
              <a:buSzPts val="2100"/>
              <a:buChar char="●"/>
            </a:pPr>
            <a:r>
              <a:rPr lang="en-GB" sz="2100"/>
              <a:t>The units are equal only in so far as one accepts the assumptions on which the rule is based. Interval scales can have an arbitrary zero, but it is not possible to determine for them what may be called an absolute zero or the unique origin.</a:t>
            </a:r>
            <a:endParaRPr sz="2100"/>
          </a:p>
          <a:p>
            <a:pPr marL="457200" lvl="0" indent="-361950" algn="just" rtl="0">
              <a:spcBef>
                <a:spcPts val="0"/>
              </a:spcBef>
              <a:spcAft>
                <a:spcPts val="0"/>
              </a:spcAft>
              <a:buSzPts val="2100"/>
              <a:buChar char="●"/>
            </a:pPr>
            <a:r>
              <a:rPr lang="en-GB" sz="2100"/>
              <a:t>It does not have the capacity to measure the complete absence of a trait or characteristic.</a:t>
            </a:r>
            <a:endParaRPr sz="2100"/>
          </a:p>
          <a:p>
            <a:pPr marL="457200" lvl="0" indent="-361950" algn="just" rtl="0">
              <a:spcBef>
                <a:spcPts val="0"/>
              </a:spcBef>
              <a:spcAft>
                <a:spcPts val="0"/>
              </a:spcAft>
              <a:buSzPts val="2100"/>
              <a:buChar char="●"/>
            </a:pPr>
            <a:r>
              <a:rPr lang="en-GB" sz="2100"/>
              <a:t>Mean is the appropriate measure of central tendency, while standard deviation is the most widely used measure of dispersion.</a:t>
            </a:r>
            <a:endParaRPr sz="210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588"/>
        <p:cNvGrpSpPr/>
        <p:nvPr/>
      </p:nvGrpSpPr>
      <p:grpSpPr>
        <a:xfrm>
          <a:off x="0" y="0"/>
          <a:ext cx="0" cy="0"/>
          <a:chOff x="0" y="0"/>
          <a:chExt cx="0" cy="0"/>
        </a:xfrm>
      </p:grpSpPr>
      <p:sp>
        <p:nvSpPr>
          <p:cNvPr id="589" name="Google Shape;589;g1fdf17ce282_0_45"/>
          <p:cNvSpPr txBox="1">
            <a:spLocks noGrp="1"/>
          </p:cNvSpPr>
          <p:nvPr>
            <p:ph type="title"/>
          </p:nvPr>
        </p:nvSpPr>
        <p:spPr>
          <a:xfrm>
            <a:off x="311760" y="410040"/>
            <a:ext cx="8520000" cy="6072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GB" sz="3000">
                <a:solidFill>
                  <a:srgbClr val="2A3990"/>
                </a:solidFill>
                <a:latin typeface="Roboto"/>
                <a:ea typeface="Roboto"/>
                <a:cs typeface="Roboto"/>
                <a:sym typeface="Roboto"/>
              </a:rPr>
              <a:t>Ratio Scale</a:t>
            </a:r>
            <a:endParaRPr/>
          </a:p>
        </p:txBody>
      </p:sp>
      <p:sp>
        <p:nvSpPr>
          <p:cNvPr id="590" name="Google Shape;590;g1fdf17ce282_0_45"/>
          <p:cNvSpPr txBox="1">
            <a:spLocks noGrp="1"/>
          </p:cNvSpPr>
          <p:nvPr>
            <p:ph type="body" idx="1"/>
          </p:nvPr>
        </p:nvSpPr>
        <p:spPr>
          <a:xfrm>
            <a:off x="311750" y="892475"/>
            <a:ext cx="8520000" cy="3828300"/>
          </a:xfrm>
          <a:prstGeom prst="rect">
            <a:avLst/>
          </a:prstGeom>
        </p:spPr>
        <p:txBody>
          <a:bodyPr spcFirstLastPara="1" wrap="square" lIns="0" tIns="0" rIns="0" bIns="0" anchor="t" anchorCtr="0">
            <a:noAutofit/>
          </a:bodyPr>
          <a:lstStyle/>
          <a:p>
            <a:pPr marL="457200" lvl="0" indent="-361950" algn="just" rtl="0">
              <a:spcBef>
                <a:spcPts val="0"/>
              </a:spcBef>
              <a:spcAft>
                <a:spcPts val="0"/>
              </a:spcAft>
              <a:buSzPts val="2100"/>
              <a:buChar char="●"/>
            </a:pPr>
            <a:r>
              <a:rPr lang="en-GB" sz="2100"/>
              <a:t>Ratio scales have an absolute or true zero of measurement. The term ‘absolute zero’ is not as precise as it was once believed to be.</a:t>
            </a:r>
            <a:endParaRPr sz="2100"/>
          </a:p>
          <a:p>
            <a:pPr marL="457200" lvl="0" indent="-361950" algn="just" rtl="0">
              <a:spcBef>
                <a:spcPts val="0"/>
              </a:spcBef>
              <a:spcAft>
                <a:spcPts val="0"/>
              </a:spcAft>
              <a:buSzPts val="2100"/>
              <a:buChar char="●"/>
            </a:pPr>
            <a:r>
              <a:rPr lang="en-GB" sz="2100"/>
              <a:t>For example, the zero point on a centimeter scale indicates the complete absence of length or height. But an absolute zero of temperature is theoretically unobtainable and it remains a concept existing only in the scientist’s mind.</a:t>
            </a:r>
            <a:endParaRPr sz="2100"/>
          </a:p>
          <a:p>
            <a:pPr marL="457200" lvl="0" indent="-361950" algn="just" rtl="0">
              <a:spcBef>
                <a:spcPts val="0"/>
              </a:spcBef>
              <a:spcAft>
                <a:spcPts val="0"/>
              </a:spcAft>
              <a:buSzPts val="2100"/>
              <a:buChar char="●"/>
            </a:pPr>
            <a:r>
              <a:rPr lang="en-GB" sz="2100"/>
              <a:t>Ratio scale represents the actual amounts of variables.</a:t>
            </a:r>
            <a:endParaRPr sz="2100"/>
          </a:p>
          <a:p>
            <a:pPr marL="457200" lvl="0" indent="-361950" algn="just" rtl="0">
              <a:spcBef>
                <a:spcPts val="0"/>
              </a:spcBef>
              <a:spcAft>
                <a:spcPts val="0"/>
              </a:spcAft>
              <a:buSzPts val="2100"/>
              <a:buChar char="●"/>
            </a:pPr>
            <a:r>
              <a:rPr lang="en-GB" sz="2100"/>
              <a:t>All statistical techniques are usable with ratio scales and all manipulations that one can carry out with real numbers can also be carried out with ratio scale values. </a:t>
            </a:r>
            <a:endParaRPr sz="2100"/>
          </a:p>
          <a:p>
            <a:pPr marL="457200" lvl="0" indent="0" algn="just" rtl="0">
              <a:spcBef>
                <a:spcPts val="0"/>
              </a:spcBef>
              <a:spcAft>
                <a:spcPts val="0"/>
              </a:spcAft>
              <a:buNone/>
            </a:pPr>
            <a:endParaRPr sz="210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594"/>
        <p:cNvGrpSpPr/>
        <p:nvPr/>
      </p:nvGrpSpPr>
      <p:grpSpPr>
        <a:xfrm>
          <a:off x="0" y="0"/>
          <a:ext cx="0" cy="0"/>
          <a:chOff x="0" y="0"/>
          <a:chExt cx="0" cy="0"/>
        </a:xfrm>
      </p:grpSpPr>
      <p:sp>
        <p:nvSpPr>
          <p:cNvPr id="595" name="Google Shape;595;g1fdf17ce282_0_67"/>
          <p:cNvSpPr txBox="1">
            <a:spLocks noGrp="1"/>
          </p:cNvSpPr>
          <p:nvPr>
            <p:ph type="title"/>
          </p:nvPr>
        </p:nvSpPr>
        <p:spPr>
          <a:xfrm>
            <a:off x="311760" y="410040"/>
            <a:ext cx="8520000" cy="6072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GB" sz="3000">
                <a:solidFill>
                  <a:srgbClr val="2A3990"/>
                </a:solidFill>
                <a:latin typeface="Roboto"/>
                <a:ea typeface="Roboto"/>
                <a:cs typeface="Roboto"/>
                <a:sym typeface="Roboto"/>
              </a:rPr>
              <a:t>Ratio Scale</a:t>
            </a:r>
            <a:endParaRPr/>
          </a:p>
        </p:txBody>
      </p:sp>
      <p:sp>
        <p:nvSpPr>
          <p:cNvPr id="596" name="Google Shape;596;g1fdf17ce282_0_67"/>
          <p:cNvSpPr txBox="1">
            <a:spLocks noGrp="1"/>
          </p:cNvSpPr>
          <p:nvPr>
            <p:ph type="body" idx="1"/>
          </p:nvPr>
        </p:nvSpPr>
        <p:spPr>
          <a:xfrm>
            <a:off x="311750" y="892475"/>
            <a:ext cx="8520000" cy="3828300"/>
          </a:xfrm>
          <a:prstGeom prst="rect">
            <a:avLst/>
          </a:prstGeom>
        </p:spPr>
        <p:txBody>
          <a:bodyPr spcFirstLastPara="1" wrap="square" lIns="0" tIns="0" rIns="0" bIns="0" anchor="t" anchorCtr="0">
            <a:noAutofit/>
          </a:bodyPr>
          <a:lstStyle/>
          <a:p>
            <a:pPr marL="457200" lvl="0" indent="-361950" algn="just" rtl="0">
              <a:spcBef>
                <a:spcPts val="0"/>
              </a:spcBef>
              <a:spcAft>
                <a:spcPts val="0"/>
              </a:spcAft>
              <a:buClr>
                <a:schemeClr val="dk1"/>
              </a:buClr>
              <a:buSzPts val="2100"/>
              <a:buChar char="●"/>
            </a:pPr>
            <a:r>
              <a:rPr lang="en-GB" sz="2100">
                <a:solidFill>
                  <a:schemeClr val="dk1"/>
                </a:solidFill>
              </a:rPr>
              <a:t>Multiplication and division can be used with this scale but not with other scales mentioned above. </a:t>
            </a:r>
            <a:endParaRPr sz="2100">
              <a:solidFill>
                <a:schemeClr val="dk1"/>
              </a:solidFill>
            </a:endParaRPr>
          </a:p>
          <a:p>
            <a:pPr marL="457200" lvl="0" indent="-361950" algn="just" rtl="0">
              <a:spcBef>
                <a:spcPts val="0"/>
              </a:spcBef>
              <a:spcAft>
                <a:spcPts val="0"/>
              </a:spcAft>
              <a:buClr>
                <a:schemeClr val="dk1"/>
              </a:buClr>
              <a:buSzPts val="2100"/>
              <a:buChar char="●"/>
            </a:pPr>
            <a:r>
              <a:rPr lang="en-GB" sz="2100">
                <a:solidFill>
                  <a:schemeClr val="dk1"/>
                </a:solidFill>
              </a:rPr>
              <a:t>Geometric and harmonic means can be used as measures of central tendency and coefficients of variation may also be calculated.</a:t>
            </a:r>
            <a:endParaRPr sz="2100">
              <a:solidFill>
                <a:schemeClr val="dk1"/>
              </a:solidFill>
            </a:endParaRPr>
          </a:p>
          <a:p>
            <a:pPr marL="457200" lvl="0" indent="0" algn="just" rtl="0">
              <a:spcBef>
                <a:spcPts val="0"/>
              </a:spcBef>
              <a:spcAft>
                <a:spcPts val="0"/>
              </a:spcAft>
              <a:buNone/>
            </a:pPr>
            <a:endParaRPr sz="2100"/>
          </a:p>
          <a:p>
            <a:pPr marL="457200" lvl="0" indent="0" algn="just" rtl="0">
              <a:spcBef>
                <a:spcPts val="0"/>
              </a:spcBef>
              <a:spcAft>
                <a:spcPts val="0"/>
              </a:spcAft>
              <a:buNone/>
            </a:pPr>
            <a:endParaRPr sz="210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600"/>
        <p:cNvGrpSpPr/>
        <p:nvPr/>
      </p:nvGrpSpPr>
      <p:grpSpPr>
        <a:xfrm>
          <a:off x="0" y="0"/>
          <a:ext cx="0" cy="0"/>
          <a:chOff x="0" y="0"/>
          <a:chExt cx="0" cy="0"/>
        </a:xfrm>
      </p:grpSpPr>
      <p:sp>
        <p:nvSpPr>
          <p:cNvPr id="601" name="Google Shape;601;g1fdf17ce282_0_58"/>
          <p:cNvSpPr txBox="1">
            <a:spLocks noGrp="1"/>
          </p:cNvSpPr>
          <p:nvPr>
            <p:ph type="title"/>
          </p:nvPr>
        </p:nvSpPr>
        <p:spPr>
          <a:xfrm>
            <a:off x="311760" y="410040"/>
            <a:ext cx="8520000" cy="6072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GB" sz="3000">
                <a:solidFill>
                  <a:srgbClr val="2A3990"/>
                </a:solidFill>
                <a:latin typeface="Roboto"/>
                <a:ea typeface="Roboto"/>
                <a:cs typeface="Roboto"/>
                <a:sym typeface="Roboto"/>
              </a:rPr>
              <a:t>Methods of data collection</a:t>
            </a:r>
            <a:endParaRPr/>
          </a:p>
        </p:txBody>
      </p:sp>
      <p:sp>
        <p:nvSpPr>
          <p:cNvPr id="602" name="Google Shape;602;g1fdf17ce282_0_58"/>
          <p:cNvSpPr txBox="1">
            <a:spLocks noGrp="1"/>
          </p:cNvSpPr>
          <p:nvPr>
            <p:ph type="body" idx="1"/>
          </p:nvPr>
        </p:nvSpPr>
        <p:spPr>
          <a:xfrm>
            <a:off x="311750" y="892475"/>
            <a:ext cx="8520000" cy="4251000"/>
          </a:xfrm>
          <a:prstGeom prst="rect">
            <a:avLst/>
          </a:prstGeom>
        </p:spPr>
        <p:txBody>
          <a:bodyPr spcFirstLastPara="1" wrap="square" lIns="0" tIns="0" rIns="0" bIns="0" anchor="t" anchorCtr="0">
            <a:noAutofit/>
          </a:bodyPr>
          <a:lstStyle/>
          <a:p>
            <a:pPr marL="457200" lvl="0" indent="-355600" algn="just" rtl="0">
              <a:spcBef>
                <a:spcPts val="0"/>
              </a:spcBef>
              <a:spcAft>
                <a:spcPts val="0"/>
              </a:spcAft>
              <a:buSzPts val="2000"/>
              <a:buChar char="●"/>
            </a:pPr>
            <a:r>
              <a:rPr lang="en-GB" sz="2000"/>
              <a:t>The task of data collection begins after a research problem has been defined and research design/ plan chalked out. </a:t>
            </a:r>
            <a:endParaRPr sz="2000"/>
          </a:p>
          <a:p>
            <a:pPr marL="457200" lvl="0" indent="-355600" algn="just" rtl="0">
              <a:spcBef>
                <a:spcPts val="0"/>
              </a:spcBef>
              <a:spcAft>
                <a:spcPts val="0"/>
              </a:spcAft>
              <a:buSzPts val="2000"/>
              <a:buChar char="●"/>
            </a:pPr>
            <a:r>
              <a:rPr lang="en-GB" sz="2000"/>
              <a:t>While deciding about the method of data collection to be used for the study, the researcher should keep in mind two types of data viz., primary and secondary. </a:t>
            </a:r>
            <a:endParaRPr sz="2000"/>
          </a:p>
          <a:p>
            <a:pPr marL="457200" lvl="0" indent="-355600" algn="just" rtl="0">
              <a:spcBef>
                <a:spcPts val="0"/>
              </a:spcBef>
              <a:spcAft>
                <a:spcPts val="0"/>
              </a:spcAft>
              <a:buSzPts val="2000"/>
              <a:buChar char="●"/>
            </a:pPr>
            <a:r>
              <a:rPr lang="en-GB" sz="2000"/>
              <a:t>The primary data are those which are collected afresh and for the first time, and thus happen to be original in character.</a:t>
            </a:r>
            <a:endParaRPr sz="2000"/>
          </a:p>
          <a:p>
            <a:pPr marL="457200" lvl="0" indent="-361950" algn="just" rtl="0">
              <a:spcBef>
                <a:spcPts val="0"/>
              </a:spcBef>
              <a:spcAft>
                <a:spcPts val="0"/>
              </a:spcAft>
              <a:buSzPts val="2100"/>
              <a:buChar char="●"/>
            </a:pPr>
            <a:r>
              <a:rPr lang="en-GB" sz="2000"/>
              <a:t>The secondary data, on the other hand, are those which have already been collected by someone else and which have already been passed through the statistical process. </a:t>
            </a:r>
            <a:endParaRPr sz="2000"/>
          </a:p>
          <a:p>
            <a:pPr marL="457200" lvl="0" indent="-361950" algn="just" rtl="0">
              <a:spcBef>
                <a:spcPts val="0"/>
              </a:spcBef>
              <a:spcAft>
                <a:spcPts val="0"/>
              </a:spcAft>
              <a:buSzPts val="2100"/>
              <a:buChar char="●"/>
            </a:pPr>
            <a:r>
              <a:rPr lang="en-GB" sz="2000"/>
              <a:t>The researcher would have to decide which sort of data he would be using (thus collecting) for his study and accordingly he </a:t>
            </a:r>
            <a:r>
              <a:rPr lang="en-GB" sz="2100"/>
              <a:t>will have to </a:t>
            </a:r>
            <a:r>
              <a:rPr lang="en-GB" sz="2000"/>
              <a:t>select one or the other method of data collection.</a:t>
            </a:r>
            <a:endParaRPr sz="2000"/>
          </a:p>
          <a:p>
            <a:pPr marL="457200" lvl="0" indent="-361950" algn="just" rtl="0">
              <a:spcBef>
                <a:spcPts val="0"/>
              </a:spcBef>
              <a:spcAft>
                <a:spcPts val="0"/>
              </a:spcAft>
              <a:buSzPts val="2100"/>
              <a:buChar char="●"/>
            </a:pPr>
            <a:endParaRPr sz="210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606"/>
        <p:cNvGrpSpPr/>
        <p:nvPr/>
      </p:nvGrpSpPr>
      <p:grpSpPr>
        <a:xfrm>
          <a:off x="0" y="0"/>
          <a:ext cx="0" cy="0"/>
          <a:chOff x="0" y="0"/>
          <a:chExt cx="0" cy="0"/>
        </a:xfrm>
      </p:grpSpPr>
      <p:sp>
        <p:nvSpPr>
          <p:cNvPr id="607" name="Google Shape;607;g1f331929e45_0_6"/>
          <p:cNvSpPr txBox="1">
            <a:spLocks noGrp="1"/>
          </p:cNvSpPr>
          <p:nvPr>
            <p:ph type="title"/>
          </p:nvPr>
        </p:nvSpPr>
        <p:spPr>
          <a:xfrm>
            <a:off x="311760" y="410040"/>
            <a:ext cx="8520000" cy="6072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GB" sz="3200">
                <a:solidFill>
                  <a:schemeClr val="accent1"/>
                </a:solidFill>
              </a:rPr>
              <a:t>Primary Data</a:t>
            </a:r>
            <a:endParaRPr sz="3200">
              <a:solidFill>
                <a:schemeClr val="accent1"/>
              </a:solidFill>
            </a:endParaRPr>
          </a:p>
        </p:txBody>
      </p:sp>
      <p:sp>
        <p:nvSpPr>
          <p:cNvPr id="608" name="Google Shape;608;g1f331929e45_0_6"/>
          <p:cNvSpPr txBox="1">
            <a:spLocks noGrp="1"/>
          </p:cNvSpPr>
          <p:nvPr>
            <p:ph type="body" idx="1"/>
          </p:nvPr>
        </p:nvSpPr>
        <p:spPr>
          <a:xfrm>
            <a:off x="311760" y="1229760"/>
            <a:ext cx="8520000" cy="3338700"/>
          </a:xfrm>
          <a:prstGeom prst="rect">
            <a:avLst/>
          </a:prstGeom>
        </p:spPr>
        <p:txBody>
          <a:bodyPr spcFirstLastPara="1" wrap="square" lIns="0" tIns="0" rIns="0" bIns="0" anchor="t" anchorCtr="0">
            <a:normAutofit/>
          </a:bodyPr>
          <a:lstStyle/>
          <a:p>
            <a:pPr marL="457200" lvl="0" indent="-381000" algn="just" rtl="0">
              <a:spcBef>
                <a:spcPts val="0"/>
              </a:spcBef>
              <a:spcAft>
                <a:spcPts val="0"/>
              </a:spcAft>
              <a:buSzPts val="2400"/>
              <a:buChar char="●"/>
            </a:pPr>
            <a:r>
              <a:rPr lang="en-GB" sz="2400"/>
              <a:t>Primary data or raw data is a type of information that is obtained directly from the first-hand source through experiments, surveys or observations.</a:t>
            </a:r>
            <a:endParaRPr sz="2400"/>
          </a:p>
        </p:txBody>
      </p:sp>
      <p:pic>
        <p:nvPicPr>
          <p:cNvPr id="609" name="Google Shape;609;g1f331929e45_0_6"/>
          <p:cNvPicPr preferRelativeResize="0"/>
          <p:nvPr/>
        </p:nvPicPr>
        <p:blipFill>
          <a:blip r:embed="rId3">
            <a:alphaModFix/>
          </a:blip>
          <a:stretch>
            <a:fillRect/>
          </a:stretch>
        </p:blipFill>
        <p:spPr>
          <a:xfrm>
            <a:off x="6525325" y="1996700"/>
            <a:ext cx="2205550" cy="2571750"/>
          </a:xfrm>
          <a:prstGeom prst="rect">
            <a:avLst/>
          </a:prstGeom>
          <a:noFill/>
          <a:ln>
            <a:noFill/>
          </a:ln>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613"/>
        <p:cNvGrpSpPr/>
        <p:nvPr/>
      </p:nvGrpSpPr>
      <p:grpSpPr>
        <a:xfrm>
          <a:off x="0" y="0"/>
          <a:ext cx="0" cy="0"/>
          <a:chOff x="0" y="0"/>
          <a:chExt cx="0" cy="0"/>
        </a:xfrm>
      </p:grpSpPr>
      <p:sp>
        <p:nvSpPr>
          <p:cNvPr id="614" name="Google Shape;614;g1fdf17ce282_0_40"/>
          <p:cNvSpPr txBox="1">
            <a:spLocks noGrp="1"/>
          </p:cNvSpPr>
          <p:nvPr>
            <p:ph type="title"/>
          </p:nvPr>
        </p:nvSpPr>
        <p:spPr>
          <a:xfrm>
            <a:off x="311760" y="410040"/>
            <a:ext cx="8520000" cy="6072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GB" sz="3000">
                <a:solidFill>
                  <a:srgbClr val="2A3990"/>
                </a:solidFill>
                <a:latin typeface="Roboto"/>
                <a:ea typeface="Roboto"/>
                <a:cs typeface="Roboto"/>
                <a:sym typeface="Roboto"/>
              </a:rPr>
              <a:t>COLLECTION OF PRIMARY DATA</a:t>
            </a:r>
            <a:endParaRPr/>
          </a:p>
        </p:txBody>
      </p:sp>
      <p:sp>
        <p:nvSpPr>
          <p:cNvPr id="615" name="Google Shape;615;g1fdf17ce282_0_40"/>
          <p:cNvSpPr txBox="1">
            <a:spLocks noGrp="1"/>
          </p:cNvSpPr>
          <p:nvPr>
            <p:ph type="body" idx="1"/>
          </p:nvPr>
        </p:nvSpPr>
        <p:spPr>
          <a:xfrm>
            <a:off x="311750" y="892475"/>
            <a:ext cx="8520000" cy="3828300"/>
          </a:xfrm>
          <a:prstGeom prst="rect">
            <a:avLst/>
          </a:prstGeom>
        </p:spPr>
        <p:txBody>
          <a:bodyPr spcFirstLastPara="1" wrap="square" lIns="0" tIns="0" rIns="0" bIns="0" anchor="t" anchorCtr="0">
            <a:noAutofit/>
          </a:bodyPr>
          <a:lstStyle/>
          <a:p>
            <a:pPr marL="457200" lvl="0" indent="-361950" algn="just" rtl="0">
              <a:spcBef>
                <a:spcPts val="0"/>
              </a:spcBef>
              <a:spcAft>
                <a:spcPts val="0"/>
              </a:spcAft>
              <a:buSzPts val="2100"/>
              <a:buChar char="●"/>
            </a:pPr>
            <a:r>
              <a:rPr lang="en-GB" sz="2100"/>
              <a:t>There are several methods of collecting primary data, Important ones are: </a:t>
            </a:r>
            <a:endParaRPr sz="2100"/>
          </a:p>
          <a:p>
            <a:pPr marL="457200" lvl="0" indent="0" algn="just" rtl="0">
              <a:spcBef>
                <a:spcPts val="0"/>
              </a:spcBef>
              <a:spcAft>
                <a:spcPts val="0"/>
              </a:spcAft>
              <a:buNone/>
            </a:pPr>
            <a:r>
              <a:rPr lang="en-GB" sz="2100"/>
              <a:t>(i) observation method, </a:t>
            </a:r>
            <a:endParaRPr sz="2100"/>
          </a:p>
          <a:p>
            <a:pPr marL="457200" lvl="0" indent="0" algn="just" rtl="0">
              <a:spcBef>
                <a:spcPts val="0"/>
              </a:spcBef>
              <a:spcAft>
                <a:spcPts val="0"/>
              </a:spcAft>
              <a:buNone/>
            </a:pPr>
            <a:r>
              <a:rPr lang="en-GB" sz="2100"/>
              <a:t>(ii) interview method, </a:t>
            </a:r>
            <a:endParaRPr sz="2100"/>
          </a:p>
          <a:p>
            <a:pPr marL="457200" lvl="0" indent="0" algn="just" rtl="0">
              <a:spcBef>
                <a:spcPts val="0"/>
              </a:spcBef>
              <a:spcAft>
                <a:spcPts val="0"/>
              </a:spcAft>
              <a:buNone/>
            </a:pPr>
            <a:r>
              <a:rPr lang="en-GB" sz="2100"/>
              <a:t>(iii) through questionnaires,</a:t>
            </a:r>
            <a:endParaRPr sz="2100"/>
          </a:p>
          <a:p>
            <a:pPr marL="457200" lvl="0" indent="0" algn="just" rtl="0">
              <a:spcBef>
                <a:spcPts val="0"/>
              </a:spcBef>
              <a:spcAft>
                <a:spcPts val="0"/>
              </a:spcAft>
              <a:buNone/>
            </a:pPr>
            <a:r>
              <a:rPr lang="en-GB" sz="2100"/>
              <a:t>(iv) through schedules, and </a:t>
            </a:r>
            <a:endParaRPr sz="2100"/>
          </a:p>
          <a:p>
            <a:pPr marL="457200" lvl="0" indent="0" algn="just" rtl="0">
              <a:spcBef>
                <a:spcPts val="0"/>
              </a:spcBef>
              <a:spcAft>
                <a:spcPts val="0"/>
              </a:spcAft>
              <a:buNone/>
            </a:pPr>
            <a:r>
              <a:rPr lang="en-GB" sz="2100"/>
              <a:t>(v) other methods which include </a:t>
            </a:r>
            <a:endParaRPr sz="2100"/>
          </a:p>
          <a:p>
            <a:pPr marL="457200" lvl="0" indent="0" algn="just" rtl="0">
              <a:spcBef>
                <a:spcPts val="0"/>
              </a:spcBef>
              <a:spcAft>
                <a:spcPts val="0"/>
              </a:spcAft>
              <a:buNone/>
            </a:pPr>
            <a:r>
              <a:rPr lang="en-GB" sz="2100"/>
              <a:t>(a) warranty cards; (b) distributor audits; (c) pantry audits; (d) consumer panels; (e) using mechanical devices; (f) through projective techniques; (g) depth interviews, and (h) content analysis.</a:t>
            </a:r>
            <a:endParaRPr sz="210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619"/>
        <p:cNvGrpSpPr/>
        <p:nvPr/>
      </p:nvGrpSpPr>
      <p:grpSpPr>
        <a:xfrm>
          <a:off x="0" y="0"/>
          <a:ext cx="0" cy="0"/>
          <a:chOff x="0" y="0"/>
          <a:chExt cx="0" cy="0"/>
        </a:xfrm>
      </p:grpSpPr>
      <p:sp>
        <p:nvSpPr>
          <p:cNvPr id="620" name="Google Shape;620;g1fdf17ce282_0_25"/>
          <p:cNvSpPr txBox="1">
            <a:spLocks noGrp="1"/>
          </p:cNvSpPr>
          <p:nvPr>
            <p:ph type="title"/>
          </p:nvPr>
        </p:nvSpPr>
        <p:spPr>
          <a:xfrm>
            <a:off x="311760" y="410040"/>
            <a:ext cx="8520000" cy="6072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GB" sz="2650" b="1">
                <a:solidFill>
                  <a:schemeClr val="accent1"/>
                </a:solidFill>
                <a:highlight>
                  <a:srgbClr val="FFFFFF"/>
                </a:highlight>
                <a:latin typeface="Roboto"/>
                <a:ea typeface="Roboto"/>
                <a:cs typeface="Roboto"/>
                <a:sym typeface="Roboto"/>
              </a:rPr>
              <a:t>Observation Method</a:t>
            </a:r>
            <a:endParaRPr sz="3400">
              <a:solidFill>
                <a:schemeClr val="accent1"/>
              </a:solidFill>
            </a:endParaRPr>
          </a:p>
        </p:txBody>
      </p:sp>
      <p:sp>
        <p:nvSpPr>
          <p:cNvPr id="621" name="Google Shape;621;g1fdf17ce282_0_25"/>
          <p:cNvSpPr txBox="1">
            <a:spLocks noGrp="1"/>
          </p:cNvSpPr>
          <p:nvPr>
            <p:ph type="body" idx="1"/>
          </p:nvPr>
        </p:nvSpPr>
        <p:spPr>
          <a:xfrm>
            <a:off x="311760" y="1229760"/>
            <a:ext cx="8520000" cy="3338700"/>
          </a:xfrm>
          <a:prstGeom prst="rect">
            <a:avLst/>
          </a:prstGeom>
        </p:spPr>
        <p:txBody>
          <a:bodyPr spcFirstLastPara="1" wrap="square" lIns="0" tIns="0" rIns="0" bIns="0" anchor="t" anchorCtr="0">
            <a:normAutofit fontScale="77500" lnSpcReduction="20000"/>
          </a:bodyPr>
          <a:lstStyle/>
          <a:p>
            <a:pPr marL="457200" lvl="0" indent="-366183" algn="just" rtl="0">
              <a:lnSpc>
                <a:spcPct val="115000"/>
              </a:lnSpc>
              <a:spcBef>
                <a:spcPts val="0"/>
              </a:spcBef>
              <a:spcAft>
                <a:spcPts val="0"/>
              </a:spcAft>
              <a:buClr>
                <a:srgbClr val="333333"/>
              </a:buClr>
              <a:buSzPct val="100000"/>
              <a:buFont typeface="Roboto"/>
              <a:buChar char="●"/>
            </a:pPr>
            <a:r>
              <a:rPr lang="en-GB" sz="2795">
                <a:solidFill>
                  <a:srgbClr val="333333"/>
                </a:solidFill>
                <a:highlight>
                  <a:srgbClr val="FFFFFF"/>
                </a:highlight>
                <a:latin typeface="Roboto"/>
                <a:ea typeface="Roboto"/>
                <a:cs typeface="Roboto"/>
                <a:sym typeface="Roboto"/>
              </a:rPr>
              <a:t>Observation becomes a scientific tool and the method of data collection for the researcher, when it serves a formulated research purpose, is systematically planned and recorded and is subjected to checks and controls on validity and reliability.</a:t>
            </a:r>
            <a:endParaRPr sz="2795">
              <a:solidFill>
                <a:srgbClr val="333333"/>
              </a:solidFill>
              <a:highlight>
                <a:srgbClr val="FFFFFF"/>
              </a:highlight>
              <a:latin typeface="Roboto"/>
              <a:ea typeface="Roboto"/>
              <a:cs typeface="Roboto"/>
              <a:sym typeface="Roboto"/>
            </a:endParaRPr>
          </a:p>
          <a:p>
            <a:pPr marL="0" lvl="0" indent="0" algn="just" rtl="0">
              <a:lnSpc>
                <a:spcPct val="115000"/>
              </a:lnSpc>
              <a:spcBef>
                <a:spcPts val="800"/>
              </a:spcBef>
              <a:spcAft>
                <a:spcPts val="0"/>
              </a:spcAft>
              <a:buNone/>
            </a:pPr>
            <a:endParaRPr sz="2350">
              <a:solidFill>
                <a:srgbClr val="333333"/>
              </a:solidFill>
              <a:highlight>
                <a:srgbClr val="FFFFFF"/>
              </a:highlight>
              <a:latin typeface="Roboto"/>
              <a:ea typeface="Roboto"/>
              <a:cs typeface="Roboto"/>
              <a:sym typeface="Roboto"/>
            </a:endParaRPr>
          </a:p>
          <a:p>
            <a:pPr marL="0" lvl="0" indent="0" algn="just" rtl="0">
              <a:lnSpc>
                <a:spcPct val="115000"/>
              </a:lnSpc>
              <a:spcBef>
                <a:spcPts val="800"/>
              </a:spcBef>
              <a:spcAft>
                <a:spcPts val="0"/>
              </a:spcAft>
              <a:buClr>
                <a:schemeClr val="dk1"/>
              </a:buClr>
              <a:buSzPct val="46808"/>
              <a:buFont typeface="Arial"/>
              <a:buNone/>
            </a:pPr>
            <a:r>
              <a:rPr lang="en-GB" sz="2350">
                <a:solidFill>
                  <a:srgbClr val="333333"/>
                </a:solidFill>
                <a:highlight>
                  <a:srgbClr val="FFFFFF"/>
                </a:highlight>
                <a:latin typeface="Roboto"/>
                <a:ea typeface="Roboto"/>
                <a:cs typeface="Roboto"/>
                <a:sym typeface="Roboto"/>
              </a:rPr>
              <a:t>The different types of observations are:</a:t>
            </a:r>
            <a:endParaRPr sz="2350">
              <a:solidFill>
                <a:srgbClr val="333333"/>
              </a:solidFill>
              <a:highlight>
                <a:srgbClr val="FFFFFF"/>
              </a:highlight>
              <a:latin typeface="Roboto"/>
              <a:ea typeface="Roboto"/>
              <a:cs typeface="Roboto"/>
              <a:sym typeface="Roboto"/>
            </a:endParaRPr>
          </a:p>
          <a:p>
            <a:pPr marL="457200" lvl="0" indent="-344249" algn="just" rtl="0">
              <a:lnSpc>
                <a:spcPct val="115000"/>
              </a:lnSpc>
              <a:spcBef>
                <a:spcPts val="800"/>
              </a:spcBef>
              <a:spcAft>
                <a:spcPts val="0"/>
              </a:spcAft>
              <a:buClr>
                <a:srgbClr val="333333"/>
              </a:buClr>
              <a:buSzPct val="100000"/>
              <a:buFont typeface="Roboto"/>
              <a:buChar char="●"/>
            </a:pPr>
            <a:r>
              <a:rPr lang="en-GB" sz="2350">
                <a:solidFill>
                  <a:srgbClr val="333333"/>
                </a:solidFill>
                <a:highlight>
                  <a:srgbClr val="FFFFFF"/>
                </a:highlight>
                <a:latin typeface="Roboto"/>
                <a:ea typeface="Roboto"/>
                <a:cs typeface="Roboto"/>
                <a:sym typeface="Roboto"/>
              </a:rPr>
              <a:t>Structured and unstructured observation</a:t>
            </a:r>
            <a:endParaRPr sz="2350">
              <a:solidFill>
                <a:srgbClr val="333333"/>
              </a:solidFill>
              <a:highlight>
                <a:srgbClr val="FFFFFF"/>
              </a:highlight>
              <a:latin typeface="Roboto"/>
              <a:ea typeface="Roboto"/>
              <a:cs typeface="Roboto"/>
              <a:sym typeface="Roboto"/>
            </a:endParaRPr>
          </a:p>
          <a:p>
            <a:pPr marL="457200" lvl="0" indent="-344249" algn="just" rtl="0">
              <a:lnSpc>
                <a:spcPct val="115000"/>
              </a:lnSpc>
              <a:spcBef>
                <a:spcPts val="0"/>
              </a:spcBef>
              <a:spcAft>
                <a:spcPts val="0"/>
              </a:spcAft>
              <a:buClr>
                <a:srgbClr val="333333"/>
              </a:buClr>
              <a:buSzPct val="100000"/>
              <a:buFont typeface="Roboto"/>
              <a:buChar char="●"/>
            </a:pPr>
            <a:r>
              <a:rPr lang="en-GB" sz="2350">
                <a:solidFill>
                  <a:srgbClr val="333333"/>
                </a:solidFill>
                <a:highlight>
                  <a:srgbClr val="FFFFFF"/>
                </a:highlight>
                <a:latin typeface="Roboto"/>
                <a:ea typeface="Roboto"/>
                <a:cs typeface="Roboto"/>
                <a:sym typeface="Roboto"/>
              </a:rPr>
              <a:t>Controlled and uncontrolled observation</a:t>
            </a:r>
            <a:endParaRPr sz="2350">
              <a:solidFill>
                <a:srgbClr val="333333"/>
              </a:solidFill>
              <a:highlight>
                <a:srgbClr val="FFFFFF"/>
              </a:highlight>
              <a:latin typeface="Roboto"/>
              <a:ea typeface="Roboto"/>
              <a:cs typeface="Roboto"/>
              <a:sym typeface="Roboto"/>
            </a:endParaRPr>
          </a:p>
          <a:p>
            <a:pPr marL="457200" lvl="0" indent="-344249" algn="just" rtl="0">
              <a:lnSpc>
                <a:spcPct val="115000"/>
              </a:lnSpc>
              <a:spcBef>
                <a:spcPts val="0"/>
              </a:spcBef>
              <a:spcAft>
                <a:spcPts val="0"/>
              </a:spcAft>
              <a:buClr>
                <a:srgbClr val="333333"/>
              </a:buClr>
              <a:buSzPct val="100000"/>
              <a:buFont typeface="Roboto"/>
              <a:buChar char="●"/>
            </a:pPr>
            <a:r>
              <a:rPr lang="en-GB" sz="2350">
                <a:solidFill>
                  <a:srgbClr val="333333"/>
                </a:solidFill>
                <a:highlight>
                  <a:srgbClr val="FFFFFF"/>
                </a:highlight>
                <a:latin typeface="Roboto"/>
                <a:ea typeface="Roboto"/>
                <a:cs typeface="Roboto"/>
                <a:sym typeface="Roboto"/>
              </a:rPr>
              <a:t>Participant, non-participant and disguised observation</a:t>
            </a:r>
            <a:endParaRPr sz="2350">
              <a:solidFill>
                <a:srgbClr val="333333"/>
              </a:solidFill>
              <a:highlight>
                <a:srgbClr val="FFFFFF"/>
              </a:highlight>
              <a:latin typeface="Roboto"/>
              <a:ea typeface="Roboto"/>
              <a:cs typeface="Roboto"/>
              <a:sym typeface="Roboto"/>
            </a:endParaRPr>
          </a:p>
          <a:p>
            <a:pPr marL="0" lvl="0" indent="0" algn="l" rtl="0">
              <a:spcBef>
                <a:spcPts val="1200"/>
              </a:spcBef>
              <a:spcAft>
                <a:spcPts val="0"/>
              </a:spcAft>
              <a:buNone/>
            </a:pPr>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625"/>
        <p:cNvGrpSpPr/>
        <p:nvPr/>
      </p:nvGrpSpPr>
      <p:grpSpPr>
        <a:xfrm>
          <a:off x="0" y="0"/>
          <a:ext cx="0" cy="0"/>
          <a:chOff x="0" y="0"/>
          <a:chExt cx="0" cy="0"/>
        </a:xfrm>
      </p:grpSpPr>
      <p:sp>
        <p:nvSpPr>
          <p:cNvPr id="626" name="Google Shape;626;g20fd7f885cd_0_1"/>
          <p:cNvSpPr txBox="1">
            <a:spLocks noGrp="1"/>
          </p:cNvSpPr>
          <p:nvPr>
            <p:ph type="body" idx="1"/>
          </p:nvPr>
        </p:nvSpPr>
        <p:spPr>
          <a:xfrm>
            <a:off x="311750" y="592498"/>
            <a:ext cx="8520000" cy="3975900"/>
          </a:xfrm>
          <a:prstGeom prst="rect">
            <a:avLst/>
          </a:prstGeom>
        </p:spPr>
        <p:txBody>
          <a:bodyPr spcFirstLastPara="1" wrap="square" lIns="0" tIns="0" rIns="0" bIns="0" anchor="t" anchorCtr="0">
            <a:normAutofit fontScale="92500"/>
          </a:bodyPr>
          <a:lstStyle/>
          <a:p>
            <a:pPr marL="0" lvl="0" indent="0" algn="l" rtl="0">
              <a:spcBef>
                <a:spcPts val="0"/>
              </a:spcBef>
              <a:spcAft>
                <a:spcPts val="0"/>
              </a:spcAft>
              <a:buNone/>
            </a:pPr>
            <a:r>
              <a:rPr lang="en-GB">
                <a:solidFill>
                  <a:schemeClr val="accent3"/>
                </a:solidFill>
              </a:rPr>
              <a:t>Advantages</a:t>
            </a:r>
            <a:endParaRPr>
              <a:solidFill>
                <a:schemeClr val="accent3"/>
              </a:solidFill>
            </a:endParaRPr>
          </a:p>
          <a:p>
            <a:pPr marL="457200" lvl="0" indent="-355600" algn="just" rtl="0">
              <a:spcBef>
                <a:spcPts val="0"/>
              </a:spcBef>
              <a:spcAft>
                <a:spcPts val="0"/>
              </a:spcAft>
              <a:buSzPts val="2000"/>
              <a:buChar char="●"/>
            </a:pPr>
            <a:r>
              <a:rPr lang="en-GB" sz="2000"/>
              <a:t>Subjective bias is eliminated, if observation is done accurately. </a:t>
            </a:r>
            <a:endParaRPr sz="2000"/>
          </a:p>
          <a:p>
            <a:pPr marL="457200" lvl="0" indent="-355600" algn="just" rtl="0">
              <a:spcBef>
                <a:spcPts val="0"/>
              </a:spcBef>
              <a:spcAft>
                <a:spcPts val="0"/>
              </a:spcAft>
              <a:buSzPts val="2000"/>
              <a:buChar char="●"/>
            </a:pPr>
            <a:r>
              <a:rPr lang="en-GB" sz="2000"/>
              <a:t>The information obtained under this method relates to what is currently happening;. </a:t>
            </a:r>
            <a:endParaRPr sz="2000"/>
          </a:p>
          <a:p>
            <a:pPr marL="457200" lvl="0" indent="-355600" algn="just" rtl="0">
              <a:spcBef>
                <a:spcPts val="0"/>
              </a:spcBef>
              <a:spcAft>
                <a:spcPts val="0"/>
              </a:spcAft>
              <a:buSzPts val="2000"/>
              <a:buChar char="●"/>
            </a:pPr>
            <a:r>
              <a:rPr lang="en-GB" sz="2000"/>
              <a:t>Thirdly, this method is independent of respondents’ willingness to respond </a:t>
            </a:r>
            <a:endParaRPr sz="2000"/>
          </a:p>
          <a:p>
            <a:pPr marL="457200" lvl="0" indent="-355600" algn="just" rtl="0">
              <a:spcBef>
                <a:spcPts val="0"/>
              </a:spcBef>
              <a:spcAft>
                <a:spcPts val="0"/>
              </a:spcAft>
              <a:buSzPts val="2000"/>
              <a:buChar char="●"/>
            </a:pPr>
            <a:r>
              <a:rPr lang="en-GB" sz="2000"/>
              <a:t>This method is particularly suitable in studies which deal with subjects (i.e., respondents) who are not capable of giving verbal reports of their feelings for one reason or the other.</a:t>
            </a:r>
            <a:endParaRPr sz="2000"/>
          </a:p>
          <a:p>
            <a:pPr marL="457200" lvl="0" indent="0" algn="just" rtl="0">
              <a:spcBef>
                <a:spcPts val="0"/>
              </a:spcBef>
              <a:spcAft>
                <a:spcPts val="0"/>
              </a:spcAft>
              <a:buNone/>
            </a:pPr>
            <a:endParaRPr sz="2000"/>
          </a:p>
          <a:p>
            <a:pPr marL="0" lvl="0" indent="0" algn="just" rtl="0">
              <a:spcBef>
                <a:spcPts val="0"/>
              </a:spcBef>
              <a:spcAft>
                <a:spcPts val="0"/>
              </a:spcAft>
              <a:buNone/>
            </a:pPr>
            <a:r>
              <a:rPr lang="en-GB" sz="2000">
                <a:solidFill>
                  <a:schemeClr val="accent3"/>
                </a:solidFill>
              </a:rPr>
              <a:t>Limitations:</a:t>
            </a:r>
            <a:endParaRPr sz="2000">
              <a:solidFill>
                <a:schemeClr val="accent3"/>
              </a:solidFill>
            </a:endParaRPr>
          </a:p>
          <a:p>
            <a:pPr marL="457200" lvl="0" indent="-355600" algn="just" rtl="0">
              <a:spcBef>
                <a:spcPts val="0"/>
              </a:spcBef>
              <a:spcAft>
                <a:spcPts val="0"/>
              </a:spcAft>
              <a:buSzPts val="2000"/>
              <a:buChar char="●"/>
            </a:pPr>
            <a:r>
              <a:rPr lang="en-GB" sz="2000"/>
              <a:t>it is an expensive method. </a:t>
            </a:r>
            <a:endParaRPr sz="2000"/>
          </a:p>
          <a:p>
            <a:pPr marL="457200" lvl="0" indent="-355600" algn="just" rtl="0">
              <a:spcBef>
                <a:spcPts val="0"/>
              </a:spcBef>
              <a:spcAft>
                <a:spcPts val="0"/>
              </a:spcAft>
              <a:buSzPts val="2000"/>
              <a:buChar char="●"/>
            </a:pPr>
            <a:r>
              <a:rPr lang="en-GB" sz="2000"/>
              <a:t>Secondly, the information provided by this method is very limited. </a:t>
            </a:r>
            <a:endParaRPr sz="2000"/>
          </a:p>
          <a:p>
            <a:pPr marL="457200" lvl="0" indent="-355600" algn="just" rtl="0">
              <a:spcBef>
                <a:spcPts val="0"/>
              </a:spcBef>
              <a:spcAft>
                <a:spcPts val="0"/>
              </a:spcAft>
              <a:buSzPts val="2000"/>
              <a:buChar char="●"/>
            </a:pPr>
            <a:r>
              <a:rPr lang="en-GB" sz="2000"/>
              <a:t>Thirdly, sometimes unforeseen factors may interfere with the observational task. </a:t>
            </a:r>
            <a:endParaRPr/>
          </a:p>
        </p:txBody>
      </p:sp>
      <p:sp>
        <p:nvSpPr>
          <p:cNvPr id="627" name="Google Shape;627;g20fd7f885cd_0_1"/>
          <p:cNvSpPr txBox="1"/>
          <p:nvPr/>
        </p:nvSpPr>
        <p:spPr>
          <a:xfrm>
            <a:off x="0" y="0"/>
            <a:ext cx="6764100" cy="592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2650" b="1">
                <a:solidFill>
                  <a:schemeClr val="accent1"/>
                </a:solidFill>
                <a:highlight>
                  <a:schemeClr val="lt1"/>
                </a:highlight>
                <a:latin typeface="Roboto"/>
                <a:ea typeface="Roboto"/>
                <a:cs typeface="Roboto"/>
                <a:sym typeface="Roboto"/>
              </a:rPr>
              <a:t>Observation Method</a:t>
            </a:r>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631"/>
        <p:cNvGrpSpPr/>
        <p:nvPr/>
      </p:nvGrpSpPr>
      <p:grpSpPr>
        <a:xfrm>
          <a:off x="0" y="0"/>
          <a:ext cx="0" cy="0"/>
          <a:chOff x="0" y="0"/>
          <a:chExt cx="0" cy="0"/>
        </a:xfrm>
      </p:grpSpPr>
      <p:sp>
        <p:nvSpPr>
          <p:cNvPr id="632" name="Google Shape;632;g1f331929e45_0_14"/>
          <p:cNvSpPr txBox="1">
            <a:spLocks noGrp="1"/>
          </p:cNvSpPr>
          <p:nvPr>
            <p:ph type="title"/>
          </p:nvPr>
        </p:nvSpPr>
        <p:spPr>
          <a:xfrm>
            <a:off x="311760" y="410040"/>
            <a:ext cx="8520000" cy="6072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GB" sz="2600">
                <a:solidFill>
                  <a:schemeClr val="accent1"/>
                </a:solidFill>
              </a:rPr>
              <a:t>Interview Method</a:t>
            </a:r>
            <a:endParaRPr sz="2600">
              <a:solidFill>
                <a:schemeClr val="accent1"/>
              </a:solidFill>
            </a:endParaRPr>
          </a:p>
        </p:txBody>
      </p:sp>
      <p:sp>
        <p:nvSpPr>
          <p:cNvPr id="633" name="Google Shape;633;g1f331929e45_0_14"/>
          <p:cNvSpPr txBox="1">
            <a:spLocks noGrp="1"/>
          </p:cNvSpPr>
          <p:nvPr>
            <p:ph type="body" idx="1"/>
          </p:nvPr>
        </p:nvSpPr>
        <p:spPr>
          <a:xfrm>
            <a:off x="311760" y="1229760"/>
            <a:ext cx="8520000" cy="3338700"/>
          </a:xfrm>
          <a:prstGeom prst="rect">
            <a:avLst/>
          </a:prstGeom>
        </p:spPr>
        <p:txBody>
          <a:bodyPr spcFirstLastPara="1" wrap="square" lIns="0" tIns="0" rIns="0" bIns="0" anchor="t" anchorCtr="0">
            <a:normAutofit/>
          </a:bodyPr>
          <a:lstStyle/>
          <a:p>
            <a:pPr marL="0" lvl="0" indent="0" algn="just" rtl="0">
              <a:lnSpc>
                <a:spcPct val="115000"/>
              </a:lnSpc>
              <a:spcBef>
                <a:spcPts val="0"/>
              </a:spcBef>
              <a:spcAft>
                <a:spcPts val="0"/>
              </a:spcAft>
              <a:buClr>
                <a:schemeClr val="dk1"/>
              </a:buClr>
              <a:buSzPts val="1100"/>
              <a:buFont typeface="Arial"/>
              <a:buNone/>
            </a:pPr>
            <a:r>
              <a:rPr lang="en-GB" sz="2150">
                <a:solidFill>
                  <a:srgbClr val="333333"/>
                </a:solidFill>
                <a:highlight>
                  <a:srgbClr val="FFFFFF"/>
                </a:highlight>
                <a:latin typeface="Roboto"/>
                <a:ea typeface="Roboto"/>
                <a:cs typeface="Roboto"/>
                <a:sym typeface="Roboto"/>
              </a:rPr>
              <a:t>The method of collecting data in terms of verbal responses. It is achieved in two ways, such as</a:t>
            </a:r>
            <a:endParaRPr sz="2150">
              <a:solidFill>
                <a:srgbClr val="333333"/>
              </a:solidFill>
              <a:highlight>
                <a:srgbClr val="FFFFFF"/>
              </a:highlight>
              <a:latin typeface="Roboto"/>
              <a:ea typeface="Roboto"/>
              <a:cs typeface="Roboto"/>
              <a:sym typeface="Roboto"/>
            </a:endParaRPr>
          </a:p>
          <a:p>
            <a:pPr marL="457200" lvl="0" indent="-365125" algn="just" rtl="0">
              <a:lnSpc>
                <a:spcPct val="115000"/>
              </a:lnSpc>
              <a:spcBef>
                <a:spcPts val="800"/>
              </a:spcBef>
              <a:spcAft>
                <a:spcPts val="0"/>
              </a:spcAft>
              <a:buClr>
                <a:srgbClr val="333333"/>
              </a:buClr>
              <a:buSzPts val="2150"/>
              <a:buFont typeface="Roboto"/>
              <a:buChar char="●"/>
            </a:pPr>
            <a:r>
              <a:rPr lang="en-GB" sz="2150">
                <a:solidFill>
                  <a:srgbClr val="333333"/>
                </a:solidFill>
                <a:highlight>
                  <a:srgbClr val="FFFFFF"/>
                </a:highlight>
                <a:latin typeface="Roboto"/>
                <a:ea typeface="Roboto"/>
                <a:cs typeface="Roboto"/>
                <a:sym typeface="Roboto"/>
              </a:rPr>
              <a:t>Personal Interview – In this method, a person known as an interviewer is required to ask questions face to face to the other person. </a:t>
            </a:r>
            <a:endParaRPr sz="2150">
              <a:solidFill>
                <a:srgbClr val="333333"/>
              </a:solidFill>
              <a:highlight>
                <a:srgbClr val="FFFFFF"/>
              </a:highlight>
              <a:latin typeface="Roboto"/>
              <a:ea typeface="Roboto"/>
              <a:cs typeface="Roboto"/>
              <a:sym typeface="Roboto"/>
            </a:endParaRPr>
          </a:p>
          <a:p>
            <a:pPr marL="457200" lvl="0" indent="-365125" algn="just" rtl="0">
              <a:lnSpc>
                <a:spcPct val="115000"/>
              </a:lnSpc>
              <a:spcBef>
                <a:spcPts val="0"/>
              </a:spcBef>
              <a:spcAft>
                <a:spcPts val="0"/>
              </a:spcAft>
              <a:buClr>
                <a:srgbClr val="333333"/>
              </a:buClr>
              <a:buSzPts val="2150"/>
              <a:buFont typeface="Roboto"/>
              <a:buChar char="●"/>
            </a:pPr>
            <a:r>
              <a:rPr lang="en-GB" sz="2150">
                <a:solidFill>
                  <a:srgbClr val="333333"/>
                </a:solidFill>
                <a:highlight>
                  <a:srgbClr val="FFFFFF"/>
                </a:highlight>
                <a:latin typeface="Roboto"/>
                <a:ea typeface="Roboto"/>
                <a:cs typeface="Roboto"/>
                <a:sym typeface="Roboto"/>
              </a:rPr>
              <a:t>The personal interview can be structured or unstructured, focussed conversation, clinical interview and non-directive interview.</a:t>
            </a:r>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637"/>
        <p:cNvGrpSpPr/>
        <p:nvPr/>
      </p:nvGrpSpPr>
      <p:grpSpPr>
        <a:xfrm>
          <a:off x="0" y="0"/>
          <a:ext cx="0" cy="0"/>
          <a:chOff x="0" y="0"/>
          <a:chExt cx="0" cy="0"/>
        </a:xfrm>
      </p:grpSpPr>
      <p:sp>
        <p:nvSpPr>
          <p:cNvPr id="638" name="Google Shape;638;g20fd7f885cd_0_15"/>
          <p:cNvSpPr txBox="1">
            <a:spLocks noGrp="1"/>
          </p:cNvSpPr>
          <p:nvPr>
            <p:ph type="title"/>
          </p:nvPr>
        </p:nvSpPr>
        <p:spPr>
          <a:xfrm>
            <a:off x="311760" y="410040"/>
            <a:ext cx="8520000" cy="6072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39" name="Google Shape;639;g20fd7f885cd_0_15"/>
          <p:cNvSpPr txBox="1">
            <a:spLocks noGrp="1"/>
          </p:cNvSpPr>
          <p:nvPr>
            <p:ph type="body" idx="1"/>
          </p:nvPr>
        </p:nvSpPr>
        <p:spPr>
          <a:xfrm>
            <a:off x="311750" y="525173"/>
            <a:ext cx="8520000" cy="4078200"/>
          </a:xfrm>
          <a:prstGeom prst="rect">
            <a:avLst/>
          </a:prstGeom>
        </p:spPr>
        <p:txBody>
          <a:bodyPr spcFirstLastPara="1" wrap="square" lIns="0" tIns="0" rIns="0" bIns="0" anchor="t" anchorCtr="0">
            <a:normAutofit/>
          </a:bodyPr>
          <a:lstStyle/>
          <a:p>
            <a:pPr marL="0" lvl="0" indent="0" algn="l" rtl="0">
              <a:spcBef>
                <a:spcPts val="0"/>
              </a:spcBef>
              <a:spcAft>
                <a:spcPts val="0"/>
              </a:spcAft>
              <a:buClr>
                <a:schemeClr val="dk1"/>
              </a:buClr>
              <a:buSzPts val="1100"/>
              <a:buFont typeface="Arial"/>
              <a:buNone/>
            </a:pPr>
            <a:r>
              <a:rPr lang="en-GB"/>
              <a:t>More information and that too in greater depth can be obtained.</a:t>
            </a:r>
            <a:endParaRPr/>
          </a:p>
          <a:p>
            <a:pPr marL="0" lvl="0" indent="0" algn="l" rtl="0">
              <a:spcBef>
                <a:spcPts val="0"/>
              </a:spcBef>
              <a:spcAft>
                <a:spcPts val="0"/>
              </a:spcAft>
              <a:buClr>
                <a:schemeClr val="dk1"/>
              </a:buClr>
              <a:buSzPts val="1100"/>
              <a:buFont typeface="Arial"/>
              <a:buNone/>
            </a:pPr>
            <a:r>
              <a:rPr lang="en-GB"/>
              <a:t>(ii) Interviewer by his own skill can overcome the resistance, if any, of the respondents; the</a:t>
            </a:r>
            <a:endParaRPr/>
          </a:p>
          <a:p>
            <a:pPr marL="0" lvl="0" indent="0" algn="l" rtl="0">
              <a:spcBef>
                <a:spcPts val="0"/>
              </a:spcBef>
              <a:spcAft>
                <a:spcPts val="0"/>
              </a:spcAft>
              <a:buClr>
                <a:schemeClr val="dk1"/>
              </a:buClr>
              <a:buSzPts val="1100"/>
              <a:buFont typeface="Arial"/>
              <a:buNone/>
            </a:pPr>
            <a:r>
              <a:rPr lang="en-GB"/>
              <a:t>interview method can be made to yield an almost perfect sample of the general population.</a:t>
            </a:r>
            <a:endParaRPr/>
          </a:p>
          <a:p>
            <a:pPr marL="0" lvl="0" indent="0" algn="l" rtl="0">
              <a:spcBef>
                <a:spcPts val="0"/>
              </a:spcBef>
              <a:spcAft>
                <a:spcPts val="0"/>
              </a:spcAft>
              <a:buClr>
                <a:schemeClr val="dk1"/>
              </a:buClr>
              <a:buSzPts val="1100"/>
              <a:buFont typeface="Arial"/>
              <a:buNone/>
            </a:pPr>
            <a:r>
              <a:rPr lang="en-GB"/>
              <a:t>(iii) There is greater flexibility under this method as the opportunity to restructure questions is always there, specially in case of unstructured interviews.</a:t>
            </a:r>
            <a:endParaRPr/>
          </a:p>
          <a:p>
            <a:pPr marL="0" lvl="0" indent="0" algn="l" rtl="0">
              <a:spcBef>
                <a:spcPts val="0"/>
              </a:spcBef>
              <a:spcAft>
                <a:spcPts val="0"/>
              </a:spcAft>
              <a:buClr>
                <a:schemeClr val="dk1"/>
              </a:buClr>
              <a:buSzPts val="1100"/>
              <a:buFont typeface="Arial"/>
              <a:buNone/>
            </a:pPr>
            <a:r>
              <a:rPr lang="en-GB"/>
              <a:t>(v) Personal information can as well be obtained easily under this method.</a:t>
            </a:r>
            <a:endParaRPr/>
          </a:p>
          <a:p>
            <a:pPr marL="0" lvl="0" indent="0" algn="l" rtl="0">
              <a:spcBef>
                <a:spcPts val="0"/>
              </a:spcBef>
              <a:spcAft>
                <a:spcPts val="0"/>
              </a:spcAft>
              <a:buClr>
                <a:schemeClr val="dk1"/>
              </a:buClr>
              <a:buSzPts val="1100"/>
              <a:buFont typeface="Arial"/>
              <a:buNone/>
            </a:pPr>
            <a:r>
              <a:rPr lang="en-GB"/>
              <a:t>(vi) Samples can be controlled more effectively as there arises no difficulty of the missing returns; non-response generally remains very low.</a:t>
            </a:r>
            <a:endParaRPr/>
          </a:p>
          <a:p>
            <a:pPr marL="0" lvl="0" indent="0" algn="l" rtl="0">
              <a:spcBef>
                <a:spcPts val="0"/>
              </a:spcBef>
              <a:spcAft>
                <a:spcPts val="0"/>
              </a:spcAft>
              <a:buClr>
                <a:schemeClr val="dk1"/>
              </a:buClr>
              <a:buSzPts val="1100"/>
              <a:buFont typeface="Arial"/>
              <a:buNone/>
            </a:pPr>
            <a:r>
              <a:rPr lang="en-GB"/>
              <a:t>(vii) The interviewer can usually control which person(s) will answer the questions. This is not possible in mailed questionnaire approach. If so desired, group discussions may also be held.</a:t>
            </a:r>
            <a:endParaRPr/>
          </a:p>
          <a:p>
            <a:pPr marL="0" lvl="0" indent="0" algn="l" rtl="0">
              <a:spcBef>
                <a:spcPts val="0"/>
              </a:spcBef>
              <a:spcAft>
                <a:spcPts val="0"/>
              </a:spcAft>
              <a:buNone/>
            </a:pPr>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643"/>
        <p:cNvGrpSpPr/>
        <p:nvPr/>
      </p:nvGrpSpPr>
      <p:grpSpPr>
        <a:xfrm>
          <a:off x="0" y="0"/>
          <a:ext cx="0" cy="0"/>
          <a:chOff x="0" y="0"/>
          <a:chExt cx="0" cy="0"/>
        </a:xfrm>
      </p:grpSpPr>
      <p:sp>
        <p:nvSpPr>
          <p:cNvPr id="644" name="Google Shape;644;g20fd7f885cd_0_21"/>
          <p:cNvSpPr txBox="1">
            <a:spLocks noGrp="1"/>
          </p:cNvSpPr>
          <p:nvPr>
            <p:ph type="title"/>
          </p:nvPr>
        </p:nvSpPr>
        <p:spPr>
          <a:xfrm>
            <a:off x="311760" y="410040"/>
            <a:ext cx="8520000" cy="6072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GB"/>
              <a:t>contd…</a:t>
            </a:r>
            <a:endParaRPr/>
          </a:p>
        </p:txBody>
      </p:sp>
      <p:sp>
        <p:nvSpPr>
          <p:cNvPr id="645" name="Google Shape;645;g20fd7f885cd_0_21"/>
          <p:cNvSpPr txBox="1">
            <a:spLocks noGrp="1"/>
          </p:cNvSpPr>
          <p:nvPr>
            <p:ph type="body" idx="1"/>
          </p:nvPr>
        </p:nvSpPr>
        <p:spPr>
          <a:xfrm>
            <a:off x="311760" y="1229760"/>
            <a:ext cx="8520000" cy="3338700"/>
          </a:xfrm>
          <a:prstGeom prst="rect">
            <a:avLst/>
          </a:prstGeom>
        </p:spPr>
        <p:txBody>
          <a:bodyPr spcFirstLastPara="1" wrap="square" lIns="0" tIns="0" rIns="0" bIns="0" anchor="t" anchorCtr="0">
            <a:normAutofit/>
          </a:bodyPr>
          <a:lstStyle/>
          <a:p>
            <a:pPr marL="0" lvl="0" indent="0" algn="l" rtl="0">
              <a:spcBef>
                <a:spcPts val="0"/>
              </a:spcBef>
              <a:spcAft>
                <a:spcPts val="0"/>
              </a:spcAft>
              <a:buClr>
                <a:schemeClr val="dk1"/>
              </a:buClr>
              <a:buSzPts val="1100"/>
              <a:buFont typeface="Arial"/>
              <a:buNone/>
            </a:pPr>
            <a:r>
              <a:rPr lang="en-GB"/>
              <a:t>The interviewer may catch the informant off-guard and thus may secure the most spontaneous</a:t>
            </a:r>
            <a:endParaRPr/>
          </a:p>
          <a:p>
            <a:pPr marL="0" lvl="0" indent="0" algn="l" rtl="0">
              <a:spcBef>
                <a:spcPts val="0"/>
              </a:spcBef>
              <a:spcAft>
                <a:spcPts val="0"/>
              </a:spcAft>
              <a:buClr>
                <a:schemeClr val="dk1"/>
              </a:buClr>
              <a:buSzPts val="1100"/>
              <a:buFont typeface="Arial"/>
              <a:buNone/>
            </a:pPr>
            <a:r>
              <a:rPr lang="en-GB"/>
              <a:t>reactions than would be the case if mailed questionnaire is used.</a:t>
            </a:r>
            <a:endParaRPr/>
          </a:p>
          <a:p>
            <a:pPr marL="0" lvl="0" indent="0" algn="l" rtl="0">
              <a:spcBef>
                <a:spcPts val="0"/>
              </a:spcBef>
              <a:spcAft>
                <a:spcPts val="0"/>
              </a:spcAft>
              <a:buClr>
                <a:schemeClr val="dk1"/>
              </a:buClr>
              <a:buSzPts val="1100"/>
              <a:buFont typeface="Arial"/>
              <a:buNone/>
            </a:pPr>
            <a:r>
              <a:rPr lang="en-GB"/>
              <a:t>(ix) The language of the interview can be adopted to the ability or educational level of the</a:t>
            </a:r>
            <a:endParaRPr/>
          </a:p>
          <a:p>
            <a:pPr marL="0" lvl="0" indent="0" algn="l" rtl="0">
              <a:spcBef>
                <a:spcPts val="0"/>
              </a:spcBef>
              <a:spcAft>
                <a:spcPts val="0"/>
              </a:spcAft>
              <a:buClr>
                <a:schemeClr val="dk1"/>
              </a:buClr>
              <a:buSzPts val="1100"/>
              <a:buFont typeface="Arial"/>
              <a:buNone/>
            </a:pPr>
            <a:r>
              <a:rPr lang="en-GB"/>
              <a:t>person interviewed and as such misinterpretations concerning questions can be avoided.</a:t>
            </a:r>
            <a:endParaRPr/>
          </a:p>
          <a:p>
            <a:pPr marL="0" lvl="0" indent="0" algn="l" rtl="0">
              <a:spcBef>
                <a:spcPts val="0"/>
              </a:spcBef>
              <a:spcAft>
                <a:spcPts val="0"/>
              </a:spcAft>
              <a:buClr>
                <a:schemeClr val="dk1"/>
              </a:buClr>
              <a:buSzPts val="1100"/>
              <a:buFont typeface="Arial"/>
              <a:buNone/>
            </a:pPr>
            <a:r>
              <a:rPr lang="en-GB"/>
              <a:t>(x) The interviewer can collect supplementary information about the respondent’s personal</a:t>
            </a:r>
            <a:endParaRPr/>
          </a:p>
          <a:p>
            <a:pPr marL="0" lvl="0" indent="0" algn="l" rtl="0">
              <a:spcBef>
                <a:spcPts val="0"/>
              </a:spcBef>
              <a:spcAft>
                <a:spcPts val="0"/>
              </a:spcAft>
              <a:buClr>
                <a:schemeClr val="dk1"/>
              </a:buClr>
              <a:buSzPts val="1100"/>
              <a:buFont typeface="Arial"/>
              <a:buNone/>
            </a:pPr>
            <a:r>
              <a:rPr lang="en-GB"/>
              <a:t>characteristics and environment which is often of great value in interpreting results.</a:t>
            </a:r>
            <a:endParaRPr/>
          </a:p>
          <a:p>
            <a:pPr marL="0" lvl="0" indent="0" algn="l" rtl="0">
              <a:spcBef>
                <a:spcPts val="0"/>
              </a:spcBef>
              <a:spcAft>
                <a:spcPts val="0"/>
              </a:spcAft>
              <a:buNone/>
            </a:pPr>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649"/>
        <p:cNvGrpSpPr/>
        <p:nvPr/>
      </p:nvGrpSpPr>
      <p:grpSpPr>
        <a:xfrm>
          <a:off x="0" y="0"/>
          <a:ext cx="0" cy="0"/>
          <a:chOff x="0" y="0"/>
          <a:chExt cx="0" cy="0"/>
        </a:xfrm>
      </p:grpSpPr>
      <p:sp>
        <p:nvSpPr>
          <p:cNvPr id="650" name="Google Shape;650;g20fd7f885cd_0_27"/>
          <p:cNvSpPr txBox="1">
            <a:spLocks noGrp="1"/>
          </p:cNvSpPr>
          <p:nvPr>
            <p:ph type="title"/>
          </p:nvPr>
        </p:nvSpPr>
        <p:spPr>
          <a:xfrm>
            <a:off x="311760" y="410040"/>
            <a:ext cx="8520000" cy="6072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GB" sz="2900"/>
              <a:t>Disadvantages</a:t>
            </a:r>
            <a:endParaRPr sz="2900"/>
          </a:p>
        </p:txBody>
      </p:sp>
      <p:sp>
        <p:nvSpPr>
          <p:cNvPr id="651" name="Google Shape;651;g20fd7f885cd_0_27"/>
          <p:cNvSpPr txBox="1">
            <a:spLocks noGrp="1"/>
          </p:cNvSpPr>
          <p:nvPr>
            <p:ph type="body" idx="1"/>
          </p:nvPr>
        </p:nvSpPr>
        <p:spPr>
          <a:xfrm>
            <a:off x="311760" y="1229760"/>
            <a:ext cx="8520000" cy="3338700"/>
          </a:xfrm>
          <a:prstGeom prst="rect">
            <a:avLst/>
          </a:prstGeom>
        </p:spPr>
        <p:txBody>
          <a:bodyPr spcFirstLastPara="1" wrap="square" lIns="0" tIns="0" rIns="0" bIns="0" anchor="t" anchorCtr="0">
            <a:normAutofit/>
          </a:bodyPr>
          <a:lstStyle/>
          <a:p>
            <a:pPr marL="0" lvl="0" indent="0" algn="just" rtl="0">
              <a:spcBef>
                <a:spcPts val="0"/>
              </a:spcBef>
              <a:spcAft>
                <a:spcPts val="0"/>
              </a:spcAft>
              <a:buNone/>
            </a:pPr>
            <a:r>
              <a:rPr lang="en-GB" sz="2200"/>
              <a:t>i) It is a very expensive method,</a:t>
            </a:r>
            <a:endParaRPr sz="2200"/>
          </a:p>
          <a:p>
            <a:pPr marL="0" lvl="0" indent="0" algn="just" rtl="0">
              <a:spcBef>
                <a:spcPts val="0"/>
              </a:spcBef>
              <a:spcAft>
                <a:spcPts val="0"/>
              </a:spcAft>
              <a:buNone/>
            </a:pPr>
            <a:r>
              <a:rPr lang="en-GB" sz="2200"/>
              <a:t>ii) Certain types of respondents may not be easily approachable under this method and to that extent the data may prove inadequate.</a:t>
            </a:r>
            <a:endParaRPr sz="2200"/>
          </a:p>
          <a:p>
            <a:pPr marL="0" lvl="0" indent="0" algn="just" rtl="0">
              <a:spcBef>
                <a:spcPts val="0"/>
              </a:spcBef>
              <a:spcAft>
                <a:spcPts val="0"/>
              </a:spcAft>
              <a:buNone/>
            </a:pPr>
            <a:r>
              <a:rPr lang="en-GB" sz="2200"/>
              <a:t>iii) This method is relatively more-time-consuming, specially when the sample is large and re-calls upon the respondents are necessary.</a:t>
            </a:r>
            <a:endParaRPr sz="2200"/>
          </a:p>
          <a:p>
            <a:pPr marL="0" lvl="0" indent="0" algn="just" rtl="0">
              <a:spcBef>
                <a:spcPts val="0"/>
              </a:spcBef>
              <a:spcAft>
                <a:spcPts val="0"/>
              </a:spcAft>
              <a:buNone/>
            </a:pPr>
            <a:r>
              <a:rPr lang="en-GB" sz="2200"/>
              <a:t>iv) The presence of the interviewer on the spot may over-stimulate the respondent, sometimes even to the extent that he may give imaginary information just to make the interview interesting.</a:t>
            </a:r>
            <a:endParaRPr sz="190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655"/>
        <p:cNvGrpSpPr/>
        <p:nvPr/>
      </p:nvGrpSpPr>
      <p:grpSpPr>
        <a:xfrm>
          <a:off x="0" y="0"/>
          <a:ext cx="0" cy="0"/>
          <a:chOff x="0" y="0"/>
          <a:chExt cx="0" cy="0"/>
        </a:xfrm>
      </p:grpSpPr>
      <p:sp>
        <p:nvSpPr>
          <p:cNvPr id="656" name="Google Shape;656;g20fd7f885cd_0_10"/>
          <p:cNvSpPr txBox="1">
            <a:spLocks noGrp="1"/>
          </p:cNvSpPr>
          <p:nvPr>
            <p:ph type="title"/>
          </p:nvPr>
        </p:nvSpPr>
        <p:spPr>
          <a:xfrm>
            <a:off x="311760" y="410040"/>
            <a:ext cx="8520000" cy="6072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GB" sz="2600">
                <a:solidFill>
                  <a:schemeClr val="accent1"/>
                </a:solidFill>
              </a:rPr>
              <a:t>Interview Method</a:t>
            </a:r>
            <a:endParaRPr sz="2600">
              <a:solidFill>
                <a:schemeClr val="accent1"/>
              </a:solidFill>
            </a:endParaRPr>
          </a:p>
        </p:txBody>
      </p:sp>
      <p:sp>
        <p:nvSpPr>
          <p:cNvPr id="657" name="Google Shape;657;g20fd7f885cd_0_10"/>
          <p:cNvSpPr txBox="1">
            <a:spLocks noGrp="1"/>
          </p:cNvSpPr>
          <p:nvPr>
            <p:ph type="body" idx="1"/>
          </p:nvPr>
        </p:nvSpPr>
        <p:spPr>
          <a:xfrm>
            <a:off x="311760" y="1229760"/>
            <a:ext cx="8520000" cy="3338700"/>
          </a:xfrm>
          <a:prstGeom prst="rect">
            <a:avLst/>
          </a:prstGeom>
        </p:spPr>
        <p:txBody>
          <a:bodyPr spcFirstLastPara="1" wrap="square" lIns="0" tIns="0" rIns="0" bIns="0" anchor="t" anchorCtr="0">
            <a:normAutofit/>
          </a:bodyPr>
          <a:lstStyle/>
          <a:p>
            <a:pPr marL="457200" lvl="0" indent="-365125" algn="just" rtl="0">
              <a:lnSpc>
                <a:spcPct val="115000"/>
              </a:lnSpc>
              <a:spcBef>
                <a:spcPts val="0"/>
              </a:spcBef>
              <a:spcAft>
                <a:spcPts val="0"/>
              </a:spcAft>
              <a:buClr>
                <a:srgbClr val="333333"/>
              </a:buClr>
              <a:buSzPts val="2150"/>
              <a:buFont typeface="Roboto"/>
              <a:buChar char="●"/>
            </a:pPr>
            <a:r>
              <a:rPr lang="en-GB" sz="2150">
                <a:solidFill>
                  <a:srgbClr val="333333"/>
                </a:solidFill>
                <a:highlight>
                  <a:srgbClr val="FFFFFF"/>
                </a:highlight>
                <a:latin typeface="Roboto"/>
                <a:ea typeface="Roboto"/>
                <a:cs typeface="Roboto"/>
                <a:sym typeface="Roboto"/>
              </a:rPr>
              <a:t>Telephonic Interview – In this method, an interviewer obtains information by contacting people on the telephone to ask the questions or views, verbally.</a:t>
            </a:r>
            <a:endParaRPr sz="2150">
              <a:solidFill>
                <a:srgbClr val="333333"/>
              </a:solidFill>
              <a:highlight>
                <a:srgbClr val="FFFFFF"/>
              </a:highlight>
              <a:latin typeface="Roboto"/>
              <a:ea typeface="Roboto"/>
              <a:cs typeface="Roboto"/>
              <a:sym typeface="Roboto"/>
            </a:endParaRPr>
          </a:p>
          <a:p>
            <a:pPr marL="0" lvl="0" indent="0" algn="l" rtl="0">
              <a:spcBef>
                <a:spcPts val="1200"/>
              </a:spcBef>
              <a:spcAft>
                <a:spcPts val="0"/>
              </a:spcAft>
              <a:buNone/>
            </a:pPr>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661"/>
        <p:cNvGrpSpPr/>
        <p:nvPr/>
      </p:nvGrpSpPr>
      <p:grpSpPr>
        <a:xfrm>
          <a:off x="0" y="0"/>
          <a:ext cx="0" cy="0"/>
          <a:chOff x="0" y="0"/>
          <a:chExt cx="0" cy="0"/>
        </a:xfrm>
      </p:grpSpPr>
      <p:sp>
        <p:nvSpPr>
          <p:cNvPr id="662" name="Google Shape;662;g20fd7f885cd_0_37"/>
          <p:cNvSpPr txBox="1">
            <a:spLocks noGrp="1"/>
          </p:cNvSpPr>
          <p:nvPr>
            <p:ph type="title"/>
          </p:nvPr>
        </p:nvSpPr>
        <p:spPr>
          <a:xfrm>
            <a:off x="311760" y="410040"/>
            <a:ext cx="8520000" cy="6072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63" name="Google Shape;663;g20fd7f885cd_0_37"/>
          <p:cNvSpPr txBox="1">
            <a:spLocks noGrp="1"/>
          </p:cNvSpPr>
          <p:nvPr>
            <p:ph type="body" idx="1"/>
          </p:nvPr>
        </p:nvSpPr>
        <p:spPr>
          <a:xfrm>
            <a:off x="429175" y="492598"/>
            <a:ext cx="8520000" cy="4158300"/>
          </a:xfrm>
          <a:prstGeom prst="rect">
            <a:avLst/>
          </a:prstGeom>
        </p:spPr>
        <p:txBody>
          <a:bodyPr spcFirstLastPara="1" wrap="square" lIns="0" tIns="0" rIns="0" bIns="0" anchor="t" anchorCtr="0">
            <a:normAutofit/>
          </a:bodyPr>
          <a:lstStyle/>
          <a:p>
            <a:pPr marL="0" lvl="0" indent="0" algn="just" rtl="0">
              <a:spcBef>
                <a:spcPts val="0"/>
              </a:spcBef>
              <a:spcAft>
                <a:spcPts val="0"/>
              </a:spcAft>
              <a:buNone/>
            </a:pPr>
            <a:r>
              <a:rPr lang="en-GB" sz="2200">
                <a:solidFill>
                  <a:schemeClr val="accent3"/>
                </a:solidFill>
              </a:rPr>
              <a:t>Advantages:</a:t>
            </a:r>
            <a:endParaRPr sz="2200">
              <a:solidFill>
                <a:schemeClr val="accent3"/>
              </a:solidFill>
            </a:endParaRPr>
          </a:p>
          <a:p>
            <a:pPr marL="457200" lvl="0" indent="0" algn="just" rtl="0">
              <a:spcBef>
                <a:spcPts val="0"/>
              </a:spcBef>
              <a:spcAft>
                <a:spcPts val="0"/>
              </a:spcAft>
              <a:buNone/>
            </a:pPr>
            <a:endParaRPr sz="1900"/>
          </a:p>
          <a:p>
            <a:pPr marL="457200" lvl="0" indent="-349250" algn="just" rtl="0">
              <a:spcBef>
                <a:spcPts val="0"/>
              </a:spcBef>
              <a:spcAft>
                <a:spcPts val="0"/>
              </a:spcAft>
              <a:buSzPts val="1900"/>
              <a:buChar char="●"/>
            </a:pPr>
            <a:r>
              <a:rPr lang="en-GB" sz="1900"/>
              <a:t>It is more flexible in comparison to mailing method.</a:t>
            </a:r>
            <a:endParaRPr sz="1900"/>
          </a:p>
          <a:p>
            <a:pPr marL="457200" lvl="0" indent="-349250" algn="just" rtl="0">
              <a:spcBef>
                <a:spcPts val="0"/>
              </a:spcBef>
              <a:spcAft>
                <a:spcPts val="0"/>
              </a:spcAft>
              <a:buSzPts val="1900"/>
              <a:buChar char="●"/>
            </a:pPr>
            <a:r>
              <a:rPr lang="en-GB" sz="1900"/>
              <a:t>It is faster than other methods i.e., a quick way of obtaining information.</a:t>
            </a:r>
            <a:endParaRPr sz="1900"/>
          </a:p>
          <a:p>
            <a:pPr marL="457200" lvl="0" indent="-349250" algn="just" rtl="0">
              <a:spcBef>
                <a:spcPts val="0"/>
              </a:spcBef>
              <a:spcAft>
                <a:spcPts val="0"/>
              </a:spcAft>
              <a:buSzPts val="1900"/>
              <a:buChar char="●"/>
            </a:pPr>
            <a:r>
              <a:rPr lang="en-GB" sz="1900"/>
              <a:t>It is cheaper than personal interviewing method;</a:t>
            </a:r>
            <a:endParaRPr sz="1900"/>
          </a:p>
          <a:p>
            <a:pPr marL="457200" lvl="0" indent="-349250" algn="just" rtl="0">
              <a:spcBef>
                <a:spcPts val="0"/>
              </a:spcBef>
              <a:spcAft>
                <a:spcPts val="0"/>
              </a:spcAft>
              <a:buSzPts val="1900"/>
              <a:buChar char="●"/>
            </a:pPr>
            <a:r>
              <a:rPr lang="en-GB" sz="1900"/>
              <a:t>Recall is easy; callbacks are simple and economical.</a:t>
            </a:r>
            <a:endParaRPr sz="1900"/>
          </a:p>
          <a:p>
            <a:pPr marL="457200" lvl="0" indent="-349250" algn="just" rtl="0">
              <a:spcBef>
                <a:spcPts val="0"/>
              </a:spcBef>
              <a:spcAft>
                <a:spcPts val="0"/>
              </a:spcAft>
              <a:buSzPts val="1900"/>
              <a:buChar char="●"/>
            </a:pPr>
            <a:r>
              <a:rPr lang="en-GB" sz="1900"/>
              <a:t>There is a higher rate of response than what we have in mailing method; the non-response is generally very low.</a:t>
            </a:r>
            <a:endParaRPr sz="1900"/>
          </a:p>
          <a:p>
            <a:pPr marL="457200" lvl="0" indent="-349250" algn="just" rtl="0">
              <a:spcBef>
                <a:spcPts val="0"/>
              </a:spcBef>
              <a:spcAft>
                <a:spcPts val="0"/>
              </a:spcAft>
              <a:buSzPts val="1900"/>
              <a:buChar char="●"/>
            </a:pPr>
            <a:r>
              <a:rPr lang="en-GB" sz="1900"/>
              <a:t>Replies can be recorded without causing embarrassment to respondents.</a:t>
            </a:r>
            <a:endParaRPr sz="1900"/>
          </a:p>
          <a:p>
            <a:pPr marL="457200" lvl="0" indent="-349250" algn="just" rtl="0">
              <a:spcBef>
                <a:spcPts val="0"/>
              </a:spcBef>
              <a:spcAft>
                <a:spcPts val="0"/>
              </a:spcAft>
              <a:buSzPts val="1900"/>
              <a:buChar char="●"/>
            </a:pPr>
            <a:r>
              <a:rPr lang="en-GB" sz="1900"/>
              <a:t>Interviewer can explain requirements more easily.</a:t>
            </a:r>
            <a:endParaRPr sz="1900"/>
          </a:p>
          <a:p>
            <a:pPr marL="457200" lvl="0" indent="-349250" algn="just" rtl="0">
              <a:spcBef>
                <a:spcPts val="0"/>
              </a:spcBef>
              <a:spcAft>
                <a:spcPts val="0"/>
              </a:spcAft>
              <a:buSzPts val="1900"/>
              <a:buChar char="●"/>
            </a:pPr>
            <a:r>
              <a:rPr lang="en-GB" sz="1900"/>
              <a:t>At times, access can be gained to respondents who otherwise cannot be contacted for one reason or the other.</a:t>
            </a:r>
            <a:endParaRPr sz="1900"/>
          </a:p>
          <a:p>
            <a:pPr marL="457200" lvl="0" indent="-349250" algn="just" rtl="0">
              <a:spcBef>
                <a:spcPts val="0"/>
              </a:spcBef>
              <a:spcAft>
                <a:spcPts val="0"/>
              </a:spcAft>
              <a:buSzPts val="1900"/>
              <a:buChar char="●"/>
            </a:pPr>
            <a:r>
              <a:rPr lang="en-GB" sz="1900"/>
              <a:t>No field staff is required.</a:t>
            </a:r>
            <a:endParaRPr sz="1900"/>
          </a:p>
          <a:p>
            <a:pPr marL="457200" lvl="0" indent="-349250" algn="just" rtl="0">
              <a:spcBef>
                <a:spcPts val="0"/>
              </a:spcBef>
              <a:spcAft>
                <a:spcPts val="0"/>
              </a:spcAft>
              <a:buSzPts val="1900"/>
              <a:buChar char="●"/>
            </a:pPr>
            <a:r>
              <a:rPr lang="en-GB" sz="1900"/>
              <a:t>Representative and wider distribution of sample is possible.</a:t>
            </a:r>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667"/>
        <p:cNvGrpSpPr/>
        <p:nvPr/>
      </p:nvGrpSpPr>
      <p:grpSpPr>
        <a:xfrm>
          <a:off x="0" y="0"/>
          <a:ext cx="0" cy="0"/>
          <a:chOff x="0" y="0"/>
          <a:chExt cx="0" cy="0"/>
        </a:xfrm>
      </p:grpSpPr>
      <p:sp>
        <p:nvSpPr>
          <p:cNvPr id="668" name="Google Shape;668;g20fd7f885cd_0_43"/>
          <p:cNvSpPr txBox="1">
            <a:spLocks noGrp="1"/>
          </p:cNvSpPr>
          <p:nvPr>
            <p:ph type="title"/>
          </p:nvPr>
        </p:nvSpPr>
        <p:spPr>
          <a:xfrm>
            <a:off x="311760" y="410040"/>
            <a:ext cx="8520000" cy="6072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GB" sz="2000">
                <a:solidFill>
                  <a:schemeClr val="accent3"/>
                </a:solidFill>
              </a:rPr>
              <a:t>Disadvantages</a:t>
            </a:r>
            <a:endParaRPr sz="2000">
              <a:solidFill>
                <a:schemeClr val="accent3"/>
              </a:solidFill>
            </a:endParaRPr>
          </a:p>
        </p:txBody>
      </p:sp>
      <p:sp>
        <p:nvSpPr>
          <p:cNvPr id="669" name="Google Shape;669;g20fd7f885cd_0_43"/>
          <p:cNvSpPr txBox="1">
            <a:spLocks noGrp="1"/>
          </p:cNvSpPr>
          <p:nvPr>
            <p:ph type="body" idx="1"/>
          </p:nvPr>
        </p:nvSpPr>
        <p:spPr>
          <a:xfrm>
            <a:off x="311750" y="1017250"/>
            <a:ext cx="8520000" cy="3551100"/>
          </a:xfrm>
          <a:prstGeom prst="rect">
            <a:avLst/>
          </a:prstGeom>
        </p:spPr>
        <p:txBody>
          <a:bodyPr spcFirstLastPara="1" wrap="square" lIns="0" tIns="0" rIns="0" bIns="0" anchor="t" anchorCtr="0">
            <a:noAutofit/>
          </a:bodyPr>
          <a:lstStyle/>
          <a:p>
            <a:pPr marL="457200" lvl="0" indent="-336550" algn="just" rtl="0">
              <a:spcBef>
                <a:spcPts val="0"/>
              </a:spcBef>
              <a:spcAft>
                <a:spcPts val="0"/>
              </a:spcAft>
              <a:buSzPts val="1700"/>
              <a:buChar char="●"/>
            </a:pPr>
            <a:r>
              <a:rPr lang="en-GB" sz="2100"/>
              <a:t>Little time is given to respondents for considered answers; interview period is not likely to exceed five minutes in most cases.</a:t>
            </a:r>
            <a:endParaRPr sz="2100"/>
          </a:p>
          <a:p>
            <a:pPr marL="457200" lvl="0" indent="-336550" algn="just" rtl="0">
              <a:spcBef>
                <a:spcPts val="0"/>
              </a:spcBef>
              <a:spcAft>
                <a:spcPts val="0"/>
              </a:spcAft>
              <a:buSzPts val="1700"/>
              <a:buChar char="●"/>
            </a:pPr>
            <a:r>
              <a:rPr lang="en-GB" sz="2100"/>
              <a:t>Surveys are restricted to respondents who have telephone facilities.</a:t>
            </a:r>
            <a:endParaRPr sz="2100"/>
          </a:p>
          <a:p>
            <a:pPr marL="457200" lvl="0" indent="-336550" algn="just" rtl="0">
              <a:spcBef>
                <a:spcPts val="0"/>
              </a:spcBef>
              <a:spcAft>
                <a:spcPts val="0"/>
              </a:spcAft>
              <a:buSzPts val="1700"/>
              <a:buChar char="●"/>
            </a:pPr>
            <a:r>
              <a:rPr lang="en-GB" sz="2100"/>
              <a:t>Extensive geographical coverage may get restricted by cost considerations.</a:t>
            </a:r>
            <a:endParaRPr sz="2100"/>
          </a:p>
          <a:p>
            <a:pPr marL="457200" lvl="0" indent="-336550" algn="just" rtl="0">
              <a:spcBef>
                <a:spcPts val="0"/>
              </a:spcBef>
              <a:spcAft>
                <a:spcPts val="0"/>
              </a:spcAft>
              <a:buSzPts val="1700"/>
              <a:buChar char="●"/>
            </a:pPr>
            <a:r>
              <a:rPr lang="en-GB" sz="2100"/>
              <a:t> It is not suitable for intensive surveys where comprehensive answers are required to various questions.</a:t>
            </a:r>
            <a:endParaRPr sz="2100"/>
          </a:p>
          <a:p>
            <a:pPr marL="457200" lvl="0" indent="-336550" algn="just" rtl="0">
              <a:spcBef>
                <a:spcPts val="0"/>
              </a:spcBef>
              <a:spcAft>
                <a:spcPts val="0"/>
              </a:spcAft>
              <a:buSzPts val="1700"/>
              <a:buChar char="●"/>
            </a:pPr>
            <a:r>
              <a:rPr lang="en-GB" sz="2100"/>
              <a:t>Possibility of the bias of the interviewer is relatively more.</a:t>
            </a:r>
            <a:endParaRPr sz="2100"/>
          </a:p>
          <a:p>
            <a:pPr marL="457200" lvl="0" indent="-336550" algn="just" rtl="0">
              <a:spcBef>
                <a:spcPts val="0"/>
              </a:spcBef>
              <a:spcAft>
                <a:spcPts val="0"/>
              </a:spcAft>
              <a:buSzPts val="1700"/>
              <a:buChar char="●"/>
            </a:pPr>
            <a:r>
              <a:rPr lang="en-GB" sz="2100"/>
              <a:t>Questions have to be short and to the point; probes are difficult to handle.</a:t>
            </a:r>
            <a:endParaRPr sz="210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673"/>
        <p:cNvGrpSpPr/>
        <p:nvPr/>
      </p:nvGrpSpPr>
      <p:grpSpPr>
        <a:xfrm>
          <a:off x="0" y="0"/>
          <a:ext cx="0" cy="0"/>
          <a:chOff x="0" y="0"/>
          <a:chExt cx="0" cy="0"/>
        </a:xfrm>
      </p:grpSpPr>
      <p:sp>
        <p:nvSpPr>
          <p:cNvPr id="674" name="Google Shape;674;g1f331929e45_0_20"/>
          <p:cNvSpPr txBox="1">
            <a:spLocks noGrp="1"/>
          </p:cNvSpPr>
          <p:nvPr>
            <p:ph type="title"/>
          </p:nvPr>
        </p:nvSpPr>
        <p:spPr>
          <a:xfrm>
            <a:off x="311760" y="410040"/>
            <a:ext cx="8520000" cy="6072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GB" sz="2450" b="1">
                <a:solidFill>
                  <a:schemeClr val="accent1"/>
                </a:solidFill>
                <a:highlight>
                  <a:srgbClr val="FFFFFF"/>
                </a:highlight>
                <a:latin typeface="Roboto"/>
                <a:ea typeface="Roboto"/>
                <a:cs typeface="Roboto"/>
                <a:sym typeface="Roboto"/>
              </a:rPr>
              <a:t>Questionaire Method</a:t>
            </a:r>
            <a:endParaRPr sz="3200">
              <a:solidFill>
                <a:schemeClr val="accent1"/>
              </a:solidFill>
            </a:endParaRPr>
          </a:p>
        </p:txBody>
      </p:sp>
      <p:sp>
        <p:nvSpPr>
          <p:cNvPr id="675" name="Google Shape;675;g1f331929e45_0_20"/>
          <p:cNvSpPr txBox="1">
            <a:spLocks noGrp="1"/>
          </p:cNvSpPr>
          <p:nvPr>
            <p:ph type="body" idx="1"/>
          </p:nvPr>
        </p:nvSpPr>
        <p:spPr>
          <a:xfrm>
            <a:off x="311760" y="1229760"/>
            <a:ext cx="8520000" cy="3338700"/>
          </a:xfrm>
          <a:prstGeom prst="rect">
            <a:avLst/>
          </a:prstGeom>
        </p:spPr>
        <p:txBody>
          <a:bodyPr spcFirstLastPara="1" wrap="square" lIns="0" tIns="0" rIns="0" bIns="0" anchor="t" anchorCtr="0">
            <a:normAutofit/>
          </a:bodyPr>
          <a:lstStyle/>
          <a:p>
            <a:pPr marL="457200" lvl="0" indent="-335883" algn="just" rtl="0">
              <a:lnSpc>
                <a:spcPct val="115000"/>
              </a:lnSpc>
              <a:spcBef>
                <a:spcPts val="0"/>
              </a:spcBef>
              <a:spcAft>
                <a:spcPts val="0"/>
              </a:spcAft>
              <a:buClr>
                <a:srgbClr val="333333"/>
              </a:buClr>
              <a:buSzPts val="1690"/>
              <a:buFont typeface="Roboto"/>
              <a:buChar char="●"/>
            </a:pPr>
            <a:r>
              <a:rPr lang="en-GB" sz="1689">
                <a:solidFill>
                  <a:srgbClr val="333333"/>
                </a:solidFill>
                <a:highlight>
                  <a:srgbClr val="FFFFFF"/>
                </a:highlight>
                <a:latin typeface="Roboto"/>
                <a:ea typeface="Roboto"/>
                <a:cs typeface="Roboto"/>
                <a:sym typeface="Roboto"/>
              </a:rPr>
              <a:t>In this method, the set of questions are mailed to the respondent.  They should read, reply and subsequently return the questionnaire. </a:t>
            </a:r>
            <a:endParaRPr sz="1689">
              <a:solidFill>
                <a:srgbClr val="333333"/>
              </a:solidFill>
              <a:highlight>
                <a:srgbClr val="FFFFFF"/>
              </a:highlight>
              <a:latin typeface="Roboto"/>
              <a:ea typeface="Roboto"/>
              <a:cs typeface="Roboto"/>
              <a:sym typeface="Roboto"/>
            </a:endParaRPr>
          </a:p>
          <a:p>
            <a:pPr marL="457200" lvl="0" indent="-335883" algn="just" rtl="0">
              <a:lnSpc>
                <a:spcPct val="115000"/>
              </a:lnSpc>
              <a:spcBef>
                <a:spcPts val="0"/>
              </a:spcBef>
              <a:spcAft>
                <a:spcPts val="0"/>
              </a:spcAft>
              <a:buClr>
                <a:srgbClr val="333333"/>
              </a:buClr>
              <a:buSzPts val="1690"/>
              <a:buFont typeface="Roboto"/>
              <a:buChar char="●"/>
            </a:pPr>
            <a:r>
              <a:rPr lang="en-GB" sz="1689">
                <a:solidFill>
                  <a:srgbClr val="333333"/>
                </a:solidFill>
                <a:highlight>
                  <a:srgbClr val="FFFFFF"/>
                </a:highlight>
                <a:latin typeface="Roboto"/>
                <a:ea typeface="Roboto"/>
                <a:cs typeface="Roboto"/>
                <a:sym typeface="Roboto"/>
              </a:rPr>
              <a:t>The questions are printed in the definite order on the form. </a:t>
            </a:r>
            <a:endParaRPr sz="1689">
              <a:solidFill>
                <a:srgbClr val="333333"/>
              </a:solidFill>
              <a:highlight>
                <a:srgbClr val="FFFFFF"/>
              </a:highlight>
              <a:latin typeface="Roboto"/>
              <a:ea typeface="Roboto"/>
              <a:cs typeface="Roboto"/>
              <a:sym typeface="Roboto"/>
            </a:endParaRPr>
          </a:p>
          <a:p>
            <a:pPr marL="457200" lvl="0" indent="-335883" algn="just" rtl="0">
              <a:lnSpc>
                <a:spcPct val="115000"/>
              </a:lnSpc>
              <a:spcBef>
                <a:spcPts val="0"/>
              </a:spcBef>
              <a:spcAft>
                <a:spcPts val="0"/>
              </a:spcAft>
              <a:buClr>
                <a:srgbClr val="333333"/>
              </a:buClr>
              <a:buSzPts val="1690"/>
              <a:buFont typeface="Roboto"/>
              <a:buChar char="●"/>
            </a:pPr>
            <a:r>
              <a:rPr lang="en-GB" sz="1689">
                <a:solidFill>
                  <a:srgbClr val="333333"/>
                </a:solidFill>
                <a:highlight>
                  <a:srgbClr val="FFFFFF"/>
                </a:highlight>
                <a:latin typeface="Roboto"/>
                <a:ea typeface="Roboto"/>
                <a:cs typeface="Roboto"/>
                <a:sym typeface="Roboto"/>
              </a:rPr>
              <a:t>A good survey should have the following features:</a:t>
            </a:r>
            <a:endParaRPr sz="1689">
              <a:solidFill>
                <a:srgbClr val="333333"/>
              </a:solidFill>
              <a:highlight>
                <a:srgbClr val="FFFFFF"/>
              </a:highlight>
              <a:latin typeface="Roboto"/>
              <a:ea typeface="Roboto"/>
              <a:cs typeface="Roboto"/>
              <a:sym typeface="Roboto"/>
            </a:endParaRPr>
          </a:p>
          <a:p>
            <a:pPr marL="457200" lvl="0" indent="-335883" algn="just" rtl="0">
              <a:lnSpc>
                <a:spcPct val="115000"/>
              </a:lnSpc>
              <a:spcBef>
                <a:spcPts val="0"/>
              </a:spcBef>
              <a:spcAft>
                <a:spcPts val="0"/>
              </a:spcAft>
              <a:buClr>
                <a:srgbClr val="333333"/>
              </a:buClr>
              <a:buSzPts val="1690"/>
              <a:buFont typeface="Roboto"/>
              <a:buChar char="❖"/>
            </a:pPr>
            <a:r>
              <a:rPr lang="en-GB" sz="1689">
                <a:solidFill>
                  <a:srgbClr val="333333"/>
                </a:solidFill>
                <a:highlight>
                  <a:srgbClr val="FFFFFF"/>
                </a:highlight>
                <a:latin typeface="Roboto"/>
                <a:ea typeface="Roboto"/>
                <a:cs typeface="Roboto"/>
                <a:sym typeface="Roboto"/>
              </a:rPr>
              <a:t>Short and simple</a:t>
            </a:r>
            <a:endParaRPr sz="1689">
              <a:solidFill>
                <a:srgbClr val="333333"/>
              </a:solidFill>
              <a:highlight>
                <a:srgbClr val="FFFFFF"/>
              </a:highlight>
              <a:latin typeface="Roboto"/>
              <a:ea typeface="Roboto"/>
              <a:cs typeface="Roboto"/>
              <a:sym typeface="Roboto"/>
            </a:endParaRPr>
          </a:p>
          <a:p>
            <a:pPr marL="457200" lvl="0" indent="-335883" algn="just" rtl="0">
              <a:lnSpc>
                <a:spcPct val="115000"/>
              </a:lnSpc>
              <a:spcBef>
                <a:spcPts val="0"/>
              </a:spcBef>
              <a:spcAft>
                <a:spcPts val="0"/>
              </a:spcAft>
              <a:buClr>
                <a:srgbClr val="333333"/>
              </a:buClr>
              <a:buSzPts val="1690"/>
              <a:buFont typeface="Roboto"/>
              <a:buChar char="❖"/>
            </a:pPr>
            <a:r>
              <a:rPr lang="en-GB" sz="1689">
                <a:solidFill>
                  <a:srgbClr val="333333"/>
                </a:solidFill>
                <a:highlight>
                  <a:srgbClr val="FFFFFF"/>
                </a:highlight>
                <a:latin typeface="Roboto"/>
                <a:ea typeface="Roboto"/>
                <a:cs typeface="Roboto"/>
                <a:sym typeface="Roboto"/>
              </a:rPr>
              <a:t>Should follow a logical sequence</a:t>
            </a:r>
            <a:endParaRPr sz="1689">
              <a:solidFill>
                <a:srgbClr val="333333"/>
              </a:solidFill>
              <a:highlight>
                <a:srgbClr val="FFFFFF"/>
              </a:highlight>
              <a:latin typeface="Roboto"/>
              <a:ea typeface="Roboto"/>
              <a:cs typeface="Roboto"/>
              <a:sym typeface="Roboto"/>
            </a:endParaRPr>
          </a:p>
          <a:p>
            <a:pPr marL="457200" lvl="0" indent="-335883" algn="just" rtl="0">
              <a:lnSpc>
                <a:spcPct val="115000"/>
              </a:lnSpc>
              <a:spcBef>
                <a:spcPts val="0"/>
              </a:spcBef>
              <a:spcAft>
                <a:spcPts val="0"/>
              </a:spcAft>
              <a:buClr>
                <a:srgbClr val="333333"/>
              </a:buClr>
              <a:buSzPts val="1690"/>
              <a:buFont typeface="Roboto"/>
              <a:buChar char="❖"/>
            </a:pPr>
            <a:r>
              <a:rPr lang="en-GB" sz="1689">
                <a:solidFill>
                  <a:srgbClr val="333333"/>
                </a:solidFill>
                <a:highlight>
                  <a:srgbClr val="FFFFFF"/>
                </a:highlight>
                <a:latin typeface="Roboto"/>
                <a:ea typeface="Roboto"/>
                <a:cs typeface="Roboto"/>
                <a:sym typeface="Roboto"/>
              </a:rPr>
              <a:t>Provide adequate space for answers</a:t>
            </a:r>
            <a:endParaRPr sz="1689">
              <a:solidFill>
                <a:srgbClr val="333333"/>
              </a:solidFill>
              <a:highlight>
                <a:srgbClr val="FFFFFF"/>
              </a:highlight>
              <a:latin typeface="Roboto"/>
              <a:ea typeface="Roboto"/>
              <a:cs typeface="Roboto"/>
              <a:sym typeface="Roboto"/>
            </a:endParaRPr>
          </a:p>
          <a:p>
            <a:pPr marL="457200" lvl="0" indent="-335883" algn="just" rtl="0">
              <a:lnSpc>
                <a:spcPct val="115000"/>
              </a:lnSpc>
              <a:spcBef>
                <a:spcPts val="0"/>
              </a:spcBef>
              <a:spcAft>
                <a:spcPts val="0"/>
              </a:spcAft>
              <a:buClr>
                <a:srgbClr val="333333"/>
              </a:buClr>
              <a:buSzPts val="1690"/>
              <a:buFont typeface="Roboto"/>
              <a:buChar char="❖"/>
            </a:pPr>
            <a:r>
              <a:rPr lang="en-GB" sz="1689">
                <a:solidFill>
                  <a:srgbClr val="333333"/>
                </a:solidFill>
                <a:highlight>
                  <a:srgbClr val="FFFFFF"/>
                </a:highlight>
                <a:latin typeface="Roboto"/>
                <a:ea typeface="Roboto"/>
                <a:cs typeface="Roboto"/>
                <a:sym typeface="Roboto"/>
              </a:rPr>
              <a:t>Avoid technical terms</a:t>
            </a:r>
            <a:endParaRPr sz="1689">
              <a:solidFill>
                <a:srgbClr val="333333"/>
              </a:solidFill>
              <a:highlight>
                <a:srgbClr val="FFFFFF"/>
              </a:highlight>
              <a:latin typeface="Roboto"/>
              <a:ea typeface="Roboto"/>
              <a:cs typeface="Roboto"/>
              <a:sym typeface="Roboto"/>
            </a:endParaRPr>
          </a:p>
          <a:p>
            <a:pPr marL="457200" lvl="0" indent="-335883" algn="just" rtl="0">
              <a:lnSpc>
                <a:spcPct val="115000"/>
              </a:lnSpc>
              <a:spcBef>
                <a:spcPts val="0"/>
              </a:spcBef>
              <a:spcAft>
                <a:spcPts val="0"/>
              </a:spcAft>
              <a:buClr>
                <a:srgbClr val="333333"/>
              </a:buClr>
              <a:buSzPts val="1690"/>
              <a:buFont typeface="Roboto"/>
              <a:buChar char="❖"/>
            </a:pPr>
            <a:r>
              <a:rPr lang="en-GB" sz="1689">
                <a:solidFill>
                  <a:srgbClr val="333333"/>
                </a:solidFill>
                <a:highlight>
                  <a:srgbClr val="FFFFFF"/>
                </a:highlight>
                <a:latin typeface="Roboto"/>
                <a:ea typeface="Roboto"/>
                <a:cs typeface="Roboto"/>
                <a:sym typeface="Roboto"/>
              </a:rPr>
              <a:t>Should have good physical appearance such as colour, quality of the paper to attract the attention of the respondent.</a:t>
            </a:r>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679"/>
        <p:cNvGrpSpPr/>
        <p:nvPr/>
      </p:nvGrpSpPr>
      <p:grpSpPr>
        <a:xfrm>
          <a:off x="0" y="0"/>
          <a:ext cx="0" cy="0"/>
          <a:chOff x="0" y="0"/>
          <a:chExt cx="0" cy="0"/>
        </a:xfrm>
      </p:grpSpPr>
      <p:sp>
        <p:nvSpPr>
          <p:cNvPr id="680" name="Google Shape;680;g21115aaa1d6_0_0"/>
          <p:cNvSpPr txBox="1">
            <a:spLocks noGrp="1"/>
          </p:cNvSpPr>
          <p:nvPr>
            <p:ph type="title"/>
          </p:nvPr>
        </p:nvSpPr>
        <p:spPr>
          <a:xfrm>
            <a:off x="311760" y="410040"/>
            <a:ext cx="8520000" cy="6072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81" name="Google Shape;681;g21115aaa1d6_0_0"/>
          <p:cNvSpPr txBox="1">
            <a:spLocks noGrp="1"/>
          </p:cNvSpPr>
          <p:nvPr>
            <p:ph type="body" idx="1"/>
          </p:nvPr>
        </p:nvSpPr>
        <p:spPr>
          <a:xfrm>
            <a:off x="311760" y="1229760"/>
            <a:ext cx="8520000" cy="3338700"/>
          </a:xfrm>
          <a:prstGeom prst="rect">
            <a:avLst/>
          </a:prstGeom>
        </p:spPr>
        <p:txBody>
          <a:bodyPr spcFirstLastPara="1" wrap="square" lIns="0" tIns="0" rIns="0" bIns="0" anchor="t" anchorCtr="0">
            <a:normAutofit/>
          </a:bodyPr>
          <a:lstStyle/>
          <a:p>
            <a:pPr marL="0" lvl="0" indent="0" algn="l" rtl="0">
              <a:spcBef>
                <a:spcPts val="0"/>
              </a:spcBef>
              <a:spcAft>
                <a:spcPts val="0"/>
              </a:spcAft>
              <a:buNone/>
            </a:pPr>
            <a:r>
              <a:rPr lang="en-GB"/>
              <a:t>Researcher should note the following with regard to these three main aspects of a questionnaire:</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None/>
            </a:pPr>
            <a:r>
              <a:rPr lang="en-GB"/>
              <a:t>1. General form- structured or unstructured questionnaire</a:t>
            </a:r>
            <a:endParaRPr/>
          </a:p>
          <a:p>
            <a:pPr marL="0" lvl="0" indent="0" algn="l" rtl="0">
              <a:spcBef>
                <a:spcPts val="0"/>
              </a:spcBef>
              <a:spcAft>
                <a:spcPts val="0"/>
              </a:spcAft>
              <a:buNone/>
            </a:pPr>
            <a:endParaRPr/>
          </a:p>
          <a:p>
            <a:pPr marL="0" lvl="0" indent="0" algn="l" rtl="0">
              <a:spcBef>
                <a:spcPts val="0"/>
              </a:spcBef>
              <a:spcAft>
                <a:spcPts val="0"/>
              </a:spcAft>
              <a:buNone/>
            </a:pPr>
            <a:r>
              <a:rPr lang="en-GB"/>
              <a:t>2. Question sequence</a:t>
            </a:r>
            <a:endParaRPr/>
          </a:p>
          <a:p>
            <a:pPr marL="0" lvl="0" indent="0" algn="l" rtl="0">
              <a:spcBef>
                <a:spcPts val="0"/>
              </a:spcBef>
              <a:spcAft>
                <a:spcPts val="0"/>
              </a:spcAft>
              <a:buNone/>
            </a:pPr>
            <a:endParaRPr/>
          </a:p>
          <a:p>
            <a:pPr marL="0" lvl="0" indent="0" algn="l" rtl="0">
              <a:spcBef>
                <a:spcPts val="0"/>
              </a:spcBef>
              <a:spcAft>
                <a:spcPts val="0"/>
              </a:spcAft>
              <a:buClr>
                <a:schemeClr val="dk1"/>
              </a:buClr>
              <a:buSzPts val="1100"/>
              <a:buFont typeface="Arial"/>
              <a:buNone/>
            </a:pPr>
            <a:r>
              <a:rPr lang="en-GB"/>
              <a:t>3. Question formulation and wording</a:t>
            </a:r>
            <a:endParaRPr/>
          </a:p>
          <a:p>
            <a:pPr marL="0" lvl="0" indent="0" algn="l" rtl="0">
              <a:spcBef>
                <a:spcPts val="0"/>
              </a:spcBef>
              <a:spcAft>
                <a:spcPts val="0"/>
              </a:spcAft>
              <a:buNone/>
            </a:pPr>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685"/>
        <p:cNvGrpSpPr/>
        <p:nvPr/>
      </p:nvGrpSpPr>
      <p:grpSpPr>
        <a:xfrm>
          <a:off x="0" y="0"/>
          <a:ext cx="0" cy="0"/>
          <a:chOff x="0" y="0"/>
          <a:chExt cx="0" cy="0"/>
        </a:xfrm>
      </p:grpSpPr>
      <p:sp>
        <p:nvSpPr>
          <p:cNvPr id="686" name="Google Shape;686;g20fd7f885cd_0_50"/>
          <p:cNvSpPr txBox="1">
            <a:spLocks noGrp="1"/>
          </p:cNvSpPr>
          <p:nvPr>
            <p:ph type="title"/>
          </p:nvPr>
        </p:nvSpPr>
        <p:spPr>
          <a:xfrm>
            <a:off x="311760" y="410040"/>
            <a:ext cx="8520000" cy="6072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GB" sz="2400">
                <a:solidFill>
                  <a:schemeClr val="accent3"/>
                </a:solidFill>
              </a:rPr>
              <a:t>Advantages</a:t>
            </a:r>
            <a:endParaRPr sz="2400">
              <a:solidFill>
                <a:schemeClr val="accent3"/>
              </a:solidFill>
            </a:endParaRPr>
          </a:p>
        </p:txBody>
      </p:sp>
      <p:sp>
        <p:nvSpPr>
          <p:cNvPr id="687" name="Google Shape;687;g20fd7f885cd_0_50"/>
          <p:cNvSpPr txBox="1">
            <a:spLocks noGrp="1"/>
          </p:cNvSpPr>
          <p:nvPr>
            <p:ph type="body" idx="1"/>
          </p:nvPr>
        </p:nvSpPr>
        <p:spPr>
          <a:xfrm>
            <a:off x="311760" y="1229760"/>
            <a:ext cx="8520000" cy="3338700"/>
          </a:xfrm>
          <a:prstGeom prst="rect">
            <a:avLst/>
          </a:prstGeom>
        </p:spPr>
        <p:txBody>
          <a:bodyPr spcFirstLastPara="1" wrap="square" lIns="0" tIns="0" rIns="0" bIns="0" anchor="t" anchorCtr="0">
            <a:noAutofit/>
          </a:bodyPr>
          <a:lstStyle/>
          <a:p>
            <a:pPr marL="457200" lvl="0" indent="-361950" algn="just" rtl="0">
              <a:spcBef>
                <a:spcPts val="0"/>
              </a:spcBef>
              <a:spcAft>
                <a:spcPts val="0"/>
              </a:spcAft>
              <a:buSzPts val="2100"/>
              <a:buChar char="●"/>
            </a:pPr>
            <a:r>
              <a:rPr lang="en-GB" sz="2100"/>
              <a:t>There is low cost even when the universe is large and is widely spread geographically.</a:t>
            </a:r>
            <a:endParaRPr sz="2100"/>
          </a:p>
          <a:p>
            <a:pPr marL="457200" lvl="0" indent="-361950" algn="just" rtl="0">
              <a:spcBef>
                <a:spcPts val="0"/>
              </a:spcBef>
              <a:spcAft>
                <a:spcPts val="0"/>
              </a:spcAft>
              <a:buSzPts val="2100"/>
              <a:buChar char="●"/>
            </a:pPr>
            <a:r>
              <a:rPr lang="en-GB" sz="2100"/>
              <a:t>It is free from the bias of the interviewer; answers are in respondents’ own words.</a:t>
            </a:r>
            <a:endParaRPr sz="2100"/>
          </a:p>
          <a:p>
            <a:pPr marL="457200" lvl="0" indent="-361950" algn="just" rtl="0">
              <a:spcBef>
                <a:spcPts val="0"/>
              </a:spcBef>
              <a:spcAft>
                <a:spcPts val="0"/>
              </a:spcAft>
              <a:buSzPts val="2100"/>
              <a:buChar char="●"/>
            </a:pPr>
            <a:r>
              <a:rPr lang="en-GB" sz="2100"/>
              <a:t>Respondents have adequate time to give well thought out answers.</a:t>
            </a:r>
            <a:endParaRPr sz="2100"/>
          </a:p>
          <a:p>
            <a:pPr marL="457200" lvl="0" indent="-361950" algn="just" rtl="0">
              <a:spcBef>
                <a:spcPts val="0"/>
              </a:spcBef>
              <a:spcAft>
                <a:spcPts val="0"/>
              </a:spcAft>
              <a:buSzPts val="2100"/>
              <a:buChar char="●"/>
            </a:pPr>
            <a:r>
              <a:rPr lang="en-GB" sz="2100"/>
              <a:t>Respondents, who are not easily approachable, can also be reached conveniently.</a:t>
            </a:r>
            <a:endParaRPr sz="2100"/>
          </a:p>
          <a:p>
            <a:pPr marL="457200" lvl="0" indent="-361950" algn="just" rtl="0">
              <a:spcBef>
                <a:spcPts val="0"/>
              </a:spcBef>
              <a:spcAft>
                <a:spcPts val="0"/>
              </a:spcAft>
              <a:buSzPts val="2100"/>
              <a:buChar char="●"/>
            </a:pPr>
            <a:r>
              <a:rPr lang="en-GB" sz="2100"/>
              <a:t>Large samples can be made use of and thus the results can be made more dependable and reliable.</a:t>
            </a:r>
            <a:endParaRPr sz="2100"/>
          </a:p>
          <a:p>
            <a:pPr marL="0" lvl="0" indent="0" algn="l" rtl="0">
              <a:spcBef>
                <a:spcPts val="0"/>
              </a:spcBef>
              <a:spcAft>
                <a:spcPts val="0"/>
              </a:spcAft>
              <a:buNone/>
            </a:pPr>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691"/>
        <p:cNvGrpSpPr/>
        <p:nvPr/>
      </p:nvGrpSpPr>
      <p:grpSpPr>
        <a:xfrm>
          <a:off x="0" y="0"/>
          <a:ext cx="0" cy="0"/>
          <a:chOff x="0" y="0"/>
          <a:chExt cx="0" cy="0"/>
        </a:xfrm>
      </p:grpSpPr>
      <p:sp>
        <p:nvSpPr>
          <p:cNvPr id="692" name="Google Shape;692;g20fd7f885cd_0_57"/>
          <p:cNvSpPr txBox="1">
            <a:spLocks noGrp="1"/>
          </p:cNvSpPr>
          <p:nvPr>
            <p:ph type="title"/>
          </p:nvPr>
        </p:nvSpPr>
        <p:spPr>
          <a:xfrm>
            <a:off x="311760" y="410040"/>
            <a:ext cx="8520000" cy="6072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GB" sz="2300">
                <a:solidFill>
                  <a:schemeClr val="accent3"/>
                </a:solidFill>
              </a:rPr>
              <a:t>Disadvantages</a:t>
            </a:r>
            <a:endParaRPr sz="2300">
              <a:solidFill>
                <a:schemeClr val="accent3"/>
              </a:solidFill>
            </a:endParaRPr>
          </a:p>
        </p:txBody>
      </p:sp>
      <p:sp>
        <p:nvSpPr>
          <p:cNvPr id="693" name="Google Shape;693;g20fd7f885cd_0_57"/>
          <p:cNvSpPr txBox="1">
            <a:spLocks noGrp="1"/>
          </p:cNvSpPr>
          <p:nvPr>
            <p:ph type="body" idx="1"/>
          </p:nvPr>
        </p:nvSpPr>
        <p:spPr>
          <a:xfrm>
            <a:off x="311750" y="1017249"/>
            <a:ext cx="8520000" cy="3551100"/>
          </a:xfrm>
          <a:prstGeom prst="rect">
            <a:avLst/>
          </a:prstGeom>
        </p:spPr>
        <p:txBody>
          <a:bodyPr spcFirstLastPara="1" wrap="square" lIns="0" tIns="0" rIns="0" bIns="0" anchor="t" anchorCtr="0">
            <a:noAutofit/>
          </a:bodyPr>
          <a:lstStyle/>
          <a:p>
            <a:pPr marL="457200" lvl="0" indent="-330200" algn="just" rtl="0">
              <a:lnSpc>
                <a:spcPct val="90000"/>
              </a:lnSpc>
              <a:spcBef>
                <a:spcPts val="0"/>
              </a:spcBef>
              <a:spcAft>
                <a:spcPts val="0"/>
              </a:spcAft>
              <a:buSzPts val="1600"/>
              <a:buChar char="●"/>
            </a:pPr>
            <a:r>
              <a:rPr lang="en-GB" sz="2000"/>
              <a:t>Low rate of return of the duly filled in questionnaires</a:t>
            </a:r>
            <a:endParaRPr sz="2000"/>
          </a:p>
          <a:p>
            <a:pPr marL="457200" lvl="0" indent="-330200" algn="just" rtl="0">
              <a:lnSpc>
                <a:spcPct val="90000"/>
              </a:lnSpc>
              <a:spcBef>
                <a:spcPts val="0"/>
              </a:spcBef>
              <a:spcAft>
                <a:spcPts val="0"/>
              </a:spcAft>
              <a:buSzPts val="1600"/>
              <a:buChar char="●"/>
            </a:pPr>
            <a:r>
              <a:rPr lang="en-GB" sz="2000"/>
              <a:t>It can be used only when respondents are educated and cooperating.</a:t>
            </a:r>
            <a:endParaRPr sz="2000"/>
          </a:p>
          <a:p>
            <a:pPr marL="457200" lvl="0" indent="-330200" algn="just" rtl="0">
              <a:lnSpc>
                <a:spcPct val="90000"/>
              </a:lnSpc>
              <a:spcBef>
                <a:spcPts val="0"/>
              </a:spcBef>
              <a:spcAft>
                <a:spcPts val="0"/>
              </a:spcAft>
              <a:buSzPts val="1600"/>
              <a:buChar char="●"/>
            </a:pPr>
            <a:r>
              <a:rPr lang="en-GB" sz="2000"/>
              <a:t>The control over questionnaire may be lost once it is sent.</a:t>
            </a:r>
            <a:endParaRPr sz="2000"/>
          </a:p>
          <a:p>
            <a:pPr marL="457200" lvl="0" indent="-330200" algn="just" rtl="0">
              <a:lnSpc>
                <a:spcPct val="90000"/>
              </a:lnSpc>
              <a:spcBef>
                <a:spcPts val="0"/>
              </a:spcBef>
              <a:spcAft>
                <a:spcPts val="0"/>
              </a:spcAft>
              <a:buSzPts val="1600"/>
              <a:buChar char="●"/>
            </a:pPr>
            <a:r>
              <a:rPr lang="en-GB" sz="2000"/>
              <a:t> There is inbuilt inflexibility because of the difficulty of amending the approach once questionnaires have been dispatched.</a:t>
            </a:r>
            <a:endParaRPr sz="2000"/>
          </a:p>
          <a:p>
            <a:pPr marL="457200" lvl="0" indent="-330200" algn="just" rtl="0">
              <a:lnSpc>
                <a:spcPct val="90000"/>
              </a:lnSpc>
              <a:spcBef>
                <a:spcPts val="0"/>
              </a:spcBef>
              <a:spcAft>
                <a:spcPts val="0"/>
              </a:spcAft>
              <a:buSzPts val="1600"/>
              <a:buChar char="●"/>
            </a:pPr>
            <a:r>
              <a:rPr lang="en-GB" sz="2000"/>
              <a:t>There is also the possibility of ambiguous replies or omission of replies altogether to certain questions; interpretation of omissions is difficult.</a:t>
            </a:r>
            <a:endParaRPr sz="2000"/>
          </a:p>
          <a:p>
            <a:pPr marL="457200" lvl="0" indent="-330200" algn="just" rtl="0">
              <a:lnSpc>
                <a:spcPct val="90000"/>
              </a:lnSpc>
              <a:spcBef>
                <a:spcPts val="0"/>
              </a:spcBef>
              <a:spcAft>
                <a:spcPts val="0"/>
              </a:spcAft>
              <a:buSzPts val="1600"/>
              <a:buChar char="●"/>
            </a:pPr>
            <a:r>
              <a:rPr lang="en-GB" sz="2000"/>
              <a:t>It is difficult to know whether willing respondents are truly representative.</a:t>
            </a:r>
            <a:endParaRPr sz="2000"/>
          </a:p>
          <a:p>
            <a:pPr marL="457200" lvl="0" indent="-330200" algn="just" rtl="0">
              <a:lnSpc>
                <a:spcPct val="90000"/>
              </a:lnSpc>
              <a:spcBef>
                <a:spcPts val="0"/>
              </a:spcBef>
              <a:spcAft>
                <a:spcPts val="0"/>
              </a:spcAft>
              <a:buSzPts val="1600"/>
              <a:buChar char="●"/>
            </a:pPr>
            <a:r>
              <a:rPr lang="en-GB" sz="2000"/>
              <a:t>This method is likely to be the slowest of all.</a:t>
            </a:r>
            <a:endParaRPr sz="2000"/>
          </a:p>
          <a:p>
            <a:pPr marL="0" lvl="0" indent="0" algn="l" rtl="0">
              <a:lnSpc>
                <a:spcPct val="90000"/>
              </a:lnSpc>
              <a:spcBef>
                <a:spcPts val="0"/>
              </a:spcBef>
              <a:spcAft>
                <a:spcPts val="0"/>
              </a:spcAft>
              <a:buNone/>
            </a:pPr>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Shape 697"/>
        <p:cNvGrpSpPr/>
        <p:nvPr/>
      </p:nvGrpSpPr>
      <p:grpSpPr>
        <a:xfrm>
          <a:off x="0" y="0"/>
          <a:ext cx="0" cy="0"/>
          <a:chOff x="0" y="0"/>
          <a:chExt cx="0" cy="0"/>
        </a:xfrm>
      </p:grpSpPr>
      <p:sp>
        <p:nvSpPr>
          <p:cNvPr id="698" name="Google Shape;698;g1f331929e45_0_27"/>
          <p:cNvSpPr txBox="1">
            <a:spLocks noGrp="1"/>
          </p:cNvSpPr>
          <p:nvPr>
            <p:ph type="title"/>
          </p:nvPr>
        </p:nvSpPr>
        <p:spPr>
          <a:xfrm>
            <a:off x="311760" y="410040"/>
            <a:ext cx="8520000" cy="6072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GB" sz="2200">
                <a:solidFill>
                  <a:schemeClr val="accent1"/>
                </a:solidFill>
              </a:rPr>
              <a:t>Schedules</a:t>
            </a:r>
            <a:endParaRPr sz="2200">
              <a:solidFill>
                <a:schemeClr val="accent1"/>
              </a:solidFill>
            </a:endParaRPr>
          </a:p>
        </p:txBody>
      </p:sp>
      <p:sp>
        <p:nvSpPr>
          <p:cNvPr id="699" name="Google Shape;699;g1f331929e45_0_27"/>
          <p:cNvSpPr txBox="1">
            <a:spLocks noGrp="1"/>
          </p:cNvSpPr>
          <p:nvPr>
            <p:ph type="body" idx="1"/>
          </p:nvPr>
        </p:nvSpPr>
        <p:spPr>
          <a:xfrm>
            <a:off x="311760" y="1229760"/>
            <a:ext cx="8520000" cy="3338700"/>
          </a:xfrm>
          <a:prstGeom prst="rect">
            <a:avLst/>
          </a:prstGeom>
        </p:spPr>
        <p:txBody>
          <a:bodyPr spcFirstLastPara="1" wrap="square" lIns="0" tIns="0" rIns="0" bIns="0" anchor="t" anchorCtr="0">
            <a:normAutofit/>
          </a:bodyPr>
          <a:lstStyle/>
          <a:p>
            <a:pPr marL="457200" lvl="0" indent="-365125" algn="just" rtl="0">
              <a:spcBef>
                <a:spcPts val="0"/>
              </a:spcBef>
              <a:spcAft>
                <a:spcPts val="0"/>
              </a:spcAft>
              <a:buClr>
                <a:srgbClr val="333333"/>
              </a:buClr>
              <a:buSzPts val="2150"/>
              <a:buFont typeface="Roboto"/>
              <a:buChar char="●"/>
            </a:pPr>
            <a:r>
              <a:rPr lang="en-GB" sz="2150">
                <a:solidFill>
                  <a:srgbClr val="333333"/>
                </a:solidFill>
                <a:highlight>
                  <a:srgbClr val="FFFFFF"/>
                </a:highlight>
                <a:latin typeface="Roboto"/>
                <a:ea typeface="Roboto"/>
                <a:cs typeface="Roboto"/>
                <a:sym typeface="Roboto"/>
              </a:rPr>
              <a:t>This method is similar to the questionnaire method with a slight difference. </a:t>
            </a:r>
            <a:endParaRPr sz="2150">
              <a:solidFill>
                <a:srgbClr val="333333"/>
              </a:solidFill>
              <a:highlight>
                <a:srgbClr val="FFFFFF"/>
              </a:highlight>
              <a:latin typeface="Roboto"/>
              <a:ea typeface="Roboto"/>
              <a:cs typeface="Roboto"/>
              <a:sym typeface="Roboto"/>
            </a:endParaRPr>
          </a:p>
          <a:p>
            <a:pPr marL="457200" lvl="0" indent="-365125" algn="just" rtl="0">
              <a:spcBef>
                <a:spcPts val="0"/>
              </a:spcBef>
              <a:spcAft>
                <a:spcPts val="0"/>
              </a:spcAft>
              <a:buClr>
                <a:srgbClr val="333333"/>
              </a:buClr>
              <a:buSzPts val="2150"/>
              <a:buFont typeface="Roboto"/>
              <a:buChar char="●"/>
            </a:pPr>
            <a:r>
              <a:rPr lang="en-GB" sz="2150">
                <a:solidFill>
                  <a:srgbClr val="333333"/>
                </a:solidFill>
                <a:highlight>
                  <a:srgbClr val="FFFFFF"/>
                </a:highlight>
                <a:latin typeface="Roboto"/>
                <a:ea typeface="Roboto"/>
                <a:cs typeface="Roboto"/>
                <a:sym typeface="Roboto"/>
              </a:rPr>
              <a:t>The enumerations are specially appointed for the purpose of filling the schedules. </a:t>
            </a:r>
            <a:endParaRPr sz="2150">
              <a:solidFill>
                <a:srgbClr val="333333"/>
              </a:solidFill>
              <a:highlight>
                <a:srgbClr val="FFFFFF"/>
              </a:highlight>
              <a:latin typeface="Roboto"/>
              <a:ea typeface="Roboto"/>
              <a:cs typeface="Roboto"/>
              <a:sym typeface="Roboto"/>
            </a:endParaRPr>
          </a:p>
          <a:p>
            <a:pPr marL="457200" lvl="0" indent="-365125" algn="just" rtl="0">
              <a:spcBef>
                <a:spcPts val="0"/>
              </a:spcBef>
              <a:spcAft>
                <a:spcPts val="0"/>
              </a:spcAft>
              <a:buClr>
                <a:srgbClr val="333333"/>
              </a:buClr>
              <a:buSzPts val="2150"/>
              <a:buFont typeface="Roboto"/>
              <a:buChar char="●"/>
            </a:pPr>
            <a:r>
              <a:rPr lang="en-GB" sz="2150">
                <a:solidFill>
                  <a:srgbClr val="333333"/>
                </a:solidFill>
                <a:highlight>
                  <a:srgbClr val="FFFFFF"/>
                </a:highlight>
                <a:latin typeface="Roboto"/>
                <a:ea typeface="Roboto"/>
                <a:cs typeface="Roboto"/>
                <a:sym typeface="Roboto"/>
              </a:rPr>
              <a:t>It explains the aims and objects of the investigation and may remove misunderstandings, if any have come up. </a:t>
            </a:r>
            <a:endParaRPr sz="2150">
              <a:solidFill>
                <a:srgbClr val="333333"/>
              </a:solidFill>
              <a:highlight>
                <a:srgbClr val="FFFFFF"/>
              </a:highlight>
              <a:latin typeface="Roboto"/>
              <a:ea typeface="Roboto"/>
              <a:cs typeface="Roboto"/>
              <a:sym typeface="Roboto"/>
            </a:endParaRPr>
          </a:p>
          <a:p>
            <a:pPr marL="457200" lvl="0" indent="-365125" algn="just" rtl="0">
              <a:spcBef>
                <a:spcPts val="0"/>
              </a:spcBef>
              <a:spcAft>
                <a:spcPts val="0"/>
              </a:spcAft>
              <a:buClr>
                <a:srgbClr val="333333"/>
              </a:buClr>
              <a:buSzPts val="2150"/>
              <a:buFont typeface="Roboto"/>
              <a:buChar char="●"/>
            </a:pPr>
            <a:r>
              <a:rPr lang="en-GB" sz="2150">
                <a:solidFill>
                  <a:srgbClr val="333333"/>
                </a:solidFill>
                <a:highlight>
                  <a:srgbClr val="FFFFFF"/>
                </a:highlight>
                <a:latin typeface="Roboto"/>
                <a:ea typeface="Roboto"/>
                <a:cs typeface="Roboto"/>
                <a:sym typeface="Roboto"/>
              </a:rPr>
              <a:t>Enumerators should be trained to perform their job with hard work and patience.</a:t>
            </a:r>
            <a:endParaRPr sz="290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Shape 703"/>
        <p:cNvGrpSpPr/>
        <p:nvPr/>
      </p:nvGrpSpPr>
      <p:grpSpPr>
        <a:xfrm>
          <a:off x="0" y="0"/>
          <a:ext cx="0" cy="0"/>
          <a:chOff x="0" y="0"/>
          <a:chExt cx="0" cy="0"/>
        </a:xfrm>
      </p:grpSpPr>
      <p:sp>
        <p:nvSpPr>
          <p:cNvPr id="704" name="Google Shape;704;g1f331929e45_0_33"/>
          <p:cNvSpPr txBox="1">
            <a:spLocks noGrp="1"/>
          </p:cNvSpPr>
          <p:nvPr>
            <p:ph type="title"/>
          </p:nvPr>
        </p:nvSpPr>
        <p:spPr>
          <a:xfrm>
            <a:off x="311760" y="410040"/>
            <a:ext cx="8520000" cy="6072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GB" sz="2100">
                <a:solidFill>
                  <a:schemeClr val="accent1"/>
                </a:solidFill>
              </a:rPr>
              <a:t>SOME OTHER METHODS OF DATA COLLECTION</a:t>
            </a:r>
            <a:endParaRPr sz="2100">
              <a:solidFill>
                <a:schemeClr val="accent1"/>
              </a:solidFill>
            </a:endParaRPr>
          </a:p>
        </p:txBody>
      </p:sp>
      <p:sp>
        <p:nvSpPr>
          <p:cNvPr id="705" name="Google Shape;705;g1f331929e45_0_33"/>
          <p:cNvSpPr txBox="1">
            <a:spLocks noGrp="1"/>
          </p:cNvSpPr>
          <p:nvPr>
            <p:ph type="body" idx="1"/>
          </p:nvPr>
        </p:nvSpPr>
        <p:spPr>
          <a:xfrm>
            <a:off x="311760" y="1229760"/>
            <a:ext cx="8520000" cy="3338700"/>
          </a:xfrm>
          <a:prstGeom prst="rect">
            <a:avLst/>
          </a:prstGeom>
        </p:spPr>
        <p:txBody>
          <a:bodyPr spcFirstLastPara="1" wrap="square" lIns="0" tIns="0" rIns="0" bIns="0" anchor="t" anchorCtr="0">
            <a:normAutofit/>
          </a:bodyPr>
          <a:lstStyle/>
          <a:p>
            <a:pPr marL="0" lvl="0" indent="0" algn="just" rtl="0">
              <a:spcBef>
                <a:spcPts val="0"/>
              </a:spcBef>
              <a:spcAft>
                <a:spcPts val="0"/>
              </a:spcAft>
              <a:buNone/>
            </a:pPr>
            <a:r>
              <a:rPr lang="en-GB" sz="2000">
                <a:solidFill>
                  <a:schemeClr val="accent3"/>
                </a:solidFill>
              </a:rPr>
              <a:t>Warranty cards: </a:t>
            </a:r>
            <a:endParaRPr sz="2000">
              <a:solidFill>
                <a:schemeClr val="accent3"/>
              </a:solidFill>
            </a:endParaRPr>
          </a:p>
          <a:p>
            <a:pPr marL="0" lvl="0" indent="0" algn="just" rtl="0">
              <a:spcBef>
                <a:spcPts val="0"/>
              </a:spcBef>
              <a:spcAft>
                <a:spcPts val="0"/>
              </a:spcAft>
              <a:buNone/>
            </a:pPr>
            <a:endParaRPr sz="2000">
              <a:solidFill>
                <a:schemeClr val="accent3"/>
              </a:solidFill>
            </a:endParaRPr>
          </a:p>
          <a:p>
            <a:pPr marL="457200" lvl="0" indent="-355600" algn="just" rtl="0">
              <a:spcBef>
                <a:spcPts val="0"/>
              </a:spcBef>
              <a:spcAft>
                <a:spcPts val="0"/>
              </a:spcAft>
              <a:buSzPts val="2000"/>
              <a:buChar char="●"/>
            </a:pPr>
            <a:r>
              <a:rPr lang="en-GB" sz="2000"/>
              <a:t>Warranty cards are usually postal sized cards which are used by dealers of consumer durables to collect information regarding their products.</a:t>
            </a:r>
            <a:endParaRPr sz="2000"/>
          </a:p>
          <a:p>
            <a:pPr marL="457200" lvl="0" indent="0" algn="just" rtl="0">
              <a:spcBef>
                <a:spcPts val="0"/>
              </a:spcBef>
              <a:spcAft>
                <a:spcPts val="0"/>
              </a:spcAft>
              <a:buNone/>
            </a:pPr>
            <a:endParaRPr sz="2000"/>
          </a:p>
          <a:p>
            <a:pPr marL="457200" lvl="0" indent="-355600" algn="just" rtl="0">
              <a:spcBef>
                <a:spcPts val="0"/>
              </a:spcBef>
              <a:spcAft>
                <a:spcPts val="0"/>
              </a:spcAft>
              <a:buSzPts val="2000"/>
              <a:buChar char="●"/>
            </a:pPr>
            <a:r>
              <a:rPr lang="en-GB" sz="2000"/>
              <a:t>The information sought is printed in the form of questions on the ‘warranty cards’ which is placed inside the package along with the product with a request to the consumer to fill in the card and post it back to the dealer.</a:t>
            </a:r>
            <a:endParaRPr sz="2000"/>
          </a:p>
          <a:p>
            <a:pPr marL="0" lvl="0" indent="0" algn="l" rtl="0">
              <a:spcBef>
                <a:spcPts val="0"/>
              </a:spcBef>
              <a:spcAft>
                <a:spcPts val="0"/>
              </a:spcAft>
              <a:buNone/>
            </a:pPr>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Shape 709"/>
        <p:cNvGrpSpPr/>
        <p:nvPr/>
      </p:nvGrpSpPr>
      <p:grpSpPr>
        <a:xfrm>
          <a:off x="0" y="0"/>
          <a:ext cx="0" cy="0"/>
          <a:chOff x="0" y="0"/>
          <a:chExt cx="0" cy="0"/>
        </a:xfrm>
      </p:grpSpPr>
      <p:sp>
        <p:nvSpPr>
          <p:cNvPr id="710" name="Google Shape;710;g1f331929e45_0_40"/>
          <p:cNvSpPr txBox="1">
            <a:spLocks noGrp="1"/>
          </p:cNvSpPr>
          <p:nvPr>
            <p:ph type="title"/>
          </p:nvPr>
        </p:nvSpPr>
        <p:spPr>
          <a:xfrm>
            <a:off x="311760" y="410040"/>
            <a:ext cx="8520000" cy="607200"/>
          </a:xfrm>
          <a:prstGeom prst="rect">
            <a:avLst/>
          </a:prstGeom>
        </p:spPr>
        <p:txBody>
          <a:bodyPr spcFirstLastPara="1" wrap="square" lIns="0" tIns="0" rIns="0" bIns="0" anchor="ctr" anchorCtr="0">
            <a:noAutofit/>
          </a:bodyPr>
          <a:lstStyle/>
          <a:p>
            <a:pPr marL="0" lvl="0" indent="0" algn="l" rtl="0">
              <a:spcBef>
                <a:spcPts val="0"/>
              </a:spcBef>
              <a:spcAft>
                <a:spcPts val="0"/>
              </a:spcAft>
              <a:buClr>
                <a:schemeClr val="dk1"/>
              </a:buClr>
              <a:buSzPts val="1100"/>
              <a:buFont typeface="Arial"/>
              <a:buNone/>
            </a:pPr>
            <a:r>
              <a:rPr lang="en-GB" sz="2100">
                <a:solidFill>
                  <a:schemeClr val="accent1"/>
                </a:solidFill>
              </a:rPr>
              <a:t>SOME OTHER METHODS OF DATA COLLECTION</a:t>
            </a:r>
            <a:endParaRPr sz="2100">
              <a:solidFill>
                <a:schemeClr val="accent1"/>
              </a:solidFill>
            </a:endParaRPr>
          </a:p>
          <a:p>
            <a:pPr marL="0" lvl="0" indent="0" algn="l" rtl="0">
              <a:spcBef>
                <a:spcPts val="0"/>
              </a:spcBef>
              <a:spcAft>
                <a:spcPts val="0"/>
              </a:spcAft>
              <a:buNone/>
            </a:pPr>
            <a:endParaRPr/>
          </a:p>
        </p:txBody>
      </p:sp>
      <p:sp>
        <p:nvSpPr>
          <p:cNvPr id="711" name="Google Shape;711;g1f331929e45_0_40"/>
          <p:cNvSpPr txBox="1">
            <a:spLocks noGrp="1"/>
          </p:cNvSpPr>
          <p:nvPr>
            <p:ph type="body" idx="1"/>
          </p:nvPr>
        </p:nvSpPr>
        <p:spPr>
          <a:xfrm>
            <a:off x="311760" y="1229760"/>
            <a:ext cx="8520000" cy="3338700"/>
          </a:xfrm>
          <a:prstGeom prst="rect">
            <a:avLst/>
          </a:prstGeom>
        </p:spPr>
        <p:txBody>
          <a:bodyPr spcFirstLastPara="1" wrap="square" lIns="0" tIns="0" rIns="0" bIns="0" anchor="t" anchorCtr="0">
            <a:normAutofit/>
          </a:bodyPr>
          <a:lstStyle/>
          <a:p>
            <a:pPr marL="0" lvl="0" indent="0" algn="just" rtl="0">
              <a:spcBef>
                <a:spcPts val="0"/>
              </a:spcBef>
              <a:spcAft>
                <a:spcPts val="0"/>
              </a:spcAft>
              <a:buNone/>
            </a:pPr>
            <a:r>
              <a:rPr lang="en-GB" sz="2100">
                <a:solidFill>
                  <a:schemeClr val="accent3"/>
                </a:solidFill>
              </a:rPr>
              <a:t>Distributor or store audits: </a:t>
            </a:r>
            <a:endParaRPr sz="2100">
              <a:solidFill>
                <a:schemeClr val="accent3"/>
              </a:solidFill>
            </a:endParaRPr>
          </a:p>
          <a:p>
            <a:pPr marL="0" lvl="0" indent="0" algn="just" rtl="0">
              <a:spcBef>
                <a:spcPts val="0"/>
              </a:spcBef>
              <a:spcAft>
                <a:spcPts val="0"/>
              </a:spcAft>
              <a:buNone/>
            </a:pPr>
            <a:endParaRPr sz="2100">
              <a:solidFill>
                <a:schemeClr val="accent3"/>
              </a:solidFill>
            </a:endParaRPr>
          </a:p>
          <a:p>
            <a:pPr marL="457200" lvl="0" indent="-361950" algn="just" rtl="0">
              <a:spcBef>
                <a:spcPts val="0"/>
              </a:spcBef>
              <a:spcAft>
                <a:spcPts val="0"/>
              </a:spcAft>
              <a:buSzPts val="2100"/>
              <a:buChar char="●"/>
            </a:pPr>
            <a:r>
              <a:rPr lang="en-GB" sz="2100"/>
              <a:t>Distributor or store audits are performed by distributors as well as manufactures through their salesmen at regular intervals. </a:t>
            </a:r>
            <a:endParaRPr sz="2100"/>
          </a:p>
          <a:p>
            <a:pPr marL="457200" lvl="0" indent="0" algn="just" rtl="0">
              <a:spcBef>
                <a:spcPts val="0"/>
              </a:spcBef>
              <a:spcAft>
                <a:spcPts val="0"/>
              </a:spcAft>
              <a:buNone/>
            </a:pPr>
            <a:endParaRPr sz="2100"/>
          </a:p>
          <a:p>
            <a:pPr marL="457200" lvl="0" indent="-361950" algn="just" rtl="0">
              <a:spcBef>
                <a:spcPts val="0"/>
              </a:spcBef>
              <a:spcAft>
                <a:spcPts val="0"/>
              </a:spcAft>
              <a:buSzPts val="2100"/>
              <a:buChar char="●"/>
            </a:pPr>
            <a:r>
              <a:rPr lang="en-GB" sz="2100"/>
              <a:t>Distributors get the retail stores audited through salesmen and use such information to estimate market size, market share, seasonal purchasing pattern and so on.</a:t>
            </a:r>
            <a:endParaRPr sz="2100"/>
          </a:p>
          <a:p>
            <a:pPr marL="0" lvl="0" indent="0" algn="l" rtl="0">
              <a:spcBef>
                <a:spcPts val="0"/>
              </a:spcBef>
              <a:spcAft>
                <a:spcPts val="0"/>
              </a:spcAft>
              <a:buNone/>
            </a:pPr>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Shape 715"/>
        <p:cNvGrpSpPr/>
        <p:nvPr/>
      </p:nvGrpSpPr>
      <p:grpSpPr>
        <a:xfrm>
          <a:off x="0" y="0"/>
          <a:ext cx="0" cy="0"/>
          <a:chOff x="0" y="0"/>
          <a:chExt cx="0" cy="0"/>
        </a:xfrm>
      </p:grpSpPr>
      <p:sp>
        <p:nvSpPr>
          <p:cNvPr id="716" name="Google Shape;716;g1f331929e45_0_46"/>
          <p:cNvSpPr txBox="1">
            <a:spLocks noGrp="1"/>
          </p:cNvSpPr>
          <p:nvPr>
            <p:ph type="title"/>
          </p:nvPr>
        </p:nvSpPr>
        <p:spPr>
          <a:xfrm>
            <a:off x="311760" y="410040"/>
            <a:ext cx="8520000" cy="6072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GB" sz="2100">
                <a:solidFill>
                  <a:schemeClr val="accent1"/>
                </a:solidFill>
              </a:rPr>
              <a:t>SOME OTHER METHODS OF DATA COLLECTION</a:t>
            </a:r>
            <a:endParaRPr/>
          </a:p>
        </p:txBody>
      </p:sp>
      <p:sp>
        <p:nvSpPr>
          <p:cNvPr id="717" name="Google Shape;717;g1f331929e45_0_46"/>
          <p:cNvSpPr txBox="1">
            <a:spLocks noGrp="1"/>
          </p:cNvSpPr>
          <p:nvPr>
            <p:ph type="body" idx="1"/>
          </p:nvPr>
        </p:nvSpPr>
        <p:spPr>
          <a:xfrm>
            <a:off x="311760" y="1229760"/>
            <a:ext cx="8520000" cy="3338700"/>
          </a:xfrm>
          <a:prstGeom prst="rect">
            <a:avLst/>
          </a:prstGeom>
        </p:spPr>
        <p:txBody>
          <a:bodyPr spcFirstLastPara="1" wrap="square" lIns="0" tIns="0" rIns="0" bIns="0" anchor="t" anchorCtr="0">
            <a:normAutofit lnSpcReduction="10000"/>
          </a:bodyPr>
          <a:lstStyle/>
          <a:p>
            <a:pPr marL="0" lvl="0" indent="0" algn="l" rtl="0">
              <a:spcBef>
                <a:spcPts val="0"/>
              </a:spcBef>
              <a:spcAft>
                <a:spcPts val="0"/>
              </a:spcAft>
              <a:buNone/>
            </a:pPr>
            <a:r>
              <a:rPr lang="en-GB" sz="2000">
                <a:solidFill>
                  <a:schemeClr val="accent3"/>
                </a:solidFill>
              </a:rPr>
              <a:t>Pantry audits: </a:t>
            </a:r>
            <a:endParaRPr sz="2000">
              <a:solidFill>
                <a:schemeClr val="accent3"/>
              </a:solidFill>
            </a:endParaRPr>
          </a:p>
          <a:p>
            <a:pPr marL="0" lvl="0" indent="0" algn="l" rtl="0">
              <a:spcBef>
                <a:spcPts val="0"/>
              </a:spcBef>
              <a:spcAft>
                <a:spcPts val="0"/>
              </a:spcAft>
              <a:buNone/>
            </a:pPr>
            <a:endParaRPr sz="2000">
              <a:solidFill>
                <a:schemeClr val="accent3"/>
              </a:solidFill>
            </a:endParaRPr>
          </a:p>
          <a:p>
            <a:pPr marL="457200" lvl="0" indent="-355600" algn="l" rtl="0">
              <a:spcBef>
                <a:spcPts val="0"/>
              </a:spcBef>
              <a:spcAft>
                <a:spcPts val="0"/>
              </a:spcAft>
              <a:buSzPts val="2000"/>
              <a:buChar char="●"/>
            </a:pPr>
            <a:r>
              <a:rPr lang="en-GB" sz="2000"/>
              <a:t>Pantry audit technique is used to estimate consumption of the basket of goods at the consumer level. </a:t>
            </a:r>
            <a:endParaRPr sz="2000"/>
          </a:p>
          <a:p>
            <a:pPr marL="457200" lvl="0" indent="-355600" algn="l" rtl="0">
              <a:spcBef>
                <a:spcPts val="0"/>
              </a:spcBef>
              <a:spcAft>
                <a:spcPts val="0"/>
              </a:spcAft>
              <a:buSzPts val="2000"/>
              <a:buChar char="●"/>
            </a:pPr>
            <a:r>
              <a:rPr lang="en-GB" sz="2000"/>
              <a:t>In this type of audit, the investigator collects an inventory of types, quantities and prices of commodities consumed. </a:t>
            </a:r>
            <a:endParaRPr sz="2000"/>
          </a:p>
          <a:p>
            <a:pPr marL="457200" lvl="0" indent="-355600" algn="l" rtl="0">
              <a:spcBef>
                <a:spcPts val="0"/>
              </a:spcBef>
              <a:spcAft>
                <a:spcPts val="0"/>
              </a:spcAft>
              <a:buSzPts val="2000"/>
              <a:buChar char="●"/>
            </a:pPr>
            <a:r>
              <a:rPr lang="en-GB" sz="2000"/>
              <a:t>Thus in pantry audit data are recorded from the examination of consumer’s pantry. </a:t>
            </a:r>
            <a:endParaRPr sz="2000"/>
          </a:p>
          <a:p>
            <a:pPr marL="457200" lvl="0" indent="-355600" algn="l" rtl="0">
              <a:spcBef>
                <a:spcPts val="0"/>
              </a:spcBef>
              <a:spcAft>
                <a:spcPts val="0"/>
              </a:spcAft>
              <a:buSzPts val="2000"/>
              <a:buChar char="●"/>
            </a:pPr>
            <a:r>
              <a:rPr lang="en-GB" sz="2000"/>
              <a:t>The usual objective in a pantry audit is to find out what types of consumers buy certain products and certain brands, the assumption being that the contents of the pantry accurately portray consumer’s preferences.</a:t>
            </a:r>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Shape 721"/>
        <p:cNvGrpSpPr/>
        <p:nvPr/>
      </p:nvGrpSpPr>
      <p:grpSpPr>
        <a:xfrm>
          <a:off x="0" y="0"/>
          <a:ext cx="0" cy="0"/>
          <a:chOff x="0" y="0"/>
          <a:chExt cx="0" cy="0"/>
        </a:xfrm>
      </p:grpSpPr>
      <p:sp>
        <p:nvSpPr>
          <p:cNvPr id="722" name="Google Shape;722;g1f331929e45_0_51"/>
          <p:cNvSpPr txBox="1">
            <a:spLocks noGrp="1"/>
          </p:cNvSpPr>
          <p:nvPr>
            <p:ph type="title"/>
          </p:nvPr>
        </p:nvSpPr>
        <p:spPr>
          <a:xfrm>
            <a:off x="311760" y="410040"/>
            <a:ext cx="8520000" cy="6072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GB" sz="2100">
                <a:solidFill>
                  <a:schemeClr val="accent1"/>
                </a:solidFill>
              </a:rPr>
              <a:t>SOME OTHER METHODS OF DATA COLLECTION</a:t>
            </a:r>
            <a:endParaRPr/>
          </a:p>
        </p:txBody>
      </p:sp>
      <p:sp>
        <p:nvSpPr>
          <p:cNvPr id="723" name="Google Shape;723;g1f331929e45_0_51"/>
          <p:cNvSpPr txBox="1">
            <a:spLocks noGrp="1"/>
          </p:cNvSpPr>
          <p:nvPr>
            <p:ph type="body" idx="1"/>
          </p:nvPr>
        </p:nvSpPr>
        <p:spPr>
          <a:xfrm>
            <a:off x="311760" y="1229760"/>
            <a:ext cx="8520000" cy="3338700"/>
          </a:xfrm>
          <a:prstGeom prst="rect">
            <a:avLst/>
          </a:prstGeom>
        </p:spPr>
        <p:txBody>
          <a:bodyPr spcFirstLastPara="1" wrap="square" lIns="0" tIns="0" rIns="0" bIns="0" anchor="t" anchorCtr="0">
            <a:normAutofit/>
          </a:bodyPr>
          <a:lstStyle/>
          <a:p>
            <a:pPr marL="0" lvl="0" indent="0" algn="just" rtl="0">
              <a:spcBef>
                <a:spcPts val="0"/>
              </a:spcBef>
              <a:spcAft>
                <a:spcPts val="0"/>
              </a:spcAft>
              <a:buNone/>
            </a:pPr>
            <a:r>
              <a:rPr lang="en-GB" sz="2100">
                <a:solidFill>
                  <a:schemeClr val="accent3"/>
                </a:solidFill>
              </a:rPr>
              <a:t>Consumer panels: </a:t>
            </a:r>
            <a:endParaRPr sz="2100">
              <a:solidFill>
                <a:schemeClr val="accent3"/>
              </a:solidFill>
            </a:endParaRPr>
          </a:p>
          <a:p>
            <a:pPr marL="457200" lvl="0" indent="-361950" algn="just" rtl="0">
              <a:spcBef>
                <a:spcPts val="0"/>
              </a:spcBef>
              <a:spcAft>
                <a:spcPts val="0"/>
              </a:spcAft>
              <a:buSzPts val="2100"/>
              <a:buChar char="●"/>
            </a:pPr>
            <a:r>
              <a:rPr lang="en-GB" sz="2100"/>
              <a:t>An extension of the pantry audit approach on a regular basis is known as ‘consumer panel’, where a set of consumers are arranged to come to an understanding to maintain detailed daily records of their consumption and the same is made available to investigator on demands.</a:t>
            </a:r>
            <a:endParaRPr sz="2100"/>
          </a:p>
          <a:p>
            <a:pPr marL="457200" lvl="0" indent="-361950" algn="just" rtl="0">
              <a:spcBef>
                <a:spcPts val="0"/>
              </a:spcBef>
              <a:spcAft>
                <a:spcPts val="0"/>
              </a:spcAft>
              <a:buSzPts val="2100"/>
              <a:buChar char="●"/>
            </a:pPr>
            <a:r>
              <a:rPr lang="en-GB" sz="2100"/>
              <a:t>In other words, a consumer panel is essentially a sample of consumers who are interviewed repeatedly over a period of time.</a:t>
            </a:r>
            <a:endParaRPr sz="2100"/>
          </a:p>
          <a:p>
            <a:pPr marL="0" lvl="0" indent="0" algn="l" rtl="0">
              <a:spcBef>
                <a:spcPts val="0"/>
              </a:spcBef>
              <a:spcAft>
                <a:spcPts val="0"/>
              </a:spcAft>
              <a:buNone/>
            </a:pPr>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Shape 727"/>
        <p:cNvGrpSpPr/>
        <p:nvPr/>
      </p:nvGrpSpPr>
      <p:grpSpPr>
        <a:xfrm>
          <a:off x="0" y="0"/>
          <a:ext cx="0" cy="0"/>
          <a:chOff x="0" y="0"/>
          <a:chExt cx="0" cy="0"/>
        </a:xfrm>
      </p:grpSpPr>
      <p:sp>
        <p:nvSpPr>
          <p:cNvPr id="728" name="Google Shape;728;g1f331929e45_0_63"/>
          <p:cNvSpPr txBox="1">
            <a:spLocks noGrp="1"/>
          </p:cNvSpPr>
          <p:nvPr>
            <p:ph type="title"/>
          </p:nvPr>
        </p:nvSpPr>
        <p:spPr>
          <a:xfrm>
            <a:off x="311760" y="410040"/>
            <a:ext cx="8520000" cy="6072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729" name="Google Shape;729;g1f331929e45_0_63"/>
          <p:cNvSpPr txBox="1">
            <a:spLocks noGrp="1"/>
          </p:cNvSpPr>
          <p:nvPr>
            <p:ph type="body" idx="1"/>
          </p:nvPr>
        </p:nvSpPr>
        <p:spPr>
          <a:xfrm>
            <a:off x="311750" y="410048"/>
            <a:ext cx="8520000" cy="4158300"/>
          </a:xfrm>
          <a:prstGeom prst="rect">
            <a:avLst/>
          </a:prstGeom>
        </p:spPr>
        <p:txBody>
          <a:bodyPr spcFirstLastPara="1" wrap="square" lIns="0" tIns="0" rIns="0" bIns="0" anchor="t" anchorCtr="0">
            <a:normAutofit/>
          </a:bodyPr>
          <a:lstStyle/>
          <a:p>
            <a:pPr marL="457200" lvl="0" indent="-317500" algn="just" rtl="0">
              <a:spcBef>
                <a:spcPts val="0"/>
              </a:spcBef>
              <a:spcAft>
                <a:spcPts val="0"/>
              </a:spcAft>
              <a:buSzPts val="1400"/>
              <a:buChar char="●"/>
            </a:pPr>
            <a:r>
              <a:rPr lang="en-GB"/>
              <a:t>A t</a:t>
            </a:r>
            <a:r>
              <a:rPr lang="en-GB">
                <a:solidFill>
                  <a:schemeClr val="accent3"/>
                </a:solidFill>
              </a:rPr>
              <a:t>ransitory consumer panel </a:t>
            </a:r>
            <a:r>
              <a:rPr lang="en-GB"/>
              <a:t>is set up to measure the effect of a particular phenomenon. </a:t>
            </a:r>
            <a:endParaRPr/>
          </a:p>
          <a:p>
            <a:pPr marL="457200" lvl="0" indent="-317500" algn="just" rtl="0">
              <a:spcBef>
                <a:spcPts val="0"/>
              </a:spcBef>
              <a:spcAft>
                <a:spcPts val="0"/>
              </a:spcAft>
              <a:buSzPts val="1400"/>
              <a:buChar char="●"/>
            </a:pPr>
            <a:r>
              <a:rPr lang="en-GB"/>
              <a:t>Usually such a panel is conducted on a before-and-after-basis. Initial interviews</a:t>
            </a:r>
            <a:endParaRPr/>
          </a:p>
          <a:p>
            <a:pPr marL="457200" lvl="0" indent="0" algn="just" rtl="0">
              <a:spcBef>
                <a:spcPts val="0"/>
              </a:spcBef>
              <a:spcAft>
                <a:spcPts val="0"/>
              </a:spcAft>
              <a:buNone/>
            </a:pPr>
            <a:r>
              <a:rPr lang="en-GB"/>
              <a:t>are conducted before the phenomenon takes place to record the attitude of the consumer. </a:t>
            </a:r>
            <a:endParaRPr/>
          </a:p>
          <a:p>
            <a:pPr marL="457200" lvl="0" indent="0" algn="just" rtl="0">
              <a:spcBef>
                <a:spcPts val="0"/>
              </a:spcBef>
              <a:spcAft>
                <a:spcPts val="0"/>
              </a:spcAft>
              <a:buNone/>
            </a:pPr>
            <a:r>
              <a:rPr lang="en-GB"/>
              <a:t>A second set of interviews is carried out after the phenomenon has taken place to find out the consequent changes that might have occurred in the consumer’s attitude. </a:t>
            </a:r>
            <a:endParaRPr/>
          </a:p>
          <a:p>
            <a:pPr marL="457200" lvl="0" indent="0" algn="just" rtl="0">
              <a:spcBef>
                <a:spcPts val="0"/>
              </a:spcBef>
              <a:spcAft>
                <a:spcPts val="0"/>
              </a:spcAft>
              <a:buNone/>
            </a:pPr>
            <a:r>
              <a:rPr lang="en-GB"/>
              <a:t>It is a favourite tool of advertising and of social research. </a:t>
            </a:r>
            <a:endParaRPr/>
          </a:p>
          <a:p>
            <a:pPr marL="457200" lvl="0" indent="-317500" algn="just" rtl="0">
              <a:spcBef>
                <a:spcPts val="0"/>
              </a:spcBef>
              <a:spcAft>
                <a:spcPts val="0"/>
              </a:spcAft>
              <a:buSzPts val="1400"/>
              <a:buChar char="●"/>
            </a:pPr>
            <a:r>
              <a:rPr lang="en-GB"/>
              <a:t>A </a:t>
            </a:r>
            <a:r>
              <a:rPr lang="en-GB">
                <a:solidFill>
                  <a:schemeClr val="accent3"/>
                </a:solidFill>
              </a:rPr>
              <a:t>continuing consumer panel </a:t>
            </a:r>
            <a:r>
              <a:rPr lang="en-GB"/>
              <a:t>is often set up for an indefinite period with a view</a:t>
            </a:r>
            <a:endParaRPr/>
          </a:p>
          <a:p>
            <a:pPr marL="457200" lvl="0" indent="0" algn="just" rtl="0">
              <a:spcBef>
                <a:spcPts val="0"/>
              </a:spcBef>
              <a:spcAft>
                <a:spcPts val="0"/>
              </a:spcAft>
              <a:buNone/>
            </a:pPr>
            <a:r>
              <a:rPr lang="en-GB"/>
              <a:t>to collect data on a particular aspect of consumer behaviour over time, generally at periodic intervals or may be meant to serve as a general purpose panel for researchers on a variety of subjects. </a:t>
            </a:r>
            <a:endParaRPr/>
          </a:p>
          <a:p>
            <a:pPr marL="457200" lvl="0" indent="0" algn="just" rtl="0">
              <a:spcBef>
                <a:spcPts val="0"/>
              </a:spcBef>
              <a:spcAft>
                <a:spcPts val="0"/>
              </a:spcAft>
              <a:buNone/>
            </a:pPr>
            <a:r>
              <a:rPr lang="en-GB"/>
              <a:t>Such panels have been used in the area of consumer expenditure, public opinion and radio and TV listenership</a:t>
            </a:r>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Shape 733"/>
        <p:cNvGrpSpPr/>
        <p:nvPr/>
      </p:nvGrpSpPr>
      <p:grpSpPr>
        <a:xfrm>
          <a:off x="0" y="0"/>
          <a:ext cx="0" cy="0"/>
          <a:chOff x="0" y="0"/>
          <a:chExt cx="0" cy="0"/>
        </a:xfrm>
      </p:grpSpPr>
      <p:sp>
        <p:nvSpPr>
          <p:cNvPr id="734" name="Google Shape;734;g1f331929e45_0_57"/>
          <p:cNvSpPr txBox="1">
            <a:spLocks noGrp="1"/>
          </p:cNvSpPr>
          <p:nvPr>
            <p:ph type="title"/>
          </p:nvPr>
        </p:nvSpPr>
        <p:spPr>
          <a:xfrm>
            <a:off x="311760" y="410040"/>
            <a:ext cx="8520000" cy="6072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GB" sz="2100">
                <a:solidFill>
                  <a:schemeClr val="accent1"/>
                </a:solidFill>
              </a:rPr>
              <a:t>SOME OTHER METHODS OF DATA COLLECTION</a:t>
            </a:r>
            <a:endParaRPr/>
          </a:p>
        </p:txBody>
      </p:sp>
      <p:sp>
        <p:nvSpPr>
          <p:cNvPr id="735" name="Google Shape;735;g1f331929e45_0_57"/>
          <p:cNvSpPr txBox="1">
            <a:spLocks noGrp="1"/>
          </p:cNvSpPr>
          <p:nvPr>
            <p:ph type="body" idx="1"/>
          </p:nvPr>
        </p:nvSpPr>
        <p:spPr>
          <a:xfrm>
            <a:off x="311760" y="1229760"/>
            <a:ext cx="8520000" cy="3338700"/>
          </a:xfrm>
          <a:prstGeom prst="rect">
            <a:avLst/>
          </a:prstGeom>
        </p:spPr>
        <p:txBody>
          <a:bodyPr spcFirstLastPara="1" wrap="square" lIns="0" tIns="0" rIns="0" bIns="0" anchor="t" anchorCtr="0">
            <a:normAutofit/>
          </a:bodyPr>
          <a:lstStyle/>
          <a:p>
            <a:pPr marL="0" lvl="0" indent="0" algn="just" rtl="0">
              <a:spcBef>
                <a:spcPts val="0"/>
              </a:spcBef>
              <a:spcAft>
                <a:spcPts val="0"/>
              </a:spcAft>
              <a:buNone/>
            </a:pPr>
            <a:r>
              <a:rPr lang="en-GB" sz="2200">
                <a:solidFill>
                  <a:schemeClr val="accent3"/>
                </a:solidFill>
              </a:rPr>
              <a:t>Use of mechanical devices: </a:t>
            </a:r>
            <a:endParaRPr sz="2200">
              <a:solidFill>
                <a:schemeClr val="accent3"/>
              </a:solidFill>
            </a:endParaRPr>
          </a:p>
          <a:p>
            <a:pPr marL="457200" lvl="0" indent="-368300" algn="just" rtl="0">
              <a:spcBef>
                <a:spcPts val="0"/>
              </a:spcBef>
              <a:spcAft>
                <a:spcPts val="0"/>
              </a:spcAft>
              <a:buSzPts val="2200"/>
              <a:buChar char="●"/>
            </a:pPr>
            <a:r>
              <a:rPr lang="en-GB" sz="2200"/>
              <a:t>The use of mechanical devices has been widely made to collect information by way of indirect means. Eye camera, Pupilometric camera, Psychogalvanometer,</a:t>
            </a:r>
            <a:endParaRPr sz="2200"/>
          </a:p>
          <a:p>
            <a:pPr marL="457200" lvl="0" indent="-368300" algn="just" rtl="0">
              <a:spcBef>
                <a:spcPts val="0"/>
              </a:spcBef>
              <a:spcAft>
                <a:spcPts val="0"/>
              </a:spcAft>
              <a:buSzPts val="2200"/>
              <a:buChar char="●"/>
            </a:pPr>
            <a:r>
              <a:rPr lang="en-GB" sz="2200"/>
              <a:t>Motion picture camera and Audiometer are the principal devices so far developed and commonly used by modern big business houses, mostly in the developed world for the purpose of collecting the required information.</a:t>
            </a:r>
            <a:endParaRPr sz="2200"/>
          </a:p>
          <a:p>
            <a:pPr marL="0" lvl="0" indent="0" algn="l" rtl="0">
              <a:spcBef>
                <a:spcPts val="0"/>
              </a:spcBef>
              <a:spcAft>
                <a:spcPts val="0"/>
              </a:spcAft>
              <a:buNone/>
            </a:pPr>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Shape 739"/>
        <p:cNvGrpSpPr/>
        <p:nvPr/>
      </p:nvGrpSpPr>
      <p:grpSpPr>
        <a:xfrm>
          <a:off x="0" y="0"/>
          <a:ext cx="0" cy="0"/>
          <a:chOff x="0" y="0"/>
          <a:chExt cx="0" cy="0"/>
        </a:xfrm>
      </p:grpSpPr>
      <p:sp>
        <p:nvSpPr>
          <p:cNvPr id="740" name="Google Shape;740;g1f331929e45_0_70"/>
          <p:cNvSpPr txBox="1">
            <a:spLocks noGrp="1"/>
          </p:cNvSpPr>
          <p:nvPr>
            <p:ph type="title"/>
          </p:nvPr>
        </p:nvSpPr>
        <p:spPr>
          <a:xfrm>
            <a:off x="311760" y="410040"/>
            <a:ext cx="8520000" cy="6072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GB" sz="2100">
                <a:solidFill>
                  <a:schemeClr val="accent1"/>
                </a:solidFill>
              </a:rPr>
              <a:t>SOME OTHER METHODS OF DATA COLLECTION</a:t>
            </a:r>
            <a:endParaRPr/>
          </a:p>
        </p:txBody>
      </p:sp>
      <p:sp>
        <p:nvSpPr>
          <p:cNvPr id="741" name="Google Shape;741;g1f331929e45_0_70"/>
          <p:cNvSpPr txBox="1">
            <a:spLocks noGrp="1"/>
          </p:cNvSpPr>
          <p:nvPr>
            <p:ph type="body" idx="1"/>
          </p:nvPr>
        </p:nvSpPr>
        <p:spPr>
          <a:xfrm>
            <a:off x="311760" y="1229760"/>
            <a:ext cx="8520000" cy="3338700"/>
          </a:xfrm>
          <a:prstGeom prst="rect">
            <a:avLst/>
          </a:prstGeom>
        </p:spPr>
        <p:txBody>
          <a:bodyPr spcFirstLastPara="1" wrap="square" lIns="0" tIns="0" rIns="0" bIns="0" anchor="t" anchorCtr="0">
            <a:normAutofit fontScale="92500" lnSpcReduction="20000"/>
          </a:bodyPr>
          <a:lstStyle/>
          <a:p>
            <a:pPr marL="0" lvl="0" indent="0" algn="just" rtl="0">
              <a:spcBef>
                <a:spcPts val="0"/>
              </a:spcBef>
              <a:spcAft>
                <a:spcPts val="0"/>
              </a:spcAft>
              <a:buNone/>
            </a:pPr>
            <a:r>
              <a:rPr lang="en-GB" sz="2200">
                <a:solidFill>
                  <a:schemeClr val="accent3"/>
                </a:solidFill>
              </a:rPr>
              <a:t>Projective techniques: </a:t>
            </a:r>
            <a:endParaRPr sz="2200">
              <a:solidFill>
                <a:schemeClr val="accent3"/>
              </a:solidFill>
            </a:endParaRPr>
          </a:p>
          <a:p>
            <a:pPr marL="457200" lvl="0" indent="-347345" algn="just" rtl="0">
              <a:spcBef>
                <a:spcPts val="0"/>
              </a:spcBef>
              <a:spcAft>
                <a:spcPts val="0"/>
              </a:spcAft>
              <a:buClr>
                <a:schemeClr val="dk1"/>
              </a:buClr>
              <a:buSzPct val="100000"/>
              <a:buChar char="●"/>
            </a:pPr>
            <a:r>
              <a:rPr lang="en-GB" sz="2200">
                <a:solidFill>
                  <a:schemeClr val="dk1"/>
                </a:solidFill>
              </a:rPr>
              <a:t>Projective techniques (or what are sometimes called as indirect interviewing techniques) for the collection of data have been developed by psychologists to use projections of respondents for inferring about underlying motives, urges, or intentions which are such that the respondent either resists to reveal them or is unable to figure out himself. </a:t>
            </a:r>
            <a:endParaRPr sz="2200">
              <a:solidFill>
                <a:schemeClr val="dk1"/>
              </a:solidFill>
            </a:endParaRPr>
          </a:p>
          <a:p>
            <a:pPr marL="457200" lvl="0" indent="-347345" algn="just" rtl="0">
              <a:spcBef>
                <a:spcPts val="0"/>
              </a:spcBef>
              <a:spcAft>
                <a:spcPts val="0"/>
              </a:spcAft>
              <a:buClr>
                <a:schemeClr val="dk1"/>
              </a:buClr>
              <a:buSzPct val="100000"/>
              <a:buChar char="●"/>
            </a:pPr>
            <a:r>
              <a:rPr lang="en-GB" sz="2200">
                <a:solidFill>
                  <a:schemeClr val="dk1"/>
                </a:solidFill>
              </a:rPr>
              <a:t>In projective techniques the respondent in supplying information tends unconsciously to project his own attitudes or feelings on the subject under study. </a:t>
            </a:r>
            <a:endParaRPr sz="2200">
              <a:solidFill>
                <a:schemeClr val="dk1"/>
              </a:solidFill>
            </a:endParaRPr>
          </a:p>
          <a:p>
            <a:pPr marL="457200" lvl="0" indent="-347345" algn="just" rtl="0">
              <a:spcBef>
                <a:spcPts val="0"/>
              </a:spcBef>
              <a:spcAft>
                <a:spcPts val="0"/>
              </a:spcAft>
              <a:buClr>
                <a:schemeClr val="dk1"/>
              </a:buClr>
              <a:buSzPct val="100000"/>
              <a:buChar char="●"/>
            </a:pPr>
            <a:r>
              <a:rPr lang="en-GB" sz="2200">
                <a:solidFill>
                  <a:schemeClr val="dk1"/>
                </a:solidFill>
              </a:rPr>
              <a:t>Projective techniques play an important role in motivational researches or in attitude surveys.</a:t>
            </a:r>
            <a:endParaRPr sz="2200">
              <a:solidFill>
                <a:schemeClr val="dk1"/>
              </a:solidFill>
            </a:endParaRPr>
          </a:p>
          <a:p>
            <a:pPr marL="457200" lvl="0" indent="-347345" algn="just" rtl="0">
              <a:spcBef>
                <a:spcPts val="0"/>
              </a:spcBef>
              <a:spcAft>
                <a:spcPts val="0"/>
              </a:spcAft>
              <a:buClr>
                <a:schemeClr val="dk1"/>
              </a:buClr>
              <a:buSzPct val="100000"/>
              <a:buChar char="●"/>
            </a:pPr>
            <a:r>
              <a:rPr lang="en-GB" sz="2200">
                <a:solidFill>
                  <a:schemeClr val="dk1"/>
                </a:solidFill>
              </a:rPr>
              <a:t>The use of these techniques requires intensive specialised training.</a:t>
            </a:r>
            <a:endParaRPr sz="2200">
              <a:solidFill>
                <a:schemeClr val="accent3"/>
              </a:solidFill>
            </a:endParaRPr>
          </a:p>
          <a:p>
            <a:pPr marL="0" lvl="0" indent="0" algn="l" rtl="0">
              <a:spcBef>
                <a:spcPts val="0"/>
              </a:spcBef>
              <a:spcAft>
                <a:spcPts val="0"/>
              </a:spcAft>
              <a:buNone/>
            </a:pPr>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Shape 745"/>
        <p:cNvGrpSpPr/>
        <p:nvPr/>
      </p:nvGrpSpPr>
      <p:grpSpPr>
        <a:xfrm>
          <a:off x="0" y="0"/>
          <a:ext cx="0" cy="0"/>
          <a:chOff x="0" y="0"/>
          <a:chExt cx="0" cy="0"/>
        </a:xfrm>
      </p:grpSpPr>
      <p:sp>
        <p:nvSpPr>
          <p:cNvPr id="746" name="Google Shape;746;g1f331929e45_0_76"/>
          <p:cNvSpPr txBox="1">
            <a:spLocks noGrp="1"/>
          </p:cNvSpPr>
          <p:nvPr>
            <p:ph type="title"/>
          </p:nvPr>
        </p:nvSpPr>
        <p:spPr>
          <a:xfrm>
            <a:off x="311760" y="410040"/>
            <a:ext cx="8520000" cy="6072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GB" sz="2100">
                <a:solidFill>
                  <a:schemeClr val="accent1"/>
                </a:solidFill>
              </a:rPr>
              <a:t>SOME OTHER METHODS OF DATA COLLECTION</a:t>
            </a:r>
            <a:endParaRPr/>
          </a:p>
        </p:txBody>
      </p:sp>
      <p:sp>
        <p:nvSpPr>
          <p:cNvPr id="747" name="Google Shape;747;g1f331929e45_0_76"/>
          <p:cNvSpPr txBox="1">
            <a:spLocks noGrp="1"/>
          </p:cNvSpPr>
          <p:nvPr>
            <p:ph type="body" idx="1"/>
          </p:nvPr>
        </p:nvSpPr>
        <p:spPr>
          <a:xfrm>
            <a:off x="311760" y="1229760"/>
            <a:ext cx="8520000" cy="3338700"/>
          </a:xfrm>
          <a:prstGeom prst="rect">
            <a:avLst/>
          </a:prstGeom>
        </p:spPr>
        <p:txBody>
          <a:bodyPr spcFirstLastPara="1" wrap="square" lIns="0" tIns="0" rIns="0" bIns="0" anchor="t" anchorCtr="0">
            <a:normAutofit/>
          </a:bodyPr>
          <a:lstStyle/>
          <a:p>
            <a:pPr marL="0" lvl="0" indent="0" algn="just" rtl="0">
              <a:spcBef>
                <a:spcPts val="0"/>
              </a:spcBef>
              <a:spcAft>
                <a:spcPts val="0"/>
              </a:spcAft>
              <a:buNone/>
            </a:pPr>
            <a:r>
              <a:rPr lang="en-GB" sz="2200">
                <a:solidFill>
                  <a:schemeClr val="accent3"/>
                </a:solidFill>
              </a:rPr>
              <a:t>Depth interviews: </a:t>
            </a:r>
            <a:endParaRPr sz="2200">
              <a:solidFill>
                <a:schemeClr val="accent3"/>
              </a:solidFill>
            </a:endParaRPr>
          </a:p>
          <a:p>
            <a:pPr marL="457200" lvl="0" indent="-368300" algn="just" rtl="0">
              <a:spcBef>
                <a:spcPts val="0"/>
              </a:spcBef>
              <a:spcAft>
                <a:spcPts val="0"/>
              </a:spcAft>
              <a:buClr>
                <a:schemeClr val="dk1"/>
              </a:buClr>
              <a:buSzPts val="2200"/>
              <a:buChar char="●"/>
            </a:pPr>
            <a:r>
              <a:rPr lang="en-GB" sz="2200">
                <a:solidFill>
                  <a:schemeClr val="dk1"/>
                </a:solidFill>
              </a:rPr>
              <a:t>Depth interviews are those interviews that are designed to discover underlying</a:t>
            </a:r>
            <a:endParaRPr sz="2200">
              <a:solidFill>
                <a:schemeClr val="dk1"/>
              </a:solidFill>
            </a:endParaRPr>
          </a:p>
          <a:p>
            <a:pPr marL="457200" lvl="0" indent="-368300" algn="just" rtl="0">
              <a:spcBef>
                <a:spcPts val="0"/>
              </a:spcBef>
              <a:spcAft>
                <a:spcPts val="0"/>
              </a:spcAft>
              <a:buClr>
                <a:schemeClr val="dk1"/>
              </a:buClr>
              <a:buSzPts val="2200"/>
              <a:buChar char="●"/>
            </a:pPr>
            <a:r>
              <a:rPr lang="en-GB" sz="2200">
                <a:solidFill>
                  <a:schemeClr val="dk1"/>
                </a:solidFill>
              </a:rPr>
              <a:t>motives and desires and are often used in motivational research. Such interviews are held to explore</a:t>
            </a:r>
            <a:endParaRPr sz="2200">
              <a:solidFill>
                <a:schemeClr val="dk1"/>
              </a:solidFill>
            </a:endParaRPr>
          </a:p>
          <a:p>
            <a:pPr marL="457200" lvl="0" indent="-368300" algn="just" rtl="0">
              <a:spcBef>
                <a:spcPts val="0"/>
              </a:spcBef>
              <a:spcAft>
                <a:spcPts val="0"/>
              </a:spcAft>
              <a:buClr>
                <a:schemeClr val="dk1"/>
              </a:buClr>
              <a:buSzPts val="2200"/>
              <a:buChar char="●"/>
            </a:pPr>
            <a:r>
              <a:rPr lang="en-GB" sz="2200">
                <a:solidFill>
                  <a:schemeClr val="dk1"/>
                </a:solidFill>
              </a:rPr>
              <a:t>needs, desires and feelings of respondents</a:t>
            </a:r>
            <a:endParaRPr sz="2200">
              <a:solidFill>
                <a:schemeClr val="dk1"/>
              </a:solidFill>
            </a:endParaRPr>
          </a:p>
          <a:p>
            <a:pPr marL="457200" lvl="0" indent="-368300" algn="just" rtl="0">
              <a:spcBef>
                <a:spcPts val="0"/>
              </a:spcBef>
              <a:spcAft>
                <a:spcPts val="0"/>
              </a:spcAft>
              <a:buClr>
                <a:schemeClr val="dk1"/>
              </a:buClr>
              <a:buSzPts val="2200"/>
              <a:buChar char="●"/>
            </a:pPr>
            <a:r>
              <a:rPr lang="en-GB" sz="2200">
                <a:solidFill>
                  <a:schemeClr val="dk1"/>
                </a:solidFill>
              </a:rPr>
              <a:t>Depth interview may be projective in nature or it may be a non-projective interview.</a:t>
            </a:r>
            <a:endParaRPr sz="2200">
              <a:solidFill>
                <a:schemeClr val="dk1"/>
              </a:solidFill>
            </a:endParaRPr>
          </a:p>
          <a:p>
            <a:pPr marL="0" lvl="0" indent="0" algn="l" rtl="0">
              <a:spcBef>
                <a:spcPts val="0"/>
              </a:spcBef>
              <a:spcAft>
                <a:spcPts val="0"/>
              </a:spcAft>
              <a:buNone/>
            </a:pPr>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Shape 751"/>
        <p:cNvGrpSpPr/>
        <p:nvPr/>
      </p:nvGrpSpPr>
      <p:grpSpPr>
        <a:xfrm>
          <a:off x="0" y="0"/>
          <a:ext cx="0" cy="0"/>
          <a:chOff x="0" y="0"/>
          <a:chExt cx="0" cy="0"/>
        </a:xfrm>
      </p:grpSpPr>
      <p:sp>
        <p:nvSpPr>
          <p:cNvPr id="752" name="Google Shape;752;g1f331929e45_0_83"/>
          <p:cNvSpPr txBox="1">
            <a:spLocks noGrp="1"/>
          </p:cNvSpPr>
          <p:nvPr>
            <p:ph type="title"/>
          </p:nvPr>
        </p:nvSpPr>
        <p:spPr>
          <a:xfrm>
            <a:off x="311760" y="410040"/>
            <a:ext cx="8520000" cy="6072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GB" sz="2100">
                <a:solidFill>
                  <a:schemeClr val="accent1"/>
                </a:solidFill>
              </a:rPr>
              <a:t>SOME OTHER METHODS OF DATA COLLECTION</a:t>
            </a:r>
            <a:endParaRPr/>
          </a:p>
        </p:txBody>
      </p:sp>
      <p:sp>
        <p:nvSpPr>
          <p:cNvPr id="753" name="Google Shape;753;g1f331929e45_0_83"/>
          <p:cNvSpPr txBox="1">
            <a:spLocks noGrp="1"/>
          </p:cNvSpPr>
          <p:nvPr>
            <p:ph type="body" idx="1"/>
          </p:nvPr>
        </p:nvSpPr>
        <p:spPr>
          <a:xfrm>
            <a:off x="311760" y="1229760"/>
            <a:ext cx="8520000" cy="3338700"/>
          </a:xfrm>
          <a:prstGeom prst="rect">
            <a:avLst/>
          </a:prstGeom>
        </p:spPr>
        <p:txBody>
          <a:bodyPr spcFirstLastPara="1" wrap="square" lIns="0" tIns="0" rIns="0" bIns="0" anchor="t" anchorCtr="0">
            <a:normAutofit/>
          </a:bodyPr>
          <a:lstStyle/>
          <a:p>
            <a:pPr marL="0" lvl="0" indent="0" algn="l" rtl="0">
              <a:spcBef>
                <a:spcPts val="0"/>
              </a:spcBef>
              <a:spcAft>
                <a:spcPts val="0"/>
              </a:spcAft>
              <a:buNone/>
            </a:pPr>
            <a:r>
              <a:rPr lang="en-GB" sz="2200">
                <a:solidFill>
                  <a:schemeClr val="accent3"/>
                </a:solidFill>
              </a:rPr>
              <a:t>Content-analysis: </a:t>
            </a:r>
            <a:endParaRPr sz="2200">
              <a:solidFill>
                <a:schemeClr val="accent3"/>
              </a:solidFill>
            </a:endParaRPr>
          </a:p>
          <a:p>
            <a:pPr marL="457200" lvl="0" indent="-368300" algn="just" rtl="0">
              <a:spcBef>
                <a:spcPts val="0"/>
              </a:spcBef>
              <a:spcAft>
                <a:spcPts val="0"/>
              </a:spcAft>
              <a:buClr>
                <a:schemeClr val="dk1"/>
              </a:buClr>
              <a:buSzPts val="2200"/>
              <a:buChar char="●"/>
            </a:pPr>
            <a:r>
              <a:rPr lang="en-GB" sz="2200">
                <a:solidFill>
                  <a:schemeClr val="dk1"/>
                </a:solidFill>
              </a:rPr>
              <a:t>Content-analysis consists of analysing the contents of documentary materials such as books, magazines, newspapers and the contents of all other verbal materials which can be either spoken or printed.</a:t>
            </a:r>
            <a:endParaRPr sz="2200">
              <a:solidFill>
                <a:schemeClr val="dk1"/>
              </a:solidFill>
            </a:endParaRPr>
          </a:p>
          <a:p>
            <a:pPr marL="0" lvl="0" indent="0" algn="l" rtl="0">
              <a:spcBef>
                <a:spcPts val="0"/>
              </a:spcBef>
              <a:spcAft>
                <a:spcPts val="0"/>
              </a:spcAft>
              <a:buNone/>
            </a:pPr>
            <a:endParaRPr sz="2200">
              <a:solidFill>
                <a:schemeClr val="accent3"/>
              </a:solidFill>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Shape 757"/>
        <p:cNvGrpSpPr/>
        <p:nvPr/>
      </p:nvGrpSpPr>
      <p:grpSpPr>
        <a:xfrm>
          <a:off x="0" y="0"/>
          <a:ext cx="0" cy="0"/>
          <a:chOff x="0" y="0"/>
          <a:chExt cx="0" cy="0"/>
        </a:xfrm>
      </p:grpSpPr>
      <p:sp>
        <p:nvSpPr>
          <p:cNvPr id="758" name="Google Shape;758;g21115aaa1d6_0_106"/>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759" name="Google Shape;759;g21115aaa1d6_0_106"/>
          <p:cNvSpPr txBox="1">
            <a:spLocks noGrp="1"/>
          </p:cNvSpPr>
          <p:nvPr>
            <p:ph type="body" idx="1"/>
          </p:nvPr>
        </p:nvSpPr>
        <p:spPr>
          <a:xfrm>
            <a:off x="311700" y="1229875"/>
            <a:ext cx="8520600" cy="33390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760" name="Google Shape;760;g21115aaa1d6_0_106"/>
          <p:cNvPicPr preferRelativeResize="0"/>
          <p:nvPr/>
        </p:nvPicPr>
        <p:blipFill>
          <a:blip r:embed="rId3">
            <a:alphaModFix/>
          </a:blip>
          <a:stretch>
            <a:fillRect/>
          </a:stretch>
        </p:blipFill>
        <p:spPr>
          <a:xfrm>
            <a:off x="311700" y="410000"/>
            <a:ext cx="8520600" cy="4158875"/>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34343"/>
      </a:dk2>
      <a:lt2>
        <a:srgbClr val="999999"/>
      </a:lt2>
      <a:accent1>
        <a:srgbClr val="212D74"/>
      </a:accent1>
      <a:accent2>
        <a:srgbClr val="3949AB"/>
      </a:accent2>
      <a:accent3>
        <a:srgbClr val="9C254D"/>
      </a:accent3>
      <a:accent4>
        <a:srgbClr val="D23369"/>
      </a:accent4>
      <a:accent5>
        <a:srgbClr val="F06292"/>
      </a:accent5>
      <a:accent6>
        <a:srgbClr val="7890CD"/>
      </a:accent6>
      <a:hlink>
        <a:srgbClr val="F06292"/>
      </a:hlink>
      <a:folHlink>
        <a:srgbClr val="F0629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34343"/>
      </a:dk2>
      <a:lt2>
        <a:srgbClr val="999999"/>
      </a:lt2>
      <a:accent1>
        <a:srgbClr val="212D74"/>
      </a:accent1>
      <a:accent2>
        <a:srgbClr val="3949AB"/>
      </a:accent2>
      <a:accent3>
        <a:srgbClr val="9C254D"/>
      </a:accent3>
      <a:accent4>
        <a:srgbClr val="D23369"/>
      </a:accent4>
      <a:accent5>
        <a:srgbClr val="F06292"/>
      </a:accent5>
      <a:accent6>
        <a:srgbClr val="7890CD"/>
      </a:accent6>
      <a:hlink>
        <a:srgbClr val="F06292"/>
      </a:hlink>
      <a:folHlink>
        <a:srgbClr val="F0629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Geometric">
  <a:themeElements>
    <a:clrScheme name="Geometric">
      <a:dk1>
        <a:srgbClr val="2A3990"/>
      </a:dk1>
      <a:lt1>
        <a:srgbClr val="FFFFFF"/>
      </a:lt1>
      <a:dk2>
        <a:srgbClr val="434343"/>
      </a:dk2>
      <a:lt2>
        <a:srgbClr val="999999"/>
      </a:lt2>
      <a:accent1>
        <a:srgbClr val="212D74"/>
      </a:accent1>
      <a:accent2>
        <a:srgbClr val="3949AB"/>
      </a:accent2>
      <a:accent3>
        <a:srgbClr val="9C254D"/>
      </a:accent3>
      <a:accent4>
        <a:srgbClr val="D23369"/>
      </a:accent4>
      <a:accent5>
        <a:srgbClr val="F06292"/>
      </a:accent5>
      <a:accent6>
        <a:srgbClr val="7890CD"/>
      </a:accent6>
      <a:hlink>
        <a:srgbClr val="F06292"/>
      </a:hlink>
      <a:folHlink>
        <a:srgbClr val="F0629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TotalTime>
  <Words>6190</Words>
  <Application>Microsoft Office PowerPoint</Application>
  <PresentationFormat>On-screen Show (16:9)</PresentationFormat>
  <Paragraphs>405</Paragraphs>
  <Slides>91</Slides>
  <Notes>91</Notes>
  <HiddenSlides>0</HiddenSlides>
  <MMClips>0</MMClips>
  <ScaleCrop>false</ScaleCrop>
  <HeadingPairs>
    <vt:vector size="6" baseType="variant">
      <vt:variant>
        <vt:lpstr>Fonts Used</vt:lpstr>
      </vt:variant>
      <vt:variant>
        <vt:i4>3</vt:i4>
      </vt:variant>
      <vt:variant>
        <vt:lpstr>Theme</vt:lpstr>
      </vt:variant>
      <vt:variant>
        <vt:i4>3</vt:i4>
      </vt:variant>
      <vt:variant>
        <vt:lpstr>Slide Titles</vt:lpstr>
      </vt:variant>
      <vt:variant>
        <vt:i4>91</vt:i4>
      </vt:variant>
    </vt:vector>
  </HeadingPairs>
  <TitlesOfParts>
    <vt:vector size="97" baseType="lpstr">
      <vt:lpstr>Roboto</vt:lpstr>
      <vt:lpstr>Arial</vt:lpstr>
      <vt:lpstr>Times New Roman</vt:lpstr>
      <vt:lpstr>Office Theme</vt:lpstr>
      <vt:lpstr>Office Theme</vt:lpstr>
      <vt:lpstr>Geometric</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Simple random sampling </vt:lpstr>
      <vt:lpstr>PowerPoint Presentation</vt:lpstr>
      <vt:lpstr>  Systematic sampling </vt:lpstr>
      <vt:lpstr>PowerPoint Presentation</vt:lpstr>
      <vt:lpstr>  Stratified sampling </vt:lpstr>
      <vt:lpstr>  Stratified sampling </vt:lpstr>
      <vt:lpstr> Cluster sampling </vt:lpstr>
      <vt:lpstr> Cluster sampling </vt:lpstr>
      <vt:lpstr>PowerPoint Presentation</vt:lpstr>
      <vt:lpstr>PowerPoint Presentation</vt:lpstr>
      <vt:lpstr>PowerPoint Presentation</vt:lpstr>
      <vt:lpstr>PowerPoint Presentation</vt:lpstr>
      <vt:lpstr>Nominal Scale</vt:lpstr>
      <vt:lpstr>Ordinal Scale</vt:lpstr>
      <vt:lpstr>Interval Scale</vt:lpstr>
      <vt:lpstr>Ratio Scale</vt:lpstr>
      <vt:lpstr>Ratio Scale</vt:lpstr>
      <vt:lpstr>Methods of data collection</vt:lpstr>
      <vt:lpstr>Primary Data</vt:lpstr>
      <vt:lpstr>COLLECTION OF PRIMARY DATA</vt:lpstr>
      <vt:lpstr>Observation Method</vt:lpstr>
      <vt:lpstr>PowerPoint Presentation</vt:lpstr>
      <vt:lpstr>Interview Method</vt:lpstr>
      <vt:lpstr>PowerPoint Presentation</vt:lpstr>
      <vt:lpstr>contd…</vt:lpstr>
      <vt:lpstr>Disadvantages</vt:lpstr>
      <vt:lpstr>Interview Method</vt:lpstr>
      <vt:lpstr>PowerPoint Presentation</vt:lpstr>
      <vt:lpstr>Disadvantages</vt:lpstr>
      <vt:lpstr>Questionaire Method</vt:lpstr>
      <vt:lpstr>PowerPoint Presentation</vt:lpstr>
      <vt:lpstr>Advantages</vt:lpstr>
      <vt:lpstr>Disadvantages</vt:lpstr>
      <vt:lpstr>Schedules</vt:lpstr>
      <vt:lpstr>SOME OTHER METHODS OF DATA COLLECTION</vt:lpstr>
      <vt:lpstr>SOME OTHER METHODS OF DATA COLLECTION </vt:lpstr>
      <vt:lpstr>SOME OTHER METHODS OF DATA COLLECTION</vt:lpstr>
      <vt:lpstr>SOME OTHER METHODS OF DATA COLLECTION</vt:lpstr>
      <vt:lpstr>PowerPoint Presentation</vt:lpstr>
      <vt:lpstr>SOME OTHER METHODS OF DATA COLLECTION</vt:lpstr>
      <vt:lpstr>SOME OTHER METHODS OF DATA COLLECTION</vt:lpstr>
      <vt:lpstr>SOME OTHER METHODS OF DATA COLLECTION</vt:lpstr>
      <vt:lpstr>SOME OTHER METHODS OF DATA COLLECTION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Dr.Surendra Shetty</cp:lastModifiedBy>
  <cp:revision>2</cp:revision>
  <dcterms:modified xsi:type="dcterms:W3CDTF">2024-09-19T04:52:38Z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HiddenSlides">
    <vt:i4>0</vt:i4>
  </property>
  <property fmtid="{D5CDD505-2E9C-101B-9397-08002B2CF9AE}" pid="4" name="HyperlinksChanged">
    <vt:bool>false</vt:bool>
  </property>
  <property fmtid="{D5CDD505-2E9C-101B-9397-08002B2CF9AE}" pid="5" name="LinksUpToDate">
    <vt:bool>false</vt:bool>
  </property>
  <property fmtid="{D5CDD505-2E9C-101B-9397-08002B2CF9AE}" pid="6" name="MMClips">
    <vt:i4>0</vt:i4>
  </property>
  <property fmtid="{D5CDD505-2E9C-101B-9397-08002B2CF9AE}" pid="7" name="Notes">
    <vt:i4>30</vt:i4>
  </property>
  <property fmtid="{D5CDD505-2E9C-101B-9397-08002B2CF9AE}" pid="8" name="PresentationFormat">
    <vt:lpwstr>On-screen Show (16:9)</vt:lpwstr>
  </property>
  <property fmtid="{D5CDD505-2E9C-101B-9397-08002B2CF9AE}" pid="9" name="ScaleCrop">
    <vt:bool>false</vt:bool>
  </property>
  <property fmtid="{D5CDD505-2E9C-101B-9397-08002B2CF9AE}" pid="10" name="ShareDoc">
    <vt:bool>false</vt:bool>
  </property>
  <property fmtid="{D5CDD505-2E9C-101B-9397-08002B2CF9AE}" pid="11" name="Slides">
    <vt:i4>45</vt:i4>
  </property>
</Properties>
</file>