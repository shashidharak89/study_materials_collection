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8" r:id="rId5"/>
    <p:sldId id="258" r:id="rId6"/>
    <p:sldId id="270" r:id="rId7"/>
    <p:sldId id="269" r:id="rId8"/>
    <p:sldId id="259" r:id="rId9"/>
    <p:sldId id="260" r:id="rId10"/>
    <p:sldId id="262" r:id="rId11"/>
    <p:sldId id="271" r:id="rId12"/>
    <p:sldId id="273" r:id="rId13"/>
    <p:sldId id="264" r:id="rId14"/>
    <p:sldId id="272" r:id="rId15"/>
    <p:sldId id="265" r:id="rId16"/>
    <p:sldId id="297" r:id="rId17"/>
    <p:sldId id="275" r:id="rId18"/>
    <p:sldId id="276" r:id="rId19"/>
    <p:sldId id="278" r:id="rId20"/>
    <p:sldId id="279" r:id="rId21"/>
    <p:sldId id="280" r:id="rId22"/>
    <p:sldId id="282" r:id="rId23"/>
    <p:sldId id="283" r:id="rId24"/>
    <p:sldId id="287" r:id="rId25"/>
    <p:sldId id="292" r:id="rId26"/>
    <p:sldId id="290" r:id="rId27"/>
    <p:sldId id="291" r:id="rId28"/>
    <p:sldId id="288" r:id="rId29"/>
    <p:sldId id="293" r:id="rId30"/>
    <p:sldId id="294" r:id="rId31"/>
    <p:sldId id="295" r:id="rId32"/>
    <p:sldId id="289" r:id="rId33"/>
    <p:sldId id="296" r:id="rId34"/>
    <p:sldId id="281" r:id="rId35"/>
    <p:sldId id="277" r:id="rId36"/>
    <p:sldId id="274" r:id="rId37"/>
    <p:sldId id="263" r:id="rId38"/>
    <p:sldId id="302" r:id="rId39"/>
    <p:sldId id="304" r:id="rId40"/>
    <p:sldId id="305" r:id="rId41"/>
    <p:sldId id="299" r:id="rId42"/>
    <p:sldId id="300" r:id="rId43"/>
    <p:sldId id="303" r:id="rId44"/>
    <p:sldId id="306" r:id="rId45"/>
    <p:sldId id="308" r:id="rId46"/>
    <p:sldId id="309" r:id="rId47"/>
    <p:sldId id="310" r:id="rId48"/>
    <p:sldId id="311" r:id="rId49"/>
    <p:sldId id="307" r:id="rId50"/>
    <p:sldId id="261" r:id="rId51"/>
    <p:sldId id="312" r:id="rId52"/>
    <p:sldId id="313"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C66589-54E8-4871-8226-738D27A7EB9B}" v="104" dt="2025-10-27T08:51:35.0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90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7B46A-3FD0-8055-B7D9-BC1C971C38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7B04FE7-8D8D-7C94-36C4-502193D5AE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4B8DFDB-AF34-1447-2CB7-E9A3852D6F31}"/>
              </a:ext>
            </a:extLst>
          </p:cNvPr>
          <p:cNvSpPr>
            <a:spLocks noGrp="1"/>
          </p:cNvSpPr>
          <p:nvPr>
            <p:ph type="dt" sz="half" idx="10"/>
          </p:nvPr>
        </p:nvSpPr>
        <p:spPr/>
        <p:txBody>
          <a:bodyPr/>
          <a:lstStyle/>
          <a:p>
            <a:fld id="{45413659-3F06-4B5D-8186-C3426A69CACD}" type="datetimeFigureOut">
              <a:rPr lang="en-IN" smtClean="0"/>
              <a:t>27-10-2025</a:t>
            </a:fld>
            <a:endParaRPr lang="en-IN"/>
          </a:p>
        </p:txBody>
      </p:sp>
      <p:sp>
        <p:nvSpPr>
          <p:cNvPr id="5" name="Footer Placeholder 4">
            <a:extLst>
              <a:ext uri="{FF2B5EF4-FFF2-40B4-BE49-F238E27FC236}">
                <a16:creationId xmlns:a16="http://schemas.microsoft.com/office/drawing/2014/main" id="{ABCD794F-9670-2DA1-E709-522077474C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AB1313-5E5E-AE18-DBDF-4550FC9DC873}"/>
              </a:ext>
            </a:extLst>
          </p:cNvPr>
          <p:cNvSpPr>
            <a:spLocks noGrp="1"/>
          </p:cNvSpPr>
          <p:nvPr>
            <p:ph type="sldNum" sz="quarter" idx="12"/>
          </p:nvPr>
        </p:nvSpPr>
        <p:spPr/>
        <p:txBody>
          <a:bodyPr/>
          <a:lstStyle/>
          <a:p>
            <a:fld id="{2298D473-8608-40B7-B2A3-71C75C772C63}" type="slidenum">
              <a:rPr lang="en-IN" smtClean="0"/>
              <a:t>‹#›</a:t>
            </a:fld>
            <a:endParaRPr lang="en-IN"/>
          </a:p>
        </p:txBody>
      </p:sp>
    </p:spTree>
    <p:extLst>
      <p:ext uri="{BB962C8B-B14F-4D97-AF65-F5344CB8AC3E}">
        <p14:creationId xmlns:p14="http://schemas.microsoft.com/office/powerpoint/2010/main" val="2348010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CC519-EC76-7B53-B915-8796D7C7C1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76406E-E7C6-DD6E-1A8E-D632A41A9C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68576A-65CC-CBCF-7C60-D39BD27B77ED}"/>
              </a:ext>
            </a:extLst>
          </p:cNvPr>
          <p:cNvSpPr>
            <a:spLocks noGrp="1"/>
          </p:cNvSpPr>
          <p:nvPr>
            <p:ph type="dt" sz="half" idx="10"/>
          </p:nvPr>
        </p:nvSpPr>
        <p:spPr/>
        <p:txBody>
          <a:bodyPr/>
          <a:lstStyle/>
          <a:p>
            <a:fld id="{45413659-3F06-4B5D-8186-C3426A69CACD}" type="datetimeFigureOut">
              <a:rPr lang="en-IN" smtClean="0"/>
              <a:t>27-10-2025</a:t>
            </a:fld>
            <a:endParaRPr lang="en-IN"/>
          </a:p>
        </p:txBody>
      </p:sp>
      <p:sp>
        <p:nvSpPr>
          <p:cNvPr id="5" name="Footer Placeholder 4">
            <a:extLst>
              <a:ext uri="{FF2B5EF4-FFF2-40B4-BE49-F238E27FC236}">
                <a16:creationId xmlns:a16="http://schemas.microsoft.com/office/drawing/2014/main" id="{D8549ACB-4874-080B-D07A-834BD7A3F5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FFEE81-07D2-D2B2-DD6B-717845163BD3}"/>
              </a:ext>
            </a:extLst>
          </p:cNvPr>
          <p:cNvSpPr>
            <a:spLocks noGrp="1"/>
          </p:cNvSpPr>
          <p:nvPr>
            <p:ph type="sldNum" sz="quarter" idx="12"/>
          </p:nvPr>
        </p:nvSpPr>
        <p:spPr/>
        <p:txBody>
          <a:bodyPr/>
          <a:lstStyle/>
          <a:p>
            <a:fld id="{2298D473-8608-40B7-B2A3-71C75C772C63}" type="slidenum">
              <a:rPr lang="en-IN" smtClean="0"/>
              <a:t>‹#›</a:t>
            </a:fld>
            <a:endParaRPr lang="en-IN"/>
          </a:p>
        </p:txBody>
      </p:sp>
    </p:spTree>
    <p:extLst>
      <p:ext uri="{BB962C8B-B14F-4D97-AF65-F5344CB8AC3E}">
        <p14:creationId xmlns:p14="http://schemas.microsoft.com/office/powerpoint/2010/main" val="267875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8688-CE44-82CF-5B03-273C1864D1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5442BC-7432-FD4C-AFA5-0711433832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B0299A-4062-41C2-51C6-C86EFB3A1EAB}"/>
              </a:ext>
            </a:extLst>
          </p:cNvPr>
          <p:cNvSpPr>
            <a:spLocks noGrp="1"/>
          </p:cNvSpPr>
          <p:nvPr>
            <p:ph type="dt" sz="half" idx="10"/>
          </p:nvPr>
        </p:nvSpPr>
        <p:spPr/>
        <p:txBody>
          <a:bodyPr/>
          <a:lstStyle/>
          <a:p>
            <a:fld id="{45413659-3F06-4B5D-8186-C3426A69CACD}" type="datetimeFigureOut">
              <a:rPr lang="en-IN" smtClean="0"/>
              <a:t>27-10-2025</a:t>
            </a:fld>
            <a:endParaRPr lang="en-IN"/>
          </a:p>
        </p:txBody>
      </p:sp>
      <p:sp>
        <p:nvSpPr>
          <p:cNvPr id="5" name="Footer Placeholder 4">
            <a:extLst>
              <a:ext uri="{FF2B5EF4-FFF2-40B4-BE49-F238E27FC236}">
                <a16:creationId xmlns:a16="http://schemas.microsoft.com/office/drawing/2014/main" id="{56F84778-1863-FA29-6F74-20A2EE3ACC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A18099-CFF9-A4A8-512E-B8616E31E764}"/>
              </a:ext>
            </a:extLst>
          </p:cNvPr>
          <p:cNvSpPr>
            <a:spLocks noGrp="1"/>
          </p:cNvSpPr>
          <p:nvPr>
            <p:ph type="sldNum" sz="quarter" idx="12"/>
          </p:nvPr>
        </p:nvSpPr>
        <p:spPr/>
        <p:txBody>
          <a:bodyPr/>
          <a:lstStyle/>
          <a:p>
            <a:fld id="{2298D473-8608-40B7-B2A3-71C75C772C63}" type="slidenum">
              <a:rPr lang="en-IN" smtClean="0"/>
              <a:t>‹#›</a:t>
            </a:fld>
            <a:endParaRPr lang="en-IN"/>
          </a:p>
        </p:txBody>
      </p:sp>
    </p:spTree>
    <p:extLst>
      <p:ext uri="{BB962C8B-B14F-4D97-AF65-F5344CB8AC3E}">
        <p14:creationId xmlns:p14="http://schemas.microsoft.com/office/powerpoint/2010/main" val="2252292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B98D5-964A-29CE-9083-B9B0A2A6C6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51832D-C422-3919-CBB9-2A3FC5265D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054DC6-FA13-BCDC-080B-DFCF39AC26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494BAA1-9800-FAAE-7ACE-72049F954E07}"/>
              </a:ext>
            </a:extLst>
          </p:cNvPr>
          <p:cNvSpPr>
            <a:spLocks noGrp="1"/>
          </p:cNvSpPr>
          <p:nvPr>
            <p:ph type="dt" sz="half" idx="10"/>
          </p:nvPr>
        </p:nvSpPr>
        <p:spPr/>
        <p:txBody>
          <a:bodyPr/>
          <a:lstStyle/>
          <a:p>
            <a:fld id="{45413659-3F06-4B5D-8186-C3426A69CACD}" type="datetimeFigureOut">
              <a:rPr lang="en-IN" smtClean="0"/>
              <a:t>27-10-2025</a:t>
            </a:fld>
            <a:endParaRPr lang="en-IN"/>
          </a:p>
        </p:txBody>
      </p:sp>
      <p:sp>
        <p:nvSpPr>
          <p:cNvPr id="6" name="Footer Placeholder 5">
            <a:extLst>
              <a:ext uri="{FF2B5EF4-FFF2-40B4-BE49-F238E27FC236}">
                <a16:creationId xmlns:a16="http://schemas.microsoft.com/office/drawing/2014/main" id="{21B7A69D-BC55-E76E-A067-873AE5A6AD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DB901A-E448-A4CB-8B4A-0074F25321D7}"/>
              </a:ext>
            </a:extLst>
          </p:cNvPr>
          <p:cNvSpPr>
            <a:spLocks noGrp="1"/>
          </p:cNvSpPr>
          <p:nvPr>
            <p:ph type="sldNum" sz="quarter" idx="12"/>
          </p:nvPr>
        </p:nvSpPr>
        <p:spPr/>
        <p:txBody>
          <a:bodyPr/>
          <a:lstStyle/>
          <a:p>
            <a:fld id="{2298D473-8608-40B7-B2A3-71C75C772C63}" type="slidenum">
              <a:rPr lang="en-IN" smtClean="0"/>
              <a:t>‹#›</a:t>
            </a:fld>
            <a:endParaRPr lang="en-IN"/>
          </a:p>
        </p:txBody>
      </p:sp>
    </p:spTree>
    <p:extLst>
      <p:ext uri="{BB962C8B-B14F-4D97-AF65-F5344CB8AC3E}">
        <p14:creationId xmlns:p14="http://schemas.microsoft.com/office/powerpoint/2010/main" val="3754983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112B9-4DE5-73CC-A8F2-208A35476C0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C36618-B1AC-F626-3D4D-4ECDE086B7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31DA38-AA70-3E2E-612E-B7786D9792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F403E7-12D5-4B12-8ABD-0519D7D96A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8A7FFA-2241-0528-3AF4-02E03C5BBA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53F5385-8C64-D735-5A69-DA68C7739CA4}"/>
              </a:ext>
            </a:extLst>
          </p:cNvPr>
          <p:cNvSpPr>
            <a:spLocks noGrp="1"/>
          </p:cNvSpPr>
          <p:nvPr>
            <p:ph type="dt" sz="half" idx="10"/>
          </p:nvPr>
        </p:nvSpPr>
        <p:spPr/>
        <p:txBody>
          <a:bodyPr/>
          <a:lstStyle/>
          <a:p>
            <a:fld id="{45413659-3F06-4B5D-8186-C3426A69CACD}" type="datetimeFigureOut">
              <a:rPr lang="en-IN" smtClean="0"/>
              <a:t>27-10-2025</a:t>
            </a:fld>
            <a:endParaRPr lang="en-IN"/>
          </a:p>
        </p:txBody>
      </p:sp>
      <p:sp>
        <p:nvSpPr>
          <p:cNvPr id="8" name="Footer Placeholder 7">
            <a:extLst>
              <a:ext uri="{FF2B5EF4-FFF2-40B4-BE49-F238E27FC236}">
                <a16:creationId xmlns:a16="http://schemas.microsoft.com/office/drawing/2014/main" id="{864B35A2-F8DC-E841-BE9B-71D6C3D684A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8C83B27-D42B-282D-2B2E-7A745BF2C2AD}"/>
              </a:ext>
            </a:extLst>
          </p:cNvPr>
          <p:cNvSpPr>
            <a:spLocks noGrp="1"/>
          </p:cNvSpPr>
          <p:nvPr>
            <p:ph type="sldNum" sz="quarter" idx="12"/>
          </p:nvPr>
        </p:nvSpPr>
        <p:spPr/>
        <p:txBody>
          <a:bodyPr/>
          <a:lstStyle/>
          <a:p>
            <a:fld id="{2298D473-8608-40B7-B2A3-71C75C772C63}" type="slidenum">
              <a:rPr lang="en-IN" smtClean="0"/>
              <a:t>‹#›</a:t>
            </a:fld>
            <a:endParaRPr lang="en-IN"/>
          </a:p>
        </p:txBody>
      </p:sp>
    </p:spTree>
    <p:extLst>
      <p:ext uri="{BB962C8B-B14F-4D97-AF65-F5344CB8AC3E}">
        <p14:creationId xmlns:p14="http://schemas.microsoft.com/office/powerpoint/2010/main" val="1277398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F2BC9-7179-0327-91BD-D50E408F15D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17488E7-40BA-3184-4BC5-B61FC98303A9}"/>
              </a:ext>
            </a:extLst>
          </p:cNvPr>
          <p:cNvSpPr>
            <a:spLocks noGrp="1"/>
          </p:cNvSpPr>
          <p:nvPr>
            <p:ph type="dt" sz="half" idx="10"/>
          </p:nvPr>
        </p:nvSpPr>
        <p:spPr/>
        <p:txBody>
          <a:bodyPr/>
          <a:lstStyle/>
          <a:p>
            <a:fld id="{45413659-3F06-4B5D-8186-C3426A69CACD}" type="datetimeFigureOut">
              <a:rPr lang="en-IN" smtClean="0"/>
              <a:t>27-10-2025</a:t>
            </a:fld>
            <a:endParaRPr lang="en-IN"/>
          </a:p>
        </p:txBody>
      </p:sp>
      <p:sp>
        <p:nvSpPr>
          <p:cNvPr id="4" name="Footer Placeholder 3">
            <a:extLst>
              <a:ext uri="{FF2B5EF4-FFF2-40B4-BE49-F238E27FC236}">
                <a16:creationId xmlns:a16="http://schemas.microsoft.com/office/drawing/2014/main" id="{3BCDCDA4-8B0E-56BD-1168-EBE02DC17D9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379775D-C668-DD5F-3D48-3EB6B9945B88}"/>
              </a:ext>
            </a:extLst>
          </p:cNvPr>
          <p:cNvSpPr>
            <a:spLocks noGrp="1"/>
          </p:cNvSpPr>
          <p:nvPr>
            <p:ph type="sldNum" sz="quarter" idx="12"/>
          </p:nvPr>
        </p:nvSpPr>
        <p:spPr/>
        <p:txBody>
          <a:bodyPr/>
          <a:lstStyle/>
          <a:p>
            <a:fld id="{2298D473-8608-40B7-B2A3-71C75C772C63}" type="slidenum">
              <a:rPr lang="en-IN" smtClean="0"/>
              <a:t>‹#›</a:t>
            </a:fld>
            <a:endParaRPr lang="en-IN"/>
          </a:p>
        </p:txBody>
      </p:sp>
    </p:spTree>
    <p:extLst>
      <p:ext uri="{BB962C8B-B14F-4D97-AF65-F5344CB8AC3E}">
        <p14:creationId xmlns:p14="http://schemas.microsoft.com/office/powerpoint/2010/main" val="1950057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5E40CB-A09D-38E0-C984-104887CADECB}"/>
              </a:ext>
            </a:extLst>
          </p:cNvPr>
          <p:cNvSpPr>
            <a:spLocks noGrp="1"/>
          </p:cNvSpPr>
          <p:nvPr>
            <p:ph type="dt" sz="half" idx="10"/>
          </p:nvPr>
        </p:nvSpPr>
        <p:spPr/>
        <p:txBody>
          <a:bodyPr/>
          <a:lstStyle/>
          <a:p>
            <a:fld id="{45413659-3F06-4B5D-8186-C3426A69CACD}" type="datetimeFigureOut">
              <a:rPr lang="en-IN" smtClean="0"/>
              <a:t>27-10-2025</a:t>
            </a:fld>
            <a:endParaRPr lang="en-IN"/>
          </a:p>
        </p:txBody>
      </p:sp>
      <p:sp>
        <p:nvSpPr>
          <p:cNvPr id="3" name="Footer Placeholder 2">
            <a:extLst>
              <a:ext uri="{FF2B5EF4-FFF2-40B4-BE49-F238E27FC236}">
                <a16:creationId xmlns:a16="http://schemas.microsoft.com/office/drawing/2014/main" id="{19ABB792-A80C-74B0-FB4E-F9F5B6D6AA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5821E1D-FC71-1766-CC49-AECD73270933}"/>
              </a:ext>
            </a:extLst>
          </p:cNvPr>
          <p:cNvSpPr>
            <a:spLocks noGrp="1"/>
          </p:cNvSpPr>
          <p:nvPr>
            <p:ph type="sldNum" sz="quarter" idx="12"/>
          </p:nvPr>
        </p:nvSpPr>
        <p:spPr/>
        <p:txBody>
          <a:bodyPr/>
          <a:lstStyle/>
          <a:p>
            <a:fld id="{2298D473-8608-40B7-B2A3-71C75C772C63}" type="slidenum">
              <a:rPr lang="en-IN" smtClean="0"/>
              <a:t>‹#›</a:t>
            </a:fld>
            <a:endParaRPr lang="en-IN"/>
          </a:p>
        </p:txBody>
      </p:sp>
    </p:spTree>
    <p:extLst>
      <p:ext uri="{BB962C8B-B14F-4D97-AF65-F5344CB8AC3E}">
        <p14:creationId xmlns:p14="http://schemas.microsoft.com/office/powerpoint/2010/main" val="2457270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CF01D-FCA8-9D90-5BB5-69984C3858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084EE5-6308-BB13-CC5F-3FE5E84D7D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522A716-6174-3019-2D7A-5952A2AF9D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885B1D-0C66-7580-5406-E22B7C0D62F2}"/>
              </a:ext>
            </a:extLst>
          </p:cNvPr>
          <p:cNvSpPr>
            <a:spLocks noGrp="1"/>
          </p:cNvSpPr>
          <p:nvPr>
            <p:ph type="dt" sz="half" idx="10"/>
          </p:nvPr>
        </p:nvSpPr>
        <p:spPr/>
        <p:txBody>
          <a:bodyPr/>
          <a:lstStyle/>
          <a:p>
            <a:fld id="{45413659-3F06-4B5D-8186-C3426A69CACD}" type="datetimeFigureOut">
              <a:rPr lang="en-IN" smtClean="0"/>
              <a:t>27-10-2025</a:t>
            </a:fld>
            <a:endParaRPr lang="en-IN"/>
          </a:p>
        </p:txBody>
      </p:sp>
      <p:sp>
        <p:nvSpPr>
          <p:cNvPr id="6" name="Footer Placeholder 5">
            <a:extLst>
              <a:ext uri="{FF2B5EF4-FFF2-40B4-BE49-F238E27FC236}">
                <a16:creationId xmlns:a16="http://schemas.microsoft.com/office/drawing/2014/main" id="{A02A1D9C-5DFB-5C9C-C1B3-B3425F5C9E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474688-F83E-8551-7B47-B30EE8136C67}"/>
              </a:ext>
            </a:extLst>
          </p:cNvPr>
          <p:cNvSpPr>
            <a:spLocks noGrp="1"/>
          </p:cNvSpPr>
          <p:nvPr>
            <p:ph type="sldNum" sz="quarter" idx="12"/>
          </p:nvPr>
        </p:nvSpPr>
        <p:spPr/>
        <p:txBody>
          <a:bodyPr/>
          <a:lstStyle/>
          <a:p>
            <a:fld id="{2298D473-8608-40B7-B2A3-71C75C772C63}" type="slidenum">
              <a:rPr lang="en-IN" smtClean="0"/>
              <a:t>‹#›</a:t>
            </a:fld>
            <a:endParaRPr lang="en-IN"/>
          </a:p>
        </p:txBody>
      </p:sp>
    </p:spTree>
    <p:extLst>
      <p:ext uri="{BB962C8B-B14F-4D97-AF65-F5344CB8AC3E}">
        <p14:creationId xmlns:p14="http://schemas.microsoft.com/office/powerpoint/2010/main" val="1134975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1419B-036B-07B8-1962-FEA2B3DD5C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CD5F91-F599-CC42-A38C-AB6108DAF6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36840C-3709-24F9-BD32-BF1DED393D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9567FC-AEDB-78B2-FB66-00FEF6776A23}"/>
              </a:ext>
            </a:extLst>
          </p:cNvPr>
          <p:cNvSpPr>
            <a:spLocks noGrp="1"/>
          </p:cNvSpPr>
          <p:nvPr>
            <p:ph type="dt" sz="half" idx="10"/>
          </p:nvPr>
        </p:nvSpPr>
        <p:spPr/>
        <p:txBody>
          <a:bodyPr/>
          <a:lstStyle/>
          <a:p>
            <a:fld id="{45413659-3F06-4B5D-8186-C3426A69CACD}" type="datetimeFigureOut">
              <a:rPr lang="en-IN" smtClean="0"/>
              <a:t>27-10-2025</a:t>
            </a:fld>
            <a:endParaRPr lang="en-IN"/>
          </a:p>
        </p:txBody>
      </p:sp>
      <p:sp>
        <p:nvSpPr>
          <p:cNvPr id="6" name="Footer Placeholder 5">
            <a:extLst>
              <a:ext uri="{FF2B5EF4-FFF2-40B4-BE49-F238E27FC236}">
                <a16:creationId xmlns:a16="http://schemas.microsoft.com/office/drawing/2014/main" id="{BBB71290-0891-3987-6759-A64DCF7DDF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E28106-C6F8-85DD-0DD4-06AF0F28816F}"/>
              </a:ext>
            </a:extLst>
          </p:cNvPr>
          <p:cNvSpPr>
            <a:spLocks noGrp="1"/>
          </p:cNvSpPr>
          <p:nvPr>
            <p:ph type="sldNum" sz="quarter" idx="12"/>
          </p:nvPr>
        </p:nvSpPr>
        <p:spPr/>
        <p:txBody>
          <a:bodyPr/>
          <a:lstStyle/>
          <a:p>
            <a:fld id="{2298D473-8608-40B7-B2A3-71C75C772C63}" type="slidenum">
              <a:rPr lang="en-IN" smtClean="0"/>
              <a:t>‹#›</a:t>
            </a:fld>
            <a:endParaRPr lang="en-IN"/>
          </a:p>
        </p:txBody>
      </p:sp>
    </p:spTree>
    <p:extLst>
      <p:ext uri="{BB962C8B-B14F-4D97-AF65-F5344CB8AC3E}">
        <p14:creationId xmlns:p14="http://schemas.microsoft.com/office/powerpoint/2010/main" val="715139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80D45-DE4B-7970-4C13-218CE20C20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2C5F05-3A21-C98F-047B-34CABA0664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A42786-4852-8F7C-3090-F41BA360D8B2}"/>
              </a:ext>
            </a:extLst>
          </p:cNvPr>
          <p:cNvSpPr>
            <a:spLocks noGrp="1"/>
          </p:cNvSpPr>
          <p:nvPr>
            <p:ph type="dt" sz="half" idx="10"/>
          </p:nvPr>
        </p:nvSpPr>
        <p:spPr/>
        <p:txBody>
          <a:bodyPr/>
          <a:lstStyle/>
          <a:p>
            <a:fld id="{45413659-3F06-4B5D-8186-C3426A69CACD}" type="datetimeFigureOut">
              <a:rPr lang="en-IN" smtClean="0"/>
              <a:t>27-10-2025</a:t>
            </a:fld>
            <a:endParaRPr lang="en-IN"/>
          </a:p>
        </p:txBody>
      </p:sp>
      <p:sp>
        <p:nvSpPr>
          <p:cNvPr id="5" name="Footer Placeholder 4">
            <a:extLst>
              <a:ext uri="{FF2B5EF4-FFF2-40B4-BE49-F238E27FC236}">
                <a16:creationId xmlns:a16="http://schemas.microsoft.com/office/drawing/2014/main" id="{8BDD8FF0-EDC1-7FE5-F464-809857F534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23CDDE-26E3-D9FA-3F86-57B074383AD9}"/>
              </a:ext>
            </a:extLst>
          </p:cNvPr>
          <p:cNvSpPr>
            <a:spLocks noGrp="1"/>
          </p:cNvSpPr>
          <p:nvPr>
            <p:ph type="sldNum" sz="quarter" idx="12"/>
          </p:nvPr>
        </p:nvSpPr>
        <p:spPr/>
        <p:txBody>
          <a:bodyPr/>
          <a:lstStyle/>
          <a:p>
            <a:fld id="{2298D473-8608-40B7-B2A3-71C75C772C63}" type="slidenum">
              <a:rPr lang="en-IN" smtClean="0"/>
              <a:t>‹#›</a:t>
            </a:fld>
            <a:endParaRPr lang="en-IN"/>
          </a:p>
        </p:txBody>
      </p:sp>
    </p:spTree>
    <p:extLst>
      <p:ext uri="{BB962C8B-B14F-4D97-AF65-F5344CB8AC3E}">
        <p14:creationId xmlns:p14="http://schemas.microsoft.com/office/powerpoint/2010/main" val="487888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E6DEA9-DCDC-C5A3-8CD0-FC0C5F74E1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4A1668-7C33-195C-8C0A-1D0A19A169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7CFF2C-ADF7-2C9A-9BD5-DB378E63EF12}"/>
              </a:ext>
            </a:extLst>
          </p:cNvPr>
          <p:cNvSpPr>
            <a:spLocks noGrp="1"/>
          </p:cNvSpPr>
          <p:nvPr>
            <p:ph type="dt" sz="half" idx="10"/>
          </p:nvPr>
        </p:nvSpPr>
        <p:spPr/>
        <p:txBody>
          <a:bodyPr/>
          <a:lstStyle/>
          <a:p>
            <a:fld id="{45413659-3F06-4B5D-8186-C3426A69CACD}" type="datetimeFigureOut">
              <a:rPr lang="en-IN" smtClean="0"/>
              <a:t>27-10-2025</a:t>
            </a:fld>
            <a:endParaRPr lang="en-IN"/>
          </a:p>
        </p:txBody>
      </p:sp>
      <p:sp>
        <p:nvSpPr>
          <p:cNvPr id="5" name="Footer Placeholder 4">
            <a:extLst>
              <a:ext uri="{FF2B5EF4-FFF2-40B4-BE49-F238E27FC236}">
                <a16:creationId xmlns:a16="http://schemas.microsoft.com/office/drawing/2014/main" id="{02E02754-364E-FE43-92FE-2A58C9BD9A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5B5E6B-9A13-E0C0-0BA0-A9650DDC79AB}"/>
              </a:ext>
            </a:extLst>
          </p:cNvPr>
          <p:cNvSpPr>
            <a:spLocks noGrp="1"/>
          </p:cNvSpPr>
          <p:nvPr>
            <p:ph type="sldNum" sz="quarter" idx="12"/>
          </p:nvPr>
        </p:nvSpPr>
        <p:spPr/>
        <p:txBody>
          <a:bodyPr/>
          <a:lstStyle/>
          <a:p>
            <a:fld id="{2298D473-8608-40B7-B2A3-71C75C772C63}" type="slidenum">
              <a:rPr lang="en-IN" smtClean="0"/>
              <a:t>‹#›</a:t>
            </a:fld>
            <a:endParaRPr lang="en-IN"/>
          </a:p>
        </p:txBody>
      </p:sp>
    </p:spTree>
    <p:extLst>
      <p:ext uri="{BB962C8B-B14F-4D97-AF65-F5344CB8AC3E}">
        <p14:creationId xmlns:p14="http://schemas.microsoft.com/office/powerpoint/2010/main" val="1626239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099E2C-09A1-7BF9-67C6-70FD32836C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5134B6-0412-EC66-17B7-FA9807CB3F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24C3F7-0213-FBDD-E9F1-A167B39280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413659-3F06-4B5D-8186-C3426A69CACD}" type="datetimeFigureOut">
              <a:rPr lang="en-IN" smtClean="0"/>
              <a:t>27-10-2025</a:t>
            </a:fld>
            <a:endParaRPr lang="en-IN"/>
          </a:p>
        </p:txBody>
      </p:sp>
      <p:sp>
        <p:nvSpPr>
          <p:cNvPr id="5" name="Footer Placeholder 4">
            <a:extLst>
              <a:ext uri="{FF2B5EF4-FFF2-40B4-BE49-F238E27FC236}">
                <a16:creationId xmlns:a16="http://schemas.microsoft.com/office/drawing/2014/main" id="{ED3D5FD2-DA3B-78AA-9572-5B9FBBB82A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3E533A1-2BF8-5A17-C2CA-0A79536F1E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98D473-8608-40B7-B2A3-71C75C772C63}" type="slidenum">
              <a:rPr lang="en-IN" smtClean="0"/>
              <a:t>‹#›</a:t>
            </a:fld>
            <a:endParaRPr lang="en-IN"/>
          </a:p>
        </p:txBody>
      </p:sp>
    </p:spTree>
    <p:extLst>
      <p:ext uri="{BB962C8B-B14F-4D97-AF65-F5344CB8AC3E}">
        <p14:creationId xmlns:p14="http://schemas.microsoft.com/office/powerpoint/2010/main" val="1586526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60550082-424E-4C81-66C7-977A1821C9D0}"/>
              </a:ext>
            </a:extLst>
          </p:cNvPr>
          <p:cNvSpPr>
            <a:spLocks noGrp="1"/>
          </p:cNvSpPr>
          <p:nvPr>
            <p:ph type="ctrTitle"/>
          </p:nvPr>
        </p:nvSpPr>
        <p:spPr>
          <a:xfrm>
            <a:off x="1781299" y="529374"/>
            <a:ext cx="9678389" cy="2310312"/>
          </a:xfrm>
        </p:spPr>
        <p:txBody>
          <a:bodyPr>
            <a:normAutofit/>
          </a:bodyPr>
          <a:lstStyle/>
          <a:p>
            <a:r>
              <a:rPr lang="en-GB" sz="5200" b="1" kern="100" dirty="0">
                <a:solidFill>
                  <a:schemeClr val="tx2"/>
                </a:solidFill>
                <a:effectLst/>
                <a:latin typeface="Times New Roman" panose="02020603050405020304" pitchFamily="18" charset="0"/>
                <a:ea typeface="Droid Sans Fallback"/>
              </a:rPr>
              <a:t>Distributed Operating Systems</a:t>
            </a:r>
            <a:endParaRPr lang="en-IN" sz="5200" dirty="0">
              <a:solidFill>
                <a:schemeClr val="tx2"/>
              </a:solidFill>
            </a:endParaRPr>
          </a:p>
        </p:txBody>
      </p:sp>
      <p:sp>
        <p:nvSpPr>
          <p:cNvPr id="3" name="Subtitle 2">
            <a:extLst>
              <a:ext uri="{FF2B5EF4-FFF2-40B4-BE49-F238E27FC236}">
                <a16:creationId xmlns:a16="http://schemas.microsoft.com/office/drawing/2014/main" id="{C625C9F8-64C0-1AA8-CEAE-6C8564068E3A}"/>
              </a:ext>
            </a:extLst>
          </p:cNvPr>
          <p:cNvSpPr>
            <a:spLocks noGrp="1"/>
          </p:cNvSpPr>
          <p:nvPr>
            <p:ph type="subTitle" idx="1"/>
          </p:nvPr>
        </p:nvSpPr>
        <p:spPr>
          <a:xfrm>
            <a:off x="3215729" y="4165152"/>
            <a:ext cx="5760846" cy="682079"/>
          </a:xfrm>
        </p:spPr>
        <p:txBody>
          <a:bodyPr>
            <a:normAutofit/>
          </a:bodyPr>
          <a:lstStyle/>
          <a:p>
            <a:endParaRPr lang="en-IN">
              <a:solidFill>
                <a:schemeClr val="tx2"/>
              </a:solidFill>
            </a:endParaRPr>
          </a:p>
        </p:txBody>
      </p:sp>
    </p:spTree>
    <p:extLst>
      <p:ext uri="{BB962C8B-B14F-4D97-AF65-F5344CB8AC3E}">
        <p14:creationId xmlns:p14="http://schemas.microsoft.com/office/powerpoint/2010/main" val="324763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EBBBC268-B63A-E1FD-552B-9EFB22DB2D0B}"/>
              </a:ext>
            </a:extLst>
          </p:cNvPr>
          <p:cNvSpPr>
            <a:spLocks noGrp="1"/>
          </p:cNvSpPr>
          <p:nvPr>
            <p:ph type="title"/>
          </p:nvPr>
        </p:nvSpPr>
        <p:spPr>
          <a:xfrm>
            <a:off x="435233" y="394633"/>
            <a:ext cx="11321227" cy="1325563"/>
          </a:xfrm>
        </p:spPr>
        <p:txBody>
          <a:bodyPr anchor="b">
            <a:normAutofit/>
          </a:bodyPr>
          <a:lstStyle/>
          <a:p>
            <a:pPr algn="ctr"/>
            <a:r>
              <a:rPr kumimoji="0" lang="en-US" altLang="en-US" sz="2800" b="1" i="0" u="none" strike="noStrike" cap="none" normalizeH="0" baseline="0" dirty="0">
                <a:ln>
                  <a:noFill/>
                </a:ln>
                <a:solidFill>
                  <a:schemeClr val="tx2"/>
                </a:solidFill>
                <a:effectLst/>
                <a:latin typeface="Arial" panose="020B0604020202020204" pitchFamily="34" charset="0"/>
              </a:rPr>
              <a:t>Introduction to Distributed Systems and Their Architecture</a:t>
            </a:r>
            <a:br>
              <a:rPr kumimoji="0" lang="en-US" altLang="en-US" sz="2800" b="1" i="0" u="none" strike="noStrike" cap="none" normalizeH="0" baseline="0" dirty="0">
                <a:ln>
                  <a:noFill/>
                </a:ln>
                <a:solidFill>
                  <a:schemeClr val="tx2"/>
                </a:solidFill>
                <a:effectLst/>
                <a:latin typeface="Arial" panose="020B0604020202020204" pitchFamily="34" charset="0"/>
              </a:rPr>
            </a:br>
            <a:endParaRPr lang="en-IN" sz="2800" dirty="0">
              <a:solidFill>
                <a:schemeClr val="tx2"/>
              </a:solidFill>
            </a:endParaRPr>
          </a:p>
        </p:txBody>
      </p:sp>
      <p:grpSp>
        <p:nvGrpSpPr>
          <p:cNvPr id="25"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26"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57D774C-C8DC-A6A4-3726-CB54B16B9E9B}"/>
              </a:ext>
            </a:extLst>
          </p:cNvPr>
          <p:cNvSpPr>
            <a:spLocks noGrp="1"/>
          </p:cNvSpPr>
          <p:nvPr>
            <p:ph idx="1"/>
          </p:nvPr>
        </p:nvSpPr>
        <p:spPr>
          <a:xfrm>
            <a:off x="327744" y="2053547"/>
            <a:ext cx="6177227" cy="4579901"/>
          </a:xfrm>
        </p:spPr>
        <p:txBody>
          <a:bodyPr>
            <a:normAutofit/>
          </a:bodyPr>
          <a:lstStyle/>
          <a:p>
            <a:pPr marL="0" marR="0" lvl="0" indent="0" defTabSz="914400" rtl="0" eaLnBrk="0" fontAlgn="base" latinLnBrk="0" hangingPunct="0">
              <a:spcBef>
                <a:spcPct val="0"/>
              </a:spcBef>
              <a:spcAft>
                <a:spcPct val="0"/>
              </a:spcAft>
              <a:buClrTx/>
              <a:buSzTx/>
              <a:buFontTx/>
              <a:buNone/>
              <a:tabLst/>
            </a:pPr>
            <a:r>
              <a:rPr kumimoji="0" lang="en-US" altLang="en-US" sz="2000" b="1" i="0" u="none" strike="noStrike" cap="none" normalizeH="0" baseline="0" dirty="0">
                <a:ln>
                  <a:noFill/>
                </a:ln>
                <a:solidFill>
                  <a:schemeClr val="tx2"/>
                </a:solidFill>
                <a:effectLst/>
                <a:latin typeface="Arial" panose="020B0604020202020204" pitchFamily="34" charset="0"/>
              </a:rPr>
              <a:t> Definition of Distributed Systems</a:t>
            </a:r>
          </a:p>
          <a:p>
            <a:pPr marL="0" marR="0" lvl="0" indent="0" defTabSz="914400" rtl="0" eaLnBrk="0" fontAlgn="base" latinLnBrk="0" hangingPunct="0">
              <a:spcBef>
                <a:spcPct val="0"/>
              </a:spcBef>
              <a:spcAft>
                <a:spcPct val="0"/>
              </a:spcAft>
              <a:buClrTx/>
              <a:buSzTx/>
              <a:buFontTx/>
              <a:buNone/>
              <a:tabLst/>
            </a:pPr>
            <a:endParaRPr kumimoji="0" lang="en-US" altLang="en-US" sz="2000" b="1" i="0" u="none" strike="noStrike" cap="none" normalizeH="0" baseline="0" dirty="0">
              <a:ln>
                <a:noFill/>
              </a:ln>
              <a:solidFill>
                <a:schemeClr val="tx2"/>
              </a:solidFill>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r>
              <a:rPr kumimoji="0" lang="en-US" altLang="en-US" sz="2000" b="0" i="0" u="none" strike="noStrike" cap="none" normalizeH="0" baseline="0" dirty="0">
                <a:ln>
                  <a:noFill/>
                </a:ln>
                <a:solidFill>
                  <a:schemeClr val="tx2"/>
                </a:solidFill>
                <a:effectLst/>
                <a:latin typeface="Arial" panose="020B0604020202020204" pitchFamily="34" charset="0"/>
              </a:rPr>
              <a:t>A </a:t>
            </a:r>
            <a:r>
              <a:rPr kumimoji="0" lang="en-US" altLang="en-US" sz="2000" b="1" i="0" u="none" strike="noStrike" cap="none" normalizeH="0" baseline="0" dirty="0">
                <a:ln>
                  <a:noFill/>
                </a:ln>
                <a:solidFill>
                  <a:schemeClr val="tx2"/>
                </a:solidFill>
                <a:effectLst/>
                <a:latin typeface="Arial" panose="020B0604020202020204" pitchFamily="34" charset="0"/>
              </a:rPr>
              <a:t>Distributed System (DS)</a:t>
            </a:r>
            <a:r>
              <a:rPr kumimoji="0" lang="en-US" altLang="en-US" sz="2000" b="0" i="0" u="none" strike="noStrike" cap="none" normalizeH="0" baseline="0" dirty="0">
                <a:ln>
                  <a:noFill/>
                </a:ln>
                <a:solidFill>
                  <a:schemeClr val="tx2"/>
                </a:solidFill>
                <a:effectLst/>
                <a:latin typeface="Arial" panose="020B0604020202020204" pitchFamily="34" charset="0"/>
              </a:rPr>
              <a:t> is a collection of </a:t>
            </a:r>
            <a:r>
              <a:rPr kumimoji="0" lang="en-US" altLang="en-US" sz="2000" b="1" i="0" u="none" strike="noStrike" cap="none" normalizeH="0" baseline="0" dirty="0">
                <a:ln>
                  <a:noFill/>
                </a:ln>
                <a:solidFill>
                  <a:schemeClr val="tx2"/>
                </a:solidFill>
                <a:effectLst/>
                <a:latin typeface="Arial" panose="020B0604020202020204" pitchFamily="34" charset="0"/>
              </a:rPr>
              <a:t>independent computers</a:t>
            </a:r>
            <a:r>
              <a:rPr kumimoji="0" lang="en-US" altLang="en-US" sz="2000" b="0" i="0" u="none" strike="noStrike" cap="none" normalizeH="0" baseline="0" dirty="0">
                <a:ln>
                  <a:noFill/>
                </a:ln>
                <a:solidFill>
                  <a:schemeClr val="tx2"/>
                </a:solidFill>
                <a:effectLst/>
                <a:latin typeface="Arial" panose="020B0604020202020204" pitchFamily="34" charset="0"/>
              </a:rPr>
              <a:t> (nodes) that appear to users as a </a:t>
            </a:r>
            <a:r>
              <a:rPr kumimoji="0" lang="en-US" altLang="en-US" sz="2000" b="1" i="0" u="none" strike="noStrike" cap="none" normalizeH="0" baseline="0" dirty="0">
                <a:ln>
                  <a:noFill/>
                </a:ln>
                <a:solidFill>
                  <a:schemeClr val="tx2"/>
                </a:solidFill>
                <a:effectLst/>
                <a:latin typeface="Arial" panose="020B0604020202020204" pitchFamily="34" charset="0"/>
              </a:rPr>
              <a:t>single coherent system</a:t>
            </a:r>
            <a:r>
              <a:rPr kumimoji="0" lang="en-US" altLang="en-US" sz="2000" b="0" i="0" u="none" strike="noStrike" cap="none" normalizeH="0" baseline="0" dirty="0">
                <a:ln>
                  <a:noFill/>
                </a:ln>
                <a:solidFill>
                  <a:schemeClr val="tx2"/>
                </a:solidFill>
                <a:effectLst/>
                <a:latin typeface="Arial" panose="020B0604020202020204" pitchFamily="34" charset="0"/>
              </a:rPr>
              <a:t>.</a:t>
            </a:r>
          </a:p>
          <a:p>
            <a:pPr marL="0" marR="0" lvl="0" indent="0" defTabSz="914400" rtl="0" eaLnBrk="0" fontAlgn="base" latinLnBrk="0" hangingPunct="0">
              <a:spcBef>
                <a:spcPct val="0"/>
              </a:spcBef>
              <a:spcAft>
                <a:spcPct val="0"/>
              </a:spcAft>
              <a:buClrTx/>
              <a:buSzTx/>
              <a:buFontTx/>
              <a:buNone/>
              <a:tabLst/>
            </a:pPr>
            <a:endParaRPr kumimoji="0" lang="en-US" altLang="en-US" sz="2000" b="0" i="0" u="none" strike="noStrike" cap="none" normalizeH="0" baseline="0" dirty="0">
              <a:ln>
                <a:noFill/>
              </a:ln>
              <a:solidFill>
                <a:schemeClr val="tx2"/>
              </a:solidFill>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2"/>
                </a:solidFill>
                <a:effectLst/>
                <a:latin typeface="Arial" panose="020B0604020202020204" pitchFamily="34" charset="0"/>
              </a:rPr>
              <a:t>Each computer has its </a:t>
            </a:r>
            <a:r>
              <a:rPr kumimoji="0" lang="en-US" altLang="en-US" sz="2000" b="1" i="0" u="none" strike="noStrike" cap="none" normalizeH="0" baseline="0" dirty="0">
                <a:ln>
                  <a:noFill/>
                </a:ln>
                <a:solidFill>
                  <a:schemeClr val="tx2"/>
                </a:solidFill>
                <a:effectLst/>
                <a:latin typeface="Arial" panose="020B0604020202020204" pitchFamily="34" charset="0"/>
              </a:rPr>
              <a:t>own processor and memory</a:t>
            </a:r>
            <a:r>
              <a:rPr kumimoji="0" lang="en-US" altLang="en-US" sz="2000" b="0" i="0" u="none" strike="noStrike" cap="none" normalizeH="0" baseline="0" dirty="0">
                <a:ln>
                  <a:noFill/>
                </a:ln>
                <a:solidFill>
                  <a:schemeClr val="tx2"/>
                </a:solidFill>
                <a:effectLst/>
                <a:latin typeface="Arial" panose="020B0604020202020204" pitchFamily="34" charset="0"/>
              </a:rPr>
              <a:t>.</a:t>
            </a:r>
          </a:p>
          <a:p>
            <a:pPr marL="0" marR="0" lvl="0" indent="0"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2"/>
                </a:solidFill>
                <a:effectLst/>
                <a:latin typeface="Arial" panose="020B0604020202020204" pitchFamily="34" charset="0"/>
              </a:rPr>
              <a:t>They are connected through a </a:t>
            </a:r>
            <a:r>
              <a:rPr kumimoji="0" lang="en-US" altLang="en-US" sz="2000" b="1" i="0" u="none" strike="noStrike" cap="none" normalizeH="0" baseline="0" dirty="0">
                <a:ln>
                  <a:noFill/>
                </a:ln>
                <a:solidFill>
                  <a:schemeClr val="tx2"/>
                </a:solidFill>
                <a:effectLst/>
                <a:latin typeface="Arial" panose="020B0604020202020204" pitchFamily="34" charset="0"/>
              </a:rPr>
              <a:t>network</a:t>
            </a:r>
            <a:r>
              <a:rPr kumimoji="0" lang="en-US" altLang="en-US" sz="2000" b="0" i="0" u="none" strike="noStrike" cap="none" normalizeH="0" baseline="0" dirty="0">
                <a:ln>
                  <a:noFill/>
                </a:ln>
                <a:solidFill>
                  <a:schemeClr val="tx2"/>
                </a:solidFill>
                <a:effectLst/>
                <a:latin typeface="Arial" panose="020B0604020202020204" pitchFamily="34" charset="0"/>
              </a:rPr>
              <a:t>.</a:t>
            </a:r>
          </a:p>
          <a:p>
            <a:pPr marL="0" marR="0" lvl="0" indent="0"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2"/>
                </a:solidFill>
                <a:effectLst/>
                <a:latin typeface="Arial" panose="020B0604020202020204" pitchFamily="34" charset="0"/>
              </a:rPr>
              <a:t>They coordinate by </a:t>
            </a:r>
            <a:r>
              <a:rPr kumimoji="0" lang="en-US" altLang="en-US" sz="2000" b="1" i="0" u="none" strike="noStrike" cap="none" normalizeH="0" baseline="0" dirty="0">
                <a:ln>
                  <a:noFill/>
                </a:ln>
                <a:solidFill>
                  <a:schemeClr val="tx2"/>
                </a:solidFill>
                <a:effectLst/>
                <a:latin typeface="Arial" panose="020B0604020202020204" pitchFamily="34" charset="0"/>
              </a:rPr>
              <a:t>passing messages</a:t>
            </a:r>
            <a:r>
              <a:rPr kumimoji="0" lang="en-US" altLang="en-US" sz="2000" b="0" i="0" u="none" strike="noStrike" cap="none" normalizeH="0" baseline="0" dirty="0">
                <a:ln>
                  <a:noFill/>
                </a:ln>
                <a:solidFill>
                  <a:schemeClr val="tx2"/>
                </a:solidFill>
                <a:effectLst/>
                <a:latin typeface="Arial" panose="020B0604020202020204" pitchFamily="34" charset="0"/>
              </a:rPr>
              <a:t>.</a:t>
            </a:r>
          </a:p>
          <a:p>
            <a:pPr marL="0" marR="0" lvl="0" indent="0" defTabSz="914400" rtl="0" eaLnBrk="0" fontAlgn="base" latinLnBrk="0" hangingPunct="0">
              <a:spcBef>
                <a:spcPct val="0"/>
              </a:spcBef>
              <a:spcAft>
                <a:spcPct val="0"/>
              </a:spcAft>
              <a:buClrTx/>
              <a:buSzTx/>
              <a:buFontTx/>
              <a:buChar char="•"/>
              <a:tabLst/>
            </a:pPr>
            <a:endParaRPr kumimoji="0" lang="en-US" altLang="en-US" sz="2000" b="0" i="0" u="none" strike="noStrike" cap="none" normalizeH="0" baseline="0" dirty="0">
              <a:ln>
                <a:noFill/>
              </a:ln>
              <a:solidFill>
                <a:schemeClr val="tx2"/>
              </a:solidFill>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r>
              <a:rPr kumimoji="0" lang="en-US" altLang="en-US" sz="2000" b="0" i="0" u="none" strike="noStrike" cap="none" normalizeH="0" baseline="0" dirty="0">
                <a:ln>
                  <a:noFill/>
                </a:ln>
                <a:solidFill>
                  <a:schemeClr val="tx2"/>
                </a:solidFill>
                <a:effectLst/>
                <a:latin typeface="Arial" panose="020B0604020202020204" pitchFamily="34" charset="0"/>
              </a:rPr>
              <a:t>Example: Cloud services (Google Drive), Hadoop clusters, online banking systems.</a:t>
            </a:r>
          </a:p>
          <a:p>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864D68D3-1E7E-A3EA-946C-7A3D9682883C}"/>
              </a:ext>
            </a:extLst>
          </p:cNvPr>
          <p:cNvPicPr>
            <a:picLocks noChangeAspect="1"/>
          </p:cNvPicPr>
          <p:nvPr/>
        </p:nvPicPr>
        <p:blipFill>
          <a:blip r:embed="rId2"/>
          <a:stretch>
            <a:fillRect/>
          </a:stretch>
        </p:blipFill>
        <p:spPr>
          <a:xfrm>
            <a:off x="6187044" y="1460665"/>
            <a:ext cx="5680507" cy="5272644"/>
          </a:xfrm>
          <a:prstGeom prst="rect">
            <a:avLst/>
          </a:prstGeom>
        </p:spPr>
      </p:pic>
    </p:spTree>
    <p:extLst>
      <p:ext uri="{BB962C8B-B14F-4D97-AF65-F5344CB8AC3E}">
        <p14:creationId xmlns:p14="http://schemas.microsoft.com/office/powerpoint/2010/main" val="2568932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EBBBC268-B63A-E1FD-552B-9EFB22DB2D0B}"/>
              </a:ext>
            </a:extLst>
          </p:cNvPr>
          <p:cNvSpPr>
            <a:spLocks noGrp="1"/>
          </p:cNvSpPr>
          <p:nvPr>
            <p:ph type="title"/>
          </p:nvPr>
        </p:nvSpPr>
        <p:spPr>
          <a:xfrm>
            <a:off x="435233" y="394633"/>
            <a:ext cx="11321227" cy="1325563"/>
          </a:xfrm>
        </p:spPr>
        <p:txBody>
          <a:bodyPr anchor="b">
            <a:normAutofit/>
          </a:bodyPr>
          <a:lstStyle/>
          <a:p>
            <a:pPr algn="ctr"/>
            <a:r>
              <a:rPr kumimoji="0" lang="en-US" altLang="en-US" sz="2800" b="1" i="0" u="none" strike="noStrike" cap="none" normalizeH="0" baseline="0" dirty="0">
                <a:ln>
                  <a:noFill/>
                </a:ln>
                <a:solidFill>
                  <a:schemeClr val="tx2"/>
                </a:solidFill>
                <a:effectLst/>
                <a:latin typeface="Arial" panose="020B0604020202020204" pitchFamily="34" charset="0"/>
              </a:rPr>
              <a:t>Introduction to Distributed Systems and Their Architecture</a:t>
            </a:r>
            <a:br>
              <a:rPr kumimoji="0" lang="en-US" altLang="en-US" sz="2800" b="1" i="0" u="none" strike="noStrike" cap="none" normalizeH="0" baseline="0" dirty="0">
                <a:ln>
                  <a:noFill/>
                </a:ln>
                <a:solidFill>
                  <a:schemeClr val="tx2"/>
                </a:solidFill>
                <a:effectLst/>
                <a:latin typeface="Arial" panose="020B0604020202020204" pitchFamily="34" charset="0"/>
              </a:rPr>
            </a:br>
            <a:endParaRPr lang="en-IN" sz="2800" dirty="0">
              <a:solidFill>
                <a:schemeClr val="tx2"/>
              </a:solidFill>
            </a:endParaRPr>
          </a:p>
        </p:txBody>
      </p:sp>
      <p:grpSp>
        <p:nvGrpSpPr>
          <p:cNvPr id="25"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26"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57D774C-C8DC-A6A4-3726-CB54B16B9E9B}"/>
              </a:ext>
            </a:extLst>
          </p:cNvPr>
          <p:cNvSpPr>
            <a:spLocks noGrp="1"/>
          </p:cNvSpPr>
          <p:nvPr>
            <p:ph idx="1"/>
          </p:nvPr>
        </p:nvSpPr>
        <p:spPr>
          <a:xfrm>
            <a:off x="1091192" y="1551200"/>
            <a:ext cx="6544642" cy="4493339"/>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chemeClr val="tx2"/>
                </a:solidFill>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chemeClr val="tx2"/>
                </a:solidFill>
                <a:latin typeface="Arial" panose="020B0604020202020204" pitchFamily="34" charset="0"/>
              </a:rPr>
              <a:t>A Distributed System (DS) is a collection of independent computers (nodes or hosts) that work together as a single, unified system to the end user.</a:t>
            </a:r>
          </a:p>
          <a:p>
            <a:pPr marL="0" marR="0" lvl="0" indent="0" algn="l" defTabSz="914400" rtl="0" eaLnBrk="0" fontAlgn="base" latinLnBrk="0" hangingPunct="0">
              <a:lnSpc>
                <a:spcPct val="100000"/>
              </a:lnSpc>
              <a:spcBef>
                <a:spcPct val="0"/>
              </a:spcBef>
              <a:spcAft>
                <a:spcPct val="0"/>
              </a:spcAft>
              <a:buClrTx/>
              <a:buSzTx/>
              <a:buFontTx/>
              <a:buNone/>
              <a:tabLst/>
            </a:pPr>
            <a:br>
              <a:rPr lang="en-US" altLang="en-US" sz="2000" dirty="0">
                <a:solidFill>
                  <a:schemeClr val="tx2"/>
                </a:solidFill>
                <a:latin typeface="Arial" panose="020B0604020202020204" pitchFamily="34" charset="0"/>
              </a:rPr>
            </a:br>
            <a:r>
              <a:rPr lang="en-US" altLang="en-US" sz="2000" dirty="0">
                <a:solidFill>
                  <a:schemeClr val="tx2"/>
                </a:solidFill>
                <a:latin typeface="Arial" panose="020B0604020202020204" pitchFamily="34" charset="0"/>
              </a:rPr>
              <a:t>These nodes communicate and coordinate their actions only through message passing over a network (e.g., LAN, WAN, Internet).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chemeClr val="tx2"/>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chemeClr val="tx2"/>
                </a:solidFill>
                <a:latin typeface="Arial" panose="020B0604020202020204" pitchFamily="34" charset="0"/>
              </a:rPr>
              <a:t>Key Idea:</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chemeClr val="tx2"/>
                </a:solidFill>
                <a:latin typeface="Arial" panose="020B0604020202020204" pitchFamily="34" charset="0"/>
              </a:rPr>
              <a:t>The distribution of resources is hidden from users — the system looks like one single computer.</a:t>
            </a:r>
          </a:p>
          <a:p>
            <a:endParaRPr lang="en-IN" sz="1800" dirty="0">
              <a:solidFill>
                <a:schemeClr val="tx2"/>
              </a:solidFill>
            </a:endParaRPr>
          </a:p>
          <a:p>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5DF04B52-F616-00AA-8D15-54382DCAC1D3}"/>
              </a:ext>
            </a:extLst>
          </p:cNvPr>
          <p:cNvPicPr>
            <a:picLocks noChangeAspect="1"/>
          </p:cNvPicPr>
          <p:nvPr/>
        </p:nvPicPr>
        <p:blipFill>
          <a:blip r:embed="rId2"/>
          <a:stretch>
            <a:fillRect/>
          </a:stretch>
        </p:blipFill>
        <p:spPr>
          <a:xfrm>
            <a:off x="8237684" y="1937893"/>
            <a:ext cx="3518776" cy="3455243"/>
          </a:xfrm>
          <a:prstGeom prst="rect">
            <a:avLst/>
          </a:prstGeom>
        </p:spPr>
      </p:pic>
    </p:spTree>
    <p:extLst>
      <p:ext uri="{BB962C8B-B14F-4D97-AF65-F5344CB8AC3E}">
        <p14:creationId xmlns:p14="http://schemas.microsoft.com/office/powerpoint/2010/main" val="788169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4A5F5157-BF1C-75D4-3626-53046076F8EE}"/>
              </a:ext>
            </a:extLst>
          </p:cNvPr>
          <p:cNvSpPr>
            <a:spLocks noGrp="1"/>
          </p:cNvSpPr>
          <p:nvPr>
            <p:ph idx="1"/>
          </p:nvPr>
        </p:nvSpPr>
        <p:spPr>
          <a:xfrm>
            <a:off x="781401" y="561109"/>
            <a:ext cx="6616926" cy="5735782"/>
          </a:xfrm>
        </p:spPr>
        <p:txBody>
          <a:bodyPr>
            <a:normAutofit lnSpcReduction="10000"/>
          </a:bodyPr>
          <a:lstStyle/>
          <a:p>
            <a:pPr marL="0" indent="0">
              <a:buNone/>
            </a:pPr>
            <a:r>
              <a:rPr lang="en-US" sz="2000" b="1" dirty="0">
                <a:solidFill>
                  <a:schemeClr val="tx2"/>
                </a:solidFill>
              </a:rPr>
              <a:t>Core Components of a Distributed System</a:t>
            </a:r>
          </a:p>
          <a:p>
            <a:pPr>
              <a:buFont typeface="+mj-lt"/>
              <a:buAutoNum type="arabicPeriod"/>
            </a:pPr>
            <a:r>
              <a:rPr lang="en-US" sz="1800" b="1" dirty="0">
                <a:solidFill>
                  <a:schemeClr val="tx2"/>
                </a:solidFill>
              </a:rPr>
              <a:t>Nodes/Processes:</a:t>
            </a:r>
            <a:endParaRPr lang="en-US" sz="1800" dirty="0">
              <a:solidFill>
                <a:schemeClr val="tx2"/>
              </a:solidFill>
            </a:endParaRPr>
          </a:p>
          <a:p>
            <a:pPr marL="742950" lvl="1" indent="-285750">
              <a:buFont typeface="+mj-lt"/>
              <a:buAutoNum type="arabicPeriod"/>
            </a:pPr>
            <a:r>
              <a:rPr lang="en-US" sz="1800" dirty="0">
                <a:solidFill>
                  <a:schemeClr val="tx2"/>
                </a:solidFill>
              </a:rPr>
              <a:t>Independent machines (or processes) with their own CPU, memory, and storage.</a:t>
            </a:r>
          </a:p>
          <a:p>
            <a:pPr marL="742950" lvl="1" indent="-285750">
              <a:buFont typeface="+mj-lt"/>
              <a:buAutoNum type="arabicPeriod"/>
            </a:pPr>
            <a:r>
              <a:rPr lang="en-US" sz="1800" dirty="0">
                <a:solidFill>
                  <a:schemeClr val="tx2"/>
                </a:solidFill>
              </a:rPr>
              <a:t>Examples: individual servers in a data center, IoT devices, virtual machines, etc.</a:t>
            </a:r>
          </a:p>
          <a:p>
            <a:pPr>
              <a:buFont typeface="+mj-lt"/>
              <a:buAutoNum type="arabicPeriod"/>
            </a:pPr>
            <a:r>
              <a:rPr lang="en-US" sz="1800" b="1" dirty="0">
                <a:solidFill>
                  <a:schemeClr val="tx2"/>
                </a:solidFill>
              </a:rPr>
              <a:t>Communication Network:</a:t>
            </a:r>
            <a:endParaRPr lang="en-US" sz="1800" dirty="0">
              <a:solidFill>
                <a:schemeClr val="tx2"/>
              </a:solidFill>
            </a:endParaRPr>
          </a:p>
          <a:p>
            <a:pPr marL="742950" lvl="1" indent="-285750">
              <a:buFont typeface="+mj-lt"/>
              <a:buAutoNum type="arabicPeriod"/>
            </a:pPr>
            <a:r>
              <a:rPr lang="en-US" sz="1800" dirty="0">
                <a:solidFill>
                  <a:schemeClr val="tx2"/>
                </a:solidFill>
              </a:rPr>
              <a:t>Connects all the nodes.</a:t>
            </a:r>
          </a:p>
          <a:p>
            <a:pPr marL="742950" lvl="1" indent="-285750">
              <a:buFont typeface="+mj-lt"/>
              <a:buAutoNum type="arabicPeriod"/>
            </a:pPr>
            <a:r>
              <a:rPr lang="en-US" sz="1800" dirty="0">
                <a:solidFill>
                  <a:schemeClr val="tx2"/>
                </a:solidFill>
              </a:rPr>
              <a:t>Enables </a:t>
            </a:r>
            <a:r>
              <a:rPr lang="en-US" sz="1800" b="1" dirty="0">
                <a:solidFill>
                  <a:schemeClr val="tx2"/>
                </a:solidFill>
              </a:rPr>
              <a:t>message passing</a:t>
            </a:r>
            <a:r>
              <a:rPr lang="en-US" sz="1800" dirty="0">
                <a:solidFill>
                  <a:schemeClr val="tx2"/>
                </a:solidFill>
              </a:rPr>
              <a:t> — the primary mode of coordination.</a:t>
            </a:r>
          </a:p>
          <a:p>
            <a:pPr marL="742950" lvl="1" indent="-285750">
              <a:buFont typeface="+mj-lt"/>
              <a:buAutoNum type="arabicPeriod"/>
            </a:pPr>
            <a:r>
              <a:rPr lang="en-US" sz="1800" dirty="0">
                <a:solidFill>
                  <a:schemeClr val="tx2"/>
                </a:solidFill>
              </a:rPr>
              <a:t>Example: Ethernet, Internet, or </a:t>
            </a:r>
            <a:r>
              <a:rPr lang="en-US" sz="1800" dirty="0" err="1">
                <a:solidFill>
                  <a:schemeClr val="tx2"/>
                </a:solidFill>
              </a:rPr>
              <a:t>Infiniband</a:t>
            </a:r>
            <a:r>
              <a:rPr lang="en-US" sz="1800" dirty="0">
                <a:solidFill>
                  <a:schemeClr val="tx2"/>
                </a:solidFill>
              </a:rPr>
              <a:t>.</a:t>
            </a:r>
          </a:p>
          <a:p>
            <a:pPr>
              <a:buFont typeface="+mj-lt"/>
              <a:buAutoNum type="arabicPeriod"/>
            </a:pPr>
            <a:r>
              <a:rPr lang="en-US" sz="1800" b="1" dirty="0">
                <a:solidFill>
                  <a:schemeClr val="tx2"/>
                </a:solidFill>
              </a:rPr>
              <a:t>Middleware:</a:t>
            </a:r>
            <a:endParaRPr lang="en-US" sz="1800" dirty="0">
              <a:solidFill>
                <a:schemeClr val="tx2"/>
              </a:solidFill>
            </a:endParaRPr>
          </a:p>
          <a:p>
            <a:pPr marL="742950" lvl="1" indent="-285750">
              <a:buFont typeface="+mj-lt"/>
              <a:buAutoNum type="arabicPeriod"/>
            </a:pPr>
            <a:r>
              <a:rPr lang="en-US" sz="1800" dirty="0">
                <a:solidFill>
                  <a:schemeClr val="tx2"/>
                </a:solidFill>
              </a:rPr>
              <a:t>Software layer that provides a </a:t>
            </a:r>
            <a:r>
              <a:rPr lang="en-US" sz="1800" b="1" dirty="0">
                <a:solidFill>
                  <a:schemeClr val="tx2"/>
                </a:solidFill>
              </a:rPr>
              <a:t>common interface</a:t>
            </a:r>
            <a:r>
              <a:rPr lang="en-US" sz="1800" dirty="0">
                <a:solidFill>
                  <a:schemeClr val="tx2"/>
                </a:solidFill>
              </a:rPr>
              <a:t> and hides complexities of communication, failures, and heterogeneity.</a:t>
            </a:r>
          </a:p>
          <a:p>
            <a:pPr marL="742950" lvl="1" indent="-285750">
              <a:buFont typeface="+mj-lt"/>
              <a:buAutoNum type="arabicPeriod"/>
            </a:pPr>
            <a:r>
              <a:rPr lang="en-US" sz="1800" dirty="0">
                <a:solidFill>
                  <a:schemeClr val="tx2"/>
                </a:solidFill>
              </a:rPr>
              <a:t>Examples: CORBA, Java RMI, </a:t>
            </a:r>
            <a:r>
              <a:rPr lang="en-US" sz="1800" dirty="0" err="1">
                <a:solidFill>
                  <a:schemeClr val="tx2"/>
                </a:solidFill>
              </a:rPr>
              <a:t>gRPC</a:t>
            </a:r>
            <a:r>
              <a:rPr lang="en-US" sz="1800" dirty="0">
                <a:solidFill>
                  <a:schemeClr val="tx2"/>
                </a:solidFill>
              </a:rPr>
              <a:t>, Kafka, etc.</a:t>
            </a:r>
          </a:p>
          <a:p>
            <a:pPr>
              <a:buFont typeface="+mj-lt"/>
              <a:buAutoNum type="arabicPeriod"/>
            </a:pPr>
            <a:r>
              <a:rPr lang="en-US" sz="1800" b="1" dirty="0">
                <a:solidFill>
                  <a:schemeClr val="tx2"/>
                </a:solidFill>
              </a:rPr>
              <a:t>Distributed Applications:</a:t>
            </a:r>
            <a:endParaRPr lang="en-US" sz="1800" dirty="0">
              <a:solidFill>
                <a:schemeClr val="tx2"/>
              </a:solidFill>
            </a:endParaRPr>
          </a:p>
          <a:p>
            <a:pPr marL="742950" lvl="1" indent="-285750">
              <a:buFont typeface="+mj-lt"/>
              <a:buAutoNum type="arabicPeriod"/>
            </a:pPr>
            <a:r>
              <a:rPr lang="en-US" sz="1800" dirty="0">
                <a:solidFill>
                  <a:schemeClr val="tx2"/>
                </a:solidFill>
              </a:rPr>
              <a:t>User-level software built on top of middleware to perform useful tasks such as file sharing, data processing, or database services.</a:t>
            </a:r>
          </a:p>
          <a:p>
            <a:endParaRPr lang="en-IN" sz="7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DD0FF649-5F79-F5A8-833B-9272C1C15C8D}"/>
              </a:ext>
            </a:extLst>
          </p:cNvPr>
          <p:cNvPicPr>
            <a:picLocks noChangeAspect="1"/>
          </p:cNvPicPr>
          <p:nvPr/>
        </p:nvPicPr>
        <p:blipFill>
          <a:blip r:embed="rId2"/>
          <a:stretch>
            <a:fillRect/>
          </a:stretch>
        </p:blipFill>
        <p:spPr>
          <a:xfrm>
            <a:off x="7327687" y="890649"/>
            <a:ext cx="4767015" cy="4963818"/>
          </a:xfrm>
          <a:prstGeom prst="rect">
            <a:avLst/>
          </a:prstGeom>
        </p:spPr>
      </p:pic>
    </p:spTree>
    <p:extLst>
      <p:ext uri="{BB962C8B-B14F-4D97-AF65-F5344CB8AC3E}">
        <p14:creationId xmlns:p14="http://schemas.microsoft.com/office/powerpoint/2010/main" val="3417854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1951F5CA-AB27-2B03-BBD5-C4499A2C765D}"/>
              </a:ext>
            </a:extLst>
          </p:cNvPr>
          <p:cNvSpPr>
            <a:spLocks noGrp="1"/>
          </p:cNvSpPr>
          <p:nvPr>
            <p:ph idx="1"/>
          </p:nvPr>
        </p:nvSpPr>
        <p:spPr>
          <a:xfrm>
            <a:off x="837674" y="604569"/>
            <a:ext cx="10740767" cy="5165766"/>
          </a:xfrm>
        </p:spPr>
        <p:txBody>
          <a:bodyPr>
            <a:normAutofit/>
          </a:bodyPr>
          <a:lstStyle/>
          <a:p>
            <a:pPr marL="0" indent="0">
              <a:buNone/>
            </a:pPr>
            <a:r>
              <a:rPr lang="en-US" sz="2000" b="1" dirty="0">
                <a:solidFill>
                  <a:schemeClr val="accent1">
                    <a:lumMod val="75000"/>
                  </a:schemeClr>
                </a:solidFill>
              </a:rPr>
              <a:t>Comparison: Distributed System vs. Centralized System</a:t>
            </a:r>
          </a:p>
          <a:p>
            <a:pPr marL="0" indent="0">
              <a:buNone/>
            </a:pPr>
            <a:endParaRPr lang="en-IN" sz="2000" dirty="0">
              <a:solidFill>
                <a:schemeClr val="accent1">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 name="Table 3">
            <a:extLst>
              <a:ext uri="{FF2B5EF4-FFF2-40B4-BE49-F238E27FC236}">
                <a16:creationId xmlns:a16="http://schemas.microsoft.com/office/drawing/2014/main" id="{7CE80C37-7E2F-4F91-AF00-0F1444E0D487}"/>
              </a:ext>
            </a:extLst>
          </p:cNvPr>
          <p:cNvGraphicFramePr>
            <a:graphicFrameLocks noGrp="1"/>
          </p:cNvGraphicFramePr>
          <p:nvPr>
            <p:extLst>
              <p:ext uri="{D42A27DB-BD31-4B8C-83A1-F6EECF244321}">
                <p14:modId xmlns:p14="http://schemas.microsoft.com/office/powerpoint/2010/main" val="1161819780"/>
              </p:ext>
            </p:extLst>
          </p:nvPr>
        </p:nvGraphicFramePr>
        <p:xfrm>
          <a:off x="838047" y="2007161"/>
          <a:ext cx="10515600" cy="2194560"/>
        </p:xfrm>
        <a:graphic>
          <a:graphicData uri="http://schemas.openxmlformats.org/drawingml/2006/table">
            <a:tbl>
              <a:tblPr/>
              <a:tblGrid>
                <a:gridCol w="3505200">
                  <a:extLst>
                    <a:ext uri="{9D8B030D-6E8A-4147-A177-3AD203B41FA5}">
                      <a16:colId xmlns:a16="http://schemas.microsoft.com/office/drawing/2014/main" val="3733361584"/>
                    </a:ext>
                  </a:extLst>
                </a:gridCol>
                <a:gridCol w="3505200">
                  <a:extLst>
                    <a:ext uri="{9D8B030D-6E8A-4147-A177-3AD203B41FA5}">
                      <a16:colId xmlns:a16="http://schemas.microsoft.com/office/drawing/2014/main" val="1081260398"/>
                    </a:ext>
                  </a:extLst>
                </a:gridCol>
                <a:gridCol w="3505200">
                  <a:extLst>
                    <a:ext uri="{9D8B030D-6E8A-4147-A177-3AD203B41FA5}">
                      <a16:colId xmlns:a16="http://schemas.microsoft.com/office/drawing/2014/main" val="3733806063"/>
                    </a:ext>
                  </a:extLst>
                </a:gridCol>
              </a:tblGrid>
              <a:tr h="0">
                <a:tc>
                  <a:txBody>
                    <a:bodyPr/>
                    <a:lstStyle/>
                    <a:p>
                      <a:r>
                        <a:rPr lang="en-IN" b="1" dirty="0">
                          <a:solidFill>
                            <a:schemeClr val="accent1">
                              <a:lumMod val="75000"/>
                            </a:schemeClr>
                          </a:solidFill>
                        </a:rPr>
                        <a:t>Aspect</a:t>
                      </a:r>
                      <a:endParaRPr lang="en-IN" dirty="0">
                        <a:solidFill>
                          <a:schemeClr val="accent1">
                            <a:lumMod val="75000"/>
                          </a:schemeClr>
                        </a:solidFill>
                      </a:endParaRPr>
                    </a:p>
                  </a:txBody>
                  <a:tcPr anchor="ctr">
                    <a:lnL>
                      <a:noFill/>
                    </a:lnL>
                    <a:lnR>
                      <a:noFill/>
                    </a:lnR>
                    <a:lnT>
                      <a:noFill/>
                    </a:lnT>
                    <a:lnB>
                      <a:noFill/>
                    </a:lnB>
                    <a:solidFill>
                      <a:schemeClr val="accent5">
                        <a:lumMod val="40000"/>
                        <a:lumOff val="60000"/>
                      </a:schemeClr>
                    </a:solidFill>
                  </a:tcPr>
                </a:tc>
                <a:tc>
                  <a:txBody>
                    <a:bodyPr/>
                    <a:lstStyle/>
                    <a:p>
                      <a:r>
                        <a:rPr lang="en-IN" b="1" dirty="0">
                          <a:solidFill>
                            <a:schemeClr val="accent1">
                              <a:lumMod val="75000"/>
                            </a:schemeClr>
                          </a:solidFill>
                        </a:rPr>
                        <a:t>Centralized System</a:t>
                      </a:r>
                      <a:endParaRPr lang="en-IN" dirty="0">
                        <a:solidFill>
                          <a:schemeClr val="accent1">
                            <a:lumMod val="75000"/>
                          </a:schemeClr>
                        </a:solidFill>
                      </a:endParaRPr>
                    </a:p>
                  </a:txBody>
                  <a:tcPr anchor="ctr">
                    <a:lnL>
                      <a:noFill/>
                    </a:lnL>
                    <a:lnR>
                      <a:noFill/>
                    </a:lnR>
                    <a:lnT>
                      <a:noFill/>
                    </a:lnT>
                    <a:lnB>
                      <a:noFill/>
                    </a:lnB>
                    <a:solidFill>
                      <a:schemeClr val="accent5">
                        <a:lumMod val="40000"/>
                        <a:lumOff val="60000"/>
                      </a:schemeClr>
                    </a:solidFill>
                  </a:tcPr>
                </a:tc>
                <a:tc>
                  <a:txBody>
                    <a:bodyPr/>
                    <a:lstStyle/>
                    <a:p>
                      <a:r>
                        <a:rPr lang="en-IN" b="1" dirty="0">
                          <a:solidFill>
                            <a:schemeClr val="accent1">
                              <a:lumMod val="75000"/>
                            </a:schemeClr>
                          </a:solidFill>
                        </a:rPr>
                        <a:t>Distributed System</a:t>
                      </a:r>
                      <a:endParaRPr lang="en-IN" dirty="0">
                        <a:solidFill>
                          <a:schemeClr val="accent1">
                            <a:lumMod val="75000"/>
                          </a:schemeClr>
                        </a:solidFill>
                      </a:endParaRPr>
                    </a:p>
                  </a:txBody>
                  <a:tcPr anchor="ctr">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884460059"/>
                  </a:ext>
                </a:extLst>
              </a:tr>
              <a:tr h="0">
                <a:tc>
                  <a:txBody>
                    <a:bodyPr/>
                    <a:lstStyle/>
                    <a:p>
                      <a:r>
                        <a:rPr lang="en-IN" dirty="0">
                          <a:solidFill>
                            <a:schemeClr val="accent1">
                              <a:lumMod val="75000"/>
                            </a:schemeClr>
                          </a:solidFill>
                        </a:rPr>
                        <a:t>Control</a:t>
                      </a:r>
                    </a:p>
                  </a:txBody>
                  <a:tcPr anchor="ctr">
                    <a:lnL>
                      <a:noFill/>
                    </a:lnL>
                    <a:lnR>
                      <a:noFill/>
                    </a:lnR>
                    <a:lnT>
                      <a:noFill/>
                    </a:lnT>
                    <a:lnB>
                      <a:noFill/>
                    </a:lnB>
                    <a:solidFill>
                      <a:schemeClr val="accent5">
                        <a:lumMod val="20000"/>
                        <a:lumOff val="80000"/>
                      </a:schemeClr>
                    </a:solidFill>
                  </a:tcPr>
                </a:tc>
                <a:tc>
                  <a:txBody>
                    <a:bodyPr/>
                    <a:lstStyle/>
                    <a:p>
                      <a:r>
                        <a:rPr lang="en-IN"/>
                        <a:t>Single central node</a:t>
                      </a:r>
                    </a:p>
                  </a:txBody>
                  <a:tcPr anchor="ctr">
                    <a:lnL>
                      <a:noFill/>
                    </a:lnL>
                    <a:lnR>
                      <a:noFill/>
                    </a:lnR>
                    <a:lnT>
                      <a:noFill/>
                    </a:lnT>
                    <a:lnB>
                      <a:noFill/>
                    </a:lnB>
                    <a:solidFill>
                      <a:schemeClr val="accent3">
                        <a:lumMod val="20000"/>
                        <a:lumOff val="80000"/>
                      </a:schemeClr>
                    </a:solidFill>
                  </a:tcPr>
                </a:tc>
                <a:tc>
                  <a:txBody>
                    <a:bodyPr/>
                    <a:lstStyle/>
                    <a:p>
                      <a:r>
                        <a:rPr lang="en-IN" dirty="0"/>
                        <a:t>Multiple independent nodes</a:t>
                      </a:r>
                    </a:p>
                  </a:txBody>
                  <a:tcPr anchor="ctr">
                    <a:lnL>
                      <a:noFill/>
                    </a:lnL>
                    <a:lnR>
                      <a:noFill/>
                    </a:lnR>
                    <a:lnT>
                      <a:noFill/>
                    </a:lnT>
                    <a:lnB>
                      <a:noFill/>
                    </a:lnB>
                    <a:solidFill>
                      <a:schemeClr val="bg2"/>
                    </a:solidFill>
                  </a:tcPr>
                </a:tc>
                <a:extLst>
                  <a:ext uri="{0D108BD9-81ED-4DB2-BD59-A6C34878D82A}">
                    <a16:rowId xmlns:a16="http://schemas.microsoft.com/office/drawing/2014/main" val="4105123826"/>
                  </a:ext>
                </a:extLst>
              </a:tr>
              <a:tr h="0">
                <a:tc>
                  <a:txBody>
                    <a:bodyPr/>
                    <a:lstStyle/>
                    <a:p>
                      <a:r>
                        <a:rPr lang="en-IN" dirty="0">
                          <a:solidFill>
                            <a:schemeClr val="accent1">
                              <a:lumMod val="75000"/>
                            </a:schemeClr>
                          </a:solidFill>
                        </a:rPr>
                        <a:t>Resource Location</a:t>
                      </a:r>
                    </a:p>
                  </a:txBody>
                  <a:tcPr anchor="ctr">
                    <a:lnL>
                      <a:noFill/>
                    </a:lnL>
                    <a:lnR>
                      <a:noFill/>
                    </a:lnR>
                    <a:lnT>
                      <a:noFill/>
                    </a:lnT>
                    <a:lnB>
                      <a:noFill/>
                    </a:lnB>
                    <a:solidFill>
                      <a:schemeClr val="accent5">
                        <a:lumMod val="20000"/>
                        <a:lumOff val="80000"/>
                      </a:schemeClr>
                    </a:solidFill>
                  </a:tcPr>
                </a:tc>
                <a:tc>
                  <a:txBody>
                    <a:bodyPr/>
                    <a:lstStyle/>
                    <a:p>
                      <a:r>
                        <a:rPr lang="en-IN"/>
                        <a:t>All resources local</a:t>
                      </a:r>
                    </a:p>
                  </a:txBody>
                  <a:tcPr anchor="ctr">
                    <a:lnL>
                      <a:noFill/>
                    </a:lnL>
                    <a:lnR>
                      <a:noFill/>
                    </a:lnR>
                    <a:lnT>
                      <a:noFill/>
                    </a:lnT>
                    <a:lnB>
                      <a:noFill/>
                    </a:lnB>
                    <a:solidFill>
                      <a:schemeClr val="accent3">
                        <a:lumMod val="20000"/>
                        <a:lumOff val="80000"/>
                      </a:schemeClr>
                    </a:solidFill>
                  </a:tcPr>
                </a:tc>
                <a:tc>
                  <a:txBody>
                    <a:bodyPr/>
                    <a:lstStyle/>
                    <a:p>
                      <a:r>
                        <a:rPr lang="en-IN" dirty="0"/>
                        <a:t>Resources distributed</a:t>
                      </a:r>
                    </a:p>
                  </a:txBody>
                  <a:tcPr anchor="ctr">
                    <a:lnL>
                      <a:noFill/>
                    </a:lnL>
                    <a:lnR>
                      <a:noFill/>
                    </a:lnR>
                    <a:lnT>
                      <a:noFill/>
                    </a:lnT>
                    <a:lnB>
                      <a:noFill/>
                    </a:lnB>
                    <a:solidFill>
                      <a:schemeClr val="bg2"/>
                    </a:solidFill>
                  </a:tcPr>
                </a:tc>
                <a:extLst>
                  <a:ext uri="{0D108BD9-81ED-4DB2-BD59-A6C34878D82A}">
                    <a16:rowId xmlns:a16="http://schemas.microsoft.com/office/drawing/2014/main" val="3552088550"/>
                  </a:ext>
                </a:extLst>
              </a:tr>
              <a:tr h="0">
                <a:tc>
                  <a:txBody>
                    <a:bodyPr/>
                    <a:lstStyle/>
                    <a:p>
                      <a:r>
                        <a:rPr lang="en-IN" dirty="0">
                          <a:solidFill>
                            <a:schemeClr val="accent1">
                              <a:lumMod val="75000"/>
                            </a:schemeClr>
                          </a:solidFill>
                        </a:rPr>
                        <a:t>Failure</a:t>
                      </a:r>
                    </a:p>
                  </a:txBody>
                  <a:tcPr anchor="ctr">
                    <a:lnL>
                      <a:noFill/>
                    </a:lnL>
                    <a:lnR>
                      <a:noFill/>
                    </a:lnR>
                    <a:lnT>
                      <a:noFill/>
                    </a:lnT>
                    <a:lnB>
                      <a:noFill/>
                    </a:lnB>
                    <a:solidFill>
                      <a:schemeClr val="accent5">
                        <a:lumMod val="20000"/>
                        <a:lumOff val="80000"/>
                      </a:schemeClr>
                    </a:solidFill>
                  </a:tcPr>
                </a:tc>
                <a:tc>
                  <a:txBody>
                    <a:bodyPr/>
                    <a:lstStyle/>
                    <a:p>
                      <a:r>
                        <a:rPr lang="en-IN" dirty="0"/>
                        <a:t>Single point of failure</a:t>
                      </a:r>
                    </a:p>
                  </a:txBody>
                  <a:tcPr anchor="ctr">
                    <a:lnL>
                      <a:noFill/>
                    </a:lnL>
                    <a:lnR>
                      <a:noFill/>
                    </a:lnR>
                    <a:lnT>
                      <a:noFill/>
                    </a:lnT>
                    <a:lnB>
                      <a:noFill/>
                    </a:lnB>
                    <a:solidFill>
                      <a:schemeClr val="accent3">
                        <a:lumMod val="20000"/>
                        <a:lumOff val="80000"/>
                      </a:schemeClr>
                    </a:solidFill>
                  </a:tcPr>
                </a:tc>
                <a:tc>
                  <a:txBody>
                    <a:bodyPr/>
                    <a:lstStyle/>
                    <a:p>
                      <a:r>
                        <a:rPr lang="en-IN" dirty="0"/>
                        <a:t>Fault-tolerant</a:t>
                      </a:r>
                    </a:p>
                  </a:txBody>
                  <a:tcPr anchor="ctr">
                    <a:lnL>
                      <a:noFill/>
                    </a:lnL>
                    <a:lnR>
                      <a:noFill/>
                    </a:lnR>
                    <a:lnT>
                      <a:noFill/>
                    </a:lnT>
                    <a:lnB>
                      <a:noFill/>
                    </a:lnB>
                    <a:solidFill>
                      <a:schemeClr val="bg2"/>
                    </a:solidFill>
                  </a:tcPr>
                </a:tc>
                <a:extLst>
                  <a:ext uri="{0D108BD9-81ED-4DB2-BD59-A6C34878D82A}">
                    <a16:rowId xmlns:a16="http://schemas.microsoft.com/office/drawing/2014/main" val="520053693"/>
                  </a:ext>
                </a:extLst>
              </a:tr>
              <a:tr h="0">
                <a:tc>
                  <a:txBody>
                    <a:bodyPr/>
                    <a:lstStyle/>
                    <a:p>
                      <a:r>
                        <a:rPr lang="en-IN" dirty="0">
                          <a:solidFill>
                            <a:schemeClr val="accent1">
                              <a:lumMod val="75000"/>
                            </a:schemeClr>
                          </a:solidFill>
                        </a:rPr>
                        <a:t>Scalability</a:t>
                      </a:r>
                    </a:p>
                  </a:txBody>
                  <a:tcPr anchor="ctr">
                    <a:lnL>
                      <a:noFill/>
                    </a:lnL>
                    <a:lnR>
                      <a:noFill/>
                    </a:lnR>
                    <a:lnT>
                      <a:noFill/>
                    </a:lnT>
                    <a:lnB>
                      <a:noFill/>
                    </a:lnB>
                    <a:solidFill>
                      <a:schemeClr val="accent5">
                        <a:lumMod val="20000"/>
                        <a:lumOff val="80000"/>
                      </a:schemeClr>
                    </a:solidFill>
                  </a:tcPr>
                </a:tc>
                <a:tc>
                  <a:txBody>
                    <a:bodyPr/>
                    <a:lstStyle/>
                    <a:p>
                      <a:r>
                        <a:rPr lang="en-IN" dirty="0"/>
                        <a:t>Limited</a:t>
                      </a:r>
                    </a:p>
                  </a:txBody>
                  <a:tcPr anchor="ctr">
                    <a:lnL>
                      <a:noFill/>
                    </a:lnL>
                    <a:lnR>
                      <a:noFill/>
                    </a:lnR>
                    <a:lnT>
                      <a:noFill/>
                    </a:lnT>
                    <a:lnB>
                      <a:noFill/>
                    </a:lnB>
                    <a:solidFill>
                      <a:schemeClr val="accent3">
                        <a:lumMod val="20000"/>
                        <a:lumOff val="80000"/>
                      </a:schemeClr>
                    </a:solidFill>
                  </a:tcPr>
                </a:tc>
                <a:tc>
                  <a:txBody>
                    <a:bodyPr/>
                    <a:lstStyle/>
                    <a:p>
                      <a:r>
                        <a:rPr lang="en-IN" dirty="0"/>
                        <a:t>Highly scalable</a:t>
                      </a:r>
                    </a:p>
                  </a:txBody>
                  <a:tcPr anchor="ctr">
                    <a:lnL>
                      <a:noFill/>
                    </a:lnL>
                    <a:lnR>
                      <a:noFill/>
                    </a:lnR>
                    <a:lnT>
                      <a:noFill/>
                    </a:lnT>
                    <a:lnB>
                      <a:noFill/>
                    </a:lnB>
                    <a:solidFill>
                      <a:schemeClr val="bg2"/>
                    </a:solidFill>
                  </a:tcPr>
                </a:tc>
                <a:extLst>
                  <a:ext uri="{0D108BD9-81ED-4DB2-BD59-A6C34878D82A}">
                    <a16:rowId xmlns:a16="http://schemas.microsoft.com/office/drawing/2014/main" val="2927641577"/>
                  </a:ext>
                </a:extLst>
              </a:tr>
              <a:tr h="0">
                <a:tc>
                  <a:txBody>
                    <a:bodyPr/>
                    <a:lstStyle/>
                    <a:p>
                      <a:r>
                        <a:rPr lang="en-IN" dirty="0">
                          <a:solidFill>
                            <a:schemeClr val="accent1">
                              <a:lumMod val="75000"/>
                            </a:schemeClr>
                          </a:solidFill>
                        </a:rPr>
                        <a:t>Communication</a:t>
                      </a:r>
                    </a:p>
                  </a:txBody>
                  <a:tcPr anchor="ctr">
                    <a:lnL>
                      <a:noFill/>
                    </a:lnL>
                    <a:lnR>
                      <a:noFill/>
                    </a:lnR>
                    <a:lnT>
                      <a:noFill/>
                    </a:lnT>
                    <a:lnB>
                      <a:noFill/>
                    </a:lnB>
                    <a:solidFill>
                      <a:schemeClr val="accent5">
                        <a:lumMod val="20000"/>
                        <a:lumOff val="80000"/>
                      </a:schemeClr>
                    </a:solidFill>
                  </a:tcPr>
                </a:tc>
                <a:tc>
                  <a:txBody>
                    <a:bodyPr/>
                    <a:lstStyle/>
                    <a:p>
                      <a:r>
                        <a:rPr lang="en-IN" dirty="0"/>
                        <a:t>Local communication</a:t>
                      </a:r>
                    </a:p>
                  </a:txBody>
                  <a:tcPr anchor="ctr">
                    <a:lnL>
                      <a:noFill/>
                    </a:lnL>
                    <a:lnR>
                      <a:noFill/>
                    </a:lnR>
                    <a:lnT>
                      <a:noFill/>
                    </a:lnT>
                    <a:lnB>
                      <a:noFill/>
                    </a:lnB>
                    <a:solidFill>
                      <a:schemeClr val="accent3">
                        <a:lumMod val="20000"/>
                        <a:lumOff val="80000"/>
                      </a:schemeClr>
                    </a:solidFill>
                  </a:tcPr>
                </a:tc>
                <a:tc>
                  <a:txBody>
                    <a:bodyPr/>
                    <a:lstStyle/>
                    <a:p>
                      <a:r>
                        <a:rPr lang="en-IN" dirty="0"/>
                        <a:t>Network-based communication</a:t>
                      </a:r>
                    </a:p>
                  </a:txBody>
                  <a:tcPr anchor="ctr">
                    <a:lnL>
                      <a:noFill/>
                    </a:lnL>
                    <a:lnR>
                      <a:noFill/>
                    </a:lnR>
                    <a:lnT>
                      <a:noFill/>
                    </a:lnT>
                    <a:lnB>
                      <a:noFill/>
                    </a:lnB>
                    <a:solidFill>
                      <a:schemeClr val="bg2"/>
                    </a:solidFill>
                  </a:tcPr>
                </a:tc>
                <a:extLst>
                  <a:ext uri="{0D108BD9-81ED-4DB2-BD59-A6C34878D82A}">
                    <a16:rowId xmlns:a16="http://schemas.microsoft.com/office/drawing/2014/main" val="36281812"/>
                  </a:ext>
                </a:extLst>
              </a:tr>
            </a:tbl>
          </a:graphicData>
        </a:graphic>
      </p:graphicFrame>
    </p:spTree>
    <p:extLst>
      <p:ext uri="{BB962C8B-B14F-4D97-AF65-F5344CB8AC3E}">
        <p14:creationId xmlns:p14="http://schemas.microsoft.com/office/powerpoint/2010/main" val="2513029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1951F5CA-AB27-2B03-BBD5-C4499A2C765D}"/>
              </a:ext>
            </a:extLst>
          </p:cNvPr>
          <p:cNvSpPr>
            <a:spLocks noGrp="1"/>
          </p:cNvSpPr>
          <p:nvPr>
            <p:ph idx="1"/>
          </p:nvPr>
        </p:nvSpPr>
        <p:spPr>
          <a:xfrm>
            <a:off x="726918" y="846117"/>
            <a:ext cx="10740767" cy="5165766"/>
          </a:xfrm>
        </p:spPr>
        <p:txBody>
          <a:bodyPr>
            <a:normAutofit/>
          </a:bodyPr>
          <a:lstStyle/>
          <a:p>
            <a:pPr marL="457200" lvl="1" indent="0">
              <a:buNone/>
            </a:pPr>
            <a:r>
              <a:rPr lang="en-US" sz="2000" b="1" dirty="0">
                <a:solidFill>
                  <a:schemeClr val="tx2"/>
                </a:solidFill>
              </a:rPr>
              <a:t>Example Scenarios:</a:t>
            </a:r>
          </a:p>
          <a:p>
            <a:pPr marL="457200" lvl="1" indent="0">
              <a:buNone/>
            </a:pPr>
            <a:endParaRPr lang="en-US" sz="2000" dirty="0">
              <a:solidFill>
                <a:schemeClr val="tx2"/>
              </a:solidFill>
            </a:endParaRPr>
          </a:p>
          <a:p>
            <a:pPr marL="742950" lvl="1" indent="-285750">
              <a:buFont typeface="+mj-lt"/>
              <a:buAutoNum type="arabicPeriod"/>
            </a:pPr>
            <a:r>
              <a:rPr lang="en-US" sz="2000" b="1" dirty="0">
                <a:solidFill>
                  <a:schemeClr val="tx2"/>
                </a:solidFill>
              </a:rPr>
              <a:t>Internet Search Engines</a:t>
            </a:r>
            <a:r>
              <a:rPr lang="en-US" sz="2000" dirty="0">
                <a:solidFill>
                  <a:schemeClr val="tx2"/>
                </a:solidFill>
              </a:rPr>
              <a:t>: Thousands of servers work together to process search queries.</a:t>
            </a:r>
          </a:p>
          <a:p>
            <a:pPr marL="742950" lvl="1" indent="-285750">
              <a:buFont typeface="+mj-lt"/>
              <a:buAutoNum type="arabicPeriod"/>
            </a:pPr>
            <a:endParaRPr lang="en-US" sz="2000" dirty="0">
              <a:solidFill>
                <a:schemeClr val="tx2"/>
              </a:solidFill>
            </a:endParaRPr>
          </a:p>
          <a:p>
            <a:pPr marL="742950" lvl="1" indent="-285750">
              <a:buFont typeface="+mj-lt"/>
              <a:buAutoNum type="arabicPeriod"/>
            </a:pPr>
            <a:r>
              <a:rPr lang="en-US" sz="2000" b="1" dirty="0">
                <a:solidFill>
                  <a:schemeClr val="tx2"/>
                </a:solidFill>
              </a:rPr>
              <a:t>Cloud Computing</a:t>
            </a:r>
            <a:r>
              <a:rPr lang="en-US" sz="2000" dirty="0">
                <a:solidFill>
                  <a:schemeClr val="tx2"/>
                </a:solidFill>
              </a:rPr>
              <a:t>: Amazon AWS, Microsoft Azure — distribute computation and storage globally.</a:t>
            </a:r>
          </a:p>
          <a:p>
            <a:pPr marL="742950" lvl="1" indent="-285750">
              <a:buFont typeface="+mj-lt"/>
              <a:buAutoNum type="arabicPeriod"/>
            </a:pPr>
            <a:endParaRPr lang="en-US" sz="2000" dirty="0">
              <a:solidFill>
                <a:schemeClr val="tx2"/>
              </a:solidFill>
            </a:endParaRPr>
          </a:p>
          <a:p>
            <a:pPr marL="742950" lvl="1" indent="-285750">
              <a:buFont typeface="+mj-lt"/>
              <a:buAutoNum type="arabicPeriod"/>
            </a:pPr>
            <a:r>
              <a:rPr lang="en-US" sz="2000" b="1" dirty="0">
                <a:solidFill>
                  <a:schemeClr val="tx2"/>
                </a:solidFill>
              </a:rPr>
              <a:t>Hadoop Cluster</a:t>
            </a:r>
            <a:r>
              <a:rPr lang="en-US" sz="2000" dirty="0">
                <a:solidFill>
                  <a:schemeClr val="tx2"/>
                </a:solidFill>
              </a:rPr>
              <a:t>: Distributes large data processing jobs across multiple machines.</a:t>
            </a:r>
          </a:p>
          <a:p>
            <a:pPr marL="742950" lvl="1" indent="-285750">
              <a:buFont typeface="+mj-lt"/>
              <a:buAutoNum type="arabicPeriod"/>
            </a:pPr>
            <a:endParaRPr lang="en-US" sz="2000" dirty="0">
              <a:solidFill>
                <a:schemeClr val="tx2"/>
              </a:solidFill>
            </a:endParaRPr>
          </a:p>
          <a:p>
            <a:pPr marL="742950" lvl="1" indent="-285750">
              <a:buFont typeface="+mj-lt"/>
              <a:buAutoNum type="arabicPeriod"/>
            </a:pPr>
            <a:r>
              <a:rPr lang="en-US" sz="2000" b="1" dirty="0">
                <a:solidFill>
                  <a:schemeClr val="tx2"/>
                </a:solidFill>
              </a:rPr>
              <a:t>Blockchain</a:t>
            </a:r>
            <a:r>
              <a:rPr lang="en-US" sz="2000" dirty="0">
                <a:solidFill>
                  <a:schemeClr val="tx2"/>
                </a:solidFill>
              </a:rPr>
              <a:t>: A distributed ledger replicated across many nodes with no central control.</a:t>
            </a:r>
          </a:p>
          <a:p>
            <a:pPr marL="0" indent="0">
              <a:buNone/>
            </a:pPr>
            <a:endParaRPr lang="en-IN" sz="2000" dirty="0">
              <a:solidFill>
                <a:schemeClr val="accent1">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40646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1951F5CA-AB27-2B03-BBD5-C4499A2C765D}"/>
              </a:ext>
            </a:extLst>
          </p:cNvPr>
          <p:cNvSpPr>
            <a:spLocks noGrp="1"/>
          </p:cNvSpPr>
          <p:nvPr>
            <p:ph idx="1"/>
          </p:nvPr>
        </p:nvSpPr>
        <p:spPr>
          <a:xfrm>
            <a:off x="654774" y="961901"/>
            <a:ext cx="10312130" cy="5165766"/>
          </a:xfrm>
        </p:spPr>
        <p:txBody>
          <a:bodyPr>
            <a:normAutofit/>
          </a:bodyPr>
          <a:lstStyle/>
          <a:p>
            <a:pPr marL="0" indent="0">
              <a:buNone/>
            </a:pPr>
            <a:r>
              <a:rPr lang="en-US" sz="2000" b="1" dirty="0">
                <a:solidFill>
                  <a:schemeClr val="tx2"/>
                </a:solidFill>
              </a:rPr>
              <a:t>Characteristics of Distributed Systems:</a:t>
            </a:r>
          </a:p>
          <a:p>
            <a:pPr marL="0" indent="0">
              <a:buNone/>
            </a:pPr>
            <a:endParaRPr lang="en-US" sz="2000" dirty="0">
              <a:solidFill>
                <a:schemeClr val="tx2"/>
              </a:solidFill>
            </a:endParaRPr>
          </a:p>
          <a:p>
            <a:pPr>
              <a:buFont typeface="Arial" panose="020B0604020202020204" pitchFamily="34" charset="0"/>
              <a:buChar char="•"/>
            </a:pPr>
            <a:r>
              <a:rPr lang="en-US" sz="2000" b="1" dirty="0">
                <a:solidFill>
                  <a:schemeClr val="tx2"/>
                </a:solidFill>
              </a:rPr>
              <a:t>Multiple Components</a:t>
            </a:r>
            <a:r>
              <a:rPr lang="en-US" sz="2000" dirty="0">
                <a:solidFill>
                  <a:schemeClr val="tx2"/>
                </a:solidFill>
              </a:rPr>
              <a:t>: Several computers work together.</a:t>
            </a:r>
          </a:p>
          <a:p>
            <a:pPr>
              <a:buFont typeface="Arial" panose="020B0604020202020204" pitchFamily="34" charset="0"/>
              <a:buChar char="•"/>
            </a:pPr>
            <a:r>
              <a:rPr lang="en-US" sz="2000" b="1" dirty="0">
                <a:solidFill>
                  <a:schemeClr val="tx2"/>
                </a:solidFill>
              </a:rPr>
              <a:t>Resource Sharing</a:t>
            </a:r>
            <a:r>
              <a:rPr lang="en-US" sz="2000" dirty="0">
                <a:solidFill>
                  <a:schemeClr val="tx2"/>
                </a:solidFill>
              </a:rPr>
              <a:t>: Hardware, software, and data are shared.</a:t>
            </a:r>
          </a:p>
          <a:p>
            <a:pPr>
              <a:buFont typeface="Arial" panose="020B0604020202020204" pitchFamily="34" charset="0"/>
              <a:buChar char="•"/>
            </a:pPr>
            <a:r>
              <a:rPr lang="en-US" sz="2000" b="1" dirty="0">
                <a:solidFill>
                  <a:schemeClr val="tx2"/>
                </a:solidFill>
              </a:rPr>
              <a:t>Scalability</a:t>
            </a:r>
            <a:r>
              <a:rPr lang="en-US" sz="2000" dirty="0">
                <a:solidFill>
                  <a:schemeClr val="tx2"/>
                </a:solidFill>
              </a:rPr>
              <a:t>: Can grow horizontally by adding more machines.</a:t>
            </a:r>
          </a:p>
          <a:p>
            <a:pPr>
              <a:buFont typeface="Arial" panose="020B0604020202020204" pitchFamily="34" charset="0"/>
              <a:buChar char="•"/>
            </a:pPr>
            <a:r>
              <a:rPr lang="en-US" sz="2000" b="1" dirty="0">
                <a:solidFill>
                  <a:schemeClr val="tx2"/>
                </a:solidFill>
              </a:rPr>
              <a:t>Concurrency</a:t>
            </a:r>
            <a:r>
              <a:rPr lang="en-US" sz="2000" dirty="0">
                <a:solidFill>
                  <a:schemeClr val="tx2"/>
                </a:solidFill>
              </a:rPr>
              <a:t>: Many processes run simultaneously.</a:t>
            </a:r>
          </a:p>
          <a:p>
            <a:pPr>
              <a:buFont typeface="Arial" panose="020B0604020202020204" pitchFamily="34" charset="0"/>
              <a:buChar char="•"/>
            </a:pPr>
            <a:r>
              <a:rPr lang="en-US" sz="2000" b="1" dirty="0">
                <a:solidFill>
                  <a:schemeClr val="tx2"/>
                </a:solidFill>
              </a:rPr>
              <a:t>Transparency</a:t>
            </a:r>
            <a:r>
              <a:rPr lang="en-US" sz="2000" dirty="0">
                <a:solidFill>
                  <a:schemeClr val="tx2"/>
                </a:solidFill>
              </a:rPr>
              <a:t>: Users should not see the complexity of distribution.</a:t>
            </a:r>
          </a:p>
          <a:p>
            <a:pPr>
              <a:buFont typeface="Arial" panose="020B0604020202020204" pitchFamily="34" charset="0"/>
              <a:buChar char="•"/>
            </a:pPr>
            <a:r>
              <a:rPr lang="en-US" sz="2000" b="1" dirty="0">
                <a:solidFill>
                  <a:schemeClr val="tx2"/>
                </a:solidFill>
              </a:rPr>
              <a:t>Fault Tolerance</a:t>
            </a:r>
            <a:r>
              <a:rPr lang="en-US" sz="2000" dirty="0">
                <a:solidFill>
                  <a:schemeClr val="tx2"/>
                </a:solidFill>
              </a:rPr>
              <a:t>: System should continue functioning even if some nodes fail.</a:t>
            </a:r>
          </a:p>
          <a:p>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99785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712519" y="356260"/>
            <a:ext cx="10300255" cy="5795158"/>
          </a:xfrm>
        </p:spPr>
        <p:txBody>
          <a:bodyPr>
            <a:normAutofit/>
          </a:bodyPr>
          <a:lstStyle/>
          <a:p>
            <a:pPr marL="0" indent="0">
              <a:buNone/>
            </a:pPr>
            <a:r>
              <a:rPr lang="en-US" sz="2200" b="1" dirty="0">
                <a:solidFill>
                  <a:schemeClr val="tx2"/>
                </a:solidFill>
              </a:rPr>
              <a:t>Goals of Distributed Systems</a:t>
            </a:r>
          </a:p>
          <a:p>
            <a:pPr marL="0" indent="0">
              <a:buNone/>
            </a:pPr>
            <a:endParaRPr lang="en-US" sz="2200" b="1" dirty="0">
              <a:solidFill>
                <a:schemeClr val="tx2"/>
              </a:solidFill>
            </a:endParaRPr>
          </a:p>
          <a:p>
            <a:pPr>
              <a:buFont typeface="+mj-lt"/>
              <a:buAutoNum type="arabicPeriod"/>
            </a:pPr>
            <a:r>
              <a:rPr lang="en-US" sz="2000" b="1" i="1" dirty="0">
                <a:solidFill>
                  <a:schemeClr val="tx2"/>
                </a:solidFill>
              </a:rPr>
              <a:t>Transparency</a:t>
            </a:r>
            <a:r>
              <a:rPr lang="en-US" sz="2000" dirty="0">
                <a:solidFill>
                  <a:schemeClr val="tx2"/>
                </a:solidFill>
              </a:rPr>
              <a:t> (make distribution invisible to the user):</a:t>
            </a:r>
          </a:p>
          <a:p>
            <a:pPr marL="742950" lvl="1" indent="-285750">
              <a:buFont typeface="+mj-lt"/>
              <a:buAutoNum type="arabicPeriod"/>
            </a:pPr>
            <a:r>
              <a:rPr lang="en-US" sz="2000" dirty="0">
                <a:solidFill>
                  <a:schemeClr val="tx2"/>
                </a:solidFill>
              </a:rPr>
              <a:t>Access Transparency: Same operations for local/remote resources.</a:t>
            </a:r>
          </a:p>
          <a:p>
            <a:pPr marL="742950" lvl="1" indent="-285750">
              <a:buFont typeface="+mj-lt"/>
              <a:buAutoNum type="arabicPeriod"/>
            </a:pPr>
            <a:r>
              <a:rPr lang="en-US" sz="2000" dirty="0">
                <a:solidFill>
                  <a:schemeClr val="tx2"/>
                </a:solidFill>
              </a:rPr>
              <a:t>Location Transparency: Users don’t need to know where resources are located.</a:t>
            </a:r>
          </a:p>
          <a:p>
            <a:pPr marL="742950" lvl="1" indent="-285750">
              <a:buFont typeface="+mj-lt"/>
              <a:buAutoNum type="arabicPeriod"/>
            </a:pPr>
            <a:r>
              <a:rPr lang="en-US" sz="2000" dirty="0">
                <a:solidFill>
                  <a:schemeClr val="tx2"/>
                </a:solidFill>
              </a:rPr>
              <a:t>Replication Transparency: Multiple copies of resources appear as one.</a:t>
            </a:r>
          </a:p>
          <a:p>
            <a:pPr marL="742950" lvl="1" indent="-285750">
              <a:buFont typeface="+mj-lt"/>
              <a:buAutoNum type="arabicPeriod"/>
            </a:pPr>
            <a:r>
              <a:rPr lang="en-US" sz="2000" dirty="0">
                <a:solidFill>
                  <a:schemeClr val="tx2"/>
                </a:solidFill>
              </a:rPr>
              <a:t>Concurrency Transparency: Multiple users can access resources simultaneously.</a:t>
            </a:r>
          </a:p>
          <a:p>
            <a:pPr marL="742950" lvl="1" indent="-285750">
              <a:buFont typeface="+mj-lt"/>
              <a:buAutoNum type="arabicPeriod"/>
            </a:pPr>
            <a:r>
              <a:rPr lang="en-US" sz="2000" dirty="0">
                <a:solidFill>
                  <a:schemeClr val="tx2"/>
                </a:solidFill>
              </a:rPr>
              <a:t>Fault Tolerance Transparency: System masks hardware/software failures.</a:t>
            </a:r>
          </a:p>
          <a:p>
            <a:pPr marL="457200" lvl="1" indent="0">
              <a:buNone/>
            </a:pPr>
            <a:endParaRPr lang="en-US" sz="2000" dirty="0">
              <a:solidFill>
                <a:schemeClr val="tx2"/>
              </a:solidFill>
            </a:endParaRPr>
          </a:p>
          <a:p>
            <a:pPr>
              <a:buFont typeface="+mj-lt"/>
              <a:buAutoNum type="arabicPeriod"/>
            </a:pPr>
            <a:r>
              <a:rPr lang="en-US" sz="2000" b="1" i="1" dirty="0">
                <a:solidFill>
                  <a:schemeClr val="tx2"/>
                </a:solidFill>
              </a:rPr>
              <a:t>Performance</a:t>
            </a:r>
            <a:r>
              <a:rPr lang="en-US" sz="2000" dirty="0">
                <a:solidFill>
                  <a:schemeClr val="tx2"/>
                </a:solidFill>
              </a:rPr>
              <a:t>: High throughput and low latency.</a:t>
            </a:r>
          </a:p>
          <a:p>
            <a:pPr>
              <a:buFont typeface="+mj-lt"/>
              <a:buAutoNum type="arabicPeriod"/>
            </a:pPr>
            <a:r>
              <a:rPr lang="en-US" sz="2000" b="1" i="1" dirty="0">
                <a:solidFill>
                  <a:schemeClr val="tx2"/>
                </a:solidFill>
              </a:rPr>
              <a:t>Scalability</a:t>
            </a:r>
            <a:r>
              <a:rPr lang="en-US" sz="2000" dirty="0">
                <a:solidFill>
                  <a:schemeClr val="tx2"/>
                </a:solidFill>
              </a:rPr>
              <a:t>: Ability to add more nodes easily.</a:t>
            </a:r>
          </a:p>
          <a:p>
            <a:pPr>
              <a:buFont typeface="+mj-lt"/>
              <a:buAutoNum type="arabicPeriod"/>
            </a:pPr>
            <a:r>
              <a:rPr lang="en-US" sz="2000" b="1" i="1" dirty="0">
                <a:solidFill>
                  <a:schemeClr val="tx2"/>
                </a:solidFill>
              </a:rPr>
              <a:t>Openness</a:t>
            </a:r>
            <a:r>
              <a:rPr lang="en-US" sz="2000" dirty="0">
                <a:solidFill>
                  <a:schemeClr val="tx2"/>
                </a:solidFill>
              </a:rPr>
              <a:t>: Interoperability with different hardware/software platforms.</a:t>
            </a:r>
          </a:p>
          <a:p>
            <a:pPr>
              <a:buFont typeface="+mj-lt"/>
              <a:buAutoNum type="arabicPeriod"/>
            </a:pPr>
            <a:r>
              <a:rPr lang="en-US" sz="2000" b="1" i="1" dirty="0">
                <a:solidFill>
                  <a:schemeClr val="tx2"/>
                </a:solidFill>
              </a:rPr>
              <a:t>Reliability</a:t>
            </a:r>
            <a:r>
              <a:rPr lang="en-US" sz="2000" dirty="0">
                <a:solidFill>
                  <a:schemeClr val="tx2"/>
                </a:solidFill>
              </a:rPr>
              <a:t>: Ensure continuous service despite failures.</a:t>
            </a:r>
          </a:p>
          <a:p>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28009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945719" y="402775"/>
            <a:ext cx="10300255" cy="5795158"/>
          </a:xfrm>
        </p:spPr>
        <p:txBody>
          <a:bodyPr>
            <a:normAutofit/>
          </a:bodyPr>
          <a:lstStyle/>
          <a:p>
            <a:pPr marL="0" indent="0">
              <a:buNone/>
            </a:pPr>
            <a:endParaRPr lang="en-US" sz="2000" dirty="0">
              <a:solidFill>
                <a:schemeClr val="tx2"/>
              </a:solidFill>
              <a:latin typeface="Arial" panose="020B0604020202020204" pitchFamily="34" charset="0"/>
            </a:endParaRPr>
          </a:p>
          <a:p>
            <a:pPr marL="0" indent="0">
              <a:buNone/>
            </a:pPr>
            <a:r>
              <a:rPr lang="en-US" sz="2000" b="1" dirty="0">
                <a:solidFill>
                  <a:schemeClr val="tx2"/>
                </a:solidFill>
                <a:latin typeface="Arial" panose="020B0604020202020204" pitchFamily="34" charset="0"/>
              </a:rPr>
              <a:t>Advantages of Distributed Systems</a:t>
            </a:r>
            <a:r>
              <a:rPr lang="en-US" sz="2000" dirty="0">
                <a:solidFill>
                  <a:schemeClr val="tx2"/>
                </a:solidFill>
                <a:latin typeface="Arial" panose="020B0604020202020204" pitchFamily="34" charset="0"/>
              </a:rPr>
              <a:t>.</a:t>
            </a:r>
          </a:p>
          <a:p>
            <a:pPr marL="0" indent="0">
              <a:buNone/>
            </a:pPr>
            <a:endParaRPr lang="en-US" sz="2000" dirty="0">
              <a:solidFill>
                <a:schemeClr val="tx2"/>
              </a:solidFill>
            </a:endParaRPr>
          </a:p>
          <a:p>
            <a:r>
              <a:rPr lang="en-US" sz="2000" dirty="0">
                <a:solidFill>
                  <a:schemeClr val="tx2"/>
                </a:solidFill>
              </a:rPr>
              <a:t>Resource Sharing (files, printers, storage, compute power).</a:t>
            </a:r>
          </a:p>
          <a:p>
            <a:pPr marL="0" indent="0">
              <a:buNone/>
            </a:pPr>
            <a:endParaRPr lang="en-US" sz="2000" dirty="0">
              <a:solidFill>
                <a:schemeClr val="tx2"/>
              </a:solidFill>
            </a:endParaRPr>
          </a:p>
          <a:p>
            <a:r>
              <a:rPr lang="en-US" sz="2000" dirty="0">
                <a:solidFill>
                  <a:schemeClr val="tx2"/>
                </a:solidFill>
              </a:rPr>
              <a:t>Scalability (easy to add more machines).</a:t>
            </a:r>
          </a:p>
          <a:p>
            <a:endParaRPr lang="en-US" sz="2000" dirty="0">
              <a:solidFill>
                <a:schemeClr val="tx2"/>
              </a:solidFill>
            </a:endParaRPr>
          </a:p>
          <a:p>
            <a:r>
              <a:rPr lang="en-US" sz="2000" dirty="0">
                <a:solidFill>
                  <a:schemeClr val="tx2"/>
                </a:solidFill>
              </a:rPr>
              <a:t>Fault Tolerance (failure of one node doesn’t crash system).</a:t>
            </a:r>
          </a:p>
          <a:p>
            <a:endParaRPr lang="en-US" sz="2000" dirty="0">
              <a:solidFill>
                <a:schemeClr val="tx2"/>
              </a:solidFill>
            </a:endParaRPr>
          </a:p>
          <a:p>
            <a:r>
              <a:rPr lang="en-US" sz="2000" dirty="0">
                <a:solidFill>
                  <a:schemeClr val="tx2"/>
                </a:solidFill>
              </a:rPr>
              <a:t>Performance (parallel execution improves efficiency).</a:t>
            </a:r>
          </a:p>
          <a:p>
            <a:endParaRPr lang="en-US" sz="2000" dirty="0">
              <a:solidFill>
                <a:schemeClr val="tx2"/>
              </a:solidFill>
            </a:endParaRPr>
          </a:p>
          <a:p>
            <a:r>
              <a:rPr lang="en-US" sz="2000" dirty="0">
                <a:solidFill>
                  <a:schemeClr val="tx2"/>
                </a:solidFill>
              </a:rPr>
              <a:t>Flexibility (works across heterogeneous platforms).</a:t>
            </a:r>
          </a:p>
          <a:p>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66238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760020" y="641269"/>
            <a:ext cx="10300255" cy="5795158"/>
          </a:xfrm>
        </p:spPr>
        <p:txBody>
          <a:bodyPr>
            <a:normAutofit/>
          </a:bodyPr>
          <a:lstStyle/>
          <a:p>
            <a:pPr marL="0" indent="0">
              <a:buNone/>
            </a:pPr>
            <a:r>
              <a:rPr lang="en-US" sz="2000" b="1" dirty="0">
                <a:solidFill>
                  <a:schemeClr val="tx2"/>
                </a:solidFill>
                <a:latin typeface="Arial" panose="020B0604020202020204" pitchFamily="34" charset="0"/>
              </a:rPr>
              <a:t>Challenges in Distributed Systems:</a:t>
            </a:r>
          </a:p>
          <a:p>
            <a:pPr marL="0" indent="0">
              <a:buNone/>
            </a:pPr>
            <a:endParaRPr lang="en-US" sz="2000" b="1" dirty="0">
              <a:solidFill>
                <a:schemeClr val="tx2"/>
              </a:solidFill>
              <a:latin typeface="Arial" panose="020B0604020202020204" pitchFamily="34" charset="0"/>
            </a:endParaRPr>
          </a:p>
          <a:p>
            <a:r>
              <a:rPr lang="en-US" sz="2000" dirty="0">
                <a:solidFill>
                  <a:schemeClr val="tx2"/>
                </a:solidFill>
                <a:latin typeface="Arial" panose="020B0604020202020204" pitchFamily="34" charset="0"/>
              </a:rPr>
              <a:t>Scalability Issues: Managing large networks, consistency, and replication.</a:t>
            </a:r>
          </a:p>
          <a:p>
            <a:endParaRPr lang="en-US" sz="2000" dirty="0">
              <a:solidFill>
                <a:schemeClr val="tx2"/>
              </a:solidFill>
              <a:latin typeface="Arial" panose="020B0604020202020204" pitchFamily="34" charset="0"/>
            </a:endParaRPr>
          </a:p>
          <a:p>
            <a:r>
              <a:rPr lang="en-US" sz="2000" dirty="0">
                <a:solidFill>
                  <a:schemeClr val="tx2"/>
                </a:solidFill>
                <a:latin typeface="Arial" panose="020B0604020202020204" pitchFamily="34" charset="0"/>
              </a:rPr>
              <a:t>Fault Tolerance: Detecting and recovering from failures is complex.</a:t>
            </a:r>
          </a:p>
          <a:p>
            <a:endParaRPr lang="en-US" sz="2000" dirty="0">
              <a:solidFill>
                <a:schemeClr val="tx2"/>
              </a:solidFill>
              <a:latin typeface="Arial" panose="020B0604020202020204" pitchFamily="34" charset="0"/>
            </a:endParaRPr>
          </a:p>
          <a:p>
            <a:r>
              <a:rPr lang="en-US" sz="2000" dirty="0">
                <a:solidFill>
                  <a:schemeClr val="tx2"/>
                </a:solidFill>
                <a:latin typeface="Arial" panose="020B0604020202020204" pitchFamily="34" charset="0"/>
              </a:rPr>
              <a:t>Heterogeneity: Different hardware, OS, and networks must cooperate.</a:t>
            </a:r>
          </a:p>
          <a:p>
            <a:endParaRPr lang="en-US" sz="2000" dirty="0">
              <a:solidFill>
                <a:schemeClr val="tx2"/>
              </a:solidFill>
              <a:latin typeface="Arial" panose="020B0604020202020204" pitchFamily="34" charset="0"/>
            </a:endParaRPr>
          </a:p>
          <a:p>
            <a:r>
              <a:rPr lang="en-US" sz="2000" dirty="0">
                <a:solidFill>
                  <a:schemeClr val="tx2"/>
                </a:solidFill>
                <a:latin typeface="Arial" panose="020B0604020202020204" pitchFamily="34" charset="0"/>
              </a:rPr>
              <a:t>Security: Authentication, access control, and secure communication.</a:t>
            </a:r>
          </a:p>
          <a:p>
            <a:endParaRPr lang="en-US" sz="2000" dirty="0">
              <a:solidFill>
                <a:schemeClr val="tx2"/>
              </a:solidFill>
              <a:latin typeface="Arial" panose="020B0604020202020204" pitchFamily="34" charset="0"/>
            </a:endParaRPr>
          </a:p>
          <a:p>
            <a:r>
              <a:rPr lang="en-US" sz="2000" dirty="0">
                <a:solidFill>
                  <a:schemeClr val="tx2"/>
                </a:solidFill>
                <a:latin typeface="Arial" panose="020B0604020202020204" pitchFamily="34" charset="0"/>
              </a:rPr>
              <a:t>Concurrency Control: Avoiding conflicts when multiple users access shared data</a:t>
            </a:r>
          </a:p>
          <a:p>
            <a:pPr marL="0" indent="0">
              <a:buNone/>
            </a:pPr>
            <a:endParaRPr lang="en-US" sz="2000" dirty="0">
              <a:solidFill>
                <a:schemeClr val="tx2"/>
              </a:solidFill>
              <a:latin typeface="Arial" panose="020B0604020202020204" pitchFamily="34" charset="0"/>
            </a:endParaRPr>
          </a:p>
          <a:p>
            <a:r>
              <a:rPr lang="en-US" sz="2000" dirty="0">
                <a:solidFill>
                  <a:schemeClr val="tx2"/>
                </a:solidFill>
                <a:latin typeface="Arial" panose="020B0604020202020204" pitchFamily="34" charset="0"/>
              </a:rPr>
              <a:t>Transparency Maintenance: Hiding complexity while ensuring performance.</a:t>
            </a:r>
          </a:p>
          <a:p>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04121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728059" y="50885"/>
            <a:ext cx="10300255" cy="6266788"/>
          </a:xfrm>
        </p:spPr>
        <p:txBody>
          <a:bodyPr>
            <a:normAutofit/>
          </a:bodyPr>
          <a:lstStyle/>
          <a:p>
            <a:pPr marL="0" indent="0">
              <a:buFont typeface="Arial" panose="020B0604020202020204" pitchFamily="34" charset="0"/>
              <a:buNone/>
            </a:pPr>
            <a:r>
              <a:rPr lang="en-US" sz="2000" b="1" dirty="0">
                <a:solidFill>
                  <a:schemeClr val="tx2"/>
                </a:solidFill>
                <a:latin typeface="Arial" panose="020B0604020202020204" pitchFamily="34" charset="0"/>
              </a:rPr>
              <a:t> Architectural model :</a:t>
            </a:r>
          </a:p>
          <a:p>
            <a:pPr marL="0" indent="0">
              <a:buNone/>
            </a:pPr>
            <a:r>
              <a:rPr lang="en-US" sz="1800" dirty="0">
                <a:solidFill>
                  <a:schemeClr val="tx2"/>
                </a:solidFill>
                <a:latin typeface="Arial" panose="020B0604020202020204" pitchFamily="34" charset="0"/>
              </a:rPr>
              <a:t>An architectural model defines how components (processes, nodes, and communication mechanisms) of a distributed system are organized and interact to provide system services.</a:t>
            </a:r>
          </a:p>
          <a:p>
            <a:pPr marL="0" indent="0">
              <a:buNone/>
            </a:pPr>
            <a:r>
              <a:rPr lang="en-US" sz="1800" dirty="0">
                <a:solidFill>
                  <a:schemeClr val="tx2"/>
                </a:solidFill>
                <a:latin typeface="Arial" panose="020B0604020202020204" pitchFamily="34" charset="0"/>
              </a:rPr>
              <a:t>It specifies:</a:t>
            </a:r>
          </a:p>
          <a:p>
            <a:pPr>
              <a:buFont typeface="Arial" panose="020B0604020202020204" pitchFamily="34" charset="0"/>
              <a:buChar char="•"/>
            </a:pPr>
            <a:r>
              <a:rPr lang="en-US" sz="1800" dirty="0">
                <a:solidFill>
                  <a:schemeClr val="tx2"/>
                </a:solidFill>
                <a:latin typeface="Arial" panose="020B0604020202020204" pitchFamily="34" charset="0"/>
              </a:rPr>
              <a:t>System structure (how components are arranged)</a:t>
            </a:r>
          </a:p>
          <a:p>
            <a:pPr>
              <a:buFont typeface="Arial" panose="020B0604020202020204" pitchFamily="34" charset="0"/>
              <a:buChar char="•"/>
            </a:pPr>
            <a:r>
              <a:rPr lang="en-US" sz="1800" dirty="0">
                <a:solidFill>
                  <a:schemeClr val="tx2"/>
                </a:solidFill>
                <a:latin typeface="Arial" panose="020B0604020202020204" pitchFamily="34" charset="0"/>
              </a:rPr>
              <a:t>Control distribution (centralized or decentralized)</a:t>
            </a:r>
          </a:p>
          <a:p>
            <a:pPr>
              <a:buFont typeface="Arial" panose="020B0604020202020204" pitchFamily="34" charset="0"/>
              <a:buChar char="•"/>
            </a:pPr>
            <a:r>
              <a:rPr lang="en-US" sz="1800" dirty="0">
                <a:solidFill>
                  <a:schemeClr val="tx2"/>
                </a:solidFill>
                <a:latin typeface="Arial" panose="020B0604020202020204" pitchFamily="34" charset="0"/>
              </a:rPr>
              <a:t>Communication patterns (client-server, peer-to-peer, etc.)</a:t>
            </a:r>
          </a:p>
          <a:p>
            <a:pPr>
              <a:buFont typeface="Arial" panose="020B0604020202020204" pitchFamily="34" charset="0"/>
              <a:buChar char="•"/>
            </a:pPr>
            <a:r>
              <a:rPr lang="en-US" sz="1800" dirty="0">
                <a:solidFill>
                  <a:schemeClr val="tx2"/>
                </a:solidFill>
                <a:latin typeface="Arial" panose="020B0604020202020204" pitchFamily="34" charset="0"/>
              </a:rPr>
              <a:t>Data management (how data is shared and synchronized)</a:t>
            </a:r>
          </a:p>
          <a:p>
            <a:endParaRPr lang="en-IN" sz="1800" dirty="0">
              <a:solidFill>
                <a:schemeClr val="tx2"/>
              </a:solidFill>
            </a:endParaRPr>
          </a:p>
          <a:p>
            <a:pPr marL="0" indent="0">
              <a:buNone/>
            </a:pPr>
            <a:endParaRPr lang="en-IN" sz="1800" dirty="0">
              <a:solidFill>
                <a:schemeClr val="tx2"/>
              </a:solidFill>
            </a:endParaRPr>
          </a:p>
          <a:p>
            <a:pPr marL="0" indent="0">
              <a:buNone/>
            </a:pPr>
            <a:r>
              <a:rPr lang="en-US" sz="1800" b="1" dirty="0">
                <a:solidFill>
                  <a:schemeClr val="tx2"/>
                </a:solidFill>
                <a:latin typeface="Arial" panose="020B0604020202020204" pitchFamily="34" charset="0"/>
              </a:rPr>
              <a:t>Main Architectural Models</a:t>
            </a:r>
          </a:p>
          <a:p>
            <a:pPr marL="0" indent="0">
              <a:buNone/>
            </a:pPr>
            <a:r>
              <a:rPr lang="en-US" sz="1800" dirty="0">
                <a:solidFill>
                  <a:schemeClr val="tx2"/>
                </a:solidFill>
                <a:latin typeface="Arial" panose="020B0604020202020204" pitchFamily="34" charset="0"/>
              </a:rPr>
              <a:t>Distributed systems can be organized into three broad styles:</a:t>
            </a:r>
          </a:p>
          <a:p>
            <a:r>
              <a:rPr lang="en-US" sz="1800" b="1" dirty="0">
                <a:solidFill>
                  <a:schemeClr val="accent4">
                    <a:lumMod val="50000"/>
                  </a:schemeClr>
                </a:solidFill>
                <a:latin typeface="Arial" panose="020B0604020202020204" pitchFamily="34" charset="0"/>
              </a:rPr>
              <a:t>Client–Server Model</a:t>
            </a:r>
          </a:p>
          <a:p>
            <a:r>
              <a:rPr lang="en-US" sz="1800" b="1" dirty="0">
                <a:solidFill>
                  <a:schemeClr val="accent4">
                    <a:lumMod val="50000"/>
                  </a:schemeClr>
                </a:solidFill>
                <a:latin typeface="Arial" panose="020B0604020202020204" pitchFamily="34" charset="0"/>
              </a:rPr>
              <a:t>Peer-to-Peer (P2P) Model</a:t>
            </a:r>
          </a:p>
          <a:p>
            <a:r>
              <a:rPr lang="en-US" sz="1800" b="1" dirty="0">
                <a:solidFill>
                  <a:schemeClr val="accent4">
                    <a:lumMod val="50000"/>
                  </a:schemeClr>
                </a:solidFill>
                <a:latin typeface="Arial" panose="020B0604020202020204" pitchFamily="34" charset="0"/>
              </a:rPr>
              <a:t>Hybrid Model</a:t>
            </a:r>
          </a:p>
          <a:p>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14DBFD44-4391-F604-BB9C-01959577B47B}"/>
              </a:ext>
            </a:extLst>
          </p:cNvPr>
          <p:cNvPicPr>
            <a:picLocks noChangeAspect="1"/>
          </p:cNvPicPr>
          <p:nvPr/>
        </p:nvPicPr>
        <p:blipFill>
          <a:blip r:embed="rId2"/>
          <a:stretch>
            <a:fillRect/>
          </a:stretch>
        </p:blipFill>
        <p:spPr>
          <a:xfrm>
            <a:off x="7295965" y="2433861"/>
            <a:ext cx="4745613" cy="4475023"/>
          </a:xfrm>
          <a:prstGeom prst="rect">
            <a:avLst/>
          </a:prstGeom>
        </p:spPr>
      </p:pic>
    </p:spTree>
    <p:extLst>
      <p:ext uri="{BB962C8B-B14F-4D97-AF65-F5344CB8AC3E}">
        <p14:creationId xmlns:p14="http://schemas.microsoft.com/office/powerpoint/2010/main" val="1682097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277310" y="112890"/>
            <a:ext cx="7311022" cy="6632219"/>
          </a:xfrm>
        </p:spPr>
        <p:txBody>
          <a:bodyPr>
            <a:normAutofit/>
          </a:bodyPr>
          <a:lstStyle/>
          <a:p>
            <a:pPr marL="0" indent="0">
              <a:lnSpc>
                <a:spcPct val="100000"/>
              </a:lnSpc>
              <a:buNone/>
            </a:pPr>
            <a:r>
              <a:rPr lang="en-US" sz="2600" b="1" dirty="0">
                <a:solidFill>
                  <a:schemeClr val="tx2"/>
                </a:solidFill>
                <a:latin typeface="Arial" panose="020B0604020202020204" pitchFamily="34" charset="0"/>
              </a:rPr>
              <a:t>Architectural Models of Distributed Systems</a:t>
            </a:r>
          </a:p>
          <a:p>
            <a:pPr marL="0" indent="0">
              <a:lnSpc>
                <a:spcPct val="100000"/>
              </a:lnSpc>
              <a:buNone/>
            </a:pPr>
            <a:r>
              <a:rPr lang="en-US" sz="1800" b="1" dirty="0">
                <a:solidFill>
                  <a:schemeClr val="tx2"/>
                </a:solidFill>
                <a:latin typeface="Arial" panose="020B0604020202020204" pitchFamily="34" charset="0"/>
              </a:rPr>
              <a:t>a) Client–Server Model</a:t>
            </a:r>
          </a:p>
          <a:p>
            <a:pPr>
              <a:lnSpc>
                <a:spcPct val="100000"/>
              </a:lnSpc>
            </a:pPr>
            <a:r>
              <a:rPr lang="en-US" sz="1800" dirty="0">
                <a:solidFill>
                  <a:schemeClr val="tx2"/>
                </a:solidFill>
                <a:latin typeface="Arial" panose="020B0604020202020204" pitchFamily="34" charset="0"/>
              </a:rPr>
              <a:t>The server provides services or resources.</a:t>
            </a:r>
          </a:p>
          <a:p>
            <a:pPr>
              <a:lnSpc>
                <a:spcPct val="100000"/>
              </a:lnSpc>
            </a:pPr>
            <a:r>
              <a:rPr lang="en-US" sz="1800" dirty="0">
                <a:solidFill>
                  <a:schemeClr val="tx2"/>
                </a:solidFill>
                <a:latin typeface="Arial" panose="020B0604020202020204" pitchFamily="34" charset="0"/>
              </a:rPr>
              <a:t>The client requests and uses those services.</a:t>
            </a:r>
          </a:p>
          <a:p>
            <a:pPr>
              <a:lnSpc>
                <a:spcPct val="100000"/>
              </a:lnSpc>
            </a:pPr>
            <a:r>
              <a:rPr lang="en-US" sz="1800" dirty="0">
                <a:solidFill>
                  <a:schemeClr val="tx2"/>
                </a:solidFill>
                <a:latin typeface="Arial" panose="020B0604020202020204" pitchFamily="34" charset="0"/>
              </a:rPr>
              <a:t>They communicate through a network using standard protocols like HTTP, FTP, RPC, etc.</a:t>
            </a:r>
          </a:p>
          <a:p>
            <a:pPr>
              <a:lnSpc>
                <a:spcPct val="100000"/>
              </a:lnSpc>
            </a:pPr>
            <a:r>
              <a:rPr lang="en-US" sz="1800" dirty="0">
                <a:solidFill>
                  <a:schemeClr val="tx2"/>
                </a:solidFill>
                <a:latin typeface="Arial" panose="020B0604020202020204" pitchFamily="34" charset="0"/>
              </a:rPr>
              <a:t>Centralized control.</a:t>
            </a:r>
          </a:p>
          <a:p>
            <a:pPr>
              <a:lnSpc>
                <a:spcPct val="100000"/>
              </a:lnSpc>
            </a:pPr>
            <a:r>
              <a:rPr lang="en-US" sz="1800" dirty="0">
                <a:solidFill>
                  <a:schemeClr val="tx2"/>
                </a:solidFill>
                <a:latin typeface="Arial" panose="020B0604020202020204" pitchFamily="34" charset="0"/>
              </a:rPr>
              <a:t>Examples: Web servers, email servers.</a:t>
            </a:r>
          </a:p>
          <a:p>
            <a:pPr marL="0" indent="0">
              <a:lnSpc>
                <a:spcPct val="100000"/>
              </a:lnSpc>
              <a:buNone/>
            </a:pPr>
            <a:r>
              <a:rPr lang="en-US" sz="1800" dirty="0">
                <a:solidFill>
                  <a:schemeClr val="tx2"/>
                </a:solidFill>
                <a:latin typeface="Arial" panose="020B0604020202020204" pitchFamily="34" charset="0"/>
              </a:rPr>
              <a:t>   Advantage: Simple to design.</a:t>
            </a:r>
          </a:p>
          <a:p>
            <a:pPr marL="0" indent="0">
              <a:lnSpc>
                <a:spcPct val="100000"/>
              </a:lnSpc>
              <a:buNone/>
            </a:pPr>
            <a:r>
              <a:rPr lang="en-US" sz="1800" dirty="0">
                <a:solidFill>
                  <a:schemeClr val="tx2"/>
                </a:solidFill>
                <a:latin typeface="Arial" panose="020B0604020202020204" pitchFamily="34" charset="0"/>
              </a:rPr>
              <a:t>  Disadvantage: Single point of failure, scalability issues.</a:t>
            </a:r>
          </a:p>
          <a:p>
            <a:pPr marL="0" indent="0">
              <a:buNone/>
            </a:pPr>
            <a:endParaRPr lang="fr-FR" sz="1800" dirty="0">
              <a:solidFill>
                <a:schemeClr val="tx2"/>
              </a:solidFill>
            </a:endParaRPr>
          </a:p>
          <a:p>
            <a:pPr marL="0" indent="0">
              <a:buNone/>
            </a:pPr>
            <a:endParaRPr lang="fr-FR" sz="1800" dirty="0">
              <a:solidFill>
                <a:schemeClr val="tx2"/>
              </a:solidFill>
            </a:endParaRPr>
          </a:p>
          <a:p>
            <a:pPr marL="0" indent="0">
              <a:buNone/>
            </a:pPr>
            <a:r>
              <a:rPr lang="fr-FR" sz="1800" dirty="0">
                <a:solidFill>
                  <a:schemeClr val="tx2"/>
                </a:solidFill>
              </a:rPr>
              <a:t>   [ Client 1 ]      [ Client 2 ]</a:t>
            </a:r>
          </a:p>
          <a:p>
            <a:pPr marL="0" indent="0">
              <a:buNone/>
            </a:pPr>
            <a:r>
              <a:rPr lang="fr-FR" sz="1800" dirty="0">
                <a:solidFill>
                  <a:schemeClr val="tx2"/>
                </a:solidFill>
              </a:rPr>
              <a:t>     |                           |</a:t>
            </a:r>
          </a:p>
          <a:p>
            <a:pPr marL="0" indent="0">
              <a:buNone/>
            </a:pPr>
            <a:r>
              <a:rPr lang="fr-FR" sz="1800" dirty="0">
                <a:solidFill>
                  <a:schemeClr val="tx2"/>
                </a:solidFill>
              </a:rPr>
              <a:t>     |--- </a:t>
            </a:r>
            <a:r>
              <a:rPr lang="fr-FR" sz="1800" dirty="0" err="1">
                <a:solidFill>
                  <a:schemeClr val="tx2"/>
                </a:solidFill>
              </a:rPr>
              <a:t>Requests</a:t>
            </a:r>
            <a:r>
              <a:rPr lang="fr-FR" sz="1800" dirty="0">
                <a:solidFill>
                  <a:schemeClr val="tx2"/>
                </a:solidFill>
              </a:rPr>
              <a:t> ---&gt; [ Server ]</a:t>
            </a:r>
          </a:p>
          <a:p>
            <a:pPr marL="0" indent="0">
              <a:buNone/>
            </a:pPr>
            <a:r>
              <a:rPr lang="fr-FR" sz="1800" dirty="0">
                <a:solidFill>
                  <a:schemeClr val="tx2"/>
                </a:solidFill>
              </a:rPr>
              <a:t>     |&lt;-- </a:t>
            </a:r>
            <a:r>
              <a:rPr lang="fr-FR" sz="1800" dirty="0" err="1">
                <a:solidFill>
                  <a:schemeClr val="tx2"/>
                </a:solidFill>
              </a:rPr>
              <a:t>Responses</a:t>
            </a:r>
            <a:r>
              <a:rPr lang="fr-FR" sz="1800" dirty="0">
                <a:solidFill>
                  <a:schemeClr val="tx2"/>
                </a:solidFill>
              </a:rPr>
              <a:t> --- |</a:t>
            </a:r>
          </a:p>
          <a:p>
            <a:pPr marL="0" indent="0">
              <a:buNone/>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AEC2EF12-FE1D-95A8-CF93-532E9E53EFCC}"/>
              </a:ext>
            </a:extLst>
          </p:cNvPr>
          <p:cNvPicPr>
            <a:picLocks noChangeAspect="1"/>
          </p:cNvPicPr>
          <p:nvPr/>
        </p:nvPicPr>
        <p:blipFill>
          <a:blip r:embed="rId2"/>
          <a:stretch>
            <a:fillRect/>
          </a:stretch>
        </p:blipFill>
        <p:spPr>
          <a:xfrm>
            <a:off x="7493331" y="1686297"/>
            <a:ext cx="4704736" cy="4685619"/>
          </a:xfrm>
          <a:prstGeom prst="rect">
            <a:avLst/>
          </a:prstGeom>
        </p:spPr>
      </p:pic>
    </p:spTree>
    <p:extLst>
      <p:ext uri="{BB962C8B-B14F-4D97-AF65-F5344CB8AC3E}">
        <p14:creationId xmlns:p14="http://schemas.microsoft.com/office/powerpoint/2010/main" val="3542281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643468" y="225778"/>
            <a:ext cx="6793532" cy="6632219"/>
          </a:xfrm>
        </p:spPr>
        <p:txBody>
          <a:bodyPr>
            <a:normAutofit/>
          </a:bodyPr>
          <a:lstStyle/>
          <a:p>
            <a:pPr marL="0" indent="0">
              <a:lnSpc>
                <a:spcPct val="100000"/>
              </a:lnSpc>
              <a:buNone/>
            </a:pPr>
            <a:r>
              <a:rPr lang="en-US" sz="1800" b="1" dirty="0">
                <a:solidFill>
                  <a:schemeClr val="tx2"/>
                </a:solidFill>
                <a:latin typeface="Arial" panose="020B0604020202020204" pitchFamily="34" charset="0"/>
              </a:rPr>
              <a:t>Architectural Models of Distributed Systems</a:t>
            </a:r>
          </a:p>
          <a:p>
            <a:pPr marL="0" indent="0">
              <a:lnSpc>
                <a:spcPct val="100000"/>
              </a:lnSpc>
              <a:buNone/>
            </a:pPr>
            <a:r>
              <a:rPr lang="en-US" sz="1800" b="1" dirty="0">
                <a:solidFill>
                  <a:schemeClr val="tx2"/>
                </a:solidFill>
                <a:latin typeface="Arial" panose="020B0604020202020204" pitchFamily="34" charset="0"/>
              </a:rPr>
              <a:t>b)Peer-to-Peer (P2P) Model</a:t>
            </a:r>
          </a:p>
          <a:p>
            <a:pPr>
              <a:lnSpc>
                <a:spcPct val="100000"/>
              </a:lnSpc>
            </a:pPr>
            <a:r>
              <a:rPr lang="en-US" sz="1800" dirty="0">
                <a:solidFill>
                  <a:schemeClr val="tx2"/>
                </a:solidFill>
                <a:latin typeface="Arial" panose="020B0604020202020204" pitchFamily="34" charset="0"/>
              </a:rPr>
              <a:t> In this model:</a:t>
            </a:r>
          </a:p>
          <a:p>
            <a:pPr>
              <a:lnSpc>
                <a:spcPct val="100000"/>
              </a:lnSpc>
            </a:pPr>
            <a:r>
              <a:rPr lang="en-US" sz="1800" dirty="0">
                <a:solidFill>
                  <a:schemeClr val="tx2"/>
                </a:solidFill>
                <a:latin typeface="Arial" panose="020B0604020202020204" pitchFamily="34" charset="0"/>
              </a:rPr>
              <a:t>Each node (peer) acts as both client and server.</a:t>
            </a:r>
          </a:p>
          <a:p>
            <a:pPr>
              <a:lnSpc>
                <a:spcPct val="100000"/>
              </a:lnSpc>
            </a:pPr>
            <a:r>
              <a:rPr lang="en-US" sz="1800" dirty="0">
                <a:solidFill>
                  <a:schemeClr val="tx2"/>
                </a:solidFill>
                <a:latin typeface="Arial" panose="020B0604020202020204" pitchFamily="34" charset="0"/>
              </a:rPr>
              <a:t>All peers are equal participants, sharing resources directly without centralized coordination.</a:t>
            </a:r>
          </a:p>
          <a:p>
            <a:pPr>
              <a:lnSpc>
                <a:spcPct val="100000"/>
              </a:lnSpc>
            </a:pPr>
            <a:r>
              <a:rPr lang="en-US" sz="1800" dirty="0">
                <a:solidFill>
                  <a:schemeClr val="tx2"/>
                </a:solidFill>
                <a:latin typeface="Arial" panose="020B0604020202020204" pitchFamily="34" charset="0"/>
              </a:rPr>
              <a:t>No central authority.</a:t>
            </a:r>
          </a:p>
          <a:p>
            <a:pPr marL="0" indent="0">
              <a:lnSpc>
                <a:spcPct val="100000"/>
              </a:lnSpc>
              <a:buNone/>
            </a:pPr>
            <a:endParaRPr lang="en-US" sz="1800" dirty="0">
              <a:solidFill>
                <a:schemeClr val="tx2"/>
              </a:solidFill>
              <a:latin typeface="Arial" panose="020B0604020202020204" pitchFamily="34" charset="0"/>
            </a:endParaRPr>
          </a:p>
          <a:p>
            <a:pPr>
              <a:lnSpc>
                <a:spcPct val="100000"/>
              </a:lnSpc>
            </a:pPr>
            <a:r>
              <a:rPr lang="en-US" sz="1800" dirty="0">
                <a:solidFill>
                  <a:schemeClr val="tx2"/>
                </a:solidFill>
                <a:latin typeface="Arial" panose="020B0604020202020204" pitchFamily="34" charset="0"/>
              </a:rPr>
              <a:t>Examples: BitTorrent, blockchain, Skype (early versions).</a:t>
            </a:r>
          </a:p>
          <a:p>
            <a:pPr>
              <a:lnSpc>
                <a:spcPct val="100000"/>
              </a:lnSpc>
            </a:pPr>
            <a:r>
              <a:rPr lang="en-US" sz="1800" dirty="0">
                <a:solidFill>
                  <a:schemeClr val="tx2"/>
                </a:solidFill>
                <a:latin typeface="Arial" panose="020B0604020202020204" pitchFamily="34" charset="0"/>
              </a:rPr>
              <a:t>Advantage: Scalable, fault-tolerant.</a:t>
            </a:r>
          </a:p>
          <a:p>
            <a:pPr>
              <a:lnSpc>
                <a:spcPct val="100000"/>
              </a:lnSpc>
            </a:pPr>
            <a:r>
              <a:rPr lang="en-US" sz="1800" dirty="0">
                <a:solidFill>
                  <a:schemeClr val="tx2"/>
                </a:solidFill>
                <a:latin typeface="Arial" panose="020B0604020202020204" pitchFamily="34" charset="0"/>
              </a:rPr>
              <a:t>Disadvantage: Complex resource management and security.</a:t>
            </a:r>
          </a:p>
          <a:p>
            <a:pPr>
              <a:lnSpc>
                <a:spcPct val="100000"/>
              </a:lnSpc>
            </a:pPr>
            <a:endParaRPr lang="en-US" sz="1800" dirty="0">
              <a:solidFill>
                <a:schemeClr val="tx2"/>
              </a:solidFill>
              <a:latin typeface="Arial" panose="020B0604020202020204" pitchFamily="34" charset="0"/>
            </a:endParaRPr>
          </a:p>
          <a:p>
            <a:pPr marL="0" indent="0">
              <a:buNone/>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7CE50941-9B97-E333-6AEB-663BFA3933CA}"/>
              </a:ext>
            </a:extLst>
          </p:cNvPr>
          <p:cNvSpPr txBox="1"/>
          <p:nvPr/>
        </p:nvSpPr>
        <p:spPr>
          <a:xfrm>
            <a:off x="923782" y="5846043"/>
            <a:ext cx="6097978" cy="923330"/>
          </a:xfrm>
          <a:prstGeom prst="rect">
            <a:avLst/>
          </a:prstGeom>
          <a:noFill/>
        </p:spPr>
        <p:txBody>
          <a:bodyPr wrap="square">
            <a:spAutoFit/>
          </a:bodyPr>
          <a:lstStyle/>
          <a:p>
            <a:r>
              <a:rPr lang="en-IN" dirty="0"/>
              <a:t> [Peer A] &lt;--&gt; [Peer B] &lt;--&gt; [Peer C]</a:t>
            </a:r>
          </a:p>
          <a:p>
            <a:r>
              <a:rPr lang="en-IN" dirty="0"/>
              <a:t>     ^                            |              |</a:t>
            </a:r>
          </a:p>
          <a:p>
            <a:r>
              <a:rPr lang="en-IN" dirty="0"/>
              <a:t>     |_____________|______ |</a:t>
            </a:r>
          </a:p>
        </p:txBody>
      </p:sp>
      <p:pic>
        <p:nvPicPr>
          <p:cNvPr id="2" name="Picture 1">
            <a:extLst>
              <a:ext uri="{FF2B5EF4-FFF2-40B4-BE49-F238E27FC236}">
                <a16:creationId xmlns:a16="http://schemas.microsoft.com/office/drawing/2014/main" id="{655F8BCD-C776-4BF9-1D85-B237FDC30F3E}"/>
              </a:ext>
            </a:extLst>
          </p:cNvPr>
          <p:cNvPicPr>
            <a:picLocks noChangeAspect="1"/>
          </p:cNvPicPr>
          <p:nvPr/>
        </p:nvPicPr>
        <p:blipFill>
          <a:blip r:embed="rId2"/>
          <a:stretch>
            <a:fillRect/>
          </a:stretch>
        </p:blipFill>
        <p:spPr>
          <a:xfrm>
            <a:off x="7184571" y="546265"/>
            <a:ext cx="4727421" cy="4545115"/>
          </a:xfrm>
          <a:prstGeom prst="rect">
            <a:avLst/>
          </a:prstGeom>
        </p:spPr>
      </p:pic>
    </p:spTree>
    <p:extLst>
      <p:ext uri="{BB962C8B-B14F-4D97-AF65-F5344CB8AC3E}">
        <p14:creationId xmlns:p14="http://schemas.microsoft.com/office/powerpoint/2010/main" val="1040178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643467" y="225778"/>
            <a:ext cx="6541104" cy="6632219"/>
          </a:xfrm>
        </p:spPr>
        <p:txBody>
          <a:bodyPr>
            <a:normAutofit/>
          </a:bodyPr>
          <a:lstStyle/>
          <a:p>
            <a:pPr marL="0" indent="0">
              <a:lnSpc>
                <a:spcPct val="100000"/>
              </a:lnSpc>
              <a:buNone/>
            </a:pPr>
            <a:r>
              <a:rPr lang="en-US" sz="2000" b="1" dirty="0">
                <a:solidFill>
                  <a:schemeClr val="tx2"/>
                </a:solidFill>
                <a:latin typeface="Arial" panose="020B0604020202020204" pitchFamily="34" charset="0"/>
              </a:rPr>
              <a:t>Architectural Models of Distributed Systems</a:t>
            </a:r>
          </a:p>
          <a:p>
            <a:pPr marL="0" indent="0">
              <a:lnSpc>
                <a:spcPct val="100000"/>
              </a:lnSpc>
              <a:buNone/>
            </a:pPr>
            <a:r>
              <a:rPr lang="en-US" sz="2000" b="1" dirty="0">
                <a:solidFill>
                  <a:schemeClr val="tx2"/>
                </a:solidFill>
                <a:latin typeface="Arial" panose="020B0604020202020204" pitchFamily="34" charset="0"/>
              </a:rPr>
              <a:t>c) Hybrid Mod</a:t>
            </a:r>
            <a:r>
              <a:rPr lang="en-US" sz="2000" dirty="0">
                <a:solidFill>
                  <a:schemeClr val="tx2"/>
                </a:solidFill>
                <a:latin typeface="Arial" panose="020B0604020202020204" pitchFamily="34" charset="0"/>
              </a:rPr>
              <a:t>el</a:t>
            </a:r>
          </a:p>
          <a:p>
            <a:pPr marR="0" lvl="0" fontAlgn="base">
              <a:lnSpc>
                <a:spcPct val="100000"/>
              </a:lnSpc>
              <a:spcAft>
                <a:spcPct val="0"/>
              </a:spcAft>
              <a:buClrTx/>
              <a:buSzTx/>
              <a:tabLst/>
            </a:pPr>
            <a:r>
              <a:rPr lang="en-US" altLang="en-US" sz="1800" dirty="0">
                <a:solidFill>
                  <a:schemeClr val="tx2"/>
                </a:solidFill>
                <a:latin typeface="Arial" panose="020B0604020202020204" pitchFamily="34" charset="0"/>
              </a:rPr>
              <a:t>Combines features of Client–Server and P2P models.</a:t>
            </a:r>
          </a:p>
          <a:p>
            <a:pPr marR="0" lvl="0" fontAlgn="base">
              <a:lnSpc>
                <a:spcPct val="100000"/>
              </a:lnSpc>
              <a:spcAft>
                <a:spcPct val="0"/>
              </a:spcAft>
              <a:buClrTx/>
              <a:buSzTx/>
              <a:tabLst/>
            </a:pPr>
            <a:r>
              <a:rPr lang="en-US" altLang="en-US" sz="1800" dirty="0">
                <a:solidFill>
                  <a:schemeClr val="tx2"/>
                </a:solidFill>
                <a:latin typeface="Arial" panose="020B0604020202020204" pitchFamily="34" charset="0"/>
              </a:rPr>
              <a:t>Often uses a central server for coordination (indexing, authentication), but data exchange happens directly between peers.</a:t>
            </a:r>
            <a:endParaRPr lang="en-US" sz="1800" b="1" dirty="0">
              <a:solidFill>
                <a:schemeClr val="tx2"/>
              </a:solidFill>
              <a:latin typeface="Arial" panose="020B0604020202020204" pitchFamily="34" charset="0"/>
            </a:endParaRPr>
          </a:p>
          <a:p>
            <a:pPr>
              <a:lnSpc>
                <a:spcPct val="100000"/>
              </a:lnSpc>
            </a:pPr>
            <a:r>
              <a:rPr lang="en-US" sz="1800" dirty="0">
                <a:solidFill>
                  <a:schemeClr val="tx2"/>
                </a:solidFill>
                <a:latin typeface="Arial" panose="020B0604020202020204" pitchFamily="34" charset="0"/>
              </a:rPr>
              <a:t>Combines Client-Server and P2P.</a:t>
            </a:r>
          </a:p>
          <a:p>
            <a:pPr>
              <a:lnSpc>
                <a:spcPct val="100000"/>
              </a:lnSpc>
            </a:pPr>
            <a:r>
              <a:rPr lang="en-US" sz="1800" dirty="0">
                <a:solidFill>
                  <a:schemeClr val="tx2"/>
                </a:solidFill>
                <a:latin typeface="Arial" panose="020B0604020202020204" pitchFamily="34" charset="0"/>
              </a:rPr>
              <a:t>Example: Modern file-sharing (e.g., Napster, Spotify)Cloud gaming </a:t>
            </a:r>
            <a:r>
              <a:rPr lang="en-US" sz="1800" dirty="0" err="1">
                <a:solidFill>
                  <a:schemeClr val="tx2"/>
                </a:solidFill>
                <a:latin typeface="Arial" panose="020B0604020202020204" pitchFamily="34" charset="0"/>
              </a:rPr>
              <a:t>platformsContent</a:t>
            </a:r>
            <a:r>
              <a:rPr lang="en-US" sz="1800" dirty="0">
                <a:solidFill>
                  <a:schemeClr val="tx2"/>
                </a:solidFill>
                <a:latin typeface="Arial" panose="020B0604020202020204" pitchFamily="34" charset="0"/>
              </a:rPr>
              <a:t> delivery networks (CDNs)</a:t>
            </a:r>
          </a:p>
          <a:p>
            <a:pPr>
              <a:lnSpc>
                <a:spcPct val="100000"/>
              </a:lnSpc>
            </a:pPr>
            <a:r>
              <a:rPr lang="en-US" sz="1800" dirty="0">
                <a:solidFill>
                  <a:schemeClr val="tx2"/>
                </a:solidFill>
                <a:latin typeface="Arial" panose="020B0604020202020204" pitchFamily="34" charset="0"/>
              </a:rPr>
              <a:t>Advantage: Balances scalability with centralized control.                              </a:t>
            </a:r>
          </a:p>
          <a:p>
            <a:pPr>
              <a:lnSpc>
                <a:spcPct val="100000"/>
              </a:lnSpc>
            </a:pPr>
            <a:endParaRPr lang="en-US" sz="1800" dirty="0">
              <a:solidFill>
                <a:schemeClr val="tx2"/>
              </a:solidFill>
              <a:latin typeface="Arial" panose="020B0604020202020204" pitchFamily="34" charset="0"/>
            </a:endParaRPr>
          </a:p>
          <a:p>
            <a:pPr marL="0" indent="0">
              <a:lnSpc>
                <a:spcPct val="100000"/>
              </a:lnSpc>
              <a:buNone/>
            </a:pPr>
            <a:r>
              <a:rPr lang="en-US" sz="1800" dirty="0">
                <a:solidFill>
                  <a:schemeClr val="tx2"/>
                </a:solidFill>
                <a:latin typeface="Arial" panose="020B0604020202020204" pitchFamily="34" charset="0"/>
              </a:rPr>
              <a:t>          [ Central Server ]</a:t>
            </a:r>
          </a:p>
          <a:p>
            <a:pPr marL="0" indent="0">
              <a:lnSpc>
                <a:spcPct val="100000"/>
              </a:lnSpc>
              <a:buNone/>
            </a:pPr>
            <a:r>
              <a:rPr lang="en-US" sz="1800" dirty="0">
                <a:solidFill>
                  <a:schemeClr val="tx2"/>
                </a:solidFill>
                <a:latin typeface="Arial" panose="020B0604020202020204" pitchFamily="34" charset="0"/>
              </a:rPr>
              <a:t>                  /   |   \</a:t>
            </a:r>
          </a:p>
          <a:p>
            <a:pPr marL="0" indent="0">
              <a:lnSpc>
                <a:spcPct val="100000"/>
              </a:lnSpc>
              <a:buNone/>
            </a:pPr>
            <a:r>
              <a:rPr lang="en-US" sz="1800" dirty="0">
                <a:solidFill>
                  <a:schemeClr val="tx2"/>
                </a:solidFill>
                <a:latin typeface="Arial" panose="020B0604020202020204" pitchFamily="34" charset="0"/>
              </a:rPr>
              <a:t>           Index   |   Authentication</a:t>
            </a:r>
          </a:p>
          <a:p>
            <a:pPr marL="0" indent="0">
              <a:lnSpc>
                <a:spcPct val="100000"/>
              </a:lnSpc>
              <a:buNone/>
            </a:pPr>
            <a:r>
              <a:rPr lang="en-US" sz="1800" dirty="0">
                <a:solidFill>
                  <a:schemeClr val="tx2"/>
                </a:solidFill>
                <a:latin typeface="Arial" panose="020B0604020202020204" pitchFamily="34" charset="0"/>
              </a:rPr>
              <a:t>                /     |      \</a:t>
            </a:r>
          </a:p>
          <a:p>
            <a:pPr marL="0" indent="0">
              <a:lnSpc>
                <a:spcPct val="100000"/>
              </a:lnSpc>
              <a:buNone/>
            </a:pPr>
            <a:r>
              <a:rPr lang="en-US" sz="1800" dirty="0">
                <a:solidFill>
                  <a:schemeClr val="tx2"/>
                </a:solidFill>
                <a:latin typeface="Arial" panose="020B0604020202020204" pitchFamily="34" charset="0"/>
              </a:rPr>
              <a:t>[Peer 1] &lt;--&gt; [Peer 2] &lt;--&gt; [Peer 3]</a:t>
            </a: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5C17EFD6-38EF-821A-F080-7780CA033EC2}"/>
              </a:ext>
            </a:extLst>
          </p:cNvPr>
          <p:cNvPicPr>
            <a:picLocks noChangeAspect="1"/>
          </p:cNvPicPr>
          <p:nvPr/>
        </p:nvPicPr>
        <p:blipFill>
          <a:blip r:embed="rId2"/>
          <a:stretch>
            <a:fillRect/>
          </a:stretch>
        </p:blipFill>
        <p:spPr>
          <a:xfrm>
            <a:off x="7827577" y="759238"/>
            <a:ext cx="4067078" cy="4560907"/>
          </a:xfrm>
          <a:prstGeom prst="rect">
            <a:avLst/>
          </a:prstGeom>
        </p:spPr>
      </p:pic>
    </p:spTree>
    <p:extLst>
      <p:ext uri="{BB962C8B-B14F-4D97-AF65-F5344CB8AC3E}">
        <p14:creationId xmlns:p14="http://schemas.microsoft.com/office/powerpoint/2010/main" val="4186678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643467" y="225778"/>
            <a:ext cx="11374362" cy="6632219"/>
          </a:xfrm>
        </p:spPr>
        <p:txBody>
          <a:bodyPr>
            <a:normAutofit fontScale="92500" lnSpcReduction="10000"/>
          </a:bodyPr>
          <a:lstStyle/>
          <a:p>
            <a:pPr marL="0" indent="0">
              <a:lnSpc>
                <a:spcPct val="100000"/>
              </a:lnSpc>
              <a:buNone/>
            </a:pPr>
            <a:r>
              <a:rPr lang="en-US" sz="2000" b="1" dirty="0">
                <a:solidFill>
                  <a:schemeClr val="tx2"/>
                </a:solidFill>
                <a:latin typeface="Arial" panose="020B0604020202020204" pitchFamily="34" charset="0"/>
              </a:rPr>
              <a:t>Middleware and its Role</a:t>
            </a:r>
          </a:p>
          <a:p>
            <a:pPr marL="0" indent="0">
              <a:lnSpc>
                <a:spcPct val="100000"/>
              </a:lnSpc>
              <a:buNone/>
            </a:pPr>
            <a:r>
              <a:rPr lang="en-US" sz="1800" dirty="0">
                <a:solidFill>
                  <a:schemeClr val="tx2"/>
                </a:solidFill>
                <a:latin typeface="Arial" panose="020B0604020202020204" pitchFamily="34" charset="0"/>
              </a:rPr>
              <a:t>Middleware = software layer that lies between the OS and distributed applications.</a:t>
            </a:r>
          </a:p>
          <a:p>
            <a:pPr marL="0" indent="0">
              <a:lnSpc>
                <a:spcPct val="100000"/>
              </a:lnSpc>
              <a:buNone/>
            </a:pPr>
            <a:r>
              <a:rPr lang="en-US" sz="1800" b="0" i="0" dirty="0">
                <a:solidFill>
                  <a:srgbClr val="001D35"/>
                </a:solidFill>
                <a:effectLst/>
                <a:latin typeface="+mj-lt"/>
              </a:rPr>
              <a:t>Middleware is a software layer that connects different applications, systems, and databases, acting as a "bridge" to facilitate communication, data exchange, and common services like security and authentication.</a:t>
            </a:r>
          </a:p>
          <a:p>
            <a:pPr marL="0" indent="0">
              <a:lnSpc>
                <a:spcPct val="100000"/>
              </a:lnSpc>
              <a:buNone/>
            </a:pPr>
            <a:r>
              <a:rPr lang="en-US" sz="1800" b="0" i="0" dirty="0">
                <a:solidFill>
                  <a:srgbClr val="001D35"/>
                </a:solidFill>
                <a:effectLst/>
                <a:latin typeface="+mj-lt"/>
              </a:rPr>
              <a:t> Its main role is to simplify development by handling the complex task of integration, allowing developers to focus on building core application features rather than connecting disparate technologies. </a:t>
            </a:r>
          </a:p>
          <a:p>
            <a:pPr marL="0" indent="0">
              <a:lnSpc>
                <a:spcPct val="100000"/>
              </a:lnSpc>
              <a:buNone/>
            </a:pPr>
            <a:r>
              <a:rPr lang="en-US" sz="1800" b="0" i="0" dirty="0">
                <a:solidFill>
                  <a:srgbClr val="001D35"/>
                </a:solidFill>
                <a:effectLst/>
                <a:latin typeface="+mj-lt"/>
              </a:rPr>
              <a:t>Middleware is essential in modern IT for creating seamless, integrated systems in complex environments like multi-cloud and containerized architectures.  </a:t>
            </a:r>
            <a:endParaRPr lang="en-US" sz="1800" dirty="0">
              <a:solidFill>
                <a:schemeClr val="tx2"/>
              </a:solidFill>
              <a:latin typeface="+mj-lt"/>
            </a:endParaRPr>
          </a:p>
          <a:p>
            <a:pPr marL="0" indent="0">
              <a:lnSpc>
                <a:spcPct val="100000"/>
              </a:lnSpc>
              <a:buNone/>
            </a:pPr>
            <a:endParaRPr lang="en-US" sz="1800" dirty="0">
              <a:solidFill>
                <a:schemeClr val="tx2"/>
              </a:solidFill>
              <a:latin typeface="Arial" panose="020B0604020202020204" pitchFamily="34" charset="0"/>
            </a:endParaRPr>
          </a:p>
          <a:p>
            <a:pPr marL="0" indent="0">
              <a:lnSpc>
                <a:spcPct val="100000"/>
              </a:lnSpc>
              <a:buNone/>
            </a:pPr>
            <a:r>
              <a:rPr lang="en-US" sz="1800" dirty="0">
                <a:solidFill>
                  <a:schemeClr val="tx2"/>
                </a:solidFill>
                <a:latin typeface="Arial" panose="020B0604020202020204" pitchFamily="34" charset="0"/>
              </a:rPr>
              <a:t>Functions of Middleware:</a:t>
            </a:r>
          </a:p>
          <a:p>
            <a:pPr>
              <a:lnSpc>
                <a:spcPct val="100000"/>
              </a:lnSpc>
              <a:buFont typeface="Arial" panose="020B0604020202020204" pitchFamily="34" charset="0"/>
              <a:buChar char="•"/>
            </a:pPr>
            <a:r>
              <a:rPr lang="en-US" sz="1800" dirty="0">
                <a:solidFill>
                  <a:schemeClr val="tx2"/>
                </a:solidFill>
                <a:latin typeface="Arial" panose="020B0604020202020204" pitchFamily="34" charset="0"/>
              </a:rPr>
              <a:t>Provides abstraction: hides complexity of distribution.</a:t>
            </a:r>
          </a:p>
          <a:p>
            <a:pPr>
              <a:lnSpc>
                <a:spcPct val="100000"/>
              </a:lnSpc>
              <a:buFont typeface="Arial" panose="020B0604020202020204" pitchFamily="34" charset="0"/>
              <a:buChar char="•"/>
            </a:pPr>
            <a:r>
              <a:rPr lang="en-US" sz="1800" dirty="0">
                <a:solidFill>
                  <a:schemeClr val="tx2"/>
                </a:solidFill>
                <a:latin typeface="Arial" panose="020B0604020202020204" pitchFamily="34" charset="0"/>
              </a:rPr>
              <a:t>Supports communication: message passing, RPC, RMI.</a:t>
            </a:r>
          </a:p>
          <a:p>
            <a:pPr>
              <a:lnSpc>
                <a:spcPct val="100000"/>
              </a:lnSpc>
              <a:buFont typeface="Arial" panose="020B0604020202020204" pitchFamily="34" charset="0"/>
              <a:buChar char="•"/>
            </a:pPr>
            <a:r>
              <a:rPr lang="en-US" sz="1800" dirty="0">
                <a:solidFill>
                  <a:schemeClr val="tx2"/>
                </a:solidFill>
                <a:latin typeface="Arial" panose="020B0604020202020204" pitchFamily="34" charset="0"/>
              </a:rPr>
              <a:t>Ensures security: authentication, encryption.</a:t>
            </a:r>
          </a:p>
          <a:p>
            <a:pPr>
              <a:lnSpc>
                <a:spcPct val="100000"/>
              </a:lnSpc>
              <a:buFont typeface="Arial" panose="020B0604020202020204" pitchFamily="34" charset="0"/>
              <a:buChar char="•"/>
            </a:pPr>
            <a:r>
              <a:rPr lang="en-US" sz="1800" dirty="0">
                <a:solidFill>
                  <a:schemeClr val="tx2"/>
                </a:solidFill>
                <a:latin typeface="Arial" panose="020B0604020202020204" pitchFamily="34" charset="0"/>
              </a:rPr>
              <a:t>Offers services: naming, directory, load balancing, transaction management.</a:t>
            </a:r>
          </a:p>
          <a:p>
            <a:pPr marL="0" indent="0">
              <a:lnSpc>
                <a:spcPct val="100000"/>
              </a:lnSpc>
              <a:buNone/>
            </a:pPr>
            <a:endParaRPr lang="en-US" sz="1800" dirty="0">
              <a:solidFill>
                <a:schemeClr val="tx2"/>
              </a:solidFill>
              <a:latin typeface="Arial" panose="020B0604020202020204" pitchFamily="34" charset="0"/>
            </a:endParaRPr>
          </a:p>
          <a:p>
            <a:pPr marL="0" indent="0">
              <a:lnSpc>
                <a:spcPct val="100000"/>
              </a:lnSpc>
              <a:buNone/>
            </a:pPr>
            <a:r>
              <a:rPr lang="en-US" sz="1800" dirty="0">
                <a:solidFill>
                  <a:schemeClr val="tx2"/>
                </a:solidFill>
                <a:latin typeface="Arial" panose="020B0604020202020204" pitchFamily="34" charset="0"/>
              </a:rPr>
              <a:t> Examples:</a:t>
            </a:r>
          </a:p>
          <a:p>
            <a:pPr>
              <a:lnSpc>
                <a:spcPct val="100000"/>
              </a:lnSpc>
              <a:buFont typeface="Arial" panose="020B0604020202020204" pitchFamily="34" charset="0"/>
              <a:buChar char="•"/>
            </a:pPr>
            <a:r>
              <a:rPr lang="en-US" sz="1800" dirty="0">
                <a:solidFill>
                  <a:schemeClr val="tx2"/>
                </a:solidFill>
                <a:latin typeface="Arial" panose="020B0604020202020204" pitchFamily="34" charset="0"/>
              </a:rPr>
              <a:t>CORBA (Common Object Request Broker Architecture)</a:t>
            </a:r>
          </a:p>
          <a:p>
            <a:pPr>
              <a:lnSpc>
                <a:spcPct val="100000"/>
              </a:lnSpc>
              <a:buFont typeface="Arial" panose="020B0604020202020204" pitchFamily="34" charset="0"/>
              <a:buChar char="•"/>
            </a:pPr>
            <a:r>
              <a:rPr lang="en-US" sz="1800" dirty="0">
                <a:solidFill>
                  <a:schemeClr val="tx2"/>
                </a:solidFill>
                <a:latin typeface="Arial" panose="020B0604020202020204" pitchFamily="34" charset="0"/>
              </a:rPr>
              <a:t>Java RMI (Remote Method Invocation)</a:t>
            </a:r>
          </a:p>
          <a:p>
            <a:pPr>
              <a:lnSpc>
                <a:spcPct val="100000"/>
              </a:lnSpc>
              <a:buFont typeface="Arial" panose="020B0604020202020204" pitchFamily="34" charset="0"/>
              <a:buChar char="•"/>
            </a:pPr>
            <a:r>
              <a:rPr lang="en-US" sz="1800" dirty="0" err="1">
                <a:solidFill>
                  <a:schemeClr val="tx2"/>
                </a:solidFill>
                <a:latin typeface="Arial" panose="020B0604020202020204" pitchFamily="34" charset="0"/>
              </a:rPr>
              <a:t>gRPC</a:t>
            </a:r>
            <a:r>
              <a:rPr lang="en-US" sz="1800" dirty="0">
                <a:solidFill>
                  <a:schemeClr val="tx2"/>
                </a:solidFill>
                <a:latin typeface="Arial" panose="020B0604020202020204" pitchFamily="34" charset="0"/>
              </a:rPr>
              <a:t> (Google RPC)</a:t>
            </a:r>
          </a:p>
          <a:p>
            <a:pPr marL="0" indent="0">
              <a:buNone/>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F6FA98D4-9552-422A-E204-2FC122C441A9}"/>
              </a:ext>
            </a:extLst>
          </p:cNvPr>
          <p:cNvPicPr>
            <a:picLocks noChangeAspect="1"/>
          </p:cNvPicPr>
          <p:nvPr/>
        </p:nvPicPr>
        <p:blipFill>
          <a:blip r:embed="rId2"/>
          <a:stretch>
            <a:fillRect/>
          </a:stretch>
        </p:blipFill>
        <p:spPr>
          <a:xfrm>
            <a:off x="8289890" y="2965311"/>
            <a:ext cx="3687165" cy="3666911"/>
          </a:xfrm>
          <a:prstGeom prst="rect">
            <a:avLst/>
          </a:prstGeom>
        </p:spPr>
      </p:pic>
    </p:spTree>
    <p:extLst>
      <p:ext uri="{BB962C8B-B14F-4D97-AF65-F5344CB8AC3E}">
        <p14:creationId xmlns:p14="http://schemas.microsoft.com/office/powerpoint/2010/main" val="823107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320634" y="225778"/>
            <a:ext cx="11435937" cy="6341277"/>
          </a:xfrm>
        </p:spPr>
        <p:txBody>
          <a:bodyPr>
            <a:normAutofit fontScale="92500" lnSpcReduction="20000"/>
          </a:bodyPr>
          <a:lstStyle/>
          <a:p>
            <a:pPr marL="0" indent="0">
              <a:lnSpc>
                <a:spcPct val="100000"/>
              </a:lnSpc>
              <a:buNone/>
            </a:pPr>
            <a:r>
              <a:rPr lang="en-US" sz="2000" b="1" dirty="0">
                <a:solidFill>
                  <a:schemeClr val="tx2"/>
                </a:solidFill>
                <a:latin typeface="Arial" panose="020B0604020202020204" pitchFamily="34" charset="0"/>
              </a:rPr>
              <a:t>Middleware and its Role</a:t>
            </a:r>
          </a:p>
          <a:p>
            <a:pPr marL="0" indent="0" algn="l">
              <a:buNone/>
            </a:pPr>
            <a:r>
              <a:rPr lang="en-US" sz="2200" b="1" i="0" dirty="0">
                <a:solidFill>
                  <a:srgbClr val="001D35"/>
                </a:solidFill>
                <a:effectLst/>
                <a:latin typeface="+mj-lt"/>
              </a:rPr>
              <a:t>Role of middleware:</a:t>
            </a:r>
          </a:p>
          <a:p>
            <a:pPr algn="l">
              <a:buFont typeface="Arial" panose="020B0604020202020204" pitchFamily="34" charset="0"/>
              <a:buChar char="•"/>
            </a:pPr>
            <a:r>
              <a:rPr lang="en-US" sz="1800" b="1" i="0" dirty="0">
                <a:solidFill>
                  <a:srgbClr val="001D35"/>
                </a:solidFill>
                <a:effectLst/>
                <a:latin typeface="+mj-lt"/>
              </a:rPr>
              <a:t>Connects and communicates</a:t>
            </a:r>
            <a:r>
              <a:rPr lang="en-US" sz="1800" b="0" i="0" dirty="0">
                <a:solidFill>
                  <a:srgbClr val="001D35"/>
                </a:solidFill>
                <a:effectLst/>
                <a:latin typeface="+mj-lt"/>
              </a:rPr>
              <a:t>: </a:t>
            </a:r>
          </a:p>
          <a:p>
            <a:pPr marL="0" indent="0" algn="l" fontAlgn="ctr">
              <a:buNone/>
            </a:pPr>
            <a:r>
              <a:rPr lang="en-US" sz="1800" b="0" i="0" dirty="0">
                <a:solidFill>
                  <a:srgbClr val="001D35"/>
                </a:solidFill>
                <a:effectLst/>
                <a:latin typeface="+mj-lt"/>
              </a:rPr>
              <a:t>It enables disparate applications, even those built on different technologies, to communicate with each other by translating data and managing requests. </a:t>
            </a:r>
            <a:endParaRPr lang="en-US" sz="1800" b="0" i="0" dirty="0">
              <a:solidFill>
                <a:srgbClr val="0B57D0"/>
              </a:solidFill>
              <a:effectLst/>
              <a:latin typeface="+mj-lt"/>
            </a:endParaRPr>
          </a:p>
          <a:p>
            <a:pPr algn="l">
              <a:buFont typeface="Arial" panose="020B0604020202020204" pitchFamily="34" charset="0"/>
              <a:buChar char="•"/>
            </a:pPr>
            <a:r>
              <a:rPr lang="en-US" sz="1800" b="1" i="0" dirty="0">
                <a:solidFill>
                  <a:srgbClr val="001D35"/>
                </a:solidFill>
                <a:effectLst/>
                <a:latin typeface="+mj-lt"/>
              </a:rPr>
              <a:t>Simplifies development</a:t>
            </a:r>
            <a:r>
              <a:rPr lang="en-US" sz="1800" b="0" i="0" dirty="0">
                <a:solidFill>
                  <a:srgbClr val="001D35"/>
                </a:solidFill>
                <a:effectLst/>
                <a:latin typeface="+mj-lt"/>
              </a:rPr>
              <a:t>: </a:t>
            </a:r>
          </a:p>
          <a:p>
            <a:pPr marL="0" indent="0" algn="l" fontAlgn="ctr">
              <a:buNone/>
            </a:pPr>
            <a:r>
              <a:rPr lang="en-US" sz="1800" b="0" i="0" dirty="0">
                <a:solidFill>
                  <a:srgbClr val="001D35"/>
                </a:solidFill>
                <a:effectLst/>
                <a:latin typeface="+mj-lt"/>
              </a:rPr>
              <a:t>By handling complex communication and integration tasks, it frees developers to concentrate on creating unique application features and functionality. </a:t>
            </a:r>
            <a:endParaRPr lang="en-US" sz="1800" b="0" i="0" dirty="0">
              <a:solidFill>
                <a:srgbClr val="0B57D0"/>
              </a:solidFill>
              <a:effectLst/>
              <a:latin typeface="+mj-lt"/>
            </a:endParaRPr>
          </a:p>
          <a:p>
            <a:pPr algn="l">
              <a:buFont typeface="Arial" panose="020B0604020202020204" pitchFamily="34" charset="0"/>
              <a:buChar char="•"/>
            </a:pPr>
            <a:r>
              <a:rPr lang="en-US" sz="1800" b="1" i="0" dirty="0">
                <a:solidFill>
                  <a:srgbClr val="001D35"/>
                </a:solidFill>
                <a:effectLst/>
                <a:latin typeface="+mj-lt"/>
              </a:rPr>
              <a:t>Provides common services</a:t>
            </a:r>
            <a:r>
              <a:rPr lang="en-US" sz="1800" b="0" i="0" dirty="0">
                <a:solidFill>
                  <a:srgbClr val="001D35"/>
                </a:solidFill>
                <a:effectLst/>
                <a:latin typeface="+mj-lt"/>
              </a:rPr>
              <a:t>: </a:t>
            </a:r>
          </a:p>
          <a:p>
            <a:pPr marL="0" indent="0" algn="l" fontAlgn="ctr">
              <a:buNone/>
            </a:pPr>
            <a:r>
              <a:rPr lang="en-US" sz="1800" b="0" i="0" dirty="0">
                <a:solidFill>
                  <a:srgbClr val="001D35"/>
                </a:solidFill>
                <a:effectLst/>
                <a:latin typeface="+mj-lt"/>
              </a:rPr>
              <a:t>Middleware provides a set of common services that applications can use, such as authentication, API management, and message queuing. </a:t>
            </a:r>
            <a:endParaRPr lang="en-US" sz="1800" b="0" i="0" dirty="0">
              <a:solidFill>
                <a:srgbClr val="0B57D0"/>
              </a:solidFill>
              <a:effectLst/>
              <a:latin typeface="+mj-lt"/>
            </a:endParaRPr>
          </a:p>
          <a:p>
            <a:pPr algn="l">
              <a:buFont typeface="Arial" panose="020B0604020202020204" pitchFamily="34" charset="0"/>
              <a:buChar char="•"/>
            </a:pPr>
            <a:r>
              <a:rPr lang="en-US" sz="1800" b="1" i="0" dirty="0">
                <a:solidFill>
                  <a:srgbClr val="001D35"/>
                </a:solidFill>
                <a:effectLst/>
                <a:latin typeface="+mj-lt"/>
              </a:rPr>
              <a:t>Offers security</a:t>
            </a:r>
            <a:r>
              <a:rPr lang="en-US" sz="1800" b="0" i="0" dirty="0">
                <a:solidFill>
                  <a:srgbClr val="001D35"/>
                </a:solidFill>
                <a:effectLst/>
                <a:latin typeface="+mj-lt"/>
              </a:rPr>
              <a:t>: </a:t>
            </a:r>
          </a:p>
          <a:p>
            <a:pPr marL="0" indent="0" algn="l" fontAlgn="ctr">
              <a:buNone/>
            </a:pPr>
            <a:r>
              <a:rPr lang="en-US" sz="1800" b="0" i="0" dirty="0">
                <a:solidFill>
                  <a:srgbClr val="001D35"/>
                </a:solidFill>
                <a:effectLst/>
                <a:latin typeface="+mj-lt"/>
              </a:rPr>
              <a:t>It can establish secure connections, manage authentication, and handle data encryption between applications and backend systems. </a:t>
            </a:r>
            <a:endParaRPr lang="en-US" sz="1800" b="0" i="0" dirty="0">
              <a:solidFill>
                <a:srgbClr val="0B57D0"/>
              </a:solidFill>
              <a:effectLst/>
              <a:latin typeface="+mj-lt"/>
            </a:endParaRPr>
          </a:p>
          <a:p>
            <a:pPr algn="l">
              <a:buFont typeface="Arial" panose="020B0604020202020204" pitchFamily="34" charset="0"/>
              <a:buChar char="•"/>
            </a:pPr>
            <a:r>
              <a:rPr lang="en-US" sz="1800" b="1" i="0" dirty="0">
                <a:solidFill>
                  <a:srgbClr val="001D35"/>
                </a:solidFill>
                <a:effectLst/>
                <a:latin typeface="+mj-lt"/>
              </a:rPr>
              <a:t>Manages data</a:t>
            </a:r>
            <a:r>
              <a:rPr lang="en-US" sz="1800" b="0" i="0" dirty="0">
                <a:solidFill>
                  <a:srgbClr val="001D35"/>
                </a:solidFill>
                <a:effectLst/>
                <a:latin typeface="+mj-lt"/>
              </a:rPr>
              <a:t>: </a:t>
            </a:r>
          </a:p>
          <a:p>
            <a:pPr marL="0" indent="0" algn="l" fontAlgn="ctr">
              <a:buNone/>
            </a:pPr>
            <a:r>
              <a:rPr lang="en-US" sz="1800" b="0" i="0" dirty="0">
                <a:solidFill>
                  <a:srgbClr val="001D35"/>
                </a:solidFill>
                <a:effectLst/>
                <a:latin typeface="+mj-lt"/>
              </a:rPr>
              <a:t>It handles data management tasks, ensuring data can be exchanged smoothly and efficiently, even across geographical distances. </a:t>
            </a:r>
            <a:endParaRPr lang="en-US" sz="1800" b="0" i="0" dirty="0">
              <a:solidFill>
                <a:srgbClr val="0B57D0"/>
              </a:solidFill>
              <a:effectLst/>
              <a:latin typeface="+mj-lt"/>
            </a:endParaRPr>
          </a:p>
          <a:p>
            <a:pPr algn="l">
              <a:buFont typeface="Arial" panose="020B0604020202020204" pitchFamily="34" charset="0"/>
              <a:buChar char="•"/>
            </a:pPr>
            <a:r>
              <a:rPr lang="en-US" sz="1800" b="1" i="0" dirty="0">
                <a:solidFill>
                  <a:srgbClr val="001D35"/>
                </a:solidFill>
                <a:effectLst/>
                <a:latin typeface="+mj-lt"/>
              </a:rPr>
              <a:t>Ensures consistency</a:t>
            </a:r>
            <a:r>
              <a:rPr lang="en-US" sz="1800" b="0" i="0" dirty="0">
                <a:solidFill>
                  <a:srgbClr val="001D35"/>
                </a:solidFill>
                <a:effectLst/>
                <a:latin typeface="+mj-lt"/>
              </a:rPr>
              <a:t>: </a:t>
            </a:r>
          </a:p>
          <a:p>
            <a:pPr marL="0" indent="0" algn="l" fontAlgn="ctr">
              <a:buNone/>
            </a:pPr>
            <a:r>
              <a:rPr lang="en-US" sz="1800" b="0" i="0" dirty="0">
                <a:solidFill>
                  <a:srgbClr val="001D35"/>
                </a:solidFill>
                <a:effectLst/>
                <a:latin typeface="+mj-lt"/>
              </a:rPr>
              <a:t>It provides a consistent and standardized way for applications to interact, creating a unified service for users and ensuring interoperability between components. </a:t>
            </a:r>
            <a:endParaRPr lang="en-US" sz="1800" b="0" i="0" dirty="0">
              <a:solidFill>
                <a:srgbClr val="0B57D0"/>
              </a:solidFill>
              <a:effectLst/>
              <a:latin typeface="+mj-lt"/>
            </a:endParaRPr>
          </a:p>
          <a:p>
            <a:pPr algn="l">
              <a:buFont typeface="Arial" panose="020B0604020202020204" pitchFamily="34" charset="0"/>
              <a:buChar char="•"/>
            </a:pPr>
            <a:r>
              <a:rPr lang="en-US" sz="1800" b="1" i="0" dirty="0">
                <a:solidFill>
                  <a:srgbClr val="001D35"/>
                </a:solidFill>
                <a:effectLst/>
                <a:latin typeface="+mj-lt"/>
              </a:rPr>
              <a:t>Facilitates scaling</a:t>
            </a:r>
            <a:r>
              <a:rPr lang="en-US" sz="1800" b="0" i="0" dirty="0">
                <a:solidFill>
                  <a:srgbClr val="001D35"/>
                </a:solidFill>
                <a:effectLst/>
                <a:latin typeface="+mj-lt"/>
              </a:rPr>
              <a:t>: </a:t>
            </a:r>
          </a:p>
          <a:p>
            <a:pPr marL="0" indent="0" algn="l">
              <a:buNone/>
            </a:pPr>
            <a:r>
              <a:rPr lang="en-US" sz="1800" b="0" i="0" dirty="0">
                <a:solidFill>
                  <a:srgbClr val="001D35"/>
                </a:solidFill>
                <a:effectLst/>
                <a:latin typeface="+mj-lt"/>
              </a:rPr>
              <a:t>In cloud-native and containerized environments, middleware helps make it cost-effective to develop and run applications at scale. </a:t>
            </a:r>
          </a:p>
          <a:p>
            <a:pPr marL="0" indent="0">
              <a:buNone/>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70228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1217454" y="2609676"/>
            <a:ext cx="9494089" cy="1638648"/>
          </a:xfrm>
        </p:spPr>
        <p:txBody>
          <a:bodyPr>
            <a:normAutofit/>
          </a:bodyPr>
          <a:lstStyle/>
          <a:p>
            <a:pPr marL="0" indent="0" algn="ctr">
              <a:buNone/>
            </a:pPr>
            <a:r>
              <a:rPr kumimoji="0" lang="en-US" altLang="en-US" sz="3000" b="1" i="0" u="none" strike="noStrike" cap="none" normalizeH="0" baseline="0" dirty="0">
                <a:ln>
                  <a:noFill/>
                </a:ln>
                <a:solidFill>
                  <a:schemeClr val="accent1">
                    <a:lumMod val="75000"/>
                  </a:schemeClr>
                </a:solidFill>
                <a:effectLst/>
                <a:latin typeface="Arial" panose="020B0604020202020204" pitchFamily="34" charset="0"/>
              </a:rPr>
              <a:t>Distributed Process Scheduling &amp; Load Balancing</a:t>
            </a:r>
          </a:p>
          <a:p>
            <a:pPr marL="0" indent="0">
              <a:buNone/>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36875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1110576" y="783771"/>
            <a:ext cx="10693497" cy="5640779"/>
          </a:xfrm>
        </p:spPr>
        <p:txBody>
          <a:bodyPr>
            <a:normAutofit/>
          </a:bodyPr>
          <a:lstStyle/>
          <a:p>
            <a:pPr marL="0" indent="0">
              <a:buNone/>
            </a:pPr>
            <a:r>
              <a:rPr kumimoji="0" lang="en-US" altLang="en-US" sz="2000" b="1" i="0" u="none" strike="noStrike" cap="none" normalizeH="0" baseline="0" dirty="0">
                <a:ln>
                  <a:noFill/>
                </a:ln>
                <a:solidFill>
                  <a:schemeClr val="accent1">
                    <a:lumMod val="75000"/>
                  </a:schemeClr>
                </a:solidFill>
                <a:effectLst/>
                <a:latin typeface="Arial" panose="020B0604020202020204" pitchFamily="34" charset="0"/>
              </a:rPr>
              <a:t>Distributed Process Scheduling &amp; Load Balancing</a:t>
            </a:r>
          </a:p>
          <a:p>
            <a:pPr marL="0" indent="0">
              <a:buNone/>
            </a:pPr>
            <a:endParaRPr lang="en-US" sz="2000" b="1" dirty="0">
              <a:solidFill>
                <a:schemeClr val="accent1">
                  <a:lumMod val="75000"/>
                </a:schemeClr>
              </a:solidFill>
            </a:endParaRPr>
          </a:p>
          <a:p>
            <a:pPr marL="0" indent="0">
              <a:buNone/>
            </a:pPr>
            <a:r>
              <a:rPr lang="en-US" sz="2000" b="1" dirty="0">
                <a:solidFill>
                  <a:schemeClr val="accent1">
                    <a:lumMod val="75000"/>
                  </a:schemeClr>
                </a:solidFill>
              </a:rPr>
              <a:t>Introduction</a:t>
            </a:r>
          </a:p>
          <a:p>
            <a:r>
              <a:rPr lang="en-US" sz="2000" dirty="0">
                <a:solidFill>
                  <a:schemeClr val="accent1">
                    <a:lumMod val="75000"/>
                  </a:schemeClr>
                </a:solidFill>
              </a:rPr>
              <a:t>In a </a:t>
            </a:r>
            <a:r>
              <a:rPr lang="en-US" sz="2000" b="1" dirty="0">
                <a:solidFill>
                  <a:schemeClr val="accent1">
                    <a:lumMod val="75000"/>
                  </a:schemeClr>
                </a:solidFill>
              </a:rPr>
              <a:t>Distributed System</a:t>
            </a:r>
            <a:r>
              <a:rPr lang="en-US" sz="2000" dirty="0">
                <a:solidFill>
                  <a:schemeClr val="accent1">
                    <a:lumMod val="75000"/>
                  </a:schemeClr>
                </a:solidFill>
              </a:rPr>
              <a:t>, many computers (nodes) are connected via a network and share computational tasks.</a:t>
            </a:r>
          </a:p>
          <a:p>
            <a:r>
              <a:rPr lang="en-US" sz="2000" dirty="0">
                <a:solidFill>
                  <a:schemeClr val="accent1">
                    <a:lumMod val="75000"/>
                  </a:schemeClr>
                </a:solidFill>
              </a:rPr>
              <a:t>Each node has its own processor and memory, but to achieve </a:t>
            </a:r>
            <a:r>
              <a:rPr lang="en-US" sz="2000" b="1" dirty="0">
                <a:solidFill>
                  <a:schemeClr val="accent1">
                    <a:lumMod val="75000"/>
                  </a:schemeClr>
                </a:solidFill>
              </a:rPr>
              <a:t>optimal performance</a:t>
            </a:r>
            <a:r>
              <a:rPr lang="en-US" sz="2000" dirty="0">
                <a:solidFill>
                  <a:schemeClr val="accent1">
                    <a:lumMod val="75000"/>
                  </a:schemeClr>
                </a:solidFill>
              </a:rPr>
              <a:t>, the system must:</a:t>
            </a:r>
          </a:p>
          <a:p>
            <a:pPr>
              <a:buFont typeface="Arial" panose="020B0604020202020204" pitchFamily="34" charset="0"/>
              <a:buChar char="•"/>
            </a:pPr>
            <a:r>
              <a:rPr lang="en-US" sz="2000" b="1" dirty="0">
                <a:solidFill>
                  <a:schemeClr val="accent6">
                    <a:lumMod val="75000"/>
                  </a:schemeClr>
                </a:solidFill>
              </a:rPr>
              <a:t>Distribute workload efficiently</a:t>
            </a:r>
            <a:endParaRPr lang="en-US" sz="2000" dirty="0">
              <a:solidFill>
                <a:schemeClr val="accent6">
                  <a:lumMod val="75000"/>
                </a:schemeClr>
              </a:solidFill>
            </a:endParaRPr>
          </a:p>
          <a:p>
            <a:pPr>
              <a:buFont typeface="Arial" panose="020B0604020202020204" pitchFamily="34" charset="0"/>
              <a:buChar char="•"/>
            </a:pPr>
            <a:r>
              <a:rPr lang="en-US" sz="2000" b="1" dirty="0">
                <a:solidFill>
                  <a:schemeClr val="accent6">
                    <a:lumMod val="75000"/>
                  </a:schemeClr>
                </a:solidFill>
              </a:rPr>
              <a:t>Avoid idle processors</a:t>
            </a:r>
            <a:r>
              <a:rPr lang="en-US" sz="2000" dirty="0">
                <a:solidFill>
                  <a:schemeClr val="accent6">
                    <a:lumMod val="75000"/>
                  </a:schemeClr>
                </a:solidFill>
              </a:rPr>
              <a:t> while others are overloaded</a:t>
            </a:r>
          </a:p>
          <a:p>
            <a:pPr>
              <a:buFont typeface="Arial" panose="020B0604020202020204" pitchFamily="34" charset="0"/>
              <a:buChar char="•"/>
            </a:pPr>
            <a:r>
              <a:rPr lang="en-US" sz="2000" b="1" dirty="0">
                <a:solidFill>
                  <a:schemeClr val="accent6">
                    <a:lumMod val="75000"/>
                  </a:schemeClr>
                </a:solidFill>
              </a:rPr>
              <a:t>Minimize execution time</a:t>
            </a:r>
            <a:r>
              <a:rPr lang="en-US" sz="2000" dirty="0">
                <a:solidFill>
                  <a:schemeClr val="accent6">
                    <a:lumMod val="75000"/>
                  </a:schemeClr>
                </a:solidFill>
              </a:rPr>
              <a:t> and </a:t>
            </a:r>
            <a:r>
              <a:rPr lang="en-US" sz="2000" b="1" dirty="0">
                <a:solidFill>
                  <a:schemeClr val="accent6">
                    <a:lumMod val="75000"/>
                  </a:schemeClr>
                </a:solidFill>
              </a:rPr>
              <a:t>maximize throughput</a:t>
            </a:r>
          </a:p>
          <a:p>
            <a:pPr marL="0" indent="0">
              <a:buNone/>
            </a:pPr>
            <a:endParaRPr lang="en-US" sz="2000" dirty="0">
              <a:solidFill>
                <a:schemeClr val="accent6">
                  <a:lumMod val="75000"/>
                </a:schemeClr>
              </a:solidFill>
            </a:endParaRPr>
          </a:p>
          <a:p>
            <a:r>
              <a:rPr lang="en-US" sz="2000" dirty="0">
                <a:solidFill>
                  <a:schemeClr val="accent1">
                    <a:lumMod val="75000"/>
                  </a:schemeClr>
                </a:solidFill>
              </a:rPr>
              <a:t>Hence, </a:t>
            </a:r>
            <a:r>
              <a:rPr lang="en-US" sz="2000" b="1" dirty="0">
                <a:solidFill>
                  <a:schemeClr val="accent1">
                    <a:lumMod val="75000"/>
                  </a:schemeClr>
                </a:solidFill>
              </a:rPr>
              <a:t>Distributed Process Scheduling</a:t>
            </a:r>
            <a:r>
              <a:rPr lang="en-US" sz="2000" dirty="0">
                <a:solidFill>
                  <a:schemeClr val="accent1">
                    <a:lumMod val="75000"/>
                  </a:schemeClr>
                </a:solidFill>
              </a:rPr>
              <a:t> and </a:t>
            </a:r>
            <a:r>
              <a:rPr lang="en-US" sz="2000" b="1" dirty="0">
                <a:solidFill>
                  <a:schemeClr val="accent1">
                    <a:lumMod val="75000"/>
                  </a:schemeClr>
                </a:solidFill>
              </a:rPr>
              <a:t>Load Balancing</a:t>
            </a:r>
            <a:r>
              <a:rPr lang="en-US" sz="2000" dirty="0">
                <a:solidFill>
                  <a:schemeClr val="accent1">
                    <a:lumMod val="75000"/>
                  </a:schemeClr>
                </a:solidFill>
              </a:rPr>
              <a:t> are key components.</a:t>
            </a:r>
          </a:p>
          <a:p>
            <a:pPr marL="0" indent="0">
              <a:buNone/>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5298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950613" y="400792"/>
            <a:ext cx="10639704" cy="6056415"/>
          </a:xfrm>
        </p:spPr>
        <p:txBody>
          <a:bodyPr>
            <a:normAutofit/>
          </a:bodyPr>
          <a:lstStyle/>
          <a:p>
            <a:pPr marL="0" indent="0">
              <a:buNone/>
            </a:pPr>
            <a:r>
              <a:rPr lang="en-US" sz="2000" b="1" dirty="0">
                <a:solidFill>
                  <a:schemeClr val="accent6">
                    <a:lumMod val="75000"/>
                  </a:schemeClr>
                </a:solidFill>
              </a:rPr>
              <a:t>Need for Scheduling in Distributed Systems</a:t>
            </a:r>
          </a:p>
          <a:p>
            <a:pPr marL="0" indent="0">
              <a:buNone/>
            </a:pPr>
            <a:r>
              <a:rPr lang="en-US" sz="2000" b="1" dirty="0">
                <a:solidFill>
                  <a:schemeClr val="accent1">
                    <a:lumMod val="75000"/>
                  </a:schemeClr>
                </a:solidFill>
              </a:rPr>
              <a:t>Why Scheduling is Needed:</a:t>
            </a:r>
          </a:p>
          <a:p>
            <a:pPr>
              <a:buFont typeface="+mj-lt"/>
              <a:buAutoNum type="arabicPeriod"/>
            </a:pPr>
            <a:r>
              <a:rPr lang="en-US" sz="2000" b="1" dirty="0">
                <a:solidFill>
                  <a:schemeClr val="accent1">
                    <a:lumMod val="75000"/>
                  </a:schemeClr>
                </a:solidFill>
              </a:rPr>
              <a:t>Uneven Load Distribution:</a:t>
            </a:r>
            <a:br>
              <a:rPr lang="en-US" sz="2000" dirty="0">
                <a:solidFill>
                  <a:schemeClr val="accent1">
                    <a:lumMod val="75000"/>
                  </a:schemeClr>
                </a:solidFill>
              </a:rPr>
            </a:br>
            <a:r>
              <a:rPr lang="en-US" sz="2000" dirty="0">
                <a:solidFill>
                  <a:schemeClr val="accent1">
                    <a:lumMod val="75000"/>
                  </a:schemeClr>
                </a:solidFill>
              </a:rPr>
              <a:t>Some nodes may be overloaded while others remain idle.</a:t>
            </a:r>
          </a:p>
          <a:p>
            <a:pPr>
              <a:buFont typeface="+mj-lt"/>
              <a:buAutoNum type="arabicPeriod"/>
            </a:pPr>
            <a:r>
              <a:rPr lang="en-US" sz="2000" b="1" dirty="0">
                <a:solidFill>
                  <a:schemeClr val="accent1">
                    <a:lumMod val="75000"/>
                  </a:schemeClr>
                </a:solidFill>
              </a:rPr>
              <a:t>Resource Utilization:</a:t>
            </a:r>
            <a:br>
              <a:rPr lang="en-US" sz="2000" dirty="0">
                <a:solidFill>
                  <a:schemeClr val="accent1">
                    <a:lumMod val="75000"/>
                  </a:schemeClr>
                </a:solidFill>
              </a:rPr>
            </a:br>
            <a:r>
              <a:rPr lang="en-US" sz="2000" dirty="0">
                <a:solidFill>
                  <a:schemeClr val="accent1">
                    <a:lumMod val="75000"/>
                  </a:schemeClr>
                </a:solidFill>
              </a:rPr>
              <a:t>Proper scheduling ensures maximum use of available CPUs, memory, and network.</a:t>
            </a:r>
          </a:p>
          <a:p>
            <a:pPr>
              <a:buFont typeface="+mj-lt"/>
              <a:buAutoNum type="arabicPeriod"/>
            </a:pPr>
            <a:r>
              <a:rPr lang="en-US" sz="2000" b="1" dirty="0">
                <a:solidFill>
                  <a:schemeClr val="accent1">
                    <a:lumMod val="75000"/>
                  </a:schemeClr>
                </a:solidFill>
              </a:rPr>
              <a:t>Performance Improvement:</a:t>
            </a:r>
            <a:br>
              <a:rPr lang="en-US" sz="2000" dirty="0">
                <a:solidFill>
                  <a:schemeClr val="accent1">
                    <a:lumMod val="75000"/>
                  </a:schemeClr>
                </a:solidFill>
              </a:rPr>
            </a:br>
            <a:r>
              <a:rPr lang="en-US" sz="2000" dirty="0">
                <a:solidFill>
                  <a:schemeClr val="accent1">
                    <a:lumMod val="75000"/>
                  </a:schemeClr>
                </a:solidFill>
              </a:rPr>
              <a:t>Reduces response time and improves throughput.</a:t>
            </a:r>
          </a:p>
          <a:p>
            <a:pPr>
              <a:buFont typeface="+mj-lt"/>
              <a:buAutoNum type="arabicPeriod"/>
            </a:pPr>
            <a:r>
              <a:rPr lang="en-US" sz="2000" b="1" dirty="0">
                <a:solidFill>
                  <a:schemeClr val="accent1">
                    <a:lumMod val="75000"/>
                  </a:schemeClr>
                </a:solidFill>
              </a:rPr>
              <a:t>Scalability:</a:t>
            </a:r>
            <a:br>
              <a:rPr lang="en-US" sz="2000" dirty="0">
                <a:solidFill>
                  <a:schemeClr val="accent1">
                    <a:lumMod val="75000"/>
                  </a:schemeClr>
                </a:solidFill>
              </a:rPr>
            </a:br>
            <a:r>
              <a:rPr lang="en-US" sz="2000" dirty="0">
                <a:solidFill>
                  <a:schemeClr val="accent1">
                    <a:lumMod val="75000"/>
                  </a:schemeClr>
                </a:solidFill>
              </a:rPr>
              <a:t>Efficient scheduling helps systems scale with more nodes or jobs.</a:t>
            </a:r>
          </a:p>
          <a:p>
            <a:pPr>
              <a:buFont typeface="+mj-lt"/>
              <a:buAutoNum type="arabicPeriod"/>
            </a:pPr>
            <a:r>
              <a:rPr lang="en-US" sz="2000" b="1" dirty="0">
                <a:solidFill>
                  <a:schemeClr val="accent1">
                    <a:lumMod val="75000"/>
                  </a:schemeClr>
                </a:solidFill>
              </a:rPr>
              <a:t>Fault Tolerance:</a:t>
            </a:r>
            <a:br>
              <a:rPr lang="en-US" sz="2000" dirty="0">
                <a:solidFill>
                  <a:schemeClr val="accent1">
                    <a:lumMod val="75000"/>
                  </a:schemeClr>
                </a:solidFill>
              </a:rPr>
            </a:br>
            <a:r>
              <a:rPr lang="en-US" sz="2000" dirty="0">
                <a:solidFill>
                  <a:schemeClr val="accent1">
                    <a:lumMod val="75000"/>
                  </a:schemeClr>
                </a:solidFill>
              </a:rPr>
              <a:t>Reassigns tasks if a node fails.</a:t>
            </a:r>
          </a:p>
          <a:p>
            <a:pPr>
              <a:buFont typeface="+mj-lt"/>
              <a:buAutoNum type="arabicPeriod"/>
            </a:pPr>
            <a:r>
              <a:rPr lang="en-US" sz="2000" b="1" dirty="0">
                <a:solidFill>
                  <a:schemeClr val="accent1">
                    <a:lumMod val="75000"/>
                  </a:schemeClr>
                </a:solidFill>
              </a:rPr>
              <a:t>Energy Efficiency:</a:t>
            </a:r>
            <a:br>
              <a:rPr lang="en-US" sz="2000" dirty="0">
                <a:solidFill>
                  <a:schemeClr val="accent1">
                    <a:lumMod val="75000"/>
                  </a:schemeClr>
                </a:solidFill>
              </a:rPr>
            </a:br>
            <a:r>
              <a:rPr lang="en-US" sz="2000" dirty="0">
                <a:solidFill>
                  <a:schemeClr val="accent1">
                    <a:lumMod val="75000"/>
                  </a:schemeClr>
                </a:solidFill>
              </a:rPr>
              <a:t>Avoids overuse of certain nodes to save energy.</a:t>
            </a:r>
          </a:p>
          <a:p>
            <a:pPr marL="0" indent="0">
              <a:buNone/>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37987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950613" y="178130"/>
            <a:ext cx="10639704" cy="6279077"/>
          </a:xfrm>
        </p:spPr>
        <p:txBody>
          <a:bodyPr>
            <a:normAutofit/>
          </a:bodyPr>
          <a:lstStyle/>
          <a:p>
            <a:pPr marL="0" indent="0">
              <a:buNone/>
            </a:pPr>
            <a:r>
              <a:rPr lang="en-US" sz="2000" b="1" u="sng" dirty="0">
                <a:solidFill>
                  <a:schemeClr val="accent1">
                    <a:lumMod val="75000"/>
                  </a:schemeClr>
                </a:solidFill>
              </a:rPr>
              <a:t>Scheduling Strategies:</a:t>
            </a:r>
          </a:p>
          <a:p>
            <a:r>
              <a:rPr lang="en-US" sz="1800" dirty="0">
                <a:solidFill>
                  <a:schemeClr val="accent1">
                    <a:lumMod val="75000"/>
                  </a:schemeClr>
                </a:solidFill>
              </a:rPr>
              <a:t>Scheduling can be classified based on </a:t>
            </a:r>
            <a:r>
              <a:rPr lang="en-US" sz="1800" b="1" dirty="0">
                <a:solidFill>
                  <a:schemeClr val="accent1">
                    <a:lumMod val="75000"/>
                  </a:schemeClr>
                </a:solidFill>
              </a:rPr>
              <a:t>where and how</a:t>
            </a:r>
            <a:r>
              <a:rPr lang="en-US" sz="1800" dirty="0">
                <a:solidFill>
                  <a:schemeClr val="accent1">
                    <a:lumMod val="75000"/>
                  </a:schemeClr>
                </a:solidFill>
              </a:rPr>
              <a:t> scheduling decisions are made.</a:t>
            </a:r>
          </a:p>
          <a:p>
            <a:r>
              <a:rPr lang="en-US" sz="1800" b="1" dirty="0">
                <a:solidFill>
                  <a:schemeClr val="accent6">
                    <a:lumMod val="75000"/>
                  </a:schemeClr>
                </a:solidFill>
              </a:rPr>
              <a:t>A. Static Scheduling</a:t>
            </a:r>
          </a:p>
          <a:p>
            <a:pPr>
              <a:buFont typeface="Arial" panose="020B0604020202020204" pitchFamily="34" charset="0"/>
              <a:buChar char="•"/>
            </a:pPr>
            <a:r>
              <a:rPr lang="en-US" sz="1800" dirty="0">
                <a:solidFill>
                  <a:schemeClr val="accent1">
                    <a:lumMod val="75000"/>
                  </a:schemeClr>
                </a:solidFill>
              </a:rPr>
              <a:t>Decisions are made </a:t>
            </a:r>
            <a:r>
              <a:rPr lang="en-US" sz="1800" b="1" dirty="0">
                <a:solidFill>
                  <a:schemeClr val="accent1">
                    <a:lumMod val="75000"/>
                  </a:schemeClr>
                </a:solidFill>
              </a:rPr>
              <a:t>at compile-time or before execution</a:t>
            </a:r>
            <a:r>
              <a:rPr lang="en-US" sz="1800" dirty="0">
                <a:solidFill>
                  <a:schemeClr val="accent1">
                    <a:lumMod val="75000"/>
                  </a:schemeClr>
                </a:solidFill>
              </a:rPr>
              <a:t>.</a:t>
            </a:r>
          </a:p>
          <a:p>
            <a:pPr>
              <a:buFont typeface="Arial" panose="020B0604020202020204" pitchFamily="34" charset="0"/>
              <a:buChar char="•"/>
            </a:pPr>
            <a:r>
              <a:rPr lang="en-US" sz="1800" dirty="0">
                <a:solidFill>
                  <a:schemeClr val="accent1">
                    <a:lumMod val="75000"/>
                  </a:schemeClr>
                </a:solidFill>
              </a:rPr>
              <a:t>Tasks are pre-assigned to processors.</a:t>
            </a:r>
          </a:p>
          <a:p>
            <a:pPr>
              <a:buFont typeface="Arial" panose="020B0604020202020204" pitchFamily="34" charset="0"/>
              <a:buChar char="•"/>
            </a:pPr>
            <a:r>
              <a:rPr lang="en-US" sz="1800" dirty="0">
                <a:solidFill>
                  <a:schemeClr val="accent1">
                    <a:lumMod val="75000"/>
                  </a:schemeClr>
                </a:solidFill>
              </a:rPr>
              <a:t>No runtime adaptation.</a:t>
            </a:r>
          </a:p>
          <a:p>
            <a:pPr>
              <a:buFont typeface="Arial" panose="020B0604020202020204" pitchFamily="34" charset="0"/>
              <a:buChar char="•"/>
            </a:pPr>
            <a:r>
              <a:rPr lang="en-US" sz="1800" dirty="0">
                <a:solidFill>
                  <a:schemeClr val="accent1">
                    <a:lumMod val="75000"/>
                  </a:schemeClr>
                </a:solidFill>
              </a:rPr>
              <a:t>Suitable for </a:t>
            </a:r>
            <a:r>
              <a:rPr lang="en-US" sz="1800" b="1" dirty="0">
                <a:solidFill>
                  <a:schemeClr val="accent1">
                    <a:lumMod val="75000"/>
                  </a:schemeClr>
                </a:solidFill>
              </a:rPr>
              <a:t>predictable and homogeneous</a:t>
            </a:r>
            <a:r>
              <a:rPr lang="en-US" sz="1800" dirty="0">
                <a:solidFill>
                  <a:schemeClr val="accent1">
                    <a:lumMod val="75000"/>
                  </a:schemeClr>
                </a:solidFill>
              </a:rPr>
              <a:t> systems.</a:t>
            </a:r>
          </a:p>
          <a:p>
            <a:r>
              <a:rPr lang="en-US" sz="1800" dirty="0">
                <a:solidFill>
                  <a:schemeClr val="accent1">
                    <a:lumMod val="75000"/>
                  </a:schemeClr>
                </a:solidFill>
              </a:rPr>
              <a:t> </a:t>
            </a:r>
            <a:r>
              <a:rPr lang="en-US" sz="1800" i="1" dirty="0">
                <a:solidFill>
                  <a:schemeClr val="accent1">
                    <a:lumMod val="75000"/>
                  </a:schemeClr>
                </a:solidFill>
              </a:rPr>
              <a:t>Example:</a:t>
            </a:r>
            <a:r>
              <a:rPr lang="en-US" sz="1800" dirty="0">
                <a:solidFill>
                  <a:schemeClr val="accent1">
                    <a:lumMod val="75000"/>
                  </a:schemeClr>
                </a:solidFill>
              </a:rPr>
              <a:t> Round Robin, Weighted Distribution.</a:t>
            </a:r>
            <a:br>
              <a:rPr lang="en-US" sz="1800" dirty="0">
                <a:solidFill>
                  <a:schemeClr val="accent1">
                    <a:lumMod val="75000"/>
                  </a:schemeClr>
                </a:solidFill>
              </a:rPr>
            </a:br>
            <a:r>
              <a:rPr lang="en-US" sz="1800" dirty="0">
                <a:solidFill>
                  <a:schemeClr val="accent1">
                    <a:lumMod val="75000"/>
                  </a:schemeClr>
                </a:solidFill>
              </a:rPr>
              <a:t> </a:t>
            </a:r>
            <a:r>
              <a:rPr lang="en-US" sz="1800" i="1" dirty="0">
                <a:solidFill>
                  <a:schemeClr val="accent1">
                    <a:lumMod val="75000"/>
                  </a:schemeClr>
                </a:solidFill>
              </a:rPr>
              <a:t>Limitation:</a:t>
            </a:r>
            <a:r>
              <a:rPr lang="en-US" sz="1800" dirty="0">
                <a:solidFill>
                  <a:schemeClr val="accent1">
                    <a:lumMod val="75000"/>
                  </a:schemeClr>
                </a:solidFill>
              </a:rPr>
              <a:t> Cannot adapt to node failures or runtime load changes.</a:t>
            </a:r>
          </a:p>
          <a:p>
            <a:endParaRPr lang="en-US" sz="1800" dirty="0">
              <a:solidFill>
                <a:schemeClr val="accent1">
                  <a:lumMod val="75000"/>
                </a:schemeClr>
              </a:solidFill>
            </a:endParaRPr>
          </a:p>
          <a:p>
            <a:r>
              <a:rPr lang="en-IN" sz="1800" b="1" dirty="0">
                <a:solidFill>
                  <a:schemeClr val="accent6">
                    <a:lumMod val="75000"/>
                  </a:schemeClr>
                </a:solidFill>
              </a:rPr>
              <a:t>B. Dynamic Scheduling</a:t>
            </a:r>
          </a:p>
          <a:p>
            <a:pPr>
              <a:buFont typeface="Arial" panose="020B0604020202020204" pitchFamily="34" charset="0"/>
              <a:buChar char="•"/>
            </a:pPr>
            <a:r>
              <a:rPr lang="en-IN" sz="1800" dirty="0">
                <a:solidFill>
                  <a:schemeClr val="accent1">
                    <a:lumMod val="75000"/>
                  </a:schemeClr>
                </a:solidFill>
              </a:rPr>
              <a:t>Decisions made </a:t>
            </a:r>
            <a:r>
              <a:rPr lang="en-IN" sz="1800" b="1" dirty="0">
                <a:solidFill>
                  <a:schemeClr val="accent1">
                    <a:lumMod val="75000"/>
                  </a:schemeClr>
                </a:solidFill>
              </a:rPr>
              <a:t>during execution</a:t>
            </a:r>
            <a:r>
              <a:rPr lang="en-IN" sz="1800" dirty="0">
                <a:solidFill>
                  <a:schemeClr val="accent1">
                    <a:lumMod val="75000"/>
                  </a:schemeClr>
                </a:solidFill>
              </a:rPr>
              <a:t>, based on current system state.</a:t>
            </a:r>
          </a:p>
          <a:p>
            <a:pPr>
              <a:buFont typeface="Arial" panose="020B0604020202020204" pitchFamily="34" charset="0"/>
              <a:buChar char="•"/>
            </a:pPr>
            <a:r>
              <a:rPr lang="en-IN" sz="1800" dirty="0">
                <a:solidFill>
                  <a:schemeClr val="accent1">
                    <a:lumMod val="75000"/>
                  </a:schemeClr>
                </a:solidFill>
              </a:rPr>
              <a:t>Tasks may migrate between nodes at runtime.</a:t>
            </a:r>
          </a:p>
          <a:p>
            <a:pPr>
              <a:buFont typeface="Arial" panose="020B0604020202020204" pitchFamily="34" charset="0"/>
              <a:buChar char="•"/>
            </a:pPr>
            <a:r>
              <a:rPr lang="en-IN" sz="1800" dirty="0">
                <a:solidFill>
                  <a:schemeClr val="accent1">
                    <a:lumMod val="75000"/>
                  </a:schemeClr>
                </a:solidFill>
              </a:rPr>
              <a:t>Suitable for </a:t>
            </a:r>
            <a:r>
              <a:rPr lang="en-IN" sz="1800" b="1" dirty="0">
                <a:solidFill>
                  <a:schemeClr val="accent1">
                    <a:lumMod val="75000"/>
                  </a:schemeClr>
                </a:solidFill>
              </a:rPr>
              <a:t>heterogeneous and unpredictable</a:t>
            </a:r>
            <a:r>
              <a:rPr lang="en-IN" sz="1800" dirty="0">
                <a:solidFill>
                  <a:schemeClr val="accent1">
                    <a:lumMod val="75000"/>
                  </a:schemeClr>
                </a:solidFill>
              </a:rPr>
              <a:t> systems.</a:t>
            </a:r>
          </a:p>
          <a:p>
            <a:r>
              <a:rPr lang="en-IN" sz="1800" dirty="0">
                <a:solidFill>
                  <a:schemeClr val="accent1">
                    <a:lumMod val="75000"/>
                  </a:schemeClr>
                </a:solidFill>
              </a:rPr>
              <a:t> </a:t>
            </a:r>
            <a:r>
              <a:rPr lang="en-IN" sz="1800" i="1" dirty="0">
                <a:solidFill>
                  <a:schemeClr val="accent1">
                    <a:lumMod val="75000"/>
                  </a:schemeClr>
                </a:solidFill>
              </a:rPr>
              <a:t>Example:</a:t>
            </a:r>
            <a:r>
              <a:rPr lang="en-IN" sz="1800" dirty="0">
                <a:solidFill>
                  <a:schemeClr val="accent1">
                    <a:lumMod val="75000"/>
                  </a:schemeClr>
                </a:solidFill>
              </a:rPr>
              <a:t> Adaptive Load Sharing, Task Migration Algorithms.</a:t>
            </a:r>
            <a:br>
              <a:rPr lang="en-IN" sz="1800" dirty="0">
                <a:solidFill>
                  <a:schemeClr val="accent1">
                    <a:lumMod val="75000"/>
                  </a:schemeClr>
                </a:solidFill>
              </a:rPr>
            </a:br>
            <a:r>
              <a:rPr lang="en-IN" sz="1800" dirty="0">
                <a:solidFill>
                  <a:schemeClr val="accent1">
                    <a:lumMod val="75000"/>
                  </a:schemeClr>
                </a:solidFill>
              </a:rPr>
              <a:t> </a:t>
            </a:r>
            <a:r>
              <a:rPr lang="en-IN" sz="1800" i="1" dirty="0">
                <a:solidFill>
                  <a:schemeClr val="accent1">
                    <a:lumMod val="75000"/>
                  </a:schemeClr>
                </a:solidFill>
              </a:rPr>
              <a:t>Limitation:</a:t>
            </a:r>
            <a:r>
              <a:rPr lang="en-IN" sz="1800" dirty="0">
                <a:solidFill>
                  <a:schemeClr val="accent1">
                    <a:lumMod val="75000"/>
                  </a:schemeClr>
                </a:solidFill>
              </a:rPr>
              <a:t> Requires communication overhead and monitoring.</a:t>
            </a:r>
          </a:p>
          <a:p>
            <a:endParaRPr lang="en-US" sz="1800" dirty="0"/>
          </a:p>
          <a:p>
            <a:pPr marL="0" indent="0">
              <a:buNone/>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35810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699025" y="549045"/>
            <a:ext cx="11044052" cy="6279077"/>
          </a:xfrm>
        </p:spPr>
        <p:txBody>
          <a:bodyPr>
            <a:normAutofit/>
          </a:bodyPr>
          <a:lstStyle/>
          <a:p>
            <a:pPr marL="0" indent="0">
              <a:buNone/>
            </a:pPr>
            <a:r>
              <a:rPr lang="en-US" sz="2000" b="1" dirty="0">
                <a:solidFill>
                  <a:schemeClr val="accent1">
                    <a:lumMod val="75000"/>
                  </a:schemeClr>
                </a:solidFill>
              </a:rPr>
              <a:t>Load Balancing in Distributed Systems:</a:t>
            </a:r>
          </a:p>
          <a:p>
            <a:pPr marL="0" indent="0">
              <a:buNone/>
            </a:pPr>
            <a:endParaRPr lang="en-US" sz="1800" b="1" dirty="0">
              <a:solidFill>
                <a:schemeClr val="accent1">
                  <a:lumMod val="75000"/>
                </a:schemeClr>
              </a:solidFill>
            </a:endParaRPr>
          </a:p>
          <a:p>
            <a:r>
              <a:rPr lang="en-US" sz="1800" b="1" dirty="0">
                <a:solidFill>
                  <a:schemeClr val="accent1">
                    <a:lumMod val="75000"/>
                  </a:schemeClr>
                </a:solidFill>
              </a:rPr>
              <a:t>Load Balancing</a:t>
            </a:r>
            <a:r>
              <a:rPr lang="en-US" sz="1800" dirty="0">
                <a:solidFill>
                  <a:schemeClr val="accent1">
                    <a:lumMod val="75000"/>
                  </a:schemeClr>
                </a:solidFill>
              </a:rPr>
              <a:t> means </a:t>
            </a:r>
            <a:r>
              <a:rPr lang="en-US" sz="1800" b="1" dirty="0">
                <a:solidFill>
                  <a:schemeClr val="accent1">
                    <a:lumMod val="75000"/>
                  </a:schemeClr>
                </a:solidFill>
              </a:rPr>
              <a:t>evenly distributing workload</a:t>
            </a:r>
            <a:r>
              <a:rPr lang="en-US" sz="1800" dirty="0">
                <a:solidFill>
                  <a:schemeClr val="accent1">
                    <a:lumMod val="75000"/>
                  </a:schemeClr>
                </a:solidFill>
              </a:rPr>
              <a:t> among nodes to avoid overload or idleness.</a:t>
            </a:r>
          </a:p>
          <a:p>
            <a:pPr marL="0" indent="0">
              <a:buNone/>
            </a:pPr>
            <a:endParaRPr lang="en-US" sz="1800" b="1" dirty="0">
              <a:solidFill>
                <a:schemeClr val="accent1">
                  <a:lumMod val="75000"/>
                </a:schemeClr>
              </a:solidFill>
            </a:endParaRPr>
          </a:p>
          <a:p>
            <a:pPr marL="0" indent="0">
              <a:buNone/>
            </a:pPr>
            <a:r>
              <a:rPr lang="en-US" sz="1800" b="1" dirty="0">
                <a:solidFill>
                  <a:schemeClr val="accent6">
                    <a:lumMod val="75000"/>
                  </a:schemeClr>
                </a:solidFill>
              </a:rPr>
              <a:t>Objectives:</a:t>
            </a:r>
          </a:p>
          <a:p>
            <a:pPr>
              <a:buFont typeface="Arial" panose="020B0604020202020204" pitchFamily="34" charset="0"/>
              <a:buChar char="•"/>
            </a:pPr>
            <a:r>
              <a:rPr lang="en-US" sz="1800" dirty="0">
                <a:solidFill>
                  <a:schemeClr val="accent6">
                    <a:lumMod val="75000"/>
                  </a:schemeClr>
                </a:solidFill>
              </a:rPr>
              <a:t>Improve overall system performance</a:t>
            </a:r>
          </a:p>
          <a:p>
            <a:pPr>
              <a:buFont typeface="Arial" panose="020B0604020202020204" pitchFamily="34" charset="0"/>
              <a:buChar char="•"/>
            </a:pPr>
            <a:r>
              <a:rPr lang="en-US" sz="1800" dirty="0">
                <a:solidFill>
                  <a:schemeClr val="accent6">
                    <a:lumMod val="75000"/>
                  </a:schemeClr>
                </a:solidFill>
              </a:rPr>
              <a:t>Reduce job waiting time</a:t>
            </a:r>
          </a:p>
          <a:p>
            <a:pPr>
              <a:buFont typeface="Arial" panose="020B0604020202020204" pitchFamily="34" charset="0"/>
              <a:buChar char="•"/>
            </a:pPr>
            <a:r>
              <a:rPr lang="en-US" sz="1800" dirty="0">
                <a:solidFill>
                  <a:schemeClr val="accent6">
                    <a:lumMod val="75000"/>
                  </a:schemeClr>
                </a:solidFill>
              </a:rPr>
              <a:t>Enhance resource utilization</a:t>
            </a:r>
          </a:p>
          <a:p>
            <a:pPr>
              <a:buFont typeface="Arial" panose="020B0604020202020204" pitchFamily="34" charset="0"/>
              <a:buChar char="•"/>
            </a:pPr>
            <a:r>
              <a:rPr lang="en-US" sz="1800" dirty="0">
                <a:solidFill>
                  <a:schemeClr val="accent6">
                    <a:lumMod val="75000"/>
                  </a:schemeClr>
                </a:solidFill>
              </a:rPr>
              <a:t>Provide fault tolerance and reliability</a:t>
            </a:r>
          </a:p>
          <a:p>
            <a:endParaRPr lang="en-US" sz="1800" dirty="0"/>
          </a:p>
          <a:p>
            <a:pPr marL="0" indent="0">
              <a:buNone/>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95783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546265" y="178130"/>
            <a:ext cx="11044052" cy="6279077"/>
          </a:xfrm>
        </p:spPr>
        <p:txBody>
          <a:bodyPr>
            <a:normAutofit/>
          </a:bodyPr>
          <a:lstStyle/>
          <a:p>
            <a:pPr marL="0" indent="0">
              <a:buNone/>
            </a:pPr>
            <a:r>
              <a:rPr lang="en-US" sz="1800" b="1" dirty="0">
                <a:solidFill>
                  <a:schemeClr val="accent1">
                    <a:lumMod val="75000"/>
                  </a:schemeClr>
                </a:solidFill>
              </a:rPr>
              <a:t>Load Balancing in Distributed Systems</a:t>
            </a:r>
          </a:p>
          <a:p>
            <a:r>
              <a:rPr lang="en-US" sz="1800" b="1" dirty="0">
                <a:solidFill>
                  <a:schemeClr val="accent1">
                    <a:lumMod val="75000"/>
                  </a:schemeClr>
                </a:solidFill>
              </a:rPr>
              <a:t>Load Balancing</a:t>
            </a:r>
            <a:r>
              <a:rPr lang="en-US" sz="1800" dirty="0">
                <a:solidFill>
                  <a:schemeClr val="accent1">
                    <a:lumMod val="75000"/>
                  </a:schemeClr>
                </a:solidFill>
              </a:rPr>
              <a:t> means </a:t>
            </a:r>
            <a:r>
              <a:rPr lang="en-US" sz="1800" b="1" dirty="0">
                <a:solidFill>
                  <a:schemeClr val="accent1">
                    <a:lumMod val="75000"/>
                  </a:schemeClr>
                </a:solidFill>
              </a:rPr>
              <a:t>evenly distributing workload</a:t>
            </a:r>
            <a:r>
              <a:rPr lang="en-US" sz="1800" dirty="0">
                <a:solidFill>
                  <a:schemeClr val="accent1">
                    <a:lumMod val="75000"/>
                  </a:schemeClr>
                </a:solidFill>
              </a:rPr>
              <a:t> among nodes to avoid overload or idleness.</a:t>
            </a:r>
          </a:p>
          <a:p>
            <a:endParaRPr lang="en-US" sz="1800" dirty="0"/>
          </a:p>
          <a:p>
            <a:pPr marL="0" indent="0">
              <a:buNone/>
            </a:pPr>
            <a:endParaRPr lang="en-US" sz="1800" dirty="0"/>
          </a:p>
          <a:p>
            <a:pPr marL="0" indent="0">
              <a:buNone/>
            </a:pPr>
            <a:r>
              <a:rPr lang="en-US" sz="1800" b="1" dirty="0">
                <a:solidFill>
                  <a:schemeClr val="accent1">
                    <a:lumMod val="75000"/>
                  </a:schemeClr>
                </a:solidFill>
              </a:rPr>
              <a:t>Load Balancing Policies</a:t>
            </a:r>
          </a:p>
          <a:p>
            <a:r>
              <a:rPr lang="en-US" sz="1800" dirty="0">
                <a:solidFill>
                  <a:schemeClr val="accent1">
                    <a:lumMod val="75000"/>
                  </a:schemeClr>
                </a:solidFill>
              </a:rPr>
              <a:t>Load balancing algorithms are typically defined by </a:t>
            </a:r>
            <a:r>
              <a:rPr lang="en-US" sz="1800" b="1" dirty="0">
                <a:solidFill>
                  <a:schemeClr val="accent1">
                    <a:lumMod val="75000"/>
                  </a:schemeClr>
                </a:solidFill>
              </a:rPr>
              <a:t>four policies</a:t>
            </a:r>
            <a:r>
              <a:rPr lang="en-US" sz="1800" dirty="0">
                <a:solidFill>
                  <a:schemeClr val="accent1">
                    <a:lumMod val="75000"/>
                  </a:schemeClr>
                </a:solidFill>
              </a:rPr>
              <a:t>:</a:t>
            </a:r>
          </a:p>
          <a:p>
            <a:pPr marL="0" indent="0">
              <a:buNone/>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 name="Table 1">
            <a:extLst>
              <a:ext uri="{FF2B5EF4-FFF2-40B4-BE49-F238E27FC236}">
                <a16:creationId xmlns:a16="http://schemas.microsoft.com/office/drawing/2014/main" id="{3FB8EA09-CD2C-88BF-9B3E-390AF9F31756}"/>
              </a:ext>
            </a:extLst>
          </p:cNvPr>
          <p:cNvGraphicFramePr>
            <a:graphicFrameLocks noGrp="1"/>
          </p:cNvGraphicFramePr>
          <p:nvPr>
            <p:extLst>
              <p:ext uri="{D42A27DB-BD31-4B8C-83A1-F6EECF244321}">
                <p14:modId xmlns:p14="http://schemas.microsoft.com/office/powerpoint/2010/main" val="1221530116"/>
              </p:ext>
            </p:extLst>
          </p:nvPr>
        </p:nvGraphicFramePr>
        <p:xfrm>
          <a:off x="819398" y="2883128"/>
          <a:ext cx="9953499" cy="2910661"/>
        </p:xfrm>
        <a:graphic>
          <a:graphicData uri="http://schemas.openxmlformats.org/drawingml/2006/table">
            <a:tbl>
              <a:tblPr/>
              <a:tblGrid>
                <a:gridCol w="2220685">
                  <a:extLst>
                    <a:ext uri="{9D8B030D-6E8A-4147-A177-3AD203B41FA5}">
                      <a16:colId xmlns:a16="http://schemas.microsoft.com/office/drawing/2014/main" val="577190798"/>
                    </a:ext>
                  </a:extLst>
                </a:gridCol>
                <a:gridCol w="4414981">
                  <a:extLst>
                    <a:ext uri="{9D8B030D-6E8A-4147-A177-3AD203B41FA5}">
                      <a16:colId xmlns:a16="http://schemas.microsoft.com/office/drawing/2014/main" val="2037713266"/>
                    </a:ext>
                  </a:extLst>
                </a:gridCol>
                <a:gridCol w="3317833">
                  <a:extLst>
                    <a:ext uri="{9D8B030D-6E8A-4147-A177-3AD203B41FA5}">
                      <a16:colId xmlns:a16="http://schemas.microsoft.com/office/drawing/2014/main" val="1630289769"/>
                    </a:ext>
                  </a:extLst>
                </a:gridCol>
              </a:tblGrid>
              <a:tr h="291227">
                <a:tc>
                  <a:txBody>
                    <a:bodyPr/>
                    <a:lstStyle/>
                    <a:p>
                      <a:r>
                        <a:rPr lang="en-IN" b="1" dirty="0"/>
                        <a:t>Policy Type</a:t>
                      </a:r>
                      <a:endParaRPr lang="en-IN" dirty="0"/>
                    </a:p>
                  </a:txBody>
                  <a:tcPr anchor="ctr">
                    <a:lnL>
                      <a:noFill/>
                    </a:lnL>
                    <a:lnR>
                      <a:noFill/>
                    </a:lnR>
                    <a:lnT>
                      <a:noFill/>
                    </a:lnT>
                    <a:lnB>
                      <a:noFill/>
                    </a:lnB>
                    <a:solidFill>
                      <a:schemeClr val="accent5">
                        <a:lumMod val="20000"/>
                        <a:lumOff val="80000"/>
                      </a:schemeClr>
                    </a:solidFill>
                  </a:tcPr>
                </a:tc>
                <a:tc>
                  <a:txBody>
                    <a:bodyPr/>
                    <a:lstStyle/>
                    <a:p>
                      <a:r>
                        <a:rPr lang="en-IN" b="1" dirty="0"/>
                        <a:t>Description</a:t>
                      </a:r>
                      <a:endParaRPr lang="en-IN" dirty="0"/>
                    </a:p>
                  </a:txBody>
                  <a:tcPr anchor="ctr">
                    <a:lnL>
                      <a:noFill/>
                    </a:lnL>
                    <a:lnR>
                      <a:noFill/>
                    </a:lnR>
                    <a:lnT>
                      <a:noFill/>
                    </a:lnT>
                    <a:lnB>
                      <a:noFill/>
                    </a:lnB>
                    <a:solidFill>
                      <a:schemeClr val="accent5">
                        <a:lumMod val="20000"/>
                        <a:lumOff val="80000"/>
                      </a:schemeClr>
                    </a:solidFill>
                  </a:tcPr>
                </a:tc>
                <a:tc>
                  <a:txBody>
                    <a:bodyPr/>
                    <a:lstStyle/>
                    <a:p>
                      <a:r>
                        <a:rPr lang="en-IN" b="1" dirty="0"/>
                        <a:t>Purpose</a:t>
                      </a:r>
                      <a:endParaRPr lang="en-IN" dirty="0"/>
                    </a:p>
                  </a:txBody>
                  <a:tcPr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1305026384"/>
                  </a:ext>
                </a:extLst>
              </a:tr>
              <a:tr h="728067">
                <a:tc>
                  <a:txBody>
                    <a:bodyPr/>
                    <a:lstStyle/>
                    <a:p>
                      <a:r>
                        <a:rPr lang="en-IN" sz="1600" b="1" dirty="0"/>
                        <a:t>Transfer Policy</a:t>
                      </a:r>
                      <a:endParaRPr lang="en-IN" sz="1600" dirty="0"/>
                    </a:p>
                  </a:txBody>
                  <a:tcPr anchor="ctr">
                    <a:lnL>
                      <a:noFill/>
                    </a:lnL>
                    <a:lnR>
                      <a:noFill/>
                    </a:lnR>
                    <a:lnT>
                      <a:noFill/>
                    </a:lnT>
                    <a:lnB>
                      <a:noFill/>
                    </a:lnB>
                    <a:solidFill>
                      <a:schemeClr val="accent5">
                        <a:lumMod val="20000"/>
                        <a:lumOff val="80000"/>
                      </a:schemeClr>
                    </a:solidFill>
                  </a:tcPr>
                </a:tc>
                <a:tc>
                  <a:txBody>
                    <a:bodyPr/>
                    <a:lstStyle/>
                    <a:p>
                      <a:r>
                        <a:rPr lang="en-US" sz="1600" dirty="0"/>
                        <a:t>Decides </a:t>
                      </a:r>
                      <a:r>
                        <a:rPr lang="en-US" sz="1600" i="1" dirty="0"/>
                        <a:t>when</a:t>
                      </a:r>
                      <a:r>
                        <a:rPr lang="en-US" sz="1600" dirty="0"/>
                        <a:t> to transfer a task — i.e., when a node is overloaded.</a:t>
                      </a:r>
                    </a:p>
                  </a:txBody>
                  <a:tcPr anchor="ctr">
                    <a:lnL>
                      <a:noFill/>
                    </a:lnL>
                    <a:lnR>
                      <a:noFill/>
                    </a:lnR>
                    <a:lnT>
                      <a:noFill/>
                    </a:lnT>
                    <a:lnB>
                      <a:noFill/>
                    </a:lnB>
                    <a:solidFill>
                      <a:schemeClr val="accent3">
                        <a:lumMod val="20000"/>
                        <a:lumOff val="80000"/>
                      </a:schemeClr>
                    </a:solidFill>
                  </a:tcPr>
                </a:tc>
                <a:tc>
                  <a:txBody>
                    <a:bodyPr/>
                    <a:lstStyle/>
                    <a:p>
                      <a:r>
                        <a:rPr lang="en-IN" sz="1600" dirty="0"/>
                        <a:t>Initiate load transfer</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574127857"/>
                  </a:ext>
                </a:extLst>
              </a:tr>
              <a:tr h="509647">
                <a:tc>
                  <a:txBody>
                    <a:bodyPr/>
                    <a:lstStyle/>
                    <a:p>
                      <a:r>
                        <a:rPr lang="en-IN" sz="1600" b="1"/>
                        <a:t>Selection Policy</a:t>
                      </a:r>
                      <a:endParaRPr lang="en-IN" sz="1600"/>
                    </a:p>
                  </a:txBody>
                  <a:tcPr anchor="ctr">
                    <a:lnL>
                      <a:noFill/>
                    </a:lnL>
                    <a:lnR>
                      <a:noFill/>
                    </a:lnR>
                    <a:lnT>
                      <a:noFill/>
                    </a:lnT>
                    <a:lnB>
                      <a:noFill/>
                    </a:lnB>
                    <a:solidFill>
                      <a:schemeClr val="accent5">
                        <a:lumMod val="20000"/>
                        <a:lumOff val="80000"/>
                      </a:schemeClr>
                    </a:solidFill>
                  </a:tcPr>
                </a:tc>
                <a:tc>
                  <a:txBody>
                    <a:bodyPr/>
                    <a:lstStyle/>
                    <a:p>
                      <a:r>
                        <a:rPr lang="en-US" sz="1600"/>
                        <a:t>Decides </a:t>
                      </a:r>
                      <a:r>
                        <a:rPr lang="en-US" sz="1600" i="1"/>
                        <a:t>which</a:t>
                      </a:r>
                      <a:r>
                        <a:rPr lang="en-US" sz="1600"/>
                        <a:t> task(s) should be transferred.</a:t>
                      </a:r>
                    </a:p>
                  </a:txBody>
                  <a:tcPr anchor="ctr">
                    <a:lnL>
                      <a:noFill/>
                    </a:lnL>
                    <a:lnR>
                      <a:noFill/>
                    </a:lnR>
                    <a:lnT>
                      <a:noFill/>
                    </a:lnT>
                    <a:lnB>
                      <a:noFill/>
                    </a:lnB>
                    <a:solidFill>
                      <a:schemeClr val="accent3">
                        <a:lumMod val="20000"/>
                        <a:lumOff val="80000"/>
                      </a:schemeClr>
                    </a:solidFill>
                  </a:tcPr>
                </a:tc>
                <a:tc>
                  <a:txBody>
                    <a:bodyPr/>
                    <a:lstStyle/>
                    <a:p>
                      <a:r>
                        <a:rPr lang="en-IN" sz="1600" dirty="0"/>
                        <a:t>Minimize transfer cost</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975527438"/>
                  </a:ext>
                </a:extLst>
              </a:tr>
              <a:tr h="728067">
                <a:tc>
                  <a:txBody>
                    <a:bodyPr/>
                    <a:lstStyle/>
                    <a:p>
                      <a:r>
                        <a:rPr lang="en-IN" sz="1600" b="1" dirty="0"/>
                        <a:t>Location Policy</a:t>
                      </a:r>
                      <a:endParaRPr lang="en-IN" sz="1600" dirty="0"/>
                    </a:p>
                  </a:txBody>
                  <a:tcPr anchor="ctr">
                    <a:lnL>
                      <a:noFill/>
                    </a:lnL>
                    <a:lnR>
                      <a:noFill/>
                    </a:lnR>
                    <a:lnT>
                      <a:noFill/>
                    </a:lnT>
                    <a:lnB>
                      <a:noFill/>
                    </a:lnB>
                    <a:solidFill>
                      <a:schemeClr val="accent5">
                        <a:lumMod val="20000"/>
                        <a:lumOff val="80000"/>
                      </a:schemeClr>
                    </a:solidFill>
                  </a:tcPr>
                </a:tc>
                <a:tc>
                  <a:txBody>
                    <a:bodyPr/>
                    <a:lstStyle/>
                    <a:p>
                      <a:r>
                        <a:rPr lang="en-US" sz="1600"/>
                        <a:t>Determines </a:t>
                      </a:r>
                      <a:r>
                        <a:rPr lang="en-US" sz="1600" i="1"/>
                        <a:t>where</a:t>
                      </a:r>
                      <a:r>
                        <a:rPr lang="en-US" sz="1600"/>
                        <a:t> to transfer the selected task — i.e., which node should receive it.</a:t>
                      </a:r>
                    </a:p>
                  </a:txBody>
                  <a:tcPr anchor="ctr">
                    <a:lnL>
                      <a:noFill/>
                    </a:lnL>
                    <a:lnR>
                      <a:noFill/>
                    </a:lnR>
                    <a:lnT>
                      <a:noFill/>
                    </a:lnT>
                    <a:lnB>
                      <a:noFill/>
                    </a:lnB>
                    <a:solidFill>
                      <a:schemeClr val="accent3">
                        <a:lumMod val="20000"/>
                        <a:lumOff val="80000"/>
                      </a:schemeClr>
                    </a:solidFill>
                  </a:tcPr>
                </a:tc>
                <a:tc>
                  <a:txBody>
                    <a:bodyPr/>
                    <a:lstStyle/>
                    <a:p>
                      <a:r>
                        <a:rPr lang="en-IN" sz="1600"/>
                        <a:t>Find appropriate destination</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3513923698"/>
                  </a:ext>
                </a:extLst>
              </a:tr>
              <a:tr h="509647">
                <a:tc>
                  <a:txBody>
                    <a:bodyPr/>
                    <a:lstStyle/>
                    <a:p>
                      <a:r>
                        <a:rPr lang="en-IN" sz="1600" b="1" dirty="0"/>
                        <a:t>Information Policy</a:t>
                      </a:r>
                      <a:endParaRPr lang="en-IN" sz="1600" dirty="0"/>
                    </a:p>
                  </a:txBody>
                  <a:tcPr anchor="ctr">
                    <a:lnL>
                      <a:noFill/>
                    </a:lnL>
                    <a:lnR>
                      <a:noFill/>
                    </a:lnR>
                    <a:lnT>
                      <a:noFill/>
                    </a:lnT>
                    <a:lnB>
                      <a:noFill/>
                    </a:lnB>
                    <a:solidFill>
                      <a:schemeClr val="accent5">
                        <a:lumMod val="20000"/>
                        <a:lumOff val="80000"/>
                      </a:schemeClr>
                    </a:solidFill>
                  </a:tcPr>
                </a:tc>
                <a:tc>
                  <a:txBody>
                    <a:bodyPr/>
                    <a:lstStyle/>
                    <a:p>
                      <a:r>
                        <a:rPr lang="en-US" sz="1600"/>
                        <a:t>Specifies </a:t>
                      </a:r>
                      <a:r>
                        <a:rPr lang="en-US" sz="1600" i="1"/>
                        <a:t>how system status is collected</a:t>
                      </a:r>
                      <a:r>
                        <a:rPr lang="en-US" sz="1600"/>
                        <a:t> and </a:t>
                      </a:r>
                      <a:r>
                        <a:rPr lang="en-US" sz="1600" i="1"/>
                        <a:t>how often</a:t>
                      </a:r>
                      <a:r>
                        <a:rPr lang="en-US" sz="1600"/>
                        <a:t>.</a:t>
                      </a:r>
                    </a:p>
                  </a:txBody>
                  <a:tcPr anchor="ctr">
                    <a:lnL>
                      <a:noFill/>
                    </a:lnL>
                    <a:lnR>
                      <a:noFill/>
                    </a:lnR>
                    <a:lnT>
                      <a:noFill/>
                    </a:lnT>
                    <a:lnB>
                      <a:noFill/>
                    </a:lnB>
                    <a:solidFill>
                      <a:schemeClr val="accent3">
                        <a:lumMod val="20000"/>
                        <a:lumOff val="80000"/>
                      </a:schemeClr>
                    </a:solidFill>
                  </a:tcPr>
                </a:tc>
                <a:tc>
                  <a:txBody>
                    <a:bodyPr/>
                    <a:lstStyle/>
                    <a:p>
                      <a:r>
                        <a:rPr lang="en-US" sz="1600" dirty="0"/>
                        <a:t>Update load information to make scheduling decisions</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767343582"/>
                  </a:ext>
                </a:extLst>
              </a:tr>
            </a:tbl>
          </a:graphicData>
        </a:graphic>
      </p:graphicFrame>
    </p:spTree>
    <p:extLst>
      <p:ext uri="{BB962C8B-B14F-4D97-AF65-F5344CB8AC3E}">
        <p14:creationId xmlns:p14="http://schemas.microsoft.com/office/powerpoint/2010/main" val="3194891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546265" y="178130"/>
            <a:ext cx="11044052" cy="6279077"/>
          </a:xfrm>
        </p:spPr>
        <p:txBody>
          <a:bodyPr>
            <a:normAutofit/>
          </a:bodyPr>
          <a:lstStyle/>
          <a:p>
            <a:pPr marL="0" indent="0">
              <a:buNone/>
            </a:pPr>
            <a:endParaRPr lang="en-IN" sz="2000" b="1" dirty="0">
              <a:solidFill>
                <a:schemeClr val="accent1">
                  <a:lumMod val="75000"/>
                </a:schemeClr>
              </a:solidFill>
            </a:endParaRPr>
          </a:p>
          <a:p>
            <a:pPr marL="0" indent="0">
              <a:buNone/>
            </a:pPr>
            <a:endParaRPr lang="en-IN" sz="2000" b="1" dirty="0">
              <a:solidFill>
                <a:schemeClr val="accent1">
                  <a:lumMod val="75000"/>
                </a:schemeClr>
              </a:solidFill>
            </a:endParaRPr>
          </a:p>
          <a:p>
            <a:pPr marL="0" indent="0">
              <a:buNone/>
            </a:pPr>
            <a:endParaRPr lang="en-IN" sz="2000" b="1" dirty="0">
              <a:solidFill>
                <a:schemeClr val="accent1">
                  <a:lumMod val="75000"/>
                </a:schemeClr>
              </a:solidFill>
            </a:endParaRPr>
          </a:p>
          <a:p>
            <a:pPr marL="0" indent="0">
              <a:buNone/>
            </a:pPr>
            <a:r>
              <a:rPr lang="en-IN" sz="2000" b="1" dirty="0">
                <a:solidFill>
                  <a:schemeClr val="accent1">
                    <a:lumMod val="75000"/>
                  </a:schemeClr>
                </a:solidFill>
              </a:rPr>
              <a:t>Types of Load Balancing:</a:t>
            </a:r>
          </a:p>
          <a:p>
            <a:pPr marL="0" indent="0">
              <a:buNone/>
            </a:pPr>
            <a:endParaRPr lang="en-IN" sz="1800" dirty="0">
              <a:solidFill>
                <a:schemeClr val="accent1">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 name="Table 3">
            <a:extLst>
              <a:ext uri="{FF2B5EF4-FFF2-40B4-BE49-F238E27FC236}">
                <a16:creationId xmlns:a16="http://schemas.microsoft.com/office/drawing/2014/main" id="{5CE43FC3-90DE-94A7-3864-E2B16A0BB7F7}"/>
              </a:ext>
            </a:extLst>
          </p:cNvPr>
          <p:cNvGraphicFramePr>
            <a:graphicFrameLocks noGrp="1"/>
          </p:cNvGraphicFramePr>
          <p:nvPr>
            <p:extLst>
              <p:ext uri="{D42A27DB-BD31-4B8C-83A1-F6EECF244321}">
                <p14:modId xmlns:p14="http://schemas.microsoft.com/office/powerpoint/2010/main" val="1987483478"/>
              </p:ext>
            </p:extLst>
          </p:nvPr>
        </p:nvGraphicFramePr>
        <p:xfrm>
          <a:off x="704004" y="2124727"/>
          <a:ext cx="9987453" cy="1645920"/>
        </p:xfrm>
        <a:graphic>
          <a:graphicData uri="http://schemas.openxmlformats.org/drawingml/2006/table">
            <a:tbl>
              <a:tblPr/>
              <a:tblGrid>
                <a:gridCol w="3329151">
                  <a:extLst>
                    <a:ext uri="{9D8B030D-6E8A-4147-A177-3AD203B41FA5}">
                      <a16:colId xmlns:a16="http://schemas.microsoft.com/office/drawing/2014/main" val="1632885592"/>
                    </a:ext>
                  </a:extLst>
                </a:gridCol>
                <a:gridCol w="3329151">
                  <a:extLst>
                    <a:ext uri="{9D8B030D-6E8A-4147-A177-3AD203B41FA5}">
                      <a16:colId xmlns:a16="http://schemas.microsoft.com/office/drawing/2014/main" val="1582783109"/>
                    </a:ext>
                  </a:extLst>
                </a:gridCol>
                <a:gridCol w="3329151">
                  <a:extLst>
                    <a:ext uri="{9D8B030D-6E8A-4147-A177-3AD203B41FA5}">
                      <a16:colId xmlns:a16="http://schemas.microsoft.com/office/drawing/2014/main" val="3869729120"/>
                    </a:ext>
                  </a:extLst>
                </a:gridCol>
              </a:tblGrid>
              <a:tr h="0">
                <a:tc>
                  <a:txBody>
                    <a:bodyPr/>
                    <a:lstStyle/>
                    <a:p>
                      <a:r>
                        <a:rPr lang="en-IN" b="1">
                          <a:solidFill>
                            <a:schemeClr val="accent1">
                              <a:lumMod val="75000"/>
                            </a:schemeClr>
                          </a:solidFill>
                        </a:rPr>
                        <a:t>Type</a:t>
                      </a:r>
                      <a:endParaRPr lang="en-IN">
                        <a:solidFill>
                          <a:schemeClr val="accent1">
                            <a:lumMod val="75000"/>
                          </a:schemeClr>
                        </a:solidFill>
                      </a:endParaRPr>
                    </a:p>
                  </a:txBody>
                  <a:tcPr anchor="ctr">
                    <a:lnL>
                      <a:noFill/>
                    </a:lnL>
                    <a:lnR>
                      <a:noFill/>
                    </a:lnR>
                    <a:lnT>
                      <a:noFill/>
                    </a:lnT>
                    <a:lnB>
                      <a:noFill/>
                    </a:lnB>
                    <a:solidFill>
                      <a:schemeClr val="accent5">
                        <a:lumMod val="20000"/>
                        <a:lumOff val="80000"/>
                      </a:schemeClr>
                    </a:solidFill>
                  </a:tcPr>
                </a:tc>
                <a:tc>
                  <a:txBody>
                    <a:bodyPr/>
                    <a:lstStyle/>
                    <a:p>
                      <a:r>
                        <a:rPr lang="en-IN" b="1" dirty="0">
                          <a:solidFill>
                            <a:schemeClr val="accent1">
                              <a:lumMod val="75000"/>
                            </a:schemeClr>
                          </a:solidFill>
                        </a:rPr>
                        <a:t>Key Feature</a:t>
                      </a:r>
                      <a:endParaRPr lang="en-IN" dirty="0">
                        <a:solidFill>
                          <a:schemeClr val="accent1">
                            <a:lumMod val="75000"/>
                          </a:schemeClr>
                        </a:solidFill>
                      </a:endParaRPr>
                    </a:p>
                  </a:txBody>
                  <a:tcPr anchor="ctr">
                    <a:lnL>
                      <a:noFill/>
                    </a:lnL>
                    <a:lnR>
                      <a:noFill/>
                    </a:lnR>
                    <a:lnT>
                      <a:noFill/>
                    </a:lnT>
                    <a:lnB>
                      <a:noFill/>
                    </a:lnB>
                    <a:solidFill>
                      <a:schemeClr val="accent5">
                        <a:lumMod val="20000"/>
                        <a:lumOff val="80000"/>
                      </a:schemeClr>
                    </a:solidFill>
                  </a:tcPr>
                </a:tc>
                <a:tc>
                  <a:txBody>
                    <a:bodyPr/>
                    <a:lstStyle/>
                    <a:p>
                      <a:r>
                        <a:rPr lang="en-IN" b="1" dirty="0">
                          <a:solidFill>
                            <a:schemeClr val="accent1">
                              <a:lumMod val="75000"/>
                            </a:schemeClr>
                          </a:solidFill>
                        </a:rPr>
                        <a:t>Example Algorithms</a:t>
                      </a:r>
                      <a:endParaRPr lang="en-IN" dirty="0">
                        <a:solidFill>
                          <a:schemeClr val="accent1">
                            <a:lumMod val="75000"/>
                          </a:schemeClr>
                        </a:solidFill>
                      </a:endParaRPr>
                    </a:p>
                  </a:txBody>
                  <a:tcPr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1788168676"/>
                  </a:ext>
                </a:extLst>
              </a:tr>
              <a:tr h="0">
                <a:tc>
                  <a:txBody>
                    <a:bodyPr/>
                    <a:lstStyle/>
                    <a:p>
                      <a:r>
                        <a:rPr lang="en-IN" b="1" dirty="0">
                          <a:solidFill>
                            <a:schemeClr val="accent6">
                              <a:lumMod val="75000"/>
                            </a:schemeClr>
                          </a:solidFill>
                        </a:rPr>
                        <a:t>Static</a:t>
                      </a:r>
                      <a:endParaRPr lang="en-IN" dirty="0">
                        <a:solidFill>
                          <a:schemeClr val="accent6">
                            <a:lumMod val="75000"/>
                          </a:schemeClr>
                        </a:solidFill>
                      </a:endParaRPr>
                    </a:p>
                  </a:txBody>
                  <a:tcPr anchor="ctr">
                    <a:lnL>
                      <a:noFill/>
                    </a:lnL>
                    <a:lnR>
                      <a:noFill/>
                    </a:lnR>
                    <a:lnT>
                      <a:noFill/>
                    </a:lnT>
                    <a:lnB>
                      <a:noFill/>
                    </a:lnB>
                    <a:solidFill>
                      <a:schemeClr val="accent4">
                        <a:lumMod val="20000"/>
                        <a:lumOff val="80000"/>
                      </a:schemeClr>
                    </a:solidFill>
                  </a:tcPr>
                </a:tc>
                <a:tc>
                  <a:txBody>
                    <a:bodyPr/>
                    <a:lstStyle/>
                    <a:p>
                      <a:r>
                        <a:rPr lang="en-US" dirty="0">
                          <a:solidFill>
                            <a:schemeClr val="accent1">
                              <a:lumMod val="75000"/>
                            </a:schemeClr>
                          </a:solidFill>
                        </a:rPr>
                        <a:t>Fixed distribution decided before execution</a:t>
                      </a:r>
                    </a:p>
                  </a:txBody>
                  <a:tcPr anchor="ctr">
                    <a:lnL>
                      <a:noFill/>
                    </a:lnL>
                    <a:lnR>
                      <a:noFill/>
                    </a:lnR>
                    <a:lnT>
                      <a:noFill/>
                    </a:lnT>
                    <a:lnB>
                      <a:noFill/>
                    </a:lnB>
                  </a:tcPr>
                </a:tc>
                <a:tc>
                  <a:txBody>
                    <a:bodyPr/>
                    <a:lstStyle/>
                    <a:p>
                      <a:r>
                        <a:rPr lang="en-IN" dirty="0">
                          <a:solidFill>
                            <a:schemeClr val="accent1">
                              <a:lumMod val="75000"/>
                            </a:schemeClr>
                          </a:solidFill>
                        </a:rPr>
                        <a:t>Round Robin, Random, Hash-based</a:t>
                      </a:r>
                    </a:p>
                  </a:txBody>
                  <a:tcPr anchor="ctr">
                    <a:lnL>
                      <a:noFill/>
                    </a:lnL>
                    <a:lnR>
                      <a:noFill/>
                    </a:lnR>
                    <a:lnT>
                      <a:noFill/>
                    </a:lnT>
                    <a:lnB>
                      <a:noFill/>
                    </a:lnB>
                  </a:tcPr>
                </a:tc>
                <a:extLst>
                  <a:ext uri="{0D108BD9-81ED-4DB2-BD59-A6C34878D82A}">
                    <a16:rowId xmlns:a16="http://schemas.microsoft.com/office/drawing/2014/main" val="1035113370"/>
                  </a:ext>
                </a:extLst>
              </a:tr>
              <a:tr h="0">
                <a:tc>
                  <a:txBody>
                    <a:bodyPr/>
                    <a:lstStyle/>
                    <a:p>
                      <a:r>
                        <a:rPr lang="en-IN" b="1" dirty="0">
                          <a:solidFill>
                            <a:schemeClr val="accent6">
                              <a:lumMod val="75000"/>
                            </a:schemeClr>
                          </a:solidFill>
                        </a:rPr>
                        <a:t>Dynamic</a:t>
                      </a:r>
                      <a:endParaRPr lang="en-IN" dirty="0">
                        <a:solidFill>
                          <a:schemeClr val="accent6">
                            <a:lumMod val="75000"/>
                          </a:schemeClr>
                        </a:solidFill>
                      </a:endParaRPr>
                    </a:p>
                  </a:txBody>
                  <a:tcPr anchor="ctr">
                    <a:lnL>
                      <a:noFill/>
                    </a:lnL>
                    <a:lnR>
                      <a:noFill/>
                    </a:lnR>
                    <a:lnT>
                      <a:noFill/>
                    </a:lnT>
                    <a:lnB>
                      <a:noFill/>
                    </a:lnB>
                    <a:solidFill>
                      <a:schemeClr val="accent4">
                        <a:lumMod val="20000"/>
                        <a:lumOff val="80000"/>
                      </a:schemeClr>
                    </a:solidFill>
                  </a:tcPr>
                </a:tc>
                <a:tc>
                  <a:txBody>
                    <a:bodyPr/>
                    <a:lstStyle/>
                    <a:p>
                      <a:r>
                        <a:rPr lang="en-US">
                          <a:solidFill>
                            <a:schemeClr val="accent1">
                              <a:lumMod val="75000"/>
                            </a:schemeClr>
                          </a:solidFill>
                        </a:rPr>
                        <a:t>Decisions made during runtime based on load info</a:t>
                      </a:r>
                    </a:p>
                  </a:txBody>
                  <a:tcPr anchor="ctr">
                    <a:lnL>
                      <a:noFill/>
                    </a:lnL>
                    <a:lnR>
                      <a:noFill/>
                    </a:lnR>
                    <a:lnT>
                      <a:noFill/>
                    </a:lnT>
                    <a:lnB>
                      <a:noFill/>
                    </a:lnB>
                  </a:tcPr>
                </a:tc>
                <a:tc>
                  <a:txBody>
                    <a:bodyPr/>
                    <a:lstStyle/>
                    <a:p>
                      <a:r>
                        <a:rPr lang="en-IN" dirty="0">
                          <a:solidFill>
                            <a:schemeClr val="accent1">
                              <a:lumMod val="75000"/>
                            </a:schemeClr>
                          </a:solidFill>
                        </a:rPr>
                        <a:t>Threshold, Sender-Initiated, Receiver-Initiated</a:t>
                      </a:r>
                    </a:p>
                  </a:txBody>
                  <a:tcPr anchor="ctr">
                    <a:lnL>
                      <a:noFill/>
                    </a:lnL>
                    <a:lnR>
                      <a:noFill/>
                    </a:lnR>
                    <a:lnT>
                      <a:noFill/>
                    </a:lnT>
                    <a:lnB>
                      <a:noFill/>
                    </a:lnB>
                  </a:tcPr>
                </a:tc>
                <a:extLst>
                  <a:ext uri="{0D108BD9-81ED-4DB2-BD59-A6C34878D82A}">
                    <a16:rowId xmlns:a16="http://schemas.microsoft.com/office/drawing/2014/main" val="983570123"/>
                  </a:ext>
                </a:extLst>
              </a:tr>
            </a:tbl>
          </a:graphicData>
        </a:graphic>
      </p:graphicFrame>
    </p:spTree>
    <p:extLst>
      <p:ext uri="{BB962C8B-B14F-4D97-AF65-F5344CB8AC3E}">
        <p14:creationId xmlns:p14="http://schemas.microsoft.com/office/powerpoint/2010/main" val="3155470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546265" y="178130"/>
            <a:ext cx="11044052" cy="6279077"/>
          </a:xfrm>
        </p:spPr>
        <p:txBody>
          <a:bodyPr>
            <a:normAutofit/>
          </a:bodyPr>
          <a:lstStyle/>
          <a:p>
            <a:pPr marL="0" indent="0">
              <a:buNone/>
            </a:pPr>
            <a:r>
              <a:rPr lang="en-IN" sz="2000" b="1" dirty="0">
                <a:solidFill>
                  <a:schemeClr val="accent1">
                    <a:lumMod val="75000"/>
                  </a:schemeClr>
                </a:solidFill>
                <a:latin typeface="+mj-lt"/>
              </a:rPr>
              <a:t>Types of Load Balancing: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sng" strike="noStrike" cap="none" normalizeH="0" baseline="0" dirty="0">
                <a:ln>
                  <a:noFill/>
                </a:ln>
                <a:solidFill>
                  <a:schemeClr val="accent6">
                    <a:lumMod val="75000"/>
                  </a:schemeClr>
                </a:solidFill>
                <a:effectLst/>
                <a:latin typeface="+mj-lt"/>
              </a:rPr>
              <a:t>Static Load Balancing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mj-lt"/>
              </a:rPr>
              <a:t>Definition</a:t>
            </a:r>
          </a:p>
          <a:p>
            <a:pPr marL="0" indent="0"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accent1">
                    <a:lumMod val="75000"/>
                  </a:schemeClr>
                </a:solidFill>
                <a:effectLst/>
                <a:latin typeface="+mj-lt"/>
              </a:rPr>
              <a:t>Static load balancing means the </a:t>
            </a:r>
            <a:r>
              <a:rPr kumimoji="0" lang="en-US" altLang="en-US" sz="1800" b="1" i="0" u="none" strike="noStrike" cap="none" normalizeH="0" baseline="0" dirty="0">
                <a:ln>
                  <a:noFill/>
                </a:ln>
                <a:solidFill>
                  <a:schemeClr val="accent1">
                    <a:lumMod val="75000"/>
                  </a:schemeClr>
                </a:solidFill>
                <a:effectLst/>
                <a:latin typeface="+mj-lt"/>
              </a:rPr>
              <a:t>distribution of tasks is decided before execution</a:t>
            </a:r>
            <a:r>
              <a:rPr kumimoji="0" lang="en-US" altLang="en-US" sz="1800" b="0" i="0" u="none" strike="noStrike" cap="none" normalizeH="0" baseline="0" dirty="0">
                <a:ln>
                  <a:noFill/>
                </a:ln>
                <a:solidFill>
                  <a:schemeClr val="accent1">
                    <a:lumMod val="75000"/>
                  </a:schemeClr>
                </a:solidFill>
                <a:effectLst/>
                <a:latin typeface="+mj-lt"/>
              </a:rPr>
              <a:t> — at compile-time or task submission time.</a:t>
            </a:r>
            <a:br>
              <a:rPr kumimoji="0" lang="en-US" altLang="en-US" sz="1800" b="0" i="0" u="none" strike="noStrike" cap="none" normalizeH="0" baseline="0" dirty="0">
                <a:ln>
                  <a:noFill/>
                </a:ln>
                <a:solidFill>
                  <a:schemeClr val="accent1">
                    <a:lumMod val="75000"/>
                  </a:schemeClr>
                </a:solidFill>
                <a:effectLst/>
                <a:latin typeface="+mj-lt"/>
              </a:rPr>
            </a:br>
            <a:r>
              <a:rPr kumimoji="0" lang="en-US" altLang="en-US" sz="1800" b="0" i="0" u="none" strike="noStrike" cap="none" normalizeH="0" baseline="0" dirty="0">
                <a:ln>
                  <a:noFill/>
                </a:ln>
                <a:solidFill>
                  <a:schemeClr val="accent1">
                    <a:lumMod val="75000"/>
                  </a:schemeClr>
                </a:solidFill>
                <a:effectLst/>
                <a:latin typeface="+mj-lt"/>
              </a:rPr>
              <a:t>Each node’s </a:t>
            </a:r>
            <a:r>
              <a:rPr kumimoji="0" lang="en-US" altLang="en-US" sz="1800" b="1" i="0" u="none" strike="noStrike" cap="none" normalizeH="0" baseline="0" dirty="0">
                <a:ln>
                  <a:noFill/>
                </a:ln>
                <a:solidFill>
                  <a:schemeClr val="accent1">
                    <a:lumMod val="75000"/>
                  </a:schemeClr>
                </a:solidFill>
                <a:effectLst/>
                <a:latin typeface="+mj-lt"/>
              </a:rPr>
              <a:t>capability and workload are assumed to be known in advance</a:t>
            </a:r>
            <a:r>
              <a:rPr kumimoji="0" lang="en-US" altLang="en-US" sz="1800" b="0" i="0" u="none" strike="noStrike" cap="none" normalizeH="0" baseline="0" dirty="0">
                <a:ln>
                  <a:noFill/>
                </a:ln>
                <a:solidFill>
                  <a:schemeClr val="accent1">
                    <a:lumMod val="75000"/>
                  </a:schemeClr>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accent1">
                  <a:lumMod val="75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mj-lt"/>
              </a:rPr>
              <a:t>How It 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mj-lt"/>
              </a:rPr>
              <a:t>The system has </a:t>
            </a:r>
            <a:r>
              <a:rPr kumimoji="0" lang="en-US" altLang="en-US" sz="1800" b="1" i="0" u="none" strike="noStrike" cap="none" normalizeH="0" baseline="0" dirty="0">
                <a:ln>
                  <a:noFill/>
                </a:ln>
                <a:solidFill>
                  <a:schemeClr val="accent1">
                    <a:lumMod val="75000"/>
                  </a:schemeClr>
                </a:solidFill>
                <a:effectLst/>
                <a:latin typeface="+mj-lt"/>
              </a:rPr>
              <a:t>complete information</a:t>
            </a:r>
            <a:r>
              <a:rPr kumimoji="0" lang="en-US" altLang="en-US" sz="1800" b="0" i="0" u="none" strike="noStrike" cap="none" normalizeH="0" baseline="0" dirty="0">
                <a:ln>
                  <a:noFill/>
                </a:ln>
                <a:solidFill>
                  <a:schemeClr val="accent1">
                    <a:lumMod val="75000"/>
                  </a:schemeClr>
                </a:solidFill>
                <a:effectLst/>
                <a:latin typeface="+mj-lt"/>
              </a:rPr>
              <a:t> about nodes (processing power, speed, memory).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mj-lt"/>
              </a:rPr>
              <a:t>Tasks are assigned </a:t>
            </a:r>
            <a:r>
              <a:rPr kumimoji="0" lang="en-US" altLang="en-US" sz="1800" b="1" i="0" u="none" strike="noStrike" cap="none" normalizeH="0" baseline="0" dirty="0">
                <a:ln>
                  <a:noFill/>
                </a:ln>
                <a:solidFill>
                  <a:schemeClr val="accent1">
                    <a:lumMod val="75000"/>
                  </a:schemeClr>
                </a:solidFill>
                <a:effectLst/>
                <a:latin typeface="+mj-lt"/>
              </a:rPr>
              <a:t>deterministically</a:t>
            </a:r>
            <a:r>
              <a:rPr kumimoji="0" lang="en-US" altLang="en-US" sz="1800" b="0" i="0" u="none" strike="noStrike" cap="none" normalizeH="0" baseline="0" dirty="0">
                <a:ln>
                  <a:noFill/>
                </a:ln>
                <a:solidFill>
                  <a:schemeClr val="accent1">
                    <a:lumMod val="75000"/>
                  </a:schemeClr>
                </a:solidFill>
                <a:effectLst/>
                <a:latin typeface="+mj-lt"/>
              </a:rPr>
              <a:t> (not changed later).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mj-lt"/>
              </a:rPr>
              <a:t>Once assigned, the task stays on the same node — </a:t>
            </a:r>
            <a:r>
              <a:rPr kumimoji="0" lang="en-US" altLang="en-US" sz="1800" b="1" i="0" u="none" strike="noStrike" cap="none" normalizeH="0" baseline="0" dirty="0">
                <a:ln>
                  <a:noFill/>
                </a:ln>
                <a:solidFill>
                  <a:schemeClr val="accent1">
                    <a:lumMod val="75000"/>
                  </a:schemeClr>
                </a:solidFill>
                <a:effectLst/>
                <a:latin typeface="+mj-lt"/>
              </a:rPr>
              <a:t>no task migration</a:t>
            </a:r>
            <a:r>
              <a:rPr kumimoji="0" lang="en-US" altLang="en-US" sz="1800" b="0" i="0" u="none" strike="noStrike" cap="none" normalizeH="0" baseline="0" dirty="0">
                <a:ln>
                  <a:noFill/>
                </a:ln>
                <a:solidFill>
                  <a:schemeClr val="accent1">
                    <a:lumMod val="75000"/>
                  </a:schemeClr>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7" name="Table 6">
            <a:extLst>
              <a:ext uri="{FF2B5EF4-FFF2-40B4-BE49-F238E27FC236}">
                <a16:creationId xmlns:a16="http://schemas.microsoft.com/office/drawing/2014/main" id="{AB89A2DD-585D-0C55-93E2-42D509EE8230}"/>
              </a:ext>
            </a:extLst>
          </p:cNvPr>
          <p:cNvGraphicFramePr>
            <a:graphicFrameLocks noGrp="1"/>
          </p:cNvGraphicFramePr>
          <p:nvPr>
            <p:extLst>
              <p:ext uri="{D42A27DB-BD31-4B8C-83A1-F6EECF244321}">
                <p14:modId xmlns:p14="http://schemas.microsoft.com/office/powerpoint/2010/main" val="3162620600"/>
              </p:ext>
            </p:extLst>
          </p:nvPr>
        </p:nvGraphicFramePr>
        <p:xfrm>
          <a:off x="436951" y="3513218"/>
          <a:ext cx="10733619" cy="3095407"/>
        </p:xfrm>
        <a:graphic>
          <a:graphicData uri="http://schemas.openxmlformats.org/drawingml/2006/table">
            <a:tbl>
              <a:tblPr/>
              <a:tblGrid>
                <a:gridCol w="3577873">
                  <a:extLst>
                    <a:ext uri="{9D8B030D-6E8A-4147-A177-3AD203B41FA5}">
                      <a16:colId xmlns:a16="http://schemas.microsoft.com/office/drawing/2014/main" val="3827997952"/>
                    </a:ext>
                  </a:extLst>
                </a:gridCol>
                <a:gridCol w="3577873">
                  <a:extLst>
                    <a:ext uri="{9D8B030D-6E8A-4147-A177-3AD203B41FA5}">
                      <a16:colId xmlns:a16="http://schemas.microsoft.com/office/drawing/2014/main" val="3396025599"/>
                    </a:ext>
                  </a:extLst>
                </a:gridCol>
                <a:gridCol w="3577873">
                  <a:extLst>
                    <a:ext uri="{9D8B030D-6E8A-4147-A177-3AD203B41FA5}">
                      <a16:colId xmlns:a16="http://schemas.microsoft.com/office/drawing/2014/main" val="3233972057"/>
                    </a:ext>
                  </a:extLst>
                </a:gridCol>
              </a:tblGrid>
              <a:tr h="403761">
                <a:tc>
                  <a:txBody>
                    <a:bodyPr/>
                    <a:lstStyle/>
                    <a:p>
                      <a:r>
                        <a:rPr lang="en-IN" sz="1600" b="1" dirty="0">
                          <a:solidFill>
                            <a:schemeClr val="accent5">
                              <a:lumMod val="75000"/>
                            </a:schemeClr>
                          </a:solidFill>
                        </a:rPr>
                        <a:t>Algorithm</a:t>
                      </a:r>
                      <a:endParaRPr lang="en-IN" sz="1600" dirty="0">
                        <a:solidFill>
                          <a:schemeClr val="accent5">
                            <a:lumMod val="75000"/>
                          </a:schemeClr>
                        </a:solidFill>
                      </a:endParaRPr>
                    </a:p>
                  </a:txBody>
                  <a:tcPr anchor="ctr">
                    <a:lnL>
                      <a:noFill/>
                    </a:lnL>
                    <a:lnR>
                      <a:noFill/>
                    </a:lnR>
                    <a:lnT>
                      <a:noFill/>
                    </a:lnT>
                    <a:lnB>
                      <a:noFill/>
                    </a:lnB>
                    <a:solidFill>
                      <a:schemeClr val="accent5">
                        <a:lumMod val="20000"/>
                        <a:lumOff val="80000"/>
                      </a:schemeClr>
                    </a:solidFill>
                  </a:tcPr>
                </a:tc>
                <a:tc>
                  <a:txBody>
                    <a:bodyPr/>
                    <a:lstStyle/>
                    <a:p>
                      <a:r>
                        <a:rPr lang="en-IN" sz="1600" b="1" dirty="0">
                          <a:solidFill>
                            <a:schemeClr val="accent5">
                              <a:lumMod val="75000"/>
                            </a:schemeClr>
                          </a:solidFill>
                        </a:rPr>
                        <a:t>Description</a:t>
                      </a:r>
                      <a:endParaRPr lang="en-IN" sz="1600" dirty="0">
                        <a:solidFill>
                          <a:schemeClr val="accent5">
                            <a:lumMod val="75000"/>
                          </a:schemeClr>
                        </a:solidFill>
                      </a:endParaRPr>
                    </a:p>
                  </a:txBody>
                  <a:tcPr anchor="ctr">
                    <a:lnL>
                      <a:noFill/>
                    </a:lnL>
                    <a:lnR>
                      <a:noFill/>
                    </a:lnR>
                    <a:lnT>
                      <a:noFill/>
                    </a:lnT>
                    <a:lnB>
                      <a:noFill/>
                    </a:lnB>
                    <a:solidFill>
                      <a:schemeClr val="accent5">
                        <a:lumMod val="20000"/>
                        <a:lumOff val="80000"/>
                      </a:schemeClr>
                    </a:solidFill>
                  </a:tcPr>
                </a:tc>
                <a:tc>
                  <a:txBody>
                    <a:bodyPr/>
                    <a:lstStyle/>
                    <a:p>
                      <a:r>
                        <a:rPr lang="en-IN" sz="1600" b="1" dirty="0">
                          <a:solidFill>
                            <a:schemeClr val="accent5">
                              <a:lumMod val="75000"/>
                            </a:schemeClr>
                          </a:solidFill>
                        </a:rPr>
                        <a:t>Example Scenario</a:t>
                      </a:r>
                      <a:endParaRPr lang="en-IN" sz="1600" dirty="0">
                        <a:solidFill>
                          <a:schemeClr val="accent5">
                            <a:lumMod val="75000"/>
                          </a:schemeClr>
                        </a:solidFill>
                      </a:endParaRPr>
                    </a:p>
                  </a:txBody>
                  <a:tcPr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3348556355"/>
                  </a:ext>
                </a:extLst>
              </a:tr>
              <a:tr h="607791">
                <a:tc>
                  <a:txBody>
                    <a:bodyPr/>
                    <a:lstStyle/>
                    <a:p>
                      <a:r>
                        <a:rPr lang="en-IN" sz="1600" b="1" dirty="0">
                          <a:solidFill>
                            <a:schemeClr val="accent6">
                              <a:lumMod val="50000"/>
                            </a:schemeClr>
                          </a:solidFill>
                        </a:rPr>
                        <a:t>Round Robin</a:t>
                      </a:r>
                      <a:endParaRPr lang="en-IN" sz="1600" dirty="0">
                        <a:solidFill>
                          <a:schemeClr val="accent6">
                            <a:lumMod val="50000"/>
                          </a:schemeClr>
                        </a:solidFill>
                      </a:endParaRPr>
                    </a:p>
                  </a:txBody>
                  <a:tcPr anchor="ctr">
                    <a:lnL>
                      <a:noFill/>
                    </a:lnL>
                    <a:lnR>
                      <a:noFill/>
                    </a:lnR>
                    <a:lnT>
                      <a:noFill/>
                    </a:lnT>
                    <a:lnB>
                      <a:noFill/>
                    </a:lnB>
                  </a:tcPr>
                </a:tc>
                <a:tc>
                  <a:txBody>
                    <a:bodyPr/>
                    <a:lstStyle/>
                    <a:p>
                      <a:r>
                        <a:rPr lang="en-US" sz="1600"/>
                        <a:t>Tasks distributed in circular order among nodes.</a:t>
                      </a:r>
                    </a:p>
                  </a:txBody>
                  <a:tcPr anchor="ctr">
                    <a:lnL>
                      <a:noFill/>
                    </a:lnL>
                    <a:lnR>
                      <a:noFill/>
                    </a:lnR>
                    <a:lnT>
                      <a:noFill/>
                    </a:lnT>
                    <a:lnB>
                      <a:noFill/>
                    </a:lnB>
                  </a:tcPr>
                </a:tc>
                <a:tc>
                  <a:txBody>
                    <a:bodyPr/>
                    <a:lstStyle/>
                    <a:p>
                      <a:r>
                        <a:rPr lang="en-US" sz="1600" dirty="0"/>
                        <a:t>Equal-sized jobs on identical processors</a:t>
                      </a:r>
                    </a:p>
                  </a:txBody>
                  <a:tcPr anchor="ctr">
                    <a:lnL>
                      <a:noFill/>
                    </a:lnL>
                    <a:lnR>
                      <a:noFill/>
                    </a:lnR>
                    <a:lnT>
                      <a:noFill/>
                    </a:lnT>
                    <a:lnB>
                      <a:noFill/>
                    </a:lnB>
                  </a:tcPr>
                </a:tc>
                <a:extLst>
                  <a:ext uri="{0D108BD9-81ED-4DB2-BD59-A6C34878D82A}">
                    <a16:rowId xmlns:a16="http://schemas.microsoft.com/office/drawing/2014/main" val="2901334357"/>
                  </a:ext>
                </a:extLst>
              </a:tr>
              <a:tr h="607791">
                <a:tc>
                  <a:txBody>
                    <a:bodyPr/>
                    <a:lstStyle/>
                    <a:p>
                      <a:r>
                        <a:rPr lang="en-IN" sz="1600" b="1" dirty="0">
                          <a:solidFill>
                            <a:schemeClr val="accent6">
                              <a:lumMod val="60000"/>
                              <a:lumOff val="40000"/>
                            </a:schemeClr>
                          </a:solidFill>
                        </a:rPr>
                        <a:t>Random Allocation</a:t>
                      </a:r>
                      <a:endParaRPr lang="en-IN" sz="1600" dirty="0">
                        <a:solidFill>
                          <a:schemeClr val="accent6">
                            <a:lumMod val="60000"/>
                            <a:lumOff val="40000"/>
                          </a:schemeClr>
                        </a:solidFill>
                      </a:endParaRPr>
                    </a:p>
                  </a:txBody>
                  <a:tcPr anchor="ctr">
                    <a:lnL>
                      <a:noFill/>
                    </a:lnL>
                    <a:lnR>
                      <a:noFill/>
                    </a:lnR>
                    <a:lnT>
                      <a:noFill/>
                    </a:lnT>
                    <a:lnB>
                      <a:noFill/>
                    </a:lnB>
                  </a:tcPr>
                </a:tc>
                <a:tc>
                  <a:txBody>
                    <a:bodyPr/>
                    <a:lstStyle/>
                    <a:p>
                      <a:r>
                        <a:rPr lang="en-US" sz="1600"/>
                        <a:t>Each new task assigned to a randomly chosen node.</a:t>
                      </a:r>
                    </a:p>
                  </a:txBody>
                  <a:tcPr anchor="ctr">
                    <a:lnL>
                      <a:noFill/>
                    </a:lnL>
                    <a:lnR>
                      <a:noFill/>
                    </a:lnR>
                    <a:lnT>
                      <a:noFill/>
                    </a:lnT>
                    <a:lnB>
                      <a:noFill/>
                    </a:lnB>
                  </a:tcPr>
                </a:tc>
                <a:tc>
                  <a:txBody>
                    <a:bodyPr/>
                    <a:lstStyle/>
                    <a:p>
                      <a:r>
                        <a:rPr lang="en-US" sz="1600"/>
                        <a:t>Cloud task distribution for uniform resources</a:t>
                      </a:r>
                    </a:p>
                  </a:txBody>
                  <a:tcPr anchor="ctr">
                    <a:lnL>
                      <a:noFill/>
                    </a:lnL>
                    <a:lnR>
                      <a:noFill/>
                    </a:lnR>
                    <a:lnT>
                      <a:noFill/>
                    </a:lnT>
                    <a:lnB>
                      <a:noFill/>
                    </a:lnB>
                  </a:tcPr>
                </a:tc>
                <a:extLst>
                  <a:ext uri="{0D108BD9-81ED-4DB2-BD59-A6C34878D82A}">
                    <a16:rowId xmlns:a16="http://schemas.microsoft.com/office/drawing/2014/main" val="937366911"/>
                  </a:ext>
                </a:extLst>
              </a:tr>
              <a:tr h="868273">
                <a:tc>
                  <a:txBody>
                    <a:bodyPr/>
                    <a:lstStyle/>
                    <a:p>
                      <a:r>
                        <a:rPr lang="en-IN" sz="1600" b="1" dirty="0">
                          <a:solidFill>
                            <a:schemeClr val="accent6">
                              <a:lumMod val="60000"/>
                              <a:lumOff val="40000"/>
                            </a:schemeClr>
                          </a:solidFill>
                        </a:rPr>
                        <a:t>Weighted Round Robin</a:t>
                      </a:r>
                      <a:endParaRPr lang="en-IN" sz="1600" dirty="0">
                        <a:solidFill>
                          <a:schemeClr val="accent6">
                            <a:lumMod val="60000"/>
                            <a:lumOff val="40000"/>
                          </a:schemeClr>
                        </a:solidFill>
                      </a:endParaRPr>
                    </a:p>
                  </a:txBody>
                  <a:tcPr anchor="ctr">
                    <a:lnL>
                      <a:noFill/>
                    </a:lnL>
                    <a:lnR>
                      <a:noFill/>
                    </a:lnR>
                    <a:lnT>
                      <a:noFill/>
                    </a:lnT>
                    <a:lnB>
                      <a:noFill/>
                    </a:lnB>
                  </a:tcPr>
                </a:tc>
                <a:tc>
                  <a:txBody>
                    <a:bodyPr/>
                    <a:lstStyle/>
                    <a:p>
                      <a:r>
                        <a:rPr lang="en-US" sz="1600"/>
                        <a:t>Nodes assigned weights based on capacity; heavier nodes get more tasks.</a:t>
                      </a:r>
                    </a:p>
                  </a:txBody>
                  <a:tcPr anchor="ctr">
                    <a:lnL>
                      <a:noFill/>
                    </a:lnL>
                    <a:lnR>
                      <a:noFill/>
                    </a:lnR>
                    <a:lnT>
                      <a:noFill/>
                    </a:lnT>
                    <a:lnB>
                      <a:noFill/>
                    </a:lnB>
                  </a:tcPr>
                </a:tc>
                <a:tc>
                  <a:txBody>
                    <a:bodyPr/>
                    <a:lstStyle/>
                    <a:p>
                      <a:r>
                        <a:rPr lang="en-US" sz="1600"/>
                        <a:t>Heterogeneous servers (some faster CPUs)</a:t>
                      </a:r>
                    </a:p>
                  </a:txBody>
                  <a:tcPr anchor="ctr">
                    <a:lnL>
                      <a:noFill/>
                    </a:lnL>
                    <a:lnR>
                      <a:noFill/>
                    </a:lnR>
                    <a:lnT>
                      <a:noFill/>
                    </a:lnT>
                    <a:lnB>
                      <a:noFill/>
                    </a:lnB>
                  </a:tcPr>
                </a:tc>
                <a:extLst>
                  <a:ext uri="{0D108BD9-81ED-4DB2-BD59-A6C34878D82A}">
                    <a16:rowId xmlns:a16="http://schemas.microsoft.com/office/drawing/2014/main" val="2213307301"/>
                  </a:ext>
                </a:extLst>
              </a:tr>
              <a:tr h="607791">
                <a:tc>
                  <a:txBody>
                    <a:bodyPr/>
                    <a:lstStyle/>
                    <a:p>
                      <a:r>
                        <a:rPr lang="en-IN" sz="1600" b="1" dirty="0">
                          <a:solidFill>
                            <a:schemeClr val="accent6">
                              <a:lumMod val="50000"/>
                            </a:schemeClr>
                          </a:solidFill>
                        </a:rPr>
                        <a:t>Hash-based Distribution</a:t>
                      </a:r>
                      <a:endParaRPr lang="en-IN" sz="1600" dirty="0">
                        <a:solidFill>
                          <a:schemeClr val="accent6">
                            <a:lumMod val="50000"/>
                          </a:schemeClr>
                        </a:solidFill>
                      </a:endParaRPr>
                    </a:p>
                  </a:txBody>
                  <a:tcPr anchor="ctr">
                    <a:lnL>
                      <a:noFill/>
                    </a:lnL>
                    <a:lnR>
                      <a:noFill/>
                    </a:lnR>
                    <a:lnT>
                      <a:noFill/>
                    </a:lnT>
                    <a:lnB>
                      <a:noFill/>
                    </a:lnB>
                  </a:tcPr>
                </a:tc>
                <a:tc>
                  <a:txBody>
                    <a:bodyPr/>
                    <a:lstStyle/>
                    <a:p>
                      <a:r>
                        <a:rPr lang="en-US" sz="1600"/>
                        <a:t>A hash function determines task-to-node mapping.</a:t>
                      </a:r>
                    </a:p>
                  </a:txBody>
                  <a:tcPr anchor="ctr">
                    <a:lnL>
                      <a:noFill/>
                    </a:lnL>
                    <a:lnR>
                      <a:noFill/>
                    </a:lnR>
                    <a:lnT>
                      <a:noFill/>
                    </a:lnT>
                    <a:lnB>
                      <a:noFill/>
                    </a:lnB>
                  </a:tcPr>
                </a:tc>
                <a:tc>
                  <a:txBody>
                    <a:bodyPr/>
                    <a:lstStyle/>
                    <a:p>
                      <a:r>
                        <a:rPr lang="en-US" sz="1600" dirty="0"/>
                        <a:t>Web caching or DNS load balancing</a:t>
                      </a:r>
                    </a:p>
                  </a:txBody>
                  <a:tcPr anchor="ctr">
                    <a:lnL>
                      <a:noFill/>
                    </a:lnL>
                    <a:lnR>
                      <a:noFill/>
                    </a:lnR>
                    <a:lnT>
                      <a:noFill/>
                    </a:lnT>
                    <a:lnB>
                      <a:noFill/>
                    </a:lnB>
                  </a:tcPr>
                </a:tc>
                <a:extLst>
                  <a:ext uri="{0D108BD9-81ED-4DB2-BD59-A6C34878D82A}">
                    <a16:rowId xmlns:a16="http://schemas.microsoft.com/office/drawing/2014/main" val="3860073318"/>
                  </a:ext>
                </a:extLst>
              </a:tr>
            </a:tbl>
          </a:graphicData>
        </a:graphic>
      </p:graphicFrame>
    </p:spTree>
    <p:extLst>
      <p:ext uri="{BB962C8B-B14F-4D97-AF65-F5344CB8AC3E}">
        <p14:creationId xmlns:p14="http://schemas.microsoft.com/office/powerpoint/2010/main" val="12443321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546265" y="178130"/>
            <a:ext cx="11044052" cy="6279077"/>
          </a:xfrm>
        </p:spPr>
        <p:txBody>
          <a:bodyPr>
            <a:normAutofit/>
          </a:bodyPr>
          <a:lstStyle/>
          <a:p>
            <a:pPr marL="0" indent="0">
              <a:buNone/>
            </a:pPr>
            <a:r>
              <a:rPr lang="en-IN" sz="2000" b="1" dirty="0">
                <a:solidFill>
                  <a:schemeClr val="accent1">
                    <a:lumMod val="75000"/>
                  </a:schemeClr>
                </a:solidFill>
              </a:rPr>
              <a:t>Types of Load Balancing:  </a:t>
            </a:r>
            <a:r>
              <a:rPr kumimoji="0" lang="en-US" altLang="en-US" sz="2000" b="1" i="0" strike="noStrike" cap="none" normalizeH="0" baseline="0" dirty="0">
                <a:ln>
                  <a:noFill/>
                </a:ln>
                <a:solidFill>
                  <a:schemeClr val="accent6">
                    <a:lumMod val="75000"/>
                  </a:schemeClr>
                </a:solidFill>
                <a:effectLst/>
                <a:latin typeface="+mj-lt"/>
              </a:rPr>
              <a:t>Static Load Balancing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6">
                    <a:lumMod val="75000"/>
                  </a:schemeClr>
                </a:solidFill>
                <a:effectLst/>
                <a:latin typeface="+mj-lt"/>
              </a:rPr>
              <a:t>Round Robin Load Balancing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j-lt"/>
              </a:rPr>
              <a:t>Round Robin is a </a:t>
            </a:r>
            <a:r>
              <a:rPr kumimoji="0" lang="en-US" altLang="en-US" sz="1800" b="1" i="0" u="none" strike="noStrike" cap="none" normalizeH="0" baseline="0" dirty="0">
                <a:ln>
                  <a:noFill/>
                </a:ln>
                <a:solidFill>
                  <a:schemeClr val="tx1"/>
                </a:solidFill>
                <a:effectLst/>
                <a:latin typeface="+mj-lt"/>
              </a:rPr>
              <a:t>static load balancing technique</a:t>
            </a:r>
            <a:r>
              <a:rPr kumimoji="0" lang="en-US" altLang="en-US" sz="1800" b="0" i="0" u="none" strike="noStrike" cap="none" normalizeH="0" baseline="0" dirty="0">
                <a:ln>
                  <a:noFill/>
                </a:ln>
                <a:solidFill>
                  <a:schemeClr val="tx1"/>
                </a:solidFill>
                <a:effectLst/>
                <a:latin typeface="+mj-lt"/>
              </a:rPr>
              <a:t> where tasks (or requests) are assigned to each server or node </a:t>
            </a:r>
            <a:r>
              <a:rPr kumimoji="0" lang="en-US" altLang="en-US" sz="1800" b="1" i="0" u="none" strike="noStrike" cap="none" normalizeH="0" baseline="0" dirty="0">
                <a:ln>
                  <a:noFill/>
                </a:ln>
                <a:solidFill>
                  <a:schemeClr val="tx1"/>
                </a:solidFill>
                <a:effectLst/>
                <a:latin typeface="+mj-lt"/>
              </a:rPr>
              <a:t>in a circular order</a:t>
            </a:r>
            <a:r>
              <a:rPr kumimoji="0" lang="en-US" altLang="en-US" sz="1800" b="0" i="0" u="none" strike="noStrike" cap="none" normalizeH="0" baseline="0" dirty="0">
                <a:ln>
                  <a:noFill/>
                </a:ln>
                <a:solidFill>
                  <a:schemeClr val="tx1"/>
                </a:solidFill>
                <a:effectLst/>
                <a:latin typeface="+mj-lt"/>
              </a:rPr>
              <a:t>, one after another.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j-lt"/>
              </a:rPr>
              <a:t>After the last node receives a task, the next task goes back to the </a:t>
            </a:r>
            <a:r>
              <a:rPr kumimoji="0" lang="en-US" altLang="en-US" sz="1800" b="1" i="0" u="none" strike="noStrike" cap="none" normalizeH="0" baseline="0" dirty="0">
                <a:ln>
                  <a:noFill/>
                </a:ln>
                <a:solidFill>
                  <a:schemeClr val="tx1"/>
                </a:solidFill>
                <a:effectLst/>
                <a:latin typeface="+mj-lt"/>
              </a:rPr>
              <a:t>first node</a:t>
            </a:r>
            <a:r>
              <a:rPr kumimoji="0" lang="en-US" altLang="en-US" sz="1800" b="0" i="0" u="none" strike="noStrike" cap="none" normalizeH="0" baseline="0" dirty="0">
                <a:ln>
                  <a:noFill/>
                </a:ln>
                <a:solidFill>
                  <a:schemeClr val="tx1"/>
                </a:solidFill>
                <a:effectLst/>
                <a:latin typeface="+mj-lt"/>
              </a:rPr>
              <a:t>, forming a continuous rotation — like dealing cards to players.</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How It Works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mj-lt"/>
              </a:rPr>
              <a:t>Suppose there are </a:t>
            </a:r>
            <a:r>
              <a:rPr kumimoji="0" lang="en-US" altLang="en-US" sz="1800" b="1" i="0" u="none" strike="noStrike" cap="none" normalizeH="0" baseline="0" dirty="0">
                <a:ln>
                  <a:noFill/>
                </a:ln>
                <a:solidFill>
                  <a:schemeClr val="tx1"/>
                </a:solidFill>
                <a:effectLst/>
                <a:latin typeface="+mj-lt"/>
              </a:rPr>
              <a:t>N nodes</a:t>
            </a:r>
            <a:r>
              <a:rPr kumimoji="0" lang="en-US" altLang="en-US" sz="1800" b="0" i="0" u="none" strike="noStrike" cap="none" normalizeH="0" baseline="0" dirty="0">
                <a:ln>
                  <a:noFill/>
                </a:ln>
                <a:solidFill>
                  <a:schemeClr val="tx1"/>
                </a:solidFill>
                <a:effectLst/>
                <a:latin typeface="+mj-lt"/>
              </a:rPr>
              <a:t>: Node₁, Node₂, ..., Nodeₙ.</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mj-lt"/>
              </a:rPr>
              <a:t>The scheduler maintains a pointer to the last node assigned.</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mj-lt"/>
              </a:rPr>
              <a:t>Each new task/request is sent to the </a:t>
            </a:r>
            <a:r>
              <a:rPr kumimoji="0" lang="en-US" altLang="en-US" sz="1800" b="1" i="0" u="none" strike="noStrike" cap="none" normalizeH="0" baseline="0" dirty="0">
                <a:ln>
                  <a:noFill/>
                </a:ln>
                <a:solidFill>
                  <a:schemeClr val="tx1"/>
                </a:solidFill>
                <a:effectLst/>
                <a:latin typeface="+mj-lt"/>
              </a:rPr>
              <a:t>next node</a:t>
            </a:r>
            <a:r>
              <a:rPr kumimoji="0" lang="en-US" altLang="en-US" sz="1800" b="0" i="0" u="none" strike="noStrike" cap="none" normalizeH="0" baseline="0" dirty="0">
                <a:ln>
                  <a:noFill/>
                </a:ln>
                <a:solidFill>
                  <a:schemeClr val="tx1"/>
                </a:solidFill>
                <a:effectLst/>
                <a:latin typeface="+mj-lt"/>
              </a:rPr>
              <a:t> in sequence.</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mj-lt"/>
              </a:rPr>
              <a:t>Once all nodes have been assigned, the cycle repeats.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j-lt"/>
              </a:rPr>
              <a:t>Let’s say you have </a:t>
            </a:r>
            <a:r>
              <a:rPr kumimoji="0" lang="en-US" altLang="en-US" sz="1800" b="1" i="0" u="none" strike="noStrike" cap="none" normalizeH="0" baseline="0" dirty="0">
                <a:ln>
                  <a:noFill/>
                </a:ln>
                <a:solidFill>
                  <a:schemeClr val="tx1"/>
                </a:solidFill>
                <a:effectLst/>
                <a:latin typeface="+mj-lt"/>
              </a:rPr>
              <a:t>3 servers (A, B, C)</a:t>
            </a:r>
            <a:r>
              <a:rPr kumimoji="0" lang="en-US" altLang="en-US" sz="1800" b="0" i="0" u="none" strike="noStrike" cap="none" normalizeH="0" baseline="0" dirty="0">
                <a:ln>
                  <a:noFill/>
                </a:ln>
                <a:solidFill>
                  <a:schemeClr val="tx1"/>
                </a:solidFill>
                <a:effectLst/>
                <a:latin typeface="+mj-lt"/>
              </a:rPr>
              <a:t> and </a:t>
            </a:r>
            <a:r>
              <a:rPr kumimoji="0" lang="en-US" altLang="en-US" sz="1800" b="1" i="0" u="none" strike="noStrike" cap="none" normalizeH="0" baseline="0" dirty="0">
                <a:ln>
                  <a:noFill/>
                </a:ln>
                <a:solidFill>
                  <a:schemeClr val="tx1"/>
                </a:solidFill>
                <a:effectLst/>
                <a:latin typeface="+mj-lt"/>
              </a:rPr>
              <a:t>6 incoming tasks</a:t>
            </a:r>
            <a:r>
              <a:rPr kumimoji="0" lang="en-US" altLang="en-US" sz="18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sz="1800"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800" dirty="0"/>
              <a:t>After C, the cycle restarts with A.</a:t>
            </a:r>
            <a:endParaRPr lang="en-IN" sz="1800" dirty="0">
              <a:solidFill>
                <a:schemeClr val="accent1">
                  <a:lumMod val="75000"/>
                </a:schemeClr>
              </a:solidFill>
              <a:latin typeface="+mj-lt"/>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8" name="Table 27">
            <a:extLst>
              <a:ext uri="{FF2B5EF4-FFF2-40B4-BE49-F238E27FC236}">
                <a16:creationId xmlns:a16="http://schemas.microsoft.com/office/drawing/2014/main" id="{E55E2357-2298-CA50-EC29-637945F6C325}"/>
              </a:ext>
            </a:extLst>
          </p:cNvPr>
          <p:cNvGraphicFramePr>
            <a:graphicFrameLocks noGrp="1"/>
          </p:cNvGraphicFramePr>
          <p:nvPr>
            <p:extLst>
              <p:ext uri="{D42A27DB-BD31-4B8C-83A1-F6EECF244321}">
                <p14:modId xmlns:p14="http://schemas.microsoft.com/office/powerpoint/2010/main" val="4108393414"/>
              </p:ext>
            </p:extLst>
          </p:nvPr>
        </p:nvGraphicFramePr>
        <p:xfrm>
          <a:off x="6478979" y="4075016"/>
          <a:ext cx="5166756" cy="2560320"/>
        </p:xfrm>
        <a:graphic>
          <a:graphicData uri="http://schemas.openxmlformats.org/drawingml/2006/table">
            <a:tbl>
              <a:tblPr/>
              <a:tblGrid>
                <a:gridCol w="2583378">
                  <a:extLst>
                    <a:ext uri="{9D8B030D-6E8A-4147-A177-3AD203B41FA5}">
                      <a16:colId xmlns:a16="http://schemas.microsoft.com/office/drawing/2014/main" val="1726126940"/>
                    </a:ext>
                  </a:extLst>
                </a:gridCol>
                <a:gridCol w="2583378">
                  <a:extLst>
                    <a:ext uri="{9D8B030D-6E8A-4147-A177-3AD203B41FA5}">
                      <a16:colId xmlns:a16="http://schemas.microsoft.com/office/drawing/2014/main" val="3732371682"/>
                    </a:ext>
                  </a:extLst>
                </a:gridCol>
              </a:tblGrid>
              <a:tr h="281177">
                <a:tc>
                  <a:txBody>
                    <a:bodyPr/>
                    <a:lstStyle/>
                    <a:p>
                      <a:pPr algn="ctr"/>
                      <a:r>
                        <a:rPr lang="en-IN" b="1"/>
                        <a:t>Task</a:t>
                      </a:r>
                      <a:endParaRPr lang="en-IN"/>
                    </a:p>
                  </a:txBody>
                  <a:tcPr anchor="ctr">
                    <a:lnL>
                      <a:noFill/>
                    </a:lnL>
                    <a:lnR>
                      <a:noFill/>
                    </a:lnR>
                    <a:lnT>
                      <a:noFill/>
                    </a:lnT>
                    <a:lnB>
                      <a:noFill/>
                    </a:lnB>
                    <a:solidFill>
                      <a:schemeClr val="accent5">
                        <a:lumMod val="20000"/>
                        <a:lumOff val="80000"/>
                      </a:schemeClr>
                    </a:solidFill>
                  </a:tcPr>
                </a:tc>
                <a:tc>
                  <a:txBody>
                    <a:bodyPr/>
                    <a:lstStyle/>
                    <a:p>
                      <a:pPr algn="ctr"/>
                      <a:r>
                        <a:rPr lang="en-IN" b="1" dirty="0"/>
                        <a:t>Assigned To</a:t>
                      </a:r>
                      <a:endParaRPr lang="en-IN" dirty="0"/>
                    </a:p>
                  </a:txBody>
                  <a:tcPr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4121317886"/>
                  </a:ext>
                </a:extLst>
              </a:tr>
              <a:tr h="281177">
                <a:tc>
                  <a:txBody>
                    <a:bodyPr/>
                    <a:lstStyle/>
                    <a:p>
                      <a:pPr algn="ctr"/>
                      <a:r>
                        <a:rPr lang="en-IN" dirty="0"/>
                        <a:t>Task 1</a:t>
                      </a:r>
                    </a:p>
                  </a:txBody>
                  <a:tcPr anchor="ctr">
                    <a:lnL>
                      <a:noFill/>
                    </a:lnL>
                    <a:lnR>
                      <a:noFill/>
                    </a:lnR>
                    <a:lnT>
                      <a:noFill/>
                    </a:lnT>
                    <a:lnB>
                      <a:noFill/>
                    </a:lnB>
                    <a:solidFill>
                      <a:schemeClr val="accent3">
                        <a:lumMod val="20000"/>
                        <a:lumOff val="80000"/>
                      </a:schemeClr>
                    </a:solidFill>
                  </a:tcPr>
                </a:tc>
                <a:tc>
                  <a:txBody>
                    <a:bodyPr/>
                    <a:lstStyle/>
                    <a:p>
                      <a:pPr algn="ctr"/>
                      <a:r>
                        <a:rPr lang="en-IN"/>
                        <a:t>Server A</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481802571"/>
                  </a:ext>
                </a:extLst>
              </a:tr>
              <a:tr h="281177">
                <a:tc>
                  <a:txBody>
                    <a:bodyPr/>
                    <a:lstStyle/>
                    <a:p>
                      <a:pPr algn="ctr"/>
                      <a:r>
                        <a:rPr lang="en-IN" dirty="0"/>
                        <a:t>Task 2</a:t>
                      </a:r>
                    </a:p>
                  </a:txBody>
                  <a:tcPr anchor="ctr">
                    <a:lnL>
                      <a:noFill/>
                    </a:lnL>
                    <a:lnR>
                      <a:noFill/>
                    </a:lnR>
                    <a:lnT>
                      <a:noFill/>
                    </a:lnT>
                    <a:lnB>
                      <a:noFill/>
                    </a:lnB>
                    <a:solidFill>
                      <a:schemeClr val="accent3">
                        <a:lumMod val="20000"/>
                        <a:lumOff val="80000"/>
                      </a:schemeClr>
                    </a:solidFill>
                  </a:tcPr>
                </a:tc>
                <a:tc>
                  <a:txBody>
                    <a:bodyPr/>
                    <a:lstStyle/>
                    <a:p>
                      <a:pPr algn="ctr"/>
                      <a:r>
                        <a:rPr lang="en-IN"/>
                        <a:t>Server B</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802602241"/>
                  </a:ext>
                </a:extLst>
              </a:tr>
              <a:tr h="281177">
                <a:tc>
                  <a:txBody>
                    <a:bodyPr/>
                    <a:lstStyle/>
                    <a:p>
                      <a:pPr algn="ctr"/>
                      <a:r>
                        <a:rPr lang="en-IN" dirty="0"/>
                        <a:t>Task 3</a:t>
                      </a:r>
                    </a:p>
                  </a:txBody>
                  <a:tcPr anchor="ctr">
                    <a:lnL>
                      <a:noFill/>
                    </a:lnL>
                    <a:lnR>
                      <a:noFill/>
                    </a:lnR>
                    <a:lnT>
                      <a:noFill/>
                    </a:lnT>
                    <a:lnB>
                      <a:noFill/>
                    </a:lnB>
                    <a:solidFill>
                      <a:schemeClr val="accent3">
                        <a:lumMod val="20000"/>
                        <a:lumOff val="80000"/>
                      </a:schemeClr>
                    </a:solidFill>
                  </a:tcPr>
                </a:tc>
                <a:tc>
                  <a:txBody>
                    <a:bodyPr/>
                    <a:lstStyle/>
                    <a:p>
                      <a:pPr algn="ctr"/>
                      <a:r>
                        <a:rPr lang="en-IN"/>
                        <a:t>Server C</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838211869"/>
                  </a:ext>
                </a:extLst>
              </a:tr>
              <a:tr h="281177">
                <a:tc>
                  <a:txBody>
                    <a:bodyPr/>
                    <a:lstStyle/>
                    <a:p>
                      <a:pPr algn="ctr"/>
                      <a:r>
                        <a:rPr lang="en-IN" dirty="0"/>
                        <a:t>Task 4</a:t>
                      </a:r>
                    </a:p>
                  </a:txBody>
                  <a:tcPr anchor="ctr">
                    <a:lnL>
                      <a:noFill/>
                    </a:lnL>
                    <a:lnR>
                      <a:noFill/>
                    </a:lnR>
                    <a:lnT>
                      <a:noFill/>
                    </a:lnT>
                    <a:lnB>
                      <a:noFill/>
                    </a:lnB>
                    <a:solidFill>
                      <a:schemeClr val="accent3">
                        <a:lumMod val="20000"/>
                        <a:lumOff val="80000"/>
                      </a:schemeClr>
                    </a:solidFill>
                  </a:tcPr>
                </a:tc>
                <a:tc>
                  <a:txBody>
                    <a:bodyPr/>
                    <a:lstStyle/>
                    <a:p>
                      <a:pPr algn="ctr"/>
                      <a:r>
                        <a:rPr lang="en-IN"/>
                        <a:t>Server A</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096652264"/>
                  </a:ext>
                </a:extLst>
              </a:tr>
              <a:tr h="281177">
                <a:tc>
                  <a:txBody>
                    <a:bodyPr/>
                    <a:lstStyle/>
                    <a:p>
                      <a:pPr algn="ctr"/>
                      <a:r>
                        <a:rPr lang="en-IN" dirty="0"/>
                        <a:t>Task 5</a:t>
                      </a:r>
                    </a:p>
                  </a:txBody>
                  <a:tcPr anchor="ctr">
                    <a:lnL>
                      <a:noFill/>
                    </a:lnL>
                    <a:lnR>
                      <a:noFill/>
                    </a:lnR>
                    <a:lnT>
                      <a:noFill/>
                    </a:lnT>
                    <a:lnB>
                      <a:noFill/>
                    </a:lnB>
                    <a:solidFill>
                      <a:schemeClr val="accent3">
                        <a:lumMod val="20000"/>
                        <a:lumOff val="80000"/>
                      </a:schemeClr>
                    </a:solidFill>
                  </a:tcPr>
                </a:tc>
                <a:tc>
                  <a:txBody>
                    <a:bodyPr/>
                    <a:lstStyle/>
                    <a:p>
                      <a:pPr algn="ctr"/>
                      <a:r>
                        <a:rPr lang="en-IN" dirty="0"/>
                        <a:t>Server B</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685536400"/>
                  </a:ext>
                </a:extLst>
              </a:tr>
              <a:tr h="281177">
                <a:tc>
                  <a:txBody>
                    <a:bodyPr/>
                    <a:lstStyle/>
                    <a:p>
                      <a:pPr algn="ctr"/>
                      <a:r>
                        <a:rPr lang="en-IN"/>
                        <a:t>Task 6</a:t>
                      </a:r>
                    </a:p>
                  </a:txBody>
                  <a:tcPr anchor="ctr">
                    <a:lnL>
                      <a:noFill/>
                    </a:lnL>
                    <a:lnR>
                      <a:noFill/>
                    </a:lnR>
                    <a:lnT>
                      <a:noFill/>
                    </a:lnT>
                    <a:lnB>
                      <a:noFill/>
                    </a:lnB>
                    <a:solidFill>
                      <a:schemeClr val="accent3">
                        <a:lumMod val="20000"/>
                        <a:lumOff val="80000"/>
                      </a:schemeClr>
                    </a:solidFill>
                  </a:tcPr>
                </a:tc>
                <a:tc>
                  <a:txBody>
                    <a:bodyPr/>
                    <a:lstStyle/>
                    <a:p>
                      <a:pPr algn="ctr"/>
                      <a:r>
                        <a:rPr lang="en-IN" dirty="0"/>
                        <a:t>Server C</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2603116813"/>
                  </a:ext>
                </a:extLst>
              </a:tr>
            </a:tbl>
          </a:graphicData>
        </a:graphic>
      </p:graphicFrame>
    </p:spTree>
    <p:extLst>
      <p:ext uri="{BB962C8B-B14F-4D97-AF65-F5344CB8AC3E}">
        <p14:creationId xmlns:p14="http://schemas.microsoft.com/office/powerpoint/2010/main" val="32229345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573821" y="-1"/>
            <a:ext cx="11044052" cy="6279077"/>
          </a:xfrm>
        </p:spPr>
        <p:txBody>
          <a:bodyPr>
            <a:normAutofit/>
          </a:bodyPr>
          <a:lstStyle/>
          <a:p>
            <a:pPr marL="0" indent="0">
              <a:buNone/>
            </a:pPr>
            <a:r>
              <a:rPr lang="en-IN" sz="2000" b="1" dirty="0">
                <a:solidFill>
                  <a:schemeClr val="accent1">
                    <a:lumMod val="75000"/>
                  </a:schemeClr>
                </a:solidFill>
              </a:rPr>
              <a:t>Types of Load Balancing:  </a:t>
            </a:r>
            <a:r>
              <a:rPr kumimoji="0" lang="en-US" altLang="en-US" sz="2000" b="1" i="0" strike="noStrike" cap="none" normalizeH="0" baseline="0" dirty="0">
                <a:ln>
                  <a:noFill/>
                </a:ln>
                <a:solidFill>
                  <a:schemeClr val="accent6">
                    <a:lumMod val="75000"/>
                  </a:schemeClr>
                </a:solidFill>
                <a:effectLst/>
                <a:latin typeface="+mj-lt"/>
              </a:rPr>
              <a:t>Static Load Balancing</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7">
            <a:extLst>
              <a:ext uri="{FF2B5EF4-FFF2-40B4-BE49-F238E27FC236}">
                <a16:creationId xmlns:a16="http://schemas.microsoft.com/office/drawing/2014/main" id="{BB8F3C57-9C1B-6990-F90C-F1E2769A5D6E}"/>
              </a:ext>
            </a:extLst>
          </p:cNvPr>
          <p:cNvSpPr>
            <a:spLocks noChangeArrowheads="1"/>
          </p:cNvSpPr>
          <p:nvPr/>
        </p:nvSpPr>
        <p:spPr bwMode="auto">
          <a:xfrm>
            <a:off x="362710" y="666177"/>
            <a:ext cx="11704651"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b="1" i="0" u="none" strike="noStrike" cap="none" normalizeH="0" baseline="0" dirty="0">
                <a:ln>
                  <a:noFill/>
                </a:ln>
                <a:solidFill>
                  <a:schemeClr val="accent6">
                    <a:lumMod val="75000"/>
                  </a:schemeClr>
                </a:solidFill>
                <a:effectLst/>
                <a:latin typeface="+mj-lt"/>
              </a:rPr>
              <a:t>Hash-based distribution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mj-lt"/>
              </a:rPr>
              <a:t>Hash-based distribution </a:t>
            </a:r>
            <a:r>
              <a:rPr kumimoji="0" lang="en-US" altLang="en-US" b="0" i="0" u="none" strike="noStrike" cap="none" normalizeH="0" baseline="0" dirty="0">
                <a:ln>
                  <a:noFill/>
                </a:ln>
                <a:solidFill>
                  <a:schemeClr val="tx1"/>
                </a:solidFill>
                <a:effectLst/>
                <a:latin typeface="+mj-lt"/>
              </a:rPr>
              <a:t>(also called </a:t>
            </a:r>
            <a:r>
              <a:rPr kumimoji="0" lang="en-US" altLang="en-US" b="1" i="0" u="none" strike="noStrike" cap="none" normalizeH="0" baseline="0" dirty="0">
                <a:ln>
                  <a:noFill/>
                </a:ln>
                <a:solidFill>
                  <a:schemeClr val="tx1"/>
                </a:solidFill>
                <a:effectLst/>
                <a:latin typeface="+mj-lt"/>
              </a:rPr>
              <a:t>hash-based load balancing</a:t>
            </a:r>
            <a:r>
              <a:rPr kumimoji="0" lang="en-US" altLang="en-US" b="0" i="0" u="none" strike="noStrike" cap="none" normalizeH="0" baseline="0" dirty="0">
                <a:ln>
                  <a:noFill/>
                </a:ln>
                <a:solidFill>
                  <a:schemeClr val="tx1"/>
                </a:solidFill>
                <a:effectLst/>
                <a:latin typeface="+mj-lt"/>
              </a:rPr>
              <a:t> or </a:t>
            </a:r>
            <a:r>
              <a:rPr kumimoji="0" lang="en-US" altLang="en-US" b="1" i="0" u="none" strike="noStrike" cap="none" normalizeH="0" baseline="0" dirty="0">
                <a:ln>
                  <a:noFill/>
                </a:ln>
                <a:solidFill>
                  <a:schemeClr val="tx1"/>
                </a:solidFill>
                <a:effectLst/>
                <a:latin typeface="+mj-lt"/>
              </a:rPr>
              <a:t>consistent hashing</a:t>
            </a:r>
            <a:r>
              <a:rPr kumimoji="0" lang="en-US" altLang="en-US" b="0" i="0" u="none" strike="noStrike" cap="none" normalizeH="0" baseline="0" dirty="0">
                <a:ln>
                  <a:noFill/>
                </a:ln>
                <a:solidFill>
                  <a:schemeClr val="tx1"/>
                </a:solidFill>
                <a:effectLst/>
                <a:latin typeface="+mj-lt"/>
              </a:rPr>
              <a:t>) is a </a:t>
            </a:r>
            <a:r>
              <a:rPr kumimoji="0" lang="en-US" altLang="en-US" b="1" i="0" u="none" strike="noStrike" cap="none" normalizeH="0" baseline="0" dirty="0">
                <a:ln>
                  <a:noFill/>
                </a:ln>
                <a:solidFill>
                  <a:schemeClr val="tx1"/>
                </a:solidFill>
                <a:effectLst/>
                <a:latin typeface="+mj-lt"/>
              </a:rPr>
              <a:t>static load balancing technique</a:t>
            </a:r>
            <a:r>
              <a:rPr kumimoji="0" lang="en-US" altLang="en-US" b="0" i="0" u="none" strike="noStrike" cap="none" normalizeH="0" baseline="0" dirty="0">
                <a:ln>
                  <a:noFill/>
                </a:ln>
                <a:solidFill>
                  <a:schemeClr val="tx1"/>
                </a:solidFill>
                <a:effectLst/>
                <a:latin typeface="+mj-lt"/>
              </a:rPr>
              <a:t> where the </a:t>
            </a:r>
            <a:r>
              <a:rPr kumimoji="0" lang="en-US" altLang="en-US" b="1" i="0" u="none" strike="noStrike" cap="none" normalizeH="0" baseline="0" dirty="0">
                <a:ln>
                  <a:noFill/>
                </a:ln>
                <a:solidFill>
                  <a:schemeClr val="tx1"/>
                </a:solidFill>
                <a:effectLst/>
                <a:latin typeface="+mj-lt"/>
              </a:rPr>
              <a:t>destination server (or node)</a:t>
            </a:r>
            <a:r>
              <a:rPr kumimoji="0" lang="en-US" altLang="en-US" b="0" i="0" u="none" strike="noStrike" cap="none" normalizeH="0" baseline="0" dirty="0">
                <a:ln>
                  <a:noFill/>
                </a:ln>
                <a:solidFill>
                  <a:schemeClr val="tx1"/>
                </a:solidFill>
                <a:effectLst/>
                <a:latin typeface="+mj-lt"/>
              </a:rPr>
              <a:t> for a request is determined by applying a </a:t>
            </a:r>
            <a:r>
              <a:rPr kumimoji="0" lang="en-US" altLang="en-US" b="1" i="0" u="none" strike="noStrike" cap="none" normalizeH="0" baseline="0" dirty="0">
                <a:ln>
                  <a:noFill/>
                </a:ln>
                <a:solidFill>
                  <a:schemeClr val="tx1"/>
                </a:solidFill>
                <a:effectLst/>
                <a:latin typeface="+mj-lt"/>
              </a:rPr>
              <a:t>hash function</a:t>
            </a:r>
            <a:r>
              <a:rPr kumimoji="0" lang="en-US" altLang="en-US" b="0" i="0" u="none" strike="noStrike" cap="none" normalizeH="0" baseline="0" dirty="0">
                <a:ln>
                  <a:noFill/>
                </a:ln>
                <a:solidFill>
                  <a:schemeClr val="tx1"/>
                </a:solidFill>
                <a:effectLst/>
                <a:latin typeface="+mj-lt"/>
              </a:rPr>
              <a:t> to a key — such as the client IP address, session ID, or file name.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mj-lt"/>
              </a:rPr>
              <a:t>Instead of assigning tasks sequentially (like Round Robin), a </a:t>
            </a:r>
            <a:r>
              <a:rPr kumimoji="0" lang="en-US" altLang="en-US" b="1" i="0" u="none" strike="noStrike" cap="none" normalizeH="0" baseline="0" dirty="0">
                <a:ln>
                  <a:noFill/>
                </a:ln>
                <a:solidFill>
                  <a:schemeClr val="tx1"/>
                </a:solidFill>
                <a:effectLst/>
                <a:latin typeface="+mj-lt"/>
              </a:rPr>
              <a:t>mathematical hash function</a:t>
            </a:r>
            <a:r>
              <a:rPr kumimoji="0" lang="en-US" altLang="en-US" b="0" i="0" u="none" strike="noStrike" cap="none" normalizeH="0" baseline="0" dirty="0">
                <a:ln>
                  <a:noFill/>
                </a:ln>
                <a:solidFill>
                  <a:schemeClr val="tx1"/>
                </a:solidFill>
                <a:effectLst/>
                <a:latin typeface="+mj-lt"/>
              </a:rPr>
              <a:t> decides which node will handle each task.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mj-lt"/>
              </a:rPr>
              <a:t>Basic Idea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mj-lt"/>
              </a:rPr>
              <a:t>The hash of a unique value (like user ID or file name) determines the </a:t>
            </a:r>
            <a:r>
              <a:rPr kumimoji="0" lang="en-US" altLang="en-US" b="1" i="0" u="none" strike="noStrike" cap="none" normalizeH="0" baseline="0" dirty="0">
                <a:ln>
                  <a:noFill/>
                </a:ln>
                <a:solidFill>
                  <a:schemeClr val="tx1"/>
                </a:solidFill>
                <a:effectLst/>
                <a:latin typeface="+mj-lt"/>
              </a:rPr>
              <a:t>server number</a:t>
            </a:r>
            <a:r>
              <a:rPr kumimoji="0" lang="en-US" altLang="en-US"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mj-lt"/>
              </a:rPr>
              <a:t>Server = hash(key) mod 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mj-lt"/>
              </a:rPr>
              <a:t>where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key</a:t>
            </a:r>
            <a:r>
              <a:rPr kumimoji="0" lang="en-US" altLang="en-US" b="0" i="0" u="none" strike="noStrike" cap="none" normalizeH="0" baseline="0" dirty="0">
                <a:ln>
                  <a:noFill/>
                </a:ln>
                <a:solidFill>
                  <a:schemeClr val="tx1"/>
                </a:solidFill>
                <a:effectLst/>
                <a:latin typeface="+mj-lt"/>
              </a:rPr>
              <a:t> = identifying value (e.g., client IP, filename, </a:t>
            </a:r>
            <a:r>
              <a:rPr kumimoji="0" lang="en-US" altLang="en-US" b="0" i="0" u="none" strike="noStrike" cap="none" normalizeH="0" baseline="0" dirty="0" err="1">
                <a:ln>
                  <a:noFill/>
                </a:ln>
                <a:solidFill>
                  <a:schemeClr val="tx1"/>
                </a:solidFill>
                <a:effectLst/>
                <a:latin typeface="+mj-lt"/>
              </a:rPr>
              <a:t>userID</a:t>
            </a:r>
            <a:r>
              <a:rPr kumimoji="0" lang="en-US" altLang="en-US"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N</a:t>
            </a:r>
            <a:r>
              <a:rPr kumimoji="0" lang="en-US" altLang="en-US" b="0" i="0" u="none" strike="noStrike" cap="none" normalizeH="0" baseline="0" dirty="0">
                <a:ln>
                  <a:noFill/>
                </a:ln>
                <a:solidFill>
                  <a:schemeClr val="tx1"/>
                </a:solidFill>
                <a:effectLst/>
                <a:latin typeface="+mj-lt"/>
              </a:rPr>
              <a:t> = number of available servers/nodes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077794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573821" y="-1"/>
            <a:ext cx="11044052" cy="6279077"/>
          </a:xfrm>
        </p:spPr>
        <p:txBody>
          <a:bodyPr>
            <a:normAutofit lnSpcReduction="10000"/>
          </a:bodyPr>
          <a:lstStyle/>
          <a:p>
            <a:pPr marL="0" indent="0">
              <a:buNone/>
            </a:pPr>
            <a:r>
              <a:rPr lang="en-IN" sz="2000" b="1" dirty="0">
                <a:solidFill>
                  <a:schemeClr val="accent1">
                    <a:lumMod val="75000"/>
                  </a:schemeClr>
                </a:solidFill>
              </a:rPr>
              <a:t>Types of Load Balancing:  </a:t>
            </a:r>
            <a:r>
              <a:rPr kumimoji="0" lang="en-US" altLang="en-US" sz="2000" b="1" i="0" strike="noStrike" cap="none" normalizeH="0" baseline="0" dirty="0">
                <a:ln>
                  <a:noFill/>
                </a:ln>
                <a:solidFill>
                  <a:schemeClr val="accent6">
                    <a:lumMod val="75000"/>
                  </a:schemeClr>
                </a:solidFill>
                <a:effectLst/>
                <a:latin typeface="+mj-lt"/>
              </a:rPr>
              <a:t>Static Load Balancing</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lang="en-IN" sz="1900" dirty="0">
              <a:solidFill>
                <a:schemeClr val="accent1">
                  <a:lumMod val="75000"/>
                </a:schemeClr>
              </a:solidFill>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dirty="0">
                <a:ln>
                  <a:noFill/>
                </a:ln>
                <a:solidFill>
                  <a:schemeClr val="tx1"/>
                </a:solidFill>
                <a:effectLst/>
                <a:latin typeface="+mj-lt"/>
              </a:rPr>
              <a:t>How It Works (Step-by-Step)</a:t>
            </a:r>
          </a:p>
          <a:p>
            <a:pPr eaLnBrk="0" fontAlgn="base" hangingPunct="0">
              <a:spcBef>
                <a:spcPct val="0"/>
              </a:spcBef>
              <a:spcAft>
                <a:spcPct val="0"/>
              </a:spcAft>
            </a:pPr>
            <a:r>
              <a:rPr kumimoji="0" lang="en-US" altLang="en-US" sz="1900" b="0" i="0" u="none" strike="noStrike" cap="none" normalizeH="0" baseline="0" dirty="0">
                <a:ln>
                  <a:noFill/>
                </a:ln>
                <a:solidFill>
                  <a:schemeClr val="tx1"/>
                </a:solidFill>
                <a:effectLst/>
                <a:latin typeface="+mj-lt"/>
              </a:rPr>
              <a:t>Let’s say we have </a:t>
            </a:r>
            <a:r>
              <a:rPr kumimoji="0" lang="en-US" altLang="en-US" sz="1900" b="1" i="0" u="none" strike="noStrike" cap="none" normalizeH="0" baseline="0" dirty="0">
                <a:ln>
                  <a:noFill/>
                </a:ln>
                <a:solidFill>
                  <a:schemeClr val="tx1"/>
                </a:solidFill>
                <a:effectLst/>
                <a:latin typeface="+mj-lt"/>
              </a:rPr>
              <a:t>4 </a:t>
            </a:r>
            <a:r>
              <a:rPr kumimoji="0" lang="en-US" altLang="en-US" sz="1900" b="1" i="0" u="none" strike="noStrike" cap="none" normalizeH="0" baseline="0" dirty="0" err="1">
                <a:ln>
                  <a:noFill/>
                </a:ln>
                <a:solidFill>
                  <a:schemeClr val="tx1"/>
                </a:solidFill>
                <a:effectLst/>
                <a:latin typeface="+mj-lt"/>
              </a:rPr>
              <a:t>sHash</a:t>
            </a:r>
            <a:r>
              <a:rPr kumimoji="0" lang="en-US" altLang="en-US" sz="1900" b="1" i="0" u="none" strike="noStrike" cap="none" normalizeH="0" baseline="0" dirty="0">
                <a:ln>
                  <a:noFill/>
                </a:ln>
                <a:solidFill>
                  <a:schemeClr val="tx1"/>
                </a:solidFill>
                <a:effectLst/>
                <a:latin typeface="+mj-lt"/>
              </a:rPr>
              <a:t>-Based Distribution (Hashing Load Balancing)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dirty="0">
                <a:ln>
                  <a:noFill/>
                </a:ln>
                <a:solidFill>
                  <a:schemeClr val="tx1"/>
                </a:solidFill>
                <a:effectLst/>
                <a:latin typeface="+mj-lt"/>
              </a:rPr>
              <a:t>servers</a:t>
            </a:r>
            <a:r>
              <a:rPr kumimoji="0" lang="en-US" altLang="en-US" sz="1900" b="0" i="0" u="none" strike="noStrike" cap="none" normalizeH="0" baseline="0" dirty="0">
                <a:ln>
                  <a:noFill/>
                </a:ln>
                <a:solidFill>
                  <a:schemeClr val="tx1"/>
                </a:solidFill>
                <a:effectLst/>
                <a:latin typeface="+mj-lt"/>
              </a:rPr>
              <a:t> and each incoming request has a </a:t>
            </a:r>
            <a:r>
              <a:rPr kumimoji="0" lang="en-US" altLang="en-US" sz="1900" b="1" i="0" u="none" strike="noStrike" cap="none" normalizeH="0" baseline="0" dirty="0">
                <a:ln>
                  <a:noFill/>
                </a:ln>
                <a:solidFill>
                  <a:schemeClr val="tx1"/>
                </a:solidFill>
                <a:effectLst/>
                <a:latin typeface="+mj-lt"/>
              </a:rPr>
              <a:t>client ID</a:t>
            </a:r>
            <a:r>
              <a:rPr kumimoji="0" lang="en-US" altLang="en-US" sz="19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mj-lt"/>
            </a:endParaRPr>
          </a:p>
          <a:p>
            <a:r>
              <a:rPr lang="en-US" sz="1800" dirty="0"/>
              <a:t>So,</a:t>
            </a:r>
          </a:p>
          <a:p>
            <a:pPr>
              <a:buFont typeface="Arial" panose="020B0604020202020204" pitchFamily="34" charset="0"/>
              <a:buChar char="•"/>
            </a:pPr>
            <a:r>
              <a:rPr lang="en-US" sz="1800" dirty="0"/>
              <a:t>Client 101 → Server 1</a:t>
            </a:r>
          </a:p>
          <a:p>
            <a:pPr>
              <a:buFont typeface="Arial" panose="020B0604020202020204" pitchFamily="34" charset="0"/>
              <a:buChar char="•"/>
            </a:pPr>
            <a:r>
              <a:rPr lang="en-US" sz="1800" dirty="0"/>
              <a:t>Client 102 → Server 2</a:t>
            </a:r>
          </a:p>
          <a:p>
            <a:pPr>
              <a:buFont typeface="Arial" panose="020B0604020202020204" pitchFamily="34" charset="0"/>
              <a:buChar char="•"/>
            </a:pPr>
            <a:r>
              <a:rPr lang="en-US" sz="1800" dirty="0"/>
              <a:t>Client 103 → Server 3</a:t>
            </a:r>
          </a:p>
          <a:p>
            <a:pPr>
              <a:buFont typeface="Arial" panose="020B0604020202020204" pitchFamily="34" charset="0"/>
              <a:buChar char="•"/>
            </a:pPr>
            <a:r>
              <a:rPr lang="en-US" sz="1800" dirty="0"/>
              <a:t>Client 104 → Server 0</a:t>
            </a:r>
          </a:p>
          <a:p>
            <a:pPr marL="0" indent="0">
              <a:buNone/>
            </a:pPr>
            <a:r>
              <a:rPr lang="en-US" sz="1800" dirty="0"/>
              <a:t> Each client’s request </a:t>
            </a:r>
            <a:r>
              <a:rPr lang="en-US" sz="1800" b="1" dirty="0"/>
              <a:t>always goes to the same server</a:t>
            </a:r>
            <a:r>
              <a:rPr lang="en-US" sz="1800" dirty="0"/>
              <a:t>, as long as the hash function and number of servers remain the same.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7">
            <a:extLst>
              <a:ext uri="{FF2B5EF4-FFF2-40B4-BE49-F238E27FC236}">
                <a16:creationId xmlns:a16="http://schemas.microsoft.com/office/drawing/2014/main" id="{BB8F3C57-9C1B-6990-F90C-F1E2769A5D6E}"/>
              </a:ext>
            </a:extLst>
          </p:cNvPr>
          <p:cNvSpPr>
            <a:spLocks noChangeArrowheads="1"/>
          </p:cNvSpPr>
          <p:nvPr/>
        </p:nvSpPr>
        <p:spPr bwMode="auto">
          <a:xfrm>
            <a:off x="573516" y="2235622"/>
            <a:ext cx="1170465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909F1006-F8DC-5D16-7AAA-97C430F9830C}"/>
              </a:ext>
            </a:extLst>
          </p:cNvPr>
          <p:cNvGraphicFramePr>
            <a:graphicFrameLocks noGrp="1"/>
          </p:cNvGraphicFramePr>
          <p:nvPr>
            <p:extLst>
              <p:ext uri="{D42A27DB-BD31-4B8C-83A1-F6EECF244321}">
                <p14:modId xmlns:p14="http://schemas.microsoft.com/office/powerpoint/2010/main" val="4000905122"/>
              </p:ext>
            </p:extLst>
          </p:nvPr>
        </p:nvGraphicFramePr>
        <p:xfrm>
          <a:off x="573516" y="1856565"/>
          <a:ext cx="10515600" cy="1828800"/>
        </p:xfrm>
        <a:graphic>
          <a:graphicData uri="http://schemas.openxmlformats.org/drawingml/2006/table">
            <a:tbl>
              <a:tblPr/>
              <a:tblGrid>
                <a:gridCol w="3505200">
                  <a:extLst>
                    <a:ext uri="{9D8B030D-6E8A-4147-A177-3AD203B41FA5}">
                      <a16:colId xmlns:a16="http://schemas.microsoft.com/office/drawing/2014/main" val="163822903"/>
                    </a:ext>
                  </a:extLst>
                </a:gridCol>
                <a:gridCol w="3505200">
                  <a:extLst>
                    <a:ext uri="{9D8B030D-6E8A-4147-A177-3AD203B41FA5}">
                      <a16:colId xmlns:a16="http://schemas.microsoft.com/office/drawing/2014/main" val="1318896818"/>
                    </a:ext>
                  </a:extLst>
                </a:gridCol>
                <a:gridCol w="3505200">
                  <a:extLst>
                    <a:ext uri="{9D8B030D-6E8A-4147-A177-3AD203B41FA5}">
                      <a16:colId xmlns:a16="http://schemas.microsoft.com/office/drawing/2014/main" val="4183975294"/>
                    </a:ext>
                  </a:extLst>
                </a:gridCol>
              </a:tblGrid>
              <a:tr h="0">
                <a:tc>
                  <a:txBody>
                    <a:bodyPr/>
                    <a:lstStyle/>
                    <a:p>
                      <a:r>
                        <a:rPr lang="en-IN" b="1" dirty="0"/>
                        <a:t>Client ID</a:t>
                      </a:r>
                      <a:endParaRPr lang="en-IN" dirty="0"/>
                    </a:p>
                  </a:txBody>
                  <a:tcPr anchor="ctr">
                    <a:lnL>
                      <a:noFill/>
                    </a:lnL>
                    <a:lnR>
                      <a:noFill/>
                    </a:lnR>
                    <a:lnT>
                      <a:noFill/>
                    </a:lnT>
                    <a:lnB>
                      <a:noFill/>
                    </a:lnB>
                    <a:solidFill>
                      <a:schemeClr val="accent5">
                        <a:lumMod val="20000"/>
                        <a:lumOff val="80000"/>
                      </a:schemeClr>
                    </a:solidFill>
                  </a:tcPr>
                </a:tc>
                <a:tc>
                  <a:txBody>
                    <a:bodyPr/>
                    <a:lstStyle/>
                    <a:p>
                      <a:r>
                        <a:rPr lang="en-IN" b="1" dirty="0"/>
                        <a:t>Hash(key)</a:t>
                      </a:r>
                      <a:endParaRPr lang="en-IN" dirty="0"/>
                    </a:p>
                  </a:txBody>
                  <a:tcPr anchor="ctr">
                    <a:lnL>
                      <a:noFill/>
                    </a:lnL>
                    <a:lnR>
                      <a:noFill/>
                    </a:lnR>
                    <a:lnT>
                      <a:noFill/>
                    </a:lnT>
                    <a:lnB>
                      <a:noFill/>
                    </a:lnB>
                    <a:solidFill>
                      <a:schemeClr val="accent5">
                        <a:lumMod val="20000"/>
                        <a:lumOff val="80000"/>
                      </a:schemeClr>
                    </a:solidFill>
                  </a:tcPr>
                </a:tc>
                <a:tc>
                  <a:txBody>
                    <a:bodyPr/>
                    <a:lstStyle/>
                    <a:p>
                      <a:r>
                        <a:rPr lang="en-US" b="1" dirty="0"/>
                        <a:t>Server = hash(key) mod 4</a:t>
                      </a:r>
                      <a:endParaRPr lang="en-US" dirty="0"/>
                    </a:p>
                  </a:txBody>
                  <a:tcPr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838861731"/>
                  </a:ext>
                </a:extLst>
              </a:tr>
              <a:tr h="0">
                <a:tc>
                  <a:txBody>
                    <a:bodyPr/>
                    <a:lstStyle/>
                    <a:p>
                      <a:r>
                        <a:rPr lang="en-IN"/>
                        <a:t>101</a:t>
                      </a:r>
                    </a:p>
                  </a:txBody>
                  <a:tcPr anchor="ctr">
                    <a:lnL>
                      <a:noFill/>
                    </a:lnL>
                    <a:lnR>
                      <a:noFill/>
                    </a:lnR>
                    <a:lnT>
                      <a:noFill/>
                    </a:lnT>
                    <a:lnB>
                      <a:noFill/>
                    </a:lnB>
                    <a:solidFill>
                      <a:schemeClr val="bg2">
                        <a:lumMod val="90000"/>
                      </a:schemeClr>
                    </a:solidFill>
                  </a:tcPr>
                </a:tc>
                <a:tc>
                  <a:txBody>
                    <a:bodyPr/>
                    <a:lstStyle/>
                    <a:p>
                      <a:r>
                        <a:rPr lang="en-IN"/>
                        <a:t>9</a:t>
                      </a:r>
                    </a:p>
                  </a:txBody>
                  <a:tcPr anchor="ctr">
                    <a:lnL>
                      <a:noFill/>
                    </a:lnL>
                    <a:lnR>
                      <a:noFill/>
                    </a:lnR>
                    <a:lnT>
                      <a:noFill/>
                    </a:lnT>
                    <a:lnB>
                      <a:noFill/>
                    </a:lnB>
                    <a:solidFill>
                      <a:schemeClr val="bg2">
                        <a:lumMod val="90000"/>
                      </a:schemeClr>
                    </a:solidFill>
                  </a:tcPr>
                </a:tc>
                <a:tc>
                  <a:txBody>
                    <a:bodyPr/>
                    <a:lstStyle/>
                    <a:p>
                      <a:r>
                        <a:rPr lang="en-IN"/>
                        <a:t>9 mod 4 = </a:t>
                      </a:r>
                      <a:r>
                        <a:rPr lang="en-IN" b="1"/>
                        <a:t>1</a:t>
                      </a:r>
                      <a:endParaRPr lang="en-IN"/>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222841265"/>
                  </a:ext>
                </a:extLst>
              </a:tr>
              <a:tr h="0">
                <a:tc>
                  <a:txBody>
                    <a:bodyPr/>
                    <a:lstStyle/>
                    <a:p>
                      <a:r>
                        <a:rPr lang="en-IN" dirty="0"/>
                        <a:t>102</a:t>
                      </a:r>
                    </a:p>
                  </a:txBody>
                  <a:tcPr anchor="ctr">
                    <a:lnL>
                      <a:noFill/>
                    </a:lnL>
                    <a:lnR>
                      <a:noFill/>
                    </a:lnR>
                    <a:lnT>
                      <a:noFill/>
                    </a:lnT>
                    <a:lnB>
                      <a:noFill/>
                    </a:lnB>
                    <a:solidFill>
                      <a:schemeClr val="bg2">
                        <a:lumMod val="90000"/>
                      </a:schemeClr>
                    </a:solidFill>
                  </a:tcPr>
                </a:tc>
                <a:tc>
                  <a:txBody>
                    <a:bodyPr/>
                    <a:lstStyle/>
                    <a:p>
                      <a:r>
                        <a:rPr lang="en-IN"/>
                        <a:t>10</a:t>
                      </a:r>
                    </a:p>
                  </a:txBody>
                  <a:tcPr anchor="ctr">
                    <a:lnL>
                      <a:noFill/>
                    </a:lnL>
                    <a:lnR>
                      <a:noFill/>
                    </a:lnR>
                    <a:lnT>
                      <a:noFill/>
                    </a:lnT>
                    <a:lnB>
                      <a:noFill/>
                    </a:lnB>
                    <a:solidFill>
                      <a:schemeClr val="bg2">
                        <a:lumMod val="90000"/>
                      </a:schemeClr>
                    </a:solidFill>
                  </a:tcPr>
                </a:tc>
                <a:tc>
                  <a:txBody>
                    <a:bodyPr/>
                    <a:lstStyle/>
                    <a:p>
                      <a:r>
                        <a:rPr lang="en-IN" dirty="0"/>
                        <a:t>10 mod 4 = </a:t>
                      </a:r>
                      <a:r>
                        <a:rPr lang="en-IN" b="1" dirty="0"/>
                        <a:t>2</a:t>
                      </a:r>
                      <a:endParaRPr lang="en-IN" dirty="0"/>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662778630"/>
                  </a:ext>
                </a:extLst>
              </a:tr>
              <a:tr h="0">
                <a:tc>
                  <a:txBody>
                    <a:bodyPr/>
                    <a:lstStyle/>
                    <a:p>
                      <a:r>
                        <a:rPr lang="en-IN"/>
                        <a:t>103</a:t>
                      </a:r>
                    </a:p>
                  </a:txBody>
                  <a:tcPr anchor="ctr">
                    <a:lnL>
                      <a:noFill/>
                    </a:lnL>
                    <a:lnR>
                      <a:noFill/>
                    </a:lnR>
                    <a:lnT>
                      <a:noFill/>
                    </a:lnT>
                    <a:lnB>
                      <a:noFill/>
                    </a:lnB>
                    <a:solidFill>
                      <a:schemeClr val="bg2">
                        <a:lumMod val="90000"/>
                      </a:schemeClr>
                    </a:solidFill>
                  </a:tcPr>
                </a:tc>
                <a:tc>
                  <a:txBody>
                    <a:bodyPr/>
                    <a:lstStyle/>
                    <a:p>
                      <a:r>
                        <a:rPr lang="en-IN"/>
                        <a:t>11</a:t>
                      </a:r>
                    </a:p>
                  </a:txBody>
                  <a:tcPr anchor="ctr">
                    <a:lnL>
                      <a:noFill/>
                    </a:lnL>
                    <a:lnR>
                      <a:noFill/>
                    </a:lnR>
                    <a:lnT>
                      <a:noFill/>
                    </a:lnT>
                    <a:lnB>
                      <a:noFill/>
                    </a:lnB>
                    <a:solidFill>
                      <a:schemeClr val="bg2">
                        <a:lumMod val="90000"/>
                      </a:schemeClr>
                    </a:solidFill>
                  </a:tcPr>
                </a:tc>
                <a:tc>
                  <a:txBody>
                    <a:bodyPr/>
                    <a:lstStyle/>
                    <a:p>
                      <a:r>
                        <a:rPr lang="en-IN"/>
                        <a:t>11 mod 4 = </a:t>
                      </a:r>
                      <a:r>
                        <a:rPr lang="en-IN" b="1"/>
                        <a:t>3</a:t>
                      </a:r>
                      <a:endParaRPr lang="en-IN"/>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996975617"/>
                  </a:ext>
                </a:extLst>
              </a:tr>
              <a:tr h="0">
                <a:tc>
                  <a:txBody>
                    <a:bodyPr/>
                    <a:lstStyle/>
                    <a:p>
                      <a:r>
                        <a:rPr lang="en-IN" dirty="0"/>
                        <a:t>104</a:t>
                      </a:r>
                    </a:p>
                  </a:txBody>
                  <a:tcPr anchor="ctr">
                    <a:lnL>
                      <a:noFill/>
                    </a:lnL>
                    <a:lnR>
                      <a:noFill/>
                    </a:lnR>
                    <a:lnT>
                      <a:noFill/>
                    </a:lnT>
                    <a:lnB>
                      <a:noFill/>
                    </a:lnB>
                    <a:solidFill>
                      <a:schemeClr val="bg2">
                        <a:lumMod val="90000"/>
                      </a:schemeClr>
                    </a:solidFill>
                  </a:tcPr>
                </a:tc>
                <a:tc>
                  <a:txBody>
                    <a:bodyPr/>
                    <a:lstStyle/>
                    <a:p>
                      <a:r>
                        <a:rPr lang="en-IN"/>
                        <a:t>12</a:t>
                      </a:r>
                    </a:p>
                  </a:txBody>
                  <a:tcPr anchor="ctr">
                    <a:lnL>
                      <a:noFill/>
                    </a:lnL>
                    <a:lnR>
                      <a:noFill/>
                    </a:lnR>
                    <a:lnT>
                      <a:noFill/>
                    </a:lnT>
                    <a:lnB>
                      <a:noFill/>
                    </a:lnB>
                    <a:solidFill>
                      <a:schemeClr val="bg2">
                        <a:lumMod val="90000"/>
                      </a:schemeClr>
                    </a:solidFill>
                  </a:tcPr>
                </a:tc>
                <a:tc>
                  <a:txBody>
                    <a:bodyPr/>
                    <a:lstStyle/>
                    <a:p>
                      <a:r>
                        <a:rPr lang="en-IN" dirty="0"/>
                        <a:t>12 mod 4 = </a:t>
                      </a:r>
                      <a:r>
                        <a:rPr lang="en-IN" b="1" dirty="0"/>
                        <a:t>0</a:t>
                      </a:r>
                      <a:endParaRPr lang="en-IN" dirty="0"/>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475065866"/>
                  </a:ext>
                </a:extLst>
              </a:tr>
            </a:tbl>
          </a:graphicData>
        </a:graphic>
      </p:graphicFrame>
    </p:spTree>
    <p:extLst>
      <p:ext uri="{BB962C8B-B14F-4D97-AF65-F5344CB8AC3E}">
        <p14:creationId xmlns:p14="http://schemas.microsoft.com/office/powerpoint/2010/main" val="674867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546265" y="178130"/>
            <a:ext cx="11044052" cy="6279077"/>
          </a:xfrm>
        </p:spPr>
        <p:txBody>
          <a:bodyPr>
            <a:normAutofit/>
          </a:bodyPr>
          <a:lstStyle/>
          <a:p>
            <a:pPr marL="0" indent="0">
              <a:buNone/>
            </a:pPr>
            <a:r>
              <a:rPr lang="en-IN" sz="2000" b="1" dirty="0">
                <a:solidFill>
                  <a:schemeClr val="accent1">
                    <a:lumMod val="75000"/>
                  </a:schemeClr>
                </a:solidFill>
                <a:latin typeface="+mj-lt"/>
              </a:rPr>
              <a:t>Types of Load Balancing: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sng" strike="noStrike" cap="none" normalizeH="0" baseline="0" dirty="0">
                <a:ln>
                  <a:noFill/>
                </a:ln>
                <a:solidFill>
                  <a:schemeClr val="accent6">
                    <a:lumMod val="75000"/>
                  </a:schemeClr>
                </a:solidFill>
                <a:effectLst/>
                <a:latin typeface="+mj-lt"/>
              </a:rPr>
              <a:t>Dynamic Load Balancing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mj-lt"/>
              </a:rPr>
              <a:t>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accent1">
                    <a:lumMod val="75000"/>
                  </a:schemeClr>
                </a:solidFill>
                <a:effectLst/>
                <a:latin typeface="+mj-lt"/>
              </a:rPr>
              <a:t>Dynamic load balancing makes </a:t>
            </a:r>
            <a:r>
              <a:rPr kumimoji="0" lang="en-US" altLang="en-US" sz="1800" b="1" i="0" u="none" strike="noStrike" cap="none" normalizeH="0" baseline="0" dirty="0">
                <a:ln>
                  <a:noFill/>
                </a:ln>
                <a:solidFill>
                  <a:schemeClr val="accent1">
                    <a:lumMod val="75000"/>
                  </a:schemeClr>
                </a:solidFill>
                <a:effectLst/>
                <a:latin typeface="+mj-lt"/>
              </a:rPr>
              <a:t>real-time decisions</a:t>
            </a:r>
            <a:r>
              <a:rPr kumimoji="0" lang="en-US" altLang="en-US" sz="1800" b="0" i="0" u="none" strike="noStrike" cap="none" normalizeH="0" baseline="0" dirty="0">
                <a:ln>
                  <a:noFill/>
                </a:ln>
                <a:solidFill>
                  <a:schemeClr val="accent1">
                    <a:lumMod val="75000"/>
                  </a:schemeClr>
                </a:solidFill>
                <a:effectLst/>
                <a:latin typeface="+mj-lt"/>
              </a:rPr>
              <a:t> during execution.</a:t>
            </a:r>
            <a:br>
              <a:rPr kumimoji="0" lang="en-US" altLang="en-US" sz="1800" b="0" i="0" u="none" strike="noStrike" cap="none" normalizeH="0" baseline="0" dirty="0">
                <a:ln>
                  <a:noFill/>
                </a:ln>
                <a:solidFill>
                  <a:schemeClr val="accent1">
                    <a:lumMod val="75000"/>
                  </a:schemeClr>
                </a:solidFill>
                <a:effectLst/>
                <a:latin typeface="+mj-lt"/>
              </a:rPr>
            </a:br>
            <a:r>
              <a:rPr kumimoji="0" lang="en-US" altLang="en-US" sz="1800" b="0" i="0" u="none" strike="noStrike" cap="none" normalizeH="0" baseline="0" dirty="0">
                <a:ln>
                  <a:noFill/>
                </a:ln>
                <a:solidFill>
                  <a:schemeClr val="accent1">
                    <a:lumMod val="75000"/>
                  </a:schemeClr>
                </a:solidFill>
                <a:effectLst/>
                <a:latin typeface="+mj-lt"/>
              </a:rPr>
              <a:t>Tasks can </a:t>
            </a:r>
            <a:r>
              <a:rPr kumimoji="0" lang="en-US" altLang="en-US" sz="1800" b="1" i="0" u="none" strike="noStrike" cap="none" normalizeH="0" baseline="0" dirty="0">
                <a:ln>
                  <a:noFill/>
                </a:ln>
                <a:solidFill>
                  <a:schemeClr val="accent1">
                    <a:lumMod val="75000"/>
                  </a:schemeClr>
                </a:solidFill>
                <a:effectLst/>
                <a:latin typeface="+mj-lt"/>
              </a:rPr>
              <a:t>move (migrate)</a:t>
            </a:r>
            <a:r>
              <a:rPr kumimoji="0" lang="en-US" altLang="en-US" sz="1800" b="0" i="0" u="none" strike="noStrike" cap="none" normalizeH="0" baseline="0" dirty="0">
                <a:ln>
                  <a:noFill/>
                </a:ln>
                <a:solidFill>
                  <a:schemeClr val="accent1">
                    <a:lumMod val="75000"/>
                  </a:schemeClr>
                </a:solidFill>
                <a:effectLst/>
                <a:latin typeface="+mj-lt"/>
              </a:rPr>
              <a:t> from one node to another depending on current system load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accent1">
                  <a:lumMod val="75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mj-lt"/>
              </a:rPr>
              <a:t>How It 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mj-lt"/>
              </a:rPr>
              <a:t>Each node periodically </a:t>
            </a:r>
            <a:r>
              <a:rPr kumimoji="0" lang="en-US" altLang="en-US" sz="1800" b="1" i="0" u="none" strike="noStrike" cap="none" normalizeH="0" baseline="0" dirty="0">
                <a:ln>
                  <a:noFill/>
                </a:ln>
                <a:solidFill>
                  <a:schemeClr val="accent1">
                    <a:lumMod val="75000"/>
                  </a:schemeClr>
                </a:solidFill>
                <a:effectLst/>
                <a:latin typeface="+mj-lt"/>
              </a:rPr>
              <a:t>monitors its load</a:t>
            </a:r>
            <a:r>
              <a:rPr kumimoji="0" lang="en-US" altLang="en-US" sz="1800" b="0" i="0" u="none" strike="noStrike" cap="none" normalizeH="0" baseline="0" dirty="0">
                <a:ln>
                  <a:noFill/>
                </a:ln>
                <a:solidFill>
                  <a:schemeClr val="accent1">
                    <a:lumMod val="75000"/>
                  </a:schemeClr>
                </a:solidFill>
                <a:effectLst/>
                <a:latin typeface="+mj-lt"/>
              </a:rPr>
              <a:t> (CPU, queue length, memory).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mj-lt"/>
              </a:rPr>
              <a:t>Nodes </a:t>
            </a:r>
            <a:r>
              <a:rPr kumimoji="0" lang="en-US" altLang="en-US" sz="1800" b="1" i="0" u="none" strike="noStrike" cap="none" normalizeH="0" baseline="0" dirty="0">
                <a:ln>
                  <a:noFill/>
                </a:ln>
                <a:solidFill>
                  <a:schemeClr val="accent1">
                    <a:lumMod val="75000"/>
                  </a:schemeClr>
                </a:solidFill>
                <a:effectLst/>
                <a:latin typeface="+mj-lt"/>
              </a:rPr>
              <a:t>exchange information</a:t>
            </a:r>
            <a:r>
              <a:rPr kumimoji="0" lang="en-US" altLang="en-US" sz="1800" b="0" i="0" u="none" strike="noStrike" cap="none" normalizeH="0" baseline="0" dirty="0">
                <a:ln>
                  <a:noFill/>
                </a:ln>
                <a:solidFill>
                  <a:schemeClr val="accent1">
                    <a:lumMod val="75000"/>
                  </a:schemeClr>
                </a:solidFill>
                <a:effectLst/>
                <a:latin typeface="+mj-lt"/>
              </a:rPr>
              <a:t> about their load status.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mj-lt"/>
              </a:rPr>
              <a:t>Tasks are transferred between nodes to maintain balance.</a:t>
            </a:r>
          </a:p>
          <a:p>
            <a:pPr marL="0" indent="0" eaLnBrk="0" fontAlgn="base" hangingPunct="0">
              <a:lnSpc>
                <a:spcPct val="100000"/>
              </a:lnSpc>
              <a:spcBef>
                <a:spcPct val="0"/>
              </a:spcBef>
              <a:spcAft>
                <a:spcPct val="0"/>
              </a:spcAft>
              <a:buFontTx/>
              <a:buChar char="•"/>
            </a:pPr>
            <a:endParaRPr lang="en-US" sz="1800" dirty="0">
              <a:solidFill>
                <a:schemeClr val="accent1">
                  <a:lumMod val="75000"/>
                </a:schemeClr>
              </a:solidFill>
              <a:latin typeface="+mj-lt"/>
            </a:endParaRPr>
          </a:p>
          <a:p>
            <a:pPr marL="0" indent="0" eaLnBrk="0" fontAlgn="base" hangingPunct="0">
              <a:lnSpc>
                <a:spcPct val="100000"/>
              </a:lnSpc>
              <a:spcBef>
                <a:spcPct val="0"/>
              </a:spcBef>
              <a:spcAft>
                <a:spcPct val="0"/>
              </a:spcAft>
              <a:buFontTx/>
              <a:buChar char="•"/>
            </a:pPr>
            <a:r>
              <a:rPr lang="en-US" sz="1800" dirty="0">
                <a:solidFill>
                  <a:schemeClr val="accent1">
                    <a:lumMod val="75000"/>
                  </a:schemeClr>
                </a:solidFill>
                <a:latin typeface="+mj-lt"/>
              </a:rPr>
              <a:t>Types of Dynamic Load Balancing Algorithms</a:t>
            </a:r>
            <a:endParaRPr lang="en-IN" sz="1800" dirty="0">
              <a:solidFill>
                <a:schemeClr val="accent1">
                  <a:lumMod val="75000"/>
                </a:schemeClr>
              </a:solidFill>
              <a:latin typeface="+mj-lt"/>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Table 5">
            <a:extLst>
              <a:ext uri="{FF2B5EF4-FFF2-40B4-BE49-F238E27FC236}">
                <a16:creationId xmlns:a16="http://schemas.microsoft.com/office/drawing/2014/main" id="{A7D8890E-4843-9CD9-9F43-DB0DBBE15D02}"/>
              </a:ext>
            </a:extLst>
          </p:cNvPr>
          <p:cNvGraphicFramePr>
            <a:graphicFrameLocks noGrp="1"/>
          </p:cNvGraphicFramePr>
          <p:nvPr>
            <p:extLst>
              <p:ext uri="{D42A27DB-BD31-4B8C-83A1-F6EECF244321}">
                <p14:modId xmlns:p14="http://schemas.microsoft.com/office/powerpoint/2010/main" val="2863840918"/>
              </p:ext>
            </p:extLst>
          </p:nvPr>
        </p:nvGraphicFramePr>
        <p:xfrm>
          <a:off x="545960" y="3879572"/>
          <a:ext cx="10515600" cy="2072640"/>
        </p:xfrm>
        <a:graphic>
          <a:graphicData uri="http://schemas.openxmlformats.org/drawingml/2006/table">
            <a:tbl>
              <a:tblPr/>
              <a:tblGrid>
                <a:gridCol w="3505200">
                  <a:extLst>
                    <a:ext uri="{9D8B030D-6E8A-4147-A177-3AD203B41FA5}">
                      <a16:colId xmlns:a16="http://schemas.microsoft.com/office/drawing/2014/main" val="1878049029"/>
                    </a:ext>
                  </a:extLst>
                </a:gridCol>
                <a:gridCol w="3505200">
                  <a:extLst>
                    <a:ext uri="{9D8B030D-6E8A-4147-A177-3AD203B41FA5}">
                      <a16:colId xmlns:a16="http://schemas.microsoft.com/office/drawing/2014/main" val="1746589721"/>
                    </a:ext>
                  </a:extLst>
                </a:gridCol>
                <a:gridCol w="3505200">
                  <a:extLst>
                    <a:ext uri="{9D8B030D-6E8A-4147-A177-3AD203B41FA5}">
                      <a16:colId xmlns:a16="http://schemas.microsoft.com/office/drawing/2014/main" val="1074835631"/>
                    </a:ext>
                  </a:extLst>
                </a:gridCol>
              </a:tblGrid>
              <a:tr h="0">
                <a:tc>
                  <a:txBody>
                    <a:bodyPr/>
                    <a:lstStyle/>
                    <a:p>
                      <a:r>
                        <a:rPr lang="en-IN" sz="1600" b="1">
                          <a:solidFill>
                            <a:schemeClr val="accent5">
                              <a:lumMod val="75000"/>
                            </a:schemeClr>
                          </a:solidFill>
                        </a:rPr>
                        <a:t>Algorithm Type</a:t>
                      </a:r>
                      <a:endParaRPr lang="en-IN" sz="1600">
                        <a:solidFill>
                          <a:schemeClr val="accent5">
                            <a:lumMod val="75000"/>
                          </a:schemeClr>
                        </a:solidFill>
                      </a:endParaRPr>
                    </a:p>
                  </a:txBody>
                  <a:tcPr anchor="ctr">
                    <a:lnL>
                      <a:noFill/>
                    </a:lnL>
                    <a:lnR>
                      <a:noFill/>
                    </a:lnR>
                    <a:lnT>
                      <a:noFill/>
                    </a:lnT>
                    <a:lnB>
                      <a:noFill/>
                    </a:lnB>
                    <a:solidFill>
                      <a:schemeClr val="accent5">
                        <a:lumMod val="20000"/>
                        <a:lumOff val="80000"/>
                      </a:schemeClr>
                    </a:solidFill>
                  </a:tcPr>
                </a:tc>
                <a:tc>
                  <a:txBody>
                    <a:bodyPr/>
                    <a:lstStyle/>
                    <a:p>
                      <a:r>
                        <a:rPr lang="en-IN" sz="1600" b="1" dirty="0">
                          <a:solidFill>
                            <a:schemeClr val="accent5">
                              <a:lumMod val="75000"/>
                            </a:schemeClr>
                          </a:solidFill>
                        </a:rPr>
                        <a:t>Initiated By</a:t>
                      </a:r>
                      <a:endParaRPr lang="en-IN" sz="1600" dirty="0">
                        <a:solidFill>
                          <a:schemeClr val="accent5">
                            <a:lumMod val="75000"/>
                          </a:schemeClr>
                        </a:solidFill>
                      </a:endParaRPr>
                    </a:p>
                  </a:txBody>
                  <a:tcPr anchor="ctr">
                    <a:lnL>
                      <a:noFill/>
                    </a:lnL>
                    <a:lnR>
                      <a:noFill/>
                    </a:lnR>
                    <a:lnT>
                      <a:noFill/>
                    </a:lnT>
                    <a:lnB>
                      <a:noFill/>
                    </a:lnB>
                    <a:solidFill>
                      <a:schemeClr val="accent5">
                        <a:lumMod val="20000"/>
                        <a:lumOff val="80000"/>
                      </a:schemeClr>
                    </a:solidFill>
                  </a:tcPr>
                </a:tc>
                <a:tc>
                  <a:txBody>
                    <a:bodyPr/>
                    <a:lstStyle/>
                    <a:p>
                      <a:r>
                        <a:rPr lang="en-IN" sz="1600" b="1" dirty="0">
                          <a:solidFill>
                            <a:schemeClr val="accent5">
                              <a:lumMod val="75000"/>
                            </a:schemeClr>
                          </a:solidFill>
                        </a:rPr>
                        <a:t>Description</a:t>
                      </a:r>
                      <a:endParaRPr lang="en-IN" sz="1600" dirty="0">
                        <a:solidFill>
                          <a:schemeClr val="accent5">
                            <a:lumMod val="75000"/>
                          </a:schemeClr>
                        </a:solidFill>
                      </a:endParaRPr>
                    </a:p>
                  </a:txBody>
                  <a:tcPr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1966299924"/>
                  </a:ext>
                </a:extLst>
              </a:tr>
              <a:tr h="0">
                <a:tc>
                  <a:txBody>
                    <a:bodyPr/>
                    <a:lstStyle/>
                    <a:p>
                      <a:r>
                        <a:rPr lang="en-IN" sz="1600" b="1" dirty="0">
                          <a:solidFill>
                            <a:schemeClr val="accent6">
                              <a:lumMod val="75000"/>
                            </a:schemeClr>
                          </a:solidFill>
                        </a:rPr>
                        <a:t>Sender-Initiated</a:t>
                      </a:r>
                      <a:endParaRPr lang="en-IN" sz="1600" dirty="0">
                        <a:solidFill>
                          <a:schemeClr val="accent6">
                            <a:lumMod val="75000"/>
                          </a:schemeClr>
                        </a:solidFill>
                      </a:endParaRPr>
                    </a:p>
                  </a:txBody>
                  <a:tcPr anchor="ctr">
                    <a:lnL>
                      <a:noFill/>
                    </a:lnL>
                    <a:lnR>
                      <a:noFill/>
                    </a:lnR>
                    <a:lnT>
                      <a:noFill/>
                    </a:lnT>
                    <a:lnB>
                      <a:noFill/>
                    </a:lnB>
                  </a:tcPr>
                </a:tc>
                <a:tc>
                  <a:txBody>
                    <a:bodyPr/>
                    <a:lstStyle/>
                    <a:p>
                      <a:r>
                        <a:rPr lang="en-IN" sz="1600"/>
                        <a:t>Overloaded node</a:t>
                      </a:r>
                    </a:p>
                  </a:txBody>
                  <a:tcPr anchor="ctr">
                    <a:lnL>
                      <a:noFill/>
                    </a:lnL>
                    <a:lnR>
                      <a:noFill/>
                    </a:lnR>
                    <a:lnT>
                      <a:noFill/>
                    </a:lnT>
                    <a:lnB>
                      <a:noFill/>
                    </a:lnB>
                  </a:tcPr>
                </a:tc>
                <a:tc>
                  <a:txBody>
                    <a:bodyPr/>
                    <a:lstStyle/>
                    <a:p>
                      <a:r>
                        <a:rPr lang="en-US" sz="1600"/>
                        <a:t>Overloaded nodes send tasks to underloaded nodes.</a:t>
                      </a:r>
                    </a:p>
                  </a:txBody>
                  <a:tcPr anchor="ctr">
                    <a:lnL>
                      <a:noFill/>
                    </a:lnL>
                    <a:lnR>
                      <a:noFill/>
                    </a:lnR>
                    <a:lnT>
                      <a:noFill/>
                    </a:lnT>
                    <a:lnB>
                      <a:noFill/>
                    </a:lnB>
                  </a:tcPr>
                </a:tc>
                <a:extLst>
                  <a:ext uri="{0D108BD9-81ED-4DB2-BD59-A6C34878D82A}">
                    <a16:rowId xmlns:a16="http://schemas.microsoft.com/office/drawing/2014/main" val="667849151"/>
                  </a:ext>
                </a:extLst>
              </a:tr>
              <a:tr h="0">
                <a:tc>
                  <a:txBody>
                    <a:bodyPr/>
                    <a:lstStyle/>
                    <a:p>
                      <a:r>
                        <a:rPr lang="en-IN" sz="1600" b="1">
                          <a:solidFill>
                            <a:schemeClr val="accent6">
                              <a:lumMod val="75000"/>
                            </a:schemeClr>
                          </a:solidFill>
                        </a:rPr>
                        <a:t>Receiver-Initiated</a:t>
                      </a:r>
                      <a:endParaRPr lang="en-IN" sz="1600">
                        <a:solidFill>
                          <a:schemeClr val="accent6">
                            <a:lumMod val="75000"/>
                          </a:schemeClr>
                        </a:solidFill>
                      </a:endParaRPr>
                    </a:p>
                  </a:txBody>
                  <a:tcPr anchor="ctr">
                    <a:lnL>
                      <a:noFill/>
                    </a:lnL>
                    <a:lnR>
                      <a:noFill/>
                    </a:lnR>
                    <a:lnT>
                      <a:noFill/>
                    </a:lnT>
                    <a:lnB>
                      <a:noFill/>
                    </a:lnB>
                  </a:tcPr>
                </a:tc>
                <a:tc>
                  <a:txBody>
                    <a:bodyPr/>
                    <a:lstStyle/>
                    <a:p>
                      <a:r>
                        <a:rPr lang="en-IN" sz="1600"/>
                        <a:t>Underloaded node</a:t>
                      </a:r>
                    </a:p>
                  </a:txBody>
                  <a:tcPr anchor="ctr">
                    <a:lnL>
                      <a:noFill/>
                    </a:lnL>
                    <a:lnR>
                      <a:noFill/>
                    </a:lnR>
                    <a:lnT>
                      <a:noFill/>
                    </a:lnT>
                    <a:lnB>
                      <a:noFill/>
                    </a:lnB>
                  </a:tcPr>
                </a:tc>
                <a:tc>
                  <a:txBody>
                    <a:bodyPr/>
                    <a:lstStyle/>
                    <a:p>
                      <a:r>
                        <a:rPr lang="en-US" sz="1600"/>
                        <a:t>Idle nodes request work from busy nodes.</a:t>
                      </a:r>
                    </a:p>
                  </a:txBody>
                  <a:tcPr anchor="ctr">
                    <a:lnL>
                      <a:noFill/>
                    </a:lnL>
                    <a:lnR>
                      <a:noFill/>
                    </a:lnR>
                    <a:lnT>
                      <a:noFill/>
                    </a:lnT>
                    <a:lnB>
                      <a:noFill/>
                    </a:lnB>
                  </a:tcPr>
                </a:tc>
                <a:extLst>
                  <a:ext uri="{0D108BD9-81ED-4DB2-BD59-A6C34878D82A}">
                    <a16:rowId xmlns:a16="http://schemas.microsoft.com/office/drawing/2014/main" val="1659811557"/>
                  </a:ext>
                </a:extLst>
              </a:tr>
              <a:tr h="0">
                <a:tc>
                  <a:txBody>
                    <a:bodyPr/>
                    <a:lstStyle/>
                    <a:p>
                      <a:r>
                        <a:rPr lang="en-IN" sz="1600" b="1" dirty="0">
                          <a:solidFill>
                            <a:schemeClr val="accent6">
                              <a:lumMod val="75000"/>
                            </a:schemeClr>
                          </a:solidFill>
                        </a:rPr>
                        <a:t>Symmetric / Hybrid</a:t>
                      </a:r>
                      <a:endParaRPr lang="en-IN" sz="1600" dirty="0">
                        <a:solidFill>
                          <a:schemeClr val="accent6">
                            <a:lumMod val="75000"/>
                          </a:schemeClr>
                        </a:solidFill>
                      </a:endParaRPr>
                    </a:p>
                  </a:txBody>
                  <a:tcPr anchor="ctr">
                    <a:lnL>
                      <a:noFill/>
                    </a:lnL>
                    <a:lnR>
                      <a:noFill/>
                    </a:lnR>
                    <a:lnT>
                      <a:noFill/>
                    </a:lnT>
                    <a:lnB>
                      <a:noFill/>
                    </a:lnB>
                  </a:tcPr>
                </a:tc>
                <a:tc>
                  <a:txBody>
                    <a:bodyPr/>
                    <a:lstStyle/>
                    <a:p>
                      <a:r>
                        <a:rPr lang="en-IN" sz="1600"/>
                        <a:t>Both</a:t>
                      </a:r>
                    </a:p>
                  </a:txBody>
                  <a:tcPr anchor="ctr">
                    <a:lnL>
                      <a:noFill/>
                    </a:lnL>
                    <a:lnR>
                      <a:noFill/>
                    </a:lnR>
                    <a:lnT>
                      <a:noFill/>
                    </a:lnT>
                    <a:lnB>
                      <a:noFill/>
                    </a:lnB>
                  </a:tcPr>
                </a:tc>
                <a:tc>
                  <a:txBody>
                    <a:bodyPr/>
                    <a:lstStyle/>
                    <a:p>
                      <a:r>
                        <a:rPr lang="en-US" sz="1600" dirty="0"/>
                        <a:t>Both overloaded and underloaded nodes can initiate transfers.</a:t>
                      </a:r>
                    </a:p>
                  </a:txBody>
                  <a:tcPr anchor="ctr">
                    <a:lnL>
                      <a:noFill/>
                    </a:lnL>
                    <a:lnR>
                      <a:noFill/>
                    </a:lnR>
                    <a:lnT>
                      <a:noFill/>
                    </a:lnT>
                    <a:lnB>
                      <a:noFill/>
                    </a:lnB>
                  </a:tcPr>
                </a:tc>
                <a:extLst>
                  <a:ext uri="{0D108BD9-81ED-4DB2-BD59-A6C34878D82A}">
                    <a16:rowId xmlns:a16="http://schemas.microsoft.com/office/drawing/2014/main" val="2805706431"/>
                  </a:ext>
                </a:extLst>
              </a:tr>
            </a:tbl>
          </a:graphicData>
        </a:graphic>
      </p:graphicFrame>
    </p:spTree>
    <p:extLst>
      <p:ext uri="{BB962C8B-B14F-4D97-AF65-F5344CB8AC3E}">
        <p14:creationId xmlns:p14="http://schemas.microsoft.com/office/powerpoint/2010/main" val="12737467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546265" y="178130"/>
            <a:ext cx="11044052" cy="6649992"/>
          </a:xfrm>
        </p:spPr>
        <p:txBody>
          <a:bodyPr>
            <a:normAutofit/>
          </a:bodyPr>
          <a:lstStyle/>
          <a:p>
            <a:pPr marL="0" indent="0">
              <a:buNone/>
            </a:pPr>
            <a:r>
              <a:rPr lang="en-IN" sz="2000" b="1" dirty="0">
                <a:solidFill>
                  <a:schemeClr val="accent1">
                    <a:lumMod val="75000"/>
                  </a:schemeClr>
                </a:solidFill>
              </a:rPr>
              <a:t>Types of Load Balancing:  </a:t>
            </a:r>
            <a:r>
              <a:rPr lang="en-US" sz="2000" b="1" dirty="0">
                <a:solidFill>
                  <a:schemeClr val="accent6">
                    <a:lumMod val="75000"/>
                  </a:schemeClr>
                </a:solidFill>
                <a:latin typeface="+mj-lt"/>
              </a:rPr>
              <a:t>Dynamic</a:t>
            </a:r>
            <a:r>
              <a:rPr kumimoji="0" lang="en-US" altLang="en-US" sz="2000" b="1" i="0" strike="noStrike" cap="none" normalizeH="0" baseline="0" dirty="0">
                <a:ln>
                  <a:noFill/>
                </a:ln>
                <a:solidFill>
                  <a:schemeClr val="accent6">
                    <a:lumMod val="75000"/>
                  </a:schemeClr>
                </a:solidFill>
                <a:effectLst/>
                <a:latin typeface="+mj-lt"/>
              </a:rPr>
              <a:t> Load Balancing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accent6">
                  <a:lumMod val="75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6">
                    <a:lumMod val="75000"/>
                  </a:schemeClr>
                </a:solidFill>
                <a:effectLst/>
                <a:latin typeface="+mj-lt"/>
              </a:rPr>
              <a:t>Sender-Initiated Approach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Definition</a:t>
            </a:r>
          </a:p>
          <a:p>
            <a:pPr marL="0" indent="0"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tx1"/>
                </a:solidFill>
                <a:effectLst/>
                <a:latin typeface="+mj-lt"/>
              </a:rPr>
              <a:t>In the </a:t>
            </a:r>
            <a:r>
              <a:rPr kumimoji="0" lang="en-US" altLang="en-US" sz="1800" b="1" i="0" u="none" strike="noStrike" cap="none" normalizeH="0" baseline="0" dirty="0">
                <a:ln>
                  <a:noFill/>
                </a:ln>
                <a:solidFill>
                  <a:schemeClr val="tx1"/>
                </a:solidFill>
                <a:effectLst/>
                <a:latin typeface="+mj-lt"/>
              </a:rPr>
              <a:t>sender-initiated</a:t>
            </a:r>
            <a:r>
              <a:rPr kumimoji="0" lang="en-US" altLang="en-US" sz="1800" b="0" i="0" u="none" strike="noStrike" cap="none" normalizeH="0" baseline="0" dirty="0">
                <a:ln>
                  <a:noFill/>
                </a:ln>
                <a:solidFill>
                  <a:schemeClr val="tx1"/>
                </a:solidFill>
                <a:effectLst/>
                <a:latin typeface="+mj-lt"/>
              </a:rPr>
              <a:t> approach, the process of load balancing is </a:t>
            </a:r>
            <a:r>
              <a:rPr kumimoji="0" lang="en-US" altLang="en-US" sz="1800" b="1" i="0" u="none" strike="noStrike" cap="none" normalizeH="0" baseline="0" dirty="0">
                <a:ln>
                  <a:noFill/>
                </a:ln>
                <a:solidFill>
                  <a:schemeClr val="tx1"/>
                </a:solidFill>
                <a:effectLst/>
                <a:latin typeface="+mj-lt"/>
              </a:rPr>
              <a:t>initiated by an overloaded node (sender)</a:t>
            </a:r>
            <a:r>
              <a:rPr kumimoji="0" lang="en-US" altLang="en-US" sz="1800" b="0" i="0" u="none" strike="noStrike" cap="none" normalizeH="0" baseline="0" dirty="0">
                <a:ln>
                  <a:noFill/>
                </a:ln>
                <a:solidFill>
                  <a:schemeClr val="tx1"/>
                </a:solidFill>
                <a:effectLst/>
                <a:latin typeface="+mj-lt"/>
              </a:rPr>
              <a:t>.</a:t>
            </a:r>
            <a:br>
              <a:rPr kumimoji="0" lang="en-US" altLang="en-US" sz="1800" b="0" i="0" u="none" strike="noStrike" cap="none" normalizeH="0" baseline="0" dirty="0">
                <a:ln>
                  <a:noFill/>
                </a:ln>
                <a:solidFill>
                  <a:schemeClr val="tx1"/>
                </a:solidFill>
                <a:effectLst/>
                <a:latin typeface="+mj-lt"/>
              </a:rPr>
            </a:br>
            <a:r>
              <a:rPr kumimoji="0" lang="en-US" altLang="en-US" sz="1800" b="0" i="0" u="none" strike="noStrike" cap="none" normalizeH="0" baseline="0" dirty="0">
                <a:ln>
                  <a:noFill/>
                </a:ln>
                <a:solidFill>
                  <a:schemeClr val="tx1"/>
                </a:solidFill>
                <a:effectLst/>
                <a:latin typeface="+mj-lt"/>
              </a:rPr>
              <a:t>When a node detects that it has </a:t>
            </a:r>
            <a:r>
              <a:rPr kumimoji="0" lang="en-US" altLang="en-US" sz="1800" b="1" i="0" u="none" strike="noStrike" cap="none" normalizeH="0" baseline="0" dirty="0">
                <a:ln>
                  <a:noFill/>
                </a:ln>
                <a:solidFill>
                  <a:schemeClr val="tx1"/>
                </a:solidFill>
                <a:effectLst/>
                <a:latin typeface="+mj-lt"/>
              </a:rPr>
              <a:t>too many tasks</a:t>
            </a:r>
            <a:r>
              <a:rPr kumimoji="0" lang="en-US" altLang="en-US" sz="1800" b="0" i="0" u="none" strike="noStrike" cap="none" normalizeH="0" baseline="0" dirty="0">
                <a:ln>
                  <a:noFill/>
                </a:ln>
                <a:solidFill>
                  <a:schemeClr val="tx1"/>
                </a:solidFill>
                <a:effectLst/>
                <a:latin typeface="+mj-lt"/>
              </a:rPr>
              <a:t>, it tries to </a:t>
            </a:r>
            <a:r>
              <a:rPr kumimoji="0" lang="en-US" altLang="en-US" sz="1800" b="1" i="0" u="none" strike="noStrike" cap="none" normalizeH="0" baseline="0" dirty="0">
                <a:ln>
                  <a:noFill/>
                </a:ln>
                <a:solidFill>
                  <a:schemeClr val="tx1"/>
                </a:solidFill>
                <a:effectLst/>
                <a:latin typeface="+mj-lt"/>
              </a:rPr>
              <a:t>offload (send)</a:t>
            </a:r>
            <a:r>
              <a:rPr kumimoji="0" lang="en-US" altLang="en-US" sz="1800" b="0" i="0" u="none" strike="noStrike" cap="none" normalizeH="0" baseline="0" dirty="0">
                <a:ln>
                  <a:noFill/>
                </a:ln>
                <a:solidFill>
                  <a:schemeClr val="tx1"/>
                </a:solidFill>
                <a:effectLst/>
                <a:latin typeface="+mj-lt"/>
              </a:rPr>
              <a:t> some of its work to underloaded nodes.</a:t>
            </a:r>
          </a:p>
          <a:p>
            <a:pPr marL="0" marR="0" lvl="0" indent="0" algn="l" defTabSz="914400" rtl="0" eaLnBrk="0" fontAlgn="base" latinLnBrk="0" hangingPunct="0">
              <a:lnSpc>
                <a:spcPct val="100000"/>
              </a:lnSpc>
              <a:spcBef>
                <a:spcPct val="0"/>
              </a:spcBef>
              <a:spcAft>
                <a:spcPct val="0"/>
              </a:spcAft>
              <a:buClrTx/>
              <a:buSzTx/>
              <a:buFontTx/>
              <a:buNone/>
              <a:tabLst/>
            </a:pPr>
            <a:endParaRPr lang="en-US" sz="1800" dirty="0">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How It Works (Step-by-Step)</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mj-lt"/>
              </a:rPr>
              <a:t>Each node monitors its load (CPU usage, queue length, etc.).</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mj-lt"/>
              </a:rPr>
              <a:t>If a node’s load exceeds a </a:t>
            </a:r>
            <a:r>
              <a:rPr kumimoji="0" lang="en-US" altLang="en-US" sz="1800" b="1" i="0" u="none" strike="noStrike" cap="none" normalizeH="0" baseline="0" dirty="0">
                <a:ln>
                  <a:noFill/>
                </a:ln>
                <a:solidFill>
                  <a:schemeClr val="tx1"/>
                </a:solidFill>
                <a:effectLst/>
                <a:latin typeface="+mj-lt"/>
              </a:rPr>
              <a:t>threshold</a:t>
            </a:r>
            <a:r>
              <a:rPr kumimoji="0" lang="en-US" altLang="en-US" sz="1800" b="0" i="0" u="none" strike="noStrike" cap="none" normalizeH="0" baseline="0" dirty="0">
                <a:ln>
                  <a:noFill/>
                </a:ln>
                <a:solidFill>
                  <a:schemeClr val="tx1"/>
                </a:solidFill>
                <a:effectLst/>
                <a:latin typeface="+mj-lt"/>
              </a:rPr>
              <a:t>, it becomes a </a:t>
            </a:r>
            <a:r>
              <a:rPr kumimoji="0" lang="en-US" altLang="en-US" sz="1800" b="1" i="0" u="none" strike="noStrike" cap="none" normalizeH="0" baseline="0" dirty="0">
                <a:ln>
                  <a:noFill/>
                </a:ln>
                <a:solidFill>
                  <a:schemeClr val="tx1"/>
                </a:solidFill>
                <a:effectLst/>
                <a:latin typeface="+mj-lt"/>
              </a:rPr>
              <a:t>sender</a:t>
            </a:r>
            <a:r>
              <a:rPr kumimoji="0" lang="en-US" altLang="en-US" sz="18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mj-lt"/>
              </a:rPr>
              <a:t>The sender searches for a </a:t>
            </a:r>
            <a:r>
              <a:rPr kumimoji="0" lang="en-US" altLang="en-US" sz="1800" b="1" i="0" u="none" strike="noStrike" cap="none" normalizeH="0" baseline="0" dirty="0">
                <a:ln>
                  <a:noFill/>
                </a:ln>
                <a:solidFill>
                  <a:schemeClr val="tx1"/>
                </a:solidFill>
                <a:effectLst/>
                <a:latin typeface="+mj-lt"/>
              </a:rPr>
              <a:t>receiver</a:t>
            </a:r>
            <a:r>
              <a:rPr kumimoji="0" lang="en-US" altLang="en-US" sz="1800" b="0" i="0" u="none" strike="noStrike" cap="none" normalizeH="0" baseline="0" dirty="0">
                <a:ln>
                  <a:noFill/>
                </a:ln>
                <a:solidFill>
                  <a:schemeClr val="tx1"/>
                </a:solidFill>
                <a:effectLst/>
                <a:latin typeface="+mj-lt"/>
              </a:rPr>
              <a:t> (a lightly loaded node).</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mj-lt"/>
              </a:rPr>
              <a:t>It transfers one or more tasks to the receiver.</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a:ln>
                  <a:noFill/>
                </a:ln>
                <a:solidFill>
                  <a:schemeClr val="tx1"/>
                </a:solidFill>
                <a:effectLst/>
                <a:latin typeface="+mj-lt"/>
              </a:rPr>
              <a:t>Both update their load status.</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j-lt"/>
              </a:rPr>
              <a:t>Let’s say: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Node A = overloaded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Node B, C = underloaded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Process:</a:t>
            </a: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800" dirty="0">
                <a:solidFill>
                  <a:schemeClr val="accent1">
                    <a:lumMod val="75000"/>
                  </a:schemeClr>
                </a:solidFill>
                <a:latin typeface="Arial" panose="020B0604020202020204" pitchFamily="34" charset="0"/>
              </a:rPr>
              <a:t>Node A (sender) → sends task → Node B (receiver)</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latin typeface="Arial" panose="020B0604020202020204" pitchFamily="34" charset="0"/>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3235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546265" y="178130"/>
            <a:ext cx="11044052" cy="6649992"/>
          </a:xfrm>
        </p:spPr>
        <p:txBody>
          <a:bodyPr>
            <a:normAutofit/>
          </a:bodyPr>
          <a:lstStyle/>
          <a:p>
            <a:pPr marL="0" indent="0">
              <a:buNone/>
            </a:pPr>
            <a:r>
              <a:rPr lang="en-IN" sz="2000" b="1" dirty="0">
                <a:solidFill>
                  <a:schemeClr val="accent1">
                    <a:lumMod val="75000"/>
                  </a:schemeClr>
                </a:solidFill>
              </a:rPr>
              <a:t>Types of Load Balancing:  </a:t>
            </a:r>
            <a:r>
              <a:rPr lang="en-US" sz="2000" b="1" dirty="0">
                <a:solidFill>
                  <a:schemeClr val="accent1">
                    <a:lumMod val="75000"/>
                  </a:schemeClr>
                </a:solidFill>
                <a:latin typeface="+mj-lt"/>
              </a:rPr>
              <a:t>Dynamic</a:t>
            </a:r>
            <a:r>
              <a:rPr kumimoji="0" lang="en-US" altLang="en-US" sz="2000" b="1" i="0" strike="noStrike" cap="none" normalizeH="0" baseline="0" dirty="0">
                <a:ln>
                  <a:noFill/>
                </a:ln>
                <a:solidFill>
                  <a:schemeClr val="accent1">
                    <a:lumMod val="75000"/>
                  </a:schemeClr>
                </a:solidFill>
                <a:effectLst/>
                <a:latin typeface="+mj-lt"/>
              </a:rPr>
              <a:t> Load Balancing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accent1">
                  <a:lumMod val="75000"/>
                </a:schemeClr>
              </a:solidFill>
              <a:effectLst/>
              <a:latin typeface="Arial" panose="020B0604020202020204" pitchFamily="34" charset="0"/>
            </a:endParaRPr>
          </a:p>
          <a:p>
            <a:pPr marL="0" indent="0">
              <a:buNone/>
            </a:pPr>
            <a:r>
              <a:rPr lang="en-US" sz="1800" b="1" dirty="0">
                <a:solidFill>
                  <a:schemeClr val="accent6">
                    <a:lumMod val="75000"/>
                  </a:schemeClr>
                </a:solidFill>
                <a:latin typeface="+mj-lt"/>
              </a:rPr>
              <a:t>Receiver-Initiated Approach</a:t>
            </a:r>
          </a:p>
          <a:p>
            <a:pPr marL="0" indent="0">
              <a:buNone/>
            </a:pPr>
            <a:r>
              <a:rPr lang="en-US" sz="1800" b="1" dirty="0">
                <a:latin typeface="+mj-lt"/>
              </a:rPr>
              <a:t>Definition</a:t>
            </a:r>
          </a:p>
          <a:p>
            <a:r>
              <a:rPr lang="en-US" sz="1800" dirty="0">
                <a:latin typeface="+mj-lt"/>
              </a:rPr>
              <a:t>In this approach, the </a:t>
            </a:r>
            <a:r>
              <a:rPr lang="en-US" sz="1800" b="1" dirty="0">
                <a:latin typeface="+mj-lt"/>
              </a:rPr>
              <a:t>underloaded (idle) nodes initiate</a:t>
            </a:r>
            <a:r>
              <a:rPr lang="en-US" sz="1800" dirty="0">
                <a:latin typeface="+mj-lt"/>
              </a:rPr>
              <a:t> the load balancing.</a:t>
            </a:r>
            <a:br>
              <a:rPr lang="en-US" sz="1800" dirty="0">
                <a:latin typeface="+mj-lt"/>
              </a:rPr>
            </a:br>
            <a:r>
              <a:rPr lang="en-US" sz="1800" dirty="0">
                <a:latin typeface="+mj-lt"/>
              </a:rPr>
              <a:t>When a node detects that it is </a:t>
            </a:r>
            <a:r>
              <a:rPr lang="en-US" sz="1800" b="1" dirty="0">
                <a:latin typeface="+mj-lt"/>
              </a:rPr>
              <a:t>idle or lightly loaded</a:t>
            </a:r>
            <a:r>
              <a:rPr lang="en-US" sz="1800" dirty="0">
                <a:latin typeface="+mj-lt"/>
              </a:rPr>
              <a:t>, it requests tasks from overloaded nodes.</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latin typeface="+mj-lt"/>
            </a:endParaRPr>
          </a:p>
          <a:p>
            <a:pPr marL="0" indent="0">
              <a:buNone/>
            </a:pPr>
            <a:r>
              <a:rPr lang="en-US" sz="1800" b="1" dirty="0"/>
              <a:t>How It Works (Step-by-Step)</a:t>
            </a:r>
          </a:p>
          <a:p>
            <a:pPr>
              <a:buFont typeface="+mj-lt"/>
              <a:buAutoNum type="arabicPeriod"/>
            </a:pPr>
            <a:r>
              <a:rPr lang="en-US" sz="1800" dirty="0"/>
              <a:t>Each node monitors its current load.</a:t>
            </a:r>
          </a:p>
          <a:p>
            <a:pPr>
              <a:buFont typeface="+mj-lt"/>
              <a:buAutoNum type="arabicPeriod"/>
            </a:pPr>
            <a:r>
              <a:rPr lang="en-US" sz="1800" dirty="0"/>
              <a:t>If a node’s load is </a:t>
            </a:r>
            <a:r>
              <a:rPr lang="en-US" sz="1800" b="1" dirty="0"/>
              <a:t>below a threshold</a:t>
            </a:r>
            <a:r>
              <a:rPr lang="en-US" sz="1800" dirty="0"/>
              <a:t>, it becomes a </a:t>
            </a:r>
            <a:r>
              <a:rPr lang="en-US" sz="1800" b="1" dirty="0"/>
              <a:t>receiver</a:t>
            </a:r>
            <a:r>
              <a:rPr lang="en-US" sz="1800" dirty="0"/>
              <a:t>.</a:t>
            </a:r>
          </a:p>
          <a:p>
            <a:pPr>
              <a:buFont typeface="+mj-lt"/>
              <a:buAutoNum type="arabicPeriod"/>
            </a:pPr>
            <a:r>
              <a:rPr lang="en-US" sz="1800" dirty="0"/>
              <a:t>It searches for </a:t>
            </a:r>
            <a:r>
              <a:rPr lang="en-US" sz="1800" b="1" dirty="0"/>
              <a:t>sender nodes</a:t>
            </a:r>
            <a:r>
              <a:rPr lang="en-US" sz="1800" dirty="0"/>
              <a:t> (overloaded ones).</a:t>
            </a:r>
          </a:p>
          <a:p>
            <a:pPr>
              <a:buFont typeface="+mj-lt"/>
              <a:buAutoNum type="arabicPeriod"/>
            </a:pPr>
            <a:r>
              <a:rPr lang="en-US" sz="1800" dirty="0"/>
              <a:t>Once found, it requests and receives one or more tasks.</a:t>
            </a:r>
          </a:p>
          <a:p>
            <a:pPr>
              <a:buFont typeface="+mj-lt"/>
              <a:buAutoNum type="arabicPeriod"/>
            </a:pPr>
            <a:r>
              <a:rPr lang="en-US" sz="1800" dirty="0"/>
              <a:t>Both nodes update their load status.</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latin typeface="+mj-lt"/>
            </a:endParaRPr>
          </a:p>
          <a:p>
            <a:pPr marL="0" indent="0">
              <a:buNone/>
            </a:pPr>
            <a:r>
              <a:rPr lang="en-US" sz="1800" b="1" dirty="0">
                <a:latin typeface="+mj-lt"/>
              </a:rPr>
              <a:t>Example</a:t>
            </a:r>
          </a:p>
          <a:p>
            <a:r>
              <a:rPr lang="en-US" sz="1800" dirty="0">
                <a:latin typeface="+mj-lt"/>
              </a:rPr>
              <a:t>Let’s say:</a:t>
            </a:r>
          </a:p>
          <a:p>
            <a:pPr>
              <a:buFont typeface="Arial" panose="020B0604020202020204" pitchFamily="34" charset="0"/>
              <a:buChar char="•"/>
            </a:pPr>
            <a:r>
              <a:rPr lang="en-US" sz="1800" dirty="0">
                <a:latin typeface="+mj-lt"/>
              </a:rPr>
              <a:t>Node A = overloaded</a:t>
            </a:r>
          </a:p>
          <a:p>
            <a:pPr>
              <a:buFont typeface="Arial" panose="020B0604020202020204" pitchFamily="34" charset="0"/>
              <a:buChar char="•"/>
            </a:pPr>
            <a:r>
              <a:rPr lang="en-US" sz="1800" dirty="0">
                <a:latin typeface="+mj-lt"/>
              </a:rPr>
              <a:t>Node B = idle</a:t>
            </a:r>
          </a:p>
          <a:p>
            <a:pPr marL="0" marR="0" lvl="0" indent="0" algn="l" defTabSz="914400" rtl="0" eaLnBrk="0" fontAlgn="base" latinLnBrk="0" hangingPunct="0">
              <a:lnSpc>
                <a:spcPct val="100000"/>
              </a:lnSpc>
              <a:spcBef>
                <a:spcPct val="0"/>
              </a:spcBef>
              <a:spcAft>
                <a:spcPct val="0"/>
              </a:spcAft>
              <a:buClrTx/>
              <a:buSzTx/>
              <a:buFontTx/>
              <a:buNone/>
              <a:tabLst/>
            </a:pPr>
            <a:r>
              <a:rPr lang="en-US" sz="1800" dirty="0">
                <a:solidFill>
                  <a:schemeClr val="accent1">
                    <a:lumMod val="75000"/>
                  </a:schemeClr>
                </a:solidFill>
                <a:latin typeface="+mj-lt"/>
              </a:rPr>
              <a:t>Node B (receiver) → requests task → Node A (sender)</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latin typeface="Arial" panose="020B0604020202020204" pitchFamily="34" charset="0"/>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809189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546265" y="178130"/>
            <a:ext cx="11044052" cy="6649992"/>
          </a:xfrm>
        </p:spPr>
        <p:txBody>
          <a:bodyPr>
            <a:normAutofit lnSpcReduction="10000"/>
          </a:bodyPr>
          <a:lstStyle/>
          <a:p>
            <a:pPr marL="0" indent="0">
              <a:buNone/>
            </a:pPr>
            <a:r>
              <a:rPr lang="en-IN" sz="2000" b="1" dirty="0">
                <a:solidFill>
                  <a:schemeClr val="accent1">
                    <a:lumMod val="75000"/>
                  </a:schemeClr>
                </a:solidFill>
              </a:rPr>
              <a:t>Types of Load Balancing:  </a:t>
            </a:r>
            <a:r>
              <a:rPr lang="en-US" sz="2000" b="1" dirty="0">
                <a:solidFill>
                  <a:schemeClr val="accent1">
                    <a:lumMod val="75000"/>
                  </a:schemeClr>
                </a:solidFill>
                <a:latin typeface="+mj-lt"/>
              </a:rPr>
              <a:t>Dynamic</a:t>
            </a:r>
            <a:r>
              <a:rPr kumimoji="0" lang="en-US" altLang="en-US" sz="2000" b="1" i="0" strike="noStrike" cap="none" normalizeH="0" baseline="0" dirty="0">
                <a:ln>
                  <a:noFill/>
                </a:ln>
                <a:solidFill>
                  <a:schemeClr val="accent1">
                    <a:lumMod val="75000"/>
                  </a:schemeClr>
                </a:solidFill>
                <a:effectLst/>
                <a:latin typeface="+mj-lt"/>
              </a:rPr>
              <a:t> Load Balancing</a:t>
            </a:r>
          </a:p>
          <a:p>
            <a:pPr marL="0" indent="0">
              <a:buNone/>
            </a:pPr>
            <a:r>
              <a:rPr lang="en-US" sz="1800" b="1" dirty="0">
                <a:solidFill>
                  <a:schemeClr val="accent6">
                    <a:lumMod val="75000"/>
                  </a:schemeClr>
                </a:solidFill>
              </a:rPr>
              <a:t>Symmetric (Hybrid) Approach</a:t>
            </a:r>
          </a:p>
          <a:p>
            <a:pPr marL="0" indent="0">
              <a:buNone/>
            </a:pPr>
            <a:r>
              <a:rPr lang="en-US" sz="1800" b="1" dirty="0"/>
              <a:t>Definition</a:t>
            </a:r>
          </a:p>
          <a:p>
            <a:r>
              <a:rPr lang="en-US" sz="1800" dirty="0"/>
              <a:t>The </a:t>
            </a:r>
            <a:r>
              <a:rPr lang="en-US" sz="1800" b="1" dirty="0"/>
              <a:t>symmetric or hybrid approach</a:t>
            </a:r>
            <a:r>
              <a:rPr lang="en-US" sz="1800" dirty="0"/>
              <a:t> combines </a:t>
            </a:r>
            <a:r>
              <a:rPr lang="en-US" sz="1800" b="1" dirty="0"/>
              <a:t>sender-initiated</a:t>
            </a:r>
            <a:r>
              <a:rPr lang="en-US" sz="1800" dirty="0"/>
              <a:t> and </a:t>
            </a:r>
            <a:r>
              <a:rPr lang="en-US" sz="1800" b="1" dirty="0"/>
              <a:t>receiver-initiated</a:t>
            </a:r>
            <a:r>
              <a:rPr lang="en-US" sz="1800" dirty="0"/>
              <a:t> strategies.</a:t>
            </a:r>
            <a:br>
              <a:rPr lang="en-US" sz="1800" dirty="0"/>
            </a:br>
            <a:r>
              <a:rPr lang="en-US" sz="1800" dirty="0"/>
              <a:t>Both </a:t>
            </a:r>
            <a:r>
              <a:rPr lang="en-US" sz="1800" b="1" dirty="0"/>
              <a:t>overloaded nodes</a:t>
            </a:r>
            <a:r>
              <a:rPr lang="en-US" sz="1800" dirty="0"/>
              <a:t> and </a:t>
            </a:r>
            <a:r>
              <a:rPr lang="en-US" sz="1800" b="1" dirty="0"/>
              <a:t>underloaded nodes</a:t>
            </a:r>
            <a:r>
              <a:rPr lang="en-US" sz="1800" dirty="0"/>
              <a:t> can initiate load balancing depending on their status.</a:t>
            </a:r>
          </a:p>
          <a:p>
            <a:endParaRPr lang="en-US" sz="1800" b="1" dirty="0"/>
          </a:p>
          <a:p>
            <a:r>
              <a:rPr lang="en-US" sz="1800" b="1" dirty="0"/>
              <a:t>How It Works (Step-by-Step)</a:t>
            </a:r>
          </a:p>
          <a:p>
            <a:pPr>
              <a:buFont typeface="+mj-lt"/>
              <a:buAutoNum type="arabicPeriod"/>
            </a:pPr>
            <a:r>
              <a:rPr lang="en-US" sz="1800" dirty="0"/>
              <a:t>Every node continuously monitors its load.</a:t>
            </a:r>
          </a:p>
          <a:p>
            <a:pPr>
              <a:buFont typeface="+mj-lt"/>
              <a:buAutoNum type="arabicPeriod"/>
            </a:pPr>
            <a:r>
              <a:rPr lang="en-US" sz="1800" dirty="0"/>
              <a:t>If a node is </a:t>
            </a:r>
            <a:r>
              <a:rPr lang="en-US" sz="1800" b="1" dirty="0"/>
              <a:t>overloaded</a:t>
            </a:r>
            <a:r>
              <a:rPr lang="en-US" sz="1800" dirty="0"/>
              <a:t>, it acts as a </a:t>
            </a:r>
            <a:r>
              <a:rPr lang="en-US" sz="1800" b="1" dirty="0"/>
              <a:t>sender</a:t>
            </a:r>
            <a:r>
              <a:rPr lang="en-US" sz="1800" dirty="0"/>
              <a:t> and looks for receivers.</a:t>
            </a:r>
          </a:p>
          <a:p>
            <a:pPr>
              <a:buFont typeface="+mj-lt"/>
              <a:buAutoNum type="arabicPeriod"/>
            </a:pPr>
            <a:r>
              <a:rPr lang="en-US" sz="1800" dirty="0"/>
              <a:t>If a node is </a:t>
            </a:r>
            <a:r>
              <a:rPr lang="en-US" sz="1800" b="1" dirty="0"/>
              <a:t>underloaded</a:t>
            </a:r>
            <a:r>
              <a:rPr lang="en-US" sz="1800" dirty="0"/>
              <a:t>, it acts as a </a:t>
            </a:r>
            <a:r>
              <a:rPr lang="en-US" sz="1800" b="1" dirty="0"/>
              <a:t>receiver</a:t>
            </a:r>
            <a:r>
              <a:rPr lang="en-US" sz="1800" dirty="0"/>
              <a:t> and looks for senders.</a:t>
            </a:r>
          </a:p>
          <a:p>
            <a:pPr>
              <a:buFont typeface="+mj-lt"/>
              <a:buAutoNum type="arabicPeriod"/>
            </a:pPr>
            <a:r>
              <a:rPr lang="en-US" sz="1800" dirty="0"/>
              <a:t>Task transfer occurs when both agree (handshake).</a:t>
            </a:r>
          </a:p>
          <a:p>
            <a:pPr>
              <a:buFont typeface="+mj-lt"/>
              <a:buAutoNum type="arabicPeriod"/>
            </a:pPr>
            <a:r>
              <a:rPr lang="en-US" sz="1800" dirty="0"/>
              <a:t>This dual initiation keeps load balanced efficiently.</a:t>
            </a:r>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p>
          <a:p>
            <a:pPr marL="0" marR="0" lvl="0" indent="0" algn="l" defTabSz="914400" rtl="0" eaLnBrk="0" fontAlgn="base" latinLnBrk="0" hangingPunct="0">
              <a:lnSpc>
                <a:spcPct val="100000"/>
              </a:lnSpc>
              <a:spcBef>
                <a:spcPct val="0"/>
              </a:spcBef>
              <a:spcAft>
                <a:spcPct val="0"/>
              </a:spcAft>
              <a:buClrTx/>
              <a:buSzTx/>
              <a:buFontTx/>
              <a:buNone/>
              <a:tabLst/>
            </a:pPr>
            <a:r>
              <a:rPr lang="en-IN" sz="1600" b="1" dirty="0"/>
              <a:t>Example</a:t>
            </a:r>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p>
          <a:p>
            <a:pPr marL="0" marR="0" lvl="0" indent="0" algn="l" defTabSz="914400" rtl="0" eaLnBrk="0" fontAlgn="base" latinLnBrk="0" hangingPunct="0">
              <a:lnSpc>
                <a:spcPct val="100000"/>
              </a:lnSpc>
              <a:spcBef>
                <a:spcPct val="0"/>
              </a:spcBef>
              <a:spcAft>
                <a:spcPct val="0"/>
              </a:spcAft>
              <a:buClrTx/>
              <a:buSzTx/>
              <a:buFontTx/>
              <a:buNone/>
              <a:tabLst/>
            </a:pPr>
            <a:endParaRPr lang="en-IN" sz="2000" b="1" dirty="0"/>
          </a:p>
          <a:p>
            <a:pPr marL="0" marR="0" lvl="0" indent="0" algn="l" defTabSz="914400" rtl="0" eaLnBrk="0" fontAlgn="base" latinLnBrk="0" hangingPunct="0">
              <a:lnSpc>
                <a:spcPct val="100000"/>
              </a:lnSpc>
              <a:spcBef>
                <a:spcPct val="0"/>
              </a:spcBef>
              <a:spcAft>
                <a:spcPct val="0"/>
              </a:spcAft>
              <a:buClrTx/>
              <a:buSzTx/>
              <a:buFontTx/>
              <a:buNone/>
              <a:tabLst/>
            </a:pPr>
            <a:r>
              <a:rPr lang="pt-BR" sz="2000" b="1" dirty="0">
                <a:solidFill>
                  <a:schemeClr val="accent5">
                    <a:lumMod val="75000"/>
                  </a:schemeClr>
                </a:solidFill>
              </a:rPr>
              <a:t>Node A (sender) ↔ Node C (receiver)</a:t>
            </a:r>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p>
          <a:p>
            <a:pPr marL="0" marR="0" lvl="0" indent="0" algn="l" defTabSz="914400" rtl="0" eaLnBrk="0" fontAlgn="base" latinLnBrk="0" hangingPunct="0">
              <a:lnSpc>
                <a:spcPct val="100000"/>
              </a:lnSpc>
              <a:spcBef>
                <a:spcPct val="0"/>
              </a:spcBef>
              <a:spcAft>
                <a:spcPct val="0"/>
              </a:spcAft>
              <a:buClrTx/>
              <a:buSzTx/>
              <a:buFontTx/>
              <a:buNone/>
              <a:tabLst/>
            </a:pPr>
            <a:endParaRPr lang="en-IN" sz="1200" b="1" dirty="0">
              <a:solidFill>
                <a:schemeClr val="accent1">
                  <a:lumMod val="75000"/>
                </a:schemeClr>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latin typeface="Arial" panose="020B0604020202020204" pitchFamily="34" charset="0"/>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Table 5">
            <a:extLst>
              <a:ext uri="{FF2B5EF4-FFF2-40B4-BE49-F238E27FC236}">
                <a16:creationId xmlns:a16="http://schemas.microsoft.com/office/drawing/2014/main" id="{8D8A0451-3BFE-9269-959D-4FA93C188ED0}"/>
              </a:ext>
            </a:extLst>
          </p:cNvPr>
          <p:cNvGraphicFramePr>
            <a:graphicFrameLocks noGrp="1"/>
          </p:cNvGraphicFramePr>
          <p:nvPr>
            <p:extLst>
              <p:ext uri="{D42A27DB-BD31-4B8C-83A1-F6EECF244321}">
                <p14:modId xmlns:p14="http://schemas.microsoft.com/office/powerpoint/2010/main" val="3814357554"/>
              </p:ext>
            </p:extLst>
          </p:nvPr>
        </p:nvGraphicFramePr>
        <p:xfrm>
          <a:off x="763979" y="4649476"/>
          <a:ext cx="10515600" cy="1463040"/>
        </p:xfrm>
        <a:graphic>
          <a:graphicData uri="http://schemas.openxmlformats.org/drawingml/2006/table">
            <a:tbl>
              <a:tblPr/>
              <a:tblGrid>
                <a:gridCol w="3505200">
                  <a:extLst>
                    <a:ext uri="{9D8B030D-6E8A-4147-A177-3AD203B41FA5}">
                      <a16:colId xmlns:a16="http://schemas.microsoft.com/office/drawing/2014/main" val="2431067310"/>
                    </a:ext>
                  </a:extLst>
                </a:gridCol>
                <a:gridCol w="3505200">
                  <a:extLst>
                    <a:ext uri="{9D8B030D-6E8A-4147-A177-3AD203B41FA5}">
                      <a16:colId xmlns:a16="http://schemas.microsoft.com/office/drawing/2014/main" val="3210925549"/>
                    </a:ext>
                  </a:extLst>
                </a:gridCol>
                <a:gridCol w="3505200">
                  <a:extLst>
                    <a:ext uri="{9D8B030D-6E8A-4147-A177-3AD203B41FA5}">
                      <a16:colId xmlns:a16="http://schemas.microsoft.com/office/drawing/2014/main" val="495663966"/>
                    </a:ext>
                  </a:extLst>
                </a:gridCol>
              </a:tblGrid>
              <a:tr h="0">
                <a:tc>
                  <a:txBody>
                    <a:bodyPr/>
                    <a:lstStyle/>
                    <a:p>
                      <a:r>
                        <a:rPr lang="en-IN" dirty="0"/>
                        <a:t>Node</a:t>
                      </a:r>
                    </a:p>
                  </a:txBody>
                  <a:tcPr anchor="ctr">
                    <a:lnL>
                      <a:noFill/>
                    </a:lnL>
                    <a:lnR>
                      <a:noFill/>
                    </a:lnR>
                    <a:lnT>
                      <a:noFill/>
                    </a:lnT>
                    <a:lnB>
                      <a:noFill/>
                    </a:lnB>
                    <a:solidFill>
                      <a:schemeClr val="accent5">
                        <a:lumMod val="20000"/>
                        <a:lumOff val="80000"/>
                      </a:schemeClr>
                    </a:solidFill>
                  </a:tcPr>
                </a:tc>
                <a:tc>
                  <a:txBody>
                    <a:bodyPr/>
                    <a:lstStyle/>
                    <a:p>
                      <a:r>
                        <a:rPr lang="en-IN"/>
                        <a:t>Load Level</a:t>
                      </a:r>
                    </a:p>
                  </a:txBody>
                  <a:tcPr anchor="ctr">
                    <a:lnL>
                      <a:noFill/>
                    </a:lnL>
                    <a:lnR>
                      <a:noFill/>
                    </a:lnR>
                    <a:lnT>
                      <a:noFill/>
                    </a:lnT>
                    <a:lnB>
                      <a:noFill/>
                    </a:lnB>
                    <a:solidFill>
                      <a:schemeClr val="accent5">
                        <a:lumMod val="20000"/>
                        <a:lumOff val="80000"/>
                      </a:schemeClr>
                    </a:solidFill>
                  </a:tcPr>
                </a:tc>
                <a:tc>
                  <a:txBody>
                    <a:bodyPr/>
                    <a:lstStyle/>
                    <a:p>
                      <a:r>
                        <a:rPr lang="en-IN" dirty="0"/>
                        <a:t>Action</a:t>
                      </a:r>
                    </a:p>
                  </a:txBody>
                  <a:tcPr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3978974805"/>
                  </a:ext>
                </a:extLst>
              </a:tr>
              <a:tr h="0">
                <a:tc>
                  <a:txBody>
                    <a:bodyPr/>
                    <a:lstStyle/>
                    <a:p>
                      <a:r>
                        <a:rPr lang="en-IN" dirty="0"/>
                        <a:t>Node A</a:t>
                      </a:r>
                    </a:p>
                  </a:txBody>
                  <a:tcPr anchor="ctr">
                    <a:lnL>
                      <a:noFill/>
                    </a:lnL>
                    <a:lnR>
                      <a:noFill/>
                    </a:lnR>
                    <a:lnT>
                      <a:noFill/>
                    </a:lnT>
                    <a:lnB>
                      <a:noFill/>
                    </a:lnB>
                    <a:solidFill>
                      <a:schemeClr val="accent6">
                        <a:lumMod val="20000"/>
                        <a:lumOff val="80000"/>
                      </a:schemeClr>
                    </a:solidFill>
                  </a:tcPr>
                </a:tc>
                <a:tc>
                  <a:txBody>
                    <a:bodyPr/>
                    <a:lstStyle/>
                    <a:p>
                      <a:r>
                        <a:rPr lang="en-IN"/>
                        <a:t>High</a:t>
                      </a:r>
                    </a:p>
                  </a:txBody>
                  <a:tcPr anchor="ctr">
                    <a:lnL>
                      <a:noFill/>
                    </a:lnL>
                    <a:lnR>
                      <a:noFill/>
                    </a:lnR>
                    <a:lnT>
                      <a:noFill/>
                    </a:lnT>
                    <a:lnB>
                      <a:noFill/>
                    </a:lnB>
                    <a:solidFill>
                      <a:schemeClr val="accent6">
                        <a:lumMod val="20000"/>
                        <a:lumOff val="80000"/>
                      </a:schemeClr>
                    </a:solidFill>
                  </a:tcPr>
                </a:tc>
                <a:tc>
                  <a:txBody>
                    <a:bodyPr/>
                    <a:lstStyle/>
                    <a:p>
                      <a:r>
                        <a:rPr lang="en-IN" dirty="0"/>
                        <a:t>Acts as sender</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557730672"/>
                  </a:ext>
                </a:extLst>
              </a:tr>
              <a:tr h="0">
                <a:tc>
                  <a:txBody>
                    <a:bodyPr/>
                    <a:lstStyle/>
                    <a:p>
                      <a:r>
                        <a:rPr lang="en-IN"/>
                        <a:t>Node B</a:t>
                      </a:r>
                    </a:p>
                  </a:txBody>
                  <a:tcPr anchor="ctr">
                    <a:lnL>
                      <a:noFill/>
                    </a:lnL>
                    <a:lnR>
                      <a:noFill/>
                    </a:lnR>
                    <a:lnT>
                      <a:noFill/>
                    </a:lnT>
                    <a:lnB>
                      <a:noFill/>
                    </a:lnB>
                    <a:solidFill>
                      <a:schemeClr val="accent6">
                        <a:lumMod val="20000"/>
                        <a:lumOff val="80000"/>
                      </a:schemeClr>
                    </a:solidFill>
                  </a:tcPr>
                </a:tc>
                <a:tc>
                  <a:txBody>
                    <a:bodyPr/>
                    <a:lstStyle/>
                    <a:p>
                      <a:r>
                        <a:rPr lang="en-IN"/>
                        <a:t>Medium</a:t>
                      </a:r>
                    </a:p>
                  </a:txBody>
                  <a:tcPr anchor="ctr">
                    <a:lnL>
                      <a:noFill/>
                    </a:lnL>
                    <a:lnR>
                      <a:noFill/>
                    </a:lnR>
                    <a:lnT>
                      <a:noFill/>
                    </a:lnT>
                    <a:lnB>
                      <a:noFill/>
                    </a:lnB>
                    <a:solidFill>
                      <a:schemeClr val="accent6">
                        <a:lumMod val="20000"/>
                        <a:lumOff val="80000"/>
                      </a:schemeClr>
                    </a:solidFill>
                  </a:tcPr>
                </a:tc>
                <a:tc>
                  <a:txBody>
                    <a:bodyPr/>
                    <a:lstStyle/>
                    <a:p>
                      <a:r>
                        <a:rPr lang="en-IN"/>
                        <a:t>Idle (no action)</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972047289"/>
                  </a:ext>
                </a:extLst>
              </a:tr>
              <a:tr h="0">
                <a:tc>
                  <a:txBody>
                    <a:bodyPr/>
                    <a:lstStyle/>
                    <a:p>
                      <a:r>
                        <a:rPr lang="en-IN" dirty="0"/>
                        <a:t>Node C</a:t>
                      </a:r>
                    </a:p>
                  </a:txBody>
                  <a:tcPr anchor="ctr">
                    <a:lnL>
                      <a:noFill/>
                    </a:lnL>
                    <a:lnR>
                      <a:noFill/>
                    </a:lnR>
                    <a:lnT>
                      <a:noFill/>
                    </a:lnT>
                    <a:lnB>
                      <a:noFill/>
                    </a:lnB>
                    <a:solidFill>
                      <a:schemeClr val="accent6">
                        <a:lumMod val="20000"/>
                        <a:lumOff val="80000"/>
                      </a:schemeClr>
                    </a:solidFill>
                  </a:tcPr>
                </a:tc>
                <a:tc>
                  <a:txBody>
                    <a:bodyPr/>
                    <a:lstStyle/>
                    <a:p>
                      <a:r>
                        <a:rPr lang="en-IN"/>
                        <a:t>Low</a:t>
                      </a:r>
                    </a:p>
                  </a:txBody>
                  <a:tcPr anchor="ctr">
                    <a:lnL>
                      <a:noFill/>
                    </a:lnL>
                    <a:lnR>
                      <a:noFill/>
                    </a:lnR>
                    <a:lnT>
                      <a:noFill/>
                    </a:lnT>
                    <a:lnB>
                      <a:noFill/>
                    </a:lnB>
                    <a:solidFill>
                      <a:schemeClr val="accent6">
                        <a:lumMod val="20000"/>
                        <a:lumOff val="80000"/>
                      </a:schemeClr>
                    </a:solidFill>
                  </a:tcPr>
                </a:tc>
                <a:tc>
                  <a:txBody>
                    <a:bodyPr/>
                    <a:lstStyle/>
                    <a:p>
                      <a:r>
                        <a:rPr lang="en-IN" dirty="0"/>
                        <a:t>Acts as receiver</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988646722"/>
                  </a:ext>
                </a:extLst>
              </a:tr>
            </a:tbl>
          </a:graphicData>
        </a:graphic>
      </p:graphicFrame>
    </p:spTree>
    <p:extLst>
      <p:ext uri="{BB962C8B-B14F-4D97-AF65-F5344CB8AC3E}">
        <p14:creationId xmlns:p14="http://schemas.microsoft.com/office/powerpoint/2010/main" val="41281525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546265" y="178130"/>
            <a:ext cx="11044052" cy="6279077"/>
          </a:xfrm>
        </p:spPr>
        <p:txBody>
          <a:bodyPr>
            <a:normAutofit/>
          </a:bodyPr>
          <a:lstStyle/>
          <a:p>
            <a:pPr marL="0" indent="0">
              <a:buNone/>
            </a:pPr>
            <a:r>
              <a:rPr lang="en-IN" sz="2000" b="1" dirty="0">
                <a:solidFill>
                  <a:schemeClr val="accent1">
                    <a:lumMod val="75000"/>
                  </a:schemeClr>
                </a:solidFill>
              </a:rPr>
              <a:t>Types of Load Balancing:</a:t>
            </a:r>
          </a:p>
          <a:p>
            <a:pPr marL="0" indent="0">
              <a:buNone/>
            </a:pPr>
            <a:endParaRPr kumimoji="0" lang="en-US" altLang="en-US" sz="1800" b="1" i="0" u="sng" strike="noStrike" cap="none" normalizeH="0" baseline="0" dirty="0">
              <a:ln>
                <a:noFill/>
              </a:ln>
              <a:solidFill>
                <a:schemeClr val="accent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sng" strike="noStrike" cap="none" normalizeH="0" baseline="0" dirty="0">
                <a:ln>
                  <a:noFill/>
                </a:ln>
                <a:solidFill>
                  <a:schemeClr val="accent6">
                    <a:lumMod val="75000"/>
                  </a:schemeClr>
                </a:solidFill>
                <a:effectLst/>
                <a:latin typeface="Arial" panose="020B0604020202020204" pitchFamily="34" charset="0"/>
              </a:rPr>
              <a:t>Hierarchical Load Balancing (Hybrid Approach)</a:t>
            </a:r>
          </a:p>
          <a:p>
            <a:pPr marL="0" indent="0">
              <a:buNone/>
            </a:pPr>
            <a:r>
              <a:rPr lang="en-US" sz="1800" b="1" dirty="0"/>
              <a:t>Definition</a:t>
            </a:r>
          </a:p>
          <a:p>
            <a:r>
              <a:rPr lang="en-US" sz="1800" b="1" dirty="0"/>
              <a:t>Hierarchical Load Balancing</a:t>
            </a:r>
            <a:r>
              <a:rPr lang="en-US" sz="1800" dirty="0"/>
              <a:t> is an </a:t>
            </a:r>
            <a:r>
              <a:rPr lang="en-US" sz="1800" b="1" dirty="0"/>
              <a:t>advanced hybrid approach</a:t>
            </a:r>
            <a:r>
              <a:rPr lang="en-US" sz="1800" dirty="0"/>
              <a:t> used in large distributed systems where nodes are </a:t>
            </a:r>
            <a:r>
              <a:rPr lang="en-US" sz="1800" b="1" dirty="0"/>
              <a:t>organized in multiple levels (hierarchies)</a:t>
            </a:r>
            <a:r>
              <a:rPr lang="en-US" sz="1800" dirty="0"/>
              <a:t> — such as clusters, data centers, or regions — and </a:t>
            </a:r>
            <a:r>
              <a:rPr lang="en-US" sz="1800" b="1" dirty="0"/>
              <a:t>load balancing decisions are made at each level</a:t>
            </a:r>
            <a:r>
              <a:rPr lang="en-US" sz="1800" dirty="0"/>
              <a:t>.</a:t>
            </a:r>
          </a:p>
          <a:p>
            <a:pPr marL="0" indent="0">
              <a:buNone/>
            </a:pPr>
            <a:r>
              <a:rPr lang="en-US" sz="1800" dirty="0"/>
              <a:t>It combines the features of:</a:t>
            </a:r>
          </a:p>
          <a:p>
            <a:pPr>
              <a:buFont typeface="Arial" panose="020B0604020202020204" pitchFamily="34" charset="0"/>
              <a:buChar char="•"/>
            </a:pPr>
            <a:r>
              <a:rPr lang="en-US" sz="1800" b="1" dirty="0"/>
              <a:t>Centralized Load Balancing</a:t>
            </a:r>
            <a:r>
              <a:rPr lang="en-US" sz="1800" dirty="0"/>
              <a:t> (coordination at higher levels)</a:t>
            </a:r>
          </a:p>
          <a:p>
            <a:pPr>
              <a:buFont typeface="Arial" panose="020B0604020202020204" pitchFamily="34" charset="0"/>
              <a:buChar char="•"/>
            </a:pPr>
            <a:r>
              <a:rPr lang="en-US" sz="1800" b="1" dirty="0"/>
              <a:t>Distributed Load Balancing</a:t>
            </a:r>
            <a:r>
              <a:rPr lang="en-US" sz="1800" dirty="0"/>
              <a:t> (autonomy at lower levels)</a:t>
            </a:r>
          </a:p>
          <a:p>
            <a:r>
              <a:rPr lang="en-US" sz="1800" dirty="0"/>
              <a:t>Goal: Achieve </a:t>
            </a:r>
            <a:r>
              <a:rPr lang="en-US" sz="1800" b="1" dirty="0"/>
              <a:t>scalability, fault tolerance, and efficiency</a:t>
            </a:r>
            <a:r>
              <a:rPr lang="en-US" sz="1800" dirty="0"/>
              <a:t> in very large systems.</a:t>
            </a:r>
          </a:p>
          <a:p>
            <a:endParaRPr lang="en-US" sz="1800" dirty="0"/>
          </a:p>
          <a:p>
            <a:r>
              <a:rPr lang="en-US" sz="1800" dirty="0"/>
              <a:t>Instead of having one global scheduler for the entire network, the system is divided into </a:t>
            </a:r>
            <a:r>
              <a:rPr lang="en-US" sz="1800" b="1" dirty="0"/>
              <a:t>smaller groups (clusters)</a:t>
            </a:r>
            <a:r>
              <a:rPr lang="en-US" sz="1800" dirty="0"/>
              <a:t>.</a:t>
            </a:r>
          </a:p>
          <a:p>
            <a:r>
              <a:rPr lang="en-US" sz="1800" dirty="0"/>
              <a:t>Each group has its </a:t>
            </a:r>
            <a:r>
              <a:rPr lang="en-US" sz="1800" b="1" dirty="0"/>
              <a:t>own local load balancer</a:t>
            </a:r>
            <a:r>
              <a:rPr lang="en-US" sz="1800" dirty="0"/>
              <a:t>, and a </a:t>
            </a:r>
            <a:r>
              <a:rPr lang="en-US" sz="1800" b="1" dirty="0"/>
              <a:t>global coordinator</a:t>
            </a:r>
            <a:r>
              <a:rPr lang="en-US" sz="1800" dirty="0"/>
              <a:t> manages the groups.</a:t>
            </a:r>
          </a:p>
          <a:p>
            <a:endParaRPr lang="en-US" sz="18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23705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546265" y="178130"/>
            <a:ext cx="6852062" cy="6279077"/>
          </a:xfrm>
        </p:spPr>
        <p:txBody>
          <a:bodyPr>
            <a:normAutofit/>
          </a:bodyPr>
          <a:lstStyle/>
          <a:p>
            <a:pPr marL="0" indent="0">
              <a:buNone/>
            </a:pPr>
            <a:r>
              <a:rPr lang="en-IN" sz="2000" b="1" dirty="0">
                <a:solidFill>
                  <a:schemeClr val="accent1">
                    <a:lumMod val="75000"/>
                  </a:schemeClr>
                </a:solidFill>
              </a:rPr>
              <a:t>Types of Load Balancing:</a:t>
            </a:r>
            <a:endParaRPr kumimoji="0" lang="en-US" altLang="en-US" sz="1800" b="1" i="0" u="sng" strike="noStrike" cap="none" normalizeH="0" baseline="0" dirty="0">
              <a:ln>
                <a:noFill/>
              </a:ln>
              <a:solidFill>
                <a:schemeClr val="accent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sng" strike="noStrike" cap="none" normalizeH="0" baseline="0" dirty="0">
                <a:ln>
                  <a:noFill/>
                </a:ln>
                <a:solidFill>
                  <a:schemeClr val="accent1">
                    <a:lumMod val="75000"/>
                  </a:schemeClr>
                </a:solidFill>
                <a:effectLst/>
                <a:latin typeface="Arial" panose="020B0604020202020204" pitchFamily="34" charset="0"/>
              </a:rPr>
              <a:t>Hierarchical Load Balancing (Hybrid Approach)</a:t>
            </a:r>
          </a:p>
          <a:p>
            <a:pPr marL="0" indent="0">
              <a:buNone/>
            </a:pPr>
            <a:r>
              <a:rPr lang="en-US" sz="1800" b="1" dirty="0"/>
              <a:t>Architecture / Structure</a:t>
            </a:r>
          </a:p>
          <a:p>
            <a:r>
              <a:rPr lang="en-US" sz="1800" dirty="0"/>
              <a:t>Hierarchical load balancing is structured as </a:t>
            </a:r>
            <a:r>
              <a:rPr lang="en-US" sz="1800" b="1" dirty="0"/>
              <a:t>multiple levels of control</a:t>
            </a:r>
            <a:r>
              <a:rPr lang="en-US" sz="1800" dirty="0"/>
              <a:t>, such as:</a:t>
            </a:r>
          </a:p>
          <a:p>
            <a:r>
              <a:rPr lang="en-US" sz="1800" b="1" dirty="0"/>
              <a:t>🔸 </a:t>
            </a:r>
            <a:r>
              <a:rPr lang="en-US" sz="1800" b="1" dirty="0">
                <a:solidFill>
                  <a:schemeClr val="accent6">
                    <a:lumMod val="75000"/>
                  </a:schemeClr>
                </a:solidFill>
              </a:rPr>
              <a:t>Level 1 (Local Level)</a:t>
            </a:r>
          </a:p>
          <a:p>
            <a:pPr>
              <a:buFont typeface="Arial" panose="020B0604020202020204" pitchFamily="34" charset="0"/>
              <a:buChar char="•"/>
            </a:pPr>
            <a:r>
              <a:rPr lang="en-US" sz="1800" dirty="0"/>
              <a:t>Individual nodes or servers are managed by a </a:t>
            </a:r>
            <a:r>
              <a:rPr lang="en-US" sz="1800" b="1" dirty="0"/>
              <a:t>Local Scheduler</a:t>
            </a:r>
            <a:r>
              <a:rPr lang="en-US" sz="1800" dirty="0"/>
              <a:t> (or Local Load Balancer).</a:t>
            </a:r>
          </a:p>
          <a:p>
            <a:pPr>
              <a:buFont typeface="Arial" panose="020B0604020202020204" pitchFamily="34" charset="0"/>
              <a:buChar char="•"/>
            </a:pPr>
            <a:r>
              <a:rPr lang="en-US" sz="1800" dirty="0"/>
              <a:t>Each local scheduler balances load </a:t>
            </a:r>
            <a:r>
              <a:rPr lang="en-US" sz="1800" b="1" dirty="0"/>
              <a:t>within its own cluster</a:t>
            </a:r>
            <a:r>
              <a:rPr lang="en-US" sz="1800" dirty="0"/>
              <a:t>.</a:t>
            </a:r>
          </a:p>
          <a:p>
            <a:r>
              <a:rPr lang="en-US" sz="1800" b="1" dirty="0"/>
              <a:t>🔸 </a:t>
            </a:r>
            <a:r>
              <a:rPr lang="en-US" sz="1800" b="1" dirty="0">
                <a:solidFill>
                  <a:schemeClr val="accent6">
                    <a:lumMod val="75000"/>
                  </a:schemeClr>
                </a:solidFill>
              </a:rPr>
              <a:t>Level 2 (Regional / Cluster Level)</a:t>
            </a:r>
          </a:p>
          <a:p>
            <a:pPr>
              <a:buFont typeface="Arial" panose="020B0604020202020204" pitchFamily="34" charset="0"/>
              <a:buChar char="•"/>
            </a:pPr>
            <a:r>
              <a:rPr lang="en-US" sz="1800" dirty="0"/>
              <a:t>Each cluster has a </a:t>
            </a:r>
            <a:r>
              <a:rPr lang="en-US" sz="1800" b="1" dirty="0"/>
              <a:t>Cluster Manager</a:t>
            </a:r>
            <a:r>
              <a:rPr lang="en-US" sz="1800" dirty="0"/>
              <a:t> or </a:t>
            </a:r>
            <a:r>
              <a:rPr lang="en-US" sz="1800" b="1" dirty="0"/>
              <a:t>Regional Balancer</a:t>
            </a:r>
            <a:r>
              <a:rPr lang="en-US" sz="1800" dirty="0"/>
              <a:t>.</a:t>
            </a:r>
          </a:p>
          <a:p>
            <a:pPr>
              <a:buFont typeface="Arial" panose="020B0604020202020204" pitchFamily="34" charset="0"/>
              <a:buChar char="•"/>
            </a:pPr>
            <a:r>
              <a:rPr lang="en-US" sz="1800" dirty="0"/>
              <a:t>It monitors the load of all local schedulers in its cluster.</a:t>
            </a:r>
          </a:p>
          <a:p>
            <a:pPr>
              <a:buFont typeface="Arial" panose="020B0604020202020204" pitchFamily="34" charset="0"/>
              <a:buChar char="•"/>
            </a:pPr>
            <a:r>
              <a:rPr lang="en-US" sz="1800" dirty="0"/>
              <a:t>It can transfer tasks between local nodes within the same cluster.</a:t>
            </a:r>
          </a:p>
          <a:p>
            <a:r>
              <a:rPr lang="en-US" sz="1800" b="1" dirty="0"/>
              <a:t>🔸 </a:t>
            </a:r>
            <a:r>
              <a:rPr lang="en-US" sz="1800" b="1" dirty="0">
                <a:solidFill>
                  <a:schemeClr val="accent6">
                    <a:lumMod val="75000"/>
                  </a:schemeClr>
                </a:solidFill>
              </a:rPr>
              <a:t>Level 3 (Global Level)</a:t>
            </a:r>
          </a:p>
          <a:p>
            <a:pPr>
              <a:buFont typeface="Arial" panose="020B0604020202020204" pitchFamily="34" charset="0"/>
              <a:buChar char="•"/>
            </a:pPr>
            <a:r>
              <a:rPr lang="en-US" sz="1800" dirty="0"/>
              <a:t>A </a:t>
            </a:r>
            <a:r>
              <a:rPr lang="en-US" sz="1800" b="1" dirty="0"/>
              <a:t>Global Scheduler</a:t>
            </a:r>
            <a:r>
              <a:rPr lang="en-US" sz="1800" dirty="0"/>
              <a:t> (or Root Balancer) oversees multiple clusters.</a:t>
            </a:r>
          </a:p>
          <a:p>
            <a:pPr>
              <a:buFont typeface="Arial" panose="020B0604020202020204" pitchFamily="34" charset="0"/>
              <a:buChar char="•"/>
            </a:pPr>
            <a:r>
              <a:rPr lang="en-US" sz="1800" dirty="0"/>
              <a:t>It redistributes load </a:t>
            </a:r>
            <a:r>
              <a:rPr lang="en-US" sz="1800" b="1" dirty="0"/>
              <a:t>between clusters</a:t>
            </a:r>
            <a:r>
              <a:rPr lang="en-US" sz="1800" dirty="0"/>
              <a:t> when one cluster becomes overloaded.</a:t>
            </a:r>
          </a:p>
          <a:p>
            <a:endParaRPr lang="en-US" sz="18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19680B16-9C5B-046B-1D23-25E9AA861A1D}"/>
              </a:ext>
            </a:extLst>
          </p:cNvPr>
          <p:cNvSpPr txBox="1"/>
          <p:nvPr/>
        </p:nvSpPr>
        <p:spPr>
          <a:xfrm>
            <a:off x="7668114" y="2644688"/>
            <a:ext cx="4523886" cy="1754326"/>
          </a:xfrm>
          <a:prstGeom prst="rect">
            <a:avLst/>
          </a:prstGeom>
          <a:noFill/>
        </p:spPr>
        <p:txBody>
          <a:bodyPr wrap="square">
            <a:spAutoFit/>
          </a:bodyPr>
          <a:lstStyle/>
          <a:p>
            <a:r>
              <a:rPr lang="en-IN" dirty="0"/>
              <a:t>                   [ Global Scheduler ]</a:t>
            </a:r>
          </a:p>
          <a:p>
            <a:r>
              <a:rPr lang="en-IN" dirty="0"/>
              <a:t>                                    │</a:t>
            </a:r>
          </a:p>
          <a:p>
            <a:r>
              <a:rPr lang="en-IN" dirty="0"/>
              <a:t>     ┌─────────────┼─────────────┐</a:t>
            </a:r>
          </a:p>
          <a:p>
            <a:r>
              <a:rPr lang="en-IN" dirty="0"/>
              <a:t> [Cluster A]       [Cluster B]             [Cluster C]</a:t>
            </a:r>
          </a:p>
          <a:p>
            <a:r>
              <a:rPr lang="en-IN" dirty="0"/>
              <a:t>     │                             │                      │</a:t>
            </a:r>
          </a:p>
          <a:p>
            <a:r>
              <a:rPr lang="en-IN" dirty="0"/>
              <a:t> [Nodes A1,A2]  [Nodes B1,B2]  [Nodes c1 c2]</a:t>
            </a:r>
          </a:p>
        </p:txBody>
      </p:sp>
    </p:spTree>
    <p:extLst>
      <p:ext uri="{BB962C8B-B14F-4D97-AF65-F5344CB8AC3E}">
        <p14:creationId xmlns:p14="http://schemas.microsoft.com/office/powerpoint/2010/main" val="3203876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6"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27"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41CA04-97D4-A6A1-14C0-643B31C576E9}"/>
              </a:ext>
            </a:extLst>
          </p:cNvPr>
          <p:cNvSpPr>
            <a:spLocks noGrp="1"/>
          </p:cNvSpPr>
          <p:nvPr>
            <p:ph idx="1"/>
          </p:nvPr>
        </p:nvSpPr>
        <p:spPr>
          <a:xfrm>
            <a:off x="1179226" y="2890979"/>
            <a:ext cx="9833548" cy="2693976"/>
          </a:xfrm>
        </p:spPr>
        <p:txBody>
          <a:bodyPr>
            <a:normAutofit/>
          </a:bodyPr>
          <a:lstStyle/>
          <a:p>
            <a:endParaRPr lang="en-US" sz="1800">
              <a:solidFill>
                <a:schemeClr val="tx2"/>
              </a:solidFill>
            </a:endParaRPr>
          </a:p>
          <a:p>
            <a:pPr marL="0" indent="0">
              <a:buNone/>
            </a:pPr>
            <a:endParaRPr lang="en-IN" sz="1800" dirty="0">
              <a:solidFill>
                <a:schemeClr val="tx2"/>
              </a:solidFill>
            </a:endParaRPr>
          </a:p>
        </p:txBody>
      </p:sp>
      <p:grpSp>
        <p:nvGrpSpPr>
          <p:cNvPr id="31"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32"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66AC6068-6D91-6D72-4088-B8CA191AE394}"/>
              </a:ext>
            </a:extLst>
          </p:cNvPr>
          <p:cNvSpPr txBox="1"/>
          <p:nvPr/>
        </p:nvSpPr>
        <p:spPr>
          <a:xfrm>
            <a:off x="502355" y="197346"/>
            <a:ext cx="11187289" cy="6740307"/>
          </a:xfrm>
          <a:prstGeom prst="rect">
            <a:avLst/>
          </a:prstGeom>
          <a:noFill/>
        </p:spPr>
        <p:txBody>
          <a:bodyPr wrap="square" rtlCol="0">
            <a:spAutoFit/>
          </a:bodyPr>
          <a:lstStyle/>
          <a:p>
            <a:r>
              <a:rPr lang="en-US" b="1" dirty="0">
                <a:solidFill>
                  <a:schemeClr val="accent6">
                    <a:lumMod val="75000"/>
                  </a:schemeClr>
                </a:solidFill>
              </a:rPr>
              <a:t>Load Balancing in Distributed Systems (Policies)</a:t>
            </a:r>
          </a:p>
          <a:p>
            <a:endParaRPr lang="en-US" b="1" dirty="0">
              <a:solidFill>
                <a:schemeClr val="accent6">
                  <a:lumMod val="75000"/>
                </a:schemeClr>
              </a:solidFill>
            </a:endParaRPr>
          </a:p>
          <a:p>
            <a:r>
              <a:rPr lang="en-US" b="1" dirty="0"/>
              <a:t> </a:t>
            </a:r>
            <a:r>
              <a:rPr lang="en-US" b="1" dirty="0">
                <a:solidFill>
                  <a:schemeClr val="accent1">
                    <a:lumMod val="75000"/>
                  </a:schemeClr>
                </a:solidFill>
              </a:rPr>
              <a:t>Definition</a:t>
            </a:r>
          </a:p>
          <a:p>
            <a:r>
              <a:rPr lang="en-US" b="1" dirty="0">
                <a:solidFill>
                  <a:schemeClr val="accent1">
                    <a:lumMod val="75000"/>
                  </a:schemeClr>
                </a:solidFill>
              </a:rPr>
              <a:t>Load Balancing</a:t>
            </a:r>
            <a:r>
              <a:rPr lang="en-US" dirty="0">
                <a:solidFill>
                  <a:schemeClr val="accent1">
                    <a:lumMod val="75000"/>
                  </a:schemeClr>
                </a:solidFill>
              </a:rPr>
              <a:t> is the process of distributing workloads evenly across multiple nodes (processors, servers, or machines) to:</a:t>
            </a:r>
          </a:p>
          <a:p>
            <a:pPr>
              <a:buFont typeface="Arial" panose="020B0604020202020204" pitchFamily="34" charset="0"/>
              <a:buChar char="•"/>
            </a:pPr>
            <a:r>
              <a:rPr lang="en-US" dirty="0">
                <a:solidFill>
                  <a:schemeClr val="accent1">
                    <a:lumMod val="75000"/>
                  </a:schemeClr>
                </a:solidFill>
              </a:rPr>
              <a:t>Improve system performance,</a:t>
            </a:r>
          </a:p>
          <a:p>
            <a:pPr>
              <a:buFont typeface="Arial" panose="020B0604020202020204" pitchFamily="34" charset="0"/>
              <a:buChar char="•"/>
            </a:pPr>
            <a:r>
              <a:rPr lang="en-US" dirty="0">
                <a:solidFill>
                  <a:schemeClr val="accent1">
                    <a:lumMod val="75000"/>
                  </a:schemeClr>
                </a:solidFill>
              </a:rPr>
              <a:t>Avoid overload on any node,</a:t>
            </a:r>
          </a:p>
          <a:p>
            <a:pPr>
              <a:buFont typeface="Arial" panose="020B0604020202020204" pitchFamily="34" charset="0"/>
              <a:buChar char="•"/>
            </a:pPr>
            <a:r>
              <a:rPr lang="en-US" dirty="0">
                <a:solidFill>
                  <a:schemeClr val="accent1">
                    <a:lumMod val="75000"/>
                  </a:schemeClr>
                </a:solidFill>
              </a:rPr>
              <a:t>Maximize resource utilization,</a:t>
            </a:r>
          </a:p>
          <a:p>
            <a:pPr>
              <a:buFont typeface="Arial" panose="020B0604020202020204" pitchFamily="34" charset="0"/>
              <a:buChar char="•"/>
            </a:pPr>
            <a:r>
              <a:rPr lang="en-US" dirty="0">
                <a:solidFill>
                  <a:schemeClr val="accent1">
                    <a:lumMod val="75000"/>
                  </a:schemeClr>
                </a:solidFill>
              </a:rPr>
              <a:t>Minimize response time.</a:t>
            </a:r>
          </a:p>
          <a:p>
            <a:endParaRPr lang="en-US" dirty="0">
              <a:solidFill>
                <a:schemeClr val="accent1">
                  <a:lumMod val="75000"/>
                </a:schemeClr>
              </a:solidFill>
            </a:endParaRPr>
          </a:p>
          <a:p>
            <a:r>
              <a:rPr lang="en-US" b="1" dirty="0">
                <a:solidFill>
                  <a:schemeClr val="accent1">
                    <a:lumMod val="75000"/>
                  </a:schemeClr>
                </a:solidFill>
              </a:rPr>
              <a:t>Goal  :</a:t>
            </a:r>
            <a:r>
              <a:rPr lang="en-US" dirty="0">
                <a:solidFill>
                  <a:schemeClr val="accent1">
                    <a:lumMod val="75000"/>
                  </a:schemeClr>
                </a:solidFill>
              </a:rPr>
              <a:t>To ensure that </a:t>
            </a:r>
            <a:r>
              <a:rPr lang="en-US" b="1" dirty="0">
                <a:solidFill>
                  <a:schemeClr val="accent1">
                    <a:lumMod val="75000"/>
                  </a:schemeClr>
                </a:solidFill>
              </a:rPr>
              <a:t>no single node</a:t>
            </a:r>
            <a:r>
              <a:rPr lang="en-US" dirty="0">
                <a:solidFill>
                  <a:schemeClr val="accent1">
                    <a:lumMod val="75000"/>
                  </a:schemeClr>
                </a:solidFill>
              </a:rPr>
              <a:t> is heavily loaded while others remain </a:t>
            </a:r>
            <a:r>
              <a:rPr lang="en-US" b="1" dirty="0">
                <a:solidFill>
                  <a:schemeClr val="accent1">
                    <a:lumMod val="75000"/>
                  </a:schemeClr>
                </a:solidFill>
              </a:rPr>
              <a:t>underutilized</a:t>
            </a:r>
            <a:r>
              <a:rPr lang="en-US" dirty="0">
                <a:solidFill>
                  <a:schemeClr val="accent1">
                    <a:lumMod val="75000"/>
                  </a:schemeClr>
                </a:solidFill>
              </a:rPr>
              <a:t>.</a:t>
            </a:r>
          </a:p>
          <a:p>
            <a:endParaRPr lang="en-IN" dirty="0">
              <a:solidFill>
                <a:schemeClr val="accent6">
                  <a:lumMod val="75000"/>
                </a:schemeClr>
              </a:solidFill>
            </a:endParaRPr>
          </a:p>
          <a:p>
            <a:endParaRPr lang="en-IN" dirty="0">
              <a:solidFill>
                <a:schemeClr val="accent6">
                  <a:lumMod val="75000"/>
                </a:schemeClr>
              </a:solidFill>
            </a:endParaRPr>
          </a:p>
          <a:p>
            <a:r>
              <a:rPr lang="en-US" b="1" dirty="0">
                <a:solidFill>
                  <a:schemeClr val="accent6">
                    <a:lumMod val="75000"/>
                  </a:schemeClr>
                </a:solidFill>
              </a:rPr>
              <a:t>1. Transfer Policy</a:t>
            </a:r>
          </a:p>
          <a:p>
            <a:r>
              <a:rPr lang="en-US" b="1" dirty="0">
                <a:solidFill>
                  <a:schemeClr val="accent1">
                    <a:lumMod val="75000"/>
                  </a:schemeClr>
                </a:solidFill>
              </a:rPr>
              <a:t>🔸 Definition  :</a:t>
            </a:r>
            <a:r>
              <a:rPr lang="en-US" dirty="0">
                <a:solidFill>
                  <a:schemeClr val="accent1">
                    <a:lumMod val="75000"/>
                  </a:schemeClr>
                </a:solidFill>
              </a:rPr>
              <a:t>Determines </a:t>
            </a:r>
            <a:r>
              <a:rPr lang="en-US" b="1" dirty="0">
                <a:solidFill>
                  <a:schemeClr val="accent1">
                    <a:lumMod val="75000"/>
                  </a:schemeClr>
                </a:solidFill>
              </a:rPr>
              <a:t>when</a:t>
            </a:r>
            <a:r>
              <a:rPr lang="en-US" dirty="0">
                <a:solidFill>
                  <a:schemeClr val="accent1">
                    <a:lumMod val="75000"/>
                  </a:schemeClr>
                </a:solidFill>
              </a:rPr>
              <a:t> a process (or task) should be transferred from one node to another.</a:t>
            </a:r>
          </a:p>
          <a:p>
            <a:endParaRPr lang="en-US" dirty="0">
              <a:solidFill>
                <a:schemeClr val="accent1">
                  <a:lumMod val="75000"/>
                </a:schemeClr>
              </a:solidFill>
            </a:endParaRPr>
          </a:p>
          <a:p>
            <a:r>
              <a:rPr lang="en-US" b="1" dirty="0">
                <a:solidFill>
                  <a:schemeClr val="accent1">
                    <a:lumMod val="75000"/>
                  </a:schemeClr>
                </a:solidFill>
              </a:rPr>
              <a:t>🔸 Purpose:  </a:t>
            </a:r>
            <a:r>
              <a:rPr lang="en-US" dirty="0">
                <a:solidFill>
                  <a:schemeClr val="accent1">
                    <a:lumMod val="75000"/>
                  </a:schemeClr>
                </a:solidFill>
              </a:rPr>
              <a:t>Decides the </a:t>
            </a:r>
            <a:r>
              <a:rPr lang="en-US" b="1" dirty="0">
                <a:solidFill>
                  <a:schemeClr val="accent1">
                    <a:lumMod val="75000"/>
                  </a:schemeClr>
                </a:solidFill>
              </a:rPr>
              <a:t>trigger condition</a:t>
            </a:r>
            <a:r>
              <a:rPr lang="en-US" dirty="0">
                <a:solidFill>
                  <a:schemeClr val="accent1">
                    <a:lumMod val="75000"/>
                  </a:schemeClr>
                </a:solidFill>
              </a:rPr>
              <a:t> for load redistribution — i.e., when the system considers a node as “overloaded” or “underloaded”.</a:t>
            </a:r>
          </a:p>
          <a:p>
            <a:endParaRPr lang="en-US" dirty="0">
              <a:solidFill>
                <a:schemeClr val="accent1">
                  <a:lumMod val="75000"/>
                </a:schemeClr>
              </a:solidFill>
            </a:endParaRPr>
          </a:p>
          <a:p>
            <a:r>
              <a:rPr lang="en-US" b="1" dirty="0">
                <a:solidFill>
                  <a:schemeClr val="accent1">
                    <a:lumMod val="75000"/>
                  </a:schemeClr>
                </a:solidFill>
              </a:rPr>
              <a:t>🔸 Common Strategies</a:t>
            </a:r>
          </a:p>
          <a:p>
            <a:pPr>
              <a:buFont typeface="Arial" panose="020B0604020202020204" pitchFamily="34" charset="0"/>
              <a:buChar char="•"/>
            </a:pPr>
            <a:r>
              <a:rPr lang="en-US" b="1" dirty="0">
                <a:solidFill>
                  <a:schemeClr val="accent1">
                    <a:lumMod val="75000"/>
                  </a:schemeClr>
                </a:solidFill>
              </a:rPr>
              <a:t>Threshold-based:   </a:t>
            </a:r>
            <a:r>
              <a:rPr lang="en-US" dirty="0">
                <a:solidFill>
                  <a:schemeClr val="accent1">
                    <a:lumMod val="75000"/>
                  </a:schemeClr>
                </a:solidFill>
              </a:rPr>
              <a:t>If the load on a node exceeds a certain threshold → initiate transfer.</a:t>
            </a:r>
          </a:p>
          <a:p>
            <a:pPr>
              <a:buFont typeface="Arial" panose="020B0604020202020204" pitchFamily="34" charset="0"/>
              <a:buChar char="•"/>
            </a:pPr>
            <a:r>
              <a:rPr lang="en-US" b="1" dirty="0">
                <a:solidFill>
                  <a:schemeClr val="accent1">
                    <a:lumMod val="75000"/>
                  </a:schemeClr>
                </a:solidFill>
              </a:rPr>
              <a:t>Periodic Checking:  </a:t>
            </a:r>
            <a:r>
              <a:rPr lang="en-US" dirty="0">
                <a:solidFill>
                  <a:schemeClr val="accent1">
                    <a:lumMod val="75000"/>
                  </a:schemeClr>
                </a:solidFill>
              </a:rPr>
              <a:t>Check load at regular intervals.</a:t>
            </a:r>
          </a:p>
          <a:p>
            <a:pPr>
              <a:buFont typeface="Arial" panose="020B0604020202020204" pitchFamily="34" charset="0"/>
              <a:buChar char="•"/>
            </a:pPr>
            <a:r>
              <a:rPr lang="en-US" b="1" dirty="0">
                <a:solidFill>
                  <a:schemeClr val="accent1">
                    <a:lumMod val="75000"/>
                  </a:schemeClr>
                </a:solidFill>
              </a:rPr>
              <a:t>Demand-driven:    </a:t>
            </a:r>
            <a:r>
              <a:rPr lang="en-US" dirty="0">
                <a:solidFill>
                  <a:schemeClr val="accent1">
                    <a:lumMod val="75000"/>
                  </a:schemeClr>
                </a:solidFill>
              </a:rPr>
              <a:t>Transfer is initiated only when a request arrives.</a:t>
            </a:r>
          </a:p>
          <a:p>
            <a:endParaRPr lang="en-IN" dirty="0"/>
          </a:p>
        </p:txBody>
      </p:sp>
    </p:spTree>
    <p:extLst>
      <p:ext uri="{BB962C8B-B14F-4D97-AF65-F5344CB8AC3E}">
        <p14:creationId xmlns:p14="http://schemas.microsoft.com/office/powerpoint/2010/main" val="23526330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78AE909B-644A-BA87-6D21-E099927CE39E}"/>
              </a:ext>
            </a:extLst>
          </p:cNvPr>
          <p:cNvSpPr>
            <a:spLocks noGrp="1"/>
          </p:cNvSpPr>
          <p:nvPr>
            <p:ph idx="1"/>
          </p:nvPr>
        </p:nvSpPr>
        <p:spPr>
          <a:xfrm>
            <a:off x="463137" y="213756"/>
            <a:ext cx="11400311" cy="6341423"/>
          </a:xfrm>
        </p:spPr>
        <p:txBody>
          <a:bodyPr>
            <a:normAutofit/>
          </a:bodyPr>
          <a:lstStyle/>
          <a:p>
            <a:pPr marL="0" indent="0">
              <a:buNone/>
            </a:pPr>
            <a:r>
              <a:rPr lang="en-US" sz="1800" b="1" dirty="0">
                <a:solidFill>
                  <a:schemeClr val="accent6">
                    <a:lumMod val="75000"/>
                  </a:schemeClr>
                </a:solidFill>
              </a:rPr>
              <a:t>2. Selection Policy</a:t>
            </a:r>
          </a:p>
          <a:p>
            <a:pPr marL="0" indent="0">
              <a:buNone/>
            </a:pPr>
            <a:r>
              <a:rPr lang="en-US" sz="1800" b="1" dirty="0">
                <a:solidFill>
                  <a:schemeClr val="accent1">
                    <a:lumMod val="75000"/>
                  </a:schemeClr>
                </a:solidFill>
              </a:rPr>
              <a:t>🔸 Definition:  </a:t>
            </a:r>
            <a:r>
              <a:rPr lang="en-US" sz="1800" dirty="0">
                <a:solidFill>
                  <a:schemeClr val="accent1">
                    <a:lumMod val="75000"/>
                  </a:schemeClr>
                </a:solidFill>
              </a:rPr>
              <a:t>Determines </a:t>
            </a:r>
            <a:r>
              <a:rPr lang="en-US" sz="1800" b="1" dirty="0">
                <a:solidFill>
                  <a:schemeClr val="accent1">
                    <a:lumMod val="75000"/>
                  </a:schemeClr>
                </a:solidFill>
              </a:rPr>
              <a:t>which process</a:t>
            </a:r>
            <a:r>
              <a:rPr lang="en-US" sz="1800" dirty="0">
                <a:solidFill>
                  <a:schemeClr val="accent1">
                    <a:lumMod val="75000"/>
                  </a:schemeClr>
                </a:solidFill>
              </a:rPr>
              <a:t> or task should be transferred for load balancing.</a:t>
            </a:r>
          </a:p>
          <a:p>
            <a:pPr marL="0" indent="0">
              <a:buNone/>
            </a:pPr>
            <a:r>
              <a:rPr lang="en-US" sz="1800" b="1" dirty="0">
                <a:solidFill>
                  <a:schemeClr val="accent1">
                    <a:lumMod val="75000"/>
                  </a:schemeClr>
                </a:solidFill>
              </a:rPr>
              <a:t>🔸 Purpose: </a:t>
            </a:r>
            <a:r>
              <a:rPr lang="en-US" sz="1800" dirty="0">
                <a:solidFill>
                  <a:schemeClr val="accent1">
                    <a:lumMod val="75000"/>
                  </a:schemeClr>
                </a:solidFill>
              </a:rPr>
              <a:t>To select an appropriate task that will reduce the load without disrupting system performance.</a:t>
            </a:r>
          </a:p>
          <a:p>
            <a:pPr marL="0" indent="0">
              <a:buNone/>
            </a:pPr>
            <a:r>
              <a:rPr lang="en-US" sz="1800" b="1" dirty="0">
                <a:solidFill>
                  <a:schemeClr val="accent1">
                    <a:lumMod val="75000"/>
                  </a:schemeClr>
                </a:solidFill>
              </a:rPr>
              <a:t>🔸 Selection Criteria</a:t>
            </a:r>
          </a:p>
          <a:p>
            <a:pPr>
              <a:buFont typeface="Arial" panose="020B0604020202020204" pitchFamily="34" charset="0"/>
              <a:buChar char="•"/>
            </a:pPr>
            <a:r>
              <a:rPr lang="en-US" sz="1800" dirty="0">
                <a:solidFill>
                  <a:schemeClr val="accent1">
                    <a:lumMod val="75000"/>
                  </a:schemeClr>
                </a:solidFill>
              </a:rPr>
              <a:t>The process should be </a:t>
            </a:r>
            <a:r>
              <a:rPr lang="en-US" sz="1800" b="1" dirty="0">
                <a:solidFill>
                  <a:schemeClr val="accent1">
                    <a:lumMod val="75000"/>
                  </a:schemeClr>
                </a:solidFill>
              </a:rPr>
              <a:t>lightweight</a:t>
            </a:r>
            <a:r>
              <a:rPr lang="en-US" sz="1800" dirty="0">
                <a:solidFill>
                  <a:schemeClr val="accent1">
                    <a:lumMod val="75000"/>
                  </a:schemeClr>
                </a:solidFill>
              </a:rPr>
              <a:t> to move (small state size).</a:t>
            </a:r>
          </a:p>
          <a:p>
            <a:pPr>
              <a:buFont typeface="Arial" panose="020B0604020202020204" pitchFamily="34" charset="0"/>
              <a:buChar char="•"/>
            </a:pPr>
            <a:r>
              <a:rPr lang="en-US" sz="1800" dirty="0">
                <a:solidFill>
                  <a:schemeClr val="accent1">
                    <a:lumMod val="75000"/>
                  </a:schemeClr>
                </a:solidFill>
              </a:rPr>
              <a:t>It should be in a </a:t>
            </a:r>
            <a:r>
              <a:rPr lang="en-US" sz="1800" b="1" dirty="0">
                <a:solidFill>
                  <a:schemeClr val="accent1">
                    <a:lumMod val="75000"/>
                  </a:schemeClr>
                </a:solidFill>
              </a:rPr>
              <a:t>transferable state</a:t>
            </a:r>
            <a:r>
              <a:rPr lang="en-US" sz="1800" dirty="0">
                <a:solidFill>
                  <a:schemeClr val="accent1">
                    <a:lumMod val="75000"/>
                  </a:schemeClr>
                </a:solidFill>
              </a:rPr>
              <a:t> (not waiting for I/O).</a:t>
            </a:r>
          </a:p>
          <a:p>
            <a:pPr>
              <a:buFont typeface="Arial" panose="020B0604020202020204" pitchFamily="34" charset="0"/>
              <a:buChar char="•"/>
            </a:pPr>
            <a:r>
              <a:rPr lang="en-US" sz="1800" dirty="0">
                <a:solidFill>
                  <a:schemeClr val="accent1">
                    <a:lumMod val="75000"/>
                  </a:schemeClr>
                </a:solidFill>
              </a:rPr>
              <a:t>Minimize migration cost.</a:t>
            </a:r>
          </a:p>
          <a:p>
            <a:pPr marL="0" indent="0">
              <a:buNone/>
            </a:pPr>
            <a:endParaRPr lang="en-US" sz="1800" dirty="0">
              <a:solidFill>
                <a:schemeClr val="accent1">
                  <a:lumMod val="75000"/>
                </a:schemeClr>
              </a:solidFill>
            </a:endParaRPr>
          </a:p>
          <a:p>
            <a:pPr marL="0" indent="0">
              <a:buNone/>
            </a:pPr>
            <a:r>
              <a:rPr lang="en-US" sz="1800" b="1" dirty="0">
                <a:solidFill>
                  <a:schemeClr val="accent6">
                    <a:lumMod val="75000"/>
                  </a:schemeClr>
                </a:solidFill>
              </a:rPr>
              <a:t>3. Location Policy</a:t>
            </a:r>
          </a:p>
          <a:p>
            <a:pPr marL="0" indent="0">
              <a:buNone/>
            </a:pPr>
            <a:r>
              <a:rPr lang="en-US" sz="1800" b="1" dirty="0">
                <a:solidFill>
                  <a:schemeClr val="accent1">
                    <a:lumMod val="75000"/>
                  </a:schemeClr>
                </a:solidFill>
              </a:rPr>
              <a:t>🔸 Definition:  </a:t>
            </a:r>
            <a:r>
              <a:rPr lang="en-US" sz="1800" dirty="0">
                <a:solidFill>
                  <a:schemeClr val="accent1">
                    <a:lumMod val="75000"/>
                  </a:schemeClr>
                </a:solidFill>
              </a:rPr>
              <a:t>Determines </a:t>
            </a:r>
            <a:r>
              <a:rPr lang="en-US" sz="1800" b="1" dirty="0">
                <a:solidFill>
                  <a:schemeClr val="accent1">
                    <a:lumMod val="75000"/>
                  </a:schemeClr>
                </a:solidFill>
              </a:rPr>
              <a:t>where</a:t>
            </a:r>
            <a:r>
              <a:rPr lang="en-US" sz="1800" dirty="0">
                <a:solidFill>
                  <a:schemeClr val="accent1">
                    <a:lumMod val="75000"/>
                  </a:schemeClr>
                </a:solidFill>
              </a:rPr>
              <a:t> (to which node) the selected process should be transferred.</a:t>
            </a:r>
          </a:p>
          <a:p>
            <a:pPr marL="0" indent="0">
              <a:buNone/>
            </a:pPr>
            <a:r>
              <a:rPr lang="en-US" sz="1800" b="1" dirty="0">
                <a:solidFill>
                  <a:schemeClr val="accent1">
                    <a:lumMod val="75000"/>
                  </a:schemeClr>
                </a:solidFill>
              </a:rPr>
              <a:t>🔸 Purpose: </a:t>
            </a:r>
            <a:r>
              <a:rPr lang="en-US" sz="1800" dirty="0">
                <a:solidFill>
                  <a:schemeClr val="accent1">
                    <a:lumMod val="75000"/>
                  </a:schemeClr>
                </a:solidFill>
              </a:rPr>
              <a:t>Finds a suitable </a:t>
            </a:r>
            <a:r>
              <a:rPr lang="en-US" sz="1800" b="1" dirty="0">
                <a:solidFill>
                  <a:schemeClr val="accent1">
                    <a:lumMod val="75000"/>
                  </a:schemeClr>
                </a:solidFill>
              </a:rPr>
              <a:t>destination node</a:t>
            </a:r>
            <a:r>
              <a:rPr lang="en-US" sz="1800" dirty="0">
                <a:solidFill>
                  <a:schemeClr val="accent1">
                    <a:lumMod val="75000"/>
                  </a:schemeClr>
                </a:solidFill>
              </a:rPr>
              <a:t> that is underloaded or least loaded.</a:t>
            </a:r>
          </a:p>
          <a:p>
            <a:pPr marL="0" indent="0">
              <a:buNone/>
            </a:pPr>
            <a:r>
              <a:rPr lang="en-US" sz="1800" b="1" dirty="0">
                <a:solidFill>
                  <a:schemeClr val="accent1">
                    <a:lumMod val="75000"/>
                  </a:schemeClr>
                </a:solidFill>
              </a:rPr>
              <a:t>🔸 Strategies</a:t>
            </a:r>
          </a:p>
          <a:p>
            <a:pPr>
              <a:buFont typeface="Arial" panose="020B0604020202020204" pitchFamily="34" charset="0"/>
              <a:buChar char="•"/>
            </a:pPr>
            <a:r>
              <a:rPr lang="en-US" sz="1800" b="1" dirty="0">
                <a:solidFill>
                  <a:schemeClr val="accent1">
                    <a:lumMod val="75000"/>
                  </a:schemeClr>
                </a:solidFill>
              </a:rPr>
              <a:t>Random:</a:t>
            </a:r>
            <a:r>
              <a:rPr lang="en-US" sz="1800" dirty="0">
                <a:solidFill>
                  <a:schemeClr val="accent1">
                    <a:lumMod val="75000"/>
                  </a:schemeClr>
                </a:solidFill>
              </a:rPr>
              <a:t> Choose a random node.</a:t>
            </a:r>
          </a:p>
          <a:p>
            <a:pPr>
              <a:buFont typeface="Arial" panose="020B0604020202020204" pitchFamily="34" charset="0"/>
              <a:buChar char="•"/>
            </a:pPr>
            <a:r>
              <a:rPr lang="en-US" sz="1800" b="1" dirty="0">
                <a:solidFill>
                  <a:schemeClr val="accent1">
                    <a:lumMod val="75000"/>
                  </a:schemeClr>
                </a:solidFill>
              </a:rPr>
              <a:t>Polling:</a:t>
            </a:r>
            <a:r>
              <a:rPr lang="en-US" sz="1800" dirty="0">
                <a:solidFill>
                  <a:schemeClr val="accent1">
                    <a:lumMod val="75000"/>
                  </a:schemeClr>
                </a:solidFill>
              </a:rPr>
              <a:t> Ask a few nodes about their load before choosing.</a:t>
            </a:r>
          </a:p>
          <a:p>
            <a:pPr>
              <a:buFont typeface="Arial" panose="020B0604020202020204" pitchFamily="34" charset="0"/>
              <a:buChar char="•"/>
            </a:pPr>
            <a:r>
              <a:rPr lang="en-US" sz="1800" b="1" dirty="0">
                <a:solidFill>
                  <a:schemeClr val="accent1">
                    <a:lumMod val="75000"/>
                  </a:schemeClr>
                </a:solidFill>
              </a:rPr>
              <a:t>Centralized Directory:</a:t>
            </a:r>
            <a:r>
              <a:rPr lang="en-US" sz="1800" dirty="0">
                <a:solidFill>
                  <a:schemeClr val="accent1">
                    <a:lumMod val="75000"/>
                  </a:schemeClr>
                </a:solidFill>
              </a:rPr>
              <a:t> Maintain a list of underloaded nodes.</a:t>
            </a:r>
          </a:p>
          <a:p>
            <a:pPr>
              <a:buFont typeface="Arial" panose="020B0604020202020204" pitchFamily="34" charset="0"/>
              <a:buChar char="•"/>
            </a:pPr>
            <a:r>
              <a:rPr lang="en-US" sz="1800" b="1" dirty="0">
                <a:solidFill>
                  <a:schemeClr val="accent1">
                    <a:lumMod val="75000"/>
                  </a:schemeClr>
                </a:solidFill>
              </a:rPr>
              <a:t>Heuristic-based:</a:t>
            </a:r>
            <a:r>
              <a:rPr lang="en-US" sz="1800" dirty="0">
                <a:solidFill>
                  <a:schemeClr val="accent1">
                    <a:lumMod val="75000"/>
                  </a:schemeClr>
                </a:solidFill>
              </a:rPr>
              <a:t> Choose node with minimum queue length or CPU usage.</a:t>
            </a:r>
          </a:p>
          <a:p>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857138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A4835858-9868-A82F-4165-BD694E6ABD30}"/>
              </a:ext>
            </a:extLst>
          </p:cNvPr>
          <p:cNvSpPr>
            <a:spLocks noGrp="1"/>
          </p:cNvSpPr>
          <p:nvPr>
            <p:ph idx="1"/>
          </p:nvPr>
        </p:nvSpPr>
        <p:spPr>
          <a:xfrm>
            <a:off x="451261" y="556550"/>
            <a:ext cx="11459689" cy="6400800"/>
          </a:xfrm>
        </p:spPr>
        <p:txBody>
          <a:bodyPr>
            <a:normAutofit/>
          </a:bodyPr>
          <a:lstStyle/>
          <a:p>
            <a:pPr marL="0" indent="0">
              <a:buNone/>
            </a:pPr>
            <a:r>
              <a:rPr lang="en-US" sz="1800" b="1" dirty="0">
                <a:solidFill>
                  <a:schemeClr val="accent6">
                    <a:lumMod val="75000"/>
                  </a:schemeClr>
                </a:solidFill>
              </a:rPr>
              <a:t>4. Information Polic</a:t>
            </a:r>
            <a:r>
              <a:rPr lang="en-US" sz="1800" b="1" dirty="0">
                <a:solidFill>
                  <a:schemeClr val="accent1">
                    <a:lumMod val="75000"/>
                  </a:schemeClr>
                </a:solidFill>
              </a:rPr>
              <a:t>y</a:t>
            </a:r>
          </a:p>
          <a:p>
            <a:pPr marL="0" indent="0">
              <a:buNone/>
            </a:pPr>
            <a:r>
              <a:rPr lang="en-US" sz="1800" b="1" dirty="0">
                <a:solidFill>
                  <a:schemeClr val="accent1">
                    <a:lumMod val="75000"/>
                  </a:schemeClr>
                </a:solidFill>
              </a:rPr>
              <a:t>🔸 Definition: </a:t>
            </a:r>
            <a:r>
              <a:rPr lang="en-US" sz="1800" dirty="0">
                <a:solidFill>
                  <a:schemeClr val="accent1">
                    <a:lumMod val="75000"/>
                  </a:schemeClr>
                </a:solidFill>
              </a:rPr>
              <a:t>Determines </a:t>
            </a:r>
            <a:r>
              <a:rPr lang="en-US" sz="1800" b="1" dirty="0">
                <a:solidFill>
                  <a:schemeClr val="accent1">
                    <a:lumMod val="75000"/>
                  </a:schemeClr>
                </a:solidFill>
              </a:rPr>
              <a:t>what</a:t>
            </a:r>
            <a:r>
              <a:rPr lang="en-US" sz="1800" dirty="0">
                <a:solidFill>
                  <a:schemeClr val="accent1">
                    <a:lumMod val="75000"/>
                  </a:schemeClr>
                </a:solidFill>
              </a:rPr>
              <a:t>, </a:t>
            </a:r>
            <a:r>
              <a:rPr lang="en-US" sz="1800" b="1" dirty="0">
                <a:solidFill>
                  <a:schemeClr val="accent1">
                    <a:lumMod val="75000"/>
                  </a:schemeClr>
                </a:solidFill>
              </a:rPr>
              <a:t>when</a:t>
            </a:r>
            <a:r>
              <a:rPr lang="en-US" sz="1800" dirty="0">
                <a:solidFill>
                  <a:schemeClr val="accent1">
                    <a:lumMod val="75000"/>
                  </a:schemeClr>
                </a:solidFill>
              </a:rPr>
              <a:t>, and </a:t>
            </a:r>
            <a:r>
              <a:rPr lang="en-US" sz="1800" b="1" dirty="0">
                <a:solidFill>
                  <a:schemeClr val="accent1">
                    <a:lumMod val="75000"/>
                  </a:schemeClr>
                </a:solidFill>
              </a:rPr>
              <a:t>how</a:t>
            </a:r>
            <a:r>
              <a:rPr lang="en-US" sz="1800" dirty="0">
                <a:solidFill>
                  <a:schemeClr val="accent1">
                    <a:lumMod val="75000"/>
                  </a:schemeClr>
                </a:solidFill>
              </a:rPr>
              <a:t> load information is collected and distributed across nodes.</a:t>
            </a:r>
          </a:p>
          <a:p>
            <a:pPr marL="0" indent="0">
              <a:buNone/>
            </a:pPr>
            <a:r>
              <a:rPr lang="en-US" sz="1800" b="1" dirty="0">
                <a:solidFill>
                  <a:schemeClr val="accent1">
                    <a:lumMod val="75000"/>
                  </a:schemeClr>
                </a:solidFill>
              </a:rPr>
              <a:t>🔸 Purpose :</a:t>
            </a:r>
            <a:r>
              <a:rPr lang="en-US" sz="1800" dirty="0">
                <a:solidFill>
                  <a:schemeClr val="accent1">
                    <a:lumMod val="75000"/>
                  </a:schemeClr>
                </a:solidFill>
              </a:rPr>
              <a:t>Keeps track of each node’s load status for making accurate balancing decisions.</a:t>
            </a:r>
          </a:p>
          <a:p>
            <a:pPr marL="0" indent="0">
              <a:buNone/>
            </a:pPr>
            <a:endParaRPr lang="en-US" sz="1800" dirty="0">
              <a:solidFill>
                <a:schemeClr val="accent1">
                  <a:lumMod val="75000"/>
                </a:schemeClr>
              </a:solidFill>
            </a:endParaRPr>
          </a:p>
          <a:p>
            <a:pPr marL="0" indent="0">
              <a:buNone/>
            </a:pPr>
            <a:r>
              <a:rPr lang="en-US" sz="1800" b="1" dirty="0">
                <a:solidFill>
                  <a:schemeClr val="accent1">
                    <a:lumMod val="75000"/>
                  </a:schemeClr>
                </a:solidFill>
              </a:rPr>
              <a:t>🔸 Information Collection Methods</a:t>
            </a:r>
          </a:p>
          <a:p>
            <a:pPr>
              <a:buFont typeface="Arial" panose="020B0604020202020204" pitchFamily="34" charset="0"/>
              <a:buChar char="•"/>
            </a:pPr>
            <a:r>
              <a:rPr lang="en-US" sz="1800" b="1" dirty="0">
                <a:solidFill>
                  <a:schemeClr val="accent1">
                    <a:lumMod val="75000"/>
                  </a:schemeClr>
                </a:solidFill>
              </a:rPr>
              <a:t>Periodic:</a:t>
            </a:r>
            <a:r>
              <a:rPr lang="en-US" sz="1800" dirty="0">
                <a:solidFill>
                  <a:schemeClr val="accent1">
                    <a:lumMod val="75000"/>
                  </a:schemeClr>
                </a:solidFill>
              </a:rPr>
              <a:t> Nodes exchange load info at fixed intervals.</a:t>
            </a:r>
          </a:p>
          <a:p>
            <a:pPr>
              <a:buFont typeface="Arial" panose="020B0604020202020204" pitchFamily="34" charset="0"/>
              <a:buChar char="•"/>
            </a:pPr>
            <a:r>
              <a:rPr lang="en-US" sz="1800" b="1" dirty="0">
                <a:solidFill>
                  <a:schemeClr val="accent1">
                    <a:lumMod val="75000"/>
                  </a:schemeClr>
                </a:solidFill>
              </a:rPr>
              <a:t>On-demand:</a:t>
            </a:r>
            <a:r>
              <a:rPr lang="en-US" sz="1800" dirty="0">
                <a:solidFill>
                  <a:schemeClr val="accent1">
                    <a:lumMod val="75000"/>
                  </a:schemeClr>
                </a:solidFill>
              </a:rPr>
              <a:t> Only when load changes significantly.</a:t>
            </a:r>
          </a:p>
          <a:p>
            <a:pPr>
              <a:buFont typeface="Arial" panose="020B0604020202020204" pitchFamily="34" charset="0"/>
              <a:buChar char="•"/>
            </a:pPr>
            <a:r>
              <a:rPr lang="en-US" sz="1800" b="1" dirty="0">
                <a:solidFill>
                  <a:schemeClr val="accent1">
                    <a:lumMod val="75000"/>
                  </a:schemeClr>
                </a:solidFill>
              </a:rPr>
              <a:t>Broadcast-based:</a:t>
            </a:r>
            <a:r>
              <a:rPr lang="en-US" sz="1800" dirty="0">
                <a:solidFill>
                  <a:schemeClr val="accent1">
                    <a:lumMod val="75000"/>
                  </a:schemeClr>
                </a:solidFill>
              </a:rPr>
              <a:t> Nodes broadcast their load to others.</a:t>
            </a:r>
          </a:p>
          <a:p>
            <a:pPr>
              <a:buFont typeface="Arial" panose="020B0604020202020204" pitchFamily="34" charset="0"/>
              <a:buChar char="•"/>
            </a:pPr>
            <a:r>
              <a:rPr lang="en-US" sz="1800" b="1" dirty="0">
                <a:solidFill>
                  <a:schemeClr val="accent1">
                    <a:lumMod val="75000"/>
                  </a:schemeClr>
                </a:solidFill>
              </a:rPr>
              <a:t>Centralized:</a:t>
            </a:r>
            <a:r>
              <a:rPr lang="en-US" sz="1800" dirty="0">
                <a:solidFill>
                  <a:schemeClr val="accent1">
                    <a:lumMod val="75000"/>
                  </a:schemeClr>
                </a:solidFill>
              </a:rPr>
              <a:t> A single coordinator gathers and stores load information.</a:t>
            </a:r>
          </a:p>
          <a:p>
            <a:endParaRPr lang="en-US" sz="1800" b="1" dirty="0">
              <a:solidFill>
                <a:schemeClr val="accent1">
                  <a:lumMod val="75000"/>
                </a:schemeClr>
              </a:solidFill>
            </a:endParaRPr>
          </a:p>
          <a:p>
            <a:r>
              <a:rPr lang="en-US" sz="1800" b="1" dirty="0">
                <a:solidFill>
                  <a:schemeClr val="accent1">
                    <a:lumMod val="75000"/>
                  </a:schemeClr>
                </a:solidFill>
              </a:rPr>
              <a:t>🔸 Trade-off</a:t>
            </a:r>
          </a:p>
          <a:p>
            <a:r>
              <a:rPr lang="en-US" sz="1800" dirty="0">
                <a:solidFill>
                  <a:schemeClr val="accent1">
                    <a:lumMod val="75000"/>
                  </a:schemeClr>
                </a:solidFill>
              </a:rPr>
              <a:t>More frequent updates → higher accuracy but more communication overhead.</a:t>
            </a:r>
          </a:p>
          <a:p>
            <a:pPr marL="0" indent="0">
              <a:buNone/>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956971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92BBBAF-7FBA-4F70-DDF4-D8670049F2AE}"/>
              </a:ext>
            </a:extLst>
          </p:cNvPr>
          <p:cNvSpPr>
            <a:spLocks noGrp="1"/>
          </p:cNvSpPr>
          <p:nvPr>
            <p:ph idx="1"/>
          </p:nvPr>
        </p:nvSpPr>
        <p:spPr>
          <a:xfrm>
            <a:off x="427512" y="344384"/>
            <a:ext cx="10585262" cy="524057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accent6">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1" i="0" u="none" strike="noStrike" cap="none" normalizeH="0" baseline="0" dirty="0">
                <a:ln>
                  <a:noFill/>
                </a:ln>
                <a:solidFill>
                  <a:schemeClr val="accent6">
                    <a:lumMod val="75000"/>
                  </a:schemeClr>
                </a:solidFill>
                <a:effectLst/>
              </a:rPr>
              <a:t>NFS – Network File System</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1" dirty="0">
              <a:solidFill>
                <a:schemeClr val="accent6">
                  <a:lumMod val="75000"/>
                </a:schemeClr>
              </a:solidFill>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mj-lt"/>
              </a:rPr>
              <a:t>1. Introduction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latin typeface="+mj-lt"/>
              </a:rPr>
              <a:t>Network File System (NFS)</a:t>
            </a:r>
            <a:r>
              <a:rPr kumimoji="0" lang="en-US" altLang="en-US" sz="1800" b="0" i="0" u="none" strike="noStrike" cap="none" normalizeH="0" baseline="0" dirty="0">
                <a:ln>
                  <a:noFill/>
                </a:ln>
                <a:solidFill>
                  <a:schemeClr val="accent1">
                    <a:lumMod val="75000"/>
                  </a:schemeClr>
                </a:solidFill>
                <a:effectLst/>
                <a:latin typeface="+mj-lt"/>
              </a:rPr>
              <a:t> is a </a:t>
            </a:r>
            <a:r>
              <a:rPr kumimoji="0" lang="en-US" altLang="en-US" sz="1800" b="1" i="0" u="none" strike="noStrike" cap="none" normalizeH="0" baseline="0" dirty="0">
                <a:ln>
                  <a:noFill/>
                </a:ln>
                <a:solidFill>
                  <a:schemeClr val="accent1">
                    <a:lumMod val="75000"/>
                  </a:schemeClr>
                </a:solidFill>
                <a:effectLst/>
                <a:latin typeface="+mj-lt"/>
              </a:rPr>
              <a:t>distributed file access protocol</a:t>
            </a:r>
            <a:r>
              <a:rPr kumimoji="0" lang="en-US" altLang="en-US" sz="1800" b="0" i="0" u="none" strike="noStrike" cap="none" normalizeH="0" baseline="0" dirty="0">
                <a:ln>
                  <a:noFill/>
                </a:ln>
                <a:solidFill>
                  <a:schemeClr val="accent1">
                    <a:lumMod val="75000"/>
                  </a:schemeClr>
                </a:solidFill>
                <a:effectLst/>
                <a:latin typeface="+mj-lt"/>
              </a:rPr>
              <a:t> that allows users to </a:t>
            </a:r>
            <a:r>
              <a:rPr kumimoji="0" lang="en-US" altLang="en-US" sz="1800" b="1" i="0" u="none" strike="noStrike" cap="none" normalizeH="0" baseline="0" dirty="0">
                <a:ln>
                  <a:noFill/>
                </a:ln>
                <a:solidFill>
                  <a:schemeClr val="accent1">
                    <a:lumMod val="75000"/>
                  </a:schemeClr>
                </a:solidFill>
                <a:effectLst/>
                <a:latin typeface="+mj-lt"/>
              </a:rPr>
              <a:t>access remote files as if they were local</a:t>
            </a:r>
            <a:r>
              <a:rPr kumimoji="0" lang="en-US" altLang="en-US" sz="1800" b="0" i="0" u="none" strike="noStrike" cap="none" normalizeH="0" baseline="0" dirty="0">
                <a:ln>
                  <a:noFill/>
                </a:ln>
                <a:solidFill>
                  <a:schemeClr val="accent1">
                    <a:lumMod val="75000"/>
                  </a:schemeClr>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mj-lt"/>
              </a:rPr>
              <a:t>Developed by </a:t>
            </a:r>
            <a:r>
              <a:rPr kumimoji="0" lang="en-US" altLang="en-US" sz="1800" b="1" i="0" u="none" strike="noStrike" cap="none" normalizeH="0" baseline="0" dirty="0">
                <a:ln>
                  <a:noFill/>
                </a:ln>
                <a:solidFill>
                  <a:schemeClr val="accent1">
                    <a:lumMod val="75000"/>
                  </a:schemeClr>
                </a:solidFill>
                <a:effectLst/>
                <a:latin typeface="+mj-lt"/>
              </a:rPr>
              <a:t>Sun Microsystems (1984)</a:t>
            </a:r>
            <a:r>
              <a:rPr kumimoji="0" lang="en-US" altLang="en-US" sz="1800" b="0" i="0" u="none" strike="noStrike" cap="none" normalizeH="0" baseline="0" dirty="0">
                <a:ln>
                  <a:noFill/>
                </a:ln>
                <a:solidFill>
                  <a:schemeClr val="accent1">
                    <a:lumMod val="75000"/>
                  </a:schemeClr>
                </a:solidFill>
                <a:effectLst/>
                <a:latin typeface="+mj-lt"/>
              </a:rPr>
              <a:t>, it became a </a:t>
            </a:r>
            <a:r>
              <a:rPr kumimoji="0" lang="en-US" altLang="en-US" sz="1800" b="1" i="0" u="none" strike="noStrike" cap="none" normalizeH="0" baseline="0" dirty="0">
                <a:ln>
                  <a:noFill/>
                </a:ln>
                <a:solidFill>
                  <a:schemeClr val="accent1">
                    <a:lumMod val="75000"/>
                  </a:schemeClr>
                </a:solidFill>
                <a:effectLst/>
                <a:latin typeface="+mj-lt"/>
              </a:rPr>
              <a:t>standard for UNIX-like systems</a:t>
            </a:r>
            <a:r>
              <a:rPr kumimoji="0" lang="en-US" altLang="en-US" sz="1800" b="0" i="0" u="none" strike="noStrike" cap="none" normalizeH="0" baseline="0" dirty="0">
                <a:ln>
                  <a:noFill/>
                </a:ln>
                <a:solidFill>
                  <a:schemeClr val="accent1">
                    <a:lumMod val="75000"/>
                  </a:schemeClr>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mj-lt"/>
              </a:rPr>
              <a:t>NFS operates over a </a:t>
            </a:r>
            <a:r>
              <a:rPr kumimoji="0" lang="en-US" altLang="en-US" sz="1800" b="1" i="0" u="none" strike="noStrike" cap="none" normalizeH="0" baseline="0" dirty="0">
                <a:ln>
                  <a:noFill/>
                </a:ln>
                <a:solidFill>
                  <a:schemeClr val="accent1">
                    <a:lumMod val="75000"/>
                  </a:schemeClr>
                </a:solidFill>
                <a:effectLst/>
                <a:latin typeface="+mj-lt"/>
              </a:rPr>
              <a:t>Client–Server model</a:t>
            </a:r>
            <a:r>
              <a:rPr kumimoji="0" lang="en-US" altLang="en-US" sz="1800" b="0" i="0" u="none" strike="noStrike" cap="none" normalizeH="0" baseline="0" dirty="0">
                <a:ln>
                  <a:noFill/>
                </a:ln>
                <a:solidFill>
                  <a:schemeClr val="accent1">
                    <a:lumMod val="75000"/>
                  </a:schemeClr>
                </a:solidFill>
                <a:effectLst/>
                <a:latin typeface="+mj-lt"/>
              </a:rPr>
              <a:t>, using </a:t>
            </a:r>
            <a:r>
              <a:rPr kumimoji="0" lang="en-US" altLang="en-US" sz="1800" b="1" i="0" u="none" strike="noStrike" cap="none" normalizeH="0" baseline="0" dirty="0">
                <a:ln>
                  <a:noFill/>
                </a:ln>
                <a:solidFill>
                  <a:schemeClr val="accent1">
                    <a:lumMod val="75000"/>
                  </a:schemeClr>
                </a:solidFill>
                <a:effectLst/>
                <a:latin typeface="+mj-lt"/>
              </a:rPr>
              <a:t>Remote Procedure Calls (RPC)</a:t>
            </a:r>
            <a:r>
              <a:rPr kumimoji="0" lang="en-US" altLang="en-US" sz="1800" b="0" i="0" u="none" strike="noStrike" cap="none" normalizeH="0" baseline="0" dirty="0">
                <a:ln>
                  <a:noFill/>
                </a:ln>
                <a:solidFill>
                  <a:schemeClr val="accent1">
                    <a:lumMod val="75000"/>
                  </a:schemeClr>
                </a:solidFill>
                <a:effectLst/>
                <a:latin typeface="+mj-lt"/>
              </a:rPr>
              <a:t> for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mj-lt"/>
              </a:rPr>
              <a:t>It provides </a:t>
            </a:r>
            <a:r>
              <a:rPr kumimoji="0" lang="en-US" altLang="en-US" sz="1800" b="1" i="0" u="none" strike="noStrike" cap="none" normalizeH="0" baseline="0" dirty="0">
                <a:ln>
                  <a:noFill/>
                </a:ln>
                <a:solidFill>
                  <a:schemeClr val="accent1">
                    <a:lumMod val="75000"/>
                  </a:schemeClr>
                </a:solidFill>
                <a:effectLst/>
                <a:latin typeface="+mj-lt"/>
              </a:rPr>
              <a:t>transparent, location-independent access</a:t>
            </a:r>
            <a:r>
              <a:rPr kumimoji="0" lang="en-US" altLang="en-US" sz="1800" b="0" i="0" u="none" strike="noStrike" cap="none" normalizeH="0" baseline="0" dirty="0">
                <a:ln>
                  <a:noFill/>
                </a:ln>
                <a:solidFill>
                  <a:schemeClr val="accent1">
                    <a:lumMod val="75000"/>
                  </a:schemeClr>
                </a:solidFill>
                <a:effectLst/>
                <a:latin typeface="+mj-lt"/>
              </a:rPr>
              <a:t> to files over the network.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accent1">
                  <a:lumMod val="75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mj-lt"/>
              </a:rPr>
              <a:t>Key Principle:</a:t>
            </a:r>
            <a:endParaRPr kumimoji="0" lang="en-US" altLang="en-US" sz="1800" b="0" i="0" u="none" strike="noStrike" cap="none" normalizeH="0" baseline="0" dirty="0">
              <a:ln>
                <a:noFill/>
              </a:ln>
              <a:solidFill>
                <a:schemeClr val="accent1">
                  <a:lumMod val="75000"/>
                </a:schemeClr>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accent1">
                    <a:lumMod val="75000"/>
                  </a:schemeClr>
                </a:solidFill>
                <a:effectLst/>
                <a:latin typeface="+mj-lt"/>
              </a:rPr>
              <a:t>“Files located on remote machines can be accessed just like local files, with the same system calls and interfaces.”</a:t>
            </a:r>
          </a:p>
          <a:p>
            <a:pPr marL="0" indent="0">
              <a:buNone/>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70229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2BBBAF-7FBA-4F70-DDF4-D8670049F2AE}"/>
              </a:ext>
            </a:extLst>
          </p:cNvPr>
          <p:cNvSpPr>
            <a:spLocks noGrp="1"/>
          </p:cNvSpPr>
          <p:nvPr>
            <p:ph idx="1"/>
          </p:nvPr>
        </p:nvSpPr>
        <p:spPr>
          <a:xfrm>
            <a:off x="803369" y="344384"/>
            <a:ext cx="10585262" cy="660249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6">
                    <a:lumMod val="75000"/>
                  </a:schemeClr>
                </a:solidFill>
                <a:effectLst/>
                <a:latin typeface="Arial" panose="020B0604020202020204" pitchFamily="34" charset="0"/>
              </a:rPr>
              <a:t>NFS Architecture Overview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Arial" panose="020B0604020202020204" pitchFamily="34" charset="0"/>
              </a:rPr>
              <a:t>Architecture Type:</a:t>
            </a:r>
            <a:r>
              <a:rPr kumimoji="0" lang="en-US" altLang="en-US" sz="1800" b="0" i="0" u="none" strike="noStrike" cap="none" normalizeH="0" baseline="0" dirty="0">
                <a:ln>
                  <a:noFill/>
                </a:ln>
                <a:solidFill>
                  <a:schemeClr val="accent1">
                    <a:lumMod val="75000"/>
                  </a:schemeClr>
                </a:solidFill>
                <a:effectLst/>
                <a:latin typeface="Arial" panose="020B0604020202020204" pitchFamily="34" charset="0"/>
              </a:rPr>
              <a:t> Client–Server Model</a:t>
            </a:r>
            <a:endParaRPr kumimoji="0" lang="en-US" altLang="en-US" sz="1800" b="1" i="0" u="none" strike="noStrike" cap="none" normalizeH="0" baseline="0" dirty="0">
              <a:ln>
                <a:noFill/>
              </a:ln>
              <a:solidFill>
                <a:schemeClr val="accent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accent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Arial" panose="020B0604020202020204" pitchFamily="34" charset="0"/>
              </a:rPr>
              <a:t>Components: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accent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latin typeface="Arial" panose="020B0604020202020204" pitchFamily="34" charset="0"/>
              </a:rPr>
              <a:t>NFS Server</a:t>
            </a:r>
            <a:endParaRPr kumimoji="0" lang="en-US" altLang="en-US" sz="1800" b="0" i="0" u="none" strike="noStrike" cap="none" normalizeH="0" baseline="0" dirty="0">
              <a:ln>
                <a:noFill/>
              </a:ln>
              <a:solidFill>
                <a:schemeClr val="accent1">
                  <a:lumMod val="75000"/>
                </a:schemeClr>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Arial" panose="020B0604020202020204" pitchFamily="34" charset="0"/>
              </a:rPr>
              <a:t>Stores exported directories.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Arial" panose="020B0604020202020204" pitchFamily="34" charset="0"/>
              </a:rPr>
              <a:t>Runs daemons: </a:t>
            </a:r>
            <a:r>
              <a:rPr kumimoji="0" lang="en-US" altLang="en-US" sz="1800" b="0" i="0" u="none" strike="noStrike" cap="none" normalizeH="0" baseline="0" dirty="0" err="1">
                <a:ln>
                  <a:noFill/>
                </a:ln>
                <a:solidFill>
                  <a:schemeClr val="accent1">
                    <a:lumMod val="75000"/>
                  </a:schemeClr>
                </a:solidFill>
                <a:effectLst/>
                <a:latin typeface="Arial Unicode MS"/>
              </a:rPr>
              <a:t>nfsd</a:t>
            </a:r>
            <a:r>
              <a:rPr kumimoji="0" lang="en-US" altLang="en-US" sz="1800" b="0" i="0" u="none" strike="noStrike" cap="none" normalizeH="0" baseline="0" dirty="0">
                <a:ln>
                  <a:noFill/>
                </a:ln>
                <a:solidFill>
                  <a:schemeClr val="accent1">
                    <a:lumMod val="75000"/>
                  </a:schemeClr>
                </a:solidFill>
                <a:effectLst/>
              </a:rPr>
              <a:t>, </a:t>
            </a:r>
            <a:r>
              <a:rPr kumimoji="0" lang="en-US" altLang="en-US" sz="1800" b="0" i="0" u="none" strike="noStrike" cap="none" normalizeH="0" baseline="0" dirty="0" err="1">
                <a:ln>
                  <a:noFill/>
                </a:ln>
                <a:solidFill>
                  <a:schemeClr val="accent1">
                    <a:lumMod val="75000"/>
                  </a:schemeClr>
                </a:solidFill>
                <a:effectLst/>
                <a:latin typeface="Arial Unicode MS"/>
              </a:rPr>
              <a:t>mountd</a:t>
            </a:r>
            <a:r>
              <a:rPr kumimoji="0" lang="en-US" altLang="en-US" sz="1800" b="0" i="0" u="none" strike="noStrike" cap="none" normalizeH="0" baseline="0" dirty="0">
                <a:ln>
                  <a:noFill/>
                </a:ln>
                <a:solidFill>
                  <a:schemeClr val="accent1">
                    <a:lumMod val="75000"/>
                  </a:schemeClr>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accent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latin typeface="Arial" panose="020B0604020202020204" pitchFamily="34" charset="0"/>
              </a:rPr>
              <a:t>NFS Client</a:t>
            </a:r>
            <a:endParaRPr kumimoji="0" lang="en-US" altLang="en-US" sz="1800" b="0" i="0" u="none" strike="noStrike" cap="none" normalizeH="0" baseline="0" dirty="0">
              <a:ln>
                <a:noFill/>
              </a:ln>
              <a:solidFill>
                <a:schemeClr val="accent1">
                  <a:lumMod val="75000"/>
                </a:schemeClr>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Arial" panose="020B0604020202020204" pitchFamily="34" charset="0"/>
              </a:rPr>
              <a:t>Mounts remote directories.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Arial" panose="020B0604020202020204" pitchFamily="34" charset="0"/>
              </a:rPr>
              <a:t>Runs daemons: </a:t>
            </a:r>
            <a:r>
              <a:rPr kumimoji="0" lang="en-US" altLang="en-US" sz="1800" b="0" i="0" u="none" strike="noStrike" cap="none" normalizeH="0" baseline="0" dirty="0" err="1">
                <a:ln>
                  <a:noFill/>
                </a:ln>
                <a:solidFill>
                  <a:schemeClr val="accent1">
                    <a:lumMod val="75000"/>
                  </a:schemeClr>
                </a:solidFill>
                <a:effectLst/>
                <a:latin typeface="Arial Unicode MS"/>
              </a:rPr>
              <a:t>biod</a:t>
            </a:r>
            <a:r>
              <a:rPr kumimoji="0" lang="en-US" altLang="en-US" sz="1800" b="0" i="0" u="none" strike="noStrike" cap="none" normalizeH="0" baseline="0" dirty="0">
                <a:ln>
                  <a:noFill/>
                </a:ln>
                <a:solidFill>
                  <a:schemeClr val="accent1">
                    <a:lumMod val="75000"/>
                  </a:schemeClr>
                </a:solidFill>
                <a:effectLst/>
              </a:rPr>
              <a:t>, </a:t>
            </a:r>
            <a:r>
              <a:rPr kumimoji="0" lang="en-US" altLang="en-US" sz="1800" b="0" i="0" u="none" strike="noStrike" cap="none" normalizeH="0" baseline="0" dirty="0" err="1">
                <a:ln>
                  <a:noFill/>
                </a:ln>
                <a:solidFill>
                  <a:schemeClr val="accent1">
                    <a:lumMod val="75000"/>
                  </a:schemeClr>
                </a:solidFill>
                <a:effectLst/>
                <a:latin typeface="Arial Unicode MS"/>
              </a:rPr>
              <a:t>rpcbind</a:t>
            </a:r>
            <a:r>
              <a:rPr kumimoji="0" lang="en-US" altLang="en-US" sz="1800" b="0" i="0" u="none" strike="noStrike" cap="none" normalizeH="0" baseline="0" dirty="0">
                <a:ln>
                  <a:noFill/>
                </a:ln>
                <a:solidFill>
                  <a:schemeClr val="accent1">
                    <a:lumMod val="75000"/>
                  </a:schemeClr>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accent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latin typeface="Arial" panose="020B0604020202020204" pitchFamily="34" charset="0"/>
              </a:rPr>
              <a:t>Network Layer</a:t>
            </a:r>
            <a:endParaRPr kumimoji="0" lang="en-US" altLang="en-US" sz="1800" b="0" i="0" u="none" strike="noStrike" cap="none" normalizeH="0" baseline="0" dirty="0">
              <a:ln>
                <a:noFill/>
              </a:ln>
              <a:solidFill>
                <a:schemeClr val="accent1">
                  <a:lumMod val="75000"/>
                </a:schemeClr>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Arial" panose="020B0604020202020204" pitchFamily="34" charset="0"/>
              </a:rPr>
              <a:t>Handles communication using RPC over TCP/UDP.</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6">
                  <a:lumMod val="75000"/>
                </a:schemeClr>
              </a:solidFill>
            </a:endParaRPr>
          </a:p>
        </p:txBody>
      </p:sp>
    </p:spTree>
    <p:extLst>
      <p:ext uri="{BB962C8B-B14F-4D97-AF65-F5344CB8AC3E}">
        <p14:creationId xmlns:p14="http://schemas.microsoft.com/office/powerpoint/2010/main" val="16941623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92BBBAF-7FBA-4F70-DDF4-D8670049F2AE}"/>
              </a:ext>
            </a:extLst>
          </p:cNvPr>
          <p:cNvSpPr>
            <a:spLocks noGrp="1"/>
          </p:cNvSpPr>
          <p:nvPr>
            <p:ph idx="1"/>
          </p:nvPr>
        </p:nvSpPr>
        <p:spPr>
          <a:xfrm>
            <a:off x="427512" y="344384"/>
            <a:ext cx="10585262" cy="524057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b="1" dirty="0">
                <a:solidFill>
                  <a:schemeClr val="accent6">
                    <a:lumMod val="75000"/>
                  </a:schemeClr>
                </a:solidFill>
              </a:rPr>
              <a:t>NFS Architecture</a:t>
            </a:r>
          </a:p>
          <a:p>
            <a:r>
              <a:rPr lang="en-US" sz="1800" dirty="0">
                <a:solidFill>
                  <a:schemeClr val="accent1">
                    <a:lumMod val="75000"/>
                  </a:schemeClr>
                </a:solidFill>
              </a:rPr>
              <a:t>NFS is structured as a </a:t>
            </a:r>
            <a:r>
              <a:rPr lang="en-US" sz="1800" b="1" dirty="0">
                <a:solidFill>
                  <a:schemeClr val="accent1">
                    <a:lumMod val="75000"/>
                  </a:schemeClr>
                </a:solidFill>
              </a:rPr>
              <a:t>multi-layered architecture</a:t>
            </a:r>
            <a:r>
              <a:rPr lang="en-US" sz="1800" dirty="0">
                <a:solidFill>
                  <a:schemeClr val="accent1">
                    <a:lumMod val="75000"/>
                  </a:schemeClr>
                </a:solidFill>
              </a:rPr>
              <a:t> to separate file system interface, client-side functions, and network communication.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accent1">
                  <a:lumMod val="75000"/>
                </a:schemeClr>
              </a:solidFill>
              <a:effectLst/>
              <a:latin typeface="+mj-lt"/>
            </a:endParaRPr>
          </a:p>
          <a:p>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a:extLst>
              <a:ext uri="{FF2B5EF4-FFF2-40B4-BE49-F238E27FC236}">
                <a16:creationId xmlns:a16="http://schemas.microsoft.com/office/drawing/2014/main" id="{8B3B36AA-2C55-1C30-A4E5-EA104DB20D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718" y="2007062"/>
            <a:ext cx="6667500" cy="415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1795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92BBBAF-7FBA-4F70-DDF4-D8670049F2AE}"/>
              </a:ext>
            </a:extLst>
          </p:cNvPr>
          <p:cNvSpPr>
            <a:spLocks noGrp="1"/>
          </p:cNvSpPr>
          <p:nvPr>
            <p:ph idx="1"/>
          </p:nvPr>
        </p:nvSpPr>
        <p:spPr>
          <a:xfrm>
            <a:off x="427513" y="344384"/>
            <a:ext cx="8122721" cy="6459416"/>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b="1" dirty="0">
                <a:solidFill>
                  <a:schemeClr val="accent6">
                    <a:lumMod val="75000"/>
                  </a:schemeClr>
                </a:solidFill>
              </a:rPr>
              <a:t>NFS Architecture</a:t>
            </a:r>
          </a:p>
          <a:p>
            <a:r>
              <a:rPr lang="en-US" sz="1800" dirty="0">
                <a:solidFill>
                  <a:schemeClr val="accent1">
                    <a:lumMod val="75000"/>
                  </a:schemeClr>
                </a:solidFill>
              </a:rPr>
              <a:t>NFS is structured as a </a:t>
            </a:r>
            <a:r>
              <a:rPr lang="en-US" sz="1800" b="1" dirty="0">
                <a:solidFill>
                  <a:schemeClr val="accent1">
                    <a:lumMod val="75000"/>
                  </a:schemeClr>
                </a:solidFill>
              </a:rPr>
              <a:t>multi-layered architecture</a:t>
            </a:r>
            <a:r>
              <a:rPr lang="en-US" sz="1800" dirty="0">
                <a:solidFill>
                  <a:schemeClr val="accent1">
                    <a:lumMod val="75000"/>
                  </a:schemeClr>
                </a:solidFill>
              </a:rPr>
              <a:t> to separate file system interface, client-side functions, and network communication.</a:t>
            </a:r>
          </a:p>
          <a:p>
            <a:pPr marL="0" indent="0">
              <a:buNone/>
            </a:pPr>
            <a:r>
              <a:rPr lang="en-US" sz="1800" b="1" dirty="0">
                <a:solidFill>
                  <a:schemeClr val="accent6">
                    <a:lumMod val="75000"/>
                  </a:schemeClr>
                </a:solidFill>
              </a:rPr>
              <a:t>NFS Client</a:t>
            </a:r>
          </a:p>
          <a:p>
            <a:pPr>
              <a:buFont typeface="Arial" panose="020B0604020202020204" pitchFamily="34" charset="0"/>
              <a:buChar char="•"/>
            </a:pPr>
            <a:r>
              <a:rPr lang="en-US" sz="1800" dirty="0">
                <a:solidFill>
                  <a:schemeClr val="accent1">
                    <a:lumMod val="75000"/>
                  </a:schemeClr>
                </a:solidFill>
              </a:rPr>
              <a:t>Resides on the </a:t>
            </a:r>
            <a:r>
              <a:rPr lang="en-US" sz="1800" b="1" dirty="0">
                <a:solidFill>
                  <a:schemeClr val="accent1">
                    <a:lumMod val="75000"/>
                  </a:schemeClr>
                </a:solidFill>
              </a:rPr>
              <a:t>client machine</a:t>
            </a:r>
            <a:r>
              <a:rPr lang="en-US" sz="1800" dirty="0">
                <a:solidFill>
                  <a:schemeClr val="accent1">
                    <a:lumMod val="75000"/>
                  </a:schemeClr>
                </a:solidFill>
              </a:rPr>
              <a:t>.</a:t>
            </a:r>
          </a:p>
          <a:p>
            <a:pPr>
              <a:buFont typeface="Arial" panose="020B0604020202020204" pitchFamily="34" charset="0"/>
              <a:buChar char="•"/>
            </a:pPr>
            <a:r>
              <a:rPr lang="en-US" sz="1800" dirty="0">
                <a:solidFill>
                  <a:schemeClr val="accent1">
                    <a:lumMod val="75000"/>
                  </a:schemeClr>
                </a:solidFill>
              </a:rPr>
              <a:t>Allows local users/processes to </a:t>
            </a:r>
            <a:r>
              <a:rPr lang="en-US" sz="1800" b="1" dirty="0">
                <a:solidFill>
                  <a:schemeClr val="accent1">
                    <a:lumMod val="75000"/>
                  </a:schemeClr>
                </a:solidFill>
              </a:rPr>
              <a:t>transparently access</a:t>
            </a:r>
            <a:r>
              <a:rPr lang="en-US" sz="1800" dirty="0">
                <a:solidFill>
                  <a:schemeClr val="accent1">
                    <a:lumMod val="75000"/>
                  </a:schemeClr>
                </a:solidFill>
              </a:rPr>
              <a:t> files on a remote server.</a:t>
            </a:r>
          </a:p>
          <a:p>
            <a:pPr>
              <a:buFont typeface="Arial" panose="020B0604020202020204" pitchFamily="34" charset="0"/>
              <a:buChar char="•"/>
            </a:pPr>
            <a:r>
              <a:rPr lang="en-US" sz="1800" b="1" dirty="0">
                <a:solidFill>
                  <a:schemeClr val="accent1">
                    <a:lumMod val="75000"/>
                  </a:schemeClr>
                </a:solidFill>
              </a:rPr>
              <a:t>Main Modules:</a:t>
            </a:r>
            <a:endParaRPr lang="en-US" sz="1800" dirty="0">
              <a:solidFill>
                <a:schemeClr val="accent1">
                  <a:lumMod val="75000"/>
                </a:schemeClr>
              </a:solidFill>
            </a:endParaRPr>
          </a:p>
          <a:p>
            <a:pPr marL="742950" lvl="1" indent="-285750">
              <a:buFont typeface="Arial" panose="020B0604020202020204" pitchFamily="34" charset="0"/>
              <a:buChar char="•"/>
            </a:pPr>
            <a:r>
              <a:rPr lang="en-US" sz="1800" b="1" dirty="0">
                <a:solidFill>
                  <a:schemeClr val="accent1">
                    <a:lumMod val="75000"/>
                  </a:schemeClr>
                </a:solidFill>
              </a:rPr>
              <a:t>VFS (Virtual File System):</a:t>
            </a:r>
            <a:r>
              <a:rPr lang="en-US" sz="1800" dirty="0">
                <a:solidFill>
                  <a:schemeClr val="accent1">
                    <a:lumMod val="75000"/>
                  </a:schemeClr>
                </a:solidFill>
              </a:rPr>
              <a:t> Provides abstraction for different file systems (ext4, NFS, etc.).</a:t>
            </a:r>
          </a:p>
          <a:p>
            <a:pPr marL="742950" lvl="1" indent="-285750">
              <a:buFont typeface="Arial" panose="020B0604020202020204" pitchFamily="34" charset="0"/>
              <a:buChar char="•"/>
            </a:pPr>
            <a:r>
              <a:rPr lang="en-US" sz="1800" b="1" dirty="0">
                <a:solidFill>
                  <a:schemeClr val="accent1">
                    <a:lumMod val="75000"/>
                  </a:schemeClr>
                </a:solidFill>
              </a:rPr>
              <a:t>NFS Client Module:</a:t>
            </a:r>
            <a:r>
              <a:rPr lang="en-US" sz="1800" dirty="0">
                <a:solidFill>
                  <a:schemeClr val="accent1">
                    <a:lumMod val="75000"/>
                  </a:schemeClr>
                </a:solidFill>
              </a:rPr>
              <a:t> Handles requests to remote files (open, read, write, close).</a:t>
            </a:r>
          </a:p>
          <a:p>
            <a:pPr marL="742950" lvl="1" indent="-285750">
              <a:buFont typeface="Arial" panose="020B0604020202020204" pitchFamily="34" charset="0"/>
              <a:buChar char="•"/>
            </a:pPr>
            <a:r>
              <a:rPr lang="en-US" sz="1800" b="1" dirty="0">
                <a:solidFill>
                  <a:schemeClr val="accent1">
                    <a:lumMod val="75000"/>
                  </a:schemeClr>
                </a:solidFill>
              </a:rPr>
              <a:t>RPC Layer:</a:t>
            </a:r>
            <a:r>
              <a:rPr lang="en-US" sz="1800" dirty="0">
                <a:solidFill>
                  <a:schemeClr val="accent1">
                    <a:lumMod val="75000"/>
                  </a:schemeClr>
                </a:solidFill>
              </a:rPr>
              <a:t> Communicates with the NFS server using Remote Procedure Calls.</a:t>
            </a:r>
          </a:p>
          <a:p>
            <a:pPr marL="742950" lvl="1" indent="-285750">
              <a:buFont typeface="Arial" panose="020B0604020202020204" pitchFamily="34" charset="0"/>
              <a:buChar char="•"/>
            </a:pPr>
            <a:r>
              <a:rPr lang="en-US" sz="1800" b="1" dirty="0">
                <a:solidFill>
                  <a:schemeClr val="accent1">
                    <a:lumMod val="75000"/>
                  </a:schemeClr>
                </a:solidFill>
              </a:rPr>
              <a:t>Cache Manager:</a:t>
            </a:r>
            <a:r>
              <a:rPr lang="en-US" sz="1800" dirty="0">
                <a:solidFill>
                  <a:schemeClr val="accent1">
                    <a:lumMod val="75000"/>
                  </a:schemeClr>
                </a:solidFill>
              </a:rPr>
              <a:t> Stores frequently accessed data to improve performance.</a:t>
            </a:r>
            <a:endParaRPr lang="en-US" sz="1900" dirty="0">
              <a:solidFill>
                <a:schemeClr val="accent6">
                  <a:lumMod val="75000"/>
                </a:schemeClr>
              </a:solidFill>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dirty="0">
                <a:ln>
                  <a:noFill/>
                </a:ln>
                <a:solidFill>
                  <a:schemeClr val="accent6">
                    <a:lumMod val="75000"/>
                  </a:schemeClr>
                </a:solidFill>
                <a:effectLst/>
                <a:latin typeface="Calibri body"/>
              </a:rPr>
              <a:t>NFS Server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accent1">
                    <a:lumMod val="75000"/>
                  </a:schemeClr>
                </a:solidFill>
                <a:effectLst/>
                <a:latin typeface="Calibri body"/>
              </a:rPr>
              <a:t>Runs on the </a:t>
            </a:r>
            <a:r>
              <a:rPr kumimoji="0" lang="en-US" altLang="en-US" sz="1900" b="1" i="0" u="none" strike="noStrike" cap="none" normalizeH="0" baseline="0" dirty="0">
                <a:ln>
                  <a:noFill/>
                </a:ln>
                <a:solidFill>
                  <a:schemeClr val="accent1">
                    <a:lumMod val="75000"/>
                  </a:schemeClr>
                </a:solidFill>
                <a:effectLst/>
                <a:latin typeface="Calibri body"/>
              </a:rPr>
              <a:t>host machine</a:t>
            </a:r>
            <a:r>
              <a:rPr kumimoji="0" lang="en-US" altLang="en-US" sz="1900" b="0" i="0" u="none" strike="noStrike" cap="none" normalizeH="0" baseline="0" dirty="0">
                <a:ln>
                  <a:noFill/>
                </a:ln>
                <a:solidFill>
                  <a:schemeClr val="accent1">
                    <a:lumMod val="75000"/>
                  </a:schemeClr>
                </a:solidFill>
                <a:effectLst/>
                <a:latin typeface="Calibri body"/>
              </a:rPr>
              <a:t> that shares its files.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accent1">
                    <a:lumMod val="75000"/>
                  </a:schemeClr>
                </a:solidFill>
                <a:effectLst/>
                <a:latin typeface="Calibri body"/>
              </a:rPr>
              <a:t>Main Daemons:</a:t>
            </a:r>
            <a:endParaRPr kumimoji="0" lang="en-US" altLang="en-US" sz="1900" b="0" i="0" u="none" strike="noStrike" cap="none" normalizeH="0" baseline="0" dirty="0">
              <a:ln>
                <a:noFill/>
              </a:ln>
              <a:solidFill>
                <a:schemeClr val="accent1">
                  <a:lumMod val="75000"/>
                </a:schemeClr>
              </a:solidFill>
              <a:effectLst/>
              <a:latin typeface="Calibri body"/>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900" b="1" i="0" u="none" strike="noStrike" cap="none" normalizeH="0" baseline="0" dirty="0" err="1">
                <a:ln>
                  <a:noFill/>
                </a:ln>
                <a:solidFill>
                  <a:schemeClr val="accent1">
                    <a:lumMod val="75000"/>
                  </a:schemeClr>
                </a:solidFill>
                <a:effectLst/>
                <a:latin typeface="Calibri body"/>
              </a:rPr>
              <a:t>nfsd</a:t>
            </a:r>
            <a:r>
              <a:rPr kumimoji="0" lang="en-US" altLang="en-US" sz="1900" b="1" i="0" u="none" strike="noStrike" cap="none" normalizeH="0" baseline="0" dirty="0">
                <a:ln>
                  <a:noFill/>
                </a:ln>
                <a:solidFill>
                  <a:schemeClr val="accent1">
                    <a:lumMod val="75000"/>
                  </a:schemeClr>
                </a:solidFill>
                <a:effectLst/>
                <a:latin typeface="Calibri body"/>
              </a:rPr>
              <a:t>:</a:t>
            </a:r>
            <a:r>
              <a:rPr kumimoji="0" lang="en-US" altLang="en-US" sz="1900" b="0" i="0" u="none" strike="noStrike" cap="none" normalizeH="0" baseline="0" dirty="0">
                <a:ln>
                  <a:noFill/>
                </a:ln>
                <a:solidFill>
                  <a:schemeClr val="accent1">
                    <a:lumMod val="75000"/>
                  </a:schemeClr>
                </a:solidFill>
                <a:effectLst/>
                <a:latin typeface="Calibri body"/>
              </a:rPr>
              <a:t> Handles actual NFS file requests from clients.</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900" b="1" i="0" u="none" strike="noStrike" cap="none" normalizeH="0" baseline="0" dirty="0" err="1">
                <a:ln>
                  <a:noFill/>
                </a:ln>
                <a:solidFill>
                  <a:schemeClr val="accent1">
                    <a:lumMod val="75000"/>
                  </a:schemeClr>
                </a:solidFill>
                <a:effectLst/>
                <a:latin typeface="Calibri body"/>
              </a:rPr>
              <a:t>mountd</a:t>
            </a:r>
            <a:r>
              <a:rPr kumimoji="0" lang="en-US" altLang="en-US" sz="1900" b="1" i="0" u="none" strike="noStrike" cap="none" normalizeH="0" baseline="0" dirty="0">
                <a:ln>
                  <a:noFill/>
                </a:ln>
                <a:solidFill>
                  <a:schemeClr val="accent1">
                    <a:lumMod val="75000"/>
                  </a:schemeClr>
                </a:solidFill>
                <a:effectLst/>
                <a:latin typeface="Calibri body"/>
              </a:rPr>
              <a:t>:</a:t>
            </a:r>
            <a:r>
              <a:rPr kumimoji="0" lang="en-US" altLang="en-US" sz="1900" b="0" i="0" u="none" strike="noStrike" cap="none" normalizeH="0" baseline="0" dirty="0">
                <a:ln>
                  <a:noFill/>
                </a:ln>
                <a:solidFill>
                  <a:schemeClr val="accent1">
                    <a:lumMod val="75000"/>
                  </a:schemeClr>
                </a:solidFill>
                <a:effectLst/>
                <a:latin typeface="Calibri body"/>
              </a:rPr>
              <a:t> Manages mount requests and permissions.</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900" b="1" i="0" u="none" strike="noStrike" cap="none" normalizeH="0" baseline="0" dirty="0" err="1">
                <a:ln>
                  <a:noFill/>
                </a:ln>
                <a:solidFill>
                  <a:schemeClr val="accent1">
                    <a:lumMod val="75000"/>
                  </a:schemeClr>
                </a:solidFill>
                <a:effectLst/>
                <a:latin typeface="Calibri body"/>
              </a:rPr>
              <a:t>rpcbind</a:t>
            </a:r>
            <a:r>
              <a:rPr kumimoji="0" lang="en-US" altLang="en-US" sz="1900" b="1" i="0" u="none" strike="noStrike" cap="none" normalizeH="0" baseline="0" dirty="0">
                <a:ln>
                  <a:noFill/>
                </a:ln>
                <a:solidFill>
                  <a:schemeClr val="accent1">
                    <a:lumMod val="75000"/>
                  </a:schemeClr>
                </a:solidFill>
                <a:effectLst/>
                <a:latin typeface="Calibri body"/>
              </a:rPr>
              <a:t> (or portmapper):</a:t>
            </a:r>
            <a:r>
              <a:rPr kumimoji="0" lang="en-US" altLang="en-US" sz="1900" b="0" i="0" u="none" strike="noStrike" cap="none" normalizeH="0" baseline="0" dirty="0">
                <a:ln>
                  <a:noFill/>
                </a:ln>
                <a:solidFill>
                  <a:schemeClr val="accent1">
                    <a:lumMod val="75000"/>
                  </a:schemeClr>
                </a:solidFill>
                <a:effectLst/>
                <a:latin typeface="Calibri body"/>
              </a:rPr>
              <a:t> Maps RPC program numbers to network 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dirty="0">
                <a:ln>
                  <a:noFill/>
                </a:ln>
                <a:solidFill>
                  <a:schemeClr val="accent1">
                    <a:lumMod val="75000"/>
                  </a:schemeClr>
                </a:solidFill>
                <a:effectLst/>
                <a:latin typeface="Calibri body"/>
              </a:rPr>
              <a:t>Local File System:</a:t>
            </a:r>
            <a:r>
              <a:rPr kumimoji="0" lang="en-US" altLang="en-US" sz="1900" b="0" i="0" u="none" strike="noStrike" cap="none" normalizeH="0" baseline="0" dirty="0">
                <a:ln>
                  <a:noFill/>
                </a:ln>
                <a:solidFill>
                  <a:schemeClr val="accent1">
                    <a:lumMod val="75000"/>
                  </a:schemeClr>
                </a:solidFill>
                <a:effectLst/>
                <a:latin typeface="Calibri body"/>
              </a:rPr>
              <a:t> The physical file system (e.g., ext4, </a:t>
            </a:r>
            <a:r>
              <a:rPr kumimoji="0" lang="en-US" altLang="en-US" sz="1900" b="0" i="0" u="none" strike="noStrike" cap="none" normalizeH="0" baseline="0" dirty="0" err="1">
                <a:ln>
                  <a:noFill/>
                </a:ln>
                <a:solidFill>
                  <a:schemeClr val="accent1">
                    <a:lumMod val="75000"/>
                  </a:schemeClr>
                </a:solidFill>
                <a:effectLst/>
                <a:latin typeface="Calibri body"/>
              </a:rPr>
              <a:t>xfs</a:t>
            </a:r>
            <a:r>
              <a:rPr kumimoji="0" lang="en-US" altLang="en-US" sz="1900" b="0" i="0" u="none" strike="noStrike" cap="none" normalizeH="0" baseline="0" dirty="0">
                <a:ln>
                  <a:noFill/>
                </a:ln>
                <a:solidFill>
                  <a:schemeClr val="accent1">
                    <a:lumMod val="75000"/>
                  </a:schemeClr>
                </a:solidFill>
                <a:effectLst/>
                <a:latin typeface="Calibri body"/>
              </a:rPr>
              <a:t>) on the server.</a:t>
            </a:r>
          </a:p>
          <a:p>
            <a:endParaRPr lang="en-US" sz="1800" dirty="0">
              <a:solidFill>
                <a:schemeClr val="accent1">
                  <a:lumMod val="75000"/>
                </a:schemeClr>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accent1">
                  <a:lumMod val="75000"/>
                </a:schemeClr>
              </a:solidFill>
              <a:effectLst/>
              <a:latin typeface="+mj-lt"/>
            </a:endParaRPr>
          </a:p>
          <a:p>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06601921-E8A0-DD8A-509B-54D9D3600A6E}"/>
              </a:ext>
            </a:extLst>
          </p:cNvPr>
          <p:cNvSpPr txBox="1"/>
          <p:nvPr/>
        </p:nvSpPr>
        <p:spPr>
          <a:xfrm>
            <a:off x="8586472" y="1330036"/>
            <a:ext cx="3443232" cy="4524315"/>
          </a:xfrm>
          <a:prstGeom prst="rect">
            <a:avLst/>
          </a:prstGeom>
          <a:noFill/>
        </p:spPr>
        <p:txBody>
          <a:bodyPr wrap="square" rtlCol="0">
            <a:spAutoFit/>
          </a:bodyPr>
          <a:lstStyle/>
          <a:p>
            <a:r>
              <a:rPr lang="en-IN" b="1" dirty="0">
                <a:solidFill>
                  <a:schemeClr val="accent6">
                    <a:lumMod val="75000"/>
                  </a:schemeClr>
                </a:solidFill>
              </a:rPr>
              <a:t>Communication Mechanism</a:t>
            </a:r>
          </a:p>
          <a:p>
            <a:r>
              <a:rPr lang="en-IN" b="1" dirty="0">
                <a:solidFill>
                  <a:schemeClr val="accent1">
                    <a:lumMod val="75000"/>
                  </a:schemeClr>
                </a:solidFill>
              </a:rPr>
              <a:t>Remote Procedure Call (RPC)</a:t>
            </a:r>
          </a:p>
          <a:p>
            <a:pPr>
              <a:buFont typeface="Arial" panose="020B0604020202020204" pitchFamily="34" charset="0"/>
              <a:buChar char="•"/>
            </a:pPr>
            <a:r>
              <a:rPr lang="en-IN" dirty="0">
                <a:solidFill>
                  <a:schemeClr val="accent1">
                    <a:lumMod val="75000"/>
                  </a:schemeClr>
                </a:solidFill>
              </a:rPr>
              <a:t>NFS uses </a:t>
            </a:r>
            <a:r>
              <a:rPr lang="en-IN" b="1" dirty="0">
                <a:solidFill>
                  <a:schemeClr val="accent1">
                    <a:lumMod val="75000"/>
                  </a:schemeClr>
                </a:solidFill>
              </a:rPr>
              <a:t>RPC over UDP or TCP</a:t>
            </a:r>
            <a:r>
              <a:rPr lang="en-IN" dirty="0">
                <a:solidFill>
                  <a:schemeClr val="accent1">
                    <a:lumMod val="75000"/>
                  </a:schemeClr>
                </a:solidFill>
              </a:rPr>
              <a:t> for communication.</a:t>
            </a:r>
          </a:p>
          <a:p>
            <a:pPr>
              <a:buFont typeface="Arial" panose="020B0604020202020204" pitchFamily="34" charset="0"/>
              <a:buChar char="•"/>
            </a:pPr>
            <a:r>
              <a:rPr lang="en-IN" dirty="0">
                <a:solidFill>
                  <a:schemeClr val="accent1">
                    <a:lumMod val="75000"/>
                  </a:schemeClr>
                </a:solidFill>
              </a:rPr>
              <a:t>Each file operation (like read, write, </a:t>
            </a:r>
            <a:r>
              <a:rPr lang="en-IN" dirty="0" err="1">
                <a:solidFill>
                  <a:schemeClr val="accent1">
                    <a:lumMod val="75000"/>
                  </a:schemeClr>
                </a:solidFill>
              </a:rPr>
              <a:t>getattr</a:t>
            </a:r>
            <a:r>
              <a:rPr lang="en-IN" dirty="0">
                <a:solidFill>
                  <a:schemeClr val="accent1">
                    <a:lumMod val="75000"/>
                  </a:schemeClr>
                </a:solidFill>
              </a:rPr>
              <a:t>) is implemented as a </a:t>
            </a:r>
            <a:r>
              <a:rPr lang="en-IN" b="1" dirty="0">
                <a:solidFill>
                  <a:schemeClr val="accent1">
                    <a:lumMod val="75000"/>
                  </a:schemeClr>
                </a:solidFill>
              </a:rPr>
              <a:t>remote procedure</a:t>
            </a:r>
            <a:r>
              <a:rPr lang="en-IN" dirty="0">
                <a:solidFill>
                  <a:schemeClr val="accent1">
                    <a:lumMod val="75000"/>
                  </a:schemeClr>
                </a:solidFill>
              </a:rPr>
              <a:t>.</a:t>
            </a:r>
          </a:p>
          <a:p>
            <a:pPr>
              <a:buFont typeface="Arial" panose="020B0604020202020204" pitchFamily="34" charset="0"/>
              <a:buChar char="•"/>
            </a:pPr>
            <a:r>
              <a:rPr lang="en-IN" dirty="0">
                <a:solidFill>
                  <a:schemeClr val="accent1">
                    <a:lumMod val="75000"/>
                  </a:schemeClr>
                </a:solidFill>
              </a:rPr>
              <a:t>The client makes an RPC call → server executes it → returns result.</a:t>
            </a:r>
          </a:p>
          <a:p>
            <a:r>
              <a:rPr lang="en-IN" b="1" dirty="0">
                <a:solidFill>
                  <a:schemeClr val="accent1">
                    <a:lumMod val="75000"/>
                  </a:schemeClr>
                </a:solidFill>
              </a:rPr>
              <a:t>External Data Representation (XDR)</a:t>
            </a:r>
          </a:p>
          <a:p>
            <a:pPr>
              <a:buFont typeface="Arial" panose="020B0604020202020204" pitchFamily="34" charset="0"/>
              <a:buChar char="•"/>
            </a:pPr>
            <a:r>
              <a:rPr lang="en-IN" dirty="0">
                <a:solidFill>
                  <a:schemeClr val="accent1">
                    <a:lumMod val="75000"/>
                  </a:schemeClr>
                </a:solidFill>
              </a:rPr>
              <a:t>Ensures </a:t>
            </a:r>
            <a:r>
              <a:rPr lang="en-IN" b="1" dirty="0">
                <a:solidFill>
                  <a:schemeClr val="accent1">
                    <a:lumMod val="75000"/>
                  </a:schemeClr>
                </a:solidFill>
              </a:rPr>
              <a:t>data format compatibility</a:t>
            </a:r>
            <a:r>
              <a:rPr lang="en-IN" dirty="0">
                <a:solidFill>
                  <a:schemeClr val="accent1">
                    <a:lumMod val="75000"/>
                  </a:schemeClr>
                </a:solidFill>
              </a:rPr>
              <a:t> across different systems (e.g., little-endian vs big-endian).</a:t>
            </a:r>
          </a:p>
          <a:p>
            <a:endParaRPr lang="en-IN" dirty="0"/>
          </a:p>
        </p:txBody>
      </p:sp>
    </p:spTree>
    <p:extLst>
      <p:ext uri="{BB962C8B-B14F-4D97-AF65-F5344CB8AC3E}">
        <p14:creationId xmlns:p14="http://schemas.microsoft.com/office/powerpoint/2010/main" val="40920731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92BBBAF-7FBA-4F70-DDF4-D8670049F2AE}"/>
              </a:ext>
            </a:extLst>
          </p:cNvPr>
          <p:cNvSpPr>
            <a:spLocks noGrp="1"/>
          </p:cNvSpPr>
          <p:nvPr>
            <p:ph idx="1"/>
          </p:nvPr>
        </p:nvSpPr>
        <p:spPr>
          <a:xfrm>
            <a:off x="427512" y="344384"/>
            <a:ext cx="10585262" cy="5240571"/>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6">
                    <a:lumMod val="75000"/>
                  </a:schemeClr>
                </a:solidFill>
                <a:effectLst/>
                <a:latin typeface="Arial" panose="020B0604020202020204" pitchFamily="34" charset="0"/>
              </a:rPr>
              <a:t> NFS File Access Mechanism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accent6">
                  <a:lumMod val="7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6">
                    <a:lumMod val="75000"/>
                  </a:schemeClr>
                </a:solidFill>
                <a:effectLst/>
              </a:rPr>
              <a:t>A. Mounting Phase</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accent1">
                    <a:lumMod val="75000"/>
                  </a:schemeClr>
                </a:solidFill>
                <a:effectLst/>
              </a:rPr>
              <a:t>Client contacts the </a:t>
            </a:r>
            <a:r>
              <a:rPr kumimoji="0" lang="en-US" altLang="en-US" sz="1800" b="1" i="0" u="none" strike="noStrike" cap="none" normalizeH="0" baseline="0" dirty="0">
                <a:ln>
                  <a:noFill/>
                </a:ln>
                <a:solidFill>
                  <a:schemeClr val="accent1">
                    <a:lumMod val="75000"/>
                  </a:schemeClr>
                </a:solidFill>
                <a:effectLst/>
              </a:rPr>
              <a:t>mount daemon</a:t>
            </a:r>
            <a:r>
              <a:rPr kumimoji="0" lang="en-US" altLang="en-US" sz="1800" b="0" i="0" u="none" strike="noStrike" cap="none" normalizeH="0" baseline="0" dirty="0">
                <a:ln>
                  <a:noFill/>
                </a:ln>
                <a:solidFill>
                  <a:schemeClr val="accent1">
                    <a:lumMod val="75000"/>
                  </a:schemeClr>
                </a:solidFill>
                <a:effectLst/>
              </a:rPr>
              <a:t> on the server.</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accent1">
                    <a:lumMod val="75000"/>
                  </a:schemeClr>
                </a:solidFill>
                <a:effectLst/>
              </a:rPr>
              <a:t>Server verifies </a:t>
            </a:r>
            <a:r>
              <a:rPr kumimoji="0" lang="en-US" altLang="en-US" sz="1800" b="1" i="0" u="none" strike="noStrike" cap="none" normalizeH="0" baseline="0" dirty="0">
                <a:ln>
                  <a:noFill/>
                </a:ln>
                <a:solidFill>
                  <a:schemeClr val="accent1">
                    <a:lumMod val="75000"/>
                  </a:schemeClr>
                </a:solidFill>
                <a:effectLst/>
              </a:rPr>
              <a:t>access permissions</a:t>
            </a:r>
            <a:r>
              <a:rPr kumimoji="0" lang="en-US" altLang="en-US" sz="1800" b="0" i="0" u="none" strike="noStrike" cap="none" normalizeH="0" baseline="0" dirty="0">
                <a:ln>
                  <a:noFill/>
                </a:ln>
                <a:solidFill>
                  <a:schemeClr val="accent1">
                    <a:lumMod val="75000"/>
                  </a:schemeClr>
                </a:solidFill>
                <a:effectLst/>
              </a:rPr>
              <a:t> (based on /</a:t>
            </a:r>
            <a:r>
              <a:rPr kumimoji="0" lang="en-US" altLang="en-US" sz="1800" b="0" i="0" u="none" strike="noStrike" cap="none" normalizeH="0" baseline="0" dirty="0" err="1">
                <a:ln>
                  <a:noFill/>
                </a:ln>
                <a:solidFill>
                  <a:schemeClr val="accent1">
                    <a:lumMod val="75000"/>
                  </a:schemeClr>
                </a:solidFill>
                <a:effectLst/>
              </a:rPr>
              <a:t>etc</a:t>
            </a:r>
            <a:r>
              <a:rPr kumimoji="0" lang="en-US" altLang="en-US" sz="1800" b="0" i="0" u="none" strike="noStrike" cap="none" normalizeH="0" baseline="0" dirty="0">
                <a:ln>
                  <a:noFill/>
                </a:ln>
                <a:solidFill>
                  <a:schemeClr val="accent1">
                    <a:lumMod val="75000"/>
                  </a:schemeClr>
                </a:solidFill>
                <a:effectLst/>
              </a:rPr>
              <a:t>/exports file).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accent1">
                    <a:lumMod val="75000"/>
                  </a:schemeClr>
                </a:solidFill>
                <a:effectLst/>
              </a:rPr>
              <a:t>If permitted, server returns a </a:t>
            </a:r>
            <a:r>
              <a:rPr kumimoji="0" lang="en-US" altLang="en-US" sz="1800" b="1" i="0" u="none" strike="noStrike" cap="none" normalizeH="0" baseline="0" dirty="0">
                <a:ln>
                  <a:noFill/>
                </a:ln>
                <a:solidFill>
                  <a:schemeClr val="accent1">
                    <a:lumMod val="75000"/>
                  </a:schemeClr>
                </a:solidFill>
                <a:effectLst/>
              </a:rPr>
              <a:t>file handle</a:t>
            </a:r>
            <a:r>
              <a:rPr kumimoji="0" lang="en-US" altLang="en-US" sz="1800" b="0" i="0" u="none" strike="noStrike" cap="none" normalizeH="0" baseline="0" dirty="0">
                <a:ln>
                  <a:noFill/>
                </a:ln>
                <a:solidFill>
                  <a:schemeClr val="accent1">
                    <a:lumMod val="75000"/>
                  </a:schemeClr>
                </a:solidFill>
                <a:effectLst/>
              </a:rPr>
              <a:t> (a unique identifier for directory).</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accent1">
                    <a:lumMod val="75000"/>
                  </a:schemeClr>
                </a:solidFill>
                <a:effectLst/>
              </a:rPr>
              <a:t>Client </a:t>
            </a:r>
            <a:r>
              <a:rPr kumimoji="0" lang="en-US" altLang="en-US" sz="1800" b="1" i="0" u="none" strike="noStrike" cap="none" normalizeH="0" baseline="0" dirty="0">
                <a:ln>
                  <a:noFill/>
                </a:ln>
                <a:solidFill>
                  <a:schemeClr val="accent1">
                    <a:lumMod val="75000"/>
                  </a:schemeClr>
                </a:solidFill>
                <a:effectLst/>
              </a:rPr>
              <a:t>mounts</a:t>
            </a:r>
            <a:r>
              <a:rPr kumimoji="0" lang="en-US" altLang="en-US" sz="1800" b="0" i="0" u="none" strike="noStrike" cap="none" normalizeH="0" baseline="0" dirty="0">
                <a:ln>
                  <a:noFill/>
                </a:ln>
                <a:solidFill>
                  <a:schemeClr val="accent1">
                    <a:lumMod val="75000"/>
                  </a:schemeClr>
                </a:solidFill>
                <a:effectLst/>
              </a:rPr>
              <a:t> the remote directory into its local file tree.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accent1">
                  <a:lumMod val="7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accent1">
                  <a:lumMod val="75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6">
                    <a:lumMod val="75000"/>
                  </a:schemeClr>
                </a:solidFill>
                <a:effectLst/>
              </a:rPr>
              <a:t>B. File Operation Phase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accent1">
                    <a:lumMod val="75000"/>
                  </a:schemeClr>
                </a:solidFill>
                <a:effectLst/>
              </a:rPr>
              <a:t>Once mounted: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rPr>
              <a:t>User processes use normal system calls: open(), read(), write(), close().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rPr>
              <a:t>The </a:t>
            </a:r>
            <a:r>
              <a:rPr kumimoji="0" lang="en-US" altLang="en-US" sz="1800" b="1" i="0" u="none" strike="noStrike" cap="none" normalizeH="0" baseline="0" dirty="0">
                <a:ln>
                  <a:noFill/>
                </a:ln>
                <a:solidFill>
                  <a:schemeClr val="accent1">
                    <a:lumMod val="75000"/>
                  </a:schemeClr>
                </a:solidFill>
                <a:effectLst/>
              </a:rPr>
              <a:t>Virtual File System (VFS)</a:t>
            </a:r>
            <a:r>
              <a:rPr kumimoji="0" lang="en-US" altLang="en-US" sz="1800" b="0" i="0" u="none" strike="noStrike" cap="none" normalizeH="0" baseline="0" dirty="0">
                <a:ln>
                  <a:noFill/>
                </a:ln>
                <a:solidFill>
                  <a:schemeClr val="accent1">
                    <a:lumMod val="75000"/>
                  </a:schemeClr>
                </a:solidFill>
                <a:effectLst/>
              </a:rPr>
              <a:t> layer determines if the file is local or remote.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rPr>
              <a:t>If remote:</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accent1">
                    <a:lumMod val="75000"/>
                  </a:schemeClr>
                </a:solidFill>
                <a:effectLst/>
              </a:rPr>
              <a:t>The NFS client converts the request into an </a:t>
            </a:r>
            <a:r>
              <a:rPr kumimoji="0" lang="en-US" altLang="en-US" sz="1800" b="1" i="0" u="none" strike="noStrike" cap="none" normalizeH="0" baseline="0" dirty="0">
                <a:ln>
                  <a:noFill/>
                </a:ln>
                <a:solidFill>
                  <a:schemeClr val="accent1">
                    <a:lumMod val="75000"/>
                  </a:schemeClr>
                </a:solidFill>
                <a:effectLst/>
              </a:rPr>
              <a:t>RPC</a:t>
            </a:r>
            <a:r>
              <a:rPr kumimoji="0" lang="en-US" altLang="en-US" sz="1800" b="0" i="0" u="none" strike="noStrike" cap="none" normalizeH="0" baseline="0" dirty="0">
                <a:ln>
                  <a:noFill/>
                </a:ln>
                <a:solidFill>
                  <a:schemeClr val="accent1">
                    <a:lumMod val="75000"/>
                  </a:schemeClr>
                </a:solidFill>
                <a:effectLst/>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accent1">
                    <a:lumMod val="75000"/>
                  </a:schemeClr>
                </a:solidFill>
                <a:effectLst/>
              </a:rPr>
              <a:t>The RPC is sent to the server.</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accent1">
                    <a:lumMod val="75000"/>
                  </a:schemeClr>
                </a:solidFill>
                <a:effectLst/>
              </a:rPr>
              <a:t>The NFS server performs the operation and returns results.</a:t>
            </a:r>
          </a:p>
          <a:p>
            <a:pPr marL="0" indent="0"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accent1">
                    <a:lumMod val="75000"/>
                  </a:schemeClr>
                </a:solidFill>
                <a:effectLst/>
              </a:rPr>
              <a:t>All operations (READ, WRITE, LOOKUP, CREATE, REMOVE, etc.) are handled as </a:t>
            </a:r>
            <a:r>
              <a:rPr kumimoji="0" lang="en-US" altLang="en-US" sz="1800" b="1" i="0" u="none" strike="noStrike" cap="none" normalizeH="0" baseline="0" dirty="0">
                <a:ln>
                  <a:noFill/>
                </a:ln>
                <a:solidFill>
                  <a:schemeClr val="accent1">
                    <a:lumMod val="75000"/>
                  </a:schemeClr>
                </a:solidFill>
                <a:effectLst/>
              </a:rPr>
              <a:t>RPC calls</a:t>
            </a:r>
            <a:r>
              <a:rPr kumimoji="0" lang="en-US" altLang="en-US" sz="1800" b="0" i="0" u="none" strike="noStrike" cap="none" normalizeH="0" baseline="0" dirty="0">
                <a:ln>
                  <a:noFill/>
                </a:ln>
                <a:solidFill>
                  <a:schemeClr val="accent1">
                    <a:lumMod val="75000"/>
                  </a:schemeClr>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242858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92BBBAF-7FBA-4F70-DDF4-D8670049F2AE}"/>
              </a:ext>
            </a:extLst>
          </p:cNvPr>
          <p:cNvSpPr>
            <a:spLocks noGrp="1"/>
          </p:cNvSpPr>
          <p:nvPr>
            <p:ph idx="1"/>
          </p:nvPr>
        </p:nvSpPr>
        <p:spPr>
          <a:xfrm>
            <a:off x="427512" y="225630"/>
            <a:ext cx="10585262" cy="6602491"/>
          </a:xfrm>
        </p:spPr>
        <p:txBody>
          <a:bodyPr>
            <a:normAutofit/>
          </a:bodyPr>
          <a:lstStyle/>
          <a:p>
            <a:pPr marL="0" indent="0">
              <a:buNone/>
            </a:pPr>
            <a:r>
              <a:rPr lang="en-US" sz="1800" b="1" dirty="0">
                <a:solidFill>
                  <a:schemeClr val="accent6">
                    <a:lumMod val="75000"/>
                  </a:schemeClr>
                </a:solidFill>
              </a:rPr>
              <a:t> Communication Using RPC and XDR</a:t>
            </a:r>
          </a:p>
          <a:p>
            <a:r>
              <a:rPr lang="en-US" sz="1800" b="1" dirty="0">
                <a:solidFill>
                  <a:schemeClr val="accent1">
                    <a:lumMod val="75000"/>
                  </a:schemeClr>
                </a:solidFill>
              </a:rPr>
              <a:t>RPC (Remote Procedure Call)</a:t>
            </a:r>
          </a:p>
          <a:p>
            <a:pPr>
              <a:buFont typeface="Arial" panose="020B0604020202020204" pitchFamily="34" charset="0"/>
              <a:buChar char="•"/>
            </a:pPr>
            <a:r>
              <a:rPr lang="en-US" sz="1800" dirty="0">
                <a:solidFill>
                  <a:schemeClr val="accent1">
                    <a:lumMod val="75000"/>
                  </a:schemeClr>
                </a:solidFill>
              </a:rPr>
              <a:t>Each NFS request is an RPC message to the server.</a:t>
            </a:r>
          </a:p>
          <a:p>
            <a:pPr>
              <a:buFont typeface="Arial" panose="020B0604020202020204" pitchFamily="34" charset="0"/>
              <a:buChar char="•"/>
            </a:pPr>
            <a:r>
              <a:rPr lang="en-US" sz="1800" dirty="0">
                <a:solidFill>
                  <a:schemeClr val="accent1">
                    <a:lumMod val="75000"/>
                  </a:schemeClr>
                </a:solidFill>
              </a:rPr>
              <a:t>The server executes the operation and sends back the result.</a:t>
            </a:r>
          </a:p>
          <a:p>
            <a:r>
              <a:rPr lang="en-US" sz="1800" b="1" dirty="0">
                <a:solidFill>
                  <a:schemeClr val="accent1">
                    <a:lumMod val="75000"/>
                  </a:schemeClr>
                </a:solidFill>
              </a:rPr>
              <a:t>XDR (External Data Representation)</a:t>
            </a:r>
          </a:p>
          <a:p>
            <a:pPr>
              <a:buFont typeface="Arial" panose="020B0604020202020204" pitchFamily="34" charset="0"/>
              <a:buChar char="•"/>
            </a:pPr>
            <a:r>
              <a:rPr lang="en-US" sz="1800" dirty="0">
                <a:solidFill>
                  <a:schemeClr val="accent1">
                    <a:lumMod val="75000"/>
                  </a:schemeClr>
                </a:solidFill>
              </a:rPr>
              <a:t>Used to encode data in a machine-independent format.</a:t>
            </a:r>
          </a:p>
          <a:p>
            <a:pPr>
              <a:buFont typeface="Arial" panose="020B0604020202020204" pitchFamily="34" charset="0"/>
              <a:buChar char="•"/>
            </a:pPr>
            <a:r>
              <a:rPr lang="en-US" sz="1800" dirty="0">
                <a:solidFill>
                  <a:schemeClr val="accent1">
                    <a:lumMod val="75000"/>
                  </a:schemeClr>
                </a:solidFill>
              </a:rPr>
              <a:t>Ensures interoperability between heterogeneous systems (e.g., big-endian vs little-endian).</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6">
                  <a:lumMod val="75000"/>
                </a:schemeClr>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lang="en-IN" sz="1800" b="1" u="sng" dirty="0"/>
              <a:t>Protocol Stack</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6">
                  <a:lumMod val="75000"/>
                </a:schemeClr>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lang="en-IN" sz="1800" dirty="0">
                <a:solidFill>
                  <a:schemeClr val="accent6">
                    <a:lumMod val="75000"/>
                  </a:schemeClr>
                </a:solidFill>
              </a:rPr>
              <a:t>Application</a:t>
            </a:r>
          </a:p>
          <a:p>
            <a:pPr marL="0" marR="0" lvl="0" indent="0" algn="l" defTabSz="914400" rtl="0" eaLnBrk="0" fontAlgn="base" latinLnBrk="0" hangingPunct="0">
              <a:lnSpc>
                <a:spcPct val="100000"/>
              </a:lnSpc>
              <a:spcBef>
                <a:spcPct val="0"/>
              </a:spcBef>
              <a:spcAft>
                <a:spcPct val="0"/>
              </a:spcAft>
              <a:buClrTx/>
              <a:buSzTx/>
              <a:buFontTx/>
              <a:buNone/>
              <a:tabLst/>
            </a:pPr>
            <a:r>
              <a:rPr lang="en-IN" sz="1800" dirty="0">
                <a:solidFill>
                  <a:schemeClr val="accent6">
                    <a:lumMod val="75000"/>
                  </a:schemeClr>
                </a:solidFill>
              </a:rPr>
              <a:t>   ↓</a:t>
            </a:r>
          </a:p>
          <a:p>
            <a:pPr marL="0" marR="0" lvl="0" indent="0" algn="l" defTabSz="914400" rtl="0" eaLnBrk="0" fontAlgn="base" latinLnBrk="0" hangingPunct="0">
              <a:lnSpc>
                <a:spcPct val="100000"/>
              </a:lnSpc>
              <a:spcBef>
                <a:spcPct val="0"/>
              </a:spcBef>
              <a:spcAft>
                <a:spcPct val="0"/>
              </a:spcAft>
              <a:buClrTx/>
              <a:buSzTx/>
              <a:buFontTx/>
              <a:buNone/>
              <a:tabLst/>
            </a:pPr>
            <a:r>
              <a:rPr lang="en-IN" sz="1800" dirty="0">
                <a:solidFill>
                  <a:schemeClr val="accent6">
                    <a:lumMod val="75000"/>
                  </a:schemeClr>
                </a:solidFill>
              </a:rPr>
              <a:t>VFS</a:t>
            </a:r>
          </a:p>
          <a:p>
            <a:pPr marL="0" marR="0" lvl="0" indent="0" algn="l" defTabSz="914400" rtl="0" eaLnBrk="0" fontAlgn="base" latinLnBrk="0" hangingPunct="0">
              <a:lnSpc>
                <a:spcPct val="100000"/>
              </a:lnSpc>
              <a:spcBef>
                <a:spcPct val="0"/>
              </a:spcBef>
              <a:spcAft>
                <a:spcPct val="0"/>
              </a:spcAft>
              <a:buClrTx/>
              <a:buSzTx/>
              <a:buFontTx/>
              <a:buNone/>
              <a:tabLst/>
            </a:pPr>
            <a:r>
              <a:rPr lang="en-IN" sz="1800" dirty="0">
                <a:solidFill>
                  <a:schemeClr val="accent6">
                    <a:lumMod val="75000"/>
                  </a:schemeClr>
                </a:solidFill>
              </a:rPr>
              <a:t>   ↓</a:t>
            </a:r>
          </a:p>
          <a:p>
            <a:pPr marL="0" marR="0" lvl="0" indent="0" algn="l" defTabSz="914400" rtl="0" eaLnBrk="0" fontAlgn="base" latinLnBrk="0" hangingPunct="0">
              <a:lnSpc>
                <a:spcPct val="100000"/>
              </a:lnSpc>
              <a:spcBef>
                <a:spcPct val="0"/>
              </a:spcBef>
              <a:spcAft>
                <a:spcPct val="0"/>
              </a:spcAft>
              <a:buClrTx/>
              <a:buSzTx/>
              <a:buFontTx/>
              <a:buNone/>
              <a:tabLst/>
            </a:pPr>
            <a:r>
              <a:rPr lang="en-IN" sz="1800" dirty="0">
                <a:solidFill>
                  <a:schemeClr val="accent6">
                    <a:lumMod val="75000"/>
                  </a:schemeClr>
                </a:solidFill>
              </a:rPr>
              <a:t>NFS Client Module</a:t>
            </a:r>
          </a:p>
          <a:p>
            <a:pPr marL="0" marR="0" lvl="0" indent="0" algn="l" defTabSz="914400" rtl="0" eaLnBrk="0" fontAlgn="base" latinLnBrk="0" hangingPunct="0">
              <a:lnSpc>
                <a:spcPct val="100000"/>
              </a:lnSpc>
              <a:spcBef>
                <a:spcPct val="0"/>
              </a:spcBef>
              <a:spcAft>
                <a:spcPct val="0"/>
              </a:spcAft>
              <a:buClrTx/>
              <a:buSzTx/>
              <a:buFontTx/>
              <a:buNone/>
              <a:tabLst/>
            </a:pPr>
            <a:r>
              <a:rPr lang="en-IN" sz="1800" dirty="0">
                <a:solidFill>
                  <a:schemeClr val="accent6">
                    <a:lumMod val="75000"/>
                  </a:schemeClr>
                </a:solidFill>
              </a:rPr>
              <a:t>   ↓</a:t>
            </a:r>
          </a:p>
          <a:p>
            <a:pPr marL="0" marR="0" lvl="0" indent="0" algn="l" defTabSz="914400" rtl="0" eaLnBrk="0" fontAlgn="base" latinLnBrk="0" hangingPunct="0">
              <a:lnSpc>
                <a:spcPct val="100000"/>
              </a:lnSpc>
              <a:spcBef>
                <a:spcPct val="0"/>
              </a:spcBef>
              <a:spcAft>
                <a:spcPct val="0"/>
              </a:spcAft>
              <a:buClrTx/>
              <a:buSzTx/>
              <a:buFontTx/>
              <a:buNone/>
              <a:tabLst/>
            </a:pPr>
            <a:r>
              <a:rPr lang="en-IN" sz="1800" dirty="0">
                <a:solidFill>
                  <a:schemeClr val="accent6">
                    <a:lumMod val="75000"/>
                  </a:schemeClr>
                </a:solidFill>
              </a:rPr>
              <a:t>RPC / XDR Layer</a:t>
            </a:r>
          </a:p>
          <a:p>
            <a:pPr marL="0" marR="0" lvl="0" indent="0" algn="l" defTabSz="914400" rtl="0" eaLnBrk="0" fontAlgn="base" latinLnBrk="0" hangingPunct="0">
              <a:lnSpc>
                <a:spcPct val="100000"/>
              </a:lnSpc>
              <a:spcBef>
                <a:spcPct val="0"/>
              </a:spcBef>
              <a:spcAft>
                <a:spcPct val="0"/>
              </a:spcAft>
              <a:buClrTx/>
              <a:buSzTx/>
              <a:buFontTx/>
              <a:buNone/>
              <a:tabLst/>
            </a:pPr>
            <a:r>
              <a:rPr lang="en-IN" sz="1800" dirty="0">
                <a:solidFill>
                  <a:schemeClr val="accent6">
                    <a:lumMod val="75000"/>
                  </a:schemeClr>
                </a:solidFill>
              </a:rPr>
              <a:t>   ↓</a:t>
            </a:r>
          </a:p>
          <a:p>
            <a:pPr marL="0" marR="0" lvl="0" indent="0" algn="l" defTabSz="914400" rtl="0" eaLnBrk="0" fontAlgn="base" latinLnBrk="0" hangingPunct="0">
              <a:lnSpc>
                <a:spcPct val="100000"/>
              </a:lnSpc>
              <a:spcBef>
                <a:spcPct val="0"/>
              </a:spcBef>
              <a:spcAft>
                <a:spcPct val="0"/>
              </a:spcAft>
              <a:buClrTx/>
              <a:buSzTx/>
              <a:buFontTx/>
              <a:buNone/>
              <a:tabLst/>
            </a:pPr>
            <a:r>
              <a:rPr lang="en-IN" sz="1800" dirty="0">
                <a:solidFill>
                  <a:schemeClr val="accent6">
                    <a:lumMod val="75000"/>
                  </a:schemeClr>
                </a:solidFill>
              </a:rPr>
              <a:t>TCP / UDP</a:t>
            </a:r>
          </a:p>
          <a:p>
            <a:pPr marL="0" marR="0" lvl="0" indent="0" algn="l" defTabSz="914400" rtl="0" eaLnBrk="0" fontAlgn="base" latinLnBrk="0" hangingPunct="0">
              <a:lnSpc>
                <a:spcPct val="100000"/>
              </a:lnSpc>
              <a:spcBef>
                <a:spcPct val="0"/>
              </a:spcBef>
              <a:spcAft>
                <a:spcPct val="0"/>
              </a:spcAft>
              <a:buClrTx/>
              <a:buSzTx/>
              <a:buFontTx/>
              <a:buNone/>
              <a:tabLst/>
            </a:pPr>
            <a:r>
              <a:rPr lang="en-IN" sz="1800" dirty="0">
                <a:solidFill>
                  <a:schemeClr val="accent6">
                    <a:lumMod val="75000"/>
                  </a:schemeClr>
                </a:solidFill>
              </a:rPr>
              <a:t>   ↓</a:t>
            </a:r>
          </a:p>
          <a:p>
            <a:pPr marL="0" marR="0" lvl="0" indent="0" algn="l" defTabSz="914400" rtl="0" eaLnBrk="0" fontAlgn="base" latinLnBrk="0" hangingPunct="0">
              <a:lnSpc>
                <a:spcPct val="100000"/>
              </a:lnSpc>
              <a:spcBef>
                <a:spcPct val="0"/>
              </a:spcBef>
              <a:spcAft>
                <a:spcPct val="0"/>
              </a:spcAft>
              <a:buClrTx/>
              <a:buSzTx/>
              <a:buFontTx/>
              <a:buNone/>
              <a:tabLst/>
            </a:pPr>
            <a:r>
              <a:rPr lang="en-IN" sz="1800" dirty="0">
                <a:solidFill>
                  <a:schemeClr val="accent6">
                    <a:lumMod val="75000"/>
                  </a:schemeClr>
                </a:solidFill>
              </a:rPr>
              <a:t>IP Layer</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6">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5338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92BBBAF-7FBA-4F70-DDF4-D8670049F2AE}"/>
              </a:ext>
            </a:extLst>
          </p:cNvPr>
          <p:cNvSpPr>
            <a:spLocks noGrp="1"/>
          </p:cNvSpPr>
          <p:nvPr>
            <p:ph idx="1"/>
          </p:nvPr>
        </p:nvSpPr>
        <p:spPr>
          <a:xfrm>
            <a:off x="485162" y="354859"/>
            <a:ext cx="10585262" cy="6602491"/>
          </a:xfrm>
        </p:spPr>
        <p:txBody>
          <a:bodyPr>
            <a:normAutofit/>
          </a:bodyPr>
          <a:lstStyle/>
          <a:p>
            <a:pPr marL="0" indent="0">
              <a:buNone/>
            </a:pPr>
            <a:r>
              <a:rPr lang="en-US" sz="2200" b="1" dirty="0">
                <a:solidFill>
                  <a:schemeClr val="accent6">
                    <a:lumMod val="75000"/>
                  </a:schemeClr>
                </a:solidFill>
              </a:rPr>
              <a:t>HDFS (Hadoop Distributed File System) Architecture</a:t>
            </a:r>
          </a:p>
          <a:p>
            <a:pPr marL="0" indent="0">
              <a:buNone/>
            </a:pPr>
            <a:r>
              <a:rPr lang="en-US" sz="1800" b="1" dirty="0">
                <a:solidFill>
                  <a:schemeClr val="accent1">
                    <a:lumMod val="75000"/>
                  </a:schemeClr>
                </a:solidFill>
              </a:rPr>
              <a:t>Introduction</a:t>
            </a:r>
          </a:p>
          <a:p>
            <a:pPr>
              <a:buFont typeface="Arial" panose="020B0604020202020204" pitchFamily="34" charset="0"/>
              <a:buChar char="•"/>
            </a:pPr>
            <a:r>
              <a:rPr lang="en-US" sz="1800" b="1" dirty="0">
                <a:solidFill>
                  <a:schemeClr val="accent1">
                    <a:lumMod val="75000"/>
                  </a:schemeClr>
                </a:solidFill>
              </a:rPr>
              <a:t>HDFS</a:t>
            </a:r>
            <a:r>
              <a:rPr lang="en-US" sz="1800" dirty="0">
                <a:solidFill>
                  <a:schemeClr val="accent1">
                    <a:lumMod val="75000"/>
                  </a:schemeClr>
                </a:solidFill>
              </a:rPr>
              <a:t> stands for </a:t>
            </a:r>
            <a:r>
              <a:rPr lang="en-US" sz="1800" b="1" dirty="0">
                <a:solidFill>
                  <a:schemeClr val="accent1">
                    <a:lumMod val="75000"/>
                  </a:schemeClr>
                </a:solidFill>
              </a:rPr>
              <a:t>Hadoop Distributed File System</a:t>
            </a:r>
            <a:r>
              <a:rPr lang="en-US" sz="1800" dirty="0">
                <a:solidFill>
                  <a:schemeClr val="accent1">
                    <a:lumMod val="75000"/>
                  </a:schemeClr>
                </a:solidFill>
              </a:rPr>
              <a:t>.</a:t>
            </a:r>
          </a:p>
          <a:p>
            <a:pPr>
              <a:buFont typeface="Arial" panose="020B0604020202020204" pitchFamily="34" charset="0"/>
              <a:buChar char="•"/>
            </a:pPr>
            <a:r>
              <a:rPr lang="en-US" sz="1800" dirty="0">
                <a:solidFill>
                  <a:schemeClr val="accent1">
                    <a:lumMod val="75000"/>
                  </a:schemeClr>
                </a:solidFill>
              </a:rPr>
              <a:t>It is the </a:t>
            </a:r>
            <a:r>
              <a:rPr lang="en-US" sz="1800" b="1" dirty="0">
                <a:solidFill>
                  <a:schemeClr val="accent1">
                    <a:lumMod val="75000"/>
                  </a:schemeClr>
                </a:solidFill>
              </a:rPr>
              <a:t>primary storage system</a:t>
            </a:r>
            <a:r>
              <a:rPr lang="en-US" sz="1800" dirty="0">
                <a:solidFill>
                  <a:schemeClr val="accent1">
                    <a:lumMod val="75000"/>
                  </a:schemeClr>
                </a:solidFill>
              </a:rPr>
              <a:t> used by </a:t>
            </a:r>
            <a:r>
              <a:rPr lang="en-US" sz="1800" b="1" dirty="0">
                <a:solidFill>
                  <a:schemeClr val="accent1">
                    <a:lumMod val="75000"/>
                  </a:schemeClr>
                </a:solidFill>
              </a:rPr>
              <a:t>Apache Hadoop</a:t>
            </a:r>
            <a:r>
              <a:rPr lang="en-US" sz="1800" dirty="0">
                <a:solidFill>
                  <a:schemeClr val="accent1">
                    <a:lumMod val="75000"/>
                  </a:schemeClr>
                </a:solidFill>
              </a:rPr>
              <a:t> to store and manage </a:t>
            </a:r>
            <a:r>
              <a:rPr lang="en-US" sz="1800" b="1" dirty="0">
                <a:solidFill>
                  <a:schemeClr val="accent1">
                    <a:lumMod val="75000"/>
                  </a:schemeClr>
                </a:solidFill>
              </a:rPr>
              <a:t>large datasets</a:t>
            </a:r>
            <a:r>
              <a:rPr lang="en-US" sz="1800" dirty="0">
                <a:solidFill>
                  <a:schemeClr val="accent1">
                    <a:lumMod val="75000"/>
                  </a:schemeClr>
                </a:solidFill>
              </a:rPr>
              <a:t> across multiple machines.</a:t>
            </a:r>
          </a:p>
          <a:p>
            <a:pPr>
              <a:buFont typeface="Arial" panose="020B0604020202020204" pitchFamily="34" charset="0"/>
              <a:buChar char="•"/>
            </a:pPr>
            <a:r>
              <a:rPr lang="en-US" sz="1800" dirty="0">
                <a:solidFill>
                  <a:schemeClr val="accent1">
                    <a:lumMod val="75000"/>
                  </a:schemeClr>
                </a:solidFill>
              </a:rPr>
              <a:t>Designed to store </a:t>
            </a:r>
            <a:r>
              <a:rPr lang="en-US" sz="1800" b="1" dirty="0">
                <a:solidFill>
                  <a:schemeClr val="accent1">
                    <a:lumMod val="75000"/>
                  </a:schemeClr>
                </a:solidFill>
              </a:rPr>
              <a:t>very large files</a:t>
            </a:r>
            <a:r>
              <a:rPr lang="en-US" sz="1800" dirty="0">
                <a:solidFill>
                  <a:schemeClr val="accent1">
                    <a:lumMod val="75000"/>
                  </a:schemeClr>
                </a:solidFill>
              </a:rPr>
              <a:t> (GBs to TBs) reliably on a </a:t>
            </a:r>
            <a:r>
              <a:rPr lang="en-US" sz="1800" b="1" dirty="0">
                <a:solidFill>
                  <a:schemeClr val="accent1">
                    <a:lumMod val="75000"/>
                  </a:schemeClr>
                </a:solidFill>
              </a:rPr>
              <a:t>cluster of commodity hardware</a:t>
            </a:r>
            <a:r>
              <a:rPr lang="en-US" sz="1800" dirty="0">
                <a:solidFill>
                  <a:schemeClr val="accent1">
                    <a:lumMod val="75000"/>
                  </a:schemeClr>
                </a:solidFill>
              </a:rPr>
              <a:t>.</a:t>
            </a:r>
          </a:p>
          <a:p>
            <a:pPr marL="0" indent="0">
              <a:buNone/>
            </a:pPr>
            <a:endParaRPr lang="en-US" sz="1800" b="1" dirty="0">
              <a:solidFill>
                <a:schemeClr val="accent1">
                  <a:lumMod val="75000"/>
                </a:schemeClr>
              </a:solidFill>
            </a:endParaRPr>
          </a:p>
          <a:p>
            <a:pPr marL="0" indent="0">
              <a:buNone/>
            </a:pPr>
            <a:endParaRPr lang="en-US" sz="1800" b="1" dirty="0">
              <a:solidFill>
                <a:schemeClr val="accent1">
                  <a:lumMod val="75000"/>
                </a:schemeClr>
              </a:solidFill>
            </a:endParaRPr>
          </a:p>
          <a:p>
            <a:pPr marL="0" indent="0">
              <a:buNone/>
            </a:pPr>
            <a:r>
              <a:rPr lang="en-US" sz="1800" b="1" dirty="0">
                <a:solidFill>
                  <a:schemeClr val="accent1">
                    <a:lumMod val="75000"/>
                  </a:schemeClr>
                </a:solidFill>
              </a:rPr>
              <a:t>Key Design Goals:</a:t>
            </a:r>
            <a:endParaRPr lang="en-US" sz="1800" dirty="0">
              <a:solidFill>
                <a:schemeClr val="accent1">
                  <a:lumMod val="75000"/>
                </a:schemeClr>
              </a:solidFill>
            </a:endParaRPr>
          </a:p>
          <a:p>
            <a:pPr>
              <a:buFont typeface="Arial" panose="020B0604020202020204" pitchFamily="34" charset="0"/>
              <a:buChar char="•"/>
            </a:pPr>
            <a:r>
              <a:rPr lang="en-US" sz="1800" b="1" dirty="0">
                <a:solidFill>
                  <a:schemeClr val="accent1">
                    <a:lumMod val="75000"/>
                  </a:schemeClr>
                </a:solidFill>
              </a:rPr>
              <a:t>High fault tolerance</a:t>
            </a:r>
            <a:endParaRPr lang="en-US" sz="1800" dirty="0">
              <a:solidFill>
                <a:schemeClr val="accent1">
                  <a:lumMod val="75000"/>
                </a:schemeClr>
              </a:solidFill>
            </a:endParaRPr>
          </a:p>
          <a:p>
            <a:pPr>
              <a:buFont typeface="Arial" panose="020B0604020202020204" pitchFamily="34" charset="0"/>
              <a:buChar char="•"/>
            </a:pPr>
            <a:r>
              <a:rPr lang="en-US" sz="1800" b="1" dirty="0">
                <a:solidFill>
                  <a:schemeClr val="accent1">
                    <a:lumMod val="75000"/>
                  </a:schemeClr>
                </a:solidFill>
              </a:rPr>
              <a:t>High throughput</a:t>
            </a:r>
            <a:endParaRPr lang="en-US" sz="1800" dirty="0">
              <a:solidFill>
                <a:schemeClr val="accent1">
                  <a:lumMod val="75000"/>
                </a:schemeClr>
              </a:solidFill>
            </a:endParaRPr>
          </a:p>
          <a:p>
            <a:pPr>
              <a:buFont typeface="Arial" panose="020B0604020202020204" pitchFamily="34" charset="0"/>
              <a:buChar char="•"/>
            </a:pPr>
            <a:r>
              <a:rPr lang="en-US" sz="1800" b="1" dirty="0">
                <a:solidFill>
                  <a:schemeClr val="accent1">
                    <a:lumMod val="75000"/>
                  </a:schemeClr>
                </a:solidFill>
              </a:rPr>
              <a:t>Scalability</a:t>
            </a:r>
            <a:endParaRPr lang="en-US" sz="1800" dirty="0">
              <a:solidFill>
                <a:schemeClr val="accent1">
                  <a:lumMod val="75000"/>
                </a:schemeClr>
              </a:solidFill>
            </a:endParaRPr>
          </a:p>
          <a:p>
            <a:pPr>
              <a:buFont typeface="Arial" panose="020B0604020202020204" pitchFamily="34" charset="0"/>
              <a:buChar char="•"/>
            </a:pPr>
            <a:r>
              <a:rPr lang="en-US" sz="1800" b="1" dirty="0">
                <a:solidFill>
                  <a:schemeClr val="accent1">
                    <a:lumMod val="75000"/>
                  </a:schemeClr>
                </a:solidFill>
              </a:rPr>
              <a:t>Streaming data access</a:t>
            </a:r>
            <a:endParaRPr lang="en-US" sz="1800" dirty="0">
              <a:solidFill>
                <a:schemeClr val="accent1">
                  <a:lumMod val="75000"/>
                </a:schemeClr>
              </a:solidFill>
            </a:endParaRPr>
          </a:p>
          <a:p>
            <a:pPr>
              <a:buFont typeface="Arial" panose="020B0604020202020204" pitchFamily="34" charset="0"/>
              <a:buChar char="•"/>
            </a:pPr>
            <a:r>
              <a:rPr lang="en-US" sz="1800" b="1" dirty="0">
                <a:solidFill>
                  <a:schemeClr val="accent1">
                    <a:lumMod val="75000"/>
                  </a:schemeClr>
                </a:solidFill>
              </a:rPr>
              <a:t>Portability across hardware</a:t>
            </a:r>
            <a:endParaRPr lang="en-US" sz="1800" dirty="0">
              <a:solidFill>
                <a:schemeClr val="accent1">
                  <a:lumMod val="75000"/>
                </a:schemeClr>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6">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538703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92BBBAF-7FBA-4F70-DDF4-D8670049F2AE}"/>
              </a:ext>
            </a:extLst>
          </p:cNvPr>
          <p:cNvSpPr>
            <a:spLocks noGrp="1"/>
          </p:cNvSpPr>
          <p:nvPr>
            <p:ph idx="1"/>
          </p:nvPr>
        </p:nvSpPr>
        <p:spPr>
          <a:xfrm>
            <a:off x="485162" y="354859"/>
            <a:ext cx="10585262" cy="6602491"/>
          </a:xfrm>
        </p:spPr>
        <p:txBody>
          <a:bodyPr>
            <a:normAutofit/>
          </a:bodyPr>
          <a:lstStyle/>
          <a:p>
            <a:pPr marL="0" indent="0">
              <a:buNone/>
            </a:pPr>
            <a:r>
              <a:rPr lang="en-US" sz="2200" b="1" dirty="0">
                <a:solidFill>
                  <a:schemeClr val="accent6">
                    <a:lumMod val="75000"/>
                  </a:schemeClr>
                </a:solidFill>
              </a:rPr>
              <a:t>HDFS (Hadoop Distributed File System) Architecture</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6">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8CBA86D1-6178-C0B3-218D-5F90E7E2739A}"/>
              </a:ext>
            </a:extLst>
          </p:cNvPr>
          <p:cNvPicPr>
            <a:picLocks noChangeAspect="1"/>
          </p:cNvPicPr>
          <p:nvPr/>
        </p:nvPicPr>
        <p:blipFill>
          <a:blip r:embed="rId2"/>
          <a:stretch>
            <a:fillRect/>
          </a:stretch>
        </p:blipFill>
        <p:spPr>
          <a:xfrm>
            <a:off x="415219" y="1546687"/>
            <a:ext cx="5389158" cy="3933825"/>
          </a:xfrm>
          <a:prstGeom prst="rect">
            <a:avLst/>
          </a:prstGeom>
        </p:spPr>
      </p:pic>
      <p:sp>
        <p:nvSpPr>
          <p:cNvPr id="17" name="TextBox 16">
            <a:extLst>
              <a:ext uri="{FF2B5EF4-FFF2-40B4-BE49-F238E27FC236}">
                <a16:creationId xmlns:a16="http://schemas.microsoft.com/office/drawing/2014/main" id="{F84F090B-687E-8F9F-33C0-D63805CB98B1}"/>
              </a:ext>
            </a:extLst>
          </p:cNvPr>
          <p:cNvSpPr txBox="1"/>
          <p:nvPr/>
        </p:nvSpPr>
        <p:spPr>
          <a:xfrm>
            <a:off x="6733309" y="647045"/>
            <a:ext cx="5266047" cy="6463308"/>
          </a:xfrm>
          <a:prstGeom prst="rect">
            <a:avLst/>
          </a:prstGeom>
          <a:noFill/>
        </p:spPr>
        <p:txBody>
          <a:bodyPr wrap="square">
            <a:spAutoFit/>
          </a:bodyPr>
          <a:lstStyle/>
          <a:p>
            <a:r>
              <a:rPr lang="en-IN" dirty="0"/>
              <a:t> +----------------------------+</a:t>
            </a:r>
          </a:p>
          <a:p>
            <a:r>
              <a:rPr lang="en-IN" dirty="0"/>
              <a:t>             |         Client              |</a:t>
            </a:r>
          </a:p>
          <a:p>
            <a:r>
              <a:rPr lang="en-IN" dirty="0"/>
              <a:t>             +--------------+--------------+</a:t>
            </a:r>
          </a:p>
          <a:p>
            <a:r>
              <a:rPr lang="en-IN" dirty="0"/>
              <a:t>                            |</a:t>
            </a:r>
          </a:p>
          <a:p>
            <a:r>
              <a:rPr lang="en-IN" dirty="0"/>
              <a:t>                            | (Read/Write via API)</a:t>
            </a:r>
          </a:p>
          <a:p>
            <a:r>
              <a:rPr lang="en-IN" dirty="0"/>
              <a:t>                            |</a:t>
            </a:r>
          </a:p>
          <a:p>
            <a:r>
              <a:rPr lang="en-IN" dirty="0"/>
              <a:t>     ----------------------------------------------------------</a:t>
            </a:r>
          </a:p>
          <a:p>
            <a:r>
              <a:rPr lang="en-IN" dirty="0"/>
              <a:t>     |                                                        |</a:t>
            </a:r>
          </a:p>
          <a:p>
            <a:r>
              <a:rPr lang="en-IN" dirty="0"/>
              <a:t>+----v-----+        +----v-----+        +----v-----+        +----v-----+</a:t>
            </a:r>
          </a:p>
          <a:p>
            <a:r>
              <a:rPr lang="en-IN" dirty="0"/>
              <a:t>| </a:t>
            </a:r>
            <a:r>
              <a:rPr lang="en-IN" dirty="0" err="1"/>
              <a:t>DataNode</a:t>
            </a:r>
            <a:r>
              <a:rPr lang="en-IN" dirty="0"/>
              <a:t> |        | </a:t>
            </a:r>
            <a:r>
              <a:rPr lang="en-IN" dirty="0" err="1"/>
              <a:t>DataNode</a:t>
            </a:r>
            <a:r>
              <a:rPr lang="en-IN" dirty="0"/>
              <a:t> |        | </a:t>
            </a:r>
            <a:r>
              <a:rPr lang="en-IN" dirty="0" err="1"/>
              <a:t>DataNode</a:t>
            </a:r>
            <a:r>
              <a:rPr lang="en-IN" dirty="0"/>
              <a:t> |  ...   | </a:t>
            </a:r>
            <a:r>
              <a:rPr lang="en-IN" dirty="0" err="1"/>
              <a:t>DataNode</a:t>
            </a:r>
            <a:r>
              <a:rPr lang="en-IN" dirty="0"/>
              <a:t> |</a:t>
            </a:r>
          </a:p>
          <a:p>
            <a:r>
              <a:rPr lang="en-IN" dirty="0"/>
              <a:t>| (Slave)  |        | (Slave)  |        | (Slave)  |        | (Slave)  |</a:t>
            </a:r>
          </a:p>
          <a:p>
            <a:r>
              <a:rPr lang="en-IN" dirty="0"/>
              <a:t>+-----------+        +-----------+        +-----------+        +-----------+</a:t>
            </a:r>
          </a:p>
          <a:p>
            <a:r>
              <a:rPr lang="en-IN" dirty="0"/>
              <a:t>     |                     |                    |                    |</a:t>
            </a:r>
          </a:p>
          <a:p>
            <a:r>
              <a:rPr lang="en-IN" dirty="0"/>
              <a:t>     +----------------------+--------------------+--------------------+</a:t>
            </a:r>
          </a:p>
          <a:p>
            <a:r>
              <a:rPr lang="en-IN" dirty="0"/>
              <a:t>                            |</a:t>
            </a:r>
          </a:p>
          <a:p>
            <a:r>
              <a:rPr lang="en-IN" dirty="0"/>
              <a:t>                      +-----v------+</a:t>
            </a:r>
          </a:p>
          <a:p>
            <a:r>
              <a:rPr lang="en-IN" dirty="0"/>
              <a:t>                      | </a:t>
            </a:r>
            <a:r>
              <a:rPr lang="en-IN" dirty="0" err="1"/>
              <a:t>NameNode</a:t>
            </a:r>
            <a:r>
              <a:rPr lang="en-IN" dirty="0"/>
              <a:t>   |</a:t>
            </a:r>
          </a:p>
          <a:p>
            <a:r>
              <a:rPr lang="en-IN" dirty="0"/>
              <a:t>                      | (Master)   |</a:t>
            </a:r>
          </a:p>
          <a:p>
            <a:r>
              <a:rPr lang="en-IN" dirty="0"/>
              <a:t>                      +------------+</a:t>
            </a:r>
          </a:p>
        </p:txBody>
      </p:sp>
    </p:spTree>
    <p:extLst>
      <p:ext uri="{BB962C8B-B14F-4D97-AF65-F5344CB8AC3E}">
        <p14:creationId xmlns:p14="http://schemas.microsoft.com/office/powerpoint/2010/main" val="16198909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92BBBAF-7FBA-4F70-DDF4-D8670049F2AE}"/>
              </a:ext>
            </a:extLst>
          </p:cNvPr>
          <p:cNvSpPr>
            <a:spLocks noGrp="1"/>
          </p:cNvSpPr>
          <p:nvPr>
            <p:ph idx="1"/>
          </p:nvPr>
        </p:nvSpPr>
        <p:spPr>
          <a:xfrm>
            <a:off x="590494" y="127754"/>
            <a:ext cx="10585262" cy="6602491"/>
          </a:xfrm>
        </p:spPr>
        <p:txBody>
          <a:bodyPr>
            <a:normAutofit/>
          </a:bodyPr>
          <a:lstStyle/>
          <a:p>
            <a:pPr marL="0" indent="0">
              <a:buNone/>
            </a:pPr>
            <a:r>
              <a:rPr lang="en-US" sz="2200" b="1" dirty="0">
                <a:solidFill>
                  <a:schemeClr val="accent6">
                    <a:lumMod val="75000"/>
                  </a:schemeClr>
                </a:solidFill>
              </a:rPr>
              <a:t>HDFS (Hadoop Distributed File System) Architecture</a:t>
            </a:r>
          </a:p>
          <a:p>
            <a:pPr marL="0" indent="0">
              <a:buNone/>
            </a:pPr>
            <a:r>
              <a:rPr lang="en-US" sz="1800" b="1" dirty="0">
                <a:solidFill>
                  <a:schemeClr val="accent6">
                    <a:lumMod val="75000"/>
                  </a:schemeClr>
                </a:solidFill>
              </a:rPr>
              <a:t>Core Components of HDFS</a:t>
            </a:r>
          </a:p>
          <a:p>
            <a:pPr marL="0" indent="0">
              <a:buNone/>
            </a:pPr>
            <a:r>
              <a:rPr lang="en-US" sz="1800" b="1" dirty="0">
                <a:solidFill>
                  <a:schemeClr val="accent1">
                    <a:lumMod val="75000"/>
                  </a:schemeClr>
                </a:solidFill>
              </a:rPr>
              <a:t>A. </a:t>
            </a:r>
            <a:r>
              <a:rPr lang="en-US" sz="1800" b="1" dirty="0" err="1">
                <a:solidFill>
                  <a:schemeClr val="accent1">
                    <a:lumMod val="75000"/>
                  </a:schemeClr>
                </a:solidFill>
              </a:rPr>
              <a:t>NameNode</a:t>
            </a:r>
            <a:r>
              <a:rPr lang="en-US" sz="1800" b="1" dirty="0">
                <a:solidFill>
                  <a:schemeClr val="accent1">
                    <a:lumMod val="75000"/>
                  </a:schemeClr>
                </a:solidFill>
              </a:rPr>
              <a:t> (Master Node)</a:t>
            </a:r>
          </a:p>
          <a:p>
            <a:pPr>
              <a:buFont typeface="Arial" panose="020B0604020202020204" pitchFamily="34" charset="0"/>
              <a:buChar char="•"/>
            </a:pPr>
            <a:r>
              <a:rPr lang="en-US" sz="1800" dirty="0">
                <a:solidFill>
                  <a:schemeClr val="accent1">
                    <a:lumMod val="75000"/>
                  </a:schemeClr>
                </a:solidFill>
              </a:rPr>
              <a:t>The </a:t>
            </a:r>
            <a:r>
              <a:rPr lang="en-US" sz="1800" b="1" dirty="0">
                <a:solidFill>
                  <a:schemeClr val="accent1">
                    <a:lumMod val="75000"/>
                  </a:schemeClr>
                </a:solidFill>
              </a:rPr>
              <a:t>central metadata server</a:t>
            </a:r>
            <a:r>
              <a:rPr lang="en-US" sz="1800" dirty="0">
                <a:solidFill>
                  <a:schemeClr val="accent1">
                    <a:lumMod val="75000"/>
                  </a:schemeClr>
                </a:solidFill>
              </a:rPr>
              <a:t> of HDFS.</a:t>
            </a:r>
          </a:p>
          <a:p>
            <a:pPr>
              <a:buFont typeface="Arial" panose="020B0604020202020204" pitchFamily="34" charset="0"/>
              <a:buChar char="•"/>
            </a:pPr>
            <a:r>
              <a:rPr lang="en-US" sz="1800" dirty="0">
                <a:solidFill>
                  <a:schemeClr val="accent1">
                    <a:lumMod val="75000"/>
                  </a:schemeClr>
                </a:solidFill>
              </a:rPr>
              <a:t>Manages the </a:t>
            </a:r>
            <a:r>
              <a:rPr lang="en-US" sz="1800" b="1" dirty="0">
                <a:solidFill>
                  <a:schemeClr val="accent1">
                    <a:lumMod val="75000"/>
                  </a:schemeClr>
                </a:solidFill>
              </a:rPr>
              <a:t>namespace</a:t>
            </a:r>
            <a:r>
              <a:rPr lang="en-US" sz="1800" dirty="0">
                <a:solidFill>
                  <a:schemeClr val="accent1">
                    <a:lumMod val="75000"/>
                  </a:schemeClr>
                </a:solidFill>
              </a:rPr>
              <a:t> of the file system (like a directory structure).</a:t>
            </a:r>
          </a:p>
          <a:p>
            <a:pPr>
              <a:buFont typeface="Arial" panose="020B0604020202020204" pitchFamily="34" charset="0"/>
              <a:buChar char="•"/>
            </a:pPr>
            <a:r>
              <a:rPr lang="en-US" sz="1800" b="1" dirty="0">
                <a:solidFill>
                  <a:schemeClr val="accent1">
                    <a:lumMod val="75000"/>
                  </a:schemeClr>
                </a:solidFill>
              </a:rPr>
              <a:t>Stores metadata only</a:t>
            </a:r>
            <a:r>
              <a:rPr lang="en-US" sz="1800" dirty="0">
                <a:solidFill>
                  <a:schemeClr val="accent1">
                    <a:lumMod val="75000"/>
                  </a:schemeClr>
                </a:solidFill>
              </a:rPr>
              <a:t>, not actual data.</a:t>
            </a:r>
          </a:p>
          <a:p>
            <a:pPr marL="742950" lvl="1" indent="-285750">
              <a:buFont typeface="Arial" panose="020B0604020202020204" pitchFamily="34" charset="0"/>
              <a:buChar char="•"/>
            </a:pPr>
            <a:r>
              <a:rPr lang="en-US" sz="1800" dirty="0">
                <a:solidFill>
                  <a:schemeClr val="accent1">
                    <a:lumMod val="75000"/>
                  </a:schemeClr>
                </a:solidFill>
              </a:rPr>
              <a:t>File names, permissions, ownership.</a:t>
            </a:r>
          </a:p>
          <a:p>
            <a:pPr marL="742950" lvl="1" indent="-285750">
              <a:buFont typeface="Arial" panose="020B0604020202020204" pitchFamily="34" charset="0"/>
              <a:buChar char="•"/>
            </a:pPr>
            <a:r>
              <a:rPr lang="en-US" sz="1800" dirty="0">
                <a:solidFill>
                  <a:schemeClr val="accent1">
                    <a:lumMod val="75000"/>
                  </a:schemeClr>
                </a:solidFill>
              </a:rPr>
              <a:t>Mapping of file blocks → </a:t>
            </a:r>
            <a:r>
              <a:rPr lang="en-US" sz="1800" dirty="0" err="1">
                <a:solidFill>
                  <a:schemeClr val="accent1">
                    <a:lumMod val="75000"/>
                  </a:schemeClr>
                </a:solidFill>
              </a:rPr>
              <a:t>DataNodes</a:t>
            </a:r>
            <a:r>
              <a:rPr lang="en-US" sz="1800" dirty="0">
                <a:solidFill>
                  <a:schemeClr val="accent1">
                    <a:lumMod val="75000"/>
                  </a:schemeClr>
                </a:solidFill>
              </a:rPr>
              <a:t>.</a:t>
            </a:r>
          </a:p>
          <a:p>
            <a:pPr>
              <a:buFont typeface="Arial" panose="020B0604020202020204" pitchFamily="34" charset="0"/>
              <a:buChar char="•"/>
            </a:pPr>
            <a:r>
              <a:rPr lang="en-US" sz="1800" b="1" dirty="0">
                <a:solidFill>
                  <a:schemeClr val="accent1">
                    <a:lumMod val="75000"/>
                  </a:schemeClr>
                </a:solidFill>
              </a:rPr>
              <a:t>Keeps all metadata in RAM</a:t>
            </a:r>
            <a:r>
              <a:rPr lang="en-US" sz="1800" dirty="0">
                <a:solidFill>
                  <a:schemeClr val="accent1">
                    <a:lumMod val="75000"/>
                  </a:schemeClr>
                </a:solidFill>
              </a:rPr>
              <a:t> for fast access.</a:t>
            </a:r>
          </a:p>
          <a:p>
            <a:pPr>
              <a:buFont typeface="Arial" panose="020B0604020202020204" pitchFamily="34" charset="0"/>
              <a:buChar char="•"/>
            </a:pPr>
            <a:r>
              <a:rPr lang="en-US" sz="1800" b="1" dirty="0">
                <a:solidFill>
                  <a:schemeClr val="accent1">
                    <a:lumMod val="75000"/>
                  </a:schemeClr>
                </a:solidFill>
              </a:rPr>
              <a:t>Single point of coordination</a:t>
            </a:r>
            <a:r>
              <a:rPr lang="en-US" sz="1800" dirty="0">
                <a:solidFill>
                  <a:schemeClr val="accent1">
                    <a:lumMod val="75000"/>
                  </a:schemeClr>
                </a:solidFill>
              </a:rPr>
              <a:t> for all clients.</a:t>
            </a:r>
          </a:p>
          <a:p>
            <a:pPr>
              <a:buFont typeface="Arial" panose="020B0604020202020204" pitchFamily="34" charset="0"/>
              <a:buChar char="•"/>
            </a:pPr>
            <a:endParaRPr lang="en-US" sz="1800" dirty="0">
              <a:solidFill>
                <a:schemeClr val="accent1">
                  <a:lumMod val="75000"/>
                </a:schemeClr>
              </a:solidFill>
            </a:endParaRPr>
          </a:p>
          <a:p>
            <a:pPr marL="0" indent="0">
              <a:buNone/>
            </a:pPr>
            <a:r>
              <a:rPr lang="en-US" sz="1900" b="1" dirty="0">
                <a:solidFill>
                  <a:schemeClr val="accent1">
                    <a:lumMod val="75000"/>
                  </a:schemeClr>
                </a:solidFill>
              </a:rPr>
              <a:t>B. </a:t>
            </a:r>
            <a:r>
              <a:rPr lang="en-US" sz="1900" b="1" dirty="0" err="1">
                <a:solidFill>
                  <a:schemeClr val="accent1">
                    <a:lumMod val="75000"/>
                  </a:schemeClr>
                </a:solidFill>
              </a:rPr>
              <a:t>DataNode</a:t>
            </a:r>
            <a:r>
              <a:rPr lang="en-US" sz="1900" b="1" dirty="0">
                <a:solidFill>
                  <a:schemeClr val="accent1">
                    <a:lumMod val="75000"/>
                  </a:schemeClr>
                </a:solidFill>
              </a:rPr>
              <a:t> (Worker Node)</a:t>
            </a:r>
          </a:p>
          <a:p>
            <a:pPr>
              <a:buFont typeface="Arial" panose="020B0604020202020204" pitchFamily="34" charset="0"/>
              <a:buChar char="•"/>
            </a:pPr>
            <a:r>
              <a:rPr lang="en-US" sz="1900" dirty="0">
                <a:solidFill>
                  <a:schemeClr val="accent1">
                    <a:lumMod val="75000"/>
                  </a:schemeClr>
                </a:solidFill>
              </a:rPr>
              <a:t>Stores the </a:t>
            </a:r>
            <a:r>
              <a:rPr lang="en-US" sz="1900" b="1" dirty="0">
                <a:solidFill>
                  <a:schemeClr val="accent1">
                    <a:lumMod val="75000"/>
                  </a:schemeClr>
                </a:solidFill>
              </a:rPr>
              <a:t>actual data blocks</a:t>
            </a:r>
            <a:r>
              <a:rPr lang="en-US" sz="1900" dirty="0">
                <a:solidFill>
                  <a:schemeClr val="accent1">
                    <a:lumMod val="75000"/>
                  </a:schemeClr>
                </a:solidFill>
              </a:rPr>
              <a:t> on the local disks.</a:t>
            </a:r>
          </a:p>
          <a:p>
            <a:pPr>
              <a:buFont typeface="Arial" panose="020B0604020202020204" pitchFamily="34" charset="0"/>
              <a:buChar char="•"/>
            </a:pPr>
            <a:r>
              <a:rPr lang="en-US" sz="1900" dirty="0">
                <a:solidFill>
                  <a:schemeClr val="accent1">
                    <a:lumMod val="75000"/>
                  </a:schemeClr>
                </a:solidFill>
              </a:rPr>
              <a:t>Each </a:t>
            </a:r>
            <a:r>
              <a:rPr lang="en-US" sz="1900" dirty="0" err="1">
                <a:solidFill>
                  <a:schemeClr val="accent1">
                    <a:lumMod val="75000"/>
                  </a:schemeClr>
                </a:solidFill>
              </a:rPr>
              <a:t>DataNode</a:t>
            </a:r>
            <a:r>
              <a:rPr lang="en-US" sz="1900" dirty="0">
                <a:solidFill>
                  <a:schemeClr val="accent1">
                    <a:lumMod val="75000"/>
                  </a:schemeClr>
                </a:solidFill>
              </a:rPr>
              <a:t> periodically </a:t>
            </a:r>
            <a:r>
              <a:rPr lang="en-US" sz="1900" b="1" dirty="0">
                <a:solidFill>
                  <a:schemeClr val="accent1">
                    <a:lumMod val="75000"/>
                  </a:schemeClr>
                </a:solidFill>
              </a:rPr>
              <a:t>sends a heartbeat</a:t>
            </a:r>
            <a:r>
              <a:rPr lang="en-US" sz="1900" dirty="0">
                <a:solidFill>
                  <a:schemeClr val="accent1">
                    <a:lumMod val="75000"/>
                  </a:schemeClr>
                </a:solidFill>
              </a:rPr>
              <a:t> and </a:t>
            </a:r>
            <a:r>
              <a:rPr lang="en-US" sz="1900" b="1" dirty="0">
                <a:solidFill>
                  <a:schemeClr val="accent1">
                    <a:lumMod val="75000"/>
                  </a:schemeClr>
                </a:solidFill>
              </a:rPr>
              <a:t>block report</a:t>
            </a:r>
            <a:r>
              <a:rPr lang="en-US" sz="1900" dirty="0">
                <a:solidFill>
                  <a:schemeClr val="accent1">
                    <a:lumMod val="75000"/>
                  </a:schemeClr>
                </a:solidFill>
              </a:rPr>
              <a:t> to the </a:t>
            </a:r>
            <a:r>
              <a:rPr lang="en-US" sz="1900" dirty="0" err="1">
                <a:solidFill>
                  <a:schemeClr val="accent1">
                    <a:lumMod val="75000"/>
                  </a:schemeClr>
                </a:solidFill>
              </a:rPr>
              <a:t>NameNode</a:t>
            </a:r>
            <a:r>
              <a:rPr lang="en-US" sz="1900" dirty="0">
                <a:solidFill>
                  <a:schemeClr val="accent1">
                    <a:lumMod val="75000"/>
                  </a:schemeClr>
                </a:solidFill>
              </a:rPr>
              <a:t>.</a:t>
            </a:r>
          </a:p>
          <a:p>
            <a:pPr>
              <a:buFont typeface="Arial" panose="020B0604020202020204" pitchFamily="34" charset="0"/>
              <a:buChar char="•"/>
            </a:pPr>
            <a:r>
              <a:rPr lang="en-US" sz="1900" dirty="0">
                <a:solidFill>
                  <a:schemeClr val="accent1">
                    <a:lumMod val="75000"/>
                  </a:schemeClr>
                </a:solidFill>
              </a:rPr>
              <a:t>Responsible for:</a:t>
            </a:r>
          </a:p>
          <a:p>
            <a:pPr marL="742950" lvl="1" indent="-285750">
              <a:buFont typeface="Arial" panose="020B0604020202020204" pitchFamily="34" charset="0"/>
              <a:buChar char="•"/>
            </a:pPr>
            <a:r>
              <a:rPr lang="en-US" sz="1900" b="1" dirty="0">
                <a:solidFill>
                  <a:schemeClr val="accent1">
                    <a:lumMod val="75000"/>
                  </a:schemeClr>
                </a:solidFill>
              </a:rPr>
              <a:t>Serving read/write requests</a:t>
            </a:r>
            <a:r>
              <a:rPr lang="en-US" sz="1900" dirty="0">
                <a:solidFill>
                  <a:schemeClr val="accent1">
                    <a:lumMod val="75000"/>
                  </a:schemeClr>
                </a:solidFill>
              </a:rPr>
              <a:t> from clients.</a:t>
            </a:r>
          </a:p>
          <a:p>
            <a:pPr marL="742950" lvl="1" indent="-285750">
              <a:buFont typeface="Arial" panose="020B0604020202020204" pitchFamily="34" charset="0"/>
              <a:buChar char="•"/>
            </a:pPr>
            <a:r>
              <a:rPr lang="en-US" sz="1900" b="1" dirty="0">
                <a:solidFill>
                  <a:schemeClr val="accent1">
                    <a:lumMod val="75000"/>
                  </a:schemeClr>
                </a:solidFill>
              </a:rPr>
              <a:t>Replicating blocks</a:t>
            </a:r>
            <a:r>
              <a:rPr lang="en-US" sz="1900" dirty="0">
                <a:solidFill>
                  <a:schemeClr val="accent1">
                    <a:lumMod val="75000"/>
                  </a:schemeClr>
                </a:solidFill>
              </a:rPr>
              <a:t> based on </a:t>
            </a:r>
            <a:r>
              <a:rPr lang="en-US" sz="1900" dirty="0" err="1">
                <a:solidFill>
                  <a:schemeClr val="accent1">
                    <a:lumMod val="75000"/>
                  </a:schemeClr>
                </a:solidFill>
              </a:rPr>
              <a:t>NameNode’s</a:t>
            </a:r>
            <a:r>
              <a:rPr lang="en-US" sz="1900" dirty="0">
                <a:solidFill>
                  <a:schemeClr val="accent1">
                    <a:lumMod val="75000"/>
                  </a:schemeClr>
                </a:solidFill>
              </a:rPr>
              <a:t> instructions.</a:t>
            </a:r>
          </a:p>
          <a:p>
            <a:pPr marL="742950" lvl="1" indent="-285750">
              <a:buFont typeface="Arial" panose="020B0604020202020204" pitchFamily="34" charset="0"/>
              <a:buChar char="•"/>
            </a:pPr>
            <a:r>
              <a:rPr lang="en-US" sz="1900" b="1" dirty="0">
                <a:solidFill>
                  <a:schemeClr val="accent1">
                    <a:lumMod val="75000"/>
                  </a:schemeClr>
                </a:solidFill>
              </a:rPr>
              <a:t>Deleting/creating blocks</a:t>
            </a:r>
            <a:r>
              <a:rPr lang="en-US" sz="1900" dirty="0">
                <a:solidFill>
                  <a:schemeClr val="accent1">
                    <a:lumMod val="75000"/>
                  </a:schemeClr>
                </a:solidFill>
              </a:rPr>
              <a:t> as commanded.</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6">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635205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92BBBAF-7FBA-4F70-DDF4-D8670049F2AE}"/>
              </a:ext>
            </a:extLst>
          </p:cNvPr>
          <p:cNvSpPr>
            <a:spLocks noGrp="1"/>
          </p:cNvSpPr>
          <p:nvPr>
            <p:ph idx="1"/>
          </p:nvPr>
        </p:nvSpPr>
        <p:spPr>
          <a:xfrm>
            <a:off x="603272" y="354859"/>
            <a:ext cx="10585262" cy="6602491"/>
          </a:xfrm>
        </p:spPr>
        <p:txBody>
          <a:bodyPr>
            <a:normAutofit/>
          </a:bodyPr>
          <a:lstStyle/>
          <a:p>
            <a:pPr marL="0" indent="0">
              <a:buNone/>
            </a:pPr>
            <a:r>
              <a:rPr lang="en-US" sz="2200" b="1" dirty="0">
                <a:solidFill>
                  <a:schemeClr val="accent6">
                    <a:lumMod val="75000"/>
                  </a:schemeClr>
                </a:solidFill>
              </a:rPr>
              <a:t>HDFS (Hadoop Distributed File System) Architecture</a:t>
            </a:r>
          </a:p>
          <a:p>
            <a:pPr marL="0" indent="0">
              <a:buNone/>
            </a:pPr>
            <a:r>
              <a:rPr lang="en-US" sz="1800" b="1" dirty="0">
                <a:solidFill>
                  <a:schemeClr val="accent6">
                    <a:lumMod val="75000"/>
                  </a:schemeClr>
                </a:solidFill>
              </a:rPr>
              <a:t>Core Components of HDFS</a:t>
            </a:r>
          </a:p>
          <a:p>
            <a:pPr marL="0" indent="0">
              <a:buNone/>
            </a:pPr>
            <a:endParaRPr lang="en-US" sz="1800" b="1" dirty="0">
              <a:solidFill>
                <a:schemeClr val="accent1">
                  <a:lumMod val="75000"/>
                </a:schemeClr>
              </a:solidFill>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Calibri body"/>
              </a:rPr>
              <a:t>C. Secondary </a:t>
            </a:r>
            <a:r>
              <a:rPr kumimoji="0" lang="en-US" altLang="en-US" sz="1800" b="1" i="0" u="none" strike="noStrike" cap="none" normalizeH="0" baseline="0" dirty="0" err="1">
                <a:ln>
                  <a:noFill/>
                </a:ln>
                <a:solidFill>
                  <a:schemeClr val="accent1">
                    <a:lumMod val="75000"/>
                  </a:schemeClr>
                </a:solidFill>
                <a:effectLst/>
                <a:latin typeface="Calibri body"/>
              </a:rPr>
              <a:t>NameNode</a:t>
            </a:r>
            <a:endParaRPr kumimoji="0" lang="en-US" altLang="en-US" sz="1800" b="1" i="0" u="none" strike="noStrike" cap="none" normalizeH="0" baseline="0" dirty="0">
              <a:ln>
                <a:noFill/>
              </a:ln>
              <a:solidFill>
                <a:schemeClr val="accent1">
                  <a:lumMod val="75000"/>
                </a:schemeClr>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Calibri body"/>
              </a:rPr>
              <a:t>Often misunderstood — it’s </a:t>
            </a:r>
            <a:r>
              <a:rPr kumimoji="0" lang="en-US" altLang="en-US" sz="1800" b="1" i="0" u="none" strike="noStrike" cap="none" normalizeH="0" baseline="0" dirty="0">
                <a:ln>
                  <a:noFill/>
                </a:ln>
                <a:solidFill>
                  <a:schemeClr val="accent1">
                    <a:lumMod val="75000"/>
                  </a:schemeClr>
                </a:solidFill>
                <a:effectLst/>
                <a:latin typeface="Calibri body"/>
              </a:rPr>
              <a:t>not a backup</a:t>
            </a:r>
            <a:r>
              <a:rPr kumimoji="0" lang="en-US" altLang="en-US" sz="1800" b="0" i="0" u="none" strike="noStrike" cap="none" normalizeH="0" baseline="0" dirty="0">
                <a:ln>
                  <a:noFill/>
                </a:ln>
                <a:solidFill>
                  <a:schemeClr val="accent1">
                    <a:lumMod val="75000"/>
                  </a:schemeClr>
                </a:solidFill>
                <a:effectLst/>
                <a:latin typeface="Calibri body"/>
              </a:rPr>
              <a:t> </a:t>
            </a:r>
            <a:r>
              <a:rPr kumimoji="0" lang="en-US" altLang="en-US" sz="1800" b="0" i="0" u="none" strike="noStrike" cap="none" normalizeH="0" baseline="0" dirty="0" err="1">
                <a:ln>
                  <a:noFill/>
                </a:ln>
                <a:solidFill>
                  <a:schemeClr val="accent1">
                    <a:lumMod val="75000"/>
                  </a:schemeClr>
                </a:solidFill>
                <a:effectLst/>
                <a:latin typeface="Calibri body"/>
              </a:rPr>
              <a:t>NameNode</a:t>
            </a:r>
            <a:r>
              <a:rPr kumimoji="0" lang="en-US" altLang="en-US" sz="1800" b="0" i="0" u="none" strike="noStrike" cap="none" normalizeH="0" baseline="0" dirty="0">
                <a:ln>
                  <a:noFill/>
                </a:ln>
                <a:solidFill>
                  <a:schemeClr val="accent1">
                    <a:lumMod val="75000"/>
                  </a:schemeClr>
                </a:solidFill>
                <a:effectLst/>
                <a:latin typeface="Calibri body"/>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Calibri body"/>
              </a:rPr>
              <a:t>Periodically </a:t>
            </a:r>
            <a:r>
              <a:rPr kumimoji="0" lang="en-US" altLang="en-US" sz="1800" b="1" i="0" u="none" strike="noStrike" cap="none" normalizeH="0" baseline="0" dirty="0">
                <a:ln>
                  <a:noFill/>
                </a:ln>
                <a:solidFill>
                  <a:schemeClr val="accent1">
                    <a:lumMod val="75000"/>
                  </a:schemeClr>
                </a:solidFill>
                <a:effectLst/>
                <a:latin typeface="Calibri body"/>
              </a:rPr>
              <a:t>merges</a:t>
            </a:r>
            <a:r>
              <a:rPr kumimoji="0" lang="en-US" altLang="en-US" sz="1800" b="0" i="0" u="none" strike="noStrike" cap="none" normalizeH="0" baseline="0" dirty="0">
                <a:ln>
                  <a:noFill/>
                </a:ln>
                <a:solidFill>
                  <a:schemeClr val="accent1">
                    <a:lumMod val="75000"/>
                  </a:schemeClr>
                </a:solidFill>
                <a:effectLst/>
                <a:latin typeface="Calibri body"/>
              </a:rPr>
              <a:t> the </a:t>
            </a:r>
            <a:r>
              <a:rPr kumimoji="0" lang="en-US" altLang="en-US" sz="1800" b="0" i="0" u="none" strike="noStrike" cap="none" normalizeH="0" baseline="0" dirty="0" err="1">
                <a:ln>
                  <a:noFill/>
                </a:ln>
                <a:solidFill>
                  <a:schemeClr val="accent1">
                    <a:lumMod val="75000"/>
                  </a:schemeClr>
                </a:solidFill>
                <a:effectLst/>
                <a:latin typeface="Calibri body"/>
              </a:rPr>
              <a:t>NameNode’s</a:t>
            </a:r>
            <a:r>
              <a:rPr kumimoji="0" lang="en-US" altLang="en-US" sz="1800" b="0" i="0" u="none" strike="noStrike" cap="none" normalizeH="0" baseline="0" dirty="0">
                <a:ln>
                  <a:noFill/>
                </a:ln>
                <a:solidFill>
                  <a:schemeClr val="accent1">
                    <a:lumMod val="75000"/>
                  </a:schemeClr>
                </a:solidFill>
                <a:effectLst/>
                <a:latin typeface="Calibri body"/>
              </a:rPr>
              <a:t> </a:t>
            </a:r>
            <a:r>
              <a:rPr kumimoji="0" lang="en-US" altLang="en-US" sz="1800" b="1" i="0" u="none" strike="noStrike" cap="none" normalizeH="0" baseline="0" dirty="0">
                <a:ln>
                  <a:noFill/>
                </a:ln>
                <a:solidFill>
                  <a:schemeClr val="accent1">
                    <a:lumMod val="75000"/>
                  </a:schemeClr>
                </a:solidFill>
                <a:effectLst/>
                <a:latin typeface="Calibri body"/>
              </a:rPr>
              <a:t>edit logs</a:t>
            </a:r>
            <a:r>
              <a:rPr kumimoji="0" lang="en-US" altLang="en-US" sz="1800" b="0" i="0" u="none" strike="noStrike" cap="none" normalizeH="0" baseline="0" dirty="0">
                <a:ln>
                  <a:noFill/>
                </a:ln>
                <a:solidFill>
                  <a:schemeClr val="accent1">
                    <a:lumMod val="75000"/>
                  </a:schemeClr>
                </a:solidFill>
                <a:effectLst/>
                <a:latin typeface="Calibri body"/>
              </a:rPr>
              <a:t> with the </a:t>
            </a:r>
            <a:r>
              <a:rPr kumimoji="0" lang="en-US" altLang="en-US" sz="1800" b="1" i="0" u="none" strike="noStrike" cap="none" normalizeH="0" baseline="0" dirty="0">
                <a:ln>
                  <a:noFill/>
                </a:ln>
                <a:solidFill>
                  <a:schemeClr val="accent1">
                    <a:lumMod val="75000"/>
                  </a:schemeClr>
                </a:solidFill>
                <a:effectLst/>
                <a:latin typeface="Calibri body"/>
              </a:rPr>
              <a:t>namespace image (</a:t>
            </a:r>
            <a:r>
              <a:rPr kumimoji="0" lang="en-US" altLang="en-US" sz="1800" b="1" i="0" u="none" strike="noStrike" cap="none" normalizeH="0" baseline="0" dirty="0" err="1">
                <a:ln>
                  <a:noFill/>
                </a:ln>
                <a:solidFill>
                  <a:schemeClr val="accent1">
                    <a:lumMod val="75000"/>
                  </a:schemeClr>
                </a:solidFill>
                <a:effectLst/>
                <a:latin typeface="Calibri body"/>
              </a:rPr>
              <a:t>FsImage</a:t>
            </a:r>
            <a:r>
              <a:rPr kumimoji="0" lang="en-US" altLang="en-US" sz="1800" b="1" i="0" u="none" strike="noStrike" cap="none" normalizeH="0" baseline="0" dirty="0">
                <a:ln>
                  <a:noFill/>
                </a:ln>
                <a:solidFill>
                  <a:schemeClr val="accent1">
                    <a:lumMod val="75000"/>
                  </a:schemeClr>
                </a:solidFill>
                <a:effectLst/>
                <a:latin typeface="Calibri body"/>
              </a:rPr>
              <a:t>)</a:t>
            </a:r>
            <a:r>
              <a:rPr kumimoji="0" lang="en-US" altLang="en-US" sz="1800" b="0" i="0" u="none" strike="noStrike" cap="none" normalizeH="0" baseline="0" dirty="0">
                <a:ln>
                  <a:noFill/>
                </a:ln>
                <a:solidFill>
                  <a:schemeClr val="accent1">
                    <a:lumMod val="75000"/>
                  </a:schemeClr>
                </a:solidFill>
                <a:effectLst/>
                <a:latin typeface="Calibri body"/>
              </a:rPr>
              <a:t> to prevent the log file from growing too large.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Calibri body"/>
              </a:rPr>
              <a:t>Helps in </a:t>
            </a:r>
            <a:r>
              <a:rPr kumimoji="0" lang="en-US" altLang="en-US" sz="1800" b="1" i="0" u="none" strike="noStrike" cap="none" normalizeH="0" baseline="0" dirty="0">
                <a:ln>
                  <a:noFill/>
                </a:ln>
                <a:solidFill>
                  <a:schemeClr val="accent1">
                    <a:lumMod val="75000"/>
                  </a:schemeClr>
                </a:solidFill>
                <a:effectLst/>
                <a:latin typeface="Calibri body"/>
              </a:rPr>
              <a:t>checkpointing</a:t>
            </a:r>
            <a:r>
              <a:rPr kumimoji="0" lang="en-US" altLang="en-US" sz="1800" b="0" i="0" u="none" strike="noStrike" cap="none" normalizeH="0" baseline="0" dirty="0">
                <a:ln>
                  <a:noFill/>
                </a:ln>
                <a:solidFill>
                  <a:schemeClr val="accent1">
                    <a:lumMod val="75000"/>
                  </a:schemeClr>
                </a:solidFill>
                <a:effectLst/>
                <a:latin typeface="Calibri body"/>
              </a:rPr>
              <a:t>, ensuring faster recovery after crashes.</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Calibri body"/>
              </a:rPr>
              <a:t>D. HDFS Client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Calibri body"/>
              </a:rPr>
              <a:t>Interface between user applications and HDFS.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Calibri body"/>
              </a:rPr>
              <a:t>Provides APIs (Java, C, Python) for: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latin typeface="Calibri body"/>
              </a:rPr>
              <a:t>Creating, reading, deleting</a:t>
            </a:r>
            <a:r>
              <a:rPr kumimoji="0" lang="en-US" altLang="en-US" sz="1800" b="0" i="0" u="none" strike="noStrike" cap="none" normalizeH="0" baseline="0" dirty="0">
                <a:ln>
                  <a:noFill/>
                </a:ln>
                <a:solidFill>
                  <a:schemeClr val="accent1">
                    <a:lumMod val="75000"/>
                  </a:schemeClr>
                </a:solidFill>
                <a:effectLst/>
                <a:latin typeface="Calibri body"/>
              </a:rPr>
              <a:t> files.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Calibri body"/>
              </a:rPr>
              <a:t>Communicating with the </a:t>
            </a:r>
            <a:r>
              <a:rPr kumimoji="0" lang="en-US" altLang="en-US" sz="1800" b="0" i="0" u="none" strike="noStrike" cap="none" normalizeH="0" baseline="0" dirty="0" err="1">
                <a:ln>
                  <a:noFill/>
                </a:ln>
                <a:solidFill>
                  <a:schemeClr val="accent1">
                    <a:lumMod val="75000"/>
                  </a:schemeClr>
                </a:solidFill>
                <a:effectLst/>
                <a:latin typeface="Calibri body"/>
              </a:rPr>
              <a:t>NameNode</a:t>
            </a:r>
            <a:r>
              <a:rPr kumimoji="0" lang="en-US" altLang="en-US" sz="1800" b="0" i="0" u="none" strike="noStrike" cap="none" normalizeH="0" baseline="0" dirty="0">
                <a:ln>
                  <a:noFill/>
                </a:ln>
                <a:solidFill>
                  <a:schemeClr val="accent1">
                    <a:lumMod val="75000"/>
                  </a:schemeClr>
                </a:solidFill>
                <a:effectLst/>
                <a:latin typeface="Calibri body"/>
              </a:rPr>
              <a:t> and </a:t>
            </a:r>
            <a:r>
              <a:rPr kumimoji="0" lang="en-US" altLang="en-US" sz="1800" b="0" i="0" u="none" strike="noStrike" cap="none" normalizeH="0" baseline="0" dirty="0" err="1">
                <a:ln>
                  <a:noFill/>
                </a:ln>
                <a:solidFill>
                  <a:schemeClr val="accent1">
                    <a:lumMod val="75000"/>
                  </a:schemeClr>
                </a:solidFill>
                <a:effectLst/>
                <a:latin typeface="Calibri body"/>
              </a:rPr>
              <a:t>DataNodes</a:t>
            </a:r>
            <a:r>
              <a:rPr kumimoji="0" lang="en-US" altLang="en-US" sz="1800" b="0" i="0" u="none" strike="noStrike" cap="none" normalizeH="0" baseline="0" dirty="0">
                <a:ln>
                  <a:noFill/>
                </a:ln>
                <a:solidFill>
                  <a:schemeClr val="accent1">
                    <a:lumMod val="75000"/>
                  </a:schemeClr>
                </a:solidFill>
                <a:effectLst/>
                <a:latin typeface="Calibri body"/>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6">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102831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92BBBAF-7FBA-4F70-DDF4-D8670049F2AE}"/>
              </a:ext>
            </a:extLst>
          </p:cNvPr>
          <p:cNvSpPr>
            <a:spLocks noGrp="1"/>
          </p:cNvSpPr>
          <p:nvPr>
            <p:ph idx="1"/>
          </p:nvPr>
        </p:nvSpPr>
        <p:spPr>
          <a:xfrm>
            <a:off x="603272" y="354859"/>
            <a:ext cx="10585262" cy="6602491"/>
          </a:xfrm>
        </p:spPr>
        <p:txBody>
          <a:bodyPr>
            <a:normAutofit fontScale="92500" lnSpcReduction="10000"/>
          </a:bodyPr>
          <a:lstStyle/>
          <a:p>
            <a:pPr marL="0" indent="0">
              <a:buNone/>
            </a:pPr>
            <a:r>
              <a:rPr lang="en-US" sz="2200" b="1" dirty="0">
                <a:solidFill>
                  <a:schemeClr val="accent6">
                    <a:lumMod val="75000"/>
                  </a:schemeClr>
                </a:solidFill>
              </a:rPr>
              <a:t>HDFS (Hadoop Distributed File System) Architecture</a:t>
            </a:r>
          </a:p>
          <a:p>
            <a:pPr marL="0" indent="0">
              <a:buNone/>
            </a:pPr>
            <a:r>
              <a:rPr lang="en-US" sz="1800" b="1" dirty="0">
                <a:solidFill>
                  <a:schemeClr val="accent6">
                    <a:lumMod val="75000"/>
                  </a:schemeClr>
                </a:solidFill>
              </a:rPr>
              <a:t>Data Storage and Block Concept</a:t>
            </a:r>
          </a:p>
          <a:p>
            <a:pPr>
              <a:buFont typeface="Arial" panose="020B0604020202020204" pitchFamily="34" charset="0"/>
              <a:buChar char="•"/>
            </a:pPr>
            <a:r>
              <a:rPr lang="en-US" sz="1800" dirty="0">
                <a:solidFill>
                  <a:schemeClr val="accent1">
                    <a:lumMod val="75000"/>
                  </a:schemeClr>
                </a:solidFill>
              </a:rPr>
              <a:t>Files in HDFS are divided into </a:t>
            </a:r>
            <a:r>
              <a:rPr lang="en-US" sz="1800" b="1" dirty="0">
                <a:solidFill>
                  <a:schemeClr val="accent1">
                    <a:lumMod val="75000"/>
                  </a:schemeClr>
                </a:solidFill>
              </a:rPr>
              <a:t>fixed-size blocks</a:t>
            </a:r>
            <a:r>
              <a:rPr lang="en-US" sz="1800" dirty="0">
                <a:solidFill>
                  <a:schemeClr val="accent1">
                    <a:lumMod val="75000"/>
                  </a:schemeClr>
                </a:solidFill>
              </a:rPr>
              <a:t> (default: </a:t>
            </a:r>
            <a:r>
              <a:rPr lang="en-US" sz="1800" b="1" dirty="0">
                <a:solidFill>
                  <a:schemeClr val="accent1">
                    <a:lumMod val="75000"/>
                  </a:schemeClr>
                </a:solidFill>
              </a:rPr>
              <a:t>128 MB</a:t>
            </a:r>
            <a:r>
              <a:rPr lang="en-US" sz="1800" dirty="0">
                <a:solidFill>
                  <a:schemeClr val="accent1">
                    <a:lumMod val="75000"/>
                  </a:schemeClr>
                </a:solidFill>
              </a:rPr>
              <a:t> or </a:t>
            </a:r>
            <a:r>
              <a:rPr lang="en-US" sz="1800" b="1" dirty="0">
                <a:solidFill>
                  <a:schemeClr val="accent1">
                    <a:lumMod val="75000"/>
                  </a:schemeClr>
                </a:solidFill>
              </a:rPr>
              <a:t>256 MB</a:t>
            </a:r>
            <a:r>
              <a:rPr lang="en-US" sz="1800" dirty="0">
                <a:solidFill>
                  <a:schemeClr val="accent1">
                    <a:lumMod val="75000"/>
                  </a:schemeClr>
                </a:solidFill>
              </a:rPr>
              <a:t>).</a:t>
            </a:r>
          </a:p>
          <a:p>
            <a:pPr>
              <a:buFont typeface="Arial" panose="020B0604020202020204" pitchFamily="34" charset="0"/>
              <a:buChar char="•"/>
            </a:pPr>
            <a:r>
              <a:rPr lang="en-US" sz="1800" dirty="0">
                <a:solidFill>
                  <a:schemeClr val="accent1">
                    <a:lumMod val="75000"/>
                  </a:schemeClr>
                </a:solidFill>
              </a:rPr>
              <a:t>Each block is stored on </a:t>
            </a:r>
            <a:r>
              <a:rPr lang="en-US" sz="1800" b="1" dirty="0">
                <a:solidFill>
                  <a:schemeClr val="accent1">
                    <a:lumMod val="75000"/>
                  </a:schemeClr>
                </a:solidFill>
              </a:rPr>
              <a:t>multiple </a:t>
            </a:r>
            <a:r>
              <a:rPr lang="en-US" sz="1800" b="1" dirty="0" err="1">
                <a:solidFill>
                  <a:schemeClr val="accent1">
                    <a:lumMod val="75000"/>
                  </a:schemeClr>
                </a:solidFill>
              </a:rPr>
              <a:t>DataNodes</a:t>
            </a:r>
            <a:r>
              <a:rPr lang="en-US" sz="1800" dirty="0">
                <a:solidFill>
                  <a:schemeClr val="accent1">
                    <a:lumMod val="75000"/>
                  </a:schemeClr>
                </a:solidFill>
              </a:rPr>
              <a:t> for reliability.</a:t>
            </a:r>
          </a:p>
          <a:p>
            <a:r>
              <a:rPr lang="en-US" sz="1800" b="1" dirty="0">
                <a:solidFill>
                  <a:schemeClr val="accent1">
                    <a:lumMod val="75000"/>
                  </a:schemeClr>
                </a:solidFill>
              </a:rPr>
              <a:t>Example:</a:t>
            </a:r>
            <a:br>
              <a:rPr lang="en-US" sz="1800" dirty="0">
                <a:solidFill>
                  <a:schemeClr val="accent1">
                    <a:lumMod val="75000"/>
                  </a:schemeClr>
                </a:solidFill>
              </a:rPr>
            </a:br>
            <a:r>
              <a:rPr lang="en-US" sz="1800" dirty="0">
                <a:solidFill>
                  <a:schemeClr val="accent1">
                    <a:lumMod val="75000"/>
                  </a:schemeClr>
                </a:solidFill>
              </a:rPr>
              <a:t>If a file is 512 MB and block size is 128 MB →</a:t>
            </a:r>
            <a:br>
              <a:rPr lang="en-US" sz="1800" dirty="0">
                <a:solidFill>
                  <a:schemeClr val="accent1">
                    <a:lumMod val="75000"/>
                  </a:schemeClr>
                </a:solidFill>
              </a:rPr>
            </a:br>
            <a:r>
              <a:rPr lang="en-US" sz="1800" dirty="0">
                <a:solidFill>
                  <a:schemeClr val="accent1">
                    <a:lumMod val="75000"/>
                  </a:schemeClr>
                </a:solidFill>
              </a:rPr>
              <a:t>File is split into 4 blocks (B1, B2, B3, B4).</a:t>
            </a:r>
          </a:p>
          <a:p>
            <a:r>
              <a:rPr lang="en-US" sz="1800" dirty="0">
                <a:solidFill>
                  <a:schemeClr val="accent1">
                    <a:lumMod val="75000"/>
                  </a:schemeClr>
                </a:solidFill>
              </a:rPr>
              <a:t>Each block is replicated across </a:t>
            </a:r>
            <a:r>
              <a:rPr lang="en-US" sz="1800" b="1" dirty="0">
                <a:solidFill>
                  <a:schemeClr val="accent1">
                    <a:lumMod val="75000"/>
                  </a:schemeClr>
                </a:solidFill>
              </a:rPr>
              <a:t>3 different </a:t>
            </a:r>
            <a:r>
              <a:rPr lang="en-US" sz="1800" b="1" dirty="0" err="1">
                <a:solidFill>
                  <a:schemeClr val="accent1">
                    <a:lumMod val="75000"/>
                  </a:schemeClr>
                </a:solidFill>
              </a:rPr>
              <a:t>DataNodes</a:t>
            </a:r>
            <a:r>
              <a:rPr lang="en-US" sz="1800" dirty="0">
                <a:solidFill>
                  <a:schemeClr val="accent1">
                    <a:lumMod val="75000"/>
                  </a:schemeClr>
                </a:solidFill>
              </a:rPr>
              <a:t> (default replication factor = 3).</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6">
                  <a:lumMod val="75000"/>
                </a:schemeClr>
              </a:solidFill>
            </a:endParaRPr>
          </a:p>
          <a:p>
            <a:pPr marL="0" indent="0">
              <a:buNone/>
            </a:pPr>
            <a:r>
              <a:rPr lang="en-US" sz="1900" b="1" dirty="0">
                <a:solidFill>
                  <a:schemeClr val="accent6">
                    <a:lumMod val="75000"/>
                  </a:schemeClr>
                </a:solidFill>
              </a:rPr>
              <a:t>Replication and Fault Tolerance</a:t>
            </a:r>
          </a:p>
          <a:p>
            <a:r>
              <a:rPr lang="en-US" sz="1900" b="1" dirty="0">
                <a:solidFill>
                  <a:schemeClr val="accent1">
                    <a:lumMod val="75000"/>
                  </a:schemeClr>
                </a:solidFill>
              </a:rPr>
              <a:t>Replication Strategy</a:t>
            </a:r>
          </a:p>
          <a:p>
            <a:pPr>
              <a:buFont typeface="Arial" panose="020B0604020202020204" pitchFamily="34" charset="0"/>
              <a:buChar char="•"/>
            </a:pPr>
            <a:r>
              <a:rPr lang="en-US" sz="1900" dirty="0">
                <a:solidFill>
                  <a:schemeClr val="accent1">
                    <a:lumMod val="75000"/>
                  </a:schemeClr>
                </a:solidFill>
              </a:rPr>
              <a:t>Default: </a:t>
            </a:r>
            <a:r>
              <a:rPr lang="en-US" sz="1900" b="1" dirty="0">
                <a:solidFill>
                  <a:schemeClr val="accent1">
                    <a:lumMod val="75000"/>
                  </a:schemeClr>
                </a:solidFill>
              </a:rPr>
              <a:t>3 copies per block</a:t>
            </a:r>
            <a:r>
              <a:rPr lang="en-US" sz="1900" dirty="0">
                <a:solidFill>
                  <a:schemeClr val="accent1">
                    <a:lumMod val="75000"/>
                  </a:schemeClr>
                </a:solidFill>
              </a:rPr>
              <a:t>.</a:t>
            </a:r>
          </a:p>
          <a:p>
            <a:pPr marL="742950" lvl="1" indent="-285750">
              <a:buFont typeface="Arial" panose="020B0604020202020204" pitchFamily="34" charset="0"/>
              <a:buChar char="•"/>
            </a:pPr>
            <a:r>
              <a:rPr lang="en-US" sz="1900" dirty="0">
                <a:solidFill>
                  <a:schemeClr val="accent1">
                    <a:lumMod val="75000"/>
                  </a:schemeClr>
                </a:solidFill>
              </a:rPr>
              <a:t>One replica on the </a:t>
            </a:r>
            <a:r>
              <a:rPr lang="en-US" sz="1900" b="1" dirty="0">
                <a:solidFill>
                  <a:schemeClr val="accent1">
                    <a:lumMod val="75000"/>
                  </a:schemeClr>
                </a:solidFill>
              </a:rPr>
              <a:t>same rack</a:t>
            </a:r>
            <a:r>
              <a:rPr lang="en-US" sz="1900" dirty="0">
                <a:solidFill>
                  <a:schemeClr val="accent1">
                    <a:lumMod val="75000"/>
                  </a:schemeClr>
                </a:solidFill>
              </a:rPr>
              <a:t>.</a:t>
            </a:r>
          </a:p>
          <a:p>
            <a:pPr marL="742950" lvl="1" indent="-285750">
              <a:buFont typeface="Arial" panose="020B0604020202020204" pitchFamily="34" charset="0"/>
              <a:buChar char="•"/>
            </a:pPr>
            <a:r>
              <a:rPr lang="en-US" sz="1900" dirty="0">
                <a:solidFill>
                  <a:schemeClr val="accent1">
                    <a:lumMod val="75000"/>
                  </a:schemeClr>
                </a:solidFill>
              </a:rPr>
              <a:t>Another on a </a:t>
            </a:r>
            <a:r>
              <a:rPr lang="en-US" sz="1900" b="1" dirty="0">
                <a:solidFill>
                  <a:schemeClr val="accent1">
                    <a:lumMod val="75000"/>
                  </a:schemeClr>
                </a:solidFill>
              </a:rPr>
              <a:t>different rack</a:t>
            </a:r>
            <a:r>
              <a:rPr lang="en-US" sz="1900" dirty="0">
                <a:solidFill>
                  <a:schemeClr val="accent1">
                    <a:lumMod val="75000"/>
                  </a:schemeClr>
                </a:solidFill>
              </a:rPr>
              <a:t> for fault tolerance.</a:t>
            </a:r>
          </a:p>
          <a:p>
            <a:pPr marL="742950" lvl="1" indent="-285750">
              <a:buFont typeface="Arial" panose="020B0604020202020204" pitchFamily="34" charset="0"/>
              <a:buChar char="•"/>
            </a:pPr>
            <a:r>
              <a:rPr lang="en-US" sz="1900" dirty="0">
                <a:solidFill>
                  <a:schemeClr val="accent1">
                    <a:lumMod val="75000"/>
                  </a:schemeClr>
                </a:solidFill>
              </a:rPr>
              <a:t>Third on another </a:t>
            </a:r>
            <a:r>
              <a:rPr lang="en-US" sz="1900" b="1" dirty="0" err="1">
                <a:solidFill>
                  <a:schemeClr val="accent1">
                    <a:lumMod val="75000"/>
                  </a:schemeClr>
                </a:solidFill>
              </a:rPr>
              <a:t>DataNode</a:t>
            </a:r>
            <a:r>
              <a:rPr lang="en-US" sz="1900" dirty="0">
                <a:solidFill>
                  <a:schemeClr val="accent1">
                    <a:lumMod val="75000"/>
                  </a:schemeClr>
                </a:solidFill>
              </a:rPr>
              <a:t> in the same/different rack.</a:t>
            </a:r>
          </a:p>
          <a:p>
            <a:r>
              <a:rPr lang="en-US" sz="1900" b="1" dirty="0">
                <a:solidFill>
                  <a:schemeClr val="accent1">
                    <a:lumMod val="75000"/>
                  </a:schemeClr>
                </a:solidFill>
              </a:rPr>
              <a:t>Fault Recovery</a:t>
            </a:r>
          </a:p>
          <a:p>
            <a:pPr>
              <a:buFont typeface="Arial" panose="020B0604020202020204" pitchFamily="34" charset="0"/>
              <a:buChar char="•"/>
            </a:pPr>
            <a:r>
              <a:rPr lang="en-US" sz="1900" dirty="0">
                <a:solidFill>
                  <a:schemeClr val="accent1">
                    <a:lumMod val="75000"/>
                  </a:schemeClr>
                </a:solidFill>
              </a:rPr>
              <a:t>If a </a:t>
            </a:r>
            <a:r>
              <a:rPr lang="en-US" sz="1900" dirty="0" err="1">
                <a:solidFill>
                  <a:schemeClr val="accent1">
                    <a:lumMod val="75000"/>
                  </a:schemeClr>
                </a:solidFill>
              </a:rPr>
              <a:t>DataNode</a:t>
            </a:r>
            <a:r>
              <a:rPr lang="en-US" sz="1900" dirty="0">
                <a:solidFill>
                  <a:schemeClr val="accent1">
                    <a:lumMod val="75000"/>
                  </a:schemeClr>
                </a:solidFill>
              </a:rPr>
              <a:t> fails:</a:t>
            </a:r>
          </a:p>
          <a:p>
            <a:pPr marL="742950" lvl="1" indent="-285750">
              <a:buFont typeface="Arial" panose="020B0604020202020204" pitchFamily="34" charset="0"/>
              <a:buChar char="•"/>
            </a:pPr>
            <a:r>
              <a:rPr lang="en-US" sz="1900" dirty="0" err="1">
                <a:solidFill>
                  <a:schemeClr val="accent1">
                    <a:lumMod val="75000"/>
                  </a:schemeClr>
                </a:solidFill>
              </a:rPr>
              <a:t>NameNode</a:t>
            </a:r>
            <a:r>
              <a:rPr lang="en-US" sz="1900" dirty="0">
                <a:solidFill>
                  <a:schemeClr val="accent1">
                    <a:lumMod val="75000"/>
                  </a:schemeClr>
                </a:solidFill>
              </a:rPr>
              <a:t> detects it (missing heartbeat).</a:t>
            </a:r>
          </a:p>
          <a:p>
            <a:pPr marL="742950" lvl="1" indent="-285750">
              <a:buFont typeface="Arial" panose="020B0604020202020204" pitchFamily="34" charset="0"/>
              <a:buChar char="•"/>
            </a:pPr>
            <a:r>
              <a:rPr lang="en-US" sz="1900" dirty="0">
                <a:solidFill>
                  <a:schemeClr val="accent1">
                    <a:lumMod val="75000"/>
                  </a:schemeClr>
                </a:solidFill>
              </a:rPr>
              <a:t>Creates new replicas of blocks on other </a:t>
            </a:r>
            <a:r>
              <a:rPr lang="en-US" sz="1900" dirty="0" err="1">
                <a:solidFill>
                  <a:schemeClr val="accent1">
                    <a:lumMod val="75000"/>
                  </a:schemeClr>
                </a:solidFill>
              </a:rPr>
              <a:t>DataNodes</a:t>
            </a:r>
            <a:r>
              <a:rPr lang="en-US" sz="1900" dirty="0">
                <a:solidFill>
                  <a:schemeClr val="accent1">
                    <a:lumMod val="75000"/>
                  </a:schemeClr>
                </a:solidFill>
              </a:rPr>
              <a:t>.</a:t>
            </a:r>
          </a:p>
          <a:p>
            <a:pPr marL="742950" lvl="1" indent="-285750">
              <a:buFont typeface="Arial" panose="020B0604020202020204" pitchFamily="34" charset="0"/>
              <a:buChar char="•"/>
            </a:pPr>
            <a:r>
              <a:rPr lang="en-US" sz="1900" dirty="0">
                <a:solidFill>
                  <a:schemeClr val="accent1">
                    <a:lumMod val="75000"/>
                  </a:schemeClr>
                </a:solidFill>
              </a:rPr>
              <a:t>Ensures replication factor remains consistent.</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6">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645360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92BBBAF-7FBA-4F70-DDF4-D8670049F2AE}"/>
              </a:ext>
            </a:extLst>
          </p:cNvPr>
          <p:cNvSpPr>
            <a:spLocks noGrp="1"/>
          </p:cNvSpPr>
          <p:nvPr>
            <p:ph idx="1"/>
          </p:nvPr>
        </p:nvSpPr>
        <p:spPr>
          <a:xfrm>
            <a:off x="603272" y="127754"/>
            <a:ext cx="10585262" cy="6602491"/>
          </a:xfrm>
        </p:spPr>
        <p:txBody>
          <a:bodyPr>
            <a:normAutofit/>
          </a:bodyPr>
          <a:lstStyle/>
          <a:p>
            <a:pPr marL="0" indent="0">
              <a:buNone/>
            </a:pPr>
            <a:r>
              <a:rPr lang="en-US" sz="2200" b="1" dirty="0">
                <a:solidFill>
                  <a:schemeClr val="accent6">
                    <a:lumMod val="75000"/>
                  </a:schemeClr>
                </a:solidFill>
              </a:rPr>
              <a:t>HDFS (Hadoop Distributed File System) Architecture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Calibri body"/>
              </a:rPr>
              <a:t>Data Read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Calibri body"/>
              </a:rPr>
              <a:t>Steps:</a:t>
            </a:r>
            <a:endParaRPr kumimoji="0" lang="en-US" altLang="en-US" sz="1800" b="0" i="0" u="none" strike="noStrike" cap="none" normalizeH="0" baseline="0" dirty="0">
              <a:ln>
                <a:noFill/>
              </a:ln>
              <a:solidFill>
                <a:schemeClr val="accent1">
                  <a:lumMod val="75000"/>
                </a:schemeClr>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accent1">
                    <a:lumMod val="75000"/>
                  </a:schemeClr>
                </a:solidFill>
                <a:effectLst/>
                <a:latin typeface="Calibri body"/>
              </a:rPr>
              <a:t>Client contacts the </a:t>
            </a:r>
            <a:r>
              <a:rPr kumimoji="0" lang="en-US" altLang="en-US" sz="1800" b="1" i="0" u="none" strike="noStrike" cap="none" normalizeH="0" baseline="0" dirty="0" err="1">
                <a:ln>
                  <a:noFill/>
                </a:ln>
                <a:solidFill>
                  <a:schemeClr val="accent1">
                    <a:lumMod val="75000"/>
                  </a:schemeClr>
                </a:solidFill>
                <a:effectLst/>
                <a:latin typeface="Calibri body"/>
              </a:rPr>
              <a:t>NameNode</a:t>
            </a:r>
            <a:r>
              <a:rPr kumimoji="0" lang="en-US" altLang="en-US" sz="1800" b="0" i="0" u="none" strike="noStrike" cap="none" normalizeH="0" baseline="0" dirty="0">
                <a:ln>
                  <a:noFill/>
                </a:ln>
                <a:solidFill>
                  <a:schemeClr val="accent1">
                    <a:lumMod val="75000"/>
                  </a:schemeClr>
                </a:solidFill>
                <a:effectLst/>
                <a:latin typeface="Calibri body"/>
              </a:rPr>
              <a:t> to locate which </a:t>
            </a:r>
            <a:r>
              <a:rPr kumimoji="0" lang="en-US" altLang="en-US" sz="1800" b="0" i="0" u="none" strike="noStrike" cap="none" normalizeH="0" baseline="0" dirty="0" err="1">
                <a:ln>
                  <a:noFill/>
                </a:ln>
                <a:solidFill>
                  <a:schemeClr val="accent1">
                    <a:lumMod val="75000"/>
                  </a:schemeClr>
                </a:solidFill>
                <a:effectLst/>
                <a:latin typeface="Calibri body"/>
              </a:rPr>
              <a:t>DataNodes</a:t>
            </a:r>
            <a:r>
              <a:rPr kumimoji="0" lang="en-US" altLang="en-US" sz="1800" b="0" i="0" u="none" strike="noStrike" cap="none" normalizeH="0" baseline="0" dirty="0">
                <a:ln>
                  <a:noFill/>
                </a:ln>
                <a:solidFill>
                  <a:schemeClr val="accent1">
                    <a:lumMod val="75000"/>
                  </a:schemeClr>
                </a:solidFill>
                <a:effectLst/>
                <a:latin typeface="Calibri body"/>
              </a:rPr>
              <a:t> hold the file blocks.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err="1">
                <a:ln>
                  <a:noFill/>
                </a:ln>
                <a:solidFill>
                  <a:schemeClr val="accent1">
                    <a:lumMod val="75000"/>
                  </a:schemeClr>
                </a:solidFill>
                <a:effectLst/>
                <a:latin typeface="Calibri body"/>
              </a:rPr>
              <a:t>NameNode</a:t>
            </a:r>
            <a:r>
              <a:rPr kumimoji="0" lang="en-US" altLang="en-US" sz="1800" b="0" i="0" u="none" strike="noStrike" cap="none" normalizeH="0" baseline="0" dirty="0">
                <a:ln>
                  <a:noFill/>
                </a:ln>
                <a:solidFill>
                  <a:schemeClr val="accent1">
                    <a:lumMod val="75000"/>
                  </a:schemeClr>
                </a:solidFill>
                <a:effectLst/>
                <a:latin typeface="Calibri body"/>
              </a:rPr>
              <a:t> returns a list of </a:t>
            </a:r>
            <a:r>
              <a:rPr kumimoji="0" lang="en-US" altLang="en-US" sz="1800" b="0" i="0" u="none" strike="noStrike" cap="none" normalizeH="0" baseline="0" dirty="0" err="1">
                <a:ln>
                  <a:noFill/>
                </a:ln>
                <a:solidFill>
                  <a:schemeClr val="accent1">
                    <a:lumMod val="75000"/>
                  </a:schemeClr>
                </a:solidFill>
                <a:effectLst/>
                <a:latin typeface="Calibri body"/>
              </a:rPr>
              <a:t>DataNodes</a:t>
            </a:r>
            <a:r>
              <a:rPr kumimoji="0" lang="en-US" altLang="en-US" sz="1800" b="0" i="0" u="none" strike="noStrike" cap="none" normalizeH="0" baseline="0" dirty="0">
                <a:ln>
                  <a:noFill/>
                </a:ln>
                <a:solidFill>
                  <a:schemeClr val="accent1">
                    <a:lumMod val="75000"/>
                  </a:schemeClr>
                </a:solidFill>
                <a:effectLst/>
                <a:latin typeface="Calibri body"/>
              </a:rPr>
              <a:t> for each block.</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accent1">
                    <a:lumMod val="75000"/>
                  </a:schemeClr>
                </a:solidFill>
                <a:effectLst/>
                <a:latin typeface="Calibri body"/>
              </a:rPr>
              <a:t>Client directly reads data from the nearest </a:t>
            </a:r>
            <a:r>
              <a:rPr kumimoji="0" lang="en-US" altLang="en-US" sz="1800" b="0" i="0" u="none" strike="noStrike" cap="none" normalizeH="0" baseline="0" dirty="0" err="1">
                <a:ln>
                  <a:noFill/>
                </a:ln>
                <a:solidFill>
                  <a:schemeClr val="accent1">
                    <a:lumMod val="75000"/>
                  </a:schemeClr>
                </a:solidFill>
                <a:effectLst/>
                <a:latin typeface="Calibri body"/>
              </a:rPr>
              <a:t>DataNode</a:t>
            </a:r>
            <a:r>
              <a:rPr kumimoji="0" lang="en-US" altLang="en-US" sz="1800" b="0" i="0" u="none" strike="noStrike" cap="none" normalizeH="0" baseline="0" dirty="0">
                <a:ln>
                  <a:noFill/>
                </a:ln>
                <a:solidFill>
                  <a:schemeClr val="accent1">
                    <a:lumMod val="75000"/>
                  </a:schemeClr>
                </a:solidFill>
                <a:effectLst/>
                <a:latin typeface="Calibri body"/>
              </a:rPr>
              <a:t> (data locality).</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accent1">
                    <a:lumMod val="75000"/>
                  </a:schemeClr>
                </a:solidFill>
                <a:effectLst/>
                <a:latin typeface="Calibri body"/>
              </a:rPr>
              <a:t>If a </a:t>
            </a:r>
            <a:r>
              <a:rPr kumimoji="0" lang="en-US" altLang="en-US" sz="1800" b="0" i="0" u="none" strike="noStrike" cap="none" normalizeH="0" baseline="0" dirty="0" err="1">
                <a:ln>
                  <a:noFill/>
                </a:ln>
                <a:solidFill>
                  <a:schemeClr val="accent1">
                    <a:lumMod val="75000"/>
                  </a:schemeClr>
                </a:solidFill>
                <a:effectLst/>
                <a:latin typeface="Calibri body"/>
              </a:rPr>
              <a:t>DataNode</a:t>
            </a:r>
            <a:r>
              <a:rPr kumimoji="0" lang="en-US" altLang="en-US" sz="1800" b="0" i="0" u="none" strike="noStrike" cap="none" normalizeH="0" baseline="0" dirty="0">
                <a:ln>
                  <a:noFill/>
                </a:ln>
                <a:solidFill>
                  <a:schemeClr val="accent1">
                    <a:lumMod val="75000"/>
                  </a:schemeClr>
                </a:solidFill>
                <a:effectLst/>
                <a:latin typeface="Calibri body"/>
              </a:rPr>
              <a:t> fails, the client automatically switches to another replica.</a:t>
            </a:r>
          </a:p>
          <a:p>
            <a:pPr marL="0" marR="0" lvl="0" indent="0" algn="l" defTabSz="914400" rtl="0" eaLnBrk="0" fontAlgn="base" latinLnBrk="0" hangingPunct="0">
              <a:lnSpc>
                <a:spcPct val="100000"/>
              </a:lnSpc>
              <a:spcBef>
                <a:spcPct val="0"/>
              </a:spcBef>
              <a:spcAft>
                <a:spcPct val="0"/>
              </a:spcAft>
              <a:buClrTx/>
              <a:buSzTx/>
              <a:buFontTx/>
              <a:buNone/>
              <a:tabLst/>
            </a:pPr>
            <a:endParaRPr lang="en-IN" sz="1800" dirty="0">
              <a:solidFill>
                <a:schemeClr val="accent1">
                  <a:lumMod val="75000"/>
                </a:schemeClr>
              </a:solidFill>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Calibri body"/>
              </a:rPr>
              <a:t>Data Write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Calibri body"/>
              </a:rPr>
              <a:t>Steps:</a:t>
            </a:r>
            <a:endParaRPr kumimoji="0" lang="en-US" altLang="en-US" sz="1800" b="0" i="0" u="none" strike="noStrike" cap="none" normalizeH="0" baseline="0" dirty="0">
              <a:ln>
                <a:noFill/>
              </a:ln>
              <a:solidFill>
                <a:schemeClr val="accent1">
                  <a:lumMod val="75000"/>
                </a:schemeClr>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accent1">
                    <a:lumMod val="75000"/>
                  </a:schemeClr>
                </a:solidFill>
                <a:effectLst/>
                <a:latin typeface="Calibri body"/>
              </a:rPr>
              <a:t>Client requests the </a:t>
            </a:r>
            <a:r>
              <a:rPr kumimoji="0" lang="en-US" altLang="en-US" sz="1800" b="0" i="0" u="none" strike="noStrike" cap="none" normalizeH="0" baseline="0" dirty="0" err="1">
                <a:ln>
                  <a:noFill/>
                </a:ln>
                <a:solidFill>
                  <a:schemeClr val="accent1">
                    <a:lumMod val="75000"/>
                  </a:schemeClr>
                </a:solidFill>
                <a:effectLst/>
                <a:latin typeface="Calibri body"/>
              </a:rPr>
              <a:t>NameNode</a:t>
            </a:r>
            <a:r>
              <a:rPr kumimoji="0" lang="en-US" altLang="en-US" sz="1800" b="0" i="0" u="none" strike="noStrike" cap="none" normalizeH="0" baseline="0" dirty="0">
                <a:ln>
                  <a:noFill/>
                </a:ln>
                <a:solidFill>
                  <a:schemeClr val="accent1">
                    <a:lumMod val="75000"/>
                  </a:schemeClr>
                </a:solidFill>
                <a:effectLst/>
                <a:latin typeface="Calibri body"/>
              </a:rPr>
              <a:t> to create a file.</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err="1">
                <a:ln>
                  <a:noFill/>
                </a:ln>
                <a:solidFill>
                  <a:schemeClr val="accent1">
                    <a:lumMod val="75000"/>
                  </a:schemeClr>
                </a:solidFill>
                <a:effectLst/>
                <a:latin typeface="Calibri body"/>
              </a:rPr>
              <a:t>NameNode</a:t>
            </a:r>
            <a:r>
              <a:rPr kumimoji="0" lang="en-US" altLang="en-US" sz="1800" b="0" i="0" u="none" strike="noStrike" cap="none" normalizeH="0" baseline="0" dirty="0">
                <a:ln>
                  <a:noFill/>
                </a:ln>
                <a:solidFill>
                  <a:schemeClr val="accent1">
                    <a:lumMod val="75000"/>
                  </a:schemeClr>
                </a:solidFill>
                <a:effectLst/>
                <a:latin typeface="Calibri body"/>
              </a:rPr>
              <a:t> responds with block allocation and suitable </a:t>
            </a:r>
            <a:r>
              <a:rPr kumimoji="0" lang="en-US" altLang="en-US" sz="1800" b="0" i="0" u="none" strike="noStrike" cap="none" normalizeH="0" baseline="0" dirty="0" err="1">
                <a:ln>
                  <a:noFill/>
                </a:ln>
                <a:solidFill>
                  <a:schemeClr val="accent1">
                    <a:lumMod val="75000"/>
                  </a:schemeClr>
                </a:solidFill>
                <a:effectLst/>
                <a:latin typeface="Calibri body"/>
              </a:rPr>
              <a:t>DataNodes</a:t>
            </a:r>
            <a:r>
              <a:rPr kumimoji="0" lang="en-US" altLang="en-US" sz="1800" b="0" i="0" u="none" strike="noStrike" cap="none" normalizeH="0" baseline="0" dirty="0">
                <a:ln>
                  <a:noFill/>
                </a:ln>
                <a:solidFill>
                  <a:schemeClr val="accent1">
                    <a:lumMod val="75000"/>
                  </a:schemeClr>
                </a:solidFill>
                <a:effectLst/>
                <a:latin typeface="Calibri body"/>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accent1">
                    <a:lumMod val="75000"/>
                  </a:schemeClr>
                </a:solidFill>
                <a:effectLst/>
                <a:latin typeface="Calibri body"/>
              </a:rPr>
              <a:t>Client writes each block to the </a:t>
            </a:r>
            <a:r>
              <a:rPr kumimoji="0" lang="en-US" altLang="en-US" sz="1800" b="1" i="0" u="none" strike="noStrike" cap="none" normalizeH="0" baseline="0" dirty="0">
                <a:ln>
                  <a:noFill/>
                </a:ln>
                <a:solidFill>
                  <a:schemeClr val="accent1">
                    <a:lumMod val="75000"/>
                  </a:schemeClr>
                </a:solidFill>
                <a:effectLst/>
                <a:latin typeface="Calibri body"/>
              </a:rPr>
              <a:t>first </a:t>
            </a:r>
            <a:r>
              <a:rPr kumimoji="0" lang="en-US" altLang="en-US" sz="1800" b="1" i="0" u="none" strike="noStrike" cap="none" normalizeH="0" baseline="0" dirty="0" err="1">
                <a:ln>
                  <a:noFill/>
                </a:ln>
                <a:solidFill>
                  <a:schemeClr val="accent1">
                    <a:lumMod val="75000"/>
                  </a:schemeClr>
                </a:solidFill>
                <a:effectLst/>
                <a:latin typeface="Calibri body"/>
              </a:rPr>
              <a:t>DataNode</a:t>
            </a:r>
            <a:r>
              <a:rPr kumimoji="0" lang="en-US" altLang="en-US" sz="1800" b="0" i="0" u="none" strike="noStrike" cap="none" normalizeH="0" baseline="0" dirty="0">
                <a:ln>
                  <a:noFill/>
                </a:ln>
                <a:solidFill>
                  <a:schemeClr val="accent1">
                    <a:lumMod val="75000"/>
                  </a:schemeClr>
                </a:solidFill>
                <a:effectLst/>
                <a:latin typeface="Calibri body"/>
              </a:rPr>
              <a:t>, which then pipelines the data to the next </a:t>
            </a:r>
            <a:r>
              <a:rPr kumimoji="0" lang="en-US" altLang="en-US" sz="1800" b="0" i="0" u="none" strike="noStrike" cap="none" normalizeH="0" baseline="0" dirty="0" err="1">
                <a:ln>
                  <a:noFill/>
                </a:ln>
                <a:solidFill>
                  <a:schemeClr val="accent1">
                    <a:lumMod val="75000"/>
                  </a:schemeClr>
                </a:solidFill>
                <a:effectLst/>
                <a:latin typeface="Calibri body"/>
              </a:rPr>
              <a:t>DataNodes</a:t>
            </a:r>
            <a:r>
              <a:rPr kumimoji="0" lang="en-US" altLang="en-US" sz="1800" b="0" i="0" u="none" strike="noStrike" cap="none" normalizeH="0" baseline="0" dirty="0">
                <a:ln>
                  <a:noFill/>
                </a:ln>
                <a:solidFill>
                  <a:schemeClr val="accent1">
                    <a:lumMod val="75000"/>
                  </a:schemeClr>
                </a:solidFill>
                <a:effectLst/>
                <a:latin typeface="Calibri body"/>
              </a:rPr>
              <a:t> for replication.</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accent1">
                    <a:lumMod val="75000"/>
                  </a:schemeClr>
                </a:solidFill>
                <a:effectLst/>
                <a:latin typeface="Calibri body"/>
              </a:rPr>
              <a:t>After successful writing and acknowledgment, </a:t>
            </a:r>
            <a:r>
              <a:rPr kumimoji="0" lang="en-US" altLang="en-US" sz="1800" b="0" i="0" u="none" strike="noStrike" cap="none" normalizeH="0" baseline="0" dirty="0" err="1">
                <a:ln>
                  <a:noFill/>
                </a:ln>
                <a:solidFill>
                  <a:schemeClr val="accent1">
                    <a:lumMod val="75000"/>
                  </a:schemeClr>
                </a:solidFill>
                <a:effectLst/>
                <a:latin typeface="Calibri body"/>
              </a:rPr>
              <a:t>NameNode</a:t>
            </a:r>
            <a:r>
              <a:rPr kumimoji="0" lang="en-US" altLang="en-US" sz="1800" b="0" i="0" u="none" strike="noStrike" cap="none" normalizeH="0" baseline="0" dirty="0">
                <a:ln>
                  <a:noFill/>
                </a:ln>
                <a:solidFill>
                  <a:schemeClr val="accent1">
                    <a:lumMod val="75000"/>
                  </a:schemeClr>
                </a:solidFill>
                <a:effectLst/>
                <a:latin typeface="Calibri body"/>
              </a:rPr>
              <a:t> updates metadata.</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b="1" dirty="0">
              <a:solidFill>
                <a:schemeClr val="accent1">
                  <a:lumMod val="75000"/>
                </a:schemeClr>
              </a:solidFill>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accent1">
                  <a:lumMod val="75000"/>
                </a:schemeClr>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Calibri body"/>
              </a:rPr>
              <a:t>HDFS Communication Protocols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75000"/>
                  </a:schemeClr>
                </a:solidFill>
                <a:effectLst/>
                <a:latin typeface="Calibri body"/>
              </a:rPr>
              <a:t>Uses </a:t>
            </a:r>
            <a:r>
              <a:rPr kumimoji="0" lang="en-US" altLang="en-US" sz="1800" b="1" i="0" u="none" strike="noStrike" cap="none" normalizeH="0" baseline="0" dirty="0">
                <a:ln>
                  <a:noFill/>
                </a:ln>
                <a:solidFill>
                  <a:schemeClr val="accent1">
                    <a:lumMod val="75000"/>
                  </a:schemeClr>
                </a:solidFill>
                <a:effectLst/>
                <a:latin typeface="Calibri body"/>
              </a:rPr>
              <a:t>TCP/IP</a:t>
            </a:r>
            <a:r>
              <a:rPr kumimoji="0" lang="en-US" altLang="en-US" sz="1800" b="0" i="0" u="none" strike="noStrike" cap="none" normalizeH="0" baseline="0" dirty="0">
                <a:ln>
                  <a:noFill/>
                </a:ln>
                <a:solidFill>
                  <a:schemeClr val="accent1">
                    <a:lumMod val="75000"/>
                  </a:schemeClr>
                </a:solidFill>
                <a:effectLst/>
                <a:latin typeface="Calibri body"/>
              </a:rPr>
              <a:t> for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latin typeface="Calibri body"/>
              </a:rPr>
              <a:t>RPC (Remote Procedure Call)</a:t>
            </a:r>
            <a:r>
              <a:rPr kumimoji="0" lang="en-US" altLang="en-US" sz="1800" b="0" i="0" u="none" strike="noStrike" cap="none" normalizeH="0" baseline="0" dirty="0">
                <a:ln>
                  <a:noFill/>
                </a:ln>
                <a:solidFill>
                  <a:schemeClr val="accent1">
                    <a:lumMod val="75000"/>
                  </a:schemeClr>
                </a:solidFill>
                <a:effectLst/>
                <a:latin typeface="Calibri body"/>
              </a:rPr>
              <a:t> framework for client–</a:t>
            </a:r>
            <a:r>
              <a:rPr kumimoji="0" lang="en-US" altLang="en-US" sz="1800" b="0" i="0" u="none" strike="noStrike" cap="none" normalizeH="0" baseline="0" dirty="0" err="1">
                <a:ln>
                  <a:noFill/>
                </a:ln>
                <a:solidFill>
                  <a:schemeClr val="accent1">
                    <a:lumMod val="75000"/>
                  </a:schemeClr>
                </a:solidFill>
                <a:effectLst/>
                <a:latin typeface="Calibri body"/>
              </a:rPr>
              <a:t>NameNode</a:t>
            </a:r>
            <a:r>
              <a:rPr kumimoji="0" lang="en-US" altLang="en-US" sz="1800" b="0" i="0" u="none" strike="noStrike" cap="none" normalizeH="0" baseline="0" dirty="0">
                <a:ln>
                  <a:noFill/>
                </a:ln>
                <a:solidFill>
                  <a:schemeClr val="accent1">
                    <a:lumMod val="75000"/>
                  </a:schemeClr>
                </a:solidFill>
                <a:effectLst/>
                <a:latin typeface="Calibri body"/>
              </a:rPr>
              <a:t> and client–</a:t>
            </a:r>
            <a:r>
              <a:rPr kumimoji="0" lang="en-US" altLang="en-US" sz="1800" b="0" i="0" u="none" strike="noStrike" cap="none" normalizeH="0" baseline="0" dirty="0" err="1">
                <a:ln>
                  <a:noFill/>
                </a:ln>
                <a:solidFill>
                  <a:schemeClr val="accent1">
                    <a:lumMod val="75000"/>
                  </a:schemeClr>
                </a:solidFill>
                <a:effectLst/>
                <a:latin typeface="Calibri body"/>
              </a:rPr>
              <a:t>DataNode</a:t>
            </a:r>
            <a:r>
              <a:rPr kumimoji="0" lang="en-US" altLang="en-US" sz="1800" b="0" i="0" u="none" strike="noStrike" cap="none" normalizeH="0" baseline="0" dirty="0">
                <a:ln>
                  <a:noFill/>
                </a:ln>
                <a:solidFill>
                  <a:schemeClr val="accent1">
                    <a:lumMod val="75000"/>
                  </a:schemeClr>
                </a:solidFill>
                <a:effectLst/>
                <a:latin typeface="Calibri body"/>
              </a:rPr>
              <a:t>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latin typeface="Calibri body"/>
              </a:rPr>
              <a:t>Heartbeat</a:t>
            </a:r>
            <a:r>
              <a:rPr kumimoji="0" lang="en-US" altLang="en-US" sz="1800" b="0" i="0" u="none" strike="noStrike" cap="none" normalizeH="0" baseline="0" dirty="0">
                <a:ln>
                  <a:noFill/>
                </a:ln>
                <a:solidFill>
                  <a:schemeClr val="accent1">
                    <a:lumMod val="75000"/>
                  </a:schemeClr>
                </a:solidFill>
                <a:effectLst/>
                <a:latin typeface="Calibri body"/>
              </a:rPr>
              <a:t>: </a:t>
            </a:r>
            <a:r>
              <a:rPr kumimoji="0" lang="en-US" altLang="en-US" sz="1800" b="0" i="0" u="none" strike="noStrike" cap="none" normalizeH="0" baseline="0" dirty="0" err="1">
                <a:ln>
                  <a:noFill/>
                </a:ln>
                <a:solidFill>
                  <a:schemeClr val="accent1">
                    <a:lumMod val="75000"/>
                  </a:schemeClr>
                </a:solidFill>
                <a:effectLst/>
                <a:latin typeface="Calibri body"/>
              </a:rPr>
              <a:t>DataNodes</a:t>
            </a:r>
            <a:r>
              <a:rPr kumimoji="0" lang="en-US" altLang="en-US" sz="1800" b="0" i="0" u="none" strike="noStrike" cap="none" normalizeH="0" baseline="0" dirty="0">
                <a:ln>
                  <a:noFill/>
                </a:ln>
                <a:solidFill>
                  <a:schemeClr val="accent1">
                    <a:lumMod val="75000"/>
                  </a:schemeClr>
                </a:solidFill>
                <a:effectLst/>
                <a:latin typeface="Calibri body"/>
              </a:rPr>
              <a:t> → </a:t>
            </a:r>
            <a:r>
              <a:rPr kumimoji="0" lang="en-US" altLang="en-US" sz="1800" b="0" i="0" u="none" strike="noStrike" cap="none" normalizeH="0" baseline="0" dirty="0" err="1">
                <a:ln>
                  <a:noFill/>
                </a:ln>
                <a:solidFill>
                  <a:schemeClr val="accent1">
                    <a:lumMod val="75000"/>
                  </a:schemeClr>
                </a:solidFill>
                <a:effectLst/>
                <a:latin typeface="Calibri body"/>
              </a:rPr>
              <a:t>NameNode</a:t>
            </a:r>
            <a:r>
              <a:rPr kumimoji="0" lang="en-US" altLang="en-US" sz="1800" b="0" i="0" u="none" strike="noStrike" cap="none" normalizeH="0" baseline="0" dirty="0">
                <a:ln>
                  <a:noFill/>
                </a:ln>
                <a:solidFill>
                  <a:schemeClr val="accent1">
                    <a:lumMod val="75000"/>
                  </a:schemeClr>
                </a:solidFill>
                <a:effectLst/>
                <a:latin typeface="Calibri body"/>
              </a:rPr>
              <a:t> (every 3 seconds default).</a:t>
            </a:r>
          </a:p>
          <a:p>
            <a:pPr mar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accent1">
                    <a:lumMod val="75000"/>
                  </a:schemeClr>
                </a:solidFill>
                <a:effectLst/>
                <a:latin typeface="Calibri body"/>
              </a:rPr>
              <a:t>Block Reports</a:t>
            </a:r>
            <a:r>
              <a:rPr kumimoji="0" lang="en-US" altLang="en-US" sz="1800" b="0" i="0" u="none" strike="noStrike" cap="none" normalizeH="0" baseline="0" dirty="0">
                <a:ln>
                  <a:noFill/>
                </a:ln>
                <a:solidFill>
                  <a:schemeClr val="accent1">
                    <a:lumMod val="75000"/>
                  </a:schemeClr>
                </a:solidFill>
                <a:effectLst/>
                <a:latin typeface="Calibri body"/>
              </a:rPr>
              <a:t>: Sent periodically to update block information.</a:t>
            </a:r>
          </a:p>
          <a:p>
            <a:pPr marL="0" marR="0" lvl="0" indent="0" algn="l" defTabSz="914400" rtl="0" eaLnBrk="0" fontAlgn="base" latinLnBrk="0" hangingPunct="0">
              <a:lnSpc>
                <a:spcPct val="100000"/>
              </a:lnSpc>
              <a:spcBef>
                <a:spcPct val="0"/>
              </a:spcBef>
              <a:spcAft>
                <a:spcPct val="0"/>
              </a:spcAft>
              <a:buClrTx/>
              <a:buSzTx/>
              <a:buFontTx/>
              <a:buChar char="•"/>
              <a:tabLst/>
            </a:pPr>
            <a:endParaRPr lang="en-IN" sz="1800" dirty="0">
              <a:solidFill>
                <a:schemeClr val="accent6">
                  <a:lumMod val="75000"/>
                </a:schemeClr>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75030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0"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21"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5A80577F-4B4D-1BE2-5CE8-2F347F7BC7F6}"/>
              </a:ext>
            </a:extLst>
          </p:cNvPr>
          <p:cNvSpPr>
            <a:spLocks noGrp="1"/>
          </p:cNvSpPr>
          <p:nvPr>
            <p:ph idx="1"/>
          </p:nvPr>
        </p:nvSpPr>
        <p:spPr>
          <a:xfrm>
            <a:off x="973777" y="676727"/>
            <a:ext cx="9737766" cy="5569694"/>
          </a:xfrm>
        </p:spPr>
        <p:txBody>
          <a:bodyPr anchor="ctr">
            <a:normAutofit/>
          </a:bodyPr>
          <a:lstStyle/>
          <a:p>
            <a:pPr marL="0" indent="0">
              <a:buNone/>
            </a:pPr>
            <a:r>
              <a:rPr lang="en-IN" sz="2500" b="1" dirty="0">
                <a:solidFill>
                  <a:schemeClr val="accent6">
                    <a:lumMod val="75000"/>
                  </a:schemeClr>
                </a:solidFill>
              </a:rPr>
              <a:t>Remote Procedure Call (RPC)</a:t>
            </a:r>
          </a:p>
          <a:p>
            <a:pPr marL="0" indent="0">
              <a:buNone/>
            </a:pPr>
            <a:r>
              <a:rPr lang="en-US" sz="1800" b="1" dirty="0">
                <a:solidFill>
                  <a:schemeClr val="accent1">
                    <a:lumMod val="75000"/>
                  </a:schemeClr>
                </a:solidFill>
              </a:rPr>
              <a:t>Concept</a:t>
            </a:r>
          </a:p>
          <a:p>
            <a:pPr>
              <a:buFont typeface="Arial" panose="020B0604020202020204" pitchFamily="34" charset="0"/>
              <a:buChar char="•"/>
            </a:pPr>
            <a:r>
              <a:rPr lang="en-US" sz="1800" b="1" dirty="0">
                <a:solidFill>
                  <a:schemeClr val="accent1">
                    <a:lumMod val="75000"/>
                  </a:schemeClr>
                </a:solidFill>
              </a:rPr>
              <a:t>Remote Procedure Call (RPC)</a:t>
            </a:r>
            <a:r>
              <a:rPr lang="en-US" sz="1800" dirty="0">
                <a:solidFill>
                  <a:schemeClr val="accent1">
                    <a:lumMod val="75000"/>
                  </a:schemeClr>
                </a:solidFill>
              </a:rPr>
              <a:t> is a </a:t>
            </a:r>
            <a:r>
              <a:rPr lang="en-US" sz="1800" b="1" dirty="0">
                <a:solidFill>
                  <a:schemeClr val="accent1">
                    <a:lumMod val="75000"/>
                  </a:schemeClr>
                </a:solidFill>
              </a:rPr>
              <a:t>communication mechanism</a:t>
            </a:r>
            <a:r>
              <a:rPr lang="en-US" sz="1800" dirty="0">
                <a:solidFill>
                  <a:schemeClr val="accent1">
                    <a:lumMod val="75000"/>
                  </a:schemeClr>
                </a:solidFill>
              </a:rPr>
              <a:t> that allows a program to </a:t>
            </a:r>
            <a:r>
              <a:rPr lang="en-US" sz="1800" b="1" dirty="0">
                <a:solidFill>
                  <a:schemeClr val="accent1">
                    <a:lumMod val="75000"/>
                  </a:schemeClr>
                </a:solidFill>
              </a:rPr>
              <a:t>execute a procedure (function)</a:t>
            </a:r>
            <a:r>
              <a:rPr lang="en-US" sz="1800" dirty="0">
                <a:solidFill>
                  <a:schemeClr val="accent1">
                    <a:lumMod val="75000"/>
                  </a:schemeClr>
                </a:solidFill>
              </a:rPr>
              <a:t> on a </a:t>
            </a:r>
            <a:r>
              <a:rPr lang="en-US" sz="1800" b="1" dirty="0">
                <a:solidFill>
                  <a:schemeClr val="accent1">
                    <a:lumMod val="75000"/>
                  </a:schemeClr>
                </a:solidFill>
              </a:rPr>
              <a:t>remote system</a:t>
            </a:r>
            <a:r>
              <a:rPr lang="en-US" sz="1800" dirty="0">
                <a:solidFill>
                  <a:schemeClr val="accent1">
                    <a:lumMod val="75000"/>
                  </a:schemeClr>
                </a:solidFill>
              </a:rPr>
              <a:t> as if it were </a:t>
            </a:r>
            <a:r>
              <a:rPr lang="en-US" sz="1800" b="1" dirty="0">
                <a:solidFill>
                  <a:schemeClr val="accent1">
                    <a:lumMod val="75000"/>
                  </a:schemeClr>
                </a:solidFill>
              </a:rPr>
              <a:t>local</a:t>
            </a:r>
            <a:r>
              <a:rPr lang="en-US" sz="1800" dirty="0">
                <a:solidFill>
                  <a:schemeClr val="accent1">
                    <a:lumMod val="75000"/>
                  </a:schemeClr>
                </a:solidFill>
              </a:rPr>
              <a:t>.</a:t>
            </a:r>
          </a:p>
          <a:p>
            <a:pPr>
              <a:buFont typeface="Arial" panose="020B0604020202020204" pitchFamily="34" charset="0"/>
              <a:buChar char="•"/>
            </a:pPr>
            <a:r>
              <a:rPr lang="en-US" sz="1800" dirty="0">
                <a:solidFill>
                  <a:schemeClr val="accent1">
                    <a:lumMod val="75000"/>
                  </a:schemeClr>
                </a:solidFill>
              </a:rPr>
              <a:t>It </a:t>
            </a:r>
            <a:r>
              <a:rPr lang="en-US" sz="1800" b="1" dirty="0">
                <a:solidFill>
                  <a:schemeClr val="accent1">
                    <a:lumMod val="75000"/>
                  </a:schemeClr>
                </a:solidFill>
              </a:rPr>
              <a:t>abstracts network communication</a:t>
            </a:r>
            <a:r>
              <a:rPr lang="en-US" sz="1800" dirty="0">
                <a:solidFill>
                  <a:schemeClr val="accent1">
                    <a:lumMod val="75000"/>
                  </a:schemeClr>
                </a:solidFill>
              </a:rPr>
              <a:t>, allowing distributed systems to behave like a single unified system.</a:t>
            </a:r>
          </a:p>
          <a:p>
            <a:pPr marL="0" indent="0">
              <a:buNone/>
            </a:pPr>
            <a:endParaRPr lang="en-US" sz="1800" dirty="0">
              <a:solidFill>
                <a:schemeClr val="accent1">
                  <a:lumMod val="75000"/>
                </a:schemeClr>
              </a:solidFill>
            </a:endParaRPr>
          </a:p>
          <a:p>
            <a:pPr marL="0" indent="0">
              <a:buNone/>
            </a:pPr>
            <a:r>
              <a:rPr lang="en-US" sz="1800" b="1" dirty="0">
                <a:solidFill>
                  <a:schemeClr val="accent1">
                    <a:lumMod val="75000"/>
                  </a:schemeClr>
                </a:solidFill>
              </a:rPr>
              <a:t>Motivation</a:t>
            </a:r>
          </a:p>
          <a:p>
            <a:pPr>
              <a:buFont typeface="Arial" panose="020B0604020202020204" pitchFamily="34" charset="0"/>
              <a:buChar char="•"/>
            </a:pPr>
            <a:r>
              <a:rPr lang="en-US" sz="1800" dirty="0">
                <a:solidFill>
                  <a:schemeClr val="accent1">
                    <a:lumMod val="75000"/>
                  </a:schemeClr>
                </a:solidFill>
              </a:rPr>
              <a:t>In distributed systems, processes often need to </a:t>
            </a:r>
            <a:r>
              <a:rPr lang="en-US" sz="1800" b="1" dirty="0">
                <a:solidFill>
                  <a:schemeClr val="accent1">
                    <a:lumMod val="75000"/>
                  </a:schemeClr>
                </a:solidFill>
              </a:rPr>
              <a:t>communicate</a:t>
            </a:r>
            <a:r>
              <a:rPr lang="en-US" sz="1800" dirty="0">
                <a:solidFill>
                  <a:schemeClr val="accent1">
                    <a:lumMod val="75000"/>
                  </a:schemeClr>
                </a:solidFill>
              </a:rPr>
              <a:t> or </a:t>
            </a:r>
            <a:r>
              <a:rPr lang="en-US" sz="1800" b="1" dirty="0">
                <a:solidFill>
                  <a:schemeClr val="accent1">
                    <a:lumMod val="75000"/>
                  </a:schemeClr>
                </a:solidFill>
              </a:rPr>
              <a:t>share services</a:t>
            </a:r>
            <a:r>
              <a:rPr lang="en-US" sz="1800" dirty="0">
                <a:solidFill>
                  <a:schemeClr val="accent1">
                    <a:lumMod val="75000"/>
                  </a:schemeClr>
                </a:solidFill>
              </a:rPr>
              <a:t>.</a:t>
            </a:r>
          </a:p>
          <a:p>
            <a:pPr>
              <a:buFont typeface="Arial" panose="020B0604020202020204" pitchFamily="34" charset="0"/>
              <a:buChar char="•"/>
            </a:pPr>
            <a:r>
              <a:rPr lang="en-US" sz="1800" dirty="0">
                <a:solidFill>
                  <a:schemeClr val="accent1">
                    <a:lumMod val="75000"/>
                  </a:schemeClr>
                </a:solidFill>
              </a:rPr>
              <a:t>Using </a:t>
            </a:r>
            <a:r>
              <a:rPr lang="en-US" sz="1800" b="1" dirty="0">
                <a:solidFill>
                  <a:schemeClr val="accent1">
                    <a:lumMod val="75000"/>
                  </a:schemeClr>
                </a:solidFill>
              </a:rPr>
              <a:t>message passing (send/receive)</a:t>
            </a:r>
            <a:r>
              <a:rPr lang="en-US" sz="1800" dirty="0">
                <a:solidFill>
                  <a:schemeClr val="accent1">
                    <a:lumMod val="75000"/>
                  </a:schemeClr>
                </a:solidFill>
              </a:rPr>
              <a:t> is complex and error-prone.</a:t>
            </a:r>
          </a:p>
          <a:p>
            <a:pPr>
              <a:buFont typeface="Arial" panose="020B0604020202020204" pitchFamily="34" charset="0"/>
              <a:buChar char="•"/>
            </a:pPr>
            <a:r>
              <a:rPr lang="en-US" sz="1800" b="1" dirty="0">
                <a:solidFill>
                  <a:schemeClr val="accent1">
                    <a:lumMod val="75000"/>
                  </a:schemeClr>
                </a:solidFill>
              </a:rPr>
              <a:t>RPC simplifies this</a:t>
            </a:r>
            <a:r>
              <a:rPr lang="en-US" sz="1800" dirty="0">
                <a:solidFill>
                  <a:schemeClr val="accent1">
                    <a:lumMod val="75000"/>
                  </a:schemeClr>
                </a:solidFill>
              </a:rPr>
              <a:t> by:</a:t>
            </a:r>
          </a:p>
          <a:p>
            <a:pPr marL="742950" lvl="1" indent="-285750">
              <a:buFont typeface="Arial" panose="020B0604020202020204" pitchFamily="34" charset="0"/>
              <a:buChar char="•"/>
            </a:pPr>
            <a:r>
              <a:rPr lang="en-US" sz="1800" dirty="0">
                <a:solidFill>
                  <a:schemeClr val="accent1">
                    <a:lumMod val="75000"/>
                  </a:schemeClr>
                </a:solidFill>
              </a:rPr>
              <a:t>Hiding details of network communication.</a:t>
            </a:r>
          </a:p>
          <a:p>
            <a:pPr marL="742950" lvl="1" indent="-285750">
              <a:buFont typeface="Arial" panose="020B0604020202020204" pitchFamily="34" charset="0"/>
              <a:buChar char="•"/>
            </a:pPr>
            <a:r>
              <a:rPr lang="en-US" sz="1800" dirty="0">
                <a:solidFill>
                  <a:schemeClr val="accent1">
                    <a:lumMod val="75000"/>
                  </a:schemeClr>
                </a:solidFill>
              </a:rPr>
              <a:t>Making remote communication look like a </a:t>
            </a:r>
            <a:r>
              <a:rPr lang="en-US" sz="1800" b="1" dirty="0">
                <a:solidFill>
                  <a:schemeClr val="accent1">
                    <a:lumMod val="75000"/>
                  </a:schemeClr>
                </a:solidFill>
              </a:rPr>
              <a:t>simple function call</a:t>
            </a:r>
            <a:r>
              <a:rPr lang="en-US" sz="1800" dirty="0">
                <a:solidFill>
                  <a:schemeClr val="accent1">
                    <a:lumMod val="75000"/>
                  </a:schemeClr>
                </a:solidFill>
              </a:rPr>
              <a:t>.</a:t>
            </a:r>
          </a:p>
          <a:p>
            <a:pPr marL="0" indent="0">
              <a:buNone/>
            </a:pPr>
            <a:endParaRPr lang="en-IN" sz="1400" dirty="0">
              <a:solidFill>
                <a:schemeClr val="tx2"/>
              </a:solidFill>
            </a:endParaRPr>
          </a:p>
        </p:txBody>
      </p:sp>
    </p:spTree>
    <p:extLst>
      <p:ext uri="{BB962C8B-B14F-4D97-AF65-F5344CB8AC3E}">
        <p14:creationId xmlns:p14="http://schemas.microsoft.com/office/powerpoint/2010/main" val="21737979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Content Placeholder 1">
            <a:extLst>
              <a:ext uri="{FF2B5EF4-FFF2-40B4-BE49-F238E27FC236}">
                <a16:creationId xmlns:a16="http://schemas.microsoft.com/office/drawing/2014/main" id="{C45AC55E-8D4F-ABC5-9D0C-4B465CD2544E}"/>
              </a:ext>
            </a:extLst>
          </p:cNvPr>
          <p:cNvPicPr>
            <a:picLocks noGrp="1" noChangeAspect="1"/>
          </p:cNvPicPr>
          <p:nvPr>
            <p:ph idx="1"/>
          </p:nvPr>
        </p:nvPicPr>
        <p:blipFill>
          <a:blip r:embed="rId2"/>
          <a:stretch>
            <a:fillRect/>
          </a:stretch>
        </p:blipFill>
        <p:spPr>
          <a:xfrm>
            <a:off x="6911439" y="475425"/>
            <a:ext cx="4751563" cy="5121275"/>
          </a:xfrm>
          <a:prstGeom prst="rect">
            <a:avLst/>
          </a:prstGeom>
        </p:spPr>
      </p:pic>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91A1697B-253A-1AF1-705D-3E3981323578}"/>
              </a:ext>
            </a:extLst>
          </p:cNvPr>
          <p:cNvSpPr txBox="1"/>
          <p:nvPr/>
        </p:nvSpPr>
        <p:spPr>
          <a:xfrm>
            <a:off x="273132" y="273132"/>
            <a:ext cx="6377050" cy="6740307"/>
          </a:xfrm>
          <a:prstGeom prst="rect">
            <a:avLst/>
          </a:prstGeom>
          <a:noFill/>
        </p:spPr>
        <p:txBody>
          <a:bodyPr wrap="square" rtlCol="0">
            <a:spAutoFit/>
          </a:bodyPr>
          <a:lstStyle/>
          <a:p>
            <a:pPr algn="just" fontAlgn="base"/>
            <a:r>
              <a:rPr lang="en-US" b="0" i="0" dirty="0">
                <a:solidFill>
                  <a:schemeClr val="accent1">
                    <a:lumMod val="75000"/>
                  </a:schemeClr>
                </a:solidFill>
                <a:effectLst/>
                <a:latin typeface="Nunito" pitchFamily="2" charset="0"/>
              </a:rPr>
              <a:t>There are 5 elements used in the working of RPC:</a:t>
            </a:r>
          </a:p>
          <a:p>
            <a:pPr algn="just" fontAlgn="base">
              <a:buFont typeface="Arial" panose="020B0604020202020204" pitchFamily="34" charset="0"/>
              <a:buChar char="•"/>
            </a:pPr>
            <a:r>
              <a:rPr lang="en-US" b="0" i="0" dirty="0">
                <a:solidFill>
                  <a:schemeClr val="accent6">
                    <a:lumMod val="75000"/>
                  </a:schemeClr>
                </a:solidFill>
                <a:effectLst/>
                <a:latin typeface="Nunito" pitchFamily="2" charset="0"/>
              </a:rPr>
              <a:t>Client</a:t>
            </a:r>
          </a:p>
          <a:p>
            <a:pPr algn="just" fontAlgn="base">
              <a:buFont typeface="Arial" panose="020B0604020202020204" pitchFamily="34" charset="0"/>
              <a:buChar char="•"/>
            </a:pPr>
            <a:r>
              <a:rPr lang="en-US" b="0" i="0" dirty="0">
                <a:solidFill>
                  <a:schemeClr val="accent6">
                    <a:lumMod val="75000"/>
                  </a:schemeClr>
                </a:solidFill>
                <a:effectLst/>
                <a:latin typeface="Nunito" pitchFamily="2" charset="0"/>
              </a:rPr>
              <a:t>Client Stub</a:t>
            </a:r>
          </a:p>
          <a:p>
            <a:pPr algn="just" fontAlgn="base">
              <a:buFont typeface="Arial" panose="020B0604020202020204" pitchFamily="34" charset="0"/>
              <a:buChar char="•"/>
            </a:pPr>
            <a:r>
              <a:rPr lang="en-US" b="0" i="0" dirty="0">
                <a:solidFill>
                  <a:schemeClr val="accent6">
                    <a:lumMod val="75000"/>
                  </a:schemeClr>
                </a:solidFill>
                <a:effectLst/>
                <a:latin typeface="Nunito" pitchFamily="2" charset="0"/>
              </a:rPr>
              <a:t>RPC Runtime</a:t>
            </a:r>
          </a:p>
          <a:p>
            <a:pPr algn="just" fontAlgn="base">
              <a:buFont typeface="Arial" panose="020B0604020202020204" pitchFamily="34" charset="0"/>
              <a:buChar char="•"/>
            </a:pPr>
            <a:r>
              <a:rPr lang="en-US" b="0" i="0" dirty="0">
                <a:solidFill>
                  <a:schemeClr val="accent6">
                    <a:lumMod val="75000"/>
                  </a:schemeClr>
                </a:solidFill>
                <a:effectLst/>
                <a:latin typeface="Nunito" pitchFamily="2" charset="0"/>
              </a:rPr>
              <a:t>Server Stub</a:t>
            </a:r>
          </a:p>
          <a:p>
            <a:pPr algn="just" fontAlgn="base">
              <a:buFont typeface="Arial" panose="020B0604020202020204" pitchFamily="34" charset="0"/>
              <a:buChar char="•"/>
            </a:pPr>
            <a:r>
              <a:rPr lang="en-US" b="0" i="0" dirty="0">
                <a:solidFill>
                  <a:schemeClr val="accent6">
                    <a:lumMod val="75000"/>
                  </a:schemeClr>
                </a:solidFill>
                <a:effectLst/>
                <a:latin typeface="Nunito" pitchFamily="2" charset="0"/>
              </a:rPr>
              <a:t>Server</a:t>
            </a:r>
          </a:p>
          <a:p>
            <a:endParaRPr lang="en-IN" dirty="0">
              <a:solidFill>
                <a:schemeClr val="accent1">
                  <a:lumMod val="75000"/>
                </a:schemeClr>
              </a:solidFill>
            </a:endParaRPr>
          </a:p>
          <a:p>
            <a:r>
              <a:rPr lang="en-US" b="1" i="0" dirty="0">
                <a:solidFill>
                  <a:schemeClr val="accent6">
                    <a:lumMod val="75000"/>
                  </a:schemeClr>
                </a:solidFill>
                <a:effectLst/>
                <a:latin typeface="Nunito" pitchFamily="2" charset="0"/>
              </a:rPr>
              <a:t>Client: </a:t>
            </a:r>
            <a:r>
              <a:rPr lang="en-US" b="0" i="0" dirty="0">
                <a:solidFill>
                  <a:schemeClr val="accent1">
                    <a:lumMod val="75000"/>
                  </a:schemeClr>
                </a:solidFill>
                <a:effectLst/>
                <a:latin typeface="Nunito" pitchFamily="2" charset="0"/>
              </a:rPr>
              <a:t>The client process initiates RPC. The client makes a standard call, which triggers a correlated procedure in the client stub.</a:t>
            </a:r>
          </a:p>
          <a:p>
            <a:endParaRPr lang="en-IN" dirty="0">
              <a:solidFill>
                <a:schemeClr val="accent1">
                  <a:lumMod val="75000"/>
                </a:schemeClr>
              </a:solidFill>
            </a:endParaRPr>
          </a:p>
          <a:p>
            <a:pPr algn="just" fontAlgn="base">
              <a:buFont typeface="Arial" panose="020B0604020202020204" pitchFamily="34" charset="0"/>
              <a:buChar char="•"/>
            </a:pPr>
            <a:r>
              <a:rPr lang="en-US" b="1" i="0" dirty="0">
                <a:solidFill>
                  <a:schemeClr val="accent6">
                    <a:lumMod val="75000"/>
                  </a:schemeClr>
                </a:solidFill>
                <a:effectLst/>
                <a:latin typeface="Nunito" pitchFamily="2" charset="0"/>
              </a:rPr>
              <a:t>Client Stub</a:t>
            </a:r>
            <a:r>
              <a:rPr lang="en-US" b="1" i="0" dirty="0">
                <a:solidFill>
                  <a:schemeClr val="accent1">
                    <a:lumMod val="75000"/>
                  </a:schemeClr>
                </a:solidFill>
                <a:effectLst/>
                <a:latin typeface="Nunito" pitchFamily="2" charset="0"/>
              </a:rPr>
              <a:t>: </a:t>
            </a:r>
            <a:r>
              <a:rPr lang="en-US" b="0" i="0" dirty="0">
                <a:solidFill>
                  <a:schemeClr val="accent1">
                    <a:lumMod val="75000"/>
                  </a:schemeClr>
                </a:solidFill>
                <a:effectLst/>
                <a:latin typeface="Nunito" pitchFamily="2" charset="0"/>
              </a:rPr>
              <a:t>Stubs are used by RPC to achieve semantic transparency. The client calls the client stub. Client stub does the following tasks:</a:t>
            </a:r>
          </a:p>
          <a:p>
            <a:pPr marL="742950" lvl="1" indent="-285750" algn="just" fontAlgn="base">
              <a:buFont typeface="Arial" panose="020B0604020202020204" pitchFamily="34" charset="0"/>
              <a:buChar char="•"/>
            </a:pPr>
            <a:r>
              <a:rPr lang="en-US" b="0" i="0" dirty="0">
                <a:solidFill>
                  <a:schemeClr val="accent1">
                    <a:lumMod val="75000"/>
                  </a:schemeClr>
                </a:solidFill>
                <a:effectLst/>
                <a:latin typeface="Nunito" pitchFamily="2" charset="0"/>
              </a:rPr>
              <a:t>The first task performed by client stub is when it receives a request from a client, it packs(</a:t>
            </a:r>
            <a:r>
              <a:rPr lang="en-US" b="0" i="0" dirty="0" err="1">
                <a:solidFill>
                  <a:schemeClr val="accent1">
                    <a:lumMod val="75000"/>
                  </a:schemeClr>
                </a:solidFill>
                <a:effectLst/>
                <a:latin typeface="Nunito" pitchFamily="2" charset="0"/>
              </a:rPr>
              <a:t>marshalls</a:t>
            </a:r>
            <a:r>
              <a:rPr lang="en-US" b="0" i="0" dirty="0">
                <a:solidFill>
                  <a:schemeClr val="accent1">
                    <a:lumMod val="75000"/>
                  </a:schemeClr>
                </a:solidFill>
                <a:effectLst/>
                <a:latin typeface="Nunito" pitchFamily="2" charset="0"/>
              </a:rPr>
              <a:t>) the parameters and required specifications of remote/target procedure in a message.</a:t>
            </a:r>
          </a:p>
          <a:p>
            <a:pPr marL="742950" lvl="1" indent="-285750" algn="just" fontAlgn="base">
              <a:buFont typeface="Arial" panose="020B0604020202020204" pitchFamily="34" charset="0"/>
              <a:buChar char="•"/>
            </a:pPr>
            <a:r>
              <a:rPr lang="en-US" b="0" i="0" dirty="0">
                <a:solidFill>
                  <a:schemeClr val="accent1">
                    <a:lumMod val="75000"/>
                  </a:schemeClr>
                </a:solidFill>
                <a:effectLst/>
                <a:latin typeface="Nunito" pitchFamily="2" charset="0"/>
              </a:rPr>
              <a:t>The second task performed by the client stub is upon receiving the result values after execution, it unpacks (unmarshalled) those results and sends them to the Client.</a:t>
            </a:r>
          </a:p>
          <a:p>
            <a:endParaRPr lang="en-IN" dirty="0"/>
          </a:p>
          <a:p>
            <a:endParaRPr lang="en-IN" dirty="0"/>
          </a:p>
        </p:txBody>
      </p:sp>
    </p:spTree>
    <p:extLst>
      <p:ext uri="{BB962C8B-B14F-4D97-AF65-F5344CB8AC3E}">
        <p14:creationId xmlns:p14="http://schemas.microsoft.com/office/powerpoint/2010/main" val="10948786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Content Placeholder 1">
            <a:extLst>
              <a:ext uri="{FF2B5EF4-FFF2-40B4-BE49-F238E27FC236}">
                <a16:creationId xmlns:a16="http://schemas.microsoft.com/office/drawing/2014/main" id="{C45AC55E-8D4F-ABC5-9D0C-4B465CD2544E}"/>
              </a:ext>
            </a:extLst>
          </p:cNvPr>
          <p:cNvPicPr>
            <a:picLocks noGrp="1" noChangeAspect="1"/>
          </p:cNvPicPr>
          <p:nvPr>
            <p:ph idx="1"/>
          </p:nvPr>
        </p:nvPicPr>
        <p:blipFill>
          <a:blip r:embed="rId2"/>
          <a:stretch>
            <a:fillRect/>
          </a:stretch>
        </p:blipFill>
        <p:spPr>
          <a:xfrm>
            <a:off x="9326411" y="1816926"/>
            <a:ext cx="2740352" cy="3564288"/>
          </a:xfrm>
          <a:prstGeom prst="rect">
            <a:avLst/>
          </a:prstGeom>
        </p:spPr>
      </p:pic>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91A1697B-253A-1AF1-705D-3E3981323578}"/>
              </a:ext>
            </a:extLst>
          </p:cNvPr>
          <p:cNvSpPr txBox="1"/>
          <p:nvPr/>
        </p:nvSpPr>
        <p:spPr>
          <a:xfrm>
            <a:off x="273131" y="273132"/>
            <a:ext cx="8649213" cy="6740307"/>
          </a:xfrm>
          <a:prstGeom prst="rect">
            <a:avLst/>
          </a:prstGeom>
          <a:noFill/>
        </p:spPr>
        <p:txBody>
          <a:bodyPr wrap="square" rtlCol="0">
            <a:spAutoFit/>
          </a:bodyPr>
          <a:lstStyle/>
          <a:p>
            <a:endParaRPr lang="en-IN" dirty="0"/>
          </a:p>
          <a:p>
            <a:pPr algn="just" fontAlgn="base">
              <a:buFont typeface="Arial" panose="020B0604020202020204" pitchFamily="34" charset="0"/>
              <a:buChar char="•"/>
            </a:pPr>
            <a:r>
              <a:rPr lang="en-US" b="1" i="0" dirty="0">
                <a:solidFill>
                  <a:schemeClr val="accent6">
                    <a:lumMod val="75000"/>
                  </a:schemeClr>
                </a:solidFill>
                <a:effectLst/>
                <a:latin typeface="Nunito" pitchFamily="2" charset="0"/>
              </a:rPr>
              <a:t>RPC Runtime: </a:t>
            </a:r>
            <a:r>
              <a:rPr lang="en-US" b="0" i="0" dirty="0">
                <a:solidFill>
                  <a:schemeClr val="accent1">
                    <a:lumMod val="75000"/>
                  </a:schemeClr>
                </a:solidFill>
                <a:effectLst/>
                <a:latin typeface="Nunito" pitchFamily="2" charset="0"/>
              </a:rPr>
              <a:t>The RPC runtime is in charge of message transmission between client and server via the network. Retransmission, acknowledgement, routing, and encryption are all tasks performed by it. On the client-side, it receives the result values in a message from the server-side, and then it further sends it to the client stub whereas, on the server-side, RPC Runtime got the same message from the server stub when then it forwards to the client machine. It also accepts and forwards client machine call request messages to the server stub.</a:t>
            </a:r>
          </a:p>
          <a:p>
            <a:pPr algn="just" fontAlgn="base">
              <a:buFont typeface="Arial" panose="020B0604020202020204" pitchFamily="34" charset="0"/>
              <a:buChar char="•"/>
            </a:pPr>
            <a:endParaRPr lang="en-US" dirty="0">
              <a:solidFill>
                <a:schemeClr val="accent1">
                  <a:lumMod val="75000"/>
                </a:schemeClr>
              </a:solidFill>
              <a:latin typeface="Nunito" pitchFamily="2" charset="0"/>
            </a:endParaRPr>
          </a:p>
          <a:p>
            <a:pPr algn="just" fontAlgn="base">
              <a:buFont typeface="Arial" panose="020B0604020202020204" pitchFamily="34" charset="0"/>
              <a:buChar char="•"/>
            </a:pPr>
            <a:r>
              <a:rPr lang="en-US" b="1" i="0" dirty="0">
                <a:solidFill>
                  <a:schemeClr val="accent6">
                    <a:lumMod val="75000"/>
                  </a:schemeClr>
                </a:solidFill>
                <a:effectLst/>
                <a:latin typeface="Nunito" pitchFamily="2" charset="0"/>
              </a:rPr>
              <a:t>Server Stub: </a:t>
            </a:r>
            <a:r>
              <a:rPr lang="en-US" b="0" i="0" dirty="0">
                <a:solidFill>
                  <a:schemeClr val="accent1">
                    <a:lumMod val="75000"/>
                  </a:schemeClr>
                </a:solidFill>
                <a:effectLst/>
                <a:latin typeface="Nunito" pitchFamily="2" charset="0"/>
              </a:rPr>
              <a:t>Server stub does the following tasks:</a:t>
            </a:r>
          </a:p>
          <a:p>
            <a:pPr marL="742950" lvl="1" indent="-285750" algn="just" fontAlgn="base">
              <a:buFont typeface="Arial" panose="020B0604020202020204" pitchFamily="34" charset="0"/>
              <a:buChar char="•"/>
            </a:pPr>
            <a:r>
              <a:rPr lang="en-US" b="0" i="0" dirty="0">
                <a:solidFill>
                  <a:schemeClr val="accent1">
                    <a:lumMod val="75000"/>
                  </a:schemeClr>
                </a:solidFill>
                <a:effectLst/>
                <a:latin typeface="Nunito" pitchFamily="2" charset="0"/>
              </a:rPr>
              <a:t>The first task performed by server stub is that it unpacks(unmarshalled) the call request message which is received from the local RPC Runtime and makes a regular call to invoke the required procedure in the server.</a:t>
            </a:r>
          </a:p>
          <a:p>
            <a:pPr marL="742950" lvl="1" indent="-285750" algn="just" fontAlgn="base">
              <a:buFont typeface="Arial" panose="020B0604020202020204" pitchFamily="34" charset="0"/>
              <a:buChar char="•"/>
            </a:pPr>
            <a:r>
              <a:rPr lang="en-US" b="0" i="0" dirty="0">
                <a:solidFill>
                  <a:schemeClr val="accent1">
                    <a:lumMod val="75000"/>
                  </a:schemeClr>
                </a:solidFill>
                <a:effectLst/>
                <a:latin typeface="Nunito" pitchFamily="2" charset="0"/>
              </a:rPr>
              <a:t>The second task performed by server stub is that when it receives the server's procedure execution result, it packs it into a message and asks the local RPC Runtime to transmit it to the client stub where it is unpacked.</a:t>
            </a:r>
          </a:p>
          <a:p>
            <a:pPr algn="just" fontAlgn="base">
              <a:buFont typeface="Arial" panose="020B0604020202020204" pitchFamily="34" charset="0"/>
              <a:buChar char="•"/>
            </a:pPr>
            <a:endParaRPr lang="en-US" dirty="0">
              <a:solidFill>
                <a:schemeClr val="accent1">
                  <a:lumMod val="75000"/>
                </a:schemeClr>
              </a:solidFill>
              <a:latin typeface="Nunito" pitchFamily="2" charset="0"/>
            </a:endParaRPr>
          </a:p>
          <a:p>
            <a:pPr algn="just" fontAlgn="base">
              <a:buFont typeface="Arial" panose="020B0604020202020204" pitchFamily="34" charset="0"/>
              <a:buChar char="•"/>
            </a:pPr>
            <a:r>
              <a:rPr lang="en-US" b="1" i="0" dirty="0">
                <a:solidFill>
                  <a:schemeClr val="accent6">
                    <a:lumMod val="75000"/>
                  </a:schemeClr>
                </a:solidFill>
                <a:effectLst/>
                <a:latin typeface="Nunito" pitchFamily="2" charset="0"/>
              </a:rPr>
              <a:t>Server: </a:t>
            </a:r>
            <a:r>
              <a:rPr lang="en-US" b="0" i="0" dirty="0">
                <a:solidFill>
                  <a:schemeClr val="accent1">
                    <a:lumMod val="75000"/>
                  </a:schemeClr>
                </a:solidFill>
                <a:effectLst/>
                <a:latin typeface="Nunito" pitchFamily="2" charset="0"/>
              </a:rPr>
              <a:t>After receiving a call request from the client machine, the server stub passes it to the server. The execution of the required procedure is made by the server and finally, it returns the result to the server stub so that it can be passed to the client machine using the local RPC Runtime.</a:t>
            </a:r>
          </a:p>
          <a:p>
            <a:pPr algn="just" fontAlgn="base">
              <a:buFont typeface="Arial" panose="020B0604020202020204" pitchFamily="34" charset="0"/>
              <a:buChar char="•"/>
            </a:pPr>
            <a:endParaRPr lang="en-US" b="0" i="0" dirty="0">
              <a:solidFill>
                <a:srgbClr val="273239"/>
              </a:solidFill>
              <a:effectLst/>
              <a:latin typeface="Nunito" pitchFamily="2" charset="0"/>
            </a:endParaRPr>
          </a:p>
          <a:p>
            <a:endParaRPr lang="en-IN" dirty="0"/>
          </a:p>
          <a:p>
            <a:endParaRPr lang="en-IN" dirty="0"/>
          </a:p>
        </p:txBody>
      </p:sp>
    </p:spTree>
    <p:extLst>
      <p:ext uri="{BB962C8B-B14F-4D97-AF65-F5344CB8AC3E}">
        <p14:creationId xmlns:p14="http://schemas.microsoft.com/office/powerpoint/2010/main" val="12007184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Content Placeholder 1">
            <a:extLst>
              <a:ext uri="{FF2B5EF4-FFF2-40B4-BE49-F238E27FC236}">
                <a16:creationId xmlns:a16="http://schemas.microsoft.com/office/drawing/2014/main" id="{C45AC55E-8D4F-ABC5-9D0C-4B465CD2544E}"/>
              </a:ext>
            </a:extLst>
          </p:cNvPr>
          <p:cNvPicPr>
            <a:picLocks noGrp="1" noChangeAspect="1"/>
          </p:cNvPicPr>
          <p:nvPr>
            <p:ph idx="1"/>
          </p:nvPr>
        </p:nvPicPr>
        <p:blipFill>
          <a:blip r:embed="rId2"/>
          <a:stretch>
            <a:fillRect/>
          </a:stretch>
        </p:blipFill>
        <p:spPr>
          <a:xfrm>
            <a:off x="9326411" y="1816926"/>
            <a:ext cx="2740352" cy="3564288"/>
          </a:xfrm>
          <a:prstGeom prst="rect">
            <a:avLst/>
          </a:prstGeom>
        </p:spPr>
      </p:pic>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91A1697B-253A-1AF1-705D-3E3981323578}"/>
              </a:ext>
            </a:extLst>
          </p:cNvPr>
          <p:cNvSpPr txBox="1"/>
          <p:nvPr/>
        </p:nvSpPr>
        <p:spPr>
          <a:xfrm>
            <a:off x="273131" y="273132"/>
            <a:ext cx="8649213" cy="5909310"/>
          </a:xfrm>
          <a:prstGeom prst="rect">
            <a:avLst/>
          </a:prstGeom>
          <a:noFill/>
        </p:spPr>
        <p:txBody>
          <a:bodyPr wrap="square" rtlCol="0">
            <a:spAutoFit/>
          </a:bodyPr>
          <a:lstStyle/>
          <a:p>
            <a:r>
              <a:rPr lang="en-IN" b="1" dirty="0">
                <a:solidFill>
                  <a:schemeClr val="accent6">
                    <a:lumMod val="75000"/>
                  </a:schemeClr>
                </a:solidFill>
              </a:rPr>
              <a:t> key components in RPC</a:t>
            </a:r>
          </a:p>
          <a:p>
            <a:r>
              <a:rPr lang="en-US" b="1" dirty="0">
                <a:solidFill>
                  <a:schemeClr val="accent6">
                    <a:lumMod val="75000"/>
                  </a:schemeClr>
                </a:solidFill>
              </a:rPr>
              <a:t>Marshalling and Unmarshalling</a:t>
            </a:r>
          </a:p>
          <a:p>
            <a:r>
              <a:rPr lang="en-US" b="1" dirty="0">
                <a:solidFill>
                  <a:schemeClr val="accent1">
                    <a:lumMod val="75000"/>
                  </a:schemeClr>
                </a:solidFill>
              </a:rPr>
              <a:t>Marshalling</a:t>
            </a:r>
          </a:p>
          <a:p>
            <a:pPr>
              <a:buFont typeface="Arial" panose="020B0604020202020204" pitchFamily="34" charset="0"/>
              <a:buChar char="•"/>
            </a:pPr>
            <a:r>
              <a:rPr lang="en-US" dirty="0">
                <a:solidFill>
                  <a:schemeClr val="accent1">
                    <a:lumMod val="75000"/>
                  </a:schemeClr>
                </a:solidFill>
              </a:rPr>
              <a:t>The process of </a:t>
            </a:r>
            <a:r>
              <a:rPr lang="en-US" b="1" dirty="0">
                <a:solidFill>
                  <a:schemeClr val="accent1">
                    <a:lumMod val="75000"/>
                  </a:schemeClr>
                </a:solidFill>
              </a:rPr>
              <a:t>packing parameters</a:t>
            </a:r>
            <a:r>
              <a:rPr lang="en-US" dirty="0">
                <a:solidFill>
                  <a:schemeClr val="accent1">
                    <a:lumMod val="75000"/>
                  </a:schemeClr>
                </a:solidFill>
              </a:rPr>
              <a:t> and data structures into a </a:t>
            </a:r>
            <a:r>
              <a:rPr lang="en-US" b="1" dirty="0">
                <a:solidFill>
                  <a:schemeClr val="accent1">
                    <a:lumMod val="75000"/>
                  </a:schemeClr>
                </a:solidFill>
              </a:rPr>
              <a:t>network message</a:t>
            </a:r>
            <a:r>
              <a:rPr lang="en-US" dirty="0">
                <a:solidFill>
                  <a:schemeClr val="accent1">
                    <a:lumMod val="75000"/>
                  </a:schemeClr>
                </a:solidFill>
              </a:rPr>
              <a:t> before sending it over the network.</a:t>
            </a:r>
          </a:p>
          <a:p>
            <a:pPr>
              <a:buFont typeface="Arial" panose="020B0604020202020204" pitchFamily="34" charset="0"/>
              <a:buChar char="•"/>
            </a:pPr>
            <a:r>
              <a:rPr lang="en-US" dirty="0">
                <a:solidFill>
                  <a:schemeClr val="accent1">
                    <a:lumMod val="75000"/>
                  </a:schemeClr>
                </a:solidFill>
              </a:rPr>
              <a:t>Ensures data compatibility between </a:t>
            </a:r>
            <a:r>
              <a:rPr lang="en-US" b="1" dirty="0">
                <a:solidFill>
                  <a:schemeClr val="accent1">
                    <a:lumMod val="75000"/>
                  </a:schemeClr>
                </a:solidFill>
              </a:rPr>
              <a:t>different systems</a:t>
            </a:r>
            <a:r>
              <a:rPr lang="en-US" dirty="0">
                <a:solidFill>
                  <a:schemeClr val="accent1">
                    <a:lumMod val="75000"/>
                  </a:schemeClr>
                </a:solidFill>
              </a:rPr>
              <a:t> (byte order, data format).</a:t>
            </a:r>
          </a:p>
          <a:p>
            <a:r>
              <a:rPr lang="en-US" b="1" dirty="0">
                <a:solidFill>
                  <a:schemeClr val="accent1">
                    <a:lumMod val="75000"/>
                  </a:schemeClr>
                </a:solidFill>
              </a:rPr>
              <a:t>Unmarshalling</a:t>
            </a:r>
          </a:p>
          <a:p>
            <a:pPr>
              <a:buFont typeface="Arial" panose="020B0604020202020204" pitchFamily="34" charset="0"/>
              <a:buChar char="•"/>
            </a:pPr>
            <a:r>
              <a:rPr lang="en-US" dirty="0">
                <a:solidFill>
                  <a:schemeClr val="accent1">
                    <a:lumMod val="75000"/>
                  </a:schemeClr>
                </a:solidFill>
              </a:rPr>
              <a:t>The process of </a:t>
            </a:r>
            <a:r>
              <a:rPr lang="en-US" b="1" dirty="0">
                <a:solidFill>
                  <a:schemeClr val="accent1">
                    <a:lumMod val="75000"/>
                  </a:schemeClr>
                </a:solidFill>
              </a:rPr>
              <a:t>unpacking</a:t>
            </a:r>
            <a:r>
              <a:rPr lang="en-US" dirty="0">
                <a:solidFill>
                  <a:schemeClr val="accent1">
                    <a:lumMod val="75000"/>
                  </a:schemeClr>
                </a:solidFill>
              </a:rPr>
              <a:t> received data at the destination side.</a:t>
            </a:r>
          </a:p>
          <a:p>
            <a:pPr>
              <a:buFont typeface="Arial" panose="020B0604020202020204" pitchFamily="34" charset="0"/>
              <a:buChar char="•"/>
            </a:pPr>
            <a:r>
              <a:rPr lang="en-US" dirty="0">
                <a:solidFill>
                  <a:schemeClr val="accent1">
                    <a:lumMod val="75000"/>
                  </a:schemeClr>
                </a:solidFill>
              </a:rPr>
              <a:t>Converts it back into the </a:t>
            </a:r>
            <a:r>
              <a:rPr lang="en-US" b="1" dirty="0">
                <a:solidFill>
                  <a:schemeClr val="accent1">
                    <a:lumMod val="75000"/>
                  </a:schemeClr>
                </a:solidFill>
              </a:rPr>
              <a:t>original data types</a:t>
            </a:r>
            <a:r>
              <a:rPr lang="en-US" dirty="0">
                <a:solidFill>
                  <a:schemeClr val="accent1">
                    <a:lumMod val="75000"/>
                  </a:schemeClr>
                </a:solidFill>
              </a:rPr>
              <a:t> understandable by the receiving system.</a:t>
            </a:r>
          </a:p>
          <a:p>
            <a:pPr algn="just" fontAlgn="base">
              <a:buFont typeface="Arial" panose="020B0604020202020204" pitchFamily="34" charset="0"/>
              <a:buChar char="•"/>
            </a:pPr>
            <a:endParaRPr lang="en-US" b="0" i="0" dirty="0">
              <a:solidFill>
                <a:schemeClr val="accent1">
                  <a:lumMod val="75000"/>
                </a:schemeClr>
              </a:solidFill>
              <a:effectLst/>
              <a:latin typeface="Nunito" pitchFamily="2" charset="0"/>
            </a:endParaRPr>
          </a:p>
          <a:p>
            <a:pPr algn="just" fontAlgn="base">
              <a:buFont typeface="Arial" panose="020B0604020202020204" pitchFamily="34" charset="0"/>
              <a:buChar char="•"/>
            </a:pPr>
            <a:endParaRPr lang="en-US" dirty="0">
              <a:solidFill>
                <a:schemeClr val="accent6">
                  <a:lumMod val="75000"/>
                </a:schemeClr>
              </a:solidFill>
              <a:latin typeface="Nunito" pitchFamily="2" charset="0"/>
            </a:endParaRPr>
          </a:p>
          <a:p>
            <a:r>
              <a:rPr lang="en-IN" b="1" dirty="0">
                <a:solidFill>
                  <a:schemeClr val="accent6">
                    <a:lumMod val="75000"/>
                  </a:schemeClr>
                </a:solidFill>
              </a:rPr>
              <a:t>Stubs in RPC</a:t>
            </a:r>
          </a:p>
          <a:p>
            <a:r>
              <a:rPr lang="en-IN" b="1" dirty="0">
                <a:solidFill>
                  <a:schemeClr val="accent1">
                    <a:lumMod val="75000"/>
                  </a:schemeClr>
                </a:solidFill>
              </a:rPr>
              <a:t>Client Stub</a:t>
            </a:r>
          </a:p>
          <a:p>
            <a:pPr>
              <a:buFont typeface="Arial" panose="020B0604020202020204" pitchFamily="34" charset="0"/>
              <a:buChar char="•"/>
            </a:pPr>
            <a:r>
              <a:rPr lang="en-IN" dirty="0">
                <a:solidFill>
                  <a:schemeClr val="accent1">
                    <a:lumMod val="75000"/>
                  </a:schemeClr>
                </a:solidFill>
              </a:rPr>
              <a:t>Represents the </a:t>
            </a:r>
            <a:r>
              <a:rPr lang="en-IN" b="1" dirty="0">
                <a:solidFill>
                  <a:schemeClr val="accent1">
                    <a:lumMod val="75000"/>
                  </a:schemeClr>
                </a:solidFill>
              </a:rPr>
              <a:t>remote function</a:t>
            </a:r>
            <a:r>
              <a:rPr lang="en-IN" dirty="0">
                <a:solidFill>
                  <a:schemeClr val="accent1">
                    <a:lumMod val="75000"/>
                  </a:schemeClr>
                </a:solidFill>
              </a:rPr>
              <a:t> locally.</a:t>
            </a:r>
          </a:p>
          <a:p>
            <a:pPr>
              <a:buFont typeface="Arial" panose="020B0604020202020204" pitchFamily="34" charset="0"/>
              <a:buChar char="•"/>
            </a:pPr>
            <a:r>
              <a:rPr lang="en-IN" dirty="0">
                <a:solidFill>
                  <a:schemeClr val="accent1">
                    <a:lumMod val="75000"/>
                  </a:schemeClr>
                </a:solidFill>
              </a:rPr>
              <a:t>Responsible for </a:t>
            </a:r>
            <a:r>
              <a:rPr lang="en-IN" b="1" dirty="0">
                <a:solidFill>
                  <a:schemeClr val="accent1">
                    <a:lumMod val="75000"/>
                  </a:schemeClr>
                </a:solidFill>
              </a:rPr>
              <a:t>marshalling</a:t>
            </a:r>
            <a:r>
              <a:rPr lang="en-IN" dirty="0">
                <a:solidFill>
                  <a:schemeClr val="accent1">
                    <a:lumMod val="75000"/>
                  </a:schemeClr>
                </a:solidFill>
              </a:rPr>
              <a:t> the procedure name, parameters, etc.</a:t>
            </a:r>
          </a:p>
          <a:p>
            <a:r>
              <a:rPr lang="en-IN" b="1" dirty="0">
                <a:solidFill>
                  <a:schemeClr val="accent1">
                    <a:lumMod val="75000"/>
                  </a:schemeClr>
                </a:solidFill>
              </a:rPr>
              <a:t>Server Stub (Skeleton)</a:t>
            </a:r>
          </a:p>
          <a:p>
            <a:pPr>
              <a:buFont typeface="Arial" panose="020B0604020202020204" pitchFamily="34" charset="0"/>
              <a:buChar char="•"/>
            </a:pPr>
            <a:r>
              <a:rPr lang="en-IN" dirty="0">
                <a:solidFill>
                  <a:schemeClr val="accent1">
                    <a:lumMod val="75000"/>
                  </a:schemeClr>
                </a:solidFill>
              </a:rPr>
              <a:t>Receives requests from client stub.</a:t>
            </a:r>
          </a:p>
          <a:p>
            <a:pPr>
              <a:buFont typeface="Arial" panose="020B0604020202020204" pitchFamily="34" charset="0"/>
              <a:buChar char="•"/>
            </a:pPr>
            <a:r>
              <a:rPr lang="en-IN" b="1" dirty="0" err="1">
                <a:solidFill>
                  <a:schemeClr val="accent1">
                    <a:lumMod val="75000"/>
                  </a:schemeClr>
                </a:solidFill>
              </a:rPr>
              <a:t>Unmarshals</a:t>
            </a:r>
            <a:r>
              <a:rPr lang="en-IN" dirty="0">
                <a:solidFill>
                  <a:schemeClr val="accent1">
                    <a:lumMod val="75000"/>
                  </a:schemeClr>
                </a:solidFill>
              </a:rPr>
              <a:t> data, </a:t>
            </a:r>
            <a:r>
              <a:rPr lang="en-IN" b="1" dirty="0">
                <a:solidFill>
                  <a:schemeClr val="accent1">
                    <a:lumMod val="75000"/>
                  </a:schemeClr>
                </a:solidFill>
              </a:rPr>
              <a:t>invokes</a:t>
            </a:r>
            <a:r>
              <a:rPr lang="en-IN" dirty="0">
                <a:solidFill>
                  <a:schemeClr val="accent1">
                    <a:lumMod val="75000"/>
                  </a:schemeClr>
                </a:solidFill>
              </a:rPr>
              <a:t> the actual procedure, and </a:t>
            </a:r>
            <a:r>
              <a:rPr lang="en-IN" b="1" dirty="0">
                <a:solidFill>
                  <a:schemeClr val="accent1">
                    <a:lumMod val="75000"/>
                  </a:schemeClr>
                </a:solidFill>
              </a:rPr>
              <a:t>sends response</a:t>
            </a:r>
            <a:r>
              <a:rPr lang="en-IN" dirty="0">
                <a:solidFill>
                  <a:schemeClr val="accent1">
                    <a:lumMod val="75000"/>
                  </a:schemeClr>
                </a:solidFill>
              </a:rPr>
              <a:t> back.</a:t>
            </a:r>
          </a:p>
          <a:p>
            <a:pPr algn="just" fontAlgn="base">
              <a:buFont typeface="Arial" panose="020B0604020202020204" pitchFamily="34" charset="0"/>
              <a:buChar char="•"/>
            </a:pPr>
            <a:endParaRPr lang="en-US" b="0" i="0" dirty="0">
              <a:solidFill>
                <a:srgbClr val="273239"/>
              </a:solidFill>
              <a:effectLst/>
              <a:latin typeface="Nunito" pitchFamily="2" charset="0"/>
            </a:endParaRPr>
          </a:p>
          <a:p>
            <a:endParaRPr lang="en-IN" dirty="0"/>
          </a:p>
          <a:p>
            <a:endParaRPr lang="en-IN" dirty="0"/>
          </a:p>
        </p:txBody>
      </p:sp>
    </p:spTree>
    <p:extLst>
      <p:ext uri="{BB962C8B-B14F-4D97-AF65-F5344CB8AC3E}">
        <p14:creationId xmlns:p14="http://schemas.microsoft.com/office/powerpoint/2010/main" val="3987705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9062</TotalTime>
  <Words>5747</Words>
  <Application>Microsoft Office PowerPoint</Application>
  <PresentationFormat>Widescreen</PresentationFormat>
  <Paragraphs>807</Paragraphs>
  <Slides>52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Arial Unicode MS</vt:lpstr>
      <vt:lpstr>Calibri</vt:lpstr>
      <vt:lpstr>Calibri body</vt:lpstr>
      <vt:lpstr>Calibri Light</vt:lpstr>
      <vt:lpstr>Nunito</vt:lpstr>
      <vt:lpstr>Times New Roman</vt:lpstr>
      <vt:lpstr>Office Theme</vt:lpstr>
      <vt:lpstr>Distributed Operating Systems</vt:lpstr>
      <vt:lpstr>Introduction to Distributed Systems and Their Architecture </vt:lpstr>
      <vt:lpstr>Introduction to Distributed Systems and Their Architecture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Operating Systems</dc:title>
  <dc:creator>Mr.Arhath Kumar</dc:creator>
  <cp:lastModifiedBy>Mr.Arhath Kumar</cp:lastModifiedBy>
  <cp:revision>1</cp:revision>
  <dcterms:created xsi:type="dcterms:W3CDTF">2025-10-07T04:46:59Z</dcterms:created>
  <dcterms:modified xsi:type="dcterms:W3CDTF">2025-10-27T08:56:11Z</dcterms:modified>
</cp:coreProperties>
</file>